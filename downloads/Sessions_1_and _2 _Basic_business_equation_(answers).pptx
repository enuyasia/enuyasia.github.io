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28"/>
  </p:notesMasterIdLst>
  <p:sldIdLst>
    <p:sldId id="256" r:id="rId2"/>
    <p:sldId id="2069" r:id="rId3"/>
    <p:sldId id="2070" r:id="rId4"/>
    <p:sldId id="2071" r:id="rId5"/>
    <p:sldId id="2072" r:id="rId6"/>
    <p:sldId id="2073" r:id="rId7"/>
    <p:sldId id="2074" r:id="rId8"/>
    <p:sldId id="2076" r:id="rId9"/>
    <p:sldId id="2075" r:id="rId10"/>
    <p:sldId id="2028" r:id="rId11"/>
    <p:sldId id="2077" r:id="rId12"/>
    <p:sldId id="2079" r:id="rId13"/>
    <p:sldId id="2078" r:id="rId14"/>
    <p:sldId id="2080" r:id="rId15"/>
    <p:sldId id="2086" r:id="rId16"/>
    <p:sldId id="2087" r:id="rId17"/>
    <p:sldId id="2088" r:id="rId18"/>
    <p:sldId id="2089" r:id="rId19"/>
    <p:sldId id="2090" r:id="rId20"/>
    <p:sldId id="2091" r:id="rId21"/>
    <p:sldId id="2092" r:id="rId22"/>
    <p:sldId id="2094" r:id="rId23"/>
    <p:sldId id="2095" r:id="rId24"/>
    <p:sldId id="2097" r:id="rId25"/>
    <p:sldId id="2096" r:id="rId26"/>
    <p:sldId id="2098" r:id="rId27"/>
    <p:sldId id="2099" r:id="rId28"/>
    <p:sldId id="2100" r:id="rId29"/>
    <p:sldId id="2101" r:id="rId30"/>
    <p:sldId id="2102" r:id="rId31"/>
    <p:sldId id="2103" r:id="rId32"/>
    <p:sldId id="2104" r:id="rId33"/>
    <p:sldId id="2105" r:id="rId34"/>
    <p:sldId id="2106" r:id="rId35"/>
    <p:sldId id="2107" r:id="rId36"/>
    <p:sldId id="2120" r:id="rId37"/>
    <p:sldId id="2121" r:id="rId38"/>
    <p:sldId id="2122" r:id="rId39"/>
    <p:sldId id="2123" r:id="rId40"/>
    <p:sldId id="2124" r:id="rId41"/>
    <p:sldId id="2125" r:id="rId42"/>
    <p:sldId id="2126" r:id="rId43"/>
    <p:sldId id="2127" r:id="rId44"/>
    <p:sldId id="2128" r:id="rId45"/>
    <p:sldId id="2129" r:id="rId46"/>
    <p:sldId id="2130" r:id="rId47"/>
    <p:sldId id="2116" r:id="rId48"/>
    <p:sldId id="2131" r:id="rId49"/>
    <p:sldId id="2132" r:id="rId50"/>
    <p:sldId id="2133" r:id="rId51"/>
    <p:sldId id="2134" r:id="rId52"/>
    <p:sldId id="1972" r:id="rId53"/>
    <p:sldId id="1973" r:id="rId54"/>
    <p:sldId id="1974" r:id="rId55"/>
    <p:sldId id="1975" r:id="rId56"/>
    <p:sldId id="1976" r:id="rId57"/>
    <p:sldId id="1977" r:id="rId58"/>
    <p:sldId id="1978" r:id="rId59"/>
    <p:sldId id="1979" r:id="rId60"/>
    <p:sldId id="1980" r:id="rId61"/>
    <p:sldId id="1981" r:id="rId62"/>
    <p:sldId id="1982" r:id="rId63"/>
    <p:sldId id="1983" r:id="rId64"/>
    <p:sldId id="1984" r:id="rId65"/>
    <p:sldId id="1985" r:id="rId66"/>
    <p:sldId id="1986" r:id="rId67"/>
    <p:sldId id="1987" r:id="rId68"/>
    <p:sldId id="1988" r:id="rId69"/>
    <p:sldId id="2140" r:id="rId70"/>
    <p:sldId id="1989" r:id="rId71"/>
    <p:sldId id="1991" r:id="rId72"/>
    <p:sldId id="1992" r:id="rId73"/>
    <p:sldId id="1993" r:id="rId74"/>
    <p:sldId id="1990" r:id="rId75"/>
    <p:sldId id="1997" r:id="rId76"/>
    <p:sldId id="1998" r:id="rId77"/>
    <p:sldId id="1999" r:id="rId78"/>
    <p:sldId id="2000" r:id="rId79"/>
    <p:sldId id="2033" r:id="rId80"/>
    <p:sldId id="2034" r:id="rId81"/>
    <p:sldId id="2035" r:id="rId82"/>
    <p:sldId id="2050" r:id="rId83"/>
    <p:sldId id="2049" r:id="rId84"/>
    <p:sldId id="2051" r:id="rId85"/>
    <p:sldId id="2052" r:id="rId86"/>
    <p:sldId id="2117" r:id="rId87"/>
    <p:sldId id="1561" r:id="rId88"/>
    <p:sldId id="2135" r:id="rId89"/>
    <p:sldId id="1734" r:id="rId90"/>
    <p:sldId id="1735" r:id="rId91"/>
    <p:sldId id="1564" r:id="rId92"/>
    <p:sldId id="1714" r:id="rId93"/>
    <p:sldId id="1716" r:id="rId94"/>
    <p:sldId id="1736" r:id="rId95"/>
    <p:sldId id="1568" r:id="rId96"/>
    <p:sldId id="1569" r:id="rId97"/>
    <p:sldId id="2118" r:id="rId98"/>
    <p:sldId id="1553" r:id="rId99"/>
    <p:sldId id="2136" r:id="rId100"/>
    <p:sldId id="1560" r:id="rId101"/>
    <p:sldId id="1558" r:id="rId102"/>
    <p:sldId id="1559" r:id="rId103"/>
    <p:sldId id="1571" r:id="rId104"/>
    <p:sldId id="1572" r:id="rId105"/>
    <p:sldId id="1573" r:id="rId106"/>
    <p:sldId id="1574" r:id="rId107"/>
    <p:sldId id="1753" r:id="rId108"/>
    <p:sldId id="2036" r:id="rId109"/>
    <p:sldId id="1717" r:id="rId110"/>
    <p:sldId id="2119" r:id="rId111"/>
    <p:sldId id="1763" r:id="rId112"/>
    <p:sldId id="2041" r:id="rId113"/>
    <p:sldId id="1759" r:id="rId114"/>
    <p:sldId id="2137" r:id="rId115"/>
    <p:sldId id="2138" r:id="rId116"/>
    <p:sldId id="2139" r:id="rId117"/>
    <p:sldId id="2065" r:id="rId118"/>
    <p:sldId id="2022" r:id="rId119"/>
    <p:sldId id="1727" r:id="rId120"/>
    <p:sldId id="1710" r:id="rId121"/>
    <p:sldId id="1711" r:id="rId122"/>
    <p:sldId id="1712" r:id="rId123"/>
    <p:sldId id="1729" r:id="rId124"/>
    <p:sldId id="1730" r:id="rId125"/>
    <p:sldId id="1731" r:id="rId126"/>
    <p:sldId id="272" r:id="rId12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9A682"/>
    <a:srgbClr val="03050D"/>
    <a:srgbClr val="22398E"/>
    <a:srgbClr val="BCDCF1"/>
    <a:srgbClr val="9378B5"/>
    <a:srgbClr val="758BC5"/>
    <a:srgbClr val="032D5A"/>
    <a:srgbClr val="0B2239"/>
    <a:srgbClr val="AECF9B"/>
    <a:srgbClr val="4AA6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1BD56A-3E30-4481-8CD1-72370E353427}" v="14" dt="2026-03-17T02:51:53.8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6327"/>
  </p:normalViewPr>
  <p:slideViewPr>
    <p:cSldViewPr snapToGrid="0">
      <p:cViewPr varScale="1">
        <p:scale>
          <a:sx n="66" d="100"/>
          <a:sy n="66" d="100"/>
        </p:scale>
        <p:origin x="564" y="3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microsoft.com/office/2015/10/relationships/revisionInfo" Target="revisionInfo.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ON Eric" userId="de02f52b-0ef7-40a3-a4e0-e456b015d87b" providerId="ADAL" clId="{42764042-7A89-4163-BC53-3B04DE20AA88}"/>
    <pc:docChg chg="custSel addSld delSld modSld">
      <pc:chgData name="MATON Eric" userId="de02f52b-0ef7-40a3-a4e0-e456b015d87b" providerId="ADAL" clId="{42764042-7A89-4163-BC53-3B04DE20AA88}" dt="2026-03-17T04:04:39.467" v="1122" actId="20577"/>
      <pc:docMkLst>
        <pc:docMk/>
      </pc:docMkLst>
      <pc:sldChg chg="modSp mod">
        <pc:chgData name="MATON Eric" userId="de02f52b-0ef7-40a3-a4e0-e456b015d87b" providerId="ADAL" clId="{42764042-7A89-4163-BC53-3B04DE20AA88}" dt="2026-03-16T13:19:42.056" v="958" actId="1035"/>
        <pc:sldMkLst>
          <pc:docMk/>
          <pc:sldMk cId="517830447" sldId="1568"/>
        </pc:sldMkLst>
        <pc:spChg chg="mod">
          <ac:chgData name="MATON Eric" userId="de02f52b-0ef7-40a3-a4e0-e456b015d87b" providerId="ADAL" clId="{42764042-7A89-4163-BC53-3B04DE20AA88}" dt="2026-03-16T13:19:42.056" v="958" actId="1035"/>
          <ac:spMkLst>
            <pc:docMk/>
            <pc:sldMk cId="517830447" sldId="1568"/>
            <ac:spMk id="17" creationId="{0FDA4E1A-1761-4DFD-9713-51B7985F8E4F}"/>
          </ac:spMkLst>
        </pc:spChg>
      </pc:sldChg>
      <pc:sldChg chg="modSp mod">
        <pc:chgData name="MATON Eric" userId="de02f52b-0ef7-40a3-a4e0-e456b015d87b" providerId="ADAL" clId="{42764042-7A89-4163-BC53-3B04DE20AA88}" dt="2026-03-16T13:19:47.709" v="974" actId="1035"/>
        <pc:sldMkLst>
          <pc:docMk/>
          <pc:sldMk cId="1367296057" sldId="1569"/>
        </pc:sldMkLst>
        <pc:spChg chg="mod">
          <ac:chgData name="MATON Eric" userId="de02f52b-0ef7-40a3-a4e0-e456b015d87b" providerId="ADAL" clId="{42764042-7A89-4163-BC53-3B04DE20AA88}" dt="2026-03-16T13:19:47.709" v="974" actId="1035"/>
          <ac:spMkLst>
            <pc:docMk/>
            <pc:sldMk cId="1367296057" sldId="1569"/>
            <ac:spMk id="17" creationId="{0FDA4E1A-1761-4DFD-9713-51B7985F8E4F}"/>
          </ac:spMkLst>
        </pc:spChg>
      </pc:sldChg>
      <pc:sldChg chg="modSp mod">
        <pc:chgData name="MATON Eric" userId="de02f52b-0ef7-40a3-a4e0-e456b015d87b" providerId="ADAL" clId="{42764042-7A89-4163-BC53-3B04DE20AA88}" dt="2026-03-16T13:19:26.243" v="942" actId="20577"/>
        <pc:sldMkLst>
          <pc:docMk/>
          <pc:sldMk cId="3952602136" sldId="1714"/>
        </pc:sldMkLst>
        <pc:spChg chg="mod">
          <ac:chgData name="MATON Eric" userId="de02f52b-0ef7-40a3-a4e0-e456b015d87b" providerId="ADAL" clId="{42764042-7A89-4163-BC53-3B04DE20AA88}" dt="2026-03-16T13:19:26.243" v="942" actId="20577"/>
          <ac:spMkLst>
            <pc:docMk/>
            <pc:sldMk cId="3952602136" sldId="1714"/>
            <ac:spMk id="2" creationId="{3817F736-43BB-4C9C-9852-914B9C397244}"/>
          </ac:spMkLst>
        </pc:spChg>
      </pc:sldChg>
      <pc:sldChg chg="modSp mod">
        <pc:chgData name="MATON Eric" userId="de02f52b-0ef7-40a3-a4e0-e456b015d87b" providerId="ADAL" clId="{42764042-7A89-4163-BC53-3B04DE20AA88}" dt="2026-03-16T13:19:13.401" v="940" actId="20577"/>
        <pc:sldMkLst>
          <pc:docMk/>
          <pc:sldMk cId="3447622992" sldId="1734"/>
        </pc:sldMkLst>
        <pc:spChg chg="mod">
          <ac:chgData name="MATON Eric" userId="de02f52b-0ef7-40a3-a4e0-e456b015d87b" providerId="ADAL" clId="{42764042-7A89-4163-BC53-3B04DE20AA88}" dt="2026-03-16T13:19:13.401" v="940" actId="20577"/>
          <ac:spMkLst>
            <pc:docMk/>
            <pc:sldMk cId="3447622992" sldId="1734"/>
            <ac:spMk id="2" creationId="{3817F736-43BB-4C9C-9852-914B9C397244}"/>
          </ac:spMkLst>
        </pc:spChg>
      </pc:sldChg>
      <pc:sldChg chg="addSp delSp modSp mod">
        <pc:chgData name="MATON Eric" userId="de02f52b-0ef7-40a3-a4e0-e456b015d87b" providerId="ADAL" clId="{42764042-7A89-4163-BC53-3B04DE20AA88}" dt="2026-03-16T13:17:13.447" v="924" actId="20577"/>
        <pc:sldMkLst>
          <pc:docMk/>
          <pc:sldMk cId="3714451889" sldId="2034"/>
        </pc:sldMkLst>
        <pc:spChg chg="mod">
          <ac:chgData name="MATON Eric" userId="de02f52b-0ef7-40a3-a4e0-e456b015d87b" providerId="ADAL" clId="{42764042-7A89-4163-BC53-3B04DE20AA88}" dt="2026-03-16T13:17:13.447" v="924" actId="20577"/>
          <ac:spMkLst>
            <pc:docMk/>
            <pc:sldMk cId="3714451889" sldId="2034"/>
            <ac:spMk id="4" creationId="{74E4009A-93C5-E4E6-CDA0-EDFE3267F757}"/>
          </ac:spMkLst>
        </pc:spChg>
        <pc:spChg chg="add del mod">
          <ac:chgData name="MATON Eric" userId="de02f52b-0ef7-40a3-a4e0-e456b015d87b" providerId="ADAL" clId="{42764042-7A89-4163-BC53-3B04DE20AA88}" dt="2026-03-16T13:16:33.982" v="920" actId="478"/>
          <ac:spMkLst>
            <pc:docMk/>
            <pc:sldMk cId="3714451889" sldId="2034"/>
            <ac:spMk id="6" creationId="{2CDC8DD2-9DF3-6820-FE95-FE7A322D98A8}"/>
          </ac:spMkLst>
        </pc:spChg>
        <pc:picChg chg="del">
          <ac:chgData name="MATON Eric" userId="de02f52b-0ef7-40a3-a4e0-e456b015d87b" providerId="ADAL" clId="{42764042-7A89-4163-BC53-3B04DE20AA88}" dt="2026-03-16T13:16:31.600" v="919" actId="478"/>
          <ac:picMkLst>
            <pc:docMk/>
            <pc:sldMk cId="3714451889" sldId="2034"/>
            <ac:picMk id="8" creationId="{A156CFD7-98B7-F30E-8962-01B1649FC329}"/>
          </ac:picMkLst>
        </pc:picChg>
        <pc:picChg chg="add mod">
          <ac:chgData name="MATON Eric" userId="de02f52b-0ef7-40a3-a4e0-e456b015d87b" providerId="ADAL" clId="{42764042-7A89-4163-BC53-3B04DE20AA88}" dt="2026-03-16T13:17:10.741" v="922" actId="14100"/>
          <ac:picMkLst>
            <pc:docMk/>
            <pc:sldMk cId="3714451889" sldId="2034"/>
            <ac:picMk id="9" creationId="{64511935-4EA7-9AE7-88A1-F63987A8A51F}"/>
          </ac:picMkLst>
        </pc:picChg>
      </pc:sldChg>
      <pc:sldChg chg="modSp mod">
        <pc:chgData name="MATON Eric" userId="de02f52b-0ef7-40a3-a4e0-e456b015d87b" providerId="ADAL" clId="{42764042-7A89-4163-BC53-3B04DE20AA88}" dt="2026-03-17T03:25:55.407" v="1087" actId="20577"/>
        <pc:sldMkLst>
          <pc:docMk/>
          <pc:sldMk cId="272998018" sldId="2035"/>
        </pc:sldMkLst>
        <pc:spChg chg="mod">
          <ac:chgData name="MATON Eric" userId="de02f52b-0ef7-40a3-a4e0-e456b015d87b" providerId="ADAL" clId="{42764042-7A89-4163-BC53-3B04DE20AA88}" dt="2026-03-17T03:25:55.407" v="1087" actId="20577"/>
          <ac:spMkLst>
            <pc:docMk/>
            <pc:sldMk cId="272998018" sldId="2035"/>
            <ac:spMk id="2" creationId="{5C1B9C5A-D539-6959-9CEE-9B672C14D106}"/>
          </ac:spMkLst>
        </pc:spChg>
      </pc:sldChg>
      <pc:sldChg chg="modSp mod">
        <pc:chgData name="MATON Eric" userId="de02f52b-0ef7-40a3-a4e0-e456b015d87b" providerId="ADAL" clId="{42764042-7A89-4163-BC53-3B04DE20AA88}" dt="2026-03-16T13:18:29.178" v="929" actId="33524"/>
        <pc:sldMkLst>
          <pc:docMk/>
          <pc:sldMk cId="3072852805" sldId="2049"/>
        </pc:sldMkLst>
        <pc:spChg chg="mod">
          <ac:chgData name="MATON Eric" userId="de02f52b-0ef7-40a3-a4e0-e456b015d87b" providerId="ADAL" clId="{42764042-7A89-4163-BC53-3B04DE20AA88}" dt="2026-03-16T13:18:29.178" v="929" actId="33524"/>
          <ac:spMkLst>
            <pc:docMk/>
            <pc:sldMk cId="3072852805" sldId="2049"/>
            <ac:spMk id="3" creationId="{70AB0D9B-BC67-B78C-C9E2-F14AA523578D}"/>
          </ac:spMkLst>
        </pc:spChg>
      </pc:sldChg>
      <pc:sldChg chg="modSp mod">
        <pc:chgData name="MATON Eric" userId="de02f52b-0ef7-40a3-a4e0-e456b015d87b" providerId="ADAL" clId="{42764042-7A89-4163-BC53-3B04DE20AA88}" dt="2026-03-16T13:18:34.057" v="930" actId="33524"/>
        <pc:sldMkLst>
          <pc:docMk/>
          <pc:sldMk cId="256095356" sldId="2050"/>
        </pc:sldMkLst>
        <pc:spChg chg="mod">
          <ac:chgData name="MATON Eric" userId="de02f52b-0ef7-40a3-a4e0-e456b015d87b" providerId="ADAL" clId="{42764042-7A89-4163-BC53-3B04DE20AA88}" dt="2026-03-16T13:18:34.057" v="930" actId="33524"/>
          <ac:spMkLst>
            <pc:docMk/>
            <pc:sldMk cId="256095356" sldId="2050"/>
            <ac:spMk id="3" creationId="{37AD85CB-BDC9-DCB9-B738-6210C86F919A}"/>
          </ac:spMkLst>
        </pc:spChg>
      </pc:sldChg>
      <pc:sldChg chg="modSp mod">
        <pc:chgData name="MATON Eric" userId="de02f52b-0ef7-40a3-a4e0-e456b015d87b" providerId="ADAL" clId="{42764042-7A89-4163-BC53-3B04DE20AA88}" dt="2026-03-16T13:18:41.940" v="933" actId="20577"/>
        <pc:sldMkLst>
          <pc:docMk/>
          <pc:sldMk cId="3187795997" sldId="2051"/>
        </pc:sldMkLst>
        <pc:spChg chg="mod">
          <ac:chgData name="MATON Eric" userId="de02f52b-0ef7-40a3-a4e0-e456b015d87b" providerId="ADAL" clId="{42764042-7A89-4163-BC53-3B04DE20AA88}" dt="2026-03-16T13:18:41.940" v="933" actId="20577"/>
          <ac:spMkLst>
            <pc:docMk/>
            <pc:sldMk cId="3187795997" sldId="2051"/>
            <ac:spMk id="3" creationId="{323B60DA-4553-9407-26DF-3D14E4A7E85D}"/>
          </ac:spMkLst>
        </pc:spChg>
      </pc:sldChg>
      <pc:sldChg chg="modSp mod">
        <pc:chgData name="MATON Eric" userId="de02f52b-0ef7-40a3-a4e0-e456b015d87b" providerId="ADAL" clId="{42764042-7A89-4163-BC53-3B04DE20AA88}" dt="2026-03-16T13:18:54.346" v="936" actId="20577"/>
        <pc:sldMkLst>
          <pc:docMk/>
          <pc:sldMk cId="2792984552" sldId="2052"/>
        </pc:sldMkLst>
        <pc:spChg chg="mod">
          <ac:chgData name="MATON Eric" userId="de02f52b-0ef7-40a3-a4e0-e456b015d87b" providerId="ADAL" clId="{42764042-7A89-4163-BC53-3B04DE20AA88}" dt="2026-03-16T13:18:54.346" v="936" actId="20577"/>
          <ac:spMkLst>
            <pc:docMk/>
            <pc:sldMk cId="2792984552" sldId="2052"/>
            <ac:spMk id="3" creationId="{3CFAE97B-A249-50C5-0E0C-1B443945FBC6}"/>
          </ac:spMkLst>
        </pc:spChg>
      </pc:sldChg>
      <pc:sldChg chg="modSp mod">
        <pc:chgData name="MATON Eric" userId="de02f52b-0ef7-40a3-a4e0-e456b015d87b" providerId="ADAL" clId="{42764042-7A89-4163-BC53-3B04DE20AA88}" dt="2026-03-17T04:04:39.467" v="1122" actId="20577"/>
        <pc:sldMkLst>
          <pc:docMk/>
          <pc:sldMk cId="2594657224" sldId="2065"/>
        </pc:sldMkLst>
        <pc:spChg chg="mod">
          <ac:chgData name="MATON Eric" userId="de02f52b-0ef7-40a3-a4e0-e456b015d87b" providerId="ADAL" clId="{42764042-7A89-4163-BC53-3B04DE20AA88}" dt="2026-03-17T04:04:39.467" v="1122" actId="20577"/>
          <ac:spMkLst>
            <pc:docMk/>
            <pc:sldMk cId="2594657224" sldId="2065"/>
            <ac:spMk id="3" creationId="{7D34B79D-136C-298A-3C72-77E4F9DB75A9}"/>
          </ac:spMkLst>
        </pc:spChg>
      </pc:sldChg>
      <pc:sldChg chg="modSp mod">
        <pc:chgData name="MATON Eric" userId="de02f52b-0ef7-40a3-a4e0-e456b015d87b" providerId="ADAL" clId="{42764042-7A89-4163-BC53-3B04DE20AA88}" dt="2026-03-16T12:27:05.839" v="417" actId="20577"/>
        <pc:sldMkLst>
          <pc:docMk/>
          <pc:sldMk cId="2069590392" sldId="2069"/>
        </pc:sldMkLst>
        <pc:spChg chg="mod">
          <ac:chgData name="MATON Eric" userId="de02f52b-0ef7-40a3-a4e0-e456b015d87b" providerId="ADAL" clId="{42764042-7A89-4163-BC53-3B04DE20AA88}" dt="2026-03-16T12:27:05.839" v="417" actId="20577"/>
          <ac:spMkLst>
            <pc:docMk/>
            <pc:sldMk cId="2069590392" sldId="2069"/>
            <ac:spMk id="2" creationId="{D883D8B2-E654-7309-72D5-EE1F271BFFBD}"/>
          </ac:spMkLst>
        </pc:spChg>
      </pc:sldChg>
      <pc:sldChg chg="modSp mod">
        <pc:chgData name="MATON Eric" userId="de02f52b-0ef7-40a3-a4e0-e456b015d87b" providerId="ADAL" clId="{42764042-7A89-4163-BC53-3B04DE20AA88}" dt="2026-03-16T12:28:49.355" v="433" actId="20577"/>
        <pc:sldMkLst>
          <pc:docMk/>
          <pc:sldMk cId="1406171654" sldId="2070"/>
        </pc:sldMkLst>
        <pc:spChg chg="mod">
          <ac:chgData name="MATON Eric" userId="de02f52b-0ef7-40a3-a4e0-e456b015d87b" providerId="ADAL" clId="{42764042-7A89-4163-BC53-3B04DE20AA88}" dt="2026-03-16T12:28:44.018" v="423" actId="20577"/>
          <ac:spMkLst>
            <pc:docMk/>
            <pc:sldMk cId="1406171654" sldId="2070"/>
            <ac:spMk id="2" creationId="{D4B2BE17-E38B-FC32-41D4-8AE6978643D5}"/>
          </ac:spMkLst>
        </pc:spChg>
        <pc:spChg chg="mod">
          <ac:chgData name="MATON Eric" userId="de02f52b-0ef7-40a3-a4e0-e456b015d87b" providerId="ADAL" clId="{42764042-7A89-4163-BC53-3B04DE20AA88}" dt="2026-03-16T12:28:49.355" v="433" actId="20577"/>
          <ac:spMkLst>
            <pc:docMk/>
            <pc:sldMk cId="1406171654" sldId="2070"/>
            <ac:spMk id="5" creationId="{6F3931E1-BC68-D72D-AEB7-3C35E0A0DA41}"/>
          </ac:spMkLst>
        </pc:spChg>
        <pc:spChg chg="mod">
          <ac:chgData name="MATON Eric" userId="de02f52b-0ef7-40a3-a4e0-e456b015d87b" providerId="ADAL" clId="{42764042-7A89-4163-BC53-3B04DE20AA88}" dt="2026-03-16T12:25:56.168" v="348" actId="14100"/>
          <ac:spMkLst>
            <pc:docMk/>
            <pc:sldMk cId="1406171654" sldId="2070"/>
            <ac:spMk id="6" creationId="{B34E4E54-26D4-A802-424B-D4B9EDFFB313}"/>
          </ac:spMkLst>
        </pc:spChg>
      </pc:sldChg>
      <pc:sldChg chg="modSp mod">
        <pc:chgData name="MATON Eric" userId="de02f52b-0ef7-40a3-a4e0-e456b015d87b" providerId="ADAL" clId="{42764042-7A89-4163-BC53-3B04DE20AA88}" dt="2026-03-17T01:22:22.488" v="976" actId="20577"/>
        <pc:sldMkLst>
          <pc:docMk/>
          <pc:sldMk cId="1506774555" sldId="2071"/>
        </pc:sldMkLst>
        <pc:spChg chg="mod">
          <ac:chgData name="MATON Eric" userId="de02f52b-0ef7-40a3-a4e0-e456b015d87b" providerId="ADAL" clId="{42764042-7A89-4163-BC53-3B04DE20AA88}" dt="2026-03-17T01:22:22.488" v="976" actId="20577"/>
          <ac:spMkLst>
            <pc:docMk/>
            <pc:sldMk cId="1506774555" sldId="2071"/>
            <ac:spMk id="3" creationId="{3EC95250-F7CB-172A-2AFA-68E3A69C145C}"/>
          </ac:spMkLst>
        </pc:spChg>
      </pc:sldChg>
      <pc:sldChg chg="addSp modSp mod">
        <pc:chgData name="MATON Eric" userId="de02f52b-0ef7-40a3-a4e0-e456b015d87b" providerId="ADAL" clId="{42764042-7A89-4163-BC53-3B04DE20AA88}" dt="2026-03-17T02:04:12.877" v="1027" actId="207"/>
        <pc:sldMkLst>
          <pc:docMk/>
          <pc:sldMk cId="2049951643" sldId="2074"/>
        </pc:sldMkLst>
        <pc:spChg chg="add mod">
          <ac:chgData name="MATON Eric" userId="de02f52b-0ef7-40a3-a4e0-e456b015d87b" providerId="ADAL" clId="{42764042-7A89-4163-BC53-3B04DE20AA88}" dt="2026-03-17T02:04:12.877" v="1027" actId="207"/>
          <ac:spMkLst>
            <pc:docMk/>
            <pc:sldMk cId="2049951643" sldId="2074"/>
            <ac:spMk id="3" creationId="{4B4C7200-21F8-D27E-6F2D-846E0BECB911}"/>
          </ac:spMkLst>
        </pc:spChg>
      </pc:sldChg>
      <pc:sldChg chg="modSp mod">
        <pc:chgData name="MATON Eric" userId="de02f52b-0ef7-40a3-a4e0-e456b015d87b" providerId="ADAL" clId="{42764042-7A89-4163-BC53-3B04DE20AA88}" dt="2026-03-16T10:31:09.749" v="171" actId="20577"/>
        <pc:sldMkLst>
          <pc:docMk/>
          <pc:sldMk cId="3334667795" sldId="2075"/>
        </pc:sldMkLst>
        <pc:spChg chg="mod">
          <ac:chgData name="MATON Eric" userId="de02f52b-0ef7-40a3-a4e0-e456b015d87b" providerId="ADAL" clId="{42764042-7A89-4163-BC53-3B04DE20AA88}" dt="2026-03-16T10:31:09.749" v="171" actId="20577"/>
          <ac:spMkLst>
            <pc:docMk/>
            <pc:sldMk cId="3334667795" sldId="2075"/>
            <ac:spMk id="3" creationId="{5D16C9AD-B13B-A4C2-1549-6B45EA3D44C2}"/>
          </ac:spMkLst>
        </pc:spChg>
      </pc:sldChg>
      <pc:sldChg chg="modSp mod">
        <pc:chgData name="MATON Eric" userId="de02f52b-0ef7-40a3-a4e0-e456b015d87b" providerId="ADAL" clId="{42764042-7A89-4163-BC53-3B04DE20AA88}" dt="2026-03-16T10:31:00.832" v="165" actId="20577"/>
        <pc:sldMkLst>
          <pc:docMk/>
          <pc:sldMk cId="4234256788" sldId="2076"/>
        </pc:sldMkLst>
        <pc:spChg chg="mod">
          <ac:chgData name="MATON Eric" userId="de02f52b-0ef7-40a3-a4e0-e456b015d87b" providerId="ADAL" clId="{42764042-7A89-4163-BC53-3B04DE20AA88}" dt="2026-03-16T10:31:00.832" v="165" actId="20577"/>
          <ac:spMkLst>
            <pc:docMk/>
            <pc:sldMk cId="4234256788" sldId="2076"/>
            <ac:spMk id="3" creationId="{B27DA35B-EA3D-B332-0E9B-A4C4EBEE2CA3}"/>
          </ac:spMkLst>
        </pc:spChg>
      </pc:sldChg>
      <pc:sldChg chg="modSp mod">
        <pc:chgData name="MATON Eric" userId="de02f52b-0ef7-40a3-a4e0-e456b015d87b" providerId="ADAL" clId="{42764042-7A89-4163-BC53-3B04DE20AA88}" dt="2026-03-16T10:31:25.132" v="173" actId="20577"/>
        <pc:sldMkLst>
          <pc:docMk/>
          <pc:sldMk cId="1729706330" sldId="2078"/>
        </pc:sldMkLst>
        <pc:graphicFrameChg chg="modGraphic">
          <ac:chgData name="MATON Eric" userId="de02f52b-0ef7-40a3-a4e0-e456b015d87b" providerId="ADAL" clId="{42764042-7A89-4163-BC53-3B04DE20AA88}" dt="2026-03-16T10:31:25.132" v="173" actId="20577"/>
          <ac:graphicFrameMkLst>
            <pc:docMk/>
            <pc:sldMk cId="1729706330" sldId="2078"/>
            <ac:graphicFrameMk id="6" creationId="{BC3AD280-0B67-C094-D9B1-35A32A6E0069}"/>
          </ac:graphicFrameMkLst>
        </pc:graphicFrameChg>
      </pc:sldChg>
      <pc:sldChg chg="addSp delSp modSp mod">
        <pc:chgData name="MATON Eric" userId="de02f52b-0ef7-40a3-a4e0-e456b015d87b" providerId="ADAL" clId="{42764042-7A89-4163-BC53-3B04DE20AA88}" dt="2026-03-16T11:02:09.191" v="203" actId="1582"/>
        <pc:sldMkLst>
          <pc:docMk/>
          <pc:sldMk cId="1735492169" sldId="2086"/>
        </pc:sldMkLst>
        <pc:spChg chg="mod">
          <ac:chgData name="MATON Eric" userId="de02f52b-0ef7-40a3-a4e0-e456b015d87b" providerId="ADAL" clId="{42764042-7A89-4163-BC53-3B04DE20AA88}" dt="2026-03-16T11:01:39.150" v="196" actId="1037"/>
          <ac:spMkLst>
            <pc:docMk/>
            <pc:sldMk cId="1735492169" sldId="2086"/>
            <ac:spMk id="5" creationId="{08642531-3E21-F624-E88D-6EA34E27DC91}"/>
          </ac:spMkLst>
        </pc:spChg>
        <pc:spChg chg="mod">
          <ac:chgData name="MATON Eric" userId="de02f52b-0ef7-40a3-a4e0-e456b015d87b" providerId="ADAL" clId="{42764042-7A89-4163-BC53-3B04DE20AA88}" dt="2026-03-16T11:01:39.150" v="196" actId="1037"/>
          <ac:spMkLst>
            <pc:docMk/>
            <pc:sldMk cId="1735492169" sldId="2086"/>
            <ac:spMk id="6" creationId="{9D39C70F-3B39-62A4-2408-EA0435942D14}"/>
          </ac:spMkLst>
        </pc:spChg>
        <pc:spChg chg="mod">
          <ac:chgData name="MATON Eric" userId="de02f52b-0ef7-40a3-a4e0-e456b015d87b" providerId="ADAL" clId="{42764042-7A89-4163-BC53-3B04DE20AA88}" dt="2026-03-16T11:01:39.150" v="196" actId="1037"/>
          <ac:spMkLst>
            <pc:docMk/>
            <pc:sldMk cId="1735492169" sldId="2086"/>
            <ac:spMk id="7" creationId="{1BB59824-DE9B-C2B0-F8E2-265333FC87C7}"/>
          </ac:spMkLst>
        </pc:spChg>
        <pc:spChg chg="add mod">
          <ac:chgData name="MATON Eric" userId="de02f52b-0ef7-40a3-a4e0-e456b015d87b" providerId="ADAL" clId="{42764042-7A89-4163-BC53-3B04DE20AA88}" dt="2026-03-16T11:02:09.191" v="203" actId="1582"/>
          <ac:spMkLst>
            <pc:docMk/>
            <pc:sldMk cId="1735492169" sldId="2086"/>
            <ac:spMk id="11" creationId="{7E52E7D5-3062-6C44-13BC-E2A2E3C46AEF}"/>
          </ac:spMkLst>
        </pc:spChg>
        <pc:picChg chg="del">
          <ac:chgData name="MATON Eric" userId="de02f52b-0ef7-40a3-a4e0-e456b015d87b" providerId="ADAL" clId="{42764042-7A89-4163-BC53-3B04DE20AA88}" dt="2026-03-16T11:00:53.024" v="174" actId="478"/>
          <ac:picMkLst>
            <pc:docMk/>
            <pc:sldMk cId="1735492169" sldId="2086"/>
            <ac:picMk id="9" creationId="{0EC074FD-C87B-11DC-5B8B-152E292BF2CF}"/>
          </ac:picMkLst>
        </pc:picChg>
        <pc:picChg chg="add mod">
          <ac:chgData name="MATON Eric" userId="de02f52b-0ef7-40a3-a4e0-e456b015d87b" providerId="ADAL" clId="{42764042-7A89-4163-BC53-3B04DE20AA88}" dt="2026-03-16T11:01:27.614" v="181" actId="1076"/>
          <ac:picMkLst>
            <pc:docMk/>
            <pc:sldMk cId="1735492169" sldId="2086"/>
            <ac:picMk id="10" creationId="{7243F717-3237-FAD6-6D4C-51BBF3851817}"/>
          </ac:picMkLst>
        </pc:picChg>
      </pc:sldChg>
      <pc:sldChg chg="addSp delSp modSp mod">
        <pc:chgData name="MATON Eric" userId="de02f52b-0ef7-40a3-a4e0-e456b015d87b" providerId="ADAL" clId="{42764042-7A89-4163-BC53-3B04DE20AA88}" dt="2026-03-16T11:08:02.351" v="247" actId="1036"/>
        <pc:sldMkLst>
          <pc:docMk/>
          <pc:sldMk cId="4269442662" sldId="2087"/>
        </pc:sldMkLst>
        <pc:spChg chg="add mod">
          <ac:chgData name="MATON Eric" userId="de02f52b-0ef7-40a3-a4e0-e456b015d87b" providerId="ADAL" clId="{42764042-7A89-4163-BC53-3B04DE20AA88}" dt="2026-03-16T11:07:29.548" v="240" actId="14100"/>
          <ac:spMkLst>
            <pc:docMk/>
            <pc:sldMk cId="4269442662" sldId="2087"/>
            <ac:spMk id="6" creationId="{7A504302-5E20-810A-D21B-BDD1F32294C4}"/>
          </ac:spMkLst>
        </pc:spChg>
        <pc:spChg chg="add mod">
          <ac:chgData name="MATON Eric" userId="de02f52b-0ef7-40a3-a4e0-e456b015d87b" providerId="ADAL" clId="{42764042-7A89-4163-BC53-3B04DE20AA88}" dt="2026-03-16T11:08:02.351" v="247" actId="1036"/>
          <ac:spMkLst>
            <pc:docMk/>
            <pc:sldMk cId="4269442662" sldId="2087"/>
            <ac:spMk id="7" creationId="{C4950A47-C1E4-4247-9F22-ED55754E67BB}"/>
          </ac:spMkLst>
        </pc:spChg>
        <pc:spChg chg="del">
          <ac:chgData name="MATON Eric" userId="de02f52b-0ef7-40a3-a4e0-e456b015d87b" providerId="ADAL" clId="{42764042-7A89-4163-BC53-3B04DE20AA88}" dt="2026-03-16T11:07:03.553" v="207" actId="478"/>
          <ac:spMkLst>
            <pc:docMk/>
            <pc:sldMk cId="4269442662" sldId="2087"/>
            <ac:spMk id="11" creationId="{B40B5878-AA21-5C5C-8B63-F94A2E5EDFCC}"/>
          </ac:spMkLst>
        </pc:spChg>
        <pc:spChg chg="mod">
          <ac:chgData name="MATON Eric" userId="de02f52b-0ef7-40a3-a4e0-e456b015d87b" providerId="ADAL" clId="{42764042-7A89-4163-BC53-3B04DE20AA88}" dt="2026-03-16T11:07:48.561" v="243" actId="1076"/>
          <ac:spMkLst>
            <pc:docMk/>
            <pc:sldMk cId="4269442662" sldId="2087"/>
            <ac:spMk id="12" creationId="{7279F7D6-74F2-D52D-9F63-9F731F19FCD6}"/>
          </ac:spMkLst>
        </pc:spChg>
        <pc:spChg chg="del">
          <ac:chgData name="MATON Eric" userId="de02f52b-0ef7-40a3-a4e0-e456b015d87b" providerId="ADAL" clId="{42764042-7A89-4163-BC53-3B04DE20AA88}" dt="2026-03-16T11:07:03.553" v="207" actId="478"/>
          <ac:spMkLst>
            <pc:docMk/>
            <pc:sldMk cId="4269442662" sldId="2087"/>
            <ac:spMk id="13" creationId="{43FCE152-A57A-D223-4F25-4BDBB1A9203E}"/>
          </ac:spMkLst>
        </pc:spChg>
        <pc:picChg chg="add mod">
          <ac:chgData name="MATON Eric" userId="de02f52b-0ef7-40a3-a4e0-e456b015d87b" providerId="ADAL" clId="{42764042-7A89-4163-BC53-3B04DE20AA88}" dt="2026-03-16T11:07:13.029" v="211" actId="1037"/>
          <ac:picMkLst>
            <pc:docMk/>
            <pc:sldMk cId="4269442662" sldId="2087"/>
            <ac:picMk id="5" creationId="{CD900977-BEE7-8649-98C3-32EA00D7F88F}"/>
          </ac:picMkLst>
        </pc:picChg>
        <pc:picChg chg="del">
          <ac:chgData name="MATON Eric" userId="de02f52b-0ef7-40a3-a4e0-e456b015d87b" providerId="ADAL" clId="{42764042-7A89-4163-BC53-3B04DE20AA88}" dt="2026-03-16T11:06:50.492" v="204" actId="478"/>
          <ac:picMkLst>
            <pc:docMk/>
            <pc:sldMk cId="4269442662" sldId="2087"/>
            <ac:picMk id="10" creationId="{47C69B37-26C2-8845-F08D-3FD6417C5E25}"/>
          </ac:picMkLst>
        </pc:picChg>
      </pc:sldChg>
      <pc:sldChg chg="addSp delSp modSp mod">
        <pc:chgData name="MATON Eric" userId="de02f52b-0ef7-40a3-a4e0-e456b015d87b" providerId="ADAL" clId="{42764042-7A89-4163-BC53-3B04DE20AA88}" dt="2026-03-16T11:12:19.612" v="281" actId="1076"/>
        <pc:sldMkLst>
          <pc:docMk/>
          <pc:sldMk cId="928733893" sldId="2088"/>
        </pc:sldMkLst>
        <pc:spChg chg="del">
          <ac:chgData name="MATON Eric" userId="de02f52b-0ef7-40a3-a4e0-e456b015d87b" providerId="ADAL" clId="{42764042-7A89-4163-BC53-3B04DE20AA88}" dt="2026-03-16T11:12:14.716" v="279" actId="478"/>
          <ac:spMkLst>
            <pc:docMk/>
            <pc:sldMk cId="928733893" sldId="2088"/>
            <ac:spMk id="20" creationId="{1F7F8680-33B8-7710-2778-258403A869E8}"/>
          </ac:spMkLst>
        </pc:spChg>
        <pc:spChg chg="mod">
          <ac:chgData name="MATON Eric" userId="de02f52b-0ef7-40a3-a4e0-e456b015d87b" providerId="ADAL" clId="{42764042-7A89-4163-BC53-3B04DE20AA88}" dt="2026-03-16T11:09:45.721" v="266" actId="1076"/>
          <ac:spMkLst>
            <pc:docMk/>
            <pc:sldMk cId="928733893" sldId="2088"/>
            <ac:spMk id="22" creationId="{0251A0E1-3E44-9035-D317-669A0380FC57}"/>
          </ac:spMkLst>
        </pc:spChg>
        <pc:spChg chg="add mod">
          <ac:chgData name="MATON Eric" userId="de02f52b-0ef7-40a3-a4e0-e456b015d87b" providerId="ADAL" clId="{42764042-7A89-4163-BC53-3B04DE20AA88}" dt="2026-03-16T11:12:19.612" v="281" actId="1076"/>
          <ac:spMkLst>
            <pc:docMk/>
            <pc:sldMk cId="928733893" sldId="2088"/>
            <ac:spMk id="33" creationId="{9C701A8E-C5BA-F05F-0E35-D627EF3A352B}"/>
          </ac:spMkLst>
        </pc:spChg>
        <pc:picChg chg="add del mod">
          <ac:chgData name="MATON Eric" userId="de02f52b-0ef7-40a3-a4e0-e456b015d87b" providerId="ADAL" clId="{42764042-7A89-4163-BC53-3B04DE20AA88}" dt="2026-03-16T11:09:13.086" v="258" actId="478"/>
          <ac:picMkLst>
            <pc:docMk/>
            <pc:sldMk cId="928733893" sldId="2088"/>
            <ac:picMk id="3" creationId="{4E6B92E4-37E6-9D24-AC52-BC32E6CF9046}"/>
          </ac:picMkLst>
        </pc:picChg>
        <pc:picChg chg="del">
          <ac:chgData name="MATON Eric" userId="de02f52b-0ef7-40a3-a4e0-e456b015d87b" providerId="ADAL" clId="{42764042-7A89-4163-BC53-3B04DE20AA88}" dt="2026-03-16T11:08:18.618" v="248" actId="478"/>
          <ac:picMkLst>
            <pc:docMk/>
            <pc:sldMk cId="928733893" sldId="2088"/>
            <ac:picMk id="5" creationId="{60671D4D-38B7-41AF-7182-2CAC5DE34599}"/>
          </ac:picMkLst>
        </pc:picChg>
        <pc:picChg chg="del">
          <ac:chgData name="MATON Eric" userId="de02f52b-0ef7-40a3-a4e0-e456b015d87b" providerId="ADAL" clId="{42764042-7A89-4163-BC53-3B04DE20AA88}" dt="2026-03-16T11:08:20.537" v="249" actId="478"/>
          <ac:picMkLst>
            <pc:docMk/>
            <pc:sldMk cId="928733893" sldId="2088"/>
            <ac:picMk id="6" creationId="{B40F0771-4689-2155-7FC4-9C9660D779B3}"/>
          </ac:picMkLst>
        </pc:picChg>
        <pc:picChg chg="del">
          <ac:chgData name="MATON Eric" userId="de02f52b-0ef7-40a3-a4e0-e456b015d87b" providerId="ADAL" clId="{42764042-7A89-4163-BC53-3B04DE20AA88}" dt="2026-03-16T11:09:36.683" v="263" actId="478"/>
          <ac:picMkLst>
            <pc:docMk/>
            <pc:sldMk cId="928733893" sldId="2088"/>
            <ac:picMk id="8" creationId="{139C5AC1-20D0-F3F9-C4FB-757C74B3527E}"/>
          </ac:picMkLst>
        </pc:picChg>
        <pc:picChg chg="add mod">
          <ac:chgData name="MATON Eric" userId="de02f52b-0ef7-40a3-a4e0-e456b015d87b" providerId="ADAL" clId="{42764042-7A89-4163-BC53-3B04DE20AA88}" dt="2026-03-16T11:09:41.351" v="265" actId="1076"/>
          <ac:picMkLst>
            <pc:docMk/>
            <pc:sldMk cId="928733893" sldId="2088"/>
            <ac:picMk id="11" creationId="{36715790-6818-D5E0-74A6-1986112AD599}"/>
          </ac:picMkLst>
        </pc:picChg>
        <pc:picChg chg="add mod">
          <ac:chgData name="MATON Eric" userId="de02f52b-0ef7-40a3-a4e0-e456b015d87b" providerId="ADAL" clId="{42764042-7A89-4163-BC53-3B04DE20AA88}" dt="2026-03-16T11:09:36.903" v="264"/>
          <ac:picMkLst>
            <pc:docMk/>
            <pc:sldMk cId="928733893" sldId="2088"/>
            <ac:picMk id="12" creationId="{969AA24F-A0FB-B7A2-37B2-58E49458C06E}"/>
          </ac:picMkLst>
        </pc:picChg>
        <pc:picChg chg="del">
          <ac:chgData name="MATON Eric" userId="de02f52b-0ef7-40a3-a4e0-e456b015d87b" providerId="ADAL" clId="{42764042-7A89-4163-BC53-3B04DE20AA88}" dt="2026-03-16T11:08:22.040" v="250" actId="478"/>
          <ac:picMkLst>
            <pc:docMk/>
            <pc:sldMk cId="928733893" sldId="2088"/>
            <ac:picMk id="14" creationId="{9FB063E9-D465-8188-838C-70E77B83A6DF}"/>
          </ac:picMkLst>
        </pc:picChg>
        <pc:picChg chg="del">
          <ac:chgData name="MATON Eric" userId="de02f52b-0ef7-40a3-a4e0-e456b015d87b" providerId="ADAL" clId="{42764042-7A89-4163-BC53-3B04DE20AA88}" dt="2026-03-16T11:08:23.693" v="251" actId="478"/>
          <ac:picMkLst>
            <pc:docMk/>
            <pc:sldMk cId="928733893" sldId="2088"/>
            <ac:picMk id="15" creationId="{31FBBA52-08E5-7494-8809-8C787BD06448}"/>
          </ac:picMkLst>
        </pc:picChg>
        <pc:picChg chg="del">
          <ac:chgData name="MATON Eric" userId="de02f52b-0ef7-40a3-a4e0-e456b015d87b" providerId="ADAL" clId="{42764042-7A89-4163-BC53-3B04DE20AA88}" dt="2026-03-16T11:08:25.386" v="252" actId="478"/>
          <ac:picMkLst>
            <pc:docMk/>
            <pc:sldMk cId="928733893" sldId="2088"/>
            <ac:picMk id="17" creationId="{F2B7E7AF-8DA7-B9F4-40D9-10EF36ACC6A0}"/>
          </ac:picMkLst>
        </pc:picChg>
        <pc:picChg chg="del">
          <ac:chgData name="MATON Eric" userId="de02f52b-0ef7-40a3-a4e0-e456b015d87b" providerId="ADAL" clId="{42764042-7A89-4163-BC53-3B04DE20AA88}" dt="2026-03-16T11:08:26.823" v="253" actId="478"/>
          <ac:picMkLst>
            <pc:docMk/>
            <pc:sldMk cId="928733893" sldId="2088"/>
            <ac:picMk id="19" creationId="{267AF52A-B9F8-D060-7EA1-035AD6E40AFC}"/>
          </ac:picMkLst>
        </pc:picChg>
        <pc:picChg chg="add del mod">
          <ac:chgData name="MATON Eric" userId="de02f52b-0ef7-40a3-a4e0-e456b015d87b" providerId="ADAL" clId="{42764042-7A89-4163-BC53-3B04DE20AA88}" dt="2026-03-16T11:10:18.121" v="268" actId="478"/>
          <ac:picMkLst>
            <pc:docMk/>
            <pc:sldMk cId="928733893" sldId="2088"/>
            <ac:picMk id="21" creationId="{C5D4021B-1CBD-4701-1F60-78C17E7B1E65}"/>
          </ac:picMkLst>
        </pc:picChg>
        <pc:picChg chg="add mod">
          <ac:chgData name="MATON Eric" userId="de02f52b-0ef7-40a3-a4e0-e456b015d87b" providerId="ADAL" clId="{42764042-7A89-4163-BC53-3B04DE20AA88}" dt="2026-03-16T11:10:40.253" v="270" actId="1076"/>
          <ac:picMkLst>
            <pc:docMk/>
            <pc:sldMk cId="928733893" sldId="2088"/>
            <ac:picMk id="24" creationId="{FE4D0157-0078-7FE6-B2D7-00337B9AD299}"/>
          </ac:picMkLst>
        </pc:picChg>
        <pc:picChg chg="add mod">
          <ac:chgData name="MATON Eric" userId="de02f52b-0ef7-40a3-a4e0-e456b015d87b" providerId="ADAL" clId="{42764042-7A89-4163-BC53-3B04DE20AA88}" dt="2026-03-16T11:11:03.546" v="272" actId="1076"/>
          <ac:picMkLst>
            <pc:docMk/>
            <pc:sldMk cId="928733893" sldId="2088"/>
            <ac:picMk id="26" creationId="{646E58D9-E058-FF79-1558-08D0FA563775}"/>
          </ac:picMkLst>
        </pc:picChg>
        <pc:picChg chg="add mod">
          <ac:chgData name="MATON Eric" userId="de02f52b-0ef7-40a3-a4e0-e456b015d87b" providerId="ADAL" clId="{42764042-7A89-4163-BC53-3B04DE20AA88}" dt="2026-03-16T11:11:24.529" v="273" actId="931"/>
          <ac:picMkLst>
            <pc:docMk/>
            <pc:sldMk cId="928733893" sldId="2088"/>
            <ac:picMk id="28" creationId="{ADB12EB4-E17B-94C2-956A-A44E998BF874}"/>
          </ac:picMkLst>
        </pc:picChg>
        <pc:picChg chg="add mod">
          <ac:chgData name="MATON Eric" userId="de02f52b-0ef7-40a3-a4e0-e456b015d87b" providerId="ADAL" clId="{42764042-7A89-4163-BC53-3B04DE20AA88}" dt="2026-03-16T11:11:50.159" v="276" actId="1076"/>
          <ac:picMkLst>
            <pc:docMk/>
            <pc:sldMk cId="928733893" sldId="2088"/>
            <ac:picMk id="30" creationId="{52A1A2A5-698B-A878-AEE2-2A14C5557B48}"/>
          </ac:picMkLst>
        </pc:picChg>
        <pc:picChg chg="add mod">
          <ac:chgData name="MATON Eric" userId="de02f52b-0ef7-40a3-a4e0-e456b015d87b" providerId="ADAL" clId="{42764042-7A89-4163-BC53-3B04DE20AA88}" dt="2026-03-16T11:12:12.272" v="278" actId="1076"/>
          <ac:picMkLst>
            <pc:docMk/>
            <pc:sldMk cId="928733893" sldId="2088"/>
            <ac:picMk id="32" creationId="{304F06D3-36E1-51F1-6FB9-5BB419868C3A}"/>
          </ac:picMkLst>
        </pc:picChg>
      </pc:sldChg>
      <pc:sldChg chg="addSp delSp modSp mod">
        <pc:chgData name="MATON Eric" userId="de02f52b-0ef7-40a3-a4e0-e456b015d87b" providerId="ADAL" clId="{42764042-7A89-4163-BC53-3B04DE20AA88}" dt="2026-03-16T12:49:30.929" v="533" actId="1036"/>
        <pc:sldMkLst>
          <pc:docMk/>
          <pc:sldMk cId="1667551966" sldId="2089"/>
        </pc:sldMkLst>
        <pc:spChg chg="mod">
          <ac:chgData name="MATON Eric" userId="de02f52b-0ef7-40a3-a4e0-e456b015d87b" providerId="ADAL" clId="{42764042-7A89-4163-BC53-3B04DE20AA88}" dt="2026-03-16T12:49:30.929" v="533" actId="1036"/>
          <ac:spMkLst>
            <pc:docMk/>
            <pc:sldMk cId="1667551966" sldId="2089"/>
            <ac:spMk id="3" creationId="{56B47DE7-6073-740B-65D0-4CDA85EE2D49}"/>
          </ac:spMkLst>
        </pc:spChg>
        <pc:spChg chg="mod">
          <ac:chgData name="MATON Eric" userId="de02f52b-0ef7-40a3-a4e0-e456b015d87b" providerId="ADAL" clId="{42764042-7A89-4163-BC53-3B04DE20AA88}" dt="2026-03-16T12:49:27.133" v="526" actId="1036"/>
          <ac:spMkLst>
            <pc:docMk/>
            <pc:sldMk cId="1667551966" sldId="2089"/>
            <ac:spMk id="10" creationId="{BB4F9E0C-A7CA-5A39-99ED-D93762FE7692}"/>
          </ac:spMkLst>
        </pc:spChg>
        <pc:spChg chg="mod">
          <ac:chgData name="MATON Eric" userId="de02f52b-0ef7-40a3-a4e0-e456b015d87b" providerId="ADAL" clId="{42764042-7A89-4163-BC53-3B04DE20AA88}" dt="2026-03-16T12:49:22.538" v="520" actId="1035"/>
          <ac:spMkLst>
            <pc:docMk/>
            <pc:sldMk cId="1667551966" sldId="2089"/>
            <ac:spMk id="11" creationId="{990CBD7F-0500-5D23-2DC2-D3F8C01BCD9E}"/>
          </ac:spMkLst>
        </pc:spChg>
        <pc:spChg chg="add mod">
          <ac:chgData name="MATON Eric" userId="de02f52b-0ef7-40a3-a4e0-e456b015d87b" providerId="ADAL" clId="{42764042-7A89-4163-BC53-3B04DE20AA88}" dt="2026-03-16T12:49:11.717" v="498" actId="1037"/>
          <ac:spMkLst>
            <pc:docMk/>
            <pc:sldMk cId="1667551966" sldId="2089"/>
            <ac:spMk id="14" creationId="{BC85E21C-16D9-35EB-5EA9-EA6A5907CE5D}"/>
          </ac:spMkLst>
        </pc:spChg>
        <pc:grpChg chg="add mod">
          <ac:chgData name="MATON Eric" userId="de02f52b-0ef7-40a3-a4e0-e456b015d87b" providerId="ADAL" clId="{42764042-7A89-4163-BC53-3B04DE20AA88}" dt="2026-03-16T12:48:49.385" v="453" actId="164"/>
          <ac:grpSpMkLst>
            <pc:docMk/>
            <pc:sldMk cId="1667551966" sldId="2089"/>
            <ac:grpSpMk id="9" creationId="{F5B313B2-B452-43CD-EECE-7ACC44D0129D}"/>
          </ac:grpSpMkLst>
        </pc:grpChg>
        <pc:picChg chg="add mod">
          <ac:chgData name="MATON Eric" userId="de02f52b-0ef7-40a3-a4e0-e456b015d87b" providerId="ADAL" clId="{42764042-7A89-4163-BC53-3B04DE20AA88}" dt="2026-03-16T12:48:49.385" v="453" actId="164"/>
          <ac:picMkLst>
            <pc:docMk/>
            <pc:sldMk cId="1667551966" sldId="2089"/>
            <ac:picMk id="6" creationId="{582A77BF-46F5-4E6B-0E06-C0ACEC6F20C5}"/>
          </ac:picMkLst>
        </pc:picChg>
        <pc:picChg chg="add mod">
          <ac:chgData name="MATON Eric" userId="de02f52b-0ef7-40a3-a4e0-e456b015d87b" providerId="ADAL" clId="{42764042-7A89-4163-BC53-3B04DE20AA88}" dt="2026-03-16T12:48:49.385" v="453" actId="164"/>
          <ac:picMkLst>
            <pc:docMk/>
            <pc:sldMk cId="1667551966" sldId="2089"/>
            <ac:picMk id="8" creationId="{6785163C-564B-0B9F-0D43-9B7A6E1BBED0}"/>
          </ac:picMkLst>
        </pc:picChg>
        <pc:picChg chg="del">
          <ac:chgData name="MATON Eric" userId="de02f52b-0ef7-40a3-a4e0-e456b015d87b" providerId="ADAL" clId="{42764042-7A89-4163-BC53-3B04DE20AA88}" dt="2026-03-16T12:47:11.757" v="434" actId="478"/>
          <ac:picMkLst>
            <pc:docMk/>
            <pc:sldMk cId="1667551966" sldId="2089"/>
            <ac:picMk id="12" creationId="{A1987B9E-9D95-2E03-CD5D-7CC20D68F28E}"/>
          </ac:picMkLst>
        </pc:picChg>
        <pc:picChg chg="del">
          <ac:chgData name="MATON Eric" userId="de02f52b-0ef7-40a3-a4e0-e456b015d87b" providerId="ADAL" clId="{42764042-7A89-4163-BC53-3B04DE20AA88}" dt="2026-03-16T12:47:13.284" v="435" actId="478"/>
          <ac:picMkLst>
            <pc:docMk/>
            <pc:sldMk cId="1667551966" sldId="2089"/>
            <ac:picMk id="13" creationId="{70741090-1C1C-D716-CFA9-C3078F310EF1}"/>
          </ac:picMkLst>
        </pc:picChg>
      </pc:sldChg>
      <pc:sldChg chg="addSp delSp modSp mod">
        <pc:chgData name="MATON Eric" userId="de02f52b-0ef7-40a3-a4e0-e456b015d87b" providerId="ADAL" clId="{42764042-7A89-4163-BC53-3B04DE20AA88}" dt="2026-03-16T12:51:12.432" v="581" actId="1038"/>
        <pc:sldMkLst>
          <pc:docMk/>
          <pc:sldMk cId="1382307009" sldId="2090"/>
        </pc:sldMkLst>
        <pc:spChg chg="mod">
          <ac:chgData name="MATON Eric" userId="de02f52b-0ef7-40a3-a4e0-e456b015d87b" providerId="ADAL" clId="{42764042-7A89-4163-BC53-3B04DE20AA88}" dt="2026-03-16T12:51:12.432" v="581" actId="1038"/>
          <ac:spMkLst>
            <pc:docMk/>
            <pc:sldMk cId="1382307009" sldId="2090"/>
            <ac:spMk id="5" creationId="{B73E60D5-345E-E982-0D60-EF84C5F8FB36}"/>
          </ac:spMkLst>
        </pc:spChg>
        <pc:spChg chg="del">
          <ac:chgData name="MATON Eric" userId="de02f52b-0ef7-40a3-a4e0-e456b015d87b" providerId="ADAL" clId="{42764042-7A89-4163-BC53-3B04DE20AA88}" dt="2026-03-16T12:50:32.964" v="538" actId="478"/>
          <ac:spMkLst>
            <pc:docMk/>
            <pc:sldMk cId="1382307009" sldId="2090"/>
            <ac:spMk id="7" creationId="{DDD254CF-C3E0-93D4-AB38-80E7978F8ADB}"/>
          </ac:spMkLst>
        </pc:spChg>
        <pc:spChg chg="del">
          <ac:chgData name="MATON Eric" userId="de02f52b-0ef7-40a3-a4e0-e456b015d87b" providerId="ADAL" clId="{42764042-7A89-4163-BC53-3B04DE20AA88}" dt="2026-03-16T12:50:32.964" v="538" actId="478"/>
          <ac:spMkLst>
            <pc:docMk/>
            <pc:sldMk cId="1382307009" sldId="2090"/>
            <ac:spMk id="8" creationId="{323ABFB6-8D1C-976A-3126-B1E8C92D3E35}"/>
          </ac:spMkLst>
        </pc:spChg>
        <pc:spChg chg="add mod">
          <ac:chgData name="MATON Eric" userId="de02f52b-0ef7-40a3-a4e0-e456b015d87b" providerId="ADAL" clId="{42764042-7A89-4163-BC53-3B04DE20AA88}" dt="2026-03-16T12:50:54.897" v="573" actId="14100"/>
          <ac:spMkLst>
            <pc:docMk/>
            <pc:sldMk cId="1382307009" sldId="2090"/>
            <ac:spMk id="11" creationId="{01647527-04DF-F720-8DC6-237F7FDC490C}"/>
          </ac:spMkLst>
        </pc:spChg>
        <pc:spChg chg="add mod">
          <ac:chgData name="MATON Eric" userId="de02f52b-0ef7-40a3-a4e0-e456b015d87b" providerId="ADAL" clId="{42764042-7A89-4163-BC53-3B04DE20AA88}" dt="2026-03-16T12:50:46.392" v="572" actId="1036"/>
          <ac:spMkLst>
            <pc:docMk/>
            <pc:sldMk cId="1382307009" sldId="2090"/>
            <ac:spMk id="12" creationId="{4E937C02-A8AF-C0BF-179C-70C9801E959B}"/>
          </ac:spMkLst>
        </pc:spChg>
        <pc:picChg chg="del">
          <ac:chgData name="MATON Eric" userId="de02f52b-0ef7-40a3-a4e0-e456b015d87b" providerId="ADAL" clId="{42764042-7A89-4163-BC53-3B04DE20AA88}" dt="2026-03-16T12:49:49.187" v="534" actId="478"/>
          <ac:picMkLst>
            <pc:docMk/>
            <pc:sldMk cId="1382307009" sldId="2090"/>
            <ac:picMk id="6" creationId="{2CEDEA3A-82E1-6657-C70F-9B2BCCB674E1}"/>
          </ac:picMkLst>
        </pc:picChg>
        <pc:picChg chg="add mod">
          <ac:chgData name="MATON Eric" userId="de02f52b-0ef7-40a3-a4e0-e456b015d87b" providerId="ADAL" clId="{42764042-7A89-4163-BC53-3B04DE20AA88}" dt="2026-03-16T12:50:39.272" v="540" actId="1076"/>
          <ac:picMkLst>
            <pc:docMk/>
            <pc:sldMk cId="1382307009" sldId="2090"/>
            <ac:picMk id="10" creationId="{33972EB5-BB7F-4070-53AD-1EC86E34512F}"/>
          </ac:picMkLst>
        </pc:picChg>
      </pc:sldChg>
      <pc:sldChg chg="addSp delSp modSp mod">
        <pc:chgData name="MATON Eric" userId="de02f52b-0ef7-40a3-a4e0-e456b015d87b" providerId="ADAL" clId="{42764042-7A89-4163-BC53-3B04DE20AA88}" dt="2026-03-16T12:52:30.463" v="602" actId="1076"/>
        <pc:sldMkLst>
          <pc:docMk/>
          <pc:sldMk cId="2876859498" sldId="2091"/>
        </pc:sldMkLst>
        <pc:spChg chg="mod">
          <ac:chgData name="MATON Eric" userId="de02f52b-0ef7-40a3-a4e0-e456b015d87b" providerId="ADAL" clId="{42764042-7A89-4163-BC53-3B04DE20AA88}" dt="2026-03-16T12:52:24.775" v="601" actId="1036"/>
          <ac:spMkLst>
            <pc:docMk/>
            <pc:sldMk cId="2876859498" sldId="2091"/>
            <ac:spMk id="5" creationId="{DD9B5AEB-3B78-8DD5-3766-A71F8CE11B38}"/>
          </ac:spMkLst>
        </pc:spChg>
        <pc:spChg chg="mod">
          <ac:chgData name="MATON Eric" userId="de02f52b-0ef7-40a3-a4e0-e456b015d87b" providerId="ADAL" clId="{42764042-7A89-4163-BC53-3B04DE20AA88}" dt="2026-03-16T12:52:30.463" v="602" actId="1076"/>
          <ac:spMkLst>
            <pc:docMk/>
            <pc:sldMk cId="2876859498" sldId="2091"/>
            <ac:spMk id="6" creationId="{75989386-D144-461D-F035-CEF521D4FF7E}"/>
          </ac:spMkLst>
        </pc:spChg>
        <pc:spChg chg="mod">
          <ac:chgData name="MATON Eric" userId="de02f52b-0ef7-40a3-a4e0-e456b015d87b" providerId="ADAL" clId="{42764042-7A89-4163-BC53-3B04DE20AA88}" dt="2026-03-16T12:52:24.775" v="601" actId="1036"/>
          <ac:spMkLst>
            <pc:docMk/>
            <pc:sldMk cId="2876859498" sldId="2091"/>
            <ac:spMk id="7" creationId="{1439D6A7-F29A-5066-C559-245D66D96139}"/>
          </ac:spMkLst>
        </pc:spChg>
        <pc:picChg chg="del">
          <ac:chgData name="MATON Eric" userId="de02f52b-0ef7-40a3-a4e0-e456b015d87b" providerId="ADAL" clId="{42764042-7A89-4163-BC53-3B04DE20AA88}" dt="2026-03-16T12:51:22.191" v="582" actId="478"/>
          <ac:picMkLst>
            <pc:docMk/>
            <pc:sldMk cId="2876859498" sldId="2091"/>
            <ac:picMk id="8" creationId="{9C0F6C4A-EEEA-49CC-431B-A50A36138E23}"/>
          </ac:picMkLst>
        </pc:picChg>
        <pc:picChg chg="add mod">
          <ac:chgData name="MATON Eric" userId="de02f52b-0ef7-40a3-a4e0-e456b015d87b" providerId="ADAL" clId="{42764042-7A89-4163-BC53-3B04DE20AA88}" dt="2026-03-16T12:52:18.549" v="585" actId="14100"/>
          <ac:picMkLst>
            <pc:docMk/>
            <pc:sldMk cId="2876859498" sldId="2091"/>
            <ac:picMk id="9" creationId="{7C8445DA-22D3-50F3-808E-2FC8641688BE}"/>
          </ac:picMkLst>
        </pc:picChg>
      </pc:sldChg>
      <pc:sldChg chg="addSp delSp modSp mod">
        <pc:chgData name="MATON Eric" userId="de02f52b-0ef7-40a3-a4e0-e456b015d87b" providerId="ADAL" clId="{42764042-7A89-4163-BC53-3B04DE20AA88}" dt="2026-03-16T12:54:39.552" v="714" actId="207"/>
        <pc:sldMkLst>
          <pc:docMk/>
          <pc:sldMk cId="3976612832" sldId="2092"/>
        </pc:sldMkLst>
        <pc:spChg chg="mod">
          <ac:chgData name="MATON Eric" userId="de02f52b-0ef7-40a3-a4e0-e456b015d87b" providerId="ADAL" clId="{42764042-7A89-4163-BC53-3B04DE20AA88}" dt="2026-03-16T12:54:29.667" v="713" actId="1076"/>
          <ac:spMkLst>
            <pc:docMk/>
            <pc:sldMk cId="3976612832" sldId="2092"/>
            <ac:spMk id="6" creationId="{25AE7345-AE11-4B48-89A1-07872515BBF9}"/>
          </ac:spMkLst>
        </pc:spChg>
        <pc:spChg chg="mod">
          <ac:chgData name="MATON Eric" userId="de02f52b-0ef7-40a3-a4e0-e456b015d87b" providerId="ADAL" clId="{42764042-7A89-4163-BC53-3B04DE20AA88}" dt="2026-03-16T12:54:27.711" v="712" actId="1076"/>
          <ac:spMkLst>
            <pc:docMk/>
            <pc:sldMk cId="3976612832" sldId="2092"/>
            <ac:spMk id="8" creationId="{BADC5A65-7DD1-B07E-B83A-4E849D28A967}"/>
          </ac:spMkLst>
        </pc:spChg>
        <pc:spChg chg="add mod">
          <ac:chgData name="MATON Eric" userId="de02f52b-0ef7-40a3-a4e0-e456b015d87b" providerId="ADAL" clId="{42764042-7A89-4163-BC53-3B04DE20AA88}" dt="2026-03-16T12:54:39.552" v="714" actId="207"/>
          <ac:spMkLst>
            <pc:docMk/>
            <pc:sldMk cId="3976612832" sldId="2092"/>
            <ac:spMk id="12" creationId="{0D20D775-0337-0E7E-3D72-752BF796ADD8}"/>
          </ac:spMkLst>
        </pc:spChg>
        <pc:spChg chg="add mod">
          <ac:chgData name="MATON Eric" userId="de02f52b-0ef7-40a3-a4e0-e456b015d87b" providerId="ADAL" clId="{42764042-7A89-4163-BC53-3B04DE20AA88}" dt="2026-03-16T12:54:39.552" v="714" actId="207"/>
          <ac:spMkLst>
            <pc:docMk/>
            <pc:sldMk cId="3976612832" sldId="2092"/>
            <ac:spMk id="13" creationId="{9E4556BE-F21F-E6B0-F15A-DA2EB5889B55}"/>
          </ac:spMkLst>
        </pc:spChg>
        <pc:spChg chg="add mod">
          <ac:chgData name="MATON Eric" userId="de02f52b-0ef7-40a3-a4e0-e456b015d87b" providerId="ADAL" clId="{42764042-7A89-4163-BC53-3B04DE20AA88}" dt="2026-03-16T12:54:39.552" v="714" actId="207"/>
          <ac:spMkLst>
            <pc:docMk/>
            <pc:sldMk cId="3976612832" sldId="2092"/>
            <ac:spMk id="14" creationId="{FAEAFEFC-8399-CE31-E08F-8620627CA037}"/>
          </ac:spMkLst>
        </pc:spChg>
        <pc:picChg chg="del">
          <ac:chgData name="MATON Eric" userId="de02f52b-0ef7-40a3-a4e0-e456b015d87b" providerId="ADAL" clId="{42764042-7A89-4163-BC53-3B04DE20AA88}" dt="2026-03-16T12:52:41.852" v="603" actId="478"/>
          <ac:picMkLst>
            <pc:docMk/>
            <pc:sldMk cId="3976612832" sldId="2092"/>
            <ac:picMk id="9" creationId="{5B1EF1FB-512C-61CB-5841-0C5CF9CB0F08}"/>
          </ac:picMkLst>
        </pc:picChg>
        <pc:picChg chg="add mod">
          <ac:chgData name="MATON Eric" userId="de02f52b-0ef7-40a3-a4e0-e456b015d87b" providerId="ADAL" clId="{42764042-7A89-4163-BC53-3B04DE20AA88}" dt="2026-03-16T12:53:11.562" v="606" actId="14100"/>
          <ac:picMkLst>
            <pc:docMk/>
            <pc:sldMk cId="3976612832" sldId="2092"/>
            <ac:picMk id="11" creationId="{39C07622-7FEC-82AF-944A-708649FB7E25}"/>
          </ac:picMkLst>
        </pc:picChg>
      </pc:sldChg>
      <pc:sldChg chg="del">
        <pc:chgData name="MATON Eric" userId="de02f52b-0ef7-40a3-a4e0-e456b015d87b" providerId="ADAL" clId="{42764042-7A89-4163-BC53-3B04DE20AA88}" dt="2026-03-16T12:55:00.965" v="715" actId="47"/>
        <pc:sldMkLst>
          <pc:docMk/>
          <pc:sldMk cId="220984739" sldId="2093"/>
        </pc:sldMkLst>
      </pc:sldChg>
      <pc:sldChg chg="addSp delSp modSp mod">
        <pc:chgData name="MATON Eric" userId="de02f52b-0ef7-40a3-a4e0-e456b015d87b" providerId="ADAL" clId="{42764042-7A89-4163-BC53-3B04DE20AA88}" dt="2026-03-16T12:55:45.638" v="720" actId="1076"/>
        <pc:sldMkLst>
          <pc:docMk/>
          <pc:sldMk cId="3912161267" sldId="2094"/>
        </pc:sldMkLst>
        <pc:picChg chg="del">
          <ac:chgData name="MATON Eric" userId="de02f52b-0ef7-40a3-a4e0-e456b015d87b" providerId="ADAL" clId="{42764042-7A89-4163-BC53-3B04DE20AA88}" dt="2026-03-16T12:55:05.023" v="716" actId="478"/>
          <ac:picMkLst>
            <pc:docMk/>
            <pc:sldMk cId="3912161267" sldId="2094"/>
            <ac:picMk id="8" creationId="{BE64DBD1-E2CC-A6CA-CF4B-55398F8BB506}"/>
          </ac:picMkLst>
        </pc:picChg>
        <pc:picChg chg="add mod">
          <ac:chgData name="MATON Eric" userId="de02f52b-0ef7-40a3-a4e0-e456b015d87b" providerId="ADAL" clId="{42764042-7A89-4163-BC53-3B04DE20AA88}" dt="2026-03-16T12:55:45.638" v="720" actId="1076"/>
          <ac:picMkLst>
            <pc:docMk/>
            <pc:sldMk cId="3912161267" sldId="2094"/>
            <ac:picMk id="9" creationId="{5767EF5A-B814-79A8-B685-112C423348B9}"/>
          </ac:picMkLst>
        </pc:picChg>
      </pc:sldChg>
      <pc:sldChg chg="addSp delSp modSp mod">
        <pc:chgData name="MATON Eric" userId="de02f52b-0ef7-40a3-a4e0-e456b015d87b" providerId="ADAL" clId="{42764042-7A89-4163-BC53-3B04DE20AA88}" dt="2026-03-16T12:57:47.948" v="886" actId="1076"/>
        <pc:sldMkLst>
          <pc:docMk/>
          <pc:sldMk cId="379380446" sldId="2095"/>
        </pc:sldMkLst>
        <pc:spChg chg="mod">
          <ac:chgData name="MATON Eric" userId="de02f52b-0ef7-40a3-a4e0-e456b015d87b" providerId="ADAL" clId="{42764042-7A89-4163-BC53-3B04DE20AA88}" dt="2026-03-16T12:57:06.899" v="811" actId="1076"/>
          <ac:spMkLst>
            <pc:docMk/>
            <pc:sldMk cId="379380446" sldId="2095"/>
            <ac:spMk id="6" creationId="{7B8DD6C8-D970-148C-DF4B-87FE11282802}"/>
          </ac:spMkLst>
        </pc:spChg>
        <pc:spChg chg="mod">
          <ac:chgData name="MATON Eric" userId="de02f52b-0ef7-40a3-a4e0-e456b015d87b" providerId="ADAL" clId="{42764042-7A89-4163-BC53-3B04DE20AA88}" dt="2026-03-16T12:57:10.331" v="812" actId="1076"/>
          <ac:spMkLst>
            <pc:docMk/>
            <pc:sldMk cId="379380446" sldId="2095"/>
            <ac:spMk id="7" creationId="{01A7B9D8-BA3D-2949-40B2-69ED8F9C2D3F}"/>
          </ac:spMkLst>
        </pc:spChg>
        <pc:spChg chg="mod">
          <ac:chgData name="MATON Eric" userId="de02f52b-0ef7-40a3-a4e0-e456b015d87b" providerId="ADAL" clId="{42764042-7A89-4163-BC53-3B04DE20AA88}" dt="2026-03-16T12:56:56.021" v="808" actId="1035"/>
          <ac:spMkLst>
            <pc:docMk/>
            <pc:sldMk cId="379380446" sldId="2095"/>
            <ac:spMk id="8" creationId="{F99D027A-3CBE-0AC4-E54E-7FB8AC956D6A}"/>
          </ac:spMkLst>
        </pc:spChg>
        <pc:spChg chg="add mod">
          <ac:chgData name="MATON Eric" userId="de02f52b-0ef7-40a3-a4e0-e456b015d87b" providerId="ADAL" clId="{42764042-7A89-4163-BC53-3B04DE20AA88}" dt="2026-03-16T12:57:14.746" v="814" actId="20577"/>
          <ac:spMkLst>
            <pc:docMk/>
            <pc:sldMk cId="379380446" sldId="2095"/>
            <ac:spMk id="12" creationId="{F28DB2F7-1690-8678-05E9-8AB892E2F8BF}"/>
          </ac:spMkLst>
        </pc:spChg>
        <pc:spChg chg="add mod">
          <ac:chgData name="MATON Eric" userId="de02f52b-0ef7-40a3-a4e0-e456b015d87b" providerId="ADAL" clId="{42764042-7A89-4163-BC53-3B04DE20AA88}" dt="2026-03-16T12:57:47.948" v="886" actId="1076"/>
          <ac:spMkLst>
            <pc:docMk/>
            <pc:sldMk cId="379380446" sldId="2095"/>
            <ac:spMk id="13" creationId="{C015341D-CAF7-5CA0-E6E1-BD185E2A0B94}"/>
          </ac:spMkLst>
        </pc:spChg>
        <pc:picChg chg="del">
          <ac:chgData name="MATON Eric" userId="de02f52b-0ef7-40a3-a4e0-e456b015d87b" providerId="ADAL" clId="{42764042-7A89-4163-BC53-3B04DE20AA88}" dt="2026-03-16T12:55:51.405" v="721" actId="478"/>
          <ac:picMkLst>
            <pc:docMk/>
            <pc:sldMk cId="379380446" sldId="2095"/>
            <ac:picMk id="10" creationId="{FE79090A-CAE5-FEAF-6DBA-047478183D2B}"/>
          </ac:picMkLst>
        </pc:picChg>
        <pc:picChg chg="add mod">
          <ac:chgData name="MATON Eric" userId="de02f52b-0ef7-40a3-a4e0-e456b015d87b" providerId="ADAL" clId="{42764042-7A89-4163-BC53-3B04DE20AA88}" dt="2026-03-16T12:57:45.066" v="885" actId="1038"/>
          <ac:picMkLst>
            <pc:docMk/>
            <pc:sldMk cId="379380446" sldId="2095"/>
            <ac:picMk id="11" creationId="{958BF667-26CC-F1FA-9043-62CB6F6E0237}"/>
          </ac:picMkLst>
        </pc:picChg>
      </pc:sldChg>
      <pc:sldChg chg="modSp mod">
        <pc:chgData name="MATON Eric" userId="de02f52b-0ef7-40a3-a4e0-e456b015d87b" providerId="ADAL" clId="{42764042-7A89-4163-BC53-3B04DE20AA88}" dt="2026-03-16T13:03:49.133" v="892" actId="20577"/>
        <pc:sldMkLst>
          <pc:docMk/>
          <pc:sldMk cId="363470515" sldId="2096"/>
        </pc:sldMkLst>
        <pc:spChg chg="mod">
          <ac:chgData name="MATON Eric" userId="de02f52b-0ef7-40a3-a4e0-e456b015d87b" providerId="ADAL" clId="{42764042-7A89-4163-BC53-3B04DE20AA88}" dt="2026-03-16T13:03:49.133" v="892" actId="20577"/>
          <ac:spMkLst>
            <pc:docMk/>
            <pc:sldMk cId="363470515" sldId="2096"/>
            <ac:spMk id="3" creationId="{35ABC2D6-A907-2D0C-BEB1-E8719C7FB1FD}"/>
          </ac:spMkLst>
        </pc:spChg>
      </pc:sldChg>
      <pc:sldChg chg="modSp mod">
        <pc:chgData name="MATON Eric" userId="de02f52b-0ef7-40a3-a4e0-e456b015d87b" providerId="ADAL" clId="{42764042-7A89-4163-BC53-3B04DE20AA88}" dt="2026-03-16T13:05:41.255" v="902" actId="20577"/>
        <pc:sldMkLst>
          <pc:docMk/>
          <pc:sldMk cId="635431705" sldId="2101"/>
        </pc:sldMkLst>
        <pc:spChg chg="mod">
          <ac:chgData name="MATON Eric" userId="de02f52b-0ef7-40a3-a4e0-e456b015d87b" providerId="ADAL" clId="{42764042-7A89-4163-BC53-3B04DE20AA88}" dt="2026-03-16T13:05:41.255" v="902" actId="20577"/>
          <ac:spMkLst>
            <pc:docMk/>
            <pc:sldMk cId="635431705" sldId="2101"/>
            <ac:spMk id="3" creationId="{E05E0CAA-1570-4930-4004-08DB8F16E43F}"/>
          </ac:spMkLst>
        </pc:spChg>
      </pc:sldChg>
      <pc:sldChg chg="modSp mod">
        <pc:chgData name="MATON Eric" userId="de02f52b-0ef7-40a3-a4e0-e456b015d87b" providerId="ADAL" clId="{42764042-7A89-4163-BC53-3B04DE20AA88}" dt="2026-03-16T13:07:16.576" v="906" actId="20577"/>
        <pc:sldMkLst>
          <pc:docMk/>
          <pc:sldMk cId="974502794" sldId="2103"/>
        </pc:sldMkLst>
        <pc:graphicFrameChg chg="modGraphic">
          <ac:chgData name="MATON Eric" userId="de02f52b-0ef7-40a3-a4e0-e456b015d87b" providerId="ADAL" clId="{42764042-7A89-4163-BC53-3B04DE20AA88}" dt="2026-03-16T13:07:16.576" v="906" actId="20577"/>
          <ac:graphicFrameMkLst>
            <pc:docMk/>
            <pc:sldMk cId="974502794" sldId="2103"/>
            <ac:graphicFrameMk id="3" creationId="{3A581910-61B5-29B9-EBA3-FA70E63FF26D}"/>
          </ac:graphicFrameMkLst>
        </pc:graphicFrameChg>
      </pc:sldChg>
      <pc:sldChg chg="addSp delSp modSp mod">
        <pc:chgData name="MATON Eric" userId="de02f52b-0ef7-40a3-a4e0-e456b015d87b" providerId="ADAL" clId="{42764042-7A89-4163-BC53-3B04DE20AA88}" dt="2026-03-17T02:51:57.770" v="1078" actId="1076"/>
        <pc:sldMkLst>
          <pc:docMk/>
          <pc:sldMk cId="2984085063" sldId="2122"/>
        </pc:sldMkLst>
        <pc:spChg chg="add mod">
          <ac:chgData name="MATON Eric" userId="de02f52b-0ef7-40a3-a4e0-e456b015d87b" providerId="ADAL" clId="{42764042-7A89-4163-BC53-3B04DE20AA88}" dt="2026-03-17T02:51:41.619" v="1075" actId="1076"/>
          <ac:spMkLst>
            <pc:docMk/>
            <pc:sldMk cId="2984085063" sldId="2122"/>
            <ac:spMk id="3" creationId="{DA5EE8F8-495A-5D14-CA1E-8A04708280A1}"/>
          </ac:spMkLst>
        </pc:spChg>
        <pc:spChg chg="add mod">
          <ac:chgData name="MATON Eric" userId="de02f52b-0ef7-40a3-a4e0-e456b015d87b" providerId="ADAL" clId="{42764042-7A89-4163-BC53-3B04DE20AA88}" dt="2026-03-17T02:51:57.770" v="1078" actId="1076"/>
          <ac:spMkLst>
            <pc:docMk/>
            <pc:sldMk cId="2984085063" sldId="2122"/>
            <ac:spMk id="6" creationId="{B8B8F3F9-1A02-F036-D3A9-249CB50E77A0}"/>
          </ac:spMkLst>
        </pc:spChg>
        <pc:spChg chg="del mod">
          <ac:chgData name="MATON Eric" userId="de02f52b-0ef7-40a3-a4e0-e456b015d87b" providerId="ADAL" clId="{42764042-7A89-4163-BC53-3B04DE20AA88}" dt="2026-03-17T02:51:53.446" v="1076" actId="478"/>
          <ac:spMkLst>
            <pc:docMk/>
            <pc:sldMk cId="2984085063" sldId="2122"/>
            <ac:spMk id="13" creationId="{8670A9E2-DF8B-2258-2654-AA907F9B12D5}"/>
          </ac:spMkLst>
        </pc:spChg>
      </pc:sldChg>
      <pc:sldChg chg="new del">
        <pc:chgData name="MATON Eric" userId="de02f52b-0ef7-40a3-a4e0-e456b015d87b" providerId="ADAL" clId="{42764042-7A89-4163-BC53-3B04DE20AA88}" dt="2026-03-16T13:01:24.986" v="888" actId="47"/>
        <pc:sldMkLst>
          <pc:docMk/>
          <pc:sldMk cId="3504402450" sldId="214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40D27B-2016-174A-B7B7-991520FAB32C}" type="datetimeFigureOut">
              <a:rPr lang="fr-FR" smtClean="0"/>
              <a:t>17/03/2026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8DC170-3469-2B48-8658-1397C6D0E8F0}" type="slidenum">
              <a:rPr lang="fr-FR" smtClean="0"/>
              <a:t>‹#›</a:t>
            </a:fld>
            <a:endParaRPr lang="fr-FR"/>
          </a:p>
        </p:txBody>
      </p:sp>
    </p:spTree>
    <p:extLst>
      <p:ext uri="{BB962C8B-B14F-4D97-AF65-F5344CB8AC3E}">
        <p14:creationId xmlns:p14="http://schemas.microsoft.com/office/powerpoint/2010/main" val="2195281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33351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bg>
      <p:bgPr>
        <a:gradFill>
          <a:gsLst>
            <a:gs pos="100000">
              <a:srgbClr val="22398E"/>
            </a:gs>
            <a:gs pos="0">
              <a:srgbClr val="9378B5"/>
            </a:gs>
          </a:gsLst>
          <a:lin ang="2700000" scaled="0"/>
        </a:gradFill>
        <a:effectLst/>
      </p:bgPr>
    </p:bg>
    <p:spTree>
      <p:nvGrpSpPr>
        <p:cNvPr id="1" name=""/>
        <p:cNvGrpSpPr/>
        <p:nvPr/>
      </p:nvGrpSpPr>
      <p:grpSpPr>
        <a:xfrm>
          <a:off x="0" y="0"/>
          <a:ext cx="0" cy="0"/>
          <a:chOff x="0" y="0"/>
          <a:chExt cx="0" cy="0"/>
        </a:xfrm>
      </p:grpSpPr>
      <p:sp>
        <p:nvSpPr>
          <p:cNvPr id="29" name="Graphique 29">
            <a:extLst>
              <a:ext uri="{FF2B5EF4-FFF2-40B4-BE49-F238E27FC236}">
                <a16:creationId xmlns:a16="http://schemas.microsoft.com/office/drawing/2014/main" id="{ACDAC0E6-336F-D65D-6BB5-E94D37DA346B}"/>
              </a:ext>
            </a:extLst>
          </p:cNvPr>
          <p:cNvSpPr/>
          <p:nvPr userDrawn="1"/>
        </p:nvSpPr>
        <p:spPr>
          <a:xfrm>
            <a:off x="0" y="358120"/>
            <a:ext cx="6451041" cy="7878285"/>
          </a:xfrm>
          <a:custGeom>
            <a:avLst/>
            <a:gdLst>
              <a:gd name="connsiteX0" fmla="*/ 3641377 w 3685056"/>
              <a:gd name="connsiteY0" fmla="*/ 502156 h 4500347"/>
              <a:gd name="connsiteX1" fmla="*/ 3485068 w 3685056"/>
              <a:gd name="connsiteY1" fmla="*/ 267241 h 4500347"/>
              <a:gd name="connsiteX2" fmla="*/ 1912951 w 3685056"/>
              <a:gd name="connsiteY2" fmla="*/ 40437 h 4500347"/>
              <a:gd name="connsiteX3" fmla="*/ 0 w 3685056"/>
              <a:gd name="connsiteY3" fmla="*/ 300905 h 4500347"/>
              <a:gd name="connsiteX4" fmla="*/ 0 w 3685056"/>
              <a:gd name="connsiteY4" fmla="*/ 1274412 h 4500347"/>
              <a:gd name="connsiteX5" fmla="*/ 1858654 w 3685056"/>
              <a:gd name="connsiteY5" fmla="*/ 556494 h 4500347"/>
              <a:gd name="connsiteX6" fmla="*/ 3161174 w 3685056"/>
              <a:gd name="connsiteY6" fmla="*/ 585584 h 4500347"/>
              <a:gd name="connsiteX7" fmla="*/ 2778657 w 3685056"/>
              <a:gd name="connsiteY7" fmla="*/ 1898779 h 4500347"/>
              <a:gd name="connsiteX8" fmla="*/ 740171 w 3685056"/>
              <a:gd name="connsiteY8" fmla="*/ 4500348 h 4500347"/>
              <a:gd name="connsiteX9" fmla="*/ 2033185 w 3685056"/>
              <a:gd name="connsiteY9" fmla="*/ 4500348 h 4500347"/>
              <a:gd name="connsiteX10" fmla="*/ 2730149 w 3685056"/>
              <a:gd name="connsiteY10" fmla="*/ 3167028 h 4500347"/>
              <a:gd name="connsiteX11" fmla="*/ 3485129 w 3685056"/>
              <a:gd name="connsiteY11" fmla="*/ 1567507 h 4500347"/>
              <a:gd name="connsiteX12" fmla="*/ 3641438 w 3685056"/>
              <a:gd name="connsiteY12" fmla="*/ 502278 h 4500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85056" h="4500347">
                <a:moveTo>
                  <a:pt x="3641377" y="502156"/>
                </a:moveTo>
                <a:cubicBezTo>
                  <a:pt x="3598842" y="408239"/>
                  <a:pt x="3546494" y="330849"/>
                  <a:pt x="3485068" y="267241"/>
                </a:cubicBezTo>
                <a:cubicBezTo>
                  <a:pt x="3171595" y="-57261"/>
                  <a:pt x="2620336" y="-19938"/>
                  <a:pt x="1912951" y="40437"/>
                </a:cubicBezTo>
                <a:cubicBezTo>
                  <a:pt x="1067050" y="112582"/>
                  <a:pt x="0" y="300905"/>
                  <a:pt x="0" y="300905"/>
                </a:cubicBezTo>
                <a:lnTo>
                  <a:pt x="0" y="1274412"/>
                </a:lnTo>
                <a:cubicBezTo>
                  <a:pt x="0" y="1274412"/>
                  <a:pt x="1204956" y="769698"/>
                  <a:pt x="1858654" y="556494"/>
                </a:cubicBezTo>
                <a:cubicBezTo>
                  <a:pt x="2512352" y="343290"/>
                  <a:pt x="2927654" y="276267"/>
                  <a:pt x="3161174" y="585584"/>
                </a:cubicBezTo>
                <a:cubicBezTo>
                  <a:pt x="3421508" y="930455"/>
                  <a:pt x="2986887" y="1593487"/>
                  <a:pt x="2778657" y="1898779"/>
                </a:cubicBezTo>
                <a:cubicBezTo>
                  <a:pt x="2570427" y="2204071"/>
                  <a:pt x="2098695" y="2843562"/>
                  <a:pt x="740171" y="4500348"/>
                </a:cubicBezTo>
                <a:lnTo>
                  <a:pt x="2033185" y="4500348"/>
                </a:lnTo>
                <a:cubicBezTo>
                  <a:pt x="2033185" y="4500348"/>
                  <a:pt x="2463844" y="3709796"/>
                  <a:pt x="2730149" y="3167028"/>
                </a:cubicBezTo>
                <a:cubicBezTo>
                  <a:pt x="2930457" y="2758732"/>
                  <a:pt x="3269586" y="2131316"/>
                  <a:pt x="3485129" y="1567507"/>
                </a:cubicBezTo>
                <a:cubicBezTo>
                  <a:pt x="3652286" y="1130243"/>
                  <a:pt x="3745157" y="731217"/>
                  <a:pt x="3641438" y="502278"/>
                </a:cubicBezTo>
                <a:close/>
              </a:path>
            </a:pathLst>
          </a:custGeom>
          <a:solidFill>
            <a:srgbClr val="758BC5">
              <a:alpha val="70000"/>
            </a:srgbClr>
          </a:solidFill>
          <a:ln w="6093" cap="flat">
            <a:noFill/>
            <a:prstDash val="solid"/>
            <a:miter/>
          </a:ln>
        </p:spPr>
        <p:txBody>
          <a:bodyPr rtlCol="0" anchor="ctr"/>
          <a:lstStyle/>
          <a:p>
            <a:endParaRPr lang="fr-FR">
              <a:solidFill>
                <a:schemeClr val="accent2"/>
              </a:solidFill>
            </a:endParaRPr>
          </a:p>
        </p:txBody>
      </p:sp>
      <p:sp>
        <p:nvSpPr>
          <p:cNvPr id="2" name="Titre 1">
            <a:extLst>
              <a:ext uri="{FF2B5EF4-FFF2-40B4-BE49-F238E27FC236}">
                <a16:creationId xmlns:a16="http://schemas.microsoft.com/office/drawing/2014/main" id="{E4675E09-98F4-CB40-847A-223EE4FF2325}"/>
              </a:ext>
            </a:extLst>
          </p:cNvPr>
          <p:cNvSpPr>
            <a:spLocks noGrp="1"/>
          </p:cNvSpPr>
          <p:nvPr>
            <p:ph type="ctrTitle"/>
          </p:nvPr>
        </p:nvSpPr>
        <p:spPr>
          <a:xfrm>
            <a:off x="1524000" y="2105281"/>
            <a:ext cx="9144000" cy="2387600"/>
          </a:xfrm>
        </p:spPr>
        <p:txBody>
          <a:bodyPr anchor="b"/>
          <a:lstStyle>
            <a:lvl1pPr algn="ctr">
              <a:defRPr sz="6000">
                <a:solidFill>
                  <a:srgbClr val="BCDCF1"/>
                </a:solidFill>
                <a:latin typeface="Arial" panose="020B0604020202020204" pitchFamily="34" charset="0"/>
                <a:cs typeface="Arial" panose="020B0604020202020204" pitchFamily="34" charset="0"/>
              </a:defRPr>
            </a:lvl1pPr>
          </a:lstStyle>
          <a:p>
            <a:r>
              <a:rPr lang="en-US"/>
              <a:t>Click to edit Master title style</a:t>
            </a:r>
            <a:endParaRPr lang="fr-FR" dirty="0"/>
          </a:p>
        </p:txBody>
      </p:sp>
      <p:sp>
        <p:nvSpPr>
          <p:cNvPr id="3" name="Sous-titre 2">
            <a:extLst>
              <a:ext uri="{FF2B5EF4-FFF2-40B4-BE49-F238E27FC236}">
                <a16:creationId xmlns:a16="http://schemas.microsoft.com/office/drawing/2014/main" id="{B8CA446D-6137-3B12-BD1E-2599511A02D5}"/>
              </a:ext>
            </a:extLst>
          </p:cNvPr>
          <p:cNvSpPr>
            <a:spLocks noGrp="1"/>
          </p:cNvSpPr>
          <p:nvPr>
            <p:ph type="subTitle" idx="1"/>
          </p:nvPr>
        </p:nvSpPr>
        <p:spPr>
          <a:xfrm>
            <a:off x="1524000" y="4591852"/>
            <a:ext cx="9144000" cy="1655762"/>
          </a:xfrm>
        </p:spPr>
        <p:txBody>
          <a:bodyPr/>
          <a:lstStyle>
            <a:lvl1pPr marL="0" indent="0" algn="ctr">
              <a:buNone/>
              <a:defRPr sz="2400" b="0" i="1">
                <a:solidFill>
                  <a:schemeClr val="bg1"/>
                </a:solidFill>
                <a:latin typeface="Arial Nova Cond" panose="020B0506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FR" dirty="0"/>
          </a:p>
        </p:txBody>
      </p:sp>
      <p:grpSp>
        <p:nvGrpSpPr>
          <p:cNvPr id="14" name="Groupe 13">
            <a:extLst>
              <a:ext uri="{FF2B5EF4-FFF2-40B4-BE49-F238E27FC236}">
                <a16:creationId xmlns:a16="http://schemas.microsoft.com/office/drawing/2014/main" id="{3983B729-1067-981B-92A3-93D88B6F605E}"/>
              </a:ext>
            </a:extLst>
          </p:cNvPr>
          <p:cNvGrpSpPr/>
          <p:nvPr userDrawn="1"/>
        </p:nvGrpSpPr>
        <p:grpSpPr>
          <a:xfrm>
            <a:off x="640333" y="537230"/>
            <a:ext cx="1460543" cy="1648190"/>
            <a:chOff x="5706531" y="490797"/>
            <a:chExt cx="1100669" cy="1242080"/>
          </a:xfrm>
          <a:solidFill>
            <a:srgbClr val="BCDCF1"/>
          </a:solidFill>
        </p:grpSpPr>
        <p:grpSp>
          <p:nvGrpSpPr>
            <p:cNvPr id="15" name="Groupe 14">
              <a:extLst>
                <a:ext uri="{FF2B5EF4-FFF2-40B4-BE49-F238E27FC236}">
                  <a16:creationId xmlns:a16="http://schemas.microsoft.com/office/drawing/2014/main" id="{20F5A30A-B8B9-76A8-E1F3-D39A5F61B0D0}"/>
                </a:ext>
              </a:extLst>
            </p:cNvPr>
            <p:cNvGrpSpPr/>
            <p:nvPr/>
          </p:nvGrpSpPr>
          <p:grpSpPr>
            <a:xfrm>
              <a:off x="5812721" y="490797"/>
              <a:ext cx="890009" cy="889269"/>
              <a:chOff x="2571750" y="2711450"/>
              <a:chExt cx="1439148" cy="1437951"/>
            </a:xfrm>
            <a:grpFill/>
          </p:grpSpPr>
          <p:sp>
            <p:nvSpPr>
              <p:cNvPr id="25" name="Forme libre 24">
                <a:extLst>
                  <a:ext uri="{FF2B5EF4-FFF2-40B4-BE49-F238E27FC236}">
                    <a16:creationId xmlns:a16="http://schemas.microsoft.com/office/drawing/2014/main" id="{293068B8-BCDD-3640-F482-C23282BE3F39}"/>
                  </a:ext>
                </a:extLst>
              </p:cNvPr>
              <p:cNvSpPr/>
              <p:nvPr/>
            </p:nvSpPr>
            <p:spPr>
              <a:xfrm>
                <a:off x="2821538" y="2890124"/>
                <a:ext cx="715298" cy="646365"/>
              </a:xfrm>
              <a:custGeom>
                <a:avLst/>
                <a:gdLst>
                  <a:gd name="connsiteX0" fmla="*/ 0 w 715298"/>
                  <a:gd name="connsiteY0" fmla="*/ 646270 h 646365"/>
                  <a:gd name="connsiteX1" fmla="*/ 173121 w 715298"/>
                  <a:gd name="connsiteY1" fmla="*/ 392704 h 646365"/>
                  <a:gd name="connsiteX2" fmla="*/ 173977 w 715298"/>
                  <a:gd name="connsiteY2" fmla="*/ 391469 h 646365"/>
                  <a:gd name="connsiteX3" fmla="*/ 411495 w 715298"/>
                  <a:gd name="connsiteY3" fmla="*/ 79928 h 646365"/>
                  <a:gd name="connsiteX4" fmla="*/ 574534 w 715298"/>
                  <a:gd name="connsiteY4" fmla="*/ 0 h 646365"/>
                  <a:gd name="connsiteX5" fmla="*/ 692389 w 715298"/>
                  <a:gd name="connsiteY5" fmla="*/ 97131 h 646365"/>
                  <a:gd name="connsiteX6" fmla="*/ 712269 w 715298"/>
                  <a:gd name="connsiteY6" fmla="*/ 437183 h 646365"/>
                  <a:gd name="connsiteX7" fmla="*/ 0 w 715298"/>
                  <a:gd name="connsiteY7" fmla="*/ 646365 h 646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5298" h="646365">
                    <a:moveTo>
                      <a:pt x="0" y="646270"/>
                    </a:moveTo>
                    <a:cubicBezTo>
                      <a:pt x="27966" y="604738"/>
                      <a:pt x="84848" y="521103"/>
                      <a:pt x="173121" y="392704"/>
                    </a:cubicBezTo>
                    <a:lnTo>
                      <a:pt x="173977" y="391469"/>
                    </a:lnTo>
                    <a:cubicBezTo>
                      <a:pt x="250835" y="279702"/>
                      <a:pt x="323508" y="174018"/>
                      <a:pt x="411495" y="79928"/>
                    </a:cubicBezTo>
                    <a:cubicBezTo>
                      <a:pt x="457534" y="30603"/>
                      <a:pt x="520029" y="0"/>
                      <a:pt x="574534" y="0"/>
                    </a:cubicBezTo>
                    <a:cubicBezTo>
                      <a:pt x="614960" y="0"/>
                      <a:pt x="668323" y="16822"/>
                      <a:pt x="692389" y="97131"/>
                    </a:cubicBezTo>
                    <a:cubicBezTo>
                      <a:pt x="723494" y="200154"/>
                      <a:pt x="714743" y="392704"/>
                      <a:pt x="712269" y="437183"/>
                    </a:cubicBezTo>
                    <a:cubicBezTo>
                      <a:pt x="660809" y="456286"/>
                      <a:pt x="388857" y="555127"/>
                      <a:pt x="0" y="646365"/>
                    </a:cubicBezTo>
                  </a:path>
                </a:pathLst>
              </a:custGeom>
              <a:grpFill/>
              <a:ln w="9512" cap="flat">
                <a:noFill/>
                <a:prstDash val="solid"/>
                <a:miter/>
              </a:ln>
            </p:spPr>
            <p:txBody>
              <a:bodyPr rtlCol="0" anchor="ctr"/>
              <a:lstStyle/>
              <a:p>
                <a:endParaRPr lang="fr-FR"/>
              </a:p>
            </p:txBody>
          </p:sp>
          <p:sp>
            <p:nvSpPr>
              <p:cNvPr id="26" name="Forme libre 25">
                <a:extLst>
                  <a:ext uri="{FF2B5EF4-FFF2-40B4-BE49-F238E27FC236}">
                    <a16:creationId xmlns:a16="http://schemas.microsoft.com/office/drawing/2014/main" id="{3573FEFB-A28F-E91E-B749-75CAA07CBB9F}"/>
                  </a:ext>
                </a:extLst>
              </p:cNvPr>
              <p:cNvSpPr/>
              <p:nvPr/>
            </p:nvSpPr>
            <p:spPr>
              <a:xfrm>
                <a:off x="2571750" y="2711450"/>
                <a:ext cx="1384492" cy="709566"/>
              </a:xfrm>
              <a:custGeom>
                <a:avLst/>
                <a:gdLst>
                  <a:gd name="connsiteX0" fmla="*/ 0 w 1384492"/>
                  <a:gd name="connsiteY0" fmla="*/ 704910 h 709566"/>
                  <a:gd name="connsiteX1" fmla="*/ 215926 w 1384492"/>
                  <a:gd name="connsiteY1" fmla="*/ 205381 h 709566"/>
                  <a:gd name="connsiteX2" fmla="*/ 719213 w 1384492"/>
                  <a:gd name="connsiteY2" fmla="*/ 0 h 709566"/>
                  <a:gd name="connsiteX3" fmla="*/ 733577 w 1384492"/>
                  <a:gd name="connsiteY3" fmla="*/ 95 h 709566"/>
                  <a:gd name="connsiteX4" fmla="*/ 1384493 w 1384492"/>
                  <a:gd name="connsiteY4" fmla="*/ 443836 h 709566"/>
                  <a:gd name="connsiteX5" fmla="*/ 1104265 w 1384492"/>
                  <a:gd name="connsiteY5" fmla="*/ 562065 h 709566"/>
                  <a:gd name="connsiteX6" fmla="*/ 1037204 w 1384492"/>
                  <a:gd name="connsiteY6" fmla="*/ 206997 h 709566"/>
                  <a:gd name="connsiteX7" fmla="*/ 854381 w 1384492"/>
                  <a:gd name="connsiteY7" fmla="*/ 61491 h 709566"/>
                  <a:gd name="connsiteX8" fmla="*/ 689535 w 1384492"/>
                  <a:gd name="connsiteY8" fmla="*/ 110911 h 709566"/>
                  <a:gd name="connsiteX9" fmla="*/ 327218 w 1384492"/>
                  <a:gd name="connsiteY9" fmla="*/ 398787 h 709566"/>
                  <a:gd name="connsiteX10" fmla="*/ 0 w 1384492"/>
                  <a:gd name="connsiteY10" fmla="*/ 709567 h 709566"/>
                  <a:gd name="connsiteX11" fmla="*/ 0 w 1384492"/>
                  <a:gd name="connsiteY11" fmla="*/ 704910 h 709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84492" h="709566">
                    <a:moveTo>
                      <a:pt x="0" y="704910"/>
                    </a:moveTo>
                    <a:cubicBezTo>
                      <a:pt x="3710" y="515400"/>
                      <a:pt x="80378" y="337961"/>
                      <a:pt x="215926" y="205381"/>
                    </a:cubicBezTo>
                    <a:cubicBezTo>
                      <a:pt x="351284" y="72991"/>
                      <a:pt x="529922" y="0"/>
                      <a:pt x="719213" y="0"/>
                    </a:cubicBezTo>
                    <a:cubicBezTo>
                      <a:pt x="723969" y="0"/>
                      <a:pt x="728821" y="0"/>
                      <a:pt x="733577" y="95"/>
                    </a:cubicBezTo>
                    <a:cubicBezTo>
                      <a:pt x="1020844" y="5702"/>
                      <a:pt x="1274913" y="179435"/>
                      <a:pt x="1384493" y="443836"/>
                    </a:cubicBezTo>
                    <a:cubicBezTo>
                      <a:pt x="1346730" y="461323"/>
                      <a:pt x="1245330" y="507132"/>
                      <a:pt x="1104265" y="562065"/>
                    </a:cubicBezTo>
                    <a:cubicBezTo>
                      <a:pt x="1084955" y="435092"/>
                      <a:pt x="1060414" y="285499"/>
                      <a:pt x="1037204" y="206997"/>
                    </a:cubicBezTo>
                    <a:cubicBezTo>
                      <a:pt x="1009809" y="114523"/>
                      <a:pt x="943224" y="61491"/>
                      <a:pt x="854381" y="61491"/>
                    </a:cubicBezTo>
                    <a:cubicBezTo>
                      <a:pt x="803871" y="61491"/>
                      <a:pt x="748416" y="78123"/>
                      <a:pt x="689535" y="110911"/>
                    </a:cubicBezTo>
                    <a:cubicBezTo>
                      <a:pt x="621333" y="149022"/>
                      <a:pt x="499483" y="245773"/>
                      <a:pt x="327218" y="398787"/>
                    </a:cubicBezTo>
                    <a:cubicBezTo>
                      <a:pt x="189767" y="520818"/>
                      <a:pt x="60783" y="648456"/>
                      <a:pt x="0" y="709567"/>
                    </a:cubicBezTo>
                    <a:cubicBezTo>
                      <a:pt x="0" y="708046"/>
                      <a:pt x="0" y="706525"/>
                      <a:pt x="0" y="704910"/>
                    </a:cubicBezTo>
                  </a:path>
                </a:pathLst>
              </a:custGeom>
              <a:grpFill/>
              <a:ln w="9512" cap="flat">
                <a:noFill/>
                <a:prstDash val="solid"/>
                <a:miter/>
              </a:ln>
            </p:spPr>
            <p:txBody>
              <a:bodyPr rtlCol="0" anchor="ctr"/>
              <a:lstStyle/>
              <a:p>
                <a:endParaRPr lang="fr-FR"/>
              </a:p>
            </p:txBody>
          </p:sp>
          <p:sp>
            <p:nvSpPr>
              <p:cNvPr id="27" name="Forme libre 26">
                <a:extLst>
                  <a:ext uri="{FF2B5EF4-FFF2-40B4-BE49-F238E27FC236}">
                    <a16:creationId xmlns:a16="http://schemas.microsoft.com/office/drawing/2014/main" id="{81A99EC4-B92E-BFB4-9985-4EB2259E196D}"/>
                  </a:ext>
                </a:extLst>
              </p:cNvPr>
              <p:cNvSpPr/>
              <p:nvPr/>
            </p:nvSpPr>
            <p:spPr>
              <a:xfrm>
                <a:off x="2666966" y="3498474"/>
                <a:ext cx="858280" cy="650927"/>
              </a:xfrm>
              <a:custGeom>
                <a:avLst/>
                <a:gdLst>
                  <a:gd name="connsiteX0" fmla="*/ 624568 w 858280"/>
                  <a:gd name="connsiteY0" fmla="*/ 650927 h 650927"/>
                  <a:gd name="connsiteX1" fmla="*/ 610299 w 858280"/>
                  <a:gd name="connsiteY1" fmla="*/ 650737 h 650927"/>
                  <a:gd name="connsiteX2" fmla="*/ 0 w 858280"/>
                  <a:gd name="connsiteY2" fmla="*/ 289681 h 650927"/>
                  <a:gd name="connsiteX3" fmla="*/ 858281 w 858280"/>
                  <a:gd name="connsiteY3" fmla="*/ 0 h 650927"/>
                  <a:gd name="connsiteX4" fmla="*/ 803206 w 858280"/>
                  <a:gd name="connsiteY4" fmla="*/ 628403 h 650927"/>
                  <a:gd name="connsiteX5" fmla="*/ 624568 w 858280"/>
                  <a:gd name="connsiteY5" fmla="*/ 650832 h 650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8280" h="650927">
                    <a:moveTo>
                      <a:pt x="624568" y="650927"/>
                    </a:moveTo>
                    <a:cubicBezTo>
                      <a:pt x="619811" y="650927"/>
                      <a:pt x="615055" y="650927"/>
                      <a:pt x="610299" y="650737"/>
                    </a:cubicBezTo>
                    <a:cubicBezTo>
                      <a:pt x="357942" y="645890"/>
                      <a:pt x="125560" y="507987"/>
                      <a:pt x="0" y="289681"/>
                    </a:cubicBezTo>
                    <a:cubicBezTo>
                      <a:pt x="93409" y="249859"/>
                      <a:pt x="427666" y="112622"/>
                      <a:pt x="858281" y="0"/>
                    </a:cubicBezTo>
                    <a:lnTo>
                      <a:pt x="803206" y="628403"/>
                    </a:lnTo>
                    <a:cubicBezTo>
                      <a:pt x="745086" y="643324"/>
                      <a:pt x="685065" y="650832"/>
                      <a:pt x="624568" y="650832"/>
                    </a:cubicBezTo>
                  </a:path>
                </a:pathLst>
              </a:custGeom>
              <a:grpFill/>
              <a:ln w="9512" cap="flat">
                <a:noFill/>
                <a:prstDash val="solid"/>
                <a:miter/>
              </a:ln>
            </p:spPr>
            <p:txBody>
              <a:bodyPr rtlCol="0" anchor="ctr"/>
              <a:lstStyle/>
              <a:p>
                <a:endParaRPr lang="fr-FR"/>
              </a:p>
            </p:txBody>
          </p:sp>
          <p:sp>
            <p:nvSpPr>
              <p:cNvPr id="28" name="Forme libre 27">
                <a:extLst>
                  <a:ext uri="{FF2B5EF4-FFF2-40B4-BE49-F238E27FC236}">
                    <a16:creationId xmlns:a16="http://schemas.microsoft.com/office/drawing/2014/main" id="{57037F43-6B5B-9FDF-5977-22ED2CBF4585}"/>
                  </a:ext>
                </a:extLst>
              </p:cNvPr>
              <p:cNvSpPr/>
              <p:nvPr/>
            </p:nvSpPr>
            <p:spPr>
              <a:xfrm>
                <a:off x="3700746" y="3401343"/>
                <a:ext cx="310152" cy="574420"/>
              </a:xfrm>
              <a:custGeom>
                <a:avLst/>
                <a:gdLst>
                  <a:gd name="connsiteX0" fmla="*/ 59546 w 310152"/>
                  <a:gd name="connsiteY0" fmla="*/ 574420 h 574420"/>
                  <a:gd name="connsiteX1" fmla="*/ 0 w 310152"/>
                  <a:gd name="connsiteY1" fmla="*/ 55978 h 574420"/>
                  <a:gd name="connsiteX2" fmla="*/ 309525 w 310152"/>
                  <a:gd name="connsiteY2" fmla="*/ 0 h 574420"/>
                  <a:gd name="connsiteX3" fmla="*/ 310001 w 310152"/>
                  <a:gd name="connsiteY3" fmla="*/ 43243 h 574420"/>
                  <a:gd name="connsiteX4" fmla="*/ 59546 w 310152"/>
                  <a:gd name="connsiteY4" fmla="*/ 574420 h 574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152" h="574420">
                    <a:moveTo>
                      <a:pt x="59546" y="574420"/>
                    </a:moveTo>
                    <a:cubicBezTo>
                      <a:pt x="50034" y="483277"/>
                      <a:pt x="24446" y="241686"/>
                      <a:pt x="0" y="55978"/>
                    </a:cubicBezTo>
                    <a:cubicBezTo>
                      <a:pt x="164370" y="23190"/>
                      <a:pt x="266435" y="6653"/>
                      <a:pt x="309525" y="0"/>
                    </a:cubicBezTo>
                    <a:cubicBezTo>
                      <a:pt x="310191" y="14446"/>
                      <a:pt x="310286" y="28892"/>
                      <a:pt x="310001" y="43243"/>
                    </a:cubicBezTo>
                    <a:cubicBezTo>
                      <a:pt x="306006" y="248814"/>
                      <a:pt x="214974" y="440889"/>
                      <a:pt x="59546" y="574420"/>
                    </a:cubicBezTo>
                  </a:path>
                </a:pathLst>
              </a:custGeom>
              <a:grpFill/>
              <a:ln w="9512" cap="flat">
                <a:noFill/>
                <a:prstDash val="solid"/>
                <a:miter/>
              </a:ln>
            </p:spPr>
            <p:txBody>
              <a:bodyPr rtlCol="0" anchor="ctr"/>
              <a:lstStyle/>
              <a:p>
                <a:endParaRPr lang="fr-FR"/>
              </a:p>
            </p:txBody>
          </p:sp>
        </p:grpSp>
        <p:grpSp>
          <p:nvGrpSpPr>
            <p:cNvPr id="16" name="Groupe 15">
              <a:extLst>
                <a:ext uri="{FF2B5EF4-FFF2-40B4-BE49-F238E27FC236}">
                  <a16:creationId xmlns:a16="http://schemas.microsoft.com/office/drawing/2014/main" id="{8ED9B721-A267-4F9A-C8FB-4EDF9035D0FC}"/>
                </a:ext>
              </a:extLst>
            </p:cNvPr>
            <p:cNvGrpSpPr/>
            <p:nvPr/>
          </p:nvGrpSpPr>
          <p:grpSpPr>
            <a:xfrm>
              <a:off x="5706531" y="1530040"/>
              <a:ext cx="1100669" cy="202837"/>
              <a:chOff x="4227814" y="2908087"/>
              <a:chExt cx="5388249" cy="992975"/>
            </a:xfrm>
            <a:grpFill/>
          </p:grpSpPr>
          <p:sp>
            <p:nvSpPr>
              <p:cNvPr id="17" name="Forme libre 16">
                <a:extLst>
                  <a:ext uri="{FF2B5EF4-FFF2-40B4-BE49-F238E27FC236}">
                    <a16:creationId xmlns:a16="http://schemas.microsoft.com/office/drawing/2014/main" id="{954C32A8-2448-2ED4-5AA6-BF5FBA02FF11}"/>
                  </a:ext>
                </a:extLst>
              </p:cNvPr>
              <p:cNvSpPr/>
              <p:nvPr/>
            </p:nvSpPr>
            <p:spPr>
              <a:xfrm>
                <a:off x="4227814" y="2917686"/>
                <a:ext cx="986885" cy="967029"/>
              </a:xfrm>
              <a:custGeom>
                <a:avLst/>
                <a:gdLst>
                  <a:gd name="connsiteX0" fmla="*/ 639692 w 986885"/>
                  <a:gd name="connsiteY0" fmla="*/ 598180 h 967029"/>
                  <a:gd name="connsiteX1" fmla="*/ 490732 w 986885"/>
                  <a:gd name="connsiteY1" fmla="*/ 204906 h 967029"/>
                  <a:gd name="connsiteX2" fmla="*/ 339013 w 986885"/>
                  <a:gd name="connsiteY2" fmla="*/ 598180 h 967029"/>
                  <a:gd name="connsiteX3" fmla="*/ 639787 w 986885"/>
                  <a:gd name="connsiteY3" fmla="*/ 598180 h 967029"/>
                  <a:gd name="connsiteX4" fmla="*/ 421008 w 986885"/>
                  <a:gd name="connsiteY4" fmla="*/ 0 h 967029"/>
                  <a:gd name="connsiteX5" fmla="*/ 569968 w 986885"/>
                  <a:gd name="connsiteY5" fmla="*/ 0 h 967029"/>
                  <a:gd name="connsiteX6" fmla="*/ 986885 w 986885"/>
                  <a:gd name="connsiteY6" fmla="*/ 967029 h 967029"/>
                  <a:gd name="connsiteX7" fmla="*/ 790079 w 986885"/>
                  <a:gd name="connsiteY7" fmla="*/ 967029 h 967029"/>
                  <a:gd name="connsiteX8" fmla="*/ 699904 w 986885"/>
                  <a:gd name="connsiteY8" fmla="*/ 745777 h 967029"/>
                  <a:gd name="connsiteX9" fmla="*/ 280228 w 986885"/>
                  <a:gd name="connsiteY9" fmla="*/ 745777 h 967029"/>
                  <a:gd name="connsiteX10" fmla="*/ 192716 w 986885"/>
                  <a:gd name="connsiteY10" fmla="*/ 967029 h 967029"/>
                  <a:gd name="connsiteX11" fmla="*/ 0 w 986885"/>
                  <a:gd name="connsiteY11" fmla="*/ 967029 h 967029"/>
                  <a:gd name="connsiteX12" fmla="*/ 421008 w 986885"/>
                  <a:gd name="connsiteY12" fmla="*/ 0 h 967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6885" h="967029">
                    <a:moveTo>
                      <a:pt x="639692" y="598180"/>
                    </a:moveTo>
                    <a:lnTo>
                      <a:pt x="490732" y="204906"/>
                    </a:lnTo>
                    <a:lnTo>
                      <a:pt x="339013" y="598180"/>
                    </a:lnTo>
                    <a:lnTo>
                      <a:pt x="639787" y="598180"/>
                    </a:lnTo>
                    <a:close/>
                    <a:moveTo>
                      <a:pt x="421008" y="0"/>
                    </a:moveTo>
                    <a:lnTo>
                      <a:pt x="569968" y="0"/>
                    </a:lnTo>
                    <a:lnTo>
                      <a:pt x="986885" y="967029"/>
                    </a:lnTo>
                    <a:lnTo>
                      <a:pt x="790079" y="967029"/>
                    </a:lnTo>
                    <a:lnTo>
                      <a:pt x="699904" y="745777"/>
                    </a:lnTo>
                    <a:lnTo>
                      <a:pt x="280228" y="745777"/>
                    </a:lnTo>
                    <a:lnTo>
                      <a:pt x="192716" y="967029"/>
                    </a:lnTo>
                    <a:lnTo>
                      <a:pt x="0" y="967029"/>
                    </a:lnTo>
                    <a:lnTo>
                      <a:pt x="421008" y="0"/>
                    </a:lnTo>
                    <a:close/>
                  </a:path>
                </a:pathLst>
              </a:custGeom>
              <a:grpFill/>
              <a:ln w="9512" cap="flat">
                <a:noFill/>
                <a:prstDash val="solid"/>
                <a:miter/>
              </a:ln>
            </p:spPr>
            <p:txBody>
              <a:bodyPr rtlCol="0" anchor="ctr"/>
              <a:lstStyle/>
              <a:p>
                <a:endParaRPr lang="fr-FR"/>
              </a:p>
            </p:txBody>
          </p:sp>
          <p:sp>
            <p:nvSpPr>
              <p:cNvPr id="18" name="Forme libre 17">
                <a:extLst>
                  <a:ext uri="{FF2B5EF4-FFF2-40B4-BE49-F238E27FC236}">
                    <a16:creationId xmlns:a16="http://schemas.microsoft.com/office/drawing/2014/main" id="{E1893580-A1DE-E5E8-0239-182FC8F0EA96}"/>
                  </a:ext>
                </a:extLst>
              </p:cNvPr>
              <p:cNvSpPr/>
              <p:nvPr/>
            </p:nvSpPr>
            <p:spPr>
              <a:xfrm>
                <a:off x="5239146" y="3229036"/>
                <a:ext cx="598789" cy="671930"/>
              </a:xfrm>
              <a:custGeom>
                <a:avLst/>
                <a:gdLst>
                  <a:gd name="connsiteX0" fmla="*/ 598789 w 598789"/>
                  <a:gd name="connsiteY0" fmla="*/ 655584 h 671930"/>
                  <a:gd name="connsiteX1" fmla="*/ 442980 w 598789"/>
                  <a:gd name="connsiteY1" fmla="*/ 655584 h 671930"/>
                  <a:gd name="connsiteX2" fmla="*/ 442980 w 598789"/>
                  <a:gd name="connsiteY2" fmla="*/ 550375 h 671930"/>
                  <a:gd name="connsiteX3" fmla="*/ 440222 w 598789"/>
                  <a:gd name="connsiteY3" fmla="*/ 550375 h 671930"/>
                  <a:gd name="connsiteX4" fmla="*/ 239230 w 598789"/>
                  <a:gd name="connsiteY4" fmla="*/ 671931 h 671930"/>
                  <a:gd name="connsiteX5" fmla="*/ 0 w 598789"/>
                  <a:gd name="connsiteY5" fmla="*/ 413803 h 671930"/>
                  <a:gd name="connsiteX6" fmla="*/ 0 w 598789"/>
                  <a:gd name="connsiteY6" fmla="*/ 0 h 671930"/>
                  <a:gd name="connsiteX7" fmla="*/ 163989 w 598789"/>
                  <a:gd name="connsiteY7" fmla="*/ 0 h 671930"/>
                  <a:gd name="connsiteX8" fmla="*/ 163989 w 598789"/>
                  <a:gd name="connsiteY8" fmla="*/ 331879 h 671930"/>
                  <a:gd name="connsiteX9" fmla="*/ 284318 w 598789"/>
                  <a:gd name="connsiteY9" fmla="*/ 524429 h 671930"/>
                  <a:gd name="connsiteX10" fmla="*/ 434705 w 598789"/>
                  <a:gd name="connsiteY10" fmla="*/ 357825 h 671930"/>
                  <a:gd name="connsiteX11" fmla="*/ 434705 w 598789"/>
                  <a:gd name="connsiteY11" fmla="*/ 0 h 671930"/>
                  <a:gd name="connsiteX12" fmla="*/ 598694 w 598789"/>
                  <a:gd name="connsiteY12" fmla="*/ 0 h 671930"/>
                  <a:gd name="connsiteX13" fmla="*/ 598694 w 598789"/>
                  <a:gd name="connsiteY13" fmla="*/ 655584 h 671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8789" h="671930">
                    <a:moveTo>
                      <a:pt x="598789" y="655584"/>
                    </a:moveTo>
                    <a:lnTo>
                      <a:pt x="442980" y="655584"/>
                    </a:lnTo>
                    <a:lnTo>
                      <a:pt x="442980" y="550375"/>
                    </a:lnTo>
                    <a:lnTo>
                      <a:pt x="440222" y="550375"/>
                    </a:lnTo>
                    <a:cubicBezTo>
                      <a:pt x="410164" y="615858"/>
                      <a:pt x="348620" y="671931"/>
                      <a:pt x="239230" y="671931"/>
                    </a:cubicBezTo>
                    <a:cubicBezTo>
                      <a:pt x="62875" y="671931"/>
                      <a:pt x="0" y="547619"/>
                      <a:pt x="0" y="413803"/>
                    </a:cubicBezTo>
                    <a:lnTo>
                      <a:pt x="0" y="0"/>
                    </a:lnTo>
                    <a:lnTo>
                      <a:pt x="163989" y="0"/>
                    </a:lnTo>
                    <a:lnTo>
                      <a:pt x="163989" y="331879"/>
                    </a:lnTo>
                    <a:cubicBezTo>
                      <a:pt x="163989" y="404299"/>
                      <a:pt x="169506" y="524429"/>
                      <a:pt x="284318" y="524429"/>
                    </a:cubicBezTo>
                    <a:cubicBezTo>
                      <a:pt x="392281" y="524429"/>
                      <a:pt x="434705" y="445261"/>
                      <a:pt x="434705" y="357825"/>
                    </a:cubicBezTo>
                    <a:lnTo>
                      <a:pt x="434705" y="0"/>
                    </a:lnTo>
                    <a:lnTo>
                      <a:pt x="598694" y="0"/>
                    </a:lnTo>
                    <a:lnTo>
                      <a:pt x="598694" y="655584"/>
                    </a:lnTo>
                    <a:close/>
                  </a:path>
                </a:pathLst>
              </a:custGeom>
              <a:grpFill/>
              <a:ln w="9512" cap="flat">
                <a:noFill/>
                <a:prstDash val="solid"/>
                <a:miter/>
              </a:ln>
            </p:spPr>
            <p:txBody>
              <a:bodyPr rtlCol="0" anchor="ctr"/>
              <a:lstStyle/>
              <a:p>
                <a:endParaRPr lang="fr-FR"/>
              </a:p>
            </p:txBody>
          </p:sp>
          <p:sp>
            <p:nvSpPr>
              <p:cNvPr id="19" name="Forme libre 18">
                <a:extLst>
                  <a:ext uri="{FF2B5EF4-FFF2-40B4-BE49-F238E27FC236}">
                    <a16:creationId xmlns:a16="http://schemas.microsoft.com/office/drawing/2014/main" id="{47D9A284-3B86-756D-99A2-E8BCFF28C157}"/>
                  </a:ext>
                </a:extLst>
              </p:cNvPr>
              <p:cNvSpPr/>
              <p:nvPr/>
            </p:nvSpPr>
            <p:spPr>
              <a:xfrm>
                <a:off x="5922688" y="2917686"/>
                <a:ext cx="708084" cy="983376"/>
              </a:xfrm>
              <a:custGeom>
                <a:avLst/>
                <a:gdLst>
                  <a:gd name="connsiteX0" fmla="*/ 356801 w 708084"/>
                  <a:gd name="connsiteY0" fmla="*/ 835779 h 983376"/>
                  <a:gd name="connsiteX1" fmla="*/ 549517 w 708084"/>
                  <a:gd name="connsiteY1" fmla="*/ 639142 h 983376"/>
                  <a:gd name="connsiteX2" fmla="*/ 356801 w 708084"/>
                  <a:gd name="connsiteY2" fmla="*/ 442505 h 983376"/>
                  <a:gd name="connsiteX3" fmla="*/ 164085 w 708084"/>
                  <a:gd name="connsiteY3" fmla="*/ 639142 h 983376"/>
                  <a:gd name="connsiteX4" fmla="*/ 356801 w 708084"/>
                  <a:gd name="connsiteY4" fmla="*/ 835779 h 983376"/>
                  <a:gd name="connsiteX5" fmla="*/ 552275 w 708084"/>
                  <a:gd name="connsiteY5" fmla="*/ 868568 h 983376"/>
                  <a:gd name="connsiteX6" fmla="*/ 549517 w 708084"/>
                  <a:gd name="connsiteY6" fmla="*/ 868568 h 983376"/>
                  <a:gd name="connsiteX7" fmla="*/ 323984 w 708084"/>
                  <a:gd name="connsiteY7" fmla="*/ 983376 h 983376"/>
                  <a:gd name="connsiteX8" fmla="*/ 0 w 708084"/>
                  <a:gd name="connsiteY8" fmla="*/ 639237 h 983376"/>
                  <a:gd name="connsiteX9" fmla="*/ 317135 w 708084"/>
                  <a:gd name="connsiteY9" fmla="*/ 295003 h 983376"/>
                  <a:gd name="connsiteX10" fmla="*/ 540004 w 708084"/>
                  <a:gd name="connsiteY10" fmla="*/ 394700 h 983376"/>
                  <a:gd name="connsiteX11" fmla="*/ 544000 w 708084"/>
                  <a:gd name="connsiteY11" fmla="*/ 394700 h 983376"/>
                  <a:gd name="connsiteX12" fmla="*/ 544000 w 708084"/>
                  <a:gd name="connsiteY12" fmla="*/ 0 h 983376"/>
                  <a:gd name="connsiteX13" fmla="*/ 708084 w 708084"/>
                  <a:gd name="connsiteY13" fmla="*/ 0 h 983376"/>
                  <a:gd name="connsiteX14" fmla="*/ 708084 w 708084"/>
                  <a:gd name="connsiteY14" fmla="*/ 966934 h 983376"/>
                  <a:gd name="connsiteX15" fmla="*/ 552275 w 708084"/>
                  <a:gd name="connsiteY15" fmla="*/ 966934 h 983376"/>
                  <a:gd name="connsiteX16" fmla="*/ 552275 w 708084"/>
                  <a:gd name="connsiteY16" fmla="*/ 868568 h 983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08084" h="983376">
                    <a:moveTo>
                      <a:pt x="356801" y="835779"/>
                    </a:moveTo>
                    <a:cubicBezTo>
                      <a:pt x="477129" y="835779"/>
                      <a:pt x="549517" y="741595"/>
                      <a:pt x="549517" y="639142"/>
                    </a:cubicBezTo>
                    <a:cubicBezTo>
                      <a:pt x="549517" y="536689"/>
                      <a:pt x="477034" y="442505"/>
                      <a:pt x="356801" y="442505"/>
                    </a:cubicBezTo>
                    <a:cubicBezTo>
                      <a:pt x="236567" y="442505"/>
                      <a:pt x="164085" y="536689"/>
                      <a:pt x="164085" y="639142"/>
                    </a:cubicBezTo>
                    <a:cubicBezTo>
                      <a:pt x="164085" y="741595"/>
                      <a:pt x="236567" y="835779"/>
                      <a:pt x="356801" y="835779"/>
                    </a:cubicBezTo>
                    <a:moveTo>
                      <a:pt x="552275" y="868568"/>
                    </a:moveTo>
                    <a:lnTo>
                      <a:pt x="549517" y="868568"/>
                    </a:lnTo>
                    <a:cubicBezTo>
                      <a:pt x="501670" y="947831"/>
                      <a:pt x="415586" y="983376"/>
                      <a:pt x="323984" y="983376"/>
                    </a:cubicBezTo>
                    <a:cubicBezTo>
                      <a:pt x="121660" y="983376"/>
                      <a:pt x="0" y="833118"/>
                      <a:pt x="0" y="639237"/>
                    </a:cubicBezTo>
                    <a:cubicBezTo>
                      <a:pt x="0" y="445356"/>
                      <a:pt x="129841" y="295003"/>
                      <a:pt x="317135" y="295003"/>
                    </a:cubicBezTo>
                    <a:cubicBezTo>
                      <a:pt x="440127" y="295003"/>
                      <a:pt x="505761" y="352407"/>
                      <a:pt x="540004" y="394700"/>
                    </a:cubicBezTo>
                    <a:lnTo>
                      <a:pt x="544000" y="394700"/>
                    </a:lnTo>
                    <a:lnTo>
                      <a:pt x="544000" y="0"/>
                    </a:lnTo>
                    <a:lnTo>
                      <a:pt x="708084" y="0"/>
                    </a:lnTo>
                    <a:lnTo>
                      <a:pt x="708084" y="966934"/>
                    </a:lnTo>
                    <a:lnTo>
                      <a:pt x="552275" y="966934"/>
                    </a:lnTo>
                    <a:lnTo>
                      <a:pt x="552275" y="868568"/>
                    </a:lnTo>
                    <a:close/>
                  </a:path>
                </a:pathLst>
              </a:custGeom>
              <a:grpFill/>
              <a:ln w="9512" cap="flat">
                <a:noFill/>
                <a:prstDash val="solid"/>
                <a:miter/>
              </a:ln>
            </p:spPr>
            <p:txBody>
              <a:bodyPr rtlCol="0" anchor="ctr"/>
              <a:lstStyle/>
              <a:p>
                <a:endParaRPr lang="fr-FR"/>
              </a:p>
            </p:txBody>
          </p:sp>
          <p:sp>
            <p:nvSpPr>
              <p:cNvPr id="20" name="Forme libre 19">
                <a:extLst>
                  <a:ext uri="{FF2B5EF4-FFF2-40B4-BE49-F238E27FC236}">
                    <a16:creationId xmlns:a16="http://schemas.microsoft.com/office/drawing/2014/main" id="{5AF49FFC-8EB0-33B2-8409-0EB674281EE3}"/>
                  </a:ext>
                </a:extLst>
              </p:cNvPr>
              <p:cNvSpPr/>
              <p:nvPr/>
            </p:nvSpPr>
            <p:spPr>
              <a:xfrm>
                <a:off x="6715430" y="3212594"/>
                <a:ext cx="664328" cy="688372"/>
              </a:xfrm>
              <a:custGeom>
                <a:avLst/>
                <a:gdLst>
                  <a:gd name="connsiteX0" fmla="*/ 500339 w 664328"/>
                  <a:gd name="connsiteY0" fmla="*/ 278657 h 688372"/>
                  <a:gd name="connsiteX1" fmla="*/ 333591 w 664328"/>
                  <a:gd name="connsiteY1" fmla="*/ 122981 h 688372"/>
                  <a:gd name="connsiteX2" fmla="*/ 164085 w 664328"/>
                  <a:gd name="connsiteY2" fmla="*/ 278657 h 688372"/>
                  <a:gd name="connsiteX3" fmla="*/ 500339 w 664328"/>
                  <a:gd name="connsiteY3" fmla="*/ 278657 h 688372"/>
                  <a:gd name="connsiteX4" fmla="*/ 164085 w 664328"/>
                  <a:gd name="connsiteY4" fmla="*/ 401543 h 688372"/>
                  <a:gd name="connsiteX5" fmla="*/ 340440 w 664328"/>
                  <a:gd name="connsiteY5" fmla="*/ 557218 h 688372"/>
                  <a:gd name="connsiteX6" fmla="*/ 516795 w 664328"/>
                  <a:gd name="connsiteY6" fmla="*/ 468451 h 688372"/>
                  <a:gd name="connsiteX7" fmla="*/ 634365 w 664328"/>
                  <a:gd name="connsiteY7" fmla="*/ 557218 h 688372"/>
                  <a:gd name="connsiteX8" fmla="*/ 356801 w 664328"/>
                  <a:gd name="connsiteY8" fmla="*/ 688373 h 688372"/>
                  <a:gd name="connsiteX9" fmla="*/ 0 w 664328"/>
                  <a:gd name="connsiteY9" fmla="*/ 344234 h 688372"/>
                  <a:gd name="connsiteX10" fmla="*/ 356801 w 664328"/>
                  <a:gd name="connsiteY10" fmla="*/ 0 h 688372"/>
                  <a:gd name="connsiteX11" fmla="*/ 664328 w 664328"/>
                  <a:gd name="connsiteY11" fmla="*/ 356494 h 688372"/>
                  <a:gd name="connsiteX12" fmla="*/ 664328 w 664328"/>
                  <a:gd name="connsiteY12" fmla="*/ 401543 h 688372"/>
                  <a:gd name="connsiteX13" fmla="*/ 163989 w 664328"/>
                  <a:gd name="connsiteY13" fmla="*/ 401543 h 688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4328" h="688372">
                    <a:moveTo>
                      <a:pt x="500339" y="278657"/>
                    </a:moveTo>
                    <a:cubicBezTo>
                      <a:pt x="498912" y="183047"/>
                      <a:pt x="436037" y="122981"/>
                      <a:pt x="333591" y="122981"/>
                    </a:cubicBezTo>
                    <a:cubicBezTo>
                      <a:pt x="236472" y="122981"/>
                      <a:pt x="176355" y="184472"/>
                      <a:pt x="164085" y="278657"/>
                    </a:cubicBezTo>
                    <a:lnTo>
                      <a:pt x="500339" y="278657"/>
                    </a:lnTo>
                    <a:close/>
                    <a:moveTo>
                      <a:pt x="164085" y="401543"/>
                    </a:moveTo>
                    <a:cubicBezTo>
                      <a:pt x="175023" y="498578"/>
                      <a:pt x="248838" y="557218"/>
                      <a:pt x="340440" y="557218"/>
                    </a:cubicBezTo>
                    <a:cubicBezTo>
                      <a:pt x="422434" y="557218"/>
                      <a:pt x="475703" y="519012"/>
                      <a:pt x="516795" y="468451"/>
                    </a:cubicBezTo>
                    <a:lnTo>
                      <a:pt x="634365" y="557218"/>
                    </a:lnTo>
                    <a:cubicBezTo>
                      <a:pt x="557792" y="651402"/>
                      <a:pt x="460673" y="688373"/>
                      <a:pt x="356801" y="688373"/>
                    </a:cubicBezTo>
                    <a:cubicBezTo>
                      <a:pt x="158568" y="688373"/>
                      <a:pt x="0" y="550470"/>
                      <a:pt x="0" y="344234"/>
                    </a:cubicBezTo>
                    <a:cubicBezTo>
                      <a:pt x="0" y="137998"/>
                      <a:pt x="158568" y="0"/>
                      <a:pt x="356801" y="0"/>
                    </a:cubicBezTo>
                    <a:cubicBezTo>
                      <a:pt x="540005" y="0"/>
                      <a:pt x="664328" y="128399"/>
                      <a:pt x="664328" y="356494"/>
                    </a:cubicBezTo>
                    <a:lnTo>
                      <a:pt x="664328" y="401543"/>
                    </a:lnTo>
                    <a:lnTo>
                      <a:pt x="163989" y="401543"/>
                    </a:lnTo>
                    <a:close/>
                  </a:path>
                </a:pathLst>
              </a:custGeom>
              <a:grpFill/>
              <a:ln w="9512" cap="flat">
                <a:noFill/>
                <a:prstDash val="solid"/>
                <a:miter/>
              </a:ln>
            </p:spPr>
            <p:txBody>
              <a:bodyPr rtlCol="0" anchor="ctr"/>
              <a:lstStyle/>
              <a:p>
                <a:endParaRPr lang="fr-FR"/>
              </a:p>
            </p:txBody>
          </p:sp>
          <p:sp>
            <p:nvSpPr>
              <p:cNvPr id="21" name="Forme libre 20">
                <a:extLst>
                  <a:ext uri="{FF2B5EF4-FFF2-40B4-BE49-F238E27FC236}">
                    <a16:creationId xmlns:a16="http://schemas.microsoft.com/office/drawing/2014/main" id="{82B2538B-6B25-0FBA-ADDC-F8ADDE9460DB}"/>
                  </a:ext>
                </a:extLst>
              </p:cNvPr>
              <p:cNvSpPr/>
              <p:nvPr/>
            </p:nvSpPr>
            <p:spPr>
              <a:xfrm>
                <a:off x="7464417" y="3212689"/>
                <a:ext cx="598789" cy="672025"/>
              </a:xfrm>
              <a:custGeom>
                <a:avLst/>
                <a:gdLst>
                  <a:gd name="connsiteX0" fmla="*/ 95 w 598789"/>
                  <a:gd name="connsiteY0" fmla="*/ 16347 h 672025"/>
                  <a:gd name="connsiteX1" fmla="*/ 155904 w 598789"/>
                  <a:gd name="connsiteY1" fmla="*/ 16347 h 672025"/>
                  <a:gd name="connsiteX2" fmla="*/ 155904 w 598789"/>
                  <a:gd name="connsiteY2" fmla="*/ 121556 h 672025"/>
                  <a:gd name="connsiteX3" fmla="*/ 158568 w 598789"/>
                  <a:gd name="connsiteY3" fmla="*/ 121556 h 672025"/>
                  <a:gd name="connsiteX4" fmla="*/ 359559 w 598789"/>
                  <a:gd name="connsiteY4" fmla="*/ 0 h 672025"/>
                  <a:gd name="connsiteX5" fmla="*/ 598790 w 598789"/>
                  <a:gd name="connsiteY5" fmla="*/ 258128 h 672025"/>
                  <a:gd name="connsiteX6" fmla="*/ 598790 w 598789"/>
                  <a:gd name="connsiteY6" fmla="*/ 672026 h 672025"/>
                  <a:gd name="connsiteX7" fmla="*/ 434705 w 598789"/>
                  <a:gd name="connsiteY7" fmla="*/ 672026 h 672025"/>
                  <a:gd name="connsiteX8" fmla="*/ 434705 w 598789"/>
                  <a:gd name="connsiteY8" fmla="*/ 340147 h 672025"/>
                  <a:gd name="connsiteX9" fmla="*/ 314376 w 598789"/>
                  <a:gd name="connsiteY9" fmla="*/ 147597 h 672025"/>
                  <a:gd name="connsiteX10" fmla="*/ 163989 w 598789"/>
                  <a:gd name="connsiteY10" fmla="*/ 314201 h 672025"/>
                  <a:gd name="connsiteX11" fmla="*/ 163989 w 598789"/>
                  <a:gd name="connsiteY11" fmla="*/ 672026 h 672025"/>
                  <a:gd name="connsiteX12" fmla="*/ 0 w 598789"/>
                  <a:gd name="connsiteY12" fmla="*/ 672026 h 672025"/>
                  <a:gd name="connsiteX13" fmla="*/ 0 w 598789"/>
                  <a:gd name="connsiteY13" fmla="*/ 16347 h 67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8789" h="672025">
                    <a:moveTo>
                      <a:pt x="95" y="16347"/>
                    </a:moveTo>
                    <a:lnTo>
                      <a:pt x="155904" y="16347"/>
                    </a:lnTo>
                    <a:lnTo>
                      <a:pt x="155904" y="121556"/>
                    </a:lnTo>
                    <a:lnTo>
                      <a:pt x="158568" y="121556"/>
                    </a:lnTo>
                    <a:cubicBezTo>
                      <a:pt x="188721" y="56073"/>
                      <a:pt x="250265" y="0"/>
                      <a:pt x="359559" y="0"/>
                    </a:cubicBezTo>
                    <a:cubicBezTo>
                      <a:pt x="535915" y="0"/>
                      <a:pt x="598790" y="124312"/>
                      <a:pt x="598790" y="258128"/>
                    </a:cubicBezTo>
                    <a:lnTo>
                      <a:pt x="598790" y="672026"/>
                    </a:lnTo>
                    <a:lnTo>
                      <a:pt x="434705" y="672026"/>
                    </a:lnTo>
                    <a:lnTo>
                      <a:pt x="434705" y="340147"/>
                    </a:lnTo>
                    <a:cubicBezTo>
                      <a:pt x="434705" y="267822"/>
                      <a:pt x="429283" y="147597"/>
                      <a:pt x="314376" y="147597"/>
                    </a:cubicBezTo>
                    <a:cubicBezTo>
                      <a:pt x="206414" y="147597"/>
                      <a:pt x="163989" y="226860"/>
                      <a:pt x="163989" y="314201"/>
                    </a:cubicBezTo>
                    <a:lnTo>
                      <a:pt x="163989" y="672026"/>
                    </a:lnTo>
                    <a:lnTo>
                      <a:pt x="0" y="672026"/>
                    </a:lnTo>
                    <a:lnTo>
                      <a:pt x="0" y="16347"/>
                    </a:lnTo>
                    <a:close/>
                  </a:path>
                </a:pathLst>
              </a:custGeom>
              <a:grpFill/>
              <a:ln w="9512" cap="flat">
                <a:noFill/>
                <a:prstDash val="solid"/>
                <a:miter/>
              </a:ln>
            </p:spPr>
            <p:txBody>
              <a:bodyPr rtlCol="0" anchor="ctr"/>
              <a:lstStyle/>
              <a:p>
                <a:endParaRPr lang="fr-FR"/>
              </a:p>
            </p:txBody>
          </p:sp>
          <p:sp>
            <p:nvSpPr>
              <p:cNvPr id="22" name="Forme libre 21">
                <a:extLst>
                  <a:ext uri="{FF2B5EF4-FFF2-40B4-BE49-F238E27FC236}">
                    <a16:creationId xmlns:a16="http://schemas.microsoft.com/office/drawing/2014/main" id="{B45DE06D-7DB7-7CE6-B62B-FF889C4BEE14}"/>
                  </a:ext>
                </a:extLst>
              </p:cNvPr>
              <p:cNvSpPr/>
              <p:nvPr/>
            </p:nvSpPr>
            <p:spPr>
              <a:xfrm>
                <a:off x="8147865" y="3212689"/>
                <a:ext cx="594603" cy="688372"/>
              </a:xfrm>
              <a:custGeom>
                <a:avLst/>
                <a:gdLst>
                  <a:gd name="connsiteX0" fmla="*/ 481219 w 594603"/>
                  <a:gd name="connsiteY0" fmla="*/ 213079 h 688372"/>
                  <a:gd name="connsiteX1" fmla="*/ 356800 w 594603"/>
                  <a:gd name="connsiteY1" fmla="*/ 147502 h 688372"/>
                  <a:gd name="connsiteX2" fmla="*/ 163989 w 594603"/>
                  <a:gd name="connsiteY2" fmla="*/ 344139 h 688372"/>
                  <a:gd name="connsiteX3" fmla="*/ 356800 w 594603"/>
                  <a:gd name="connsiteY3" fmla="*/ 540776 h 688372"/>
                  <a:gd name="connsiteX4" fmla="*/ 483883 w 594603"/>
                  <a:gd name="connsiteY4" fmla="*/ 479380 h 688372"/>
                  <a:gd name="connsiteX5" fmla="*/ 593273 w 594603"/>
                  <a:gd name="connsiteY5" fmla="*/ 596850 h 688372"/>
                  <a:gd name="connsiteX6" fmla="*/ 356800 w 594603"/>
                  <a:gd name="connsiteY6" fmla="*/ 688373 h 688372"/>
                  <a:gd name="connsiteX7" fmla="*/ 0 w 594603"/>
                  <a:gd name="connsiteY7" fmla="*/ 344139 h 688372"/>
                  <a:gd name="connsiteX8" fmla="*/ 356800 w 594603"/>
                  <a:gd name="connsiteY8" fmla="*/ 0 h 688372"/>
                  <a:gd name="connsiteX9" fmla="*/ 594604 w 594603"/>
                  <a:gd name="connsiteY9" fmla="*/ 99697 h 688372"/>
                  <a:gd name="connsiteX10" fmla="*/ 481124 w 594603"/>
                  <a:gd name="connsiteY10" fmla="*/ 212984 h 688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4603" h="688372">
                    <a:moveTo>
                      <a:pt x="481219" y="213079"/>
                    </a:moveTo>
                    <a:cubicBezTo>
                      <a:pt x="442885" y="173447"/>
                      <a:pt x="400556" y="147502"/>
                      <a:pt x="356800" y="147502"/>
                    </a:cubicBezTo>
                    <a:cubicBezTo>
                      <a:pt x="236472" y="147502"/>
                      <a:pt x="163989" y="241686"/>
                      <a:pt x="163989" y="344139"/>
                    </a:cubicBezTo>
                    <a:cubicBezTo>
                      <a:pt x="163989" y="446592"/>
                      <a:pt x="236472" y="540776"/>
                      <a:pt x="356800" y="540776"/>
                    </a:cubicBezTo>
                    <a:cubicBezTo>
                      <a:pt x="407310" y="540776"/>
                      <a:pt x="453824" y="519012"/>
                      <a:pt x="483883" y="479380"/>
                    </a:cubicBezTo>
                    <a:lnTo>
                      <a:pt x="593273" y="596850"/>
                    </a:lnTo>
                    <a:cubicBezTo>
                      <a:pt x="526307" y="663758"/>
                      <a:pt x="414159" y="688373"/>
                      <a:pt x="356800" y="688373"/>
                    </a:cubicBezTo>
                    <a:cubicBezTo>
                      <a:pt x="158567" y="688373"/>
                      <a:pt x="0" y="550375"/>
                      <a:pt x="0" y="344139"/>
                    </a:cubicBezTo>
                    <a:cubicBezTo>
                      <a:pt x="0" y="137903"/>
                      <a:pt x="158567" y="0"/>
                      <a:pt x="356800" y="0"/>
                    </a:cubicBezTo>
                    <a:cubicBezTo>
                      <a:pt x="440222" y="0"/>
                      <a:pt x="531729" y="30033"/>
                      <a:pt x="594604" y="99697"/>
                    </a:cubicBezTo>
                    <a:lnTo>
                      <a:pt x="481124" y="212984"/>
                    </a:lnTo>
                    <a:close/>
                  </a:path>
                </a:pathLst>
              </a:custGeom>
              <a:grpFill/>
              <a:ln w="9512" cap="flat">
                <a:noFill/>
                <a:prstDash val="solid"/>
                <a:miter/>
              </a:ln>
            </p:spPr>
            <p:txBody>
              <a:bodyPr rtlCol="0" anchor="ctr"/>
              <a:lstStyle/>
              <a:p>
                <a:endParaRPr lang="fr-FR"/>
              </a:p>
            </p:txBody>
          </p:sp>
          <p:sp>
            <p:nvSpPr>
              <p:cNvPr id="23" name="Forme libre 22">
                <a:extLst>
                  <a:ext uri="{FF2B5EF4-FFF2-40B4-BE49-F238E27FC236}">
                    <a16:creationId xmlns:a16="http://schemas.microsoft.com/office/drawing/2014/main" id="{12BD76DA-1C9F-5902-44E1-4A5F7B9829C5}"/>
                  </a:ext>
                </a:extLst>
              </p:cNvPr>
              <p:cNvSpPr/>
              <p:nvPr/>
            </p:nvSpPr>
            <p:spPr>
              <a:xfrm>
                <a:off x="8750745" y="2908087"/>
                <a:ext cx="210408" cy="976533"/>
              </a:xfrm>
              <a:custGeom>
                <a:avLst/>
                <a:gdLst>
                  <a:gd name="connsiteX0" fmla="*/ 23210 w 210408"/>
                  <a:gd name="connsiteY0" fmla="*/ 320949 h 976533"/>
                  <a:gd name="connsiteX1" fmla="*/ 187294 w 210408"/>
                  <a:gd name="connsiteY1" fmla="*/ 320949 h 976533"/>
                  <a:gd name="connsiteX2" fmla="*/ 187294 w 210408"/>
                  <a:gd name="connsiteY2" fmla="*/ 976533 h 976533"/>
                  <a:gd name="connsiteX3" fmla="*/ 23210 w 210408"/>
                  <a:gd name="connsiteY3" fmla="*/ 976533 h 976533"/>
                  <a:gd name="connsiteX4" fmla="*/ 23210 w 210408"/>
                  <a:gd name="connsiteY4" fmla="*/ 320949 h 976533"/>
                  <a:gd name="connsiteX5" fmla="*/ 103872 w 210408"/>
                  <a:gd name="connsiteY5" fmla="*/ 0 h 976533"/>
                  <a:gd name="connsiteX6" fmla="*/ 210409 w 210408"/>
                  <a:gd name="connsiteY6" fmla="*/ 98271 h 976533"/>
                  <a:gd name="connsiteX7" fmla="*/ 103872 w 210408"/>
                  <a:gd name="connsiteY7" fmla="*/ 196637 h 976533"/>
                  <a:gd name="connsiteX8" fmla="*/ 0 w 210408"/>
                  <a:gd name="connsiteY8" fmla="*/ 98271 h 976533"/>
                  <a:gd name="connsiteX9" fmla="*/ 103872 w 210408"/>
                  <a:gd name="connsiteY9" fmla="*/ 0 h 976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0408" h="976533">
                    <a:moveTo>
                      <a:pt x="23210" y="320949"/>
                    </a:moveTo>
                    <a:lnTo>
                      <a:pt x="187294" y="320949"/>
                    </a:lnTo>
                    <a:lnTo>
                      <a:pt x="187294" y="976533"/>
                    </a:lnTo>
                    <a:lnTo>
                      <a:pt x="23210" y="976533"/>
                    </a:lnTo>
                    <a:lnTo>
                      <a:pt x="23210" y="320949"/>
                    </a:lnTo>
                    <a:close/>
                    <a:moveTo>
                      <a:pt x="103872" y="0"/>
                    </a:moveTo>
                    <a:cubicBezTo>
                      <a:pt x="163989" y="0"/>
                      <a:pt x="210409" y="42293"/>
                      <a:pt x="210409" y="98271"/>
                    </a:cubicBezTo>
                    <a:cubicBezTo>
                      <a:pt x="210409" y="154249"/>
                      <a:pt x="163989" y="196637"/>
                      <a:pt x="103872" y="196637"/>
                    </a:cubicBezTo>
                    <a:cubicBezTo>
                      <a:pt x="43756" y="196637"/>
                      <a:pt x="0" y="150163"/>
                      <a:pt x="0" y="98271"/>
                    </a:cubicBezTo>
                    <a:cubicBezTo>
                      <a:pt x="0" y="46379"/>
                      <a:pt x="43756" y="0"/>
                      <a:pt x="103872" y="0"/>
                    </a:cubicBezTo>
                  </a:path>
                </a:pathLst>
              </a:custGeom>
              <a:grpFill/>
              <a:ln w="9512" cap="flat">
                <a:noFill/>
                <a:prstDash val="solid"/>
                <a:miter/>
              </a:ln>
            </p:spPr>
            <p:txBody>
              <a:bodyPr rtlCol="0" anchor="ctr"/>
              <a:lstStyle/>
              <a:p>
                <a:endParaRPr lang="fr-FR"/>
              </a:p>
            </p:txBody>
          </p:sp>
          <p:sp>
            <p:nvSpPr>
              <p:cNvPr id="24" name="Forme libre 23">
                <a:extLst>
                  <a:ext uri="{FF2B5EF4-FFF2-40B4-BE49-F238E27FC236}">
                    <a16:creationId xmlns:a16="http://schemas.microsoft.com/office/drawing/2014/main" id="{3B09702B-0C60-4631-33F5-3FA7D541CC4A}"/>
                  </a:ext>
                </a:extLst>
              </p:cNvPr>
              <p:cNvSpPr/>
              <p:nvPr/>
            </p:nvSpPr>
            <p:spPr>
              <a:xfrm>
                <a:off x="9014611" y="3212499"/>
                <a:ext cx="601452" cy="688467"/>
              </a:xfrm>
              <a:custGeom>
                <a:avLst/>
                <a:gdLst>
                  <a:gd name="connsiteX0" fmla="*/ 444217 w 601452"/>
                  <a:gd name="connsiteY0" fmla="*/ 378448 h 688467"/>
                  <a:gd name="connsiteX1" fmla="*/ 410068 w 601452"/>
                  <a:gd name="connsiteY1" fmla="*/ 378448 h 688467"/>
                  <a:gd name="connsiteX2" fmla="*/ 163989 w 601452"/>
                  <a:gd name="connsiteY2" fmla="*/ 479571 h 688467"/>
                  <a:gd name="connsiteX3" fmla="*/ 278801 w 601452"/>
                  <a:gd name="connsiteY3" fmla="*/ 565582 h 688467"/>
                  <a:gd name="connsiteX4" fmla="*/ 444217 w 601452"/>
                  <a:gd name="connsiteY4" fmla="*/ 415419 h 688467"/>
                  <a:gd name="connsiteX5" fmla="*/ 444217 w 601452"/>
                  <a:gd name="connsiteY5" fmla="*/ 378543 h 688467"/>
                  <a:gd name="connsiteX6" fmla="*/ 453824 w 601452"/>
                  <a:gd name="connsiteY6" fmla="*/ 581928 h 688467"/>
                  <a:gd name="connsiteX7" fmla="*/ 449734 w 601452"/>
                  <a:gd name="connsiteY7" fmla="*/ 581928 h 688467"/>
                  <a:gd name="connsiteX8" fmla="*/ 239230 w 601452"/>
                  <a:gd name="connsiteY8" fmla="*/ 688468 h 688467"/>
                  <a:gd name="connsiteX9" fmla="*/ 0 w 601452"/>
                  <a:gd name="connsiteY9" fmla="*/ 491736 h 688467"/>
                  <a:gd name="connsiteX10" fmla="*/ 412827 w 601452"/>
                  <a:gd name="connsiteY10" fmla="*/ 263640 h 688467"/>
                  <a:gd name="connsiteX11" fmla="*/ 453824 w 601452"/>
                  <a:gd name="connsiteY11" fmla="*/ 263640 h 688467"/>
                  <a:gd name="connsiteX12" fmla="*/ 453824 w 601452"/>
                  <a:gd name="connsiteY12" fmla="*/ 245868 h 688467"/>
                  <a:gd name="connsiteX13" fmla="*/ 303437 w 601452"/>
                  <a:gd name="connsiteY13" fmla="*/ 122981 h 688467"/>
                  <a:gd name="connsiteX14" fmla="*/ 128509 w 601452"/>
                  <a:gd name="connsiteY14" fmla="*/ 191220 h 688467"/>
                  <a:gd name="connsiteX15" fmla="*/ 42424 w 601452"/>
                  <a:gd name="connsiteY15" fmla="*/ 105209 h 688467"/>
                  <a:gd name="connsiteX16" fmla="*/ 321225 w 601452"/>
                  <a:gd name="connsiteY16" fmla="*/ 0 h 688467"/>
                  <a:gd name="connsiteX17" fmla="*/ 601453 w 601452"/>
                  <a:gd name="connsiteY17" fmla="*/ 295003 h 688467"/>
                  <a:gd name="connsiteX18" fmla="*/ 601453 w 601452"/>
                  <a:gd name="connsiteY18" fmla="*/ 672026 h 688467"/>
                  <a:gd name="connsiteX19" fmla="*/ 453824 w 601452"/>
                  <a:gd name="connsiteY19" fmla="*/ 672026 h 688467"/>
                  <a:gd name="connsiteX20" fmla="*/ 453824 w 601452"/>
                  <a:gd name="connsiteY20" fmla="*/ 581833 h 688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01452" h="688467">
                    <a:moveTo>
                      <a:pt x="444217" y="378448"/>
                    </a:moveTo>
                    <a:lnTo>
                      <a:pt x="410068" y="378448"/>
                    </a:lnTo>
                    <a:cubicBezTo>
                      <a:pt x="319798" y="378448"/>
                      <a:pt x="163989" y="385291"/>
                      <a:pt x="163989" y="479571"/>
                    </a:cubicBezTo>
                    <a:cubicBezTo>
                      <a:pt x="163989" y="539636"/>
                      <a:pt x="225438" y="565582"/>
                      <a:pt x="278801" y="565582"/>
                    </a:cubicBezTo>
                    <a:cubicBezTo>
                      <a:pt x="390854" y="565582"/>
                      <a:pt x="444217" y="506847"/>
                      <a:pt x="444217" y="415419"/>
                    </a:cubicBezTo>
                    <a:lnTo>
                      <a:pt x="444217" y="378543"/>
                    </a:lnTo>
                    <a:close/>
                    <a:moveTo>
                      <a:pt x="453824" y="581928"/>
                    </a:moveTo>
                    <a:lnTo>
                      <a:pt x="449734" y="581928"/>
                    </a:lnTo>
                    <a:cubicBezTo>
                      <a:pt x="403315" y="655679"/>
                      <a:pt x="326742" y="688468"/>
                      <a:pt x="239230" y="688468"/>
                    </a:cubicBezTo>
                    <a:cubicBezTo>
                      <a:pt x="117570" y="688468"/>
                      <a:pt x="0" y="621560"/>
                      <a:pt x="0" y="491736"/>
                    </a:cubicBezTo>
                    <a:cubicBezTo>
                      <a:pt x="0" y="278752"/>
                      <a:pt x="248837" y="263640"/>
                      <a:pt x="412827" y="263640"/>
                    </a:cubicBezTo>
                    <a:lnTo>
                      <a:pt x="453824" y="263640"/>
                    </a:lnTo>
                    <a:lnTo>
                      <a:pt x="453824" y="245868"/>
                    </a:lnTo>
                    <a:cubicBezTo>
                      <a:pt x="453824" y="165274"/>
                      <a:pt x="390949" y="122981"/>
                      <a:pt x="303437" y="122981"/>
                    </a:cubicBezTo>
                    <a:cubicBezTo>
                      <a:pt x="235140" y="122981"/>
                      <a:pt x="172265" y="150258"/>
                      <a:pt x="128509" y="191220"/>
                    </a:cubicBezTo>
                    <a:lnTo>
                      <a:pt x="42424" y="105209"/>
                    </a:lnTo>
                    <a:cubicBezTo>
                      <a:pt x="114906" y="31458"/>
                      <a:pt x="217352" y="0"/>
                      <a:pt x="321225" y="0"/>
                    </a:cubicBezTo>
                    <a:cubicBezTo>
                      <a:pt x="601453" y="0"/>
                      <a:pt x="601453" y="202149"/>
                      <a:pt x="601453" y="295003"/>
                    </a:cubicBezTo>
                    <a:lnTo>
                      <a:pt x="601453" y="672026"/>
                    </a:lnTo>
                    <a:lnTo>
                      <a:pt x="453824" y="672026"/>
                    </a:lnTo>
                    <a:lnTo>
                      <a:pt x="453824" y="581833"/>
                    </a:lnTo>
                    <a:close/>
                  </a:path>
                </a:pathLst>
              </a:custGeom>
              <a:grpFill/>
              <a:ln w="9512" cap="flat">
                <a:noFill/>
                <a:prstDash val="solid"/>
                <a:miter/>
              </a:ln>
            </p:spPr>
            <p:txBody>
              <a:bodyPr rtlCol="0" anchor="ctr"/>
              <a:lstStyle/>
              <a:p>
                <a:endParaRPr lang="fr-FR"/>
              </a:p>
            </p:txBody>
          </p:sp>
        </p:grpSp>
      </p:grpSp>
    </p:spTree>
    <p:extLst>
      <p:ext uri="{BB962C8B-B14F-4D97-AF65-F5344CB8AC3E}">
        <p14:creationId xmlns:p14="http://schemas.microsoft.com/office/powerpoint/2010/main" val="991325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13" name="Forme libre 12">
            <a:extLst>
              <a:ext uri="{FF2B5EF4-FFF2-40B4-BE49-F238E27FC236}">
                <a16:creationId xmlns:a16="http://schemas.microsoft.com/office/drawing/2014/main" id="{7B7A42F2-EFD8-3532-7665-4DC98020AA81}"/>
              </a:ext>
            </a:extLst>
          </p:cNvPr>
          <p:cNvSpPr/>
          <p:nvPr userDrawn="1"/>
        </p:nvSpPr>
        <p:spPr>
          <a:xfrm>
            <a:off x="7573546" y="-665032"/>
            <a:ext cx="6215606" cy="7349692"/>
          </a:xfrm>
          <a:custGeom>
            <a:avLst/>
            <a:gdLst>
              <a:gd name="connsiteX0" fmla="*/ 1390897 w 2413380"/>
              <a:gd name="connsiteY0" fmla="*/ 416515 h 2853720"/>
              <a:gd name="connsiteX1" fmla="*/ 607531 w 2413380"/>
              <a:gd name="connsiteY1" fmla="*/ 752523 h 2853720"/>
              <a:gd name="connsiteX2" fmla="*/ 305194 w 2413380"/>
              <a:gd name="connsiteY2" fmla="*/ 916697 h 2853720"/>
              <a:gd name="connsiteX3" fmla="*/ 224726 w 2413380"/>
              <a:gd name="connsiteY3" fmla="*/ 970672 h 2853720"/>
              <a:gd name="connsiteX4" fmla="*/ 182349 w 2413380"/>
              <a:gd name="connsiteY4" fmla="*/ 1002759 h 2853720"/>
              <a:gd name="connsiteX5" fmla="*/ 139138 w 2413380"/>
              <a:gd name="connsiteY5" fmla="*/ 1039964 h 2853720"/>
              <a:gd name="connsiteX6" fmla="*/ 61175 w 2413380"/>
              <a:gd name="connsiteY6" fmla="*/ 1127586 h 2853720"/>
              <a:gd name="connsiteX7" fmla="*/ 9140 w 2413380"/>
              <a:gd name="connsiteY7" fmla="*/ 1237350 h 2853720"/>
              <a:gd name="connsiteX8" fmla="*/ 5726 w 2413380"/>
              <a:gd name="connsiteY8" fmla="*/ 1364320 h 2853720"/>
              <a:gd name="connsiteX9" fmla="*/ 57181 w 2413380"/>
              <a:gd name="connsiteY9" fmla="*/ 1488458 h 2853720"/>
              <a:gd name="connsiteX10" fmla="*/ 97960 w 2413380"/>
              <a:gd name="connsiteY10" fmla="*/ 1546425 h 2853720"/>
              <a:gd name="connsiteX11" fmla="*/ 121599 w 2413380"/>
              <a:gd name="connsiteY11" fmla="*/ 1574156 h 2853720"/>
              <a:gd name="connsiteX12" fmla="*/ 146073 w 2413380"/>
              <a:gd name="connsiteY12" fmla="*/ 1601125 h 2853720"/>
              <a:gd name="connsiteX13" fmla="*/ 196366 w 2413380"/>
              <a:gd name="connsiteY13" fmla="*/ 1650018 h 2853720"/>
              <a:gd name="connsiteX14" fmla="*/ 221712 w 2413380"/>
              <a:gd name="connsiteY14" fmla="*/ 1673067 h 2853720"/>
              <a:gd name="connsiteX15" fmla="*/ 247966 w 2413380"/>
              <a:gd name="connsiteY15" fmla="*/ 1695136 h 2853720"/>
              <a:gd name="connsiteX16" fmla="*/ 745300 w 2413380"/>
              <a:gd name="connsiteY16" fmla="*/ 2025699 h 2853720"/>
              <a:gd name="connsiteX17" fmla="*/ 2043394 w 2413380"/>
              <a:gd name="connsiteY17" fmla="*/ 2691107 h 2853720"/>
              <a:gd name="connsiteX18" fmla="*/ 2154946 w 2413380"/>
              <a:gd name="connsiteY18" fmla="*/ 2744792 h 2853720"/>
              <a:gd name="connsiteX19" fmla="*/ 2413381 w 2413380"/>
              <a:gd name="connsiteY19" fmla="*/ 2853721 h 2853720"/>
              <a:gd name="connsiteX20" fmla="*/ 2413381 w 2413380"/>
              <a:gd name="connsiteY20" fmla="*/ 2218766 h 2853720"/>
              <a:gd name="connsiteX21" fmla="*/ 2331642 w 2413380"/>
              <a:gd name="connsiteY21" fmla="*/ 2202541 h 2853720"/>
              <a:gd name="connsiteX22" fmla="*/ 2138641 w 2413380"/>
              <a:gd name="connsiteY22" fmla="*/ 2165989 h 2853720"/>
              <a:gd name="connsiteX23" fmla="*/ 1686916 w 2413380"/>
              <a:gd name="connsiteY23" fmla="*/ 2069728 h 2853720"/>
              <a:gd name="connsiteX24" fmla="*/ 841528 w 2413380"/>
              <a:gd name="connsiteY24" fmla="*/ 1822614 h 2853720"/>
              <a:gd name="connsiteX25" fmla="*/ 338202 w 2413380"/>
              <a:gd name="connsiteY25" fmla="*/ 1576733 h 2853720"/>
              <a:gd name="connsiteX26" fmla="*/ 312892 w 2413380"/>
              <a:gd name="connsiteY26" fmla="*/ 1559202 h 2853720"/>
              <a:gd name="connsiteX27" fmla="*/ 288999 w 2413380"/>
              <a:gd name="connsiteY27" fmla="*/ 1541016 h 2853720"/>
              <a:gd name="connsiteX28" fmla="*/ 245715 w 2413380"/>
              <a:gd name="connsiteY28" fmla="*/ 1505517 h 2853720"/>
              <a:gd name="connsiteX29" fmla="*/ 178391 w 2413380"/>
              <a:gd name="connsiteY29" fmla="*/ 1433358 h 2853720"/>
              <a:gd name="connsiteX30" fmla="*/ 135797 w 2413380"/>
              <a:gd name="connsiteY30" fmla="*/ 1349329 h 2853720"/>
              <a:gd name="connsiteX31" fmla="*/ 135398 w 2413380"/>
              <a:gd name="connsiteY31" fmla="*/ 1259819 h 2853720"/>
              <a:gd name="connsiteX32" fmla="*/ 173743 w 2413380"/>
              <a:gd name="connsiteY32" fmla="*/ 1182940 h 2853720"/>
              <a:gd name="connsiteX33" fmla="*/ 230826 w 2413380"/>
              <a:gd name="connsiteY33" fmla="*/ 1123376 h 2853720"/>
              <a:gd name="connsiteX34" fmla="*/ 262237 w 2413380"/>
              <a:gd name="connsiteY34" fmla="*/ 1098585 h 2853720"/>
              <a:gd name="connsiteX35" fmla="*/ 296733 w 2413380"/>
              <a:gd name="connsiteY35" fmla="*/ 1074882 h 2853720"/>
              <a:gd name="connsiteX36" fmla="*/ 371791 w 2413380"/>
              <a:gd name="connsiteY36" fmla="*/ 1030708 h 2853720"/>
              <a:gd name="connsiteX37" fmla="*/ 1283776 w 2413380"/>
              <a:gd name="connsiteY37" fmla="*/ 697641 h 2853720"/>
              <a:gd name="connsiteX38" fmla="*/ 2413381 w 2413380"/>
              <a:gd name="connsiteY38" fmla="*/ 379093 h 2853720"/>
              <a:gd name="connsiteX39" fmla="*/ 2413381 w 2413380"/>
              <a:gd name="connsiteY39" fmla="*/ 0 h 2853720"/>
              <a:gd name="connsiteX40" fmla="*/ 1390934 w 2413380"/>
              <a:gd name="connsiteY40" fmla="*/ 416515 h 2853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413380" h="2853720">
                <a:moveTo>
                  <a:pt x="1390897" y="416515"/>
                </a:moveTo>
                <a:cubicBezTo>
                  <a:pt x="1286572" y="457133"/>
                  <a:pt x="663016" y="725554"/>
                  <a:pt x="607531" y="752523"/>
                </a:cubicBezTo>
                <a:cubicBezTo>
                  <a:pt x="512538" y="799673"/>
                  <a:pt x="411698" y="850454"/>
                  <a:pt x="305194" y="916697"/>
                </a:cubicBezTo>
                <a:cubicBezTo>
                  <a:pt x="278650" y="933466"/>
                  <a:pt x="251742" y="951252"/>
                  <a:pt x="224726" y="970672"/>
                </a:cubicBezTo>
                <a:cubicBezTo>
                  <a:pt x="211181" y="980145"/>
                  <a:pt x="196548" y="991978"/>
                  <a:pt x="182349" y="1002759"/>
                </a:cubicBezTo>
                <a:cubicBezTo>
                  <a:pt x="168151" y="1014664"/>
                  <a:pt x="153300" y="1027042"/>
                  <a:pt x="139138" y="1039964"/>
                </a:cubicBezTo>
                <a:cubicBezTo>
                  <a:pt x="111141" y="1066352"/>
                  <a:pt x="84161" y="1094955"/>
                  <a:pt x="61175" y="1127586"/>
                </a:cubicBezTo>
                <a:cubicBezTo>
                  <a:pt x="38625" y="1160399"/>
                  <a:pt x="19852" y="1197024"/>
                  <a:pt x="9140" y="1237350"/>
                </a:cubicBezTo>
                <a:cubicBezTo>
                  <a:pt x="-1682" y="1277604"/>
                  <a:pt x="-2989" y="1321379"/>
                  <a:pt x="5726" y="1364320"/>
                </a:cubicBezTo>
                <a:cubicBezTo>
                  <a:pt x="14477" y="1407332"/>
                  <a:pt x="33033" y="1448857"/>
                  <a:pt x="57181" y="1488458"/>
                </a:cubicBezTo>
                <a:cubicBezTo>
                  <a:pt x="68873" y="1508566"/>
                  <a:pt x="83471" y="1527260"/>
                  <a:pt x="97960" y="1546425"/>
                </a:cubicBezTo>
                <a:cubicBezTo>
                  <a:pt x="105113" y="1556116"/>
                  <a:pt x="113683" y="1564791"/>
                  <a:pt x="121599" y="1574156"/>
                </a:cubicBezTo>
                <a:cubicBezTo>
                  <a:pt x="129660" y="1583231"/>
                  <a:pt x="137722" y="1593140"/>
                  <a:pt x="146073" y="1601125"/>
                </a:cubicBezTo>
                <a:cubicBezTo>
                  <a:pt x="162668" y="1617968"/>
                  <a:pt x="179844" y="1635536"/>
                  <a:pt x="196366" y="1650018"/>
                </a:cubicBezTo>
                <a:cubicBezTo>
                  <a:pt x="204754" y="1657641"/>
                  <a:pt x="213215" y="1665336"/>
                  <a:pt x="221712" y="1673067"/>
                </a:cubicBezTo>
                <a:cubicBezTo>
                  <a:pt x="230391" y="1680363"/>
                  <a:pt x="239178" y="1687732"/>
                  <a:pt x="247966" y="1695136"/>
                </a:cubicBezTo>
                <a:cubicBezTo>
                  <a:pt x="389693" y="1812486"/>
                  <a:pt x="557202" y="1916624"/>
                  <a:pt x="745300" y="2025699"/>
                </a:cubicBezTo>
                <a:cubicBezTo>
                  <a:pt x="1097566" y="2227296"/>
                  <a:pt x="1524890" y="2441053"/>
                  <a:pt x="2043394" y="2691107"/>
                </a:cubicBezTo>
                <a:cubicBezTo>
                  <a:pt x="2080142" y="2708821"/>
                  <a:pt x="2117254" y="2726679"/>
                  <a:pt x="2154946" y="2744792"/>
                </a:cubicBezTo>
                <a:cubicBezTo>
                  <a:pt x="2221833" y="2776806"/>
                  <a:pt x="2309418" y="2813648"/>
                  <a:pt x="2413381" y="2853721"/>
                </a:cubicBezTo>
                <a:lnTo>
                  <a:pt x="2413381" y="2218766"/>
                </a:lnTo>
                <a:cubicBezTo>
                  <a:pt x="2383895" y="2212487"/>
                  <a:pt x="2356588" y="2207042"/>
                  <a:pt x="2331642" y="2202541"/>
                </a:cubicBezTo>
                <a:cubicBezTo>
                  <a:pt x="2265844" y="2190490"/>
                  <a:pt x="2201680" y="2178294"/>
                  <a:pt x="2138641" y="2165989"/>
                </a:cubicBezTo>
                <a:cubicBezTo>
                  <a:pt x="1979702" y="2134955"/>
                  <a:pt x="1829151" y="2102940"/>
                  <a:pt x="1686916" y="2069728"/>
                </a:cubicBezTo>
                <a:cubicBezTo>
                  <a:pt x="1364389" y="1994374"/>
                  <a:pt x="1083876" y="1912922"/>
                  <a:pt x="841528" y="1822614"/>
                </a:cubicBezTo>
                <a:cubicBezTo>
                  <a:pt x="646676" y="1749002"/>
                  <a:pt x="475136" y="1669982"/>
                  <a:pt x="338202" y="1576733"/>
                </a:cubicBezTo>
                <a:cubicBezTo>
                  <a:pt x="329705" y="1570853"/>
                  <a:pt x="321281" y="1565009"/>
                  <a:pt x="312892" y="1559202"/>
                </a:cubicBezTo>
                <a:cubicBezTo>
                  <a:pt x="304867" y="1553104"/>
                  <a:pt x="296915" y="1547042"/>
                  <a:pt x="288999" y="1541016"/>
                </a:cubicBezTo>
                <a:cubicBezTo>
                  <a:pt x="272404" y="1528748"/>
                  <a:pt x="259259" y="1517205"/>
                  <a:pt x="245715" y="1505517"/>
                </a:cubicBezTo>
                <a:cubicBezTo>
                  <a:pt x="220114" y="1482541"/>
                  <a:pt x="197346" y="1459782"/>
                  <a:pt x="178391" y="1433358"/>
                </a:cubicBezTo>
                <a:cubicBezTo>
                  <a:pt x="159473" y="1407405"/>
                  <a:pt x="143786" y="1379311"/>
                  <a:pt x="135797" y="1349329"/>
                </a:cubicBezTo>
                <a:cubicBezTo>
                  <a:pt x="127772" y="1319419"/>
                  <a:pt x="127881" y="1288349"/>
                  <a:pt x="135398" y="1259819"/>
                </a:cubicBezTo>
                <a:cubicBezTo>
                  <a:pt x="142878" y="1231289"/>
                  <a:pt x="157076" y="1205626"/>
                  <a:pt x="173743" y="1182940"/>
                </a:cubicBezTo>
                <a:cubicBezTo>
                  <a:pt x="190810" y="1160472"/>
                  <a:pt x="210528" y="1141017"/>
                  <a:pt x="230826" y="1123376"/>
                </a:cubicBezTo>
                <a:cubicBezTo>
                  <a:pt x="241175" y="1114701"/>
                  <a:pt x="251488" y="1106715"/>
                  <a:pt x="262237" y="1098585"/>
                </a:cubicBezTo>
                <a:cubicBezTo>
                  <a:pt x="274002" y="1090635"/>
                  <a:pt x="284206" y="1082795"/>
                  <a:pt x="296733" y="1074882"/>
                </a:cubicBezTo>
                <a:cubicBezTo>
                  <a:pt x="321389" y="1058875"/>
                  <a:pt x="346554" y="1044320"/>
                  <a:pt x="371791" y="1030708"/>
                </a:cubicBezTo>
                <a:cubicBezTo>
                  <a:pt x="473284" y="976842"/>
                  <a:pt x="947160" y="797423"/>
                  <a:pt x="1283776" y="697641"/>
                </a:cubicBezTo>
                <a:cubicBezTo>
                  <a:pt x="1359632" y="673285"/>
                  <a:pt x="2089438" y="467187"/>
                  <a:pt x="2413381" y="379093"/>
                </a:cubicBezTo>
                <a:lnTo>
                  <a:pt x="2413381" y="0"/>
                </a:lnTo>
                <a:cubicBezTo>
                  <a:pt x="2046154" y="143194"/>
                  <a:pt x="1568901" y="347260"/>
                  <a:pt x="1390934" y="416515"/>
                </a:cubicBezTo>
                <a:close/>
              </a:path>
            </a:pathLst>
          </a:custGeom>
          <a:solidFill>
            <a:srgbClr val="BCDCF1">
              <a:alpha val="30000"/>
            </a:srgbClr>
          </a:solidFill>
          <a:ln w="3628" cap="flat">
            <a:noFill/>
            <a:prstDash val="solid"/>
            <a:miter/>
          </a:ln>
        </p:spPr>
        <p:txBody>
          <a:bodyPr rtlCol="0" anchor="ctr"/>
          <a:lstStyle/>
          <a:p>
            <a:endParaRPr lang="fr-FR"/>
          </a:p>
        </p:txBody>
      </p:sp>
      <p:sp>
        <p:nvSpPr>
          <p:cNvPr id="2" name="Titre 1">
            <a:extLst>
              <a:ext uri="{FF2B5EF4-FFF2-40B4-BE49-F238E27FC236}">
                <a16:creationId xmlns:a16="http://schemas.microsoft.com/office/drawing/2014/main" id="{34154920-9949-FCF9-704E-FC094A43CEDC}"/>
              </a:ext>
            </a:extLst>
          </p:cNvPr>
          <p:cNvSpPr>
            <a:spLocks noGrp="1"/>
          </p:cNvSpPr>
          <p:nvPr>
            <p:ph type="title" hasCustomPrompt="1"/>
          </p:nvPr>
        </p:nvSpPr>
        <p:spPr/>
        <p:txBody>
          <a:bodyPr anchor="t">
            <a:normAutofit/>
          </a:bodyPr>
          <a:lstStyle>
            <a:lvl1pPr>
              <a:defRPr sz="3000" b="1"/>
            </a:lvl1pPr>
          </a:lstStyle>
          <a:p>
            <a:r>
              <a:rPr lang="fr-FR" dirty="0"/>
              <a:t>MODIFIEZ LE STYLE DU TITRE</a:t>
            </a:r>
          </a:p>
        </p:txBody>
      </p:sp>
      <p:sp>
        <p:nvSpPr>
          <p:cNvPr id="3" name="Espace réservé du contenu 2">
            <a:extLst>
              <a:ext uri="{FF2B5EF4-FFF2-40B4-BE49-F238E27FC236}">
                <a16:creationId xmlns:a16="http://schemas.microsoft.com/office/drawing/2014/main" id="{31D1D466-DDE4-E96F-F16E-2F557D2A6E59}"/>
              </a:ext>
            </a:extLst>
          </p:cNvPr>
          <p:cNvSpPr>
            <a:spLocks noGrp="1"/>
          </p:cNvSpPr>
          <p:nvPr>
            <p:ph idx="1"/>
          </p:nvPr>
        </p:nvSpPr>
        <p:spPr/>
        <p:txBody>
          <a:bodyPr/>
          <a:lstStyle>
            <a:lvl1pPr>
              <a:defRPr sz="2400"/>
            </a:lvl1pPr>
            <a:lvl2pPr>
              <a:defRPr sz="20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dirty="0"/>
          </a:p>
        </p:txBody>
      </p:sp>
      <p:pic>
        <p:nvPicPr>
          <p:cNvPr id="8" name="Graphique 7">
            <a:extLst>
              <a:ext uri="{FF2B5EF4-FFF2-40B4-BE49-F238E27FC236}">
                <a16:creationId xmlns:a16="http://schemas.microsoft.com/office/drawing/2014/main" id="{D3DDBD6B-6188-A4AB-E0DE-CDCAB82ED4F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52076" y="6348616"/>
            <a:ext cx="1330581" cy="270911"/>
          </a:xfrm>
          <a:prstGeom prst="rect">
            <a:avLst/>
          </a:prstGeom>
        </p:spPr>
      </p:pic>
      <p:sp>
        <p:nvSpPr>
          <p:cNvPr id="14" name="Espace réservé du numéro de diapositive 7">
            <a:extLst>
              <a:ext uri="{FF2B5EF4-FFF2-40B4-BE49-F238E27FC236}">
                <a16:creationId xmlns:a16="http://schemas.microsoft.com/office/drawing/2014/main" id="{E84B99AC-AA02-BA5C-E2E2-2BD6998537D7}"/>
              </a:ext>
            </a:extLst>
          </p:cNvPr>
          <p:cNvSpPr>
            <a:spLocks noGrp="1"/>
          </p:cNvSpPr>
          <p:nvPr>
            <p:ph type="sldNum" sz="quarter" idx="10"/>
          </p:nvPr>
        </p:nvSpPr>
        <p:spPr>
          <a:xfrm>
            <a:off x="9185116" y="6301508"/>
            <a:ext cx="2743200" cy="365125"/>
          </a:xfrm>
        </p:spPr>
        <p:txBody>
          <a:bodyPr/>
          <a:lstStyle/>
          <a:p>
            <a:fld id="{421B1A79-1F45-8F4F-AED5-0EE30DCF0380}" type="slidenum">
              <a:rPr lang="fr-FR" smtClean="0"/>
              <a:t>‹#›</a:t>
            </a:fld>
            <a:endParaRPr lang="fr-FR"/>
          </a:p>
        </p:txBody>
      </p:sp>
      <p:pic>
        <p:nvPicPr>
          <p:cNvPr id="5" name="Image 4">
            <a:extLst>
              <a:ext uri="{FF2B5EF4-FFF2-40B4-BE49-F238E27FC236}">
                <a16:creationId xmlns:a16="http://schemas.microsoft.com/office/drawing/2014/main" id="{DB934A03-9BEA-9735-8333-C41CE3731F57}"/>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952241" y="6146859"/>
            <a:ext cx="4274817" cy="550188"/>
          </a:xfrm>
          <a:prstGeom prst="rect">
            <a:avLst/>
          </a:prstGeom>
        </p:spPr>
      </p:pic>
    </p:spTree>
    <p:extLst>
      <p:ext uri="{BB962C8B-B14F-4D97-AF65-F5344CB8AC3E}">
        <p14:creationId xmlns:p14="http://schemas.microsoft.com/office/powerpoint/2010/main" val="82108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bg>
      <p:bgPr>
        <a:gradFill>
          <a:gsLst>
            <a:gs pos="100000">
              <a:schemeClr val="bg1"/>
            </a:gs>
            <a:gs pos="0">
              <a:srgbClr val="BCDCF1"/>
            </a:gs>
          </a:gsLst>
          <a:lin ang="2700000" scaled="0"/>
        </a:gradFill>
        <a:effectLst/>
      </p:bgPr>
    </p:bg>
    <p:spTree>
      <p:nvGrpSpPr>
        <p:cNvPr id="1" name=""/>
        <p:cNvGrpSpPr/>
        <p:nvPr/>
      </p:nvGrpSpPr>
      <p:grpSpPr>
        <a:xfrm>
          <a:off x="0" y="0"/>
          <a:ext cx="0" cy="0"/>
          <a:chOff x="0" y="0"/>
          <a:chExt cx="0" cy="0"/>
        </a:xfrm>
      </p:grpSpPr>
      <p:sp>
        <p:nvSpPr>
          <p:cNvPr id="15" name="Forme libre 14">
            <a:extLst>
              <a:ext uri="{FF2B5EF4-FFF2-40B4-BE49-F238E27FC236}">
                <a16:creationId xmlns:a16="http://schemas.microsoft.com/office/drawing/2014/main" id="{DB474C30-E7BD-90E6-143C-701D04C351B1}"/>
              </a:ext>
            </a:extLst>
          </p:cNvPr>
          <p:cNvSpPr/>
          <p:nvPr userDrawn="1"/>
        </p:nvSpPr>
        <p:spPr>
          <a:xfrm rot="16200000">
            <a:off x="881235" y="-942197"/>
            <a:ext cx="6857999" cy="8742392"/>
          </a:xfrm>
          <a:custGeom>
            <a:avLst/>
            <a:gdLst>
              <a:gd name="connsiteX0" fmla="*/ 457357 w 2315082"/>
              <a:gd name="connsiteY0" fmla="*/ 2125063 h 2951204"/>
              <a:gd name="connsiteX1" fmla="*/ 1043971 w 2315082"/>
              <a:gd name="connsiteY1" fmla="*/ 1265161 h 2951204"/>
              <a:gd name="connsiteX2" fmla="*/ 1046967 w 2315082"/>
              <a:gd name="connsiteY2" fmla="*/ 1260870 h 2951204"/>
              <a:gd name="connsiteX3" fmla="*/ 1851774 w 2315082"/>
              <a:gd name="connsiteY3" fmla="*/ 204268 h 2951204"/>
              <a:gd name="connsiteX4" fmla="*/ 2129759 w 2315082"/>
              <a:gd name="connsiteY4" fmla="*/ 0 h 2951204"/>
              <a:gd name="connsiteX5" fmla="*/ 1523836 w 2315082"/>
              <a:gd name="connsiteY5" fmla="*/ 0 h 2951204"/>
              <a:gd name="connsiteX6" fmla="*/ 719797 w 2315082"/>
              <a:gd name="connsiteY6" fmla="*/ 679883 h 2951204"/>
              <a:gd name="connsiteX7" fmla="*/ 0 w 2315082"/>
              <a:gd name="connsiteY7" fmla="*/ 1350009 h 2951204"/>
              <a:gd name="connsiteX8" fmla="*/ 0 w 2315082"/>
              <a:gd name="connsiteY8" fmla="*/ 2951205 h 2951204"/>
              <a:gd name="connsiteX9" fmla="*/ 2315082 w 2315082"/>
              <a:gd name="connsiteY9" fmla="*/ 2141985 h 2951204"/>
              <a:gd name="connsiteX10" fmla="*/ 2315082 w 2315082"/>
              <a:gd name="connsiteY10" fmla="*/ 1607753 h 2951204"/>
              <a:gd name="connsiteX11" fmla="*/ 457398 w 2315082"/>
              <a:gd name="connsiteY11" fmla="*/ 2125023 h 2951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082" h="2951204">
                <a:moveTo>
                  <a:pt x="457357" y="2125063"/>
                </a:moveTo>
                <a:cubicBezTo>
                  <a:pt x="552124" y="1984189"/>
                  <a:pt x="744815" y="1700617"/>
                  <a:pt x="1043971" y="1265161"/>
                </a:cubicBezTo>
                <a:lnTo>
                  <a:pt x="1046967" y="1260870"/>
                </a:lnTo>
                <a:cubicBezTo>
                  <a:pt x="1307423" y="881803"/>
                  <a:pt x="1553792" y="523544"/>
                  <a:pt x="1851774" y="204268"/>
                </a:cubicBezTo>
                <a:cubicBezTo>
                  <a:pt x="1933182" y="116991"/>
                  <a:pt x="2029770" y="47039"/>
                  <a:pt x="2129759" y="0"/>
                </a:cubicBezTo>
                <a:lnTo>
                  <a:pt x="1523836" y="0"/>
                </a:lnTo>
                <a:cubicBezTo>
                  <a:pt x="1308314" y="168483"/>
                  <a:pt x="1039720" y="395542"/>
                  <a:pt x="719797" y="679883"/>
                </a:cubicBezTo>
                <a:cubicBezTo>
                  <a:pt x="459098" y="911638"/>
                  <a:pt x="207305" y="1149303"/>
                  <a:pt x="0" y="1350009"/>
                </a:cubicBezTo>
                <a:lnTo>
                  <a:pt x="0" y="2951205"/>
                </a:lnTo>
                <a:cubicBezTo>
                  <a:pt x="337209" y="2809642"/>
                  <a:pt x="1197355" y="2465065"/>
                  <a:pt x="2315082" y="2141985"/>
                </a:cubicBezTo>
                <a:lnTo>
                  <a:pt x="2315082" y="1607753"/>
                </a:lnTo>
                <a:cubicBezTo>
                  <a:pt x="1885495" y="1747697"/>
                  <a:pt x="1241600" y="1940874"/>
                  <a:pt x="457398" y="2125023"/>
                </a:cubicBezTo>
                <a:close/>
              </a:path>
            </a:pathLst>
          </a:custGeom>
          <a:solidFill>
            <a:schemeClr val="bg1">
              <a:alpha val="46660"/>
            </a:schemeClr>
          </a:solidFill>
          <a:ln w="4048" cap="flat">
            <a:noFill/>
            <a:prstDash val="solid"/>
            <a:miter/>
          </a:ln>
        </p:spPr>
        <p:txBody>
          <a:bodyPr rtlCol="0" anchor="ctr"/>
          <a:lstStyle/>
          <a:p>
            <a:endParaRPr lang="fr-FR"/>
          </a:p>
        </p:txBody>
      </p:sp>
      <p:sp>
        <p:nvSpPr>
          <p:cNvPr id="2" name="Titre 1">
            <a:extLst>
              <a:ext uri="{FF2B5EF4-FFF2-40B4-BE49-F238E27FC236}">
                <a16:creationId xmlns:a16="http://schemas.microsoft.com/office/drawing/2014/main" id="{942B15DB-B2FF-2AD9-7DDE-AFEEBC749A05}"/>
              </a:ext>
            </a:extLst>
          </p:cNvPr>
          <p:cNvSpPr>
            <a:spLocks noGrp="1"/>
          </p:cNvSpPr>
          <p:nvPr>
            <p:ph type="title"/>
          </p:nvPr>
        </p:nvSpPr>
        <p:spPr>
          <a:xfrm>
            <a:off x="831850" y="1709738"/>
            <a:ext cx="10515600" cy="2852737"/>
          </a:xfrm>
        </p:spPr>
        <p:txBody>
          <a:bodyPr anchor="b"/>
          <a:lstStyle>
            <a:lvl1pPr>
              <a:defRPr sz="6000">
                <a:solidFill>
                  <a:srgbClr val="758BC5"/>
                </a:solidFill>
              </a:defRPr>
            </a:lvl1pPr>
          </a:lstStyle>
          <a:p>
            <a:r>
              <a:rPr lang="en-US"/>
              <a:t>Click to edit Master title style</a:t>
            </a:r>
            <a:endParaRPr lang="fr-FR" dirty="0"/>
          </a:p>
        </p:txBody>
      </p:sp>
      <p:sp>
        <p:nvSpPr>
          <p:cNvPr id="3" name="Espace réservé du texte 2">
            <a:extLst>
              <a:ext uri="{FF2B5EF4-FFF2-40B4-BE49-F238E27FC236}">
                <a16:creationId xmlns:a16="http://schemas.microsoft.com/office/drawing/2014/main" id="{58995AF7-062D-1EB8-027A-1C8F10E6F23C}"/>
              </a:ext>
            </a:extLst>
          </p:cNvPr>
          <p:cNvSpPr>
            <a:spLocks noGrp="1"/>
          </p:cNvSpPr>
          <p:nvPr>
            <p:ph type="body" idx="1"/>
          </p:nvPr>
        </p:nvSpPr>
        <p:spPr>
          <a:xfrm>
            <a:off x="831850" y="4589463"/>
            <a:ext cx="10515600" cy="1500187"/>
          </a:xfrm>
        </p:spPr>
        <p:txBody>
          <a:bodyPr/>
          <a:lstStyle>
            <a:lvl1pPr marL="0" indent="0">
              <a:buNone/>
              <a:defRPr sz="2400" b="0" i="1">
                <a:solidFill>
                  <a:srgbClr val="22398E"/>
                </a:solidFill>
                <a:latin typeface="Arial Nova Cond" panose="020B0506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7" name="Espace réservé du numéro de diapositive 7">
            <a:extLst>
              <a:ext uri="{FF2B5EF4-FFF2-40B4-BE49-F238E27FC236}">
                <a16:creationId xmlns:a16="http://schemas.microsoft.com/office/drawing/2014/main" id="{5B78D361-3D77-D984-4607-B9DA50955C97}"/>
              </a:ext>
            </a:extLst>
          </p:cNvPr>
          <p:cNvSpPr>
            <a:spLocks noGrp="1"/>
          </p:cNvSpPr>
          <p:nvPr>
            <p:ph type="sldNum" sz="quarter" idx="10"/>
          </p:nvPr>
        </p:nvSpPr>
        <p:spPr>
          <a:xfrm>
            <a:off x="9185116" y="6301508"/>
            <a:ext cx="2743200" cy="365125"/>
          </a:xfrm>
        </p:spPr>
        <p:txBody>
          <a:bodyPr/>
          <a:lstStyle>
            <a:lvl1pPr>
              <a:defRPr>
                <a:solidFill>
                  <a:schemeClr val="bg1"/>
                </a:solidFill>
              </a:defRPr>
            </a:lvl1pPr>
          </a:lstStyle>
          <a:p>
            <a:fld id="{421B1A79-1F45-8F4F-AED5-0EE30DCF0380}" type="slidenum">
              <a:rPr lang="fr-FR" smtClean="0"/>
              <a:pPr/>
              <a:t>‹#›</a:t>
            </a:fld>
            <a:endParaRPr lang="fr-FR"/>
          </a:p>
        </p:txBody>
      </p:sp>
      <p:pic>
        <p:nvPicPr>
          <p:cNvPr id="7" name="Graphique 6">
            <a:extLst>
              <a:ext uri="{FF2B5EF4-FFF2-40B4-BE49-F238E27FC236}">
                <a16:creationId xmlns:a16="http://schemas.microsoft.com/office/drawing/2014/main" id="{51A1667B-9499-27BC-564F-580B898B2D6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52076" y="6348616"/>
            <a:ext cx="1330581" cy="270911"/>
          </a:xfrm>
          <a:prstGeom prst="rect">
            <a:avLst/>
          </a:prstGeom>
        </p:spPr>
      </p:pic>
      <p:pic>
        <p:nvPicPr>
          <p:cNvPr id="8" name="Image 7">
            <a:extLst>
              <a:ext uri="{FF2B5EF4-FFF2-40B4-BE49-F238E27FC236}">
                <a16:creationId xmlns:a16="http://schemas.microsoft.com/office/drawing/2014/main" id="{0FB85534-8162-106E-F827-6F857C683CD1}"/>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952241" y="6146859"/>
            <a:ext cx="4274817" cy="550188"/>
          </a:xfrm>
          <a:prstGeom prst="rect">
            <a:avLst/>
          </a:prstGeom>
        </p:spPr>
      </p:pic>
    </p:spTree>
    <p:extLst>
      <p:ext uri="{BB962C8B-B14F-4D97-AF65-F5344CB8AC3E}">
        <p14:creationId xmlns:p14="http://schemas.microsoft.com/office/powerpoint/2010/main" val="2698773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re et contenu">
    <p:spTree>
      <p:nvGrpSpPr>
        <p:cNvPr id="1" name=""/>
        <p:cNvGrpSpPr/>
        <p:nvPr/>
      </p:nvGrpSpPr>
      <p:grpSpPr>
        <a:xfrm>
          <a:off x="0" y="0"/>
          <a:ext cx="0" cy="0"/>
          <a:chOff x="0" y="0"/>
          <a:chExt cx="0" cy="0"/>
        </a:xfrm>
      </p:grpSpPr>
      <p:sp>
        <p:nvSpPr>
          <p:cNvPr id="13" name="Forme libre 12">
            <a:extLst>
              <a:ext uri="{FF2B5EF4-FFF2-40B4-BE49-F238E27FC236}">
                <a16:creationId xmlns:a16="http://schemas.microsoft.com/office/drawing/2014/main" id="{7B7A42F2-EFD8-3532-7665-4DC98020AA81}"/>
              </a:ext>
            </a:extLst>
          </p:cNvPr>
          <p:cNvSpPr/>
          <p:nvPr userDrawn="1"/>
        </p:nvSpPr>
        <p:spPr>
          <a:xfrm>
            <a:off x="7573546" y="-665032"/>
            <a:ext cx="6215606" cy="7349692"/>
          </a:xfrm>
          <a:custGeom>
            <a:avLst/>
            <a:gdLst>
              <a:gd name="connsiteX0" fmla="*/ 1390897 w 2413380"/>
              <a:gd name="connsiteY0" fmla="*/ 416515 h 2853720"/>
              <a:gd name="connsiteX1" fmla="*/ 607531 w 2413380"/>
              <a:gd name="connsiteY1" fmla="*/ 752523 h 2853720"/>
              <a:gd name="connsiteX2" fmla="*/ 305194 w 2413380"/>
              <a:gd name="connsiteY2" fmla="*/ 916697 h 2853720"/>
              <a:gd name="connsiteX3" fmla="*/ 224726 w 2413380"/>
              <a:gd name="connsiteY3" fmla="*/ 970672 h 2853720"/>
              <a:gd name="connsiteX4" fmla="*/ 182349 w 2413380"/>
              <a:gd name="connsiteY4" fmla="*/ 1002759 h 2853720"/>
              <a:gd name="connsiteX5" fmla="*/ 139138 w 2413380"/>
              <a:gd name="connsiteY5" fmla="*/ 1039964 h 2853720"/>
              <a:gd name="connsiteX6" fmla="*/ 61175 w 2413380"/>
              <a:gd name="connsiteY6" fmla="*/ 1127586 h 2853720"/>
              <a:gd name="connsiteX7" fmla="*/ 9140 w 2413380"/>
              <a:gd name="connsiteY7" fmla="*/ 1237350 h 2853720"/>
              <a:gd name="connsiteX8" fmla="*/ 5726 w 2413380"/>
              <a:gd name="connsiteY8" fmla="*/ 1364320 h 2853720"/>
              <a:gd name="connsiteX9" fmla="*/ 57181 w 2413380"/>
              <a:gd name="connsiteY9" fmla="*/ 1488458 h 2853720"/>
              <a:gd name="connsiteX10" fmla="*/ 97960 w 2413380"/>
              <a:gd name="connsiteY10" fmla="*/ 1546425 h 2853720"/>
              <a:gd name="connsiteX11" fmla="*/ 121599 w 2413380"/>
              <a:gd name="connsiteY11" fmla="*/ 1574156 h 2853720"/>
              <a:gd name="connsiteX12" fmla="*/ 146073 w 2413380"/>
              <a:gd name="connsiteY12" fmla="*/ 1601125 h 2853720"/>
              <a:gd name="connsiteX13" fmla="*/ 196366 w 2413380"/>
              <a:gd name="connsiteY13" fmla="*/ 1650018 h 2853720"/>
              <a:gd name="connsiteX14" fmla="*/ 221712 w 2413380"/>
              <a:gd name="connsiteY14" fmla="*/ 1673067 h 2853720"/>
              <a:gd name="connsiteX15" fmla="*/ 247966 w 2413380"/>
              <a:gd name="connsiteY15" fmla="*/ 1695136 h 2853720"/>
              <a:gd name="connsiteX16" fmla="*/ 745300 w 2413380"/>
              <a:gd name="connsiteY16" fmla="*/ 2025699 h 2853720"/>
              <a:gd name="connsiteX17" fmla="*/ 2043394 w 2413380"/>
              <a:gd name="connsiteY17" fmla="*/ 2691107 h 2853720"/>
              <a:gd name="connsiteX18" fmla="*/ 2154946 w 2413380"/>
              <a:gd name="connsiteY18" fmla="*/ 2744792 h 2853720"/>
              <a:gd name="connsiteX19" fmla="*/ 2413381 w 2413380"/>
              <a:gd name="connsiteY19" fmla="*/ 2853721 h 2853720"/>
              <a:gd name="connsiteX20" fmla="*/ 2413381 w 2413380"/>
              <a:gd name="connsiteY20" fmla="*/ 2218766 h 2853720"/>
              <a:gd name="connsiteX21" fmla="*/ 2331642 w 2413380"/>
              <a:gd name="connsiteY21" fmla="*/ 2202541 h 2853720"/>
              <a:gd name="connsiteX22" fmla="*/ 2138641 w 2413380"/>
              <a:gd name="connsiteY22" fmla="*/ 2165989 h 2853720"/>
              <a:gd name="connsiteX23" fmla="*/ 1686916 w 2413380"/>
              <a:gd name="connsiteY23" fmla="*/ 2069728 h 2853720"/>
              <a:gd name="connsiteX24" fmla="*/ 841528 w 2413380"/>
              <a:gd name="connsiteY24" fmla="*/ 1822614 h 2853720"/>
              <a:gd name="connsiteX25" fmla="*/ 338202 w 2413380"/>
              <a:gd name="connsiteY25" fmla="*/ 1576733 h 2853720"/>
              <a:gd name="connsiteX26" fmla="*/ 312892 w 2413380"/>
              <a:gd name="connsiteY26" fmla="*/ 1559202 h 2853720"/>
              <a:gd name="connsiteX27" fmla="*/ 288999 w 2413380"/>
              <a:gd name="connsiteY27" fmla="*/ 1541016 h 2853720"/>
              <a:gd name="connsiteX28" fmla="*/ 245715 w 2413380"/>
              <a:gd name="connsiteY28" fmla="*/ 1505517 h 2853720"/>
              <a:gd name="connsiteX29" fmla="*/ 178391 w 2413380"/>
              <a:gd name="connsiteY29" fmla="*/ 1433358 h 2853720"/>
              <a:gd name="connsiteX30" fmla="*/ 135797 w 2413380"/>
              <a:gd name="connsiteY30" fmla="*/ 1349329 h 2853720"/>
              <a:gd name="connsiteX31" fmla="*/ 135398 w 2413380"/>
              <a:gd name="connsiteY31" fmla="*/ 1259819 h 2853720"/>
              <a:gd name="connsiteX32" fmla="*/ 173743 w 2413380"/>
              <a:gd name="connsiteY32" fmla="*/ 1182940 h 2853720"/>
              <a:gd name="connsiteX33" fmla="*/ 230826 w 2413380"/>
              <a:gd name="connsiteY33" fmla="*/ 1123376 h 2853720"/>
              <a:gd name="connsiteX34" fmla="*/ 262237 w 2413380"/>
              <a:gd name="connsiteY34" fmla="*/ 1098585 h 2853720"/>
              <a:gd name="connsiteX35" fmla="*/ 296733 w 2413380"/>
              <a:gd name="connsiteY35" fmla="*/ 1074882 h 2853720"/>
              <a:gd name="connsiteX36" fmla="*/ 371791 w 2413380"/>
              <a:gd name="connsiteY36" fmla="*/ 1030708 h 2853720"/>
              <a:gd name="connsiteX37" fmla="*/ 1283776 w 2413380"/>
              <a:gd name="connsiteY37" fmla="*/ 697641 h 2853720"/>
              <a:gd name="connsiteX38" fmla="*/ 2413381 w 2413380"/>
              <a:gd name="connsiteY38" fmla="*/ 379093 h 2853720"/>
              <a:gd name="connsiteX39" fmla="*/ 2413381 w 2413380"/>
              <a:gd name="connsiteY39" fmla="*/ 0 h 2853720"/>
              <a:gd name="connsiteX40" fmla="*/ 1390934 w 2413380"/>
              <a:gd name="connsiteY40" fmla="*/ 416515 h 2853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413380" h="2853720">
                <a:moveTo>
                  <a:pt x="1390897" y="416515"/>
                </a:moveTo>
                <a:cubicBezTo>
                  <a:pt x="1286572" y="457133"/>
                  <a:pt x="663016" y="725554"/>
                  <a:pt x="607531" y="752523"/>
                </a:cubicBezTo>
                <a:cubicBezTo>
                  <a:pt x="512538" y="799673"/>
                  <a:pt x="411698" y="850454"/>
                  <a:pt x="305194" y="916697"/>
                </a:cubicBezTo>
                <a:cubicBezTo>
                  <a:pt x="278650" y="933466"/>
                  <a:pt x="251742" y="951252"/>
                  <a:pt x="224726" y="970672"/>
                </a:cubicBezTo>
                <a:cubicBezTo>
                  <a:pt x="211181" y="980145"/>
                  <a:pt x="196548" y="991978"/>
                  <a:pt x="182349" y="1002759"/>
                </a:cubicBezTo>
                <a:cubicBezTo>
                  <a:pt x="168151" y="1014664"/>
                  <a:pt x="153300" y="1027042"/>
                  <a:pt x="139138" y="1039964"/>
                </a:cubicBezTo>
                <a:cubicBezTo>
                  <a:pt x="111141" y="1066352"/>
                  <a:pt x="84161" y="1094955"/>
                  <a:pt x="61175" y="1127586"/>
                </a:cubicBezTo>
                <a:cubicBezTo>
                  <a:pt x="38625" y="1160399"/>
                  <a:pt x="19852" y="1197024"/>
                  <a:pt x="9140" y="1237350"/>
                </a:cubicBezTo>
                <a:cubicBezTo>
                  <a:pt x="-1682" y="1277604"/>
                  <a:pt x="-2989" y="1321379"/>
                  <a:pt x="5726" y="1364320"/>
                </a:cubicBezTo>
                <a:cubicBezTo>
                  <a:pt x="14477" y="1407332"/>
                  <a:pt x="33033" y="1448857"/>
                  <a:pt x="57181" y="1488458"/>
                </a:cubicBezTo>
                <a:cubicBezTo>
                  <a:pt x="68873" y="1508566"/>
                  <a:pt x="83471" y="1527260"/>
                  <a:pt x="97960" y="1546425"/>
                </a:cubicBezTo>
                <a:cubicBezTo>
                  <a:pt x="105113" y="1556116"/>
                  <a:pt x="113683" y="1564791"/>
                  <a:pt x="121599" y="1574156"/>
                </a:cubicBezTo>
                <a:cubicBezTo>
                  <a:pt x="129660" y="1583231"/>
                  <a:pt x="137722" y="1593140"/>
                  <a:pt x="146073" y="1601125"/>
                </a:cubicBezTo>
                <a:cubicBezTo>
                  <a:pt x="162668" y="1617968"/>
                  <a:pt x="179844" y="1635536"/>
                  <a:pt x="196366" y="1650018"/>
                </a:cubicBezTo>
                <a:cubicBezTo>
                  <a:pt x="204754" y="1657641"/>
                  <a:pt x="213215" y="1665336"/>
                  <a:pt x="221712" y="1673067"/>
                </a:cubicBezTo>
                <a:cubicBezTo>
                  <a:pt x="230391" y="1680363"/>
                  <a:pt x="239178" y="1687732"/>
                  <a:pt x="247966" y="1695136"/>
                </a:cubicBezTo>
                <a:cubicBezTo>
                  <a:pt x="389693" y="1812486"/>
                  <a:pt x="557202" y="1916624"/>
                  <a:pt x="745300" y="2025699"/>
                </a:cubicBezTo>
                <a:cubicBezTo>
                  <a:pt x="1097566" y="2227296"/>
                  <a:pt x="1524890" y="2441053"/>
                  <a:pt x="2043394" y="2691107"/>
                </a:cubicBezTo>
                <a:cubicBezTo>
                  <a:pt x="2080142" y="2708821"/>
                  <a:pt x="2117254" y="2726679"/>
                  <a:pt x="2154946" y="2744792"/>
                </a:cubicBezTo>
                <a:cubicBezTo>
                  <a:pt x="2221833" y="2776806"/>
                  <a:pt x="2309418" y="2813648"/>
                  <a:pt x="2413381" y="2853721"/>
                </a:cubicBezTo>
                <a:lnTo>
                  <a:pt x="2413381" y="2218766"/>
                </a:lnTo>
                <a:cubicBezTo>
                  <a:pt x="2383895" y="2212487"/>
                  <a:pt x="2356588" y="2207042"/>
                  <a:pt x="2331642" y="2202541"/>
                </a:cubicBezTo>
                <a:cubicBezTo>
                  <a:pt x="2265844" y="2190490"/>
                  <a:pt x="2201680" y="2178294"/>
                  <a:pt x="2138641" y="2165989"/>
                </a:cubicBezTo>
                <a:cubicBezTo>
                  <a:pt x="1979702" y="2134955"/>
                  <a:pt x="1829151" y="2102940"/>
                  <a:pt x="1686916" y="2069728"/>
                </a:cubicBezTo>
                <a:cubicBezTo>
                  <a:pt x="1364389" y="1994374"/>
                  <a:pt x="1083876" y="1912922"/>
                  <a:pt x="841528" y="1822614"/>
                </a:cubicBezTo>
                <a:cubicBezTo>
                  <a:pt x="646676" y="1749002"/>
                  <a:pt x="475136" y="1669982"/>
                  <a:pt x="338202" y="1576733"/>
                </a:cubicBezTo>
                <a:cubicBezTo>
                  <a:pt x="329705" y="1570853"/>
                  <a:pt x="321281" y="1565009"/>
                  <a:pt x="312892" y="1559202"/>
                </a:cubicBezTo>
                <a:cubicBezTo>
                  <a:pt x="304867" y="1553104"/>
                  <a:pt x="296915" y="1547042"/>
                  <a:pt x="288999" y="1541016"/>
                </a:cubicBezTo>
                <a:cubicBezTo>
                  <a:pt x="272404" y="1528748"/>
                  <a:pt x="259259" y="1517205"/>
                  <a:pt x="245715" y="1505517"/>
                </a:cubicBezTo>
                <a:cubicBezTo>
                  <a:pt x="220114" y="1482541"/>
                  <a:pt x="197346" y="1459782"/>
                  <a:pt x="178391" y="1433358"/>
                </a:cubicBezTo>
                <a:cubicBezTo>
                  <a:pt x="159473" y="1407405"/>
                  <a:pt x="143786" y="1379311"/>
                  <a:pt x="135797" y="1349329"/>
                </a:cubicBezTo>
                <a:cubicBezTo>
                  <a:pt x="127772" y="1319419"/>
                  <a:pt x="127881" y="1288349"/>
                  <a:pt x="135398" y="1259819"/>
                </a:cubicBezTo>
                <a:cubicBezTo>
                  <a:pt x="142878" y="1231289"/>
                  <a:pt x="157076" y="1205626"/>
                  <a:pt x="173743" y="1182940"/>
                </a:cubicBezTo>
                <a:cubicBezTo>
                  <a:pt x="190810" y="1160472"/>
                  <a:pt x="210528" y="1141017"/>
                  <a:pt x="230826" y="1123376"/>
                </a:cubicBezTo>
                <a:cubicBezTo>
                  <a:pt x="241175" y="1114701"/>
                  <a:pt x="251488" y="1106715"/>
                  <a:pt x="262237" y="1098585"/>
                </a:cubicBezTo>
                <a:cubicBezTo>
                  <a:pt x="274002" y="1090635"/>
                  <a:pt x="284206" y="1082795"/>
                  <a:pt x="296733" y="1074882"/>
                </a:cubicBezTo>
                <a:cubicBezTo>
                  <a:pt x="321389" y="1058875"/>
                  <a:pt x="346554" y="1044320"/>
                  <a:pt x="371791" y="1030708"/>
                </a:cubicBezTo>
                <a:cubicBezTo>
                  <a:pt x="473284" y="976842"/>
                  <a:pt x="947160" y="797423"/>
                  <a:pt x="1283776" y="697641"/>
                </a:cubicBezTo>
                <a:cubicBezTo>
                  <a:pt x="1359632" y="673285"/>
                  <a:pt x="2089438" y="467187"/>
                  <a:pt x="2413381" y="379093"/>
                </a:cubicBezTo>
                <a:lnTo>
                  <a:pt x="2413381" y="0"/>
                </a:lnTo>
                <a:cubicBezTo>
                  <a:pt x="2046154" y="143194"/>
                  <a:pt x="1568901" y="347260"/>
                  <a:pt x="1390934" y="416515"/>
                </a:cubicBezTo>
                <a:close/>
              </a:path>
            </a:pathLst>
          </a:custGeom>
          <a:solidFill>
            <a:srgbClr val="BCDCF1">
              <a:alpha val="30000"/>
            </a:srgbClr>
          </a:solidFill>
          <a:ln w="3628" cap="flat">
            <a:noFill/>
            <a:prstDash val="solid"/>
            <a:miter/>
          </a:ln>
        </p:spPr>
        <p:txBody>
          <a:bodyPr rtlCol="0" anchor="ctr"/>
          <a:lstStyle/>
          <a:p>
            <a:endParaRPr lang="fr-FR"/>
          </a:p>
        </p:txBody>
      </p:sp>
      <p:sp>
        <p:nvSpPr>
          <p:cNvPr id="2" name="Titre 1">
            <a:extLst>
              <a:ext uri="{FF2B5EF4-FFF2-40B4-BE49-F238E27FC236}">
                <a16:creationId xmlns:a16="http://schemas.microsoft.com/office/drawing/2014/main" id="{34154920-9949-FCF9-704E-FC094A43CEDC}"/>
              </a:ext>
            </a:extLst>
          </p:cNvPr>
          <p:cNvSpPr>
            <a:spLocks noGrp="1"/>
          </p:cNvSpPr>
          <p:nvPr>
            <p:ph type="title" hasCustomPrompt="1"/>
          </p:nvPr>
        </p:nvSpPr>
        <p:spPr/>
        <p:txBody>
          <a:bodyPr anchor="t">
            <a:normAutofit/>
          </a:bodyPr>
          <a:lstStyle>
            <a:lvl1pPr>
              <a:defRPr sz="3000"/>
            </a:lvl1pPr>
          </a:lstStyle>
          <a:p>
            <a:r>
              <a:rPr lang="fr-FR" dirty="0"/>
              <a:t>MODIFIEZ LE STYLE DU TITRE</a:t>
            </a:r>
          </a:p>
        </p:txBody>
      </p:sp>
      <p:sp>
        <p:nvSpPr>
          <p:cNvPr id="3" name="Espace réservé du contenu 2">
            <a:extLst>
              <a:ext uri="{FF2B5EF4-FFF2-40B4-BE49-F238E27FC236}">
                <a16:creationId xmlns:a16="http://schemas.microsoft.com/office/drawing/2014/main" id="{31D1D466-DDE4-E96F-F16E-2F557D2A6E59}"/>
              </a:ext>
            </a:extLst>
          </p:cNvPr>
          <p:cNvSpPr>
            <a:spLocks noGrp="1"/>
          </p:cNvSpPr>
          <p:nvPr>
            <p:ph idx="1"/>
          </p:nvPr>
        </p:nvSpPr>
        <p:spPr>
          <a:xfrm>
            <a:off x="681227" y="1691513"/>
            <a:ext cx="3231325" cy="1917319"/>
          </a:xfrm>
        </p:spPr>
        <p:txBody>
          <a:bodyPr/>
          <a:lstStyle>
            <a:lvl1pPr>
              <a:defRPr sz="2400"/>
            </a:lvl1pPr>
            <a:lvl2pPr>
              <a:defRPr sz="20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dirty="0"/>
          </a:p>
        </p:txBody>
      </p:sp>
      <p:sp>
        <p:nvSpPr>
          <p:cNvPr id="14" name="Espace réservé du numéro de diapositive 7">
            <a:extLst>
              <a:ext uri="{FF2B5EF4-FFF2-40B4-BE49-F238E27FC236}">
                <a16:creationId xmlns:a16="http://schemas.microsoft.com/office/drawing/2014/main" id="{E84B99AC-AA02-BA5C-E2E2-2BD6998537D7}"/>
              </a:ext>
            </a:extLst>
          </p:cNvPr>
          <p:cNvSpPr>
            <a:spLocks noGrp="1"/>
          </p:cNvSpPr>
          <p:nvPr>
            <p:ph type="sldNum" sz="quarter" idx="10"/>
          </p:nvPr>
        </p:nvSpPr>
        <p:spPr>
          <a:xfrm>
            <a:off x="9185116" y="6301508"/>
            <a:ext cx="2743200" cy="365125"/>
          </a:xfrm>
        </p:spPr>
        <p:txBody>
          <a:bodyPr/>
          <a:lstStyle/>
          <a:p>
            <a:fld id="{421B1A79-1F45-8F4F-AED5-0EE30DCF0380}" type="slidenum">
              <a:rPr lang="fr-FR" smtClean="0"/>
              <a:t>‹#›</a:t>
            </a:fld>
            <a:endParaRPr lang="fr-FR"/>
          </a:p>
        </p:txBody>
      </p:sp>
      <p:sp>
        <p:nvSpPr>
          <p:cNvPr id="5" name="Espace réservé du contenu 4">
            <a:extLst>
              <a:ext uri="{FF2B5EF4-FFF2-40B4-BE49-F238E27FC236}">
                <a16:creationId xmlns:a16="http://schemas.microsoft.com/office/drawing/2014/main" id="{D09C727D-B712-B94C-7098-479215E4F799}"/>
              </a:ext>
            </a:extLst>
          </p:cNvPr>
          <p:cNvSpPr>
            <a:spLocks noGrp="1"/>
          </p:cNvSpPr>
          <p:nvPr>
            <p:ph sz="quarter" idx="11"/>
          </p:nvPr>
        </p:nvSpPr>
        <p:spPr>
          <a:xfrm>
            <a:off x="657223" y="3949700"/>
            <a:ext cx="3231325" cy="1792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dirty="0"/>
          </a:p>
        </p:txBody>
      </p:sp>
      <p:sp>
        <p:nvSpPr>
          <p:cNvPr id="7" name="Espace réservé du contenu 6">
            <a:extLst>
              <a:ext uri="{FF2B5EF4-FFF2-40B4-BE49-F238E27FC236}">
                <a16:creationId xmlns:a16="http://schemas.microsoft.com/office/drawing/2014/main" id="{7C7D3B94-AE84-36FA-FADA-2CFCC04CB7CE}"/>
              </a:ext>
            </a:extLst>
          </p:cNvPr>
          <p:cNvSpPr>
            <a:spLocks noGrp="1"/>
          </p:cNvSpPr>
          <p:nvPr>
            <p:ph sz="quarter" idx="12"/>
          </p:nvPr>
        </p:nvSpPr>
        <p:spPr>
          <a:xfrm>
            <a:off x="4443761" y="1691513"/>
            <a:ext cx="3231325" cy="1917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16" name="Espace réservé du contenu 15">
            <a:extLst>
              <a:ext uri="{FF2B5EF4-FFF2-40B4-BE49-F238E27FC236}">
                <a16:creationId xmlns:a16="http://schemas.microsoft.com/office/drawing/2014/main" id="{7004F46C-A404-141B-17A8-B6D556CCBDE7}"/>
              </a:ext>
            </a:extLst>
          </p:cNvPr>
          <p:cNvSpPr>
            <a:spLocks noGrp="1"/>
          </p:cNvSpPr>
          <p:nvPr>
            <p:ph sz="quarter" idx="13"/>
          </p:nvPr>
        </p:nvSpPr>
        <p:spPr>
          <a:xfrm>
            <a:off x="4443761" y="3949700"/>
            <a:ext cx="3231325" cy="1792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18" name="Espace réservé du contenu 17">
            <a:extLst>
              <a:ext uri="{FF2B5EF4-FFF2-40B4-BE49-F238E27FC236}">
                <a16:creationId xmlns:a16="http://schemas.microsoft.com/office/drawing/2014/main" id="{8EE922BB-A190-2728-D047-00A4411D6667}"/>
              </a:ext>
            </a:extLst>
          </p:cNvPr>
          <p:cNvSpPr>
            <a:spLocks noGrp="1"/>
          </p:cNvSpPr>
          <p:nvPr>
            <p:ph sz="quarter" idx="14"/>
          </p:nvPr>
        </p:nvSpPr>
        <p:spPr>
          <a:xfrm>
            <a:off x="8249126" y="1691513"/>
            <a:ext cx="3231325" cy="1917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20" name="Espace réservé du contenu 19">
            <a:extLst>
              <a:ext uri="{FF2B5EF4-FFF2-40B4-BE49-F238E27FC236}">
                <a16:creationId xmlns:a16="http://schemas.microsoft.com/office/drawing/2014/main" id="{B52B9146-EB1B-EDE0-4D4C-C4EBE3ADE6C9}"/>
              </a:ext>
            </a:extLst>
          </p:cNvPr>
          <p:cNvSpPr>
            <a:spLocks noGrp="1"/>
          </p:cNvSpPr>
          <p:nvPr>
            <p:ph sz="quarter" idx="15"/>
          </p:nvPr>
        </p:nvSpPr>
        <p:spPr>
          <a:xfrm>
            <a:off x="8249126" y="3949700"/>
            <a:ext cx="3231325" cy="1792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pic>
        <p:nvPicPr>
          <p:cNvPr id="9" name="Graphique 8">
            <a:extLst>
              <a:ext uri="{FF2B5EF4-FFF2-40B4-BE49-F238E27FC236}">
                <a16:creationId xmlns:a16="http://schemas.microsoft.com/office/drawing/2014/main" id="{71201FAF-8B3A-56F1-A4B2-08E669E1C04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52076" y="6348616"/>
            <a:ext cx="1330581" cy="270911"/>
          </a:xfrm>
          <a:prstGeom prst="rect">
            <a:avLst/>
          </a:prstGeom>
        </p:spPr>
      </p:pic>
      <p:pic>
        <p:nvPicPr>
          <p:cNvPr id="8" name="Image 7">
            <a:extLst>
              <a:ext uri="{FF2B5EF4-FFF2-40B4-BE49-F238E27FC236}">
                <a16:creationId xmlns:a16="http://schemas.microsoft.com/office/drawing/2014/main" id="{61A0D38F-42C7-14F9-3A18-EF8728E28F8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952241" y="6146859"/>
            <a:ext cx="4274817" cy="550188"/>
          </a:xfrm>
          <a:prstGeom prst="rect">
            <a:avLst/>
          </a:prstGeom>
        </p:spPr>
      </p:pic>
    </p:spTree>
    <p:extLst>
      <p:ext uri="{BB962C8B-B14F-4D97-AF65-F5344CB8AC3E}">
        <p14:creationId xmlns:p14="http://schemas.microsoft.com/office/powerpoint/2010/main" val="7637717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15" name="Forme libre 14">
            <a:extLst>
              <a:ext uri="{FF2B5EF4-FFF2-40B4-BE49-F238E27FC236}">
                <a16:creationId xmlns:a16="http://schemas.microsoft.com/office/drawing/2014/main" id="{1CDB4142-90B4-4C8E-BB29-02FF908623E5}"/>
              </a:ext>
            </a:extLst>
          </p:cNvPr>
          <p:cNvSpPr/>
          <p:nvPr userDrawn="1"/>
        </p:nvSpPr>
        <p:spPr>
          <a:xfrm>
            <a:off x="5010912" y="-1757073"/>
            <a:ext cx="7181089" cy="10148557"/>
          </a:xfrm>
          <a:custGeom>
            <a:avLst/>
            <a:gdLst>
              <a:gd name="connsiteX0" fmla="*/ 2315042 w 2315041"/>
              <a:gd name="connsiteY0" fmla="*/ 1673212 h 3271694"/>
              <a:gd name="connsiteX1" fmla="*/ 2315042 w 2315041"/>
              <a:gd name="connsiteY1" fmla="*/ 947504 h 3271694"/>
              <a:gd name="connsiteX2" fmla="*/ 1901485 w 2315041"/>
              <a:gd name="connsiteY2" fmla="*/ 1114044 h 3271694"/>
              <a:gd name="connsiteX3" fmla="*/ 1698715 w 2315041"/>
              <a:gd name="connsiteY3" fmla="*/ 0 h 3271694"/>
              <a:gd name="connsiteX4" fmla="*/ 1290138 w 2315041"/>
              <a:gd name="connsiteY4" fmla="*/ 0 h 3271694"/>
              <a:gd name="connsiteX5" fmla="*/ 1352357 w 2315041"/>
              <a:gd name="connsiteY5" fmla="*/ 142737 h 3271694"/>
              <a:gd name="connsiteX6" fmla="*/ 1419597 w 2315041"/>
              <a:gd name="connsiteY6" fmla="*/ 1296088 h 3271694"/>
              <a:gd name="connsiteX7" fmla="*/ 0 w 2315041"/>
              <a:gd name="connsiteY7" fmla="*/ 1749357 h 3271694"/>
              <a:gd name="connsiteX8" fmla="*/ 0 w 2315041"/>
              <a:gd name="connsiteY8" fmla="*/ 2290955 h 3271694"/>
              <a:gd name="connsiteX9" fmla="*/ 1390410 w 2315041"/>
              <a:gd name="connsiteY9" fmla="*/ 1877277 h 3271694"/>
              <a:gd name="connsiteX10" fmla="*/ 1268359 w 2315041"/>
              <a:gd name="connsiteY10" fmla="*/ 3271695 h 3271694"/>
              <a:gd name="connsiteX11" fmla="*/ 2163440 w 2315041"/>
              <a:gd name="connsiteY11" fmla="*/ 3271695 h 3271694"/>
              <a:gd name="connsiteX12" fmla="*/ 1985160 w 2315041"/>
              <a:gd name="connsiteY12" fmla="*/ 1737496 h 3271694"/>
              <a:gd name="connsiteX13" fmla="*/ 2315042 w 2315041"/>
              <a:gd name="connsiteY13" fmla="*/ 1673252 h 3271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15041" h="3271694">
                <a:moveTo>
                  <a:pt x="2315042" y="1673212"/>
                </a:moveTo>
                <a:lnTo>
                  <a:pt x="2315042" y="947504"/>
                </a:lnTo>
                <a:cubicBezTo>
                  <a:pt x="2192586" y="998470"/>
                  <a:pt x="2053897" y="1054699"/>
                  <a:pt x="1901485" y="1114044"/>
                </a:cubicBezTo>
                <a:cubicBezTo>
                  <a:pt x="1842747" y="728096"/>
                  <a:pt x="1769840" y="280454"/>
                  <a:pt x="1698715" y="0"/>
                </a:cubicBezTo>
                <a:lnTo>
                  <a:pt x="1290138" y="0"/>
                </a:lnTo>
                <a:cubicBezTo>
                  <a:pt x="1314264" y="39307"/>
                  <a:pt x="1335436" y="86387"/>
                  <a:pt x="1352357" y="142737"/>
                </a:cubicBezTo>
                <a:cubicBezTo>
                  <a:pt x="1457690" y="492252"/>
                  <a:pt x="1428017" y="1145093"/>
                  <a:pt x="1419597" y="1296088"/>
                </a:cubicBezTo>
                <a:cubicBezTo>
                  <a:pt x="1293457" y="1343087"/>
                  <a:pt x="775904" y="1531527"/>
                  <a:pt x="0" y="1749357"/>
                </a:cubicBezTo>
                <a:lnTo>
                  <a:pt x="0" y="2290955"/>
                </a:lnTo>
                <a:cubicBezTo>
                  <a:pt x="409549" y="2154655"/>
                  <a:pt x="879981" y="2010866"/>
                  <a:pt x="1390410" y="1877277"/>
                </a:cubicBezTo>
                <a:lnTo>
                  <a:pt x="1268359" y="3271695"/>
                </a:lnTo>
                <a:lnTo>
                  <a:pt x="2163440" y="3271695"/>
                </a:lnTo>
                <a:cubicBezTo>
                  <a:pt x="2122351" y="2884977"/>
                  <a:pt x="2052480" y="2248815"/>
                  <a:pt x="1985160" y="1737496"/>
                </a:cubicBezTo>
                <a:cubicBezTo>
                  <a:pt x="2104863" y="1713612"/>
                  <a:pt x="2214770" y="1692278"/>
                  <a:pt x="2315042" y="1673252"/>
                </a:cubicBezTo>
                <a:close/>
              </a:path>
            </a:pathLst>
          </a:custGeom>
          <a:solidFill>
            <a:srgbClr val="BCDCF1">
              <a:alpha val="30000"/>
            </a:srgbClr>
          </a:solidFill>
          <a:ln w="4048" cap="flat">
            <a:noFill/>
            <a:prstDash val="solid"/>
            <a:miter/>
          </a:ln>
        </p:spPr>
        <p:txBody>
          <a:bodyPr rtlCol="0" anchor="ctr"/>
          <a:lstStyle/>
          <a:p>
            <a:endParaRPr lang="fr-FR" dirty="0"/>
          </a:p>
        </p:txBody>
      </p:sp>
      <p:sp>
        <p:nvSpPr>
          <p:cNvPr id="2" name="Titre 1">
            <a:extLst>
              <a:ext uri="{FF2B5EF4-FFF2-40B4-BE49-F238E27FC236}">
                <a16:creationId xmlns:a16="http://schemas.microsoft.com/office/drawing/2014/main" id="{65BD135C-0101-1A72-D87E-662ACBA10566}"/>
              </a:ext>
            </a:extLst>
          </p:cNvPr>
          <p:cNvSpPr>
            <a:spLocks noGrp="1"/>
          </p:cNvSpPr>
          <p:nvPr>
            <p:ph type="title" hasCustomPrompt="1"/>
          </p:nvPr>
        </p:nvSpPr>
        <p:spPr/>
        <p:txBody>
          <a:bodyPr anchor="t"/>
          <a:lstStyle/>
          <a:p>
            <a:r>
              <a:rPr lang="fr-FR" dirty="0"/>
              <a:t>MODIFIEZ LE STYLE </a:t>
            </a:r>
            <a:br>
              <a:rPr lang="fr-FR" dirty="0"/>
            </a:br>
            <a:r>
              <a:rPr lang="fr-FR" dirty="0"/>
              <a:t>DU TITRE</a:t>
            </a:r>
          </a:p>
        </p:txBody>
      </p:sp>
      <p:sp>
        <p:nvSpPr>
          <p:cNvPr id="3" name="Espace réservé du contenu 2">
            <a:extLst>
              <a:ext uri="{FF2B5EF4-FFF2-40B4-BE49-F238E27FC236}">
                <a16:creationId xmlns:a16="http://schemas.microsoft.com/office/drawing/2014/main" id="{BFA47285-1552-385D-542B-13A644CAB9E4}"/>
              </a:ext>
            </a:extLst>
          </p:cNvPr>
          <p:cNvSpPr>
            <a:spLocks noGrp="1"/>
          </p:cNvSpPr>
          <p:nvPr>
            <p:ph sz="half" idx="1"/>
          </p:nvPr>
        </p:nvSpPr>
        <p:spPr>
          <a:xfrm>
            <a:off x="656844" y="1825625"/>
            <a:ext cx="3841998"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dirty="0"/>
          </a:p>
        </p:txBody>
      </p:sp>
      <p:sp>
        <p:nvSpPr>
          <p:cNvPr id="4" name="Espace réservé du contenu 3">
            <a:extLst>
              <a:ext uri="{FF2B5EF4-FFF2-40B4-BE49-F238E27FC236}">
                <a16:creationId xmlns:a16="http://schemas.microsoft.com/office/drawing/2014/main" id="{E3B2D614-B3C1-A49B-82A4-F0E36CD97016}"/>
              </a:ext>
            </a:extLst>
          </p:cNvPr>
          <p:cNvSpPr>
            <a:spLocks noGrp="1"/>
          </p:cNvSpPr>
          <p:nvPr>
            <p:ph sz="half" idx="2"/>
          </p:nvPr>
        </p:nvSpPr>
        <p:spPr>
          <a:xfrm>
            <a:off x="5437650" y="1316736"/>
            <a:ext cx="6062454" cy="48602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dirty="0"/>
          </a:p>
        </p:txBody>
      </p:sp>
      <p:cxnSp>
        <p:nvCxnSpPr>
          <p:cNvPr id="17" name="Connecteur droit 16">
            <a:extLst>
              <a:ext uri="{FF2B5EF4-FFF2-40B4-BE49-F238E27FC236}">
                <a16:creationId xmlns:a16="http://schemas.microsoft.com/office/drawing/2014/main" id="{96B65B4D-BA4F-553A-C02D-62A13E016A2A}"/>
              </a:ext>
            </a:extLst>
          </p:cNvPr>
          <p:cNvCxnSpPr>
            <a:cxnSpLocks/>
          </p:cNvCxnSpPr>
          <p:nvPr userDrawn="1"/>
        </p:nvCxnSpPr>
        <p:spPr>
          <a:xfrm>
            <a:off x="5010912" y="1475232"/>
            <a:ext cx="0" cy="4720299"/>
          </a:xfrm>
          <a:prstGeom prst="line">
            <a:avLst/>
          </a:prstGeom>
          <a:ln w="12700">
            <a:solidFill>
              <a:srgbClr val="BCDCF1"/>
            </a:solidFill>
          </a:ln>
        </p:spPr>
        <p:style>
          <a:lnRef idx="1">
            <a:schemeClr val="accent1"/>
          </a:lnRef>
          <a:fillRef idx="0">
            <a:schemeClr val="accent1"/>
          </a:fillRef>
          <a:effectRef idx="0">
            <a:schemeClr val="accent1"/>
          </a:effectRef>
          <a:fontRef idx="minor">
            <a:schemeClr val="tx1"/>
          </a:fontRef>
        </p:style>
      </p:cxnSp>
      <p:pic>
        <p:nvPicPr>
          <p:cNvPr id="18" name="Graphique 17">
            <a:extLst>
              <a:ext uri="{FF2B5EF4-FFF2-40B4-BE49-F238E27FC236}">
                <a16:creationId xmlns:a16="http://schemas.microsoft.com/office/drawing/2014/main" id="{7CAE346F-6A2B-5092-05A3-ACA2843D927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52076" y="6348616"/>
            <a:ext cx="1330581" cy="270911"/>
          </a:xfrm>
          <a:prstGeom prst="rect">
            <a:avLst/>
          </a:prstGeom>
        </p:spPr>
      </p:pic>
      <p:sp>
        <p:nvSpPr>
          <p:cNvPr id="19" name="Espace réservé du numéro de diapositive 7">
            <a:extLst>
              <a:ext uri="{FF2B5EF4-FFF2-40B4-BE49-F238E27FC236}">
                <a16:creationId xmlns:a16="http://schemas.microsoft.com/office/drawing/2014/main" id="{06E95967-9FA4-4CF3-E31F-8B1142D1A6E6}"/>
              </a:ext>
            </a:extLst>
          </p:cNvPr>
          <p:cNvSpPr>
            <a:spLocks noGrp="1"/>
          </p:cNvSpPr>
          <p:nvPr>
            <p:ph type="sldNum" sz="quarter" idx="10"/>
          </p:nvPr>
        </p:nvSpPr>
        <p:spPr>
          <a:xfrm>
            <a:off x="9185116" y="6301508"/>
            <a:ext cx="2743200" cy="365125"/>
          </a:xfrm>
        </p:spPr>
        <p:txBody>
          <a:bodyPr/>
          <a:lstStyle>
            <a:lvl1pPr>
              <a:defRPr>
                <a:solidFill>
                  <a:srgbClr val="032D5A"/>
                </a:solidFill>
              </a:defRPr>
            </a:lvl1pPr>
          </a:lstStyle>
          <a:p>
            <a:fld id="{421B1A79-1F45-8F4F-AED5-0EE30DCF0380}" type="slidenum">
              <a:rPr lang="fr-FR" smtClean="0"/>
              <a:pPr/>
              <a:t>‹#›</a:t>
            </a:fld>
            <a:endParaRPr lang="fr-FR" dirty="0"/>
          </a:p>
        </p:txBody>
      </p:sp>
      <p:pic>
        <p:nvPicPr>
          <p:cNvPr id="5" name="Image 4">
            <a:extLst>
              <a:ext uri="{FF2B5EF4-FFF2-40B4-BE49-F238E27FC236}">
                <a16:creationId xmlns:a16="http://schemas.microsoft.com/office/drawing/2014/main" id="{9E3FB1B7-5B9B-E7FA-F2D8-1E0534ACC5D2}"/>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952241" y="6146859"/>
            <a:ext cx="4274817" cy="550188"/>
          </a:xfrm>
          <a:prstGeom prst="rect">
            <a:avLst/>
          </a:prstGeom>
        </p:spPr>
      </p:pic>
    </p:spTree>
    <p:extLst>
      <p:ext uri="{BB962C8B-B14F-4D97-AF65-F5344CB8AC3E}">
        <p14:creationId xmlns:p14="http://schemas.microsoft.com/office/powerpoint/2010/main" val="3453114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22" name="Forme libre 21">
            <a:extLst>
              <a:ext uri="{FF2B5EF4-FFF2-40B4-BE49-F238E27FC236}">
                <a16:creationId xmlns:a16="http://schemas.microsoft.com/office/drawing/2014/main" id="{C2183F65-BB78-5561-45CA-3C3490148531}"/>
              </a:ext>
            </a:extLst>
          </p:cNvPr>
          <p:cNvSpPr/>
          <p:nvPr userDrawn="1"/>
        </p:nvSpPr>
        <p:spPr>
          <a:xfrm>
            <a:off x="5998465" y="-1868641"/>
            <a:ext cx="6193536" cy="7895352"/>
          </a:xfrm>
          <a:custGeom>
            <a:avLst/>
            <a:gdLst>
              <a:gd name="connsiteX0" fmla="*/ 457357 w 2315082"/>
              <a:gd name="connsiteY0" fmla="*/ 2125063 h 2951204"/>
              <a:gd name="connsiteX1" fmla="*/ 1043971 w 2315082"/>
              <a:gd name="connsiteY1" fmla="*/ 1265161 h 2951204"/>
              <a:gd name="connsiteX2" fmla="*/ 1046967 w 2315082"/>
              <a:gd name="connsiteY2" fmla="*/ 1260870 h 2951204"/>
              <a:gd name="connsiteX3" fmla="*/ 1851774 w 2315082"/>
              <a:gd name="connsiteY3" fmla="*/ 204268 h 2951204"/>
              <a:gd name="connsiteX4" fmla="*/ 2129759 w 2315082"/>
              <a:gd name="connsiteY4" fmla="*/ 0 h 2951204"/>
              <a:gd name="connsiteX5" fmla="*/ 1523836 w 2315082"/>
              <a:gd name="connsiteY5" fmla="*/ 0 h 2951204"/>
              <a:gd name="connsiteX6" fmla="*/ 719797 w 2315082"/>
              <a:gd name="connsiteY6" fmla="*/ 679883 h 2951204"/>
              <a:gd name="connsiteX7" fmla="*/ 0 w 2315082"/>
              <a:gd name="connsiteY7" fmla="*/ 1350009 h 2951204"/>
              <a:gd name="connsiteX8" fmla="*/ 0 w 2315082"/>
              <a:gd name="connsiteY8" fmla="*/ 2951205 h 2951204"/>
              <a:gd name="connsiteX9" fmla="*/ 2315082 w 2315082"/>
              <a:gd name="connsiteY9" fmla="*/ 2141985 h 2951204"/>
              <a:gd name="connsiteX10" fmla="*/ 2315082 w 2315082"/>
              <a:gd name="connsiteY10" fmla="*/ 1607753 h 2951204"/>
              <a:gd name="connsiteX11" fmla="*/ 457398 w 2315082"/>
              <a:gd name="connsiteY11" fmla="*/ 2125023 h 2951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082" h="2951204">
                <a:moveTo>
                  <a:pt x="457357" y="2125063"/>
                </a:moveTo>
                <a:cubicBezTo>
                  <a:pt x="552124" y="1984189"/>
                  <a:pt x="744815" y="1700617"/>
                  <a:pt x="1043971" y="1265161"/>
                </a:cubicBezTo>
                <a:lnTo>
                  <a:pt x="1046967" y="1260870"/>
                </a:lnTo>
                <a:cubicBezTo>
                  <a:pt x="1307423" y="881803"/>
                  <a:pt x="1553792" y="523544"/>
                  <a:pt x="1851774" y="204268"/>
                </a:cubicBezTo>
                <a:cubicBezTo>
                  <a:pt x="1933182" y="116991"/>
                  <a:pt x="2029770" y="47039"/>
                  <a:pt x="2129759" y="0"/>
                </a:cubicBezTo>
                <a:lnTo>
                  <a:pt x="1523836" y="0"/>
                </a:lnTo>
                <a:cubicBezTo>
                  <a:pt x="1308314" y="168483"/>
                  <a:pt x="1039720" y="395542"/>
                  <a:pt x="719797" y="679883"/>
                </a:cubicBezTo>
                <a:cubicBezTo>
                  <a:pt x="459098" y="911638"/>
                  <a:pt x="207305" y="1149303"/>
                  <a:pt x="0" y="1350009"/>
                </a:cubicBezTo>
                <a:lnTo>
                  <a:pt x="0" y="2951205"/>
                </a:lnTo>
                <a:cubicBezTo>
                  <a:pt x="337209" y="2809642"/>
                  <a:pt x="1197355" y="2465065"/>
                  <a:pt x="2315082" y="2141985"/>
                </a:cubicBezTo>
                <a:lnTo>
                  <a:pt x="2315082" y="1607753"/>
                </a:lnTo>
                <a:cubicBezTo>
                  <a:pt x="1885495" y="1747697"/>
                  <a:pt x="1241600" y="1940874"/>
                  <a:pt x="457398" y="2125023"/>
                </a:cubicBezTo>
                <a:close/>
              </a:path>
            </a:pathLst>
          </a:custGeom>
          <a:solidFill>
            <a:srgbClr val="BCDCF1">
              <a:alpha val="30000"/>
            </a:srgbClr>
          </a:solidFill>
          <a:ln w="4048" cap="flat">
            <a:noFill/>
            <a:prstDash val="solid"/>
            <a:miter/>
          </a:ln>
        </p:spPr>
        <p:txBody>
          <a:bodyPr rtlCol="0" anchor="ctr"/>
          <a:lstStyle/>
          <a:p>
            <a:endParaRPr lang="fr-FR"/>
          </a:p>
        </p:txBody>
      </p:sp>
      <p:sp>
        <p:nvSpPr>
          <p:cNvPr id="3" name="Espace réservé du texte 2">
            <a:extLst>
              <a:ext uri="{FF2B5EF4-FFF2-40B4-BE49-F238E27FC236}">
                <a16:creationId xmlns:a16="http://schemas.microsoft.com/office/drawing/2014/main" id="{4881C86A-2901-F551-7CD6-19B32114F847}"/>
              </a:ext>
            </a:extLst>
          </p:cNvPr>
          <p:cNvSpPr>
            <a:spLocks noGrp="1"/>
          </p:cNvSpPr>
          <p:nvPr>
            <p:ph type="body" idx="1"/>
          </p:nvPr>
        </p:nvSpPr>
        <p:spPr>
          <a:xfrm>
            <a:off x="65220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Espace réservé du contenu 3">
            <a:extLst>
              <a:ext uri="{FF2B5EF4-FFF2-40B4-BE49-F238E27FC236}">
                <a16:creationId xmlns:a16="http://schemas.microsoft.com/office/drawing/2014/main" id="{87C6B5F4-8C12-8F6D-BBAD-6D240238378A}"/>
              </a:ext>
            </a:extLst>
          </p:cNvPr>
          <p:cNvSpPr>
            <a:spLocks noGrp="1"/>
          </p:cNvSpPr>
          <p:nvPr>
            <p:ph sz="half" idx="2"/>
          </p:nvPr>
        </p:nvSpPr>
        <p:spPr>
          <a:xfrm>
            <a:off x="65220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dirty="0"/>
          </a:p>
        </p:txBody>
      </p:sp>
      <p:sp>
        <p:nvSpPr>
          <p:cNvPr id="5" name="Espace réservé du texte 4">
            <a:extLst>
              <a:ext uri="{FF2B5EF4-FFF2-40B4-BE49-F238E27FC236}">
                <a16:creationId xmlns:a16="http://schemas.microsoft.com/office/drawing/2014/main" id="{9D7B779E-95A3-2F7B-C851-739E72C68B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Espace réservé du contenu 5">
            <a:extLst>
              <a:ext uri="{FF2B5EF4-FFF2-40B4-BE49-F238E27FC236}">
                <a16:creationId xmlns:a16="http://schemas.microsoft.com/office/drawing/2014/main" id="{5D8DCD14-AEAD-C7FC-C8BD-18DEB5D985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17" name="Titre 1">
            <a:extLst>
              <a:ext uri="{FF2B5EF4-FFF2-40B4-BE49-F238E27FC236}">
                <a16:creationId xmlns:a16="http://schemas.microsoft.com/office/drawing/2014/main" id="{29B85A54-2849-A9C7-EE9E-6BAF98C83650}"/>
              </a:ext>
            </a:extLst>
          </p:cNvPr>
          <p:cNvSpPr>
            <a:spLocks noGrp="1"/>
          </p:cNvSpPr>
          <p:nvPr>
            <p:ph type="title" hasCustomPrompt="1"/>
          </p:nvPr>
        </p:nvSpPr>
        <p:spPr>
          <a:xfrm>
            <a:off x="656844" y="487045"/>
            <a:ext cx="10829544" cy="1460500"/>
          </a:xfrm>
        </p:spPr>
        <p:txBody>
          <a:bodyPr anchor="t"/>
          <a:lstStyle/>
          <a:p>
            <a:r>
              <a:rPr lang="fr-FR" dirty="0"/>
              <a:t>MODIFIEZ LE STYLE DU TITRE</a:t>
            </a:r>
          </a:p>
        </p:txBody>
      </p:sp>
      <p:sp>
        <p:nvSpPr>
          <p:cNvPr id="19" name="Espace réservé du numéro de diapositive 7">
            <a:extLst>
              <a:ext uri="{FF2B5EF4-FFF2-40B4-BE49-F238E27FC236}">
                <a16:creationId xmlns:a16="http://schemas.microsoft.com/office/drawing/2014/main" id="{6393D292-054C-2F16-E5A0-A5CA3900BE40}"/>
              </a:ext>
            </a:extLst>
          </p:cNvPr>
          <p:cNvSpPr>
            <a:spLocks noGrp="1"/>
          </p:cNvSpPr>
          <p:nvPr>
            <p:ph type="sldNum" sz="quarter" idx="10"/>
          </p:nvPr>
        </p:nvSpPr>
        <p:spPr>
          <a:xfrm>
            <a:off x="9185116" y="6301508"/>
            <a:ext cx="2743200" cy="365125"/>
          </a:xfrm>
        </p:spPr>
        <p:txBody>
          <a:bodyPr/>
          <a:lstStyle/>
          <a:p>
            <a:fld id="{421B1A79-1F45-8F4F-AED5-0EE30DCF0380}" type="slidenum">
              <a:rPr lang="fr-FR" smtClean="0"/>
              <a:t>‹#›</a:t>
            </a:fld>
            <a:endParaRPr lang="fr-FR"/>
          </a:p>
        </p:txBody>
      </p:sp>
      <p:cxnSp>
        <p:nvCxnSpPr>
          <p:cNvPr id="25" name="Connecteur droit 24">
            <a:extLst>
              <a:ext uri="{FF2B5EF4-FFF2-40B4-BE49-F238E27FC236}">
                <a16:creationId xmlns:a16="http://schemas.microsoft.com/office/drawing/2014/main" id="{B0F99DD8-9ED9-7755-2CD2-9EB36037EEB1}"/>
              </a:ext>
            </a:extLst>
          </p:cNvPr>
          <p:cNvCxnSpPr>
            <a:cxnSpLocks/>
          </p:cNvCxnSpPr>
          <p:nvPr userDrawn="1"/>
        </p:nvCxnSpPr>
        <p:spPr>
          <a:xfrm>
            <a:off x="5998465" y="1518132"/>
            <a:ext cx="0" cy="4720299"/>
          </a:xfrm>
          <a:prstGeom prst="line">
            <a:avLst/>
          </a:prstGeom>
          <a:ln w="12700">
            <a:solidFill>
              <a:srgbClr val="BCDCF1"/>
            </a:solidFill>
          </a:ln>
        </p:spPr>
        <p:style>
          <a:lnRef idx="1">
            <a:schemeClr val="accent1"/>
          </a:lnRef>
          <a:fillRef idx="0">
            <a:schemeClr val="accent1"/>
          </a:fillRef>
          <a:effectRef idx="0">
            <a:schemeClr val="accent1"/>
          </a:effectRef>
          <a:fontRef idx="minor">
            <a:schemeClr val="tx1"/>
          </a:fontRef>
        </p:style>
      </p:cxnSp>
      <p:pic>
        <p:nvPicPr>
          <p:cNvPr id="9" name="Graphique 8">
            <a:extLst>
              <a:ext uri="{FF2B5EF4-FFF2-40B4-BE49-F238E27FC236}">
                <a16:creationId xmlns:a16="http://schemas.microsoft.com/office/drawing/2014/main" id="{B41A8859-4045-E6AD-2F38-6F1D6225107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52076" y="6348616"/>
            <a:ext cx="1330581" cy="270911"/>
          </a:xfrm>
          <a:prstGeom prst="rect">
            <a:avLst/>
          </a:prstGeom>
        </p:spPr>
      </p:pic>
      <p:pic>
        <p:nvPicPr>
          <p:cNvPr id="10" name="Image 9">
            <a:extLst>
              <a:ext uri="{FF2B5EF4-FFF2-40B4-BE49-F238E27FC236}">
                <a16:creationId xmlns:a16="http://schemas.microsoft.com/office/drawing/2014/main" id="{4F7BA188-422D-5BC2-959F-9125E3687085}"/>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952241" y="6146859"/>
            <a:ext cx="4274817" cy="550188"/>
          </a:xfrm>
          <a:prstGeom prst="rect">
            <a:avLst/>
          </a:prstGeom>
        </p:spPr>
      </p:pic>
    </p:spTree>
    <p:extLst>
      <p:ext uri="{BB962C8B-B14F-4D97-AF65-F5344CB8AC3E}">
        <p14:creationId xmlns:p14="http://schemas.microsoft.com/office/powerpoint/2010/main" val="2326874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14" name="Graphique 29">
            <a:extLst>
              <a:ext uri="{FF2B5EF4-FFF2-40B4-BE49-F238E27FC236}">
                <a16:creationId xmlns:a16="http://schemas.microsoft.com/office/drawing/2014/main" id="{7BB8904F-A3B1-6CB7-032E-AB2277BA290A}"/>
              </a:ext>
            </a:extLst>
          </p:cNvPr>
          <p:cNvSpPr/>
          <p:nvPr userDrawn="1"/>
        </p:nvSpPr>
        <p:spPr>
          <a:xfrm>
            <a:off x="-3322669" y="523621"/>
            <a:ext cx="5216782" cy="6370956"/>
          </a:xfrm>
          <a:custGeom>
            <a:avLst/>
            <a:gdLst>
              <a:gd name="connsiteX0" fmla="*/ 3641377 w 3685056"/>
              <a:gd name="connsiteY0" fmla="*/ 502156 h 4500347"/>
              <a:gd name="connsiteX1" fmla="*/ 3485068 w 3685056"/>
              <a:gd name="connsiteY1" fmla="*/ 267241 h 4500347"/>
              <a:gd name="connsiteX2" fmla="*/ 1912951 w 3685056"/>
              <a:gd name="connsiteY2" fmla="*/ 40437 h 4500347"/>
              <a:gd name="connsiteX3" fmla="*/ 0 w 3685056"/>
              <a:gd name="connsiteY3" fmla="*/ 300905 h 4500347"/>
              <a:gd name="connsiteX4" fmla="*/ 0 w 3685056"/>
              <a:gd name="connsiteY4" fmla="*/ 1274412 h 4500347"/>
              <a:gd name="connsiteX5" fmla="*/ 1858654 w 3685056"/>
              <a:gd name="connsiteY5" fmla="*/ 556494 h 4500347"/>
              <a:gd name="connsiteX6" fmla="*/ 3161174 w 3685056"/>
              <a:gd name="connsiteY6" fmla="*/ 585584 h 4500347"/>
              <a:gd name="connsiteX7" fmla="*/ 2778657 w 3685056"/>
              <a:gd name="connsiteY7" fmla="*/ 1898779 h 4500347"/>
              <a:gd name="connsiteX8" fmla="*/ 740171 w 3685056"/>
              <a:gd name="connsiteY8" fmla="*/ 4500348 h 4500347"/>
              <a:gd name="connsiteX9" fmla="*/ 2033185 w 3685056"/>
              <a:gd name="connsiteY9" fmla="*/ 4500348 h 4500347"/>
              <a:gd name="connsiteX10" fmla="*/ 2730149 w 3685056"/>
              <a:gd name="connsiteY10" fmla="*/ 3167028 h 4500347"/>
              <a:gd name="connsiteX11" fmla="*/ 3485129 w 3685056"/>
              <a:gd name="connsiteY11" fmla="*/ 1567507 h 4500347"/>
              <a:gd name="connsiteX12" fmla="*/ 3641438 w 3685056"/>
              <a:gd name="connsiteY12" fmla="*/ 502278 h 4500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85056" h="4500347">
                <a:moveTo>
                  <a:pt x="3641377" y="502156"/>
                </a:moveTo>
                <a:cubicBezTo>
                  <a:pt x="3598842" y="408239"/>
                  <a:pt x="3546494" y="330849"/>
                  <a:pt x="3485068" y="267241"/>
                </a:cubicBezTo>
                <a:cubicBezTo>
                  <a:pt x="3171595" y="-57261"/>
                  <a:pt x="2620336" y="-19938"/>
                  <a:pt x="1912951" y="40437"/>
                </a:cubicBezTo>
                <a:cubicBezTo>
                  <a:pt x="1067050" y="112582"/>
                  <a:pt x="0" y="300905"/>
                  <a:pt x="0" y="300905"/>
                </a:cubicBezTo>
                <a:lnTo>
                  <a:pt x="0" y="1274412"/>
                </a:lnTo>
                <a:cubicBezTo>
                  <a:pt x="0" y="1274412"/>
                  <a:pt x="1204956" y="769698"/>
                  <a:pt x="1858654" y="556494"/>
                </a:cubicBezTo>
                <a:cubicBezTo>
                  <a:pt x="2512352" y="343290"/>
                  <a:pt x="2927654" y="276267"/>
                  <a:pt x="3161174" y="585584"/>
                </a:cubicBezTo>
                <a:cubicBezTo>
                  <a:pt x="3421508" y="930455"/>
                  <a:pt x="2986887" y="1593487"/>
                  <a:pt x="2778657" y="1898779"/>
                </a:cubicBezTo>
                <a:cubicBezTo>
                  <a:pt x="2570427" y="2204071"/>
                  <a:pt x="2098695" y="2843562"/>
                  <a:pt x="740171" y="4500348"/>
                </a:cubicBezTo>
                <a:lnTo>
                  <a:pt x="2033185" y="4500348"/>
                </a:lnTo>
                <a:cubicBezTo>
                  <a:pt x="2033185" y="4500348"/>
                  <a:pt x="2463844" y="3709796"/>
                  <a:pt x="2730149" y="3167028"/>
                </a:cubicBezTo>
                <a:cubicBezTo>
                  <a:pt x="2930457" y="2758732"/>
                  <a:pt x="3269586" y="2131316"/>
                  <a:pt x="3485129" y="1567507"/>
                </a:cubicBezTo>
                <a:cubicBezTo>
                  <a:pt x="3652286" y="1130243"/>
                  <a:pt x="3745157" y="731217"/>
                  <a:pt x="3641438" y="502278"/>
                </a:cubicBezTo>
                <a:close/>
              </a:path>
            </a:pathLst>
          </a:custGeom>
          <a:solidFill>
            <a:srgbClr val="BCDCF1">
              <a:alpha val="30000"/>
            </a:srgbClr>
          </a:solidFill>
          <a:ln w="6093" cap="flat">
            <a:noFill/>
            <a:prstDash val="solid"/>
            <a:miter/>
          </a:ln>
        </p:spPr>
        <p:txBody>
          <a:bodyPr rtlCol="0" anchor="ctr"/>
          <a:lstStyle/>
          <a:p>
            <a:endParaRPr lang="fr-FR">
              <a:solidFill>
                <a:schemeClr val="accent2"/>
              </a:solidFill>
            </a:endParaRPr>
          </a:p>
        </p:txBody>
      </p:sp>
      <p:sp>
        <p:nvSpPr>
          <p:cNvPr id="15" name="Titre 1">
            <a:extLst>
              <a:ext uri="{FF2B5EF4-FFF2-40B4-BE49-F238E27FC236}">
                <a16:creationId xmlns:a16="http://schemas.microsoft.com/office/drawing/2014/main" id="{BB53E869-3755-AB1B-C893-E9081BFD2553}"/>
              </a:ext>
            </a:extLst>
          </p:cNvPr>
          <p:cNvSpPr>
            <a:spLocks noGrp="1"/>
          </p:cNvSpPr>
          <p:nvPr>
            <p:ph type="title" hasCustomPrompt="1"/>
          </p:nvPr>
        </p:nvSpPr>
        <p:spPr>
          <a:xfrm>
            <a:off x="656844" y="487045"/>
            <a:ext cx="10829544" cy="1460500"/>
          </a:xfrm>
        </p:spPr>
        <p:txBody>
          <a:bodyPr anchor="t"/>
          <a:lstStyle/>
          <a:p>
            <a:r>
              <a:rPr lang="fr-FR" dirty="0"/>
              <a:t>MODIFIEZ LE STYLE DU TITRE</a:t>
            </a:r>
          </a:p>
        </p:txBody>
      </p:sp>
      <p:sp>
        <p:nvSpPr>
          <p:cNvPr id="17" name="Espace réservé du numéro de diapositive 7">
            <a:extLst>
              <a:ext uri="{FF2B5EF4-FFF2-40B4-BE49-F238E27FC236}">
                <a16:creationId xmlns:a16="http://schemas.microsoft.com/office/drawing/2014/main" id="{8E6E5DCA-3A3F-DC3E-31A2-8793C19EE84E}"/>
              </a:ext>
            </a:extLst>
          </p:cNvPr>
          <p:cNvSpPr>
            <a:spLocks noGrp="1"/>
          </p:cNvSpPr>
          <p:nvPr>
            <p:ph type="sldNum" sz="quarter" idx="10"/>
          </p:nvPr>
        </p:nvSpPr>
        <p:spPr>
          <a:xfrm>
            <a:off x="9185116" y="6301508"/>
            <a:ext cx="2743200" cy="365125"/>
          </a:xfrm>
        </p:spPr>
        <p:txBody>
          <a:bodyPr/>
          <a:lstStyle/>
          <a:p>
            <a:fld id="{421B1A79-1F45-8F4F-AED5-0EE30DCF0380}" type="slidenum">
              <a:rPr lang="fr-FR" smtClean="0"/>
              <a:t>‹#›</a:t>
            </a:fld>
            <a:endParaRPr lang="fr-FR"/>
          </a:p>
        </p:txBody>
      </p:sp>
      <p:pic>
        <p:nvPicPr>
          <p:cNvPr id="5" name="Graphique 4">
            <a:extLst>
              <a:ext uri="{FF2B5EF4-FFF2-40B4-BE49-F238E27FC236}">
                <a16:creationId xmlns:a16="http://schemas.microsoft.com/office/drawing/2014/main" id="{F9ACC368-4F6F-5E4E-82C6-3C4161401CB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52076" y="6348616"/>
            <a:ext cx="1330581" cy="270911"/>
          </a:xfrm>
          <a:prstGeom prst="rect">
            <a:avLst/>
          </a:prstGeom>
        </p:spPr>
      </p:pic>
      <p:pic>
        <p:nvPicPr>
          <p:cNvPr id="7" name="Image 6">
            <a:extLst>
              <a:ext uri="{FF2B5EF4-FFF2-40B4-BE49-F238E27FC236}">
                <a16:creationId xmlns:a16="http://schemas.microsoft.com/office/drawing/2014/main" id="{FA428B8E-D1C9-ED45-E952-6DA238054AEA}"/>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952241" y="6146859"/>
            <a:ext cx="4274817" cy="550188"/>
          </a:xfrm>
          <a:prstGeom prst="rect">
            <a:avLst/>
          </a:prstGeom>
        </p:spPr>
      </p:pic>
    </p:spTree>
    <p:extLst>
      <p:ext uri="{BB962C8B-B14F-4D97-AF65-F5344CB8AC3E}">
        <p14:creationId xmlns:p14="http://schemas.microsoft.com/office/powerpoint/2010/main" val="2972380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13" name="Espace réservé du numéro de diapositive 7">
            <a:extLst>
              <a:ext uri="{FF2B5EF4-FFF2-40B4-BE49-F238E27FC236}">
                <a16:creationId xmlns:a16="http://schemas.microsoft.com/office/drawing/2014/main" id="{932803DF-73DD-8B31-C8A0-6749634F5717}"/>
              </a:ext>
            </a:extLst>
          </p:cNvPr>
          <p:cNvSpPr>
            <a:spLocks noGrp="1"/>
          </p:cNvSpPr>
          <p:nvPr>
            <p:ph type="sldNum" sz="quarter" idx="10"/>
          </p:nvPr>
        </p:nvSpPr>
        <p:spPr>
          <a:xfrm>
            <a:off x="9185116" y="6301508"/>
            <a:ext cx="2743200" cy="365125"/>
          </a:xfrm>
        </p:spPr>
        <p:txBody>
          <a:bodyPr/>
          <a:lstStyle/>
          <a:p>
            <a:fld id="{421B1A79-1F45-8F4F-AED5-0EE30DCF0380}" type="slidenum">
              <a:rPr lang="fr-FR" smtClean="0"/>
              <a:t>‹#›</a:t>
            </a:fld>
            <a:endParaRPr lang="fr-FR"/>
          </a:p>
        </p:txBody>
      </p:sp>
      <p:pic>
        <p:nvPicPr>
          <p:cNvPr id="5" name="Graphique 4">
            <a:extLst>
              <a:ext uri="{FF2B5EF4-FFF2-40B4-BE49-F238E27FC236}">
                <a16:creationId xmlns:a16="http://schemas.microsoft.com/office/drawing/2014/main" id="{7451F763-5552-C0BC-7799-A91248C94B1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52076" y="6348616"/>
            <a:ext cx="1330581" cy="270911"/>
          </a:xfrm>
          <a:prstGeom prst="rect">
            <a:avLst/>
          </a:prstGeom>
        </p:spPr>
      </p:pic>
      <p:pic>
        <p:nvPicPr>
          <p:cNvPr id="6" name="Image 5">
            <a:extLst>
              <a:ext uri="{FF2B5EF4-FFF2-40B4-BE49-F238E27FC236}">
                <a16:creationId xmlns:a16="http://schemas.microsoft.com/office/drawing/2014/main" id="{BDCB2B8D-6E2A-B2CC-2793-DD19B3B519D0}"/>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952241" y="6146859"/>
            <a:ext cx="4274817" cy="550188"/>
          </a:xfrm>
          <a:prstGeom prst="rect">
            <a:avLst/>
          </a:prstGeom>
        </p:spPr>
      </p:pic>
    </p:spTree>
    <p:extLst>
      <p:ext uri="{BB962C8B-B14F-4D97-AF65-F5344CB8AC3E}">
        <p14:creationId xmlns:p14="http://schemas.microsoft.com/office/powerpoint/2010/main" val="1687899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17" name="Graphique 29">
            <a:extLst>
              <a:ext uri="{FF2B5EF4-FFF2-40B4-BE49-F238E27FC236}">
                <a16:creationId xmlns:a16="http://schemas.microsoft.com/office/drawing/2014/main" id="{1DAB2724-EF92-2157-9F53-520C2E74688F}"/>
              </a:ext>
            </a:extLst>
          </p:cNvPr>
          <p:cNvSpPr/>
          <p:nvPr userDrawn="1"/>
        </p:nvSpPr>
        <p:spPr>
          <a:xfrm rot="15300000" flipH="1">
            <a:off x="3262162" y="-2441458"/>
            <a:ext cx="5397791" cy="6592012"/>
          </a:xfrm>
          <a:custGeom>
            <a:avLst/>
            <a:gdLst>
              <a:gd name="connsiteX0" fmla="*/ 3641377 w 3685056"/>
              <a:gd name="connsiteY0" fmla="*/ 502156 h 4500347"/>
              <a:gd name="connsiteX1" fmla="*/ 3485068 w 3685056"/>
              <a:gd name="connsiteY1" fmla="*/ 267241 h 4500347"/>
              <a:gd name="connsiteX2" fmla="*/ 1912951 w 3685056"/>
              <a:gd name="connsiteY2" fmla="*/ 40437 h 4500347"/>
              <a:gd name="connsiteX3" fmla="*/ 0 w 3685056"/>
              <a:gd name="connsiteY3" fmla="*/ 300905 h 4500347"/>
              <a:gd name="connsiteX4" fmla="*/ 0 w 3685056"/>
              <a:gd name="connsiteY4" fmla="*/ 1274412 h 4500347"/>
              <a:gd name="connsiteX5" fmla="*/ 1858654 w 3685056"/>
              <a:gd name="connsiteY5" fmla="*/ 556494 h 4500347"/>
              <a:gd name="connsiteX6" fmla="*/ 3161174 w 3685056"/>
              <a:gd name="connsiteY6" fmla="*/ 585584 h 4500347"/>
              <a:gd name="connsiteX7" fmla="*/ 2778657 w 3685056"/>
              <a:gd name="connsiteY7" fmla="*/ 1898779 h 4500347"/>
              <a:gd name="connsiteX8" fmla="*/ 740171 w 3685056"/>
              <a:gd name="connsiteY8" fmla="*/ 4500348 h 4500347"/>
              <a:gd name="connsiteX9" fmla="*/ 2033185 w 3685056"/>
              <a:gd name="connsiteY9" fmla="*/ 4500348 h 4500347"/>
              <a:gd name="connsiteX10" fmla="*/ 2730149 w 3685056"/>
              <a:gd name="connsiteY10" fmla="*/ 3167028 h 4500347"/>
              <a:gd name="connsiteX11" fmla="*/ 3485129 w 3685056"/>
              <a:gd name="connsiteY11" fmla="*/ 1567507 h 4500347"/>
              <a:gd name="connsiteX12" fmla="*/ 3641438 w 3685056"/>
              <a:gd name="connsiteY12" fmla="*/ 502278 h 4500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85056" h="4500347">
                <a:moveTo>
                  <a:pt x="3641377" y="502156"/>
                </a:moveTo>
                <a:cubicBezTo>
                  <a:pt x="3598842" y="408239"/>
                  <a:pt x="3546494" y="330849"/>
                  <a:pt x="3485068" y="267241"/>
                </a:cubicBezTo>
                <a:cubicBezTo>
                  <a:pt x="3171595" y="-57261"/>
                  <a:pt x="2620336" y="-19938"/>
                  <a:pt x="1912951" y="40437"/>
                </a:cubicBezTo>
                <a:cubicBezTo>
                  <a:pt x="1067050" y="112582"/>
                  <a:pt x="0" y="300905"/>
                  <a:pt x="0" y="300905"/>
                </a:cubicBezTo>
                <a:lnTo>
                  <a:pt x="0" y="1274412"/>
                </a:lnTo>
                <a:cubicBezTo>
                  <a:pt x="0" y="1274412"/>
                  <a:pt x="1204956" y="769698"/>
                  <a:pt x="1858654" y="556494"/>
                </a:cubicBezTo>
                <a:cubicBezTo>
                  <a:pt x="2512352" y="343290"/>
                  <a:pt x="2927654" y="276267"/>
                  <a:pt x="3161174" y="585584"/>
                </a:cubicBezTo>
                <a:cubicBezTo>
                  <a:pt x="3421508" y="930455"/>
                  <a:pt x="2986887" y="1593487"/>
                  <a:pt x="2778657" y="1898779"/>
                </a:cubicBezTo>
                <a:cubicBezTo>
                  <a:pt x="2570427" y="2204071"/>
                  <a:pt x="2098695" y="2843562"/>
                  <a:pt x="740171" y="4500348"/>
                </a:cubicBezTo>
                <a:lnTo>
                  <a:pt x="2033185" y="4500348"/>
                </a:lnTo>
                <a:cubicBezTo>
                  <a:pt x="2033185" y="4500348"/>
                  <a:pt x="2463844" y="3709796"/>
                  <a:pt x="2730149" y="3167028"/>
                </a:cubicBezTo>
                <a:cubicBezTo>
                  <a:pt x="2930457" y="2758732"/>
                  <a:pt x="3269586" y="2131316"/>
                  <a:pt x="3485129" y="1567507"/>
                </a:cubicBezTo>
                <a:cubicBezTo>
                  <a:pt x="3652286" y="1130243"/>
                  <a:pt x="3745157" y="731217"/>
                  <a:pt x="3641438" y="502278"/>
                </a:cubicBezTo>
                <a:close/>
              </a:path>
            </a:pathLst>
          </a:custGeom>
          <a:solidFill>
            <a:srgbClr val="BCDCF1">
              <a:alpha val="30000"/>
            </a:srgbClr>
          </a:solidFill>
          <a:ln w="6093" cap="flat">
            <a:noFill/>
            <a:prstDash val="solid"/>
            <a:miter/>
          </a:ln>
        </p:spPr>
        <p:txBody>
          <a:bodyPr rtlCol="0" anchor="ctr"/>
          <a:lstStyle/>
          <a:p>
            <a:endParaRPr lang="fr-FR">
              <a:solidFill>
                <a:schemeClr val="accent2"/>
              </a:solidFill>
            </a:endParaRPr>
          </a:p>
        </p:txBody>
      </p:sp>
      <p:sp>
        <p:nvSpPr>
          <p:cNvPr id="2" name="Titre 1">
            <a:extLst>
              <a:ext uri="{FF2B5EF4-FFF2-40B4-BE49-F238E27FC236}">
                <a16:creationId xmlns:a16="http://schemas.microsoft.com/office/drawing/2014/main" id="{F81A5620-4B18-A7A7-65B8-9660CE18C350}"/>
              </a:ext>
            </a:extLst>
          </p:cNvPr>
          <p:cNvSpPr>
            <a:spLocks noGrp="1"/>
          </p:cNvSpPr>
          <p:nvPr>
            <p:ph type="title" hasCustomPrompt="1"/>
          </p:nvPr>
        </p:nvSpPr>
        <p:spPr>
          <a:xfrm>
            <a:off x="839788" y="457200"/>
            <a:ext cx="3932237" cy="1600200"/>
          </a:xfrm>
        </p:spPr>
        <p:txBody>
          <a:bodyPr anchor="b"/>
          <a:lstStyle>
            <a:lvl1pPr>
              <a:defRPr sz="3200"/>
            </a:lvl1pPr>
          </a:lstStyle>
          <a:p>
            <a:r>
              <a:rPr lang="fr-FR" dirty="0"/>
              <a:t>MODIFIEZ LE STYLE DU TITRE</a:t>
            </a:r>
          </a:p>
        </p:txBody>
      </p:sp>
      <p:sp>
        <p:nvSpPr>
          <p:cNvPr id="3" name="Espace réservé du contenu 2">
            <a:extLst>
              <a:ext uri="{FF2B5EF4-FFF2-40B4-BE49-F238E27FC236}">
                <a16:creationId xmlns:a16="http://schemas.microsoft.com/office/drawing/2014/main" id="{4980671E-5FBA-456A-BD86-077C73A8A4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Espace réservé du texte 3">
            <a:extLst>
              <a:ext uri="{FF2B5EF4-FFF2-40B4-BE49-F238E27FC236}">
                <a16:creationId xmlns:a16="http://schemas.microsoft.com/office/drawing/2014/main" id="{001E913D-2339-1BF0-973F-7E73DC866A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6" name="Espace réservé du numéro de diapositive 7">
            <a:extLst>
              <a:ext uri="{FF2B5EF4-FFF2-40B4-BE49-F238E27FC236}">
                <a16:creationId xmlns:a16="http://schemas.microsoft.com/office/drawing/2014/main" id="{C2955E95-FDA1-08D1-782B-FCF911A5C811}"/>
              </a:ext>
            </a:extLst>
          </p:cNvPr>
          <p:cNvSpPr>
            <a:spLocks noGrp="1"/>
          </p:cNvSpPr>
          <p:nvPr>
            <p:ph type="sldNum" sz="quarter" idx="10"/>
          </p:nvPr>
        </p:nvSpPr>
        <p:spPr>
          <a:xfrm>
            <a:off x="9185116" y="6301508"/>
            <a:ext cx="2743200" cy="365125"/>
          </a:xfrm>
        </p:spPr>
        <p:txBody>
          <a:bodyPr/>
          <a:lstStyle/>
          <a:p>
            <a:fld id="{421B1A79-1F45-8F4F-AED5-0EE30DCF0380}" type="slidenum">
              <a:rPr lang="fr-FR" smtClean="0"/>
              <a:t>‹#›</a:t>
            </a:fld>
            <a:endParaRPr lang="fr-FR"/>
          </a:p>
        </p:txBody>
      </p:sp>
      <p:pic>
        <p:nvPicPr>
          <p:cNvPr id="8" name="Graphique 7">
            <a:extLst>
              <a:ext uri="{FF2B5EF4-FFF2-40B4-BE49-F238E27FC236}">
                <a16:creationId xmlns:a16="http://schemas.microsoft.com/office/drawing/2014/main" id="{E2CD9B4C-5392-CBFF-4812-FAB31667780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52076" y="6348616"/>
            <a:ext cx="1330581" cy="270911"/>
          </a:xfrm>
          <a:prstGeom prst="rect">
            <a:avLst/>
          </a:prstGeom>
        </p:spPr>
      </p:pic>
      <p:pic>
        <p:nvPicPr>
          <p:cNvPr id="9" name="Image 8">
            <a:extLst>
              <a:ext uri="{FF2B5EF4-FFF2-40B4-BE49-F238E27FC236}">
                <a16:creationId xmlns:a16="http://schemas.microsoft.com/office/drawing/2014/main" id="{F7F6906B-0649-D5DA-E5F5-ADC0C65D68E4}"/>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952241" y="6146859"/>
            <a:ext cx="4274817" cy="550188"/>
          </a:xfrm>
          <a:prstGeom prst="rect">
            <a:avLst/>
          </a:prstGeom>
        </p:spPr>
      </p:pic>
    </p:spTree>
    <p:extLst>
      <p:ext uri="{BB962C8B-B14F-4D97-AF65-F5344CB8AC3E}">
        <p14:creationId xmlns:p14="http://schemas.microsoft.com/office/powerpoint/2010/main" val="2597892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1DC1B5-5E30-A04E-A86A-13F78DE07F7D}"/>
              </a:ext>
            </a:extLst>
          </p:cNvPr>
          <p:cNvSpPr>
            <a:spLocks noGrp="1"/>
          </p:cNvSpPr>
          <p:nvPr>
            <p:ph type="title" hasCustomPrompt="1"/>
          </p:nvPr>
        </p:nvSpPr>
        <p:spPr>
          <a:xfrm>
            <a:off x="839788" y="457200"/>
            <a:ext cx="3932237" cy="1600200"/>
          </a:xfrm>
        </p:spPr>
        <p:txBody>
          <a:bodyPr anchor="t"/>
          <a:lstStyle>
            <a:lvl1pPr>
              <a:defRPr sz="3200"/>
            </a:lvl1pPr>
          </a:lstStyle>
          <a:p>
            <a:r>
              <a:rPr lang="fr-FR" dirty="0"/>
              <a:t>MODIFIEZ LE STYLE DU TITRE</a:t>
            </a:r>
          </a:p>
        </p:txBody>
      </p:sp>
      <p:sp>
        <p:nvSpPr>
          <p:cNvPr id="3" name="Espace réservé pour une image  2">
            <a:extLst>
              <a:ext uri="{FF2B5EF4-FFF2-40B4-BE49-F238E27FC236}">
                <a16:creationId xmlns:a16="http://schemas.microsoft.com/office/drawing/2014/main" id="{42D374FC-81CD-1FE6-3D7D-4D1E6BA689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fr-FR"/>
          </a:p>
        </p:txBody>
      </p:sp>
      <p:sp>
        <p:nvSpPr>
          <p:cNvPr id="4" name="Espace réservé du texte 3">
            <a:extLst>
              <a:ext uri="{FF2B5EF4-FFF2-40B4-BE49-F238E27FC236}">
                <a16:creationId xmlns:a16="http://schemas.microsoft.com/office/drawing/2014/main" id="{E2820396-D4E8-C3E9-ED3D-F3DFDCC1B7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6" name="Espace réservé du numéro de diapositive 7">
            <a:extLst>
              <a:ext uri="{FF2B5EF4-FFF2-40B4-BE49-F238E27FC236}">
                <a16:creationId xmlns:a16="http://schemas.microsoft.com/office/drawing/2014/main" id="{1B88DB15-13F6-76AC-FC18-40AB261CD026}"/>
              </a:ext>
            </a:extLst>
          </p:cNvPr>
          <p:cNvSpPr>
            <a:spLocks noGrp="1"/>
          </p:cNvSpPr>
          <p:nvPr>
            <p:ph type="sldNum" sz="quarter" idx="10"/>
          </p:nvPr>
        </p:nvSpPr>
        <p:spPr>
          <a:xfrm>
            <a:off x="9185116" y="6301508"/>
            <a:ext cx="2743200" cy="365125"/>
          </a:xfrm>
        </p:spPr>
        <p:txBody>
          <a:bodyPr/>
          <a:lstStyle/>
          <a:p>
            <a:fld id="{421B1A79-1F45-8F4F-AED5-0EE30DCF0380}" type="slidenum">
              <a:rPr lang="fr-FR" smtClean="0"/>
              <a:t>‹#›</a:t>
            </a:fld>
            <a:endParaRPr lang="fr-FR"/>
          </a:p>
        </p:txBody>
      </p:sp>
      <p:pic>
        <p:nvPicPr>
          <p:cNvPr id="8" name="Graphique 7">
            <a:extLst>
              <a:ext uri="{FF2B5EF4-FFF2-40B4-BE49-F238E27FC236}">
                <a16:creationId xmlns:a16="http://schemas.microsoft.com/office/drawing/2014/main" id="{7BA76EDC-D6A8-6BC1-E7CF-AE951AE0811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52076" y="6348616"/>
            <a:ext cx="1330581" cy="270911"/>
          </a:xfrm>
          <a:prstGeom prst="rect">
            <a:avLst/>
          </a:prstGeom>
        </p:spPr>
      </p:pic>
      <p:pic>
        <p:nvPicPr>
          <p:cNvPr id="9" name="Image 8">
            <a:extLst>
              <a:ext uri="{FF2B5EF4-FFF2-40B4-BE49-F238E27FC236}">
                <a16:creationId xmlns:a16="http://schemas.microsoft.com/office/drawing/2014/main" id="{DF395F08-2AB7-9DC6-1DC4-6E738D09055F}"/>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952241" y="6146859"/>
            <a:ext cx="4274817" cy="550188"/>
          </a:xfrm>
          <a:prstGeom prst="rect">
            <a:avLst/>
          </a:prstGeom>
        </p:spPr>
      </p:pic>
    </p:spTree>
    <p:extLst>
      <p:ext uri="{BB962C8B-B14F-4D97-AF65-F5344CB8AC3E}">
        <p14:creationId xmlns:p14="http://schemas.microsoft.com/office/powerpoint/2010/main" val="3136181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Diapositive de fin">
    <p:bg>
      <p:bgPr>
        <a:gradFill>
          <a:gsLst>
            <a:gs pos="100000">
              <a:srgbClr val="032D5A"/>
            </a:gs>
            <a:gs pos="0">
              <a:srgbClr val="9378B5"/>
            </a:gs>
          </a:gsLst>
          <a:lin ang="2700000" scaled="0"/>
        </a:gra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675E09-98F4-CB40-847A-223EE4FF2325}"/>
              </a:ext>
            </a:extLst>
          </p:cNvPr>
          <p:cNvSpPr>
            <a:spLocks noGrp="1"/>
          </p:cNvSpPr>
          <p:nvPr>
            <p:ph type="ctrTitle" hasCustomPrompt="1"/>
          </p:nvPr>
        </p:nvSpPr>
        <p:spPr>
          <a:xfrm>
            <a:off x="592667" y="3069986"/>
            <a:ext cx="5839968" cy="2387600"/>
          </a:xfrm>
        </p:spPr>
        <p:txBody>
          <a:bodyPr anchor="b">
            <a:normAutofit/>
          </a:bodyPr>
          <a:lstStyle>
            <a:lvl1pPr algn="l">
              <a:defRPr sz="2000">
                <a:solidFill>
                  <a:srgbClr val="BCDCF1"/>
                </a:solidFill>
                <a:latin typeface="Arial" panose="020B0604020202020204" pitchFamily="34" charset="0"/>
                <a:cs typeface="Arial" panose="020B0604020202020204" pitchFamily="34" charset="0"/>
              </a:defRPr>
            </a:lvl1pPr>
          </a:lstStyle>
          <a:p>
            <a:r>
              <a:rPr lang="fr-FR" dirty="0"/>
              <a:t>Nom du contact</a:t>
            </a:r>
          </a:p>
        </p:txBody>
      </p:sp>
      <p:sp>
        <p:nvSpPr>
          <p:cNvPr id="3" name="Sous-titre 2">
            <a:extLst>
              <a:ext uri="{FF2B5EF4-FFF2-40B4-BE49-F238E27FC236}">
                <a16:creationId xmlns:a16="http://schemas.microsoft.com/office/drawing/2014/main" id="{B8CA446D-6137-3B12-BD1E-2599511A02D5}"/>
              </a:ext>
            </a:extLst>
          </p:cNvPr>
          <p:cNvSpPr>
            <a:spLocks noGrp="1"/>
          </p:cNvSpPr>
          <p:nvPr>
            <p:ph type="subTitle" idx="1" hasCustomPrompt="1"/>
          </p:nvPr>
        </p:nvSpPr>
        <p:spPr>
          <a:xfrm>
            <a:off x="592667" y="5549661"/>
            <a:ext cx="5839968" cy="842819"/>
          </a:xfrm>
        </p:spPr>
        <p:txBody>
          <a:bodyPr>
            <a:normAutofit/>
          </a:bodyPr>
          <a:lstStyle>
            <a:lvl1pPr marL="0" indent="0" algn="l">
              <a:buNone/>
              <a:defRPr sz="1600" b="0" i="1">
                <a:solidFill>
                  <a:schemeClr val="bg1"/>
                </a:solidFill>
                <a:latin typeface="Arial Nova Cond" panose="020B0506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Coordonnées</a:t>
            </a:r>
          </a:p>
        </p:txBody>
      </p:sp>
      <p:grpSp>
        <p:nvGrpSpPr>
          <p:cNvPr id="14" name="Groupe 13">
            <a:extLst>
              <a:ext uri="{FF2B5EF4-FFF2-40B4-BE49-F238E27FC236}">
                <a16:creationId xmlns:a16="http://schemas.microsoft.com/office/drawing/2014/main" id="{3983B729-1067-981B-92A3-93D88B6F605E}"/>
              </a:ext>
            </a:extLst>
          </p:cNvPr>
          <p:cNvGrpSpPr/>
          <p:nvPr userDrawn="1"/>
        </p:nvGrpSpPr>
        <p:grpSpPr>
          <a:xfrm>
            <a:off x="689674" y="679747"/>
            <a:ext cx="1100669" cy="1242080"/>
            <a:chOff x="5706531" y="490797"/>
            <a:chExt cx="1100669" cy="1242080"/>
          </a:xfrm>
          <a:solidFill>
            <a:srgbClr val="BCDCF1"/>
          </a:solidFill>
        </p:grpSpPr>
        <p:grpSp>
          <p:nvGrpSpPr>
            <p:cNvPr id="15" name="Groupe 14">
              <a:extLst>
                <a:ext uri="{FF2B5EF4-FFF2-40B4-BE49-F238E27FC236}">
                  <a16:creationId xmlns:a16="http://schemas.microsoft.com/office/drawing/2014/main" id="{20F5A30A-B8B9-76A8-E1F3-D39A5F61B0D0}"/>
                </a:ext>
              </a:extLst>
            </p:cNvPr>
            <p:cNvGrpSpPr/>
            <p:nvPr/>
          </p:nvGrpSpPr>
          <p:grpSpPr>
            <a:xfrm>
              <a:off x="5812721" y="490797"/>
              <a:ext cx="890009" cy="889269"/>
              <a:chOff x="2571750" y="2711450"/>
              <a:chExt cx="1439148" cy="1437951"/>
            </a:xfrm>
            <a:grpFill/>
          </p:grpSpPr>
          <p:sp>
            <p:nvSpPr>
              <p:cNvPr id="25" name="Forme libre 24">
                <a:extLst>
                  <a:ext uri="{FF2B5EF4-FFF2-40B4-BE49-F238E27FC236}">
                    <a16:creationId xmlns:a16="http://schemas.microsoft.com/office/drawing/2014/main" id="{293068B8-BCDD-3640-F482-C23282BE3F39}"/>
                  </a:ext>
                </a:extLst>
              </p:cNvPr>
              <p:cNvSpPr/>
              <p:nvPr/>
            </p:nvSpPr>
            <p:spPr>
              <a:xfrm>
                <a:off x="2821538" y="2890124"/>
                <a:ext cx="715298" cy="646365"/>
              </a:xfrm>
              <a:custGeom>
                <a:avLst/>
                <a:gdLst>
                  <a:gd name="connsiteX0" fmla="*/ 0 w 715298"/>
                  <a:gd name="connsiteY0" fmla="*/ 646270 h 646365"/>
                  <a:gd name="connsiteX1" fmla="*/ 173121 w 715298"/>
                  <a:gd name="connsiteY1" fmla="*/ 392704 h 646365"/>
                  <a:gd name="connsiteX2" fmla="*/ 173977 w 715298"/>
                  <a:gd name="connsiteY2" fmla="*/ 391469 h 646365"/>
                  <a:gd name="connsiteX3" fmla="*/ 411495 w 715298"/>
                  <a:gd name="connsiteY3" fmla="*/ 79928 h 646365"/>
                  <a:gd name="connsiteX4" fmla="*/ 574534 w 715298"/>
                  <a:gd name="connsiteY4" fmla="*/ 0 h 646365"/>
                  <a:gd name="connsiteX5" fmla="*/ 692389 w 715298"/>
                  <a:gd name="connsiteY5" fmla="*/ 97131 h 646365"/>
                  <a:gd name="connsiteX6" fmla="*/ 712269 w 715298"/>
                  <a:gd name="connsiteY6" fmla="*/ 437183 h 646365"/>
                  <a:gd name="connsiteX7" fmla="*/ 0 w 715298"/>
                  <a:gd name="connsiteY7" fmla="*/ 646365 h 646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5298" h="646365">
                    <a:moveTo>
                      <a:pt x="0" y="646270"/>
                    </a:moveTo>
                    <a:cubicBezTo>
                      <a:pt x="27966" y="604738"/>
                      <a:pt x="84848" y="521103"/>
                      <a:pt x="173121" y="392704"/>
                    </a:cubicBezTo>
                    <a:lnTo>
                      <a:pt x="173977" y="391469"/>
                    </a:lnTo>
                    <a:cubicBezTo>
                      <a:pt x="250835" y="279702"/>
                      <a:pt x="323508" y="174018"/>
                      <a:pt x="411495" y="79928"/>
                    </a:cubicBezTo>
                    <a:cubicBezTo>
                      <a:pt x="457534" y="30603"/>
                      <a:pt x="520029" y="0"/>
                      <a:pt x="574534" y="0"/>
                    </a:cubicBezTo>
                    <a:cubicBezTo>
                      <a:pt x="614960" y="0"/>
                      <a:pt x="668323" y="16822"/>
                      <a:pt x="692389" y="97131"/>
                    </a:cubicBezTo>
                    <a:cubicBezTo>
                      <a:pt x="723494" y="200154"/>
                      <a:pt x="714743" y="392704"/>
                      <a:pt x="712269" y="437183"/>
                    </a:cubicBezTo>
                    <a:cubicBezTo>
                      <a:pt x="660809" y="456286"/>
                      <a:pt x="388857" y="555127"/>
                      <a:pt x="0" y="646365"/>
                    </a:cubicBezTo>
                  </a:path>
                </a:pathLst>
              </a:custGeom>
              <a:grpFill/>
              <a:ln w="9512" cap="flat">
                <a:noFill/>
                <a:prstDash val="solid"/>
                <a:miter/>
              </a:ln>
            </p:spPr>
            <p:txBody>
              <a:bodyPr rtlCol="0" anchor="ctr"/>
              <a:lstStyle/>
              <a:p>
                <a:endParaRPr lang="fr-FR"/>
              </a:p>
            </p:txBody>
          </p:sp>
          <p:sp>
            <p:nvSpPr>
              <p:cNvPr id="26" name="Forme libre 25">
                <a:extLst>
                  <a:ext uri="{FF2B5EF4-FFF2-40B4-BE49-F238E27FC236}">
                    <a16:creationId xmlns:a16="http://schemas.microsoft.com/office/drawing/2014/main" id="{3573FEFB-A28F-E91E-B749-75CAA07CBB9F}"/>
                  </a:ext>
                </a:extLst>
              </p:cNvPr>
              <p:cNvSpPr/>
              <p:nvPr/>
            </p:nvSpPr>
            <p:spPr>
              <a:xfrm>
                <a:off x="2571750" y="2711450"/>
                <a:ext cx="1384492" cy="709566"/>
              </a:xfrm>
              <a:custGeom>
                <a:avLst/>
                <a:gdLst>
                  <a:gd name="connsiteX0" fmla="*/ 0 w 1384492"/>
                  <a:gd name="connsiteY0" fmla="*/ 704910 h 709566"/>
                  <a:gd name="connsiteX1" fmla="*/ 215926 w 1384492"/>
                  <a:gd name="connsiteY1" fmla="*/ 205381 h 709566"/>
                  <a:gd name="connsiteX2" fmla="*/ 719213 w 1384492"/>
                  <a:gd name="connsiteY2" fmla="*/ 0 h 709566"/>
                  <a:gd name="connsiteX3" fmla="*/ 733577 w 1384492"/>
                  <a:gd name="connsiteY3" fmla="*/ 95 h 709566"/>
                  <a:gd name="connsiteX4" fmla="*/ 1384493 w 1384492"/>
                  <a:gd name="connsiteY4" fmla="*/ 443836 h 709566"/>
                  <a:gd name="connsiteX5" fmla="*/ 1104265 w 1384492"/>
                  <a:gd name="connsiteY5" fmla="*/ 562065 h 709566"/>
                  <a:gd name="connsiteX6" fmla="*/ 1037204 w 1384492"/>
                  <a:gd name="connsiteY6" fmla="*/ 206997 h 709566"/>
                  <a:gd name="connsiteX7" fmla="*/ 854381 w 1384492"/>
                  <a:gd name="connsiteY7" fmla="*/ 61491 h 709566"/>
                  <a:gd name="connsiteX8" fmla="*/ 689535 w 1384492"/>
                  <a:gd name="connsiteY8" fmla="*/ 110911 h 709566"/>
                  <a:gd name="connsiteX9" fmla="*/ 327218 w 1384492"/>
                  <a:gd name="connsiteY9" fmla="*/ 398787 h 709566"/>
                  <a:gd name="connsiteX10" fmla="*/ 0 w 1384492"/>
                  <a:gd name="connsiteY10" fmla="*/ 709567 h 709566"/>
                  <a:gd name="connsiteX11" fmla="*/ 0 w 1384492"/>
                  <a:gd name="connsiteY11" fmla="*/ 704910 h 709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84492" h="709566">
                    <a:moveTo>
                      <a:pt x="0" y="704910"/>
                    </a:moveTo>
                    <a:cubicBezTo>
                      <a:pt x="3710" y="515400"/>
                      <a:pt x="80378" y="337961"/>
                      <a:pt x="215926" y="205381"/>
                    </a:cubicBezTo>
                    <a:cubicBezTo>
                      <a:pt x="351284" y="72991"/>
                      <a:pt x="529922" y="0"/>
                      <a:pt x="719213" y="0"/>
                    </a:cubicBezTo>
                    <a:cubicBezTo>
                      <a:pt x="723969" y="0"/>
                      <a:pt x="728821" y="0"/>
                      <a:pt x="733577" y="95"/>
                    </a:cubicBezTo>
                    <a:cubicBezTo>
                      <a:pt x="1020844" y="5702"/>
                      <a:pt x="1274913" y="179435"/>
                      <a:pt x="1384493" y="443836"/>
                    </a:cubicBezTo>
                    <a:cubicBezTo>
                      <a:pt x="1346730" y="461323"/>
                      <a:pt x="1245330" y="507132"/>
                      <a:pt x="1104265" y="562065"/>
                    </a:cubicBezTo>
                    <a:cubicBezTo>
                      <a:pt x="1084955" y="435092"/>
                      <a:pt x="1060414" y="285499"/>
                      <a:pt x="1037204" y="206997"/>
                    </a:cubicBezTo>
                    <a:cubicBezTo>
                      <a:pt x="1009809" y="114523"/>
                      <a:pt x="943224" y="61491"/>
                      <a:pt x="854381" y="61491"/>
                    </a:cubicBezTo>
                    <a:cubicBezTo>
                      <a:pt x="803871" y="61491"/>
                      <a:pt x="748416" y="78123"/>
                      <a:pt x="689535" y="110911"/>
                    </a:cubicBezTo>
                    <a:cubicBezTo>
                      <a:pt x="621333" y="149022"/>
                      <a:pt x="499483" y="245773"/>
                      <a:pt x="327218" y="398787"/>
                    </a:cubicBezTo>
                    <a:cubicBezTo>
                      <a:pt x="189767" y="520818"/>
                      <a:pt x="60783" y="648456"/>
                      <a:pt x="0" y="709567"/>
                    </a:cubicBezTo>
                    <a:cubicBezTo>
                      <a:pt x="0" y="708046"/>
                      <a:pt x="0" y="706525"/>
                      <a:pt x="0" y="704910"/>
                    </a:cubicBezTo>
                  </a:path>
                </a:pathLst>
              </a:custGeom>
              <a:grpFill/>
              <a:ln w="9512" cap="flat">
                <a:noFill/>
                <a:prstDash val="solid"/>
                <a:miter/>
              </a:ln>
            </p:spPr>
            <p:txBody>
              <a:bodyPr rtlCol="0" anchor="ctr"/>
              <a:lstStyle/>
              <a:p>
                <a:endParaRPr lang="fr-FR"/>
              </a:p>
            </p:txBody>
          </p:sp>
          <p:sp>
            <p:nvSpPr>
              <p:cNvPr id="27" name="Forme libre 26">
                <a:extLst>
                  <a:ext uri="{FF2B5EF4-FFF2-40B4-BE49-F238E27FC236}">
                    <a16:creationId xmlns:a16="http://schemas.microsoft.com/office/drawing/2014/main" id="{81A99EC4-B92E-BFB4-9985-4EB2259E196D}"/>
                  </a:ext>
                </a:extLst>
              </p:cNvPr>
              <p:cNvSpPr/>
              <p:nvPr/>
            </p:nvSpPr>
            <p:spPr>
              <a:xfrm>
                <a:off x="2666966" y="3498474"/>
                <a:ext cx="858280" cy="650927"/>
              </a:xfrm>
              <a:custGeom>
                <a:avLst/>
                <a:gdLst>
                  <a:gd name="connsiteX0" fmla="*/ 624568 w 858280"/>
                  <a:gd name="connsiteY0" fmla="*/ 650927 h 650927"/>
                  <a:gd name="connsiteX1" fmla="*/ 610299 w 858280"/>
                  <a:gd name="connsiteY1" fmla="*/ 650737 h 650927"/>
                  <a:gd name="connsiteX2" fmla="*/ 0 w 858280"/>
                  <a:gd name="connsiteY2" fmla="*/ 289681 h 650927"/>
                  <a:gd name="connsiteX3" fmla="*/ 858281 w 858280"/>
                  <a:gd name="connsiteY3" fmla="*/ 0 h 650927"/>
                  <a:gd name="connsiteX4" fmla="*/ 803206 w 858280"/>
                  <a:gd name="connsiteY4" fmla="*/ 628403 h 650927"/>
                  <a:gd name="connsiteX5" fmla="*/ 624568 w 858280"/>
                  <a:gd name="connsiteY5" fmla="*/ 650832 h 650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8280" h="650927">
                    <a:moveTo>
                      <a:pt x="624568" y="650927"/>
                    </a:moveTo>
                    <a:cubicBezTo>
                      <a:pt x="619811" y="650927"/>
                      <a:pt x="615055" y="650927"/>
                      <a:pt x="610299" y="650737"/>
                    </a:cubicBezTo>
                    <a:cubicBezTo>
                      <a:pt x="357942" y="645890"/>
                      <a:pt x="125560" y="507987"/>
                      <a:pt x="0" y="289681"/>
                    </a:cubicBezTo>
                    <a:cubicBezTo>
                      <a:pt x="93409" y="249859"/>
                      <a:pt x="427666" y="112622"/>
                      <a:pt x="858281" y="0"/>
                    </a:cubicBezTo>
                    <a:lnTo>
                      <a:pt x="803206" y="628403"/>
                    </a:lnTo>
                    <a:cubicBezTo>
                      <a:pt x="745086" y="643324"/>
                      <a:pt x="685065" y="650832"/>
                      <a:pt x="624568" y="650832"/>
                    </a:cubicBezTo>
                  </a:path>
                </a:pathLst>
              </a:custGeom>
              <a:grpFill/>
              <a:ln w="9512" cap="flat">
                <a:noFill/>
                <a:prstDash val="solid"/>
                <a:miter/>
              </a:ln>
            </p:spPr>
            <p:txBody>
              <a:bodyPr rtlCol="0" anchor="ctr"/>
              <a:lstStyle/>
              <a:p>
                <a:endParaRPr lang="fr-FR"/>
              </a:p>
            </p:txBody>
          </p:sp>
          <p:sp>
            <p:nvSpPr>
              <p:cNvPr id="28" name="Forme libre 27">
                <a:extLst>
                  <a:ext uri="{FF2B5EF4-FFF2-40B4-BE49-F238E27FC236}">
                    <a16:creationId xmlns:a16="http://schemas.microsoft.com/office/drawing/2014/main" id="{57037F43-6B5B-9FDF-5977-22ED2CBF4585}"/>
                  </a:ext>
                </a:extLst>
              </p:cNvPr>
              <p:cNvSpPr/>
              <p:nvPr/>
            </p:nvSpPr>
            <p:spPr>
              <a:xfrm>
                <a:off x="3700746" y="3401343"/>
                <a:ext cx="310152" cy="574420"/>
              </a:xfrm>
              <a:custGeom>
                <a:avLst/>
                <a:gdLst>
                  <a:gd name="connsiteX0" fmla="*/ 59546 w 310152"/>
                  <a:gd name="connsiteY0" fmla="*/ 574420 h 574420"/>
                  <a:gd name="connsiteX1" fmla="*/ 0 w 310152"/>
                  <a:gd name="connsiteY1" fmla="*/ 55978 h 574420"/>
                  <a:gd name="connsiteX2" fmla="*/ 309525 w 310152"/>
                  <a:gd name="connsiteY2" fmla="*/ 0 h 574420"/>
                  <a:gd name="connsiteX3" fmla="*/ 310001 w 310152"/>
                  <a:gd name="connsiteY3" fmla="*/ 43243 h 574420"/>
                  <a:gd name="connsiteX4" fmla="*/ 59546 w 310152"/>
                  <a:gd name="connsiteY4" fmla="*/ 574420 h 574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152" h="574420">
                    <a:moveTo>
                      <a:pt x="59546" y="574420"/>
                    </a:moveTo>
                    <a:cubicBezTo>
                      <a:pt x="50034" y="483277"/>
                      <a:pt x="24446" y="241686"/>
                      <a:pt x="0" y="55978"/>
                    </a:cubicBezTo>
                    <a:cubicBezTo>
                      <a:pt x="164370" y="23190"/>
                      <a:pt x="266435" y="6653"/>
                      <a:pt x="309525" y="0"/>
                    </a:cubicBezTo>
                    <a:cubicBezTo>
                      <a:pt x="310191" y="14446"/>
                      <a:pt x="310286" y="28892"/>
                      <a:pt x="310001" y="43243"/>
                    </a:cubicBezTo>
                    <a:cubicBezTo>
                      <a:pt x="306006" y="248814"/>
                      <a:pt x="214974" y="440889"/>
                      <a:pt x="59546" y="574420"/>
                    </a:cubicBezTo>
                  </a:path>
                </a:pathLst>
              </a:custGeom>
              <a:grpFill/>
              <a:ln w="9512" cap="flat">
                <a:noFill/>
                <a:prstDash val="solid"/>
                <a:miter/>
              </a:ln>
            </p:spPr>
            <p:txBody>
              <a:bodyPr rtlCol="0" anchor="ctr"/>
              <a:lstStyle/>
              <a:p>
                <a:endParaRPr lang="fr-FR"/>
              </a:p>
            </p:txBody>
          </p:sp>
        </p:grpSp>
        <p:grpSp>
          <p:nvGrpSpPr>
            <p:cNvPr id="16" name="Groupe 15">
              <a:extLst>
                <a:ext uri="{FF2B5EF4-FFF2-40B4-BE49-F238E27FC236}">
                  <a16:creationId xmlns:a16="http://schemas.microsoft.com/office/drawing/2014/main" id="{8ED9B721-A267-4F9A-C8FB-4EDF9035D0FC}"/>
                </a:ext>
              </a:extLst>
            </p:cNvPr>
            <p:cNvGrpSpPr/>
            <p:nvPr/>
          </p:nvGrpSpPr>
          <p:grpSpPr>
            <a:xfrm>
              <a:off x="5706531" y="1530040"/>
              <a:ext cx="1100669" cy="202837"/>
              <a:chOff x="4227814" y="2908087"/>
              <a:chExt cx="5388249" cy="992975"/>
            </a:xfrm>
            <a:grpFill/>
          </p:grpSpPr>
          <p:sp>
            <p:nvSpPr>
              <p:cNvPr id="17" name="Forme libre 16">
                <a:extLst>
                  <a:ext uri="{FF2B5EF4-FFF2-40B4-BE49-F238E27FC236}">
                    <a16:creationId xmlns:a16="http://schemas.microsoft.com/office/drawing/2014/main" id="{954C32A8-2448-2ED4-5AA6-BF5FBA02FF11}"/>
                  </a:ext>
                </a:extLst>
              </p:cNvPr>
              <p:cNvSpPr/>
              <p:nvPr/>
            </p:nvSpPr>
            <p:spPr>
              <a:xfrm>
                <a:off x="4227814" y="2917686"/>
                <a:ext cx="986885" cy="967029"/>
              </a:xfrm>
              <a:custGeom>
                <a:avLst/>
                <a:gdLst>
                  <a:gd name="connsiteX0" fmla="*/ 639692 w 986885"/>
                  <a:gd name="connsiteY0" fmla="*/ 598180 h 967029"/>
                  <a:gd name="connsiteX1" fmla="*/ 490732 w 986885"/>
                  <a:gd name="connsiteY1" fmla="*/ 204906 h 967029"/>
                  <a:gd name="connsiteX2" fmla="*/ 339013 w 986885"/>
                  <a:gd name="connsiteY2" fmla="*/ 598180 h 967029"/>
                  <a:gd name="connsiteX3" fmla="*/ 639787 w 986885"/>
                  <a:gd name="connsiteY3" fmla="*/ 598180 h 967029"/>
                  <a:gd name="connsiteX4" fmla="*/ 421008 w 986885"/>
                  <a:gd name="connsiteY4" fmla="*/ 0 h 967029"/>
                  <a:gd name="connsiteX5" fmla="*/ 569968 w 986885"/>
                  <a:gd name="connsiteY5" fmla="*/ 0 h 967029"/>
                  <a:gd name="connsiteX6" fmla="*/ 986885 w 986885"/>
                  <a:gd name="connsiteY6" fmla="*/ 967029 h 967029"/>
                  <a:gd name="connsiteX7" fmla="*/ 790079 w 986885"/>
                  <a:gd name="connsiteY7" fmla="*/ 967029 h 967029"/>
                  <a:gd name="connsiteX8" fmla="*/ 699904 w 986885"/>
                  <a:gd name="connsiteY8" fmla="*/ 745777 h 967029"/>
                  <a:gd name="connsiteX9" fmla="*/ 280228 w 986885"/>
                  <a:gd name="connsiteY9" fmla="*/ 745777 h 967029"/>
                  <a:gd name="connsiteX10" fmla="*/ 192716 w 986885"/>
                  <a:gd name="connsiteY10" fmla="*/ 967029 h 967029"/>
                  <a:gd name="connsiteX11" fmla="*/ 0 w 986885"/>
                  <a:gd name="connsiteY11" fmla="*/ 967029 h 967029"/>
                  <a:gd name="connsiteX12" fmla="*/ 421008 w 986885"/>
                  <a:gd name="connsiteY12" fmla="*/ 0 h 967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6885" h="967029">
                    <a:moveTo>
                      <a:pt x="639692" y="598180"/>
                    </a:moveTo>
                    <a:lnTo>
                      <a:pt x="490732" y="204906"/>
                    </a:lnTo>
                    <a:lnTo>
                      <a:pt x="339013" y="598180"/>
                    </a:lnTo>
                    <a:lnTo>
                      <a:pt x="639787" y="598180"/>
                    </a:lnTo>
                    <a:close/>
                    <a:moveTo>
                      <a:pt x="421008" y="0"/>
                    </a:moveTo>
                    <a:lnTo>
                      <a:pt x="569968" y="0"/>
                    </a:lnTo>
                    <a:lnTo>
                      <a:pt x="986885" y="967029"/>
                    </a:lnTo>
                    <a:lnTo>
                      <a:pt x="790079" y="967029"/>
                    </a:lnTo>
                    <a:lnTo>
                      <a:pt x="699904" y="745777"/>
                    </a:lnTo>
                    <a:lnTo>
                      <a:pt x="280228" y="745777"/>
                    </a:lnTo>
                    <a:lnTo>
                      <a:pt x="192716" y="967029"/>
                    </a:lnTo>
                    <a:lnTo>
                      <a:pt x="0" y="967029"/>
                    </a:lnTo>
                    <a:lnTo>
                      <a:pt x="421008" y="0"/>
                    </a:lnTo>
                    <a:close/>
                  </a:path>
                </a:pathLst>
              </a:custGeom>
              <a:grpFill/>
              <a:ln w="9512" cap="flat">
                <a:noFill/>
                <a:prstDash val="solid"/>
                <a:miter/>
              </a:ln>
            </p:spPr>
            <p:txBody>
              <a:bodyPr rtlCol="0" anchor="ctr"/>
              <a:lstStyle/>
              <a:p>
                <a:endParaRPr lang="fr-FR"/>
              </a:p>
            </p:txBody>
          </p:sp>
          <p:sp>
            <p:nvSpPr>
              <p:cNvPr id="18" name="Forme libre 17">
                <a:extLst>
                  <a:ext uri="{FF2B5EF4-FFF2-40B4-BE49-F238E27FC236}">
                    <a16:creationId xmlns:a16="http://schemas.microsoft.com/office/drawing/2014/main" id="{E1893580-A1DE-E5E8-0239-182FC8F0EA96}"/>
                  </a:ext>
                </a:extLst>
              </p:cNvPr>
              <p:cNvSpPr/>
              <p:nvPr/>
            </p:nvSpPr>
            <p:spPr>
              <a:xfrm>
                <a:off x="5239146" y="3229036"/>
                <a:ext cx="598789" cy="671930"/>
              </a:xfrm>
              <a:custGeom>
                <a:avLst/>
                <a:gdLst>
                  <a:gd name="connsiteX0" fmla="*/ 598789 w 598789"/>
                  <a:gd name="connsiteY0" fmla="*/ 655584 h 671930"/>
                  <a:gd name="connsiteX1" fmla="*/ 442980 w 598789"/>
                  <a:gd name="connsiteY1" fmla="*/ 655584 h 671930"/>
                  <a:gd name="connsiteX2" fmla="*/ 442980 w 598789"/>
                  <a:gd name="connsiteY2" fmla="*/ 550375 h 671930"/>
                  <a:gd name="connsiteX3" fmla="*/ 440222 w 598789"/>
                  <a:gd name="connsiteY3" fmla="*/ 550375 h 671930"/>
                  <a:gd name="connsiteX4" fmla="*/ 239230 w 598789"/>
                  <a:gd name="connsiteY4" fmla="*/ 671931 h 671930"/>
                  <a:gd name="connsiteX5" fmla="*/ 0 w 598789"/>
                  <a:gd name="connsiteY5" fmla="*/ 413803 h 671930"/>
                  <a:gd name="connsiteX6" fmla="*/ 0 w 598789"/>
                  <a:gd name="connsiteY6" fmla="*/ 0 h 671930"/>
                  <a:gd name="connsiteX7" fmla="*/ 163989 w 598789"/>
                  <a:gd name="connsiteY7" fmla="*/ 0 h 671930"/>
                  <a:gd name="connsiteX8" fmla="*/ 163989 w 598789"/>
                  <a:gd name="connsiteY8" fmla="*/ 331879 h 671930"/>
                  <a:gd name="connsiteX9" fmla="*/ 284318 w 598789"/>
                  <a:gd name="connsiteY9" fmla="*/ 524429 h 671930"/>
                  <a:gd name="connsiteX10" fmla="*/ 434705 w 598789"/>
                  <a:gd name="connsiteY10" fmla="*/ 357825 h 671930"/>
                  <a:gd name="connsiteX11" fmla="*/ 434705 w 598789"/>
                  <a:gd name="connsiteY11" fmla="*/ 0 h 671930"/>
                  <a:gd name="connsiteX12" fmla="*/ 598694 w 598789"/>
                  <a:gd name="connsiteY12" fmla="*/ 0 h 671930"/>
                  <a:gd name="connsiteX13" fmla="*/ 598694 w 598789"/>
                  <a:gd name="connsiteY13" fmla="*/ 655584 h 671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8789" h="671930">
                    <a:moveTo>
                      <a:pt x="598789" y="655584"/>
                    </a:moveTo>
                    <a:lnTo>
                      <a:pt x="442980" y="655584"/>
                    </a:lnTo>
                    <a:lnTo>
                      <a:pt x="442980" y="550375"/>
                    </a:lnTo>
                    <a:lnTo>
                      <a:pt x="440222" y="550375"/>
                    </a:lnTo>
                    <a:cubicBezTo>
                      <a:pt x="410164" y="615858"/>
                      <a:pt x="348620" y="671931"/>
                      <a:pt x="239230" y="671931"/>
                    </a:cubicBezTo>
                    <a:cubicBezTo>
                      <a:pt x="62875" y="671931"/>
                      <a:pt x="0" y="547619"/>
                      <a:pt x="0" y="413803"/>
                    </a:cubicBezTo>
                    <a:lnTo>
                      <a:pt x="0" y="0"/>
                    </a:lnTo>
                    <a:lnTo>
                      <a:pt x="163989" y="0"/>
                    </a:lnTo>
                    <a:lnTo>
                      <a:pt x="163989" y="331879"/>
                    </a:lnTo>
                    <a:cubicBezTo>
                      <a:pt x="163989" y="404299"/>
                      <a:pt x="169506" y="524429"/>
                      <a:pt x="284318" y="524429"/>
                    </a:cubicBezTo>
                    <a:cubicBezTo>
                      <a:pt x="392281" y="524429"/>
                      <a:pt x="434705" y="445261"/>
                      <a:pt x="434705" y="357825"/>
                    </a:cubicBezTo>
                    <a:lnTo>
                      <a:pt x="434705" y="0"/>
                    </a:lnTo>
                    <a:lnTo>
                      <a:pt x="598694" y="0"/>
                    </a:lnTo>
                    <a:lnTo>
                      <a:pt x="598694" y="655584"/>
                    </a:lnTo>
                    <a:close/>
                  </a:path>
                </a:pathLst>
              </a:custGeom>
              <a:grpFill/>
              <a:ln w="9512" cap="flat">
                <a:noFill/>
                <a:prstDash val="solid"/>
                <a:miter/>
              </a:ln>
            </p:spPr>
            <p:txBody>
              <a:bodyPr rtlCol="0" anchor="ctr"/>
              <a:lstStyle/>
              <a:p>
                <a:endParaRPr lang="fr-FR"/>
              </a:p>
            </p:txBody>
          </p:sp>
          <p:sp>
            <p:nvSpPr>
              <p:cNvPr id="19" name="Forme libre 18">
                <a:extLst>
                  <a:ext uri="{FF2B5EF4-FFF2-40B4-BE49-F238E27FC236}">
                    <a16:creationId xmlns:a16="http://schemas.microsoft.com/office/drawing/2014/main" id="{47D9A284-3B86-756D-99A2-E8BCFF28C157}"/>
                  </a:ext>
                </a:extLst>
              </p:cNvPr>
              <p:cNvSpPr/>
              <p:nvPr/>
            </p:nvSpPr>
            <p:spPr>
              <a:xfrm>
                <a:off x="5922688" y="2917686"/>
                <a:ext cx="708084" cy="983376"/>
              </a:xfrm>
              <a:custGeom>
                <a:avLst/>
                <a:gdLst>
                  <a:gd name="connsiteX0" fmla="*/ 356801 w 708084"/>
                  <a:gd name="connsiteY0" fmla="*/ 835779 h 983376"/>
                  <a:gd name="connsiteX1" fmla="*/ 549517 w 708084"/>
                  <a:gd name="connsiteY1" fmla="*/ 639142 h 983376"/>
                  <a:gd name="connsiteX2" fmla="*/ 356801 w 708084"/>
                  <a:gd name="connsiteY2" fmla="*/ 442505 h 983376"/>
                  <a:gd name="connsiteX3" fmla="*/ 164085 w 708084"/>
                  <a:gd name="connsiteY3" fmla="*/ 639142 h 983376"/>
                  <a:gd name="connsiteX4" fmla="*/ 356801 w 708084"/>
                  <a:gd name="connsiteY4" fmla="*/ 835779 h 983376"/>
                  <a:gd name="connsiteX5" fmla="*/ 552275 w 708084"/>
                  <a:gd name="connsiteY5" fmla="*/ 868568 h 983376"/>
                  <a:gd name="connsiteX6" fmla="*/ 549517 w 708084"/>
                  <a:gd name="connsiteY6" fmla="*/ 868568 h 983376"/>
                  <a:gd name="connsiteX7" fmla="*/ 323984 w 708084"/>
                  <a:gd name="connsiteY7" fmla="*/ 983376 h 983376"/>
                  <a:gd name="connsiteX8" fmla="*/ 0 w 708084"/>
                  <a:gd name="connsiteY8" fmla="*/ 639237 h 983376"/>
                  <a:gd name="connsiteX9" fmla="*/ 317135 w 708084"/>
                  <a:gd name="connsiteY9" fmla="*/ 295003 h 983376"/>
                  <a:gd name="connsiteX10" fmla="*/ 540004 w 708084"/>
                  <a:gd name="connsiteY10" fmla="*/ 394700 h 983376"/>
                  <a:gd name="connsiteX11" fmla="*/ 544000 w 708084"/>
                  <a:gd name="connsiteY11" fmla="*/ 394700 h 983376"/>
                  <a:gd name="connsiteX12" fmla="*/ 544000 w 708084"/>
                  <a:gd name="connsiteY12" fmla="*/ 0 h 983376"/>
                  <a:gd name="connsiteX13" fmla="*/ 708084 w 708084"/>
                  <a:gd name="connsiteY13" fmla="*/ 0 h 983376"/>
                  <a:gd name="connsiteX14" fmla="*/ 708084 w 708084"/>
                  <a:gd name="connsiteY14" fmla="*/ 966934 h 983376"/>
                  <a:gd name="connsiteX15" fmla="*/ 552275 w 708084"/>
                  <a:gd name="connsiteY15" fmla="*/ 966934 h 983376"/>
                  <a:gd name="connsiteX16" fmla="*/ 552275 w 708084"/>
                  <a:gd name="connsiteY16" fmla="*/ 868568 h 983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08084" h="983376">
                    <a:moveTo>
                      <a:pt x="356801" y="835779"/>
                    </a:moveTo>
                    <a:cubicBezTo>
                      <a:pt x="477129" y="835779"/>
                      <a:pt x="549517" y="741595"/>
                      <a:pt x="549517" y="639142"/>
                    </a:cubicBezTo>
                    <a:cubicBezTo>
                      <a:pt x="549517" y="536689"/>
                      <a:pt x="477034" y="442505"/>
                      <a:pt x="356801" y="442505"/>
                    </a:cubicBezTo>
                    <a:cubicBezTo>
                      <a:pt x="236567" y="442505"/>
                      <a:pt x="164085" y="536689"/>
                      <a:pt x="164085" y="639142"/>
                    </a:cubicBezTo>
                    <a:cubicBezTo>
                      <a:pt x="164085" y="741595"/>
                      <a:pt x="236567" y="835779"/>
                      <a:pt x="356801" y="835779"/>
                    </a:cubicBezTo>
                    <a:moveTo>
                      <a:pt x="552275" y="868568"/>
                    </a:moveTo>
                    <a:lnTo>
                      <a:pt x="549517" y="868568"/>
                    </a:lnTo>
                    <a:cubicBezTo>
                      <a:pt x="501670" y="947831"/>
                      <a:pt x="415586" y="983376"/>
                      <a:pt x="323984" y="983376"/>
                    </a:cubicBezTo>
                    <a:cubicBezTo>
                      <a:pt x="121660" y="983376"/>
                      <a:pt x="0" y="833118"/>
                      <a:pt x="0" y="639237"/>
                    </a:cubicBezTo>
                    <a:cubicBezTo>
                      <a:pt x="0" y="445356"/>
                      <a:pt x="129841" y="295003"/>
                      <a:pt x="317135" y="295003"/>
                    </a:cubicBezTo>
                    <a:cubicBezTo>
                      <a:pt x="440127" y="295003"/>
                      <a:pt x="505761" y="352407"/>
                      <a:pt x="540004" y="394700"/>
                    </a:cubicBezTo>
                    <a:lnTo>
                      <a:pt x="544000" y="394700"/>
                    </a:lnTo>
                    <a:lnTo>
                      <a:pt x="544000" y="0"/>
                    </a:lnTo>
                    <a:lnTo>
                      <a:pt x="708084" y="0"/>
                    </a:lnTo>
                    <a:lnTo>
                      <a:pt x="708084" y="966934"/>
                    </a:lnTo>
                    <a:lnTo>
                      <a:pt x="552275" y="966934"/>
                    </a:lnTo>
                    <a:lnTo>
                      <a:pt x="552275" y="868568"/>
                    </a:lnTo>
                    <a:close/>
                  </a:path>
                </a:pathLst>
              </a:custGeom>
              <a:grpFill/>
              <a:ln w="9512" cap="flat">
                <a:noFill/>
                <a:prstDash val="solid"/>
                <a:miter/>
              </a:ln>
            </p:spPr>
            <p:txBody>
              <a:bodyPr rtlCol="0" anchor="ctr"/>
              <a:lstStyle/>
              <a:p>
                <a:endParaRPr lang="fr-FR"/>
              </a:p>
            </p:txBody>
          </p:sp>
          <p:sp>
            <p:nvSpPr>
              <p:cNvPr id="20" name="Forme libre 19">
                <a:extLst>
                  <a:ext uri="{FF2B5EF4-FFF2-40B4-BE49-F238E27FC236}">
                    <a16:creationId xmlns:a16="http://schemas.microsoft.com/office/drawing/2014/main" id="{5AF49FFC-8EB0-33B2-8409-0EB674281EE3}"/>
                  </a:ext>
                </a:extLst>
              </p:cNvPr>
              <p:cNvSpPr/>
              <p:nvPr/>
            </p:nvSpPr>
            <p:spPr>
              <a:xfrm>
                <a:off x="6715430" y="3212594"/>
                <a:ext cx="664328" cy="688372"/>
              </a:xfrm>
              <a:custGeom>
                <a:avLst/>
                <a:gdLst>
                  <a:gd name="connsiteX0" fmla="*/ 500339 w 664328"/>
                  <a:gd name="connsiteY0" fmla="*/ 278657 h 688372"/>
                  <a:gd name="connsiteX1" fmla="*/ 333591 w 664328"/>
                  <a:gd name="connsiteY1" fmla="*/ 122981 h 688372"/>
                  <a:gd name="connsiteX2" fmla="*/ 164085 w 664328"/>
                  <a:gd name="connsiteY2" fmla="*/ 278657 h 688372"/>
                  <a:gd name="connsiteX3" fmla="*/ 500339 w 664328"/>
                  <a:gd name="connsiteY3" fmla="*/ 278657 h 688372"/>
                  <a:gd name="connsiteX4" fmla="*/ 164085 w 664328"/>
                  <a:gd name="connsiteY4" fmla="*/ 401543 h 688372"/>
                  <a:gd name="connsiteX5" fmla="*/ 340440 w 664328"/>
                  <a:gd name="connsiteY5" fmla="*/ 557218 h 688372"/>
                  <a:gd name="connsiteX6" fmla="*/ 516795 w 664328"/>
                  <a:gd name="connsiteY6" fmla="*/ 468451 h 688372"/>
                  <a:gd name="connsiteX7" fmla="*/ 634365 w 664328"/>
                  <a:gd name="connsiteY7" fmla="*/ 557218 h 688372"/>
                  <a:gd name="connsiteX8" fmla="*/ 356801 w 664328"/>
                  <a:gd name="connsiteY8" fmla="*/ 688373 h 688372"/>
                  <a:gd name="connsiteX9" fmla="*/ 0 w 664328"/>
                  <a:gd name="connsiteY9" fmla="*/ 344234 h 688372"/>
                  <a:gd name="connsiteX10" fmla="*/ 356801 w 664328"/>
                  <a:gd name="connsiteY10" fmla="*/ 0 h 688372"/>
                  <a:gd name="connsiteX11" fmla="*/ 664328 w 664328"/>
                  <a:gd name="connsiteY11" fmla="*/ 356494 h 688372"/>
                  <a:gd name="connsiteX12" fmla="*/ 664328 w 664328"/>
                  <a:gd name="connsiteY12" fmla="*/ 401543 h 688372"/>
                  <a:gd name="connsiteX13" fmla="*/ 163989 w 664328"/>
                  <a:gd name="connsiteY13" fmla="*/ 401543 h 688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4328" h="688372">
                    <a:moveTo>
                      <a:pt x="500339" y="278657"/>
                    </a:moveTo>
                    <a:cubicBezTo>
                      <a:pt x="498912" y="183047"/>
                      <a:pt x="436037" y="122981"/>
                      <a:pt x="333591" y="122981"/>
                    </a:cubicBezTo>
                    <a:cubicBezTo>
                      <a:pt x="236472" y="122981"/>
                      <a:pt x="176355" y="184472"/>
                      <a:pt x="164085" y="278657"/>
                    </a:cubicBezTo>
                    <a:lnTo>
                      <a:pt x="500339" y="278657"/>
                    </a:lnTo>
                    <a:close/>
                    <a:moveTo>
                      <a:pt x="164085" y="401543"/>
                    </a:moveTo>
                    <a:cubicBezTo>
                      <a:pt x="175023" y="498578"/>
                      <a:pt x="248838" y="557218"/>
                      <a:pt x="340440" y="557218"/>
                    </a:cubicBezTo>
                    <a:cubicBezTo>
                      <a:pt x="422434" y="557218"/>
                      <a:pt x="475703" y="519012"/>
                      <a:pt x="516795" y="468451"/>
                    </a:cubicBezTo>
                    <a:lnTo>
                      <a:pt x="634365" y="557218"/>
                    </a:lnTo>
                    <a:cubicBezTo>
                      <a:pt x="557792" y="651402"/>
                      <a:pt x="460673" y="688373"/>
                      <a:pt x="356801" y="688373"/>
                    </a:cubicBezTo>
                    <a:cubicBezTo>
                      <a:pt x="158568" y="688373"/>
                      <a:pt x="0" y="550470"/>
                      <a:pt x="0" y="344234"/>
                    </a:cubicBezTo>
                    <a:cubicBezTo>
                      <a:pt x="0" y="137998"/>
                      <a:pt x="158568" y="0"/>
                      <a:pt x="356801" y="0"/>
                    </a:cubicBezTo>
                    <a:cubicBezTo>
                      <a:pt x="540005" y="0"/>
                      <a:pt x="664328" y="128399"/>
                      <a:pt x="664328" y="356494"/>
                    </a:cubicBezTo>
                    <a:lnTo>
                      <a:pt x="664328" y="401543"/>
                    </a:lnTo>
                    <a:lnTo>
                      <a:pt x="163989" y="401543"/>
                    </a:lnTo>
                    <a:close/>
                  </a:path>
                </a:pathLst>
              </a:custGeom>
              <a:grpFill/>
              <a:ln w="9512" cap="flat">
                <a:noFill/>
                <a:prstDash val="solid"/>
                <a:miter/>
              </a:ln>
            </p:spPr>
            <p:txBody>
              <a:bodyPr rtlCol="0" anchor="ctr"/>
              <a:lstStyle/>
              <a:p>
                <a:endParaRPr lang="fr-FR"/>
              </a:p>
            </p:txBody>
          </p:sp>
          <p:sp>
            <p:nvSpPr>
              <p:cNvPr id="21" name="Forme libre 20">
                <a:extLst>
                  <a:ext uri="{FF2B5EF4-FFF2-40B4-BE49-F238E27FC236}">
                    <a16:creationId xmlns:a16="http://schemas.microsoft.com/office/drawing/2014/main" id="{82B2538B-6B25-0FBA-ADDC-F8ADDE9460DB}"/>
                  </a:ext>
                </a:extLst>
              </p:cNvPr>
              <p:cNvSpPr/>
              <p:nvPr/>
            </p:nvSpPr>
            <p:spPr>
              <a:xfrm>
                <a:off x="7464417" y="3212689"/>
                <a:ext cx="598789" cy="672025"/>
              </a:xfrm>
              <a:custGeom>
                <a:avLst/>
                <a:gdLst>
                  <a:gd name="connsiteX0" fmla="*/ 95 w 598789"/>
                  <a:gd name="connsiteY0" fmla="*/ 16347 h 672025"/>
                  <a:gd name="connsiteX1" fmla="*/ 155904 w 598789"/>
                  <a:gd name="connsiteY1" fmla="*/ 16347 h 672025"/>
                  <a:gd name="connsiteX2" fmla="*/ 155904 w 598789"/>
                  <a:gd name="connsiteY2" fmla="*/ 121556 h 672025"/>
                  <a:gd name="connsiteX3" fmla="*/ 158568 w 598789"/>
                  <a:gd name="connsiteY3" fmla="*/ 121556 h 672025"/>
                  <a:gd name="connsiteX4" fmla="*/ 359559 w 598789"/>
                  <a:gd name="connsiteY4" fmla="*/ 0 h 672025"/>
                  <a:gd name="connsiteX5" fmla="*/ 598790 w 598789"/>
                  <a:gd name="connsiteY5" fmla="*/ 258128 h 672025"/>
                  <a:gd name="connsiteX6" fmla="*/ 598790 w 598789"/>
                  <a:gd name="connsiteY6" fmla="*/ 672026 h 672025"/>
                  <a:gd name="connsiteX7" fmla="*/ 434705 w 598789"/>
                  <a:gd name="connsiteY7" fmla="*/ 672026 h 672025"/>
                  <a:gd name="connsiteX8" fmla="*/ 434705 w 598789"/>
                  <a:gd name="connsiteY8" fmla="*/ 340147 h 672025"/>
                  <a:gd name="connsiteX9" fmla="*/ 314376 w 598789"/>
                  <a:gd name="connsiteY9" fmla="*/ 147597 h 672025"/>
                  <a:gd name="connsiteX10" fmla="*/ 163989 w 598789"/>
                  <a:gd name="connsiteY10" fmla="*/ 314201 h 672025"/>
                  <a:gd name="connsiteX11" fmla="*/ 163989 w 598789"/>
                  <a:gd name="connsiteY11" fmla="*/ 672026 h 672025"/>
                  <a:gd name="connsiteX12" fmla="*/ 0 w 598789"/>
                  <a:gd name="connsiteY12" fmla="*/ 672026 h 672025"/>
                  <a:gd name="connsiteX13" fmla="*/ 0 w 598789"/>
                  <a:gd name="connsiteY13" fmla="*/ 16347 h 67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8789" h="672025">
                    <a:moveTo>
                      <a:pt x="95" y="16347"/>
                    </a:moveTo>
                    <a:lnTo>
                      <a:pt x="155904" y="16347"/>
                    </a:lnTo>
                    <a:lnTo>
                      <a:pt x="155904" y="121556"/>
                    </a:lnTo>
                    <a:lnTo>
                      <a:pt x="158568" y="121556"/>
                    </a:lnTo>
                    <a:cubicBezTo>
                      <a:pt x="188721" y="56073"/>
                      <a:pt x="250265" y="0"/>
                      <a:pt x="359559" y="0"/>
                    </a:cubicBezTo>
                    <a:cubicBezTo>
                      <a:pt x="535915" y="0"/>
                      <a:pt x="598790" y="124312"/>
                      <a:pt x="598790" y="258128"/>
                    </a:cubicBezTo>
                    <a:lnTo>
                      <a:pt x="598790" y="672026"/>
                    </a:lnTo>
                    <a:lnTo>
                      <a:pt x="434705" y="672026"/>
                    </a:lnTo>
                    <a:lnTo>
                      <a:pt x="434705" y="340147"/>
                    </a:lnTo>
                    <a:cubicBezTo>
                      <a:pt x="434705" y="267822"/>
                      <a:pt x="429283" y="147597"/>
                      <a:pt x="314376" y="147597"/>
                    </a:cubicBezTo>
                    <a:cubicBezTo>
                      <a:pt x="206414" y="147597"/>
                      <a:pt x="163989" y="226860"/>
                      <a:pt x="163989" y="314201"/>
                    </a:cubicBezTo>
                    <a:lnTo>
                      <a:pt x="163989" y="672026"/>
                    </a:lnTo>
                    <a:lnTo>
                      <a:pt x="0" y="672026"/>
                    </a:lnTo>
                    <a:lnTo>
                      <a:pt x="0" y="16347"/>
                    </a:lnTo>
                    <a:close/>
                  </a:path>
                </a:pathLst>
              </a:custGeom>
              <a:grpFill/>
              <a:ln w="9512" cap="flat">
                <a:noFill/>
                <a:prstDash val="solid"/>
                <a:miter/>
              </a:ln>
            </p:spPr>
            <p:txBody>
              <a:bodyPr rtlCol="0" anchor="ctr"/>
              <a:lstStyle/>
              <a:p>
                <a:endParaRPr lang="fr-FR"/>
              </a:p>
            </p:txBody>
          </p:sp>
          <p:sp>
            <p:nvSpPr>
              <p:cNvPr id="22" name="Forme libre 21">
                <a:extLst>
                  <a:ext uri="{FF2B5EF4-FFF2-40B4-BE49-F238E27FC236}">
                    <a16:creationId xmlns:a16="http://schemas.microsoft.com/office/drawing/2014/main" id="{B45DE06D-7DB7-7CE6-B62B-FF889C4BEE14}"/>
                  </a:ext>
                </a:extLst>
              </p:cNvPr>
              <p:cNvSpPr/>
              <p:nvPr/>
            </p:nvSpPr>
            <p:spPr>
              <a:xfrm>
                <a:off x="8147865" y="3212689"/>
                <a:ext cx="594603" cy="688372"/>
              </a:xfrm>
              <a:custGeom>
                <a:avLst/>
                <a:gdLst>
                  <a:gd name="connsiteX0" fmla="*/ 481219 w 594603"/>
                  <a:gd name="connsiteY0" fmla="*/ 213079 h 688372"/>
                  <a:gd name="connsiteX1" fmla="*/ 356800 w 594603"/>
                  <a:gd name="connsiteY1" fmla="*/ 147502 h 688372"/>
                  <a:gd name="connsiteX2" fmla="*/ 163989 w 594603"/>
                  <a:gd name="connsiteY2" fmla="*/ 344139 h 688372"/>
                  <a:gd name="connsiteX3" fmla="*/ 356800 w 594603"/>
                  <a:gd name="connsiteY3" fmla="*/ 540776 h 688372"/>
                  <a:gd name="connsiteX4" fmla="*/ 483883 w 594603"/>
                  <a:gd name="connsiteY4" fmla="*/ 479380 h 688372"/>
                  <a:gd name="connsiteX5" fmla="*/ 593273 w 594603"/>
                  <a:gd name="connsiteY5" fmla="*/ 596850 h 688372"/>
                  <a:gd name="connsiteX6" fmla="*/ 356800 w 594603"/>
                  <a:gd name="connsiteY6" fmla="*/ 688373 h 688372"/>
                  <a:gd name="connsiteX7" fmla="*/ 0 w 594603"/>
                  <a:gd name="connsiteY7" fmla="*/ 344139 h 688372"/>
                  <a:gd name="connsiteX8" fmla="*/ 356800 w 594603"/>
                  <a:gd name="connsiteY8" fmla="*/ 0 h 688372"/>
                  <a:gd name="connsiteX9" fmla="*/ 594604 w 594603"/>
                  <a:gd name="connsiteY9" fmla="*/ 99697 h 688372"/>
                  <a:gd name="connsiteX10" fmla="*/ 481124 w 594603"/>
                  <a:gd name="connsiteY10" fmla="*/ 212984 h 688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4603" h="688372">
                    <a:moveTo>
                      <a:pt x="481219" y="213079"/>
                    </a:moveTo>
                    <a:cubicBezTo>
                      <a:pt x="442885" y="173447"/>
                      <a:pt x="400556" y="147502"/>
                      <a:pt x="356800" y="147502"/>
                    </a:cubicBezTo>
                    <a:cubicBezTo>
                      <a:pt x="236472" y="147502"/>
                      <a:pt x="163989" y="241686"/>
                      <a:pt x="163989" y="344139"/>
                    </a:cubicBezTo>
                    <a:cubicBezTo>
                      <a:pt x="163989" y="446592"/>
                      <a:pt x="236472" y="540776"/>
                      <a:pt x="356800" y="540776"/>
                    </a:cubicBezTo>
                    <a:cubicBezTo>
                      <a:pt x="407310" y="540776"/>
                      <a:pt x="453824" y="519012"/>
                      <a:pt x="483883" y="479380"/>
                    </a:cubicBezTo>
                    <a:lnTo>
                      <a:pt x="593273" y="596850"/>
                    </a:lnTo>
                    <a:cubicBezTo>
                      <a:pt x="526307" y="663758"/>
                      <a:pt x="414159" y="688373"/>
                      <a:pt x="356800" y="688373"/>
                    </a:cubicBezTo>
                    <a:cubicBezTo>
                      <a:pt x="158567" y="688373"/>
                      <a:pt x="0" y="550375"/>
                      <a:pt x="0" y="344139"/>
                    </a:cubicBezTo>
                    <a:cubicBezTo>
                      <a:pt x="0" y="137903"/>
                      <a:pt x="158567" y="0"/>
                      <a:pt x="356800" y="0"/>
                    </a:cubicBezTo>
                    <a:cubicBezTo>
                      <a:pt x="440222" y="0"/>
                      <a:pt x="531729" y="30033"/>
                      <a:pt x="594604" y="99697"/>
                    </a:cubicBezTo>
                    <a:lnTo>
                      <a:pt x="481124" y="212984"/>
                    </a:lnTo>
                    <a:close/>
                  </a:path>
                </a:pathLst>
              </a:custGeom>
              <a:grpFill/>
              <a:ln w="9512" cap="flat">
                <a:noFill/>
                <a:prstDash val="solid"/>
                <a:miter/>
              </a:ln>
            </p:spPr>
            <p:txBody>
              <a:bodyPr rtlCol="0" anchor="ctr"/>
              <a:lstStyle/>
              <a:p>
                <a:endParaRPr lang="fr-FR"/>
              </a:p>
            </p:txBody>
          </p:sp>
          <p:sp>
            <p:nvSpPr>
              <p:cNvPr id="23" name="Forme libre 22">
                <a:extLst>
                  <a:ext uri="{FF2B5EF4-FFF2-40B4-BE49-F238E27FC236}">
                    <a16:creationId xmlns:a16="http://schemas.microsoft.com/office/drawing/2014/main" id="{12BD76DA-1C9F-5902-44E1-4A5F7B9829C5}"/>
                  </a:ext>
                </a:extLst>
              </p:cNvPr>
              <p:cNvSpPr/>
              <p:nvPr/>
            </p:nvSpPr>
            <p:spPr>
              <a:xfrm>
                <a:off x="8750745" y="2908087"/>
                <a:ext cx="210408" cy="976533"/>
              </a:xfrm>
              <a:custGeom>
                <a:avLst/>
                <a:gdLst>
                  <a:gd name="connsiteX0" fmla="*/ 23210 w 210408"/>
                  <a:gd name="connsiteY0" fmla="*/ 320949 h 976533"/>
                  <a:gd name="connsiteX1" fmla="*/ 187294 w 210408"/>
                  <a:gd name="connsiteY1" fmla="*/ 320949 h 976533"/>
                  <a:gd name="connsiteX2" fmla="*/ 187294 w 210408"/>
                  <a:gd name="connsiteY2" fmla="*/ 976533 h 976533"/>
                  <a:gd name="connsiteX3" fmla="*/ 23210 w 210408"/>
                  <a:gd name="connsiteY3" fmla="*/ 976533 h 976533"/>
                  <a:gd name="connsiteX4" fmla="*/ 23210 w 210408"/>
                  <a:gd name="connsiteY4" fmla="*/ 320949 h 976533"/>
                  <a:gd name="connsiteX5" fmla="*/ 103872 w 210408"/>
                  <a:gd name="connsiteY5" fmla="*/ 0 h 976533"/>
                  <a:gd name="connsiteX6" fmla="*/ 210409 w 210408"/>
                  <a:gd name="connsiteY6" fmla="*/ 98271 h 976533"/>
                  <a:gd name="connsiteX7" fmla="*/ 103872 w 210408"/>
                  <a:gd name="connsiteY7" fmla="*/ 196637 h 976533"/>
                  <a:gd name="connsiteX8" fmla="*/ 0 w 210408"/>
                  <a:gd name="connsiteY8" fmla="*/ 98271 h 976533"/>
                  <a:gd name="connsiteX9" fmla="*/ 103872 w 210408"/>
                  <a:gd name="connsiteY9" fmla="*/ 0 h 976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0408" h="976533">
                    <a:moveTo>
                      <a:pt x="23210" y="320949"/>
                    </a:moveTo>
                    <a:lnTo>
                      <a:pt x="187294" y="320949"/>
                    </a:lnTo>
                    <a:lnTo>
                      <a:pt x="187294" y="976533"/>
                    </a:lnTo>
                    <a:lnTo>
                      <a:pt x="23210" y="976533"/>
                    </a:lnTo>
                    <a:lnTo>
                      <a:pt x="23210" y="320949"/>
                    </a:lnTo>
                    <a:close/>
                    <a:moveTo>
                      <a:pt x="103872" y="0"/>
                    </a:moveTo>
                    <a:cubicBezTo>
                      <a:pt x="163989" y="0"/>
                      <a:pt x="210409" y="42293"/>
                      <a:pt x="210409" y="98271"/>
                    </a:cubicBezTo>
                    <a:cubicBezTo>
                      <a:pt x="210409" y="154249"/>
                      <a:pt x="163989" y="196637"/>
                      <a:pt x="103872" y="196637"/>
                    </a:cubicBezTo>
                    <a:cubicBezTo>
                      <a:pt x="43756" y="196637"/>
                      <a:pt x="0" y="150163"/>
                      <a:pt x="0" y="98271"/>
                    </a:cubicBezTo>
                    <a:cubicBezTo>
                      <a:pt x="0" y="46379"/>
                      <a:pt x="43756" y="0"/>
                      <a:pt x="103872" y="0"/>
                    </a:cubicBezTo>
                  </a:path>
                </a:pathLst>
              </a:custGeom>
              <a:grpFill/>
              <a:ln w="9512" cap="flat">
                <a:noFill/>
                <a:prstDash val="solid"/>
                <a:miter/>
              </a:ln>
            </p:spPr>
            <p:txBody>
              <a:bodyPr rtlCol="0" anchor="ctr"/>
              <a:lstStyle/>
              <a:p>
                <a:endParaRPr lang="fr-FR"/>
              </a:p>
            </p:txBody>
          </p:sp>
          <p:sp>
            <p:nvSpPr>
              <p:cNvPr id="24" name="Forme libre 23">
                <a:extLst>
                  <a:ext uri="{FF2B5EF4-FFF2-40B4-BE49-F238E27FC236}">
                    <a16:creationId xmlns:a16="http://schemas.microsoft.com/office/drawing/2014/main" id="{3B09702B-0C60-4631-33F5-3FA7D541CC4A}"/>
                  </a:ext>
                </a:extLst>
              </p:cNvPr>
              <p:cNvSpPr/>
              <p:nvPr/>
            </p:nvSpPr>
            <p:spPr>
              <a:xfrm>
                <a:off x="9014611" y="3212499"/>
                <a:ext cx="601452" cy="688467"/>
              </a:xfrm>
              <a:custGeom>
                <a:avLst/>
                <a:gdLst>
                  <a:gd name="connsiteX0" fmla="*/ 444217 w 601452"/>
                  <a:gd name="connsiteY0" fmla="*/ 378448 h 688467"/>
                  <a:gd name="connsiteX1" fmla="*/ 410068 w 601452"/>
                  <a:gd name="connsiteY1" fmla="*/ 378448 h 688467"/>
                  <a:gd name="connsiteX2" fmla="*/ 163989 w 601452"/>
                  <a:gd name="connsiteY2" fmla="*/ 479571 h 688467"/>
                  <a:gd name="connsiteX3" fmla="*/ 278801 w 601452"/>
                  <a:gd name="connsiteY3" fmla="*/ 565582 h 688467"/>
                  <a:gd name="connsiteX4" fmla="*/ 444217 w 601452"/>
                  <a:gd name="connsiteY4" fmla="*/ 415419 h 688467"/>
                  <a:gd name="connsiteX5" fmla="*/ 444217 w 601452"/>
                  <a:gd name="connsiteY5" fmla="*/ 378543 h 688467"/>
                  <a:gd name="connsiteX6" fmla="*/ 453824 w 601452"/>
                  <a:gd name="connsiteY6" fmla="*/ 581928 h 688467"/>
                  <a:gd name="connsiteX7" fmla="*/ 449734 w 601452"/>
                  <a:gd name="connsiteY7" fmla="*/ 581928 h 688467"/>
                  <a:gd name="connsiteX8" fmla="*/ 239230 w 601452"/>
                  <a:gd name="connsiteY8" fmla="*/ 688468 h 688467"/>
                  <a:gd name="connsiteX9" fmla="*/ 0 w 601452"/>
                  <a:gd name="connsiteY9" fmla="*/ 491736 h 688467"/>
                  <a:gd name="connsiteX10" fmla="*/ 412827 w 601452"/>
                  <a:gd name="connsiteY10" fmla="*/ 263640 h 688467"/>
                  <a:gd name="connsiteX11" fmla="*/ 453824 w 601452"/>
                  <a:gd name="connsiteY11" fmla="*/ 263640 h 688467"/>
                  <a:gd name="connsiteX12" fmla="*/ 453824 w 601452"/>
                  <a:gd name="connsiteY12" fmla="*/ 245868 h 688467"/>
                  <a:gd name="connsiteX13" fmla="*/ 303437 w 601452"/>
                  <a:gd name="connsiteY13" fmla="*/ 122981 h 688467"/>
                  <a:gd name="connsiteX14" fmla="*/ 128509 w 601452"/>
                  <a:gd name="connsiteY14" fmla="*/ 191220 h 688467"/>
                  <a:gd name="connsiteX15" fmla="*/ 42424 w 601452"/>
                  <a:gd name="connsiteY15" fmla="*/ 105209 h 688467"/>
                  <a:gd name="connsiteX16" fmla="*/ 321225 w 601452"/>
                  <a:gd name="connsiteY16" fmla="*/ 0 h 688467"/>
                  <a:gd name="connsiteX17" fmla="*/ 601453 w 601452"/>
                  <a:gd name="connsiteY17" fmla="*/ 295003 h 688467"/>
                  <a:gd name="connsiteX18" fmla="*/ 601453 w 601452"/>
                  <a:gd name="connsiteY18" fmla="*/ 672026 h 688467"/>
                  <a:gd name="connsiteX19" fmla="*/ 453824 w 601452"/>
                  <a:gd name="connsiteY19" fmla="*/ 672026 h 688467"/>
                  <a:gd name="connsiteX20" fmla="*/ 453824 w 601452"/>
                  <a:gd name="connsiteY20" fmla="*/ 581833 h 688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01452" h="688467">
                    <a:moveTo>
                      <a:pt x="444217" y="378448"/>
                    </a:moveTo>
                    <a:lnTo>
                      <a:pt x="410068" y="378448"/>
                    </a:lnTo>
                    <a:cubicBezTo>
                      <a:pt x="319798" y="378448"/>
                      <a:pt x="163989" y="385291"/>
                      <a:pt x="163989" y="479571"/>
                    </a:cubicBezTo>
                    <a:cubicBezTo>
                      <a:pt x="163989" y="539636"/>
                      <a:pt x="225438" y="565582"/>
                      <a:pt x="278801" y="565582"/>
                    </a:cubicBezTo>
                    <a:cubicBezTo>
                      <a:pt x="390854" y="565582"/>
                      <a:pt x="444217" y="506847"/>
                      <a:pt x="444217" y="415419"/>
                    </a:cubicBezTo>
                    <a:lnTo>
                      <a:pt x="444217" y="378543"/>
                    </a:lnTo>
                    <a:close/>
                    <a:moveTo>
                      <a:pt x="453824" y="581928"/>
                    </a:moveTo>
                    <a:lnTo>
                      <a:pt x="449734" y="581928"/>
                    </a:lnTo>
                    <a:cubicBezTo>
                      <a:pt x="403315" y="655679"/>
                      <a:pt x="326742" y="688468"/>
                      <a:pt x="239230" y="688468"/>
                    </a:cubicBezTo>
                    <a:cubicBezTo>
                      <a:pt x="117570" y="688468"/>
                      <a:pt x="0" y="621560"/>
                      <a:pt x="0" y="491736"/>
                    </a:cubicBezTo>
                    <a:cubicBezTo>
                      <a:pt x="0" y="278752"/>
                      <a:pt x="248837" y="263640"/>
                      <a:pt x="412827" y="263640"/>
                    </a:cubicBezTo>
                    <a:lnTo>
                      <a:pt x="453824" y="263640"/>
                    </a:lnTo>
                    <a:lnTo>
                      <a:pt x="453824" y="245868"/>
                    </a:lnTo>
                    <a:cubicBezTo>
                      <a:pt x="453824" y="165274"/>
                      <a:pt x="390949" y="122981"/>
                      <a:pt x="303437" y="122981"/>
                    </a:cubicBezTo>
                    <a:cubicBezTo>
                      <a:pt x="235140" y="122981"/>
                      <a:pt x="172265" y="150258"/>
                      <a:pt x="128509" y="191220"/>
                    </a:cubicBezTo>
                    <a:lnTo>
                      <a:pt x="42424" y="105209"/>
                    </a:lnTo>
                    <a:cubicBezTo>
                      <a:pt x="114906" y="31458"/>
                      <a:pt x="217352" y="0"/>
                      <a:pt x="321225" y="0"/>
                    </a:cubicBezTo>
                    <a:cubicBezTo>
                      <a:pt x="601453" y="0"/>
                      <a:pt x="601453" y="202149"/>
                      <a:pt x="601453" y="295003"/>
                    </a:cubicBezTo>
                    <a:lnTo>
                      <a:pt x="601453" y="672026"/>
                    </a:lnTo>
                    <a:lnTo>
                      <a:pt x="453824" y="672026"/>
                    </a:lnTo>
                    <a:lnTo>
                      <a:pt x="453824" y="581833"/>
                    </a:lnTo>
                    <a:close/>
                  </a:path>
                </a:pathLst>
              </a:custGeom>
              <a:grpFill/>
              <a:ln w="9512" cap="flat">
                <a:noFill/>
                <a:prstDash val="solid"/>
                <a:miter/>
              </a:ln>
            </p:spPr>
            <p:txBody>
              <a:bodyPr rtlCol="0" anchor="ctr"/>
              <a:lstStyle/>
              <a:p>
                <a:endParaRPr lang="fr-FR"/>
              </a:p>
            </p:txBody>
          </p:sp>
        </p:grpSp>
      </p:grpSp>
      <p:sp>
        <p:nvSpPr>
          <p:cNvPr id="6" name="Graphique 29">
            <a:extLst>
              <a:ext uri="{FF2B5EF4-FFF2-40B4-BE49-F238E27FC236}">
                <a16:creationId xmlns:a16="http://schemas.microsoft.com/office/drawing/2014/main" id="{A6048FBC-0B3B-D1FD-CDAC-8C23F578CE90}"/>
              </a:ext>
            </a:extLst>
          </p:cNvPr>
          <p:cNvSpPr/>
          <p:nvPr userDrawn="1"/>
        </p:nvSpPr>
        <p:spPr>
          <a:xfrm flipH="1">
            <a:off x="6794209" y="630692"/>
            <a:ext cx="5397791" cy="6592012"/>
          </a:xfrm>
          <a:custGeom>
            <a:avLst/>
            <a:gdLst>
              <a:gd name="connsiteX0" fmla="*/ 3641377 w 3685056"/>
              <a:gd name="connsiteY0" fmla="*/ 502156 h 4500347"/>
              <a:gd name="connsiteX1" fmla="*/ 3485068 w 3685056"/>
              <a:gd name="connsiteY1" fmla="*/ 267241 h 4500347"/>
              <a:gd name="connsiteX2" fmla="*/ 1912951 w 3685056"/>
              <a:gd name="connsiteY2" fmla="*/ 40437 h 4500347"/>
              <a:gd name="connsiteX3" fmla="*/ 0 w 3685056"/>
              <a:gd name="connsiteY3" fmla="*/ 300905 h 4500347"/>
              <a:gd name="connsiteX4" fmla="*/ 0 w 3685056"/>
              <a:gd name="connsiteY4" fmla="*/ 1274412 h 4500347"/>
              <a:gd name="connsiteX5" fmla="*/ 1858654 w 3685056"/>
              <a:gd name="connsiteY5" fmla="*/ 556494 h 4500347"/>
              <a:gd name="connsiteX6" fmla="*/ 3161174 w 3685056"/>
              <a:gd name="connsiteY6" fmla="*/ 585584 h 4500347"/>
              <a:gd name="connsiteX7" fmla="*/ 2778657 w 3685056"/>
              <a:gd name="connsiteY7" fmla="*/ 1898779 h 4500347"/>
              <a:gd name="connsiteX8" fmla="*/ 740171 w 3685056"/>
              <a:gd name="connsiteY8" fmla="*/ 4500348 h 4500347"/>
              <a:gd name="connsiteX9" fmla="*/ 2033185 w 3685056"/>
              <a:gd name="connsiteY9" fmla="*/ 4500348 h 4500347"/>
              <a:gd name="connsiteX10" fmla="*/ 2730149 w 3685056"/>
              <a:gd name="connsiteY10" fmla="*/ 3167028 h 4500347"/>
              <a:gd name="connsiteX11" fmla="*/ 3485129 w 3685056"/>
              <a:gd name="connsiteY11" fmla="*/ 1567507 h 4500347"/>
              <a:gd name="connsiteX12" fmla="*/ 3641438 w 3685056"/>
              <a:gd name="connsiteY12" fmla="*/ 502278 h 4500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85056" h="4500347">
                <a:moveTo>
                  <a:pt x="3641377" y="502156"/>
                </a:moveTo>
                <a:cubicBezTo>
                  <a:pt x="3598842" y="408239"/>
                  <a:pt x="3546494" y="330849"/>
                  <a:pt x="3485068" y="267241"/>
                </a:cubicBezTo>
                <a:cubicBezTo>
                  <a:pt x="3171595" y="-57261"/>
                  <a:pt x="2620336" y="-19938"/>
                  <a:pt x="1912951" y="40437"/>
                </a:cubicBezTo>
                <a:cubicBezTo>
                  <a:pt x="1067050" y="112582"/>
                  <a:pt x="0" y="300905"/>
                  <a:pt x="0" y="300905"/>
                </a:cubicBezTo>
                <a:lnTo>
                  <a:pt x="0" y="1274412"/>
                </a:lnTo>
                <a:cubicBezTo>
                  <a:pt x="0" y="1274412"/>
                  <a:pt x="1204956" y="769698"/>
                  <a:pt x="1858654" y="556494"/>
                </a:cubicBezTo>
                <a:cubicBezTo>
                  <a:pt x="2512352" y="343290"/>
                  <a:pt x="2927654" y="276267"/>
                  <a:pt x="3161174" y="585584"/>
                </a:cubicBezTo>
                <a:cubicBezTo>
                  <a:pt x="3421508" y="930455"/>
                  <a:pt x="2986887" y="1593487"/>
                  <a:pt x="2778657" y="1898779"/>
                </a:cubicBezTo>
                <a:cubicBezTo>
                  <a:pt x="2570427" y="2204071"/>
                  <a:pt x="2098695" y="2843562"/>
                  <a:pt x="740171" y="4500348"/>
                </a:cubicBezTo>
                <a:lnTo>
                  <a:pt x="2033185" y="4500348"/>
                </a:lnTo>
                <a:cubicBezTo>
                  <a:pt x="2033185" y="4500348"/>
                  <a:pt x="2463844" y="3709796"/>
                  <a:pt x="2730149" y="3167028"/>
                </a:cubicBezTo>
                <a:cubicBezTo>
                  <a:pt x="2930457" y="2758732"/>
                  <a:pt x="3269586" y="2131316"/>
                  <a:pt x="3485129" y="1567507"/>
                </a:cubicBezTo>
                <a:cubicBezTo>
                  <a:pt x="3652286" y="1130243"/>
                  <a:pt x="3745157" y="731217"/>
                  <a:pt x="3641438" y="502278"/>
                </a:cubicBezTo>
                <a:close/>
              </a:path>
            </a:pathLst>
          </a:custGeom>
          <a:solidFill>
            <a:srgbClr val="758BC5">
              <a:alpha val="70000"/>
            </a:srgbClr>
          </a:solidFill>
          <a:ln w="6093" cap="flat">
            <a:noFill/>
            <a:prstDash val="solid"/>
            <a:miter/>
          </a:ln>
        </p:spPr>
        <p:txBody>
          <a:bodyPr rtlCol="0" anchor="ctr"/>
          <a:lstStyle/>
          <a:p>
            <a:endParaRPr lang="fr-FR">
              <a:solidFill>
                <a:schemeClr val="accent2"/>
              </a:solidFill>
            </a:endParaRPr>
          </a:p>
        </p:txBody>
      </p:sp>
      <p:sp>
        <p:nvSpPr>
          <p:cNvPr id="8" name="Espace réservé du contenu 7">
            <a:extLst>
              <a:ext uri="{FF2B5EF4-FFF2-40B4-BE49-F238E27FC236}">
                <a16:creationId xmlns:a16="http://schemas.microsoft.com/office/drawing/2014/main" id="{4038C916-A98D-A5E7-086C-C33DDEE8D942}"/>
              </a:ext>
            </a:extLst>
          </p:cNvPr>
          <p:cNvSpPr>
            <a:spLocks noGrp="1"/>
          </p:cNvSpPr>
          <p:nvPr>
            <p:ph sz="quarter" idx="10" hasCustomPrompt="1"/>
          </p:nvPr>
        </p:nvSpPr>
        <p:spPr>
          <a:xfrm>
            <a:off x="592138" y="2613896"/>
            <a:ext cx="5840412" cy="1584325"/>
          </a:xfrm>
        </p:spPr>
        <p:txBody>
          <a:bodyPr/>
          <a:lstStyle>
            <a:lvl1pPr marL="0" indent="0">
              <a:buNone/>
              <a:defRPr>
                <a:solidFill>
                  <a:schemeClr val="bg1"/>
                </a:solidFill>
              </a:defRPr>
            </a:lvl1pPr>
          </a:lstStyle>
          <a:p>
            <a:pPr lvl="0"/>
            <a:r>
              <a:rPr lang="fr-FR" dirty="0"/>
              <a:t>Merci de votre attention.</a:t>
            </a:r>
          </a:p>
        </p:txBody>
      </p:sp>
      <p:sp>
        <p:nvSpPr>
          <p:cNvPr id="5" name="ZoneTexte 4">
            <a:extLst>
              <a:ext uri="{FF2B5EF4-FFF2-40B4-BE49-F238E27FC236}">
                <a16:creationId xmlns:a16="http://schemas.microsoft.com/office/drawing/2014/main" id="{57912CD0-332F-B3D6-D0FE-14D3A4FBCE9E}"/>
              </a:ext>
            </a:extLst>
          </p:cNvPr>
          <p:cNvSpPr txBox="1"/>
          <p:nvPr userDrawn="1"/>
        </p:nvSpPr>
        <p:spPr>
          <a:xfrm>
            <a:off x="689674" y="2021620"/>
            <a:ext cx="1100669" cy="246221"/>
          </a:xfrm>
          <a:prstGeom prst="rect">
            <a:avLst/>
          </a:prstGeom>
          <a:noFill/>
        </p:spPr>
        <p:txBody>
          <a:bodyPr wrap="square" rtlCol="0">
            <a:spAutoFit/>
          </a:bodyPr>
          <a:lstStyle/>
          <a:p>
            <a:pPr algn="ctr"/>
            <a:r>
              <a:rPr lang="fr-FR" sz="1000" b="1" dirty="0" err="1">
                <a:solidFill>
                  <a:srgbClr val="BCDCF1"/>
                </a:solidFill>
                <a:latin typeface="Arial Nova" panose="020B0504020202020204" pitchFamily="34" charset="0"/>
              </a:rPr>
              <a:t>audencia</a:t>
            </a:r>
            <a:r>
              <a:rPr lang="fr-FR" sz="1000" dirty="0" err="1">
                <a:solidFill>
                  <a:srgbClr val="BCDCF1"/>
                </a:solidFill>
                <a:latin typeface="Arial Nova" panose="020B0504020202020204" pitchFamily="34" charset="0"/>
              </a:rPr>
              <a:t>.com</a:t>
            </a:r>
            <a:endParaRPr lang="fr-FR" sz="1000" dirty="0">
              <a:solidFill>
                <a:srgbClr val="BCDCF1"/>
              </a:solidFill>
              <a:latin typeface="Arial Nova" panose="020B0504020202020204" pitchFamily="34" charset="0"/>
            </a:endParaRPr>
          </a:p>
        </p:txBody>
      </p:sp>
    </p:spTree>
    <p:extLst>
      <p:ext uri="{BB962C8B-B14F-4D97-AF65-F5344CB8AC3E}">
        <p14:creationId xmlns:p14="http://schemas.microsoft.com/office/powerpoint/2010/main" val="15407763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Diapositive de fin">
    <p:bg>
      <p:bgPr>
        <a:gradFill>
          <a:gsLst>
            <a:gs pos="100000">
              <a:srgbClr val="032D5A"/>
            </a:gs>
            <a:gs pos="0">
              <a:srgbClr val="9378B5"/>
            </a:gs>
          </a:gsLst>
          <a:lin ang="2700000" scaled="0"/>
        </a:gra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675E09-98F4-CB40-847A-223EE4FF2325}"/>
              </a:ext>
            </a:extLst>
          </p:cNvPr>
          <p:cNvSpPr>
            <a:spLocks noGrp="1"/>
          </p:cNvSpPr>
          <p:nvPr>
            <p:ph type="ctrTitle" hasCustomPrompt="1"/>
          </p:nvPr>
        </p:nvSpPr>
        <p:spPr>
          <a:xfrm>
            <a:off x="592667" y="3069986"/>
            <a:ext cx="5839968" cy="2387600"/>
          </a:xfrm>
        </p:spPr>
        <p:txBody>
          <a:bodyPr anchor="b">
            <a:normAutofit/>
          </a:bodyPr>
          <a:lstStyle>
            <a:lvl1pPr algn="l">
              <a:defRPr sz="2000">
                <a:solidFill>
                  <a:srgbClr val="BCDCF1"/>
                </a:solidFill>
                <a:latin typeface="Arial" panose="020B0604020202020204" pitchFamily="34" charset="0"/>
                <a:cs typeface="Arial" panose="020B0604020202020204" pitchFamily="34" charset="0"/>
              </a:defRPr>
            </a:lvl1pPr>
          </a:lstStyle>
          <a:p>
            <a:r>
              <a:rPr lang="fr-FR" dirty="0"/>
              <a:t>Nom du contact</a:t>
            </a:r>
          </a:p>
        </p:txBody>
      </p:sp>
      <p:sp>
        <p:nvSpPr>
          <p:cNvPr id="3" name="Sous-titre 2">
            <a:extLst>
              <a:ext uri="{FF2B5EF4-FFF2-40B4-BE49-F238E27FC236}">
                <a16:creationId xmlns:a16="http://schemas.microsoft.com/office/drawing/2014/main" id="{B8CA446D-6137-3B12-BD1E-2599511A02D5}"/>
              </a:ext>
            </a:extLst>
          </p:cNvPr>
          <p:cNvSpPr>
            <a:spLocks noGrp="1"/>
          </p:cNvSpPr>
          <p:nvPr>
            <p:ph type="subTitle" idx="1" hasCustomPrompt="1"/>
          </p:nvPr>
        </p:nvSpPr>
        <p:spPr>
          <a:xfrm>
            <a:off x="592667" y="5549661"/>
            <a:ext cx="5839968" cy="842819"/>
          </a:xfrm>
        </p:spPr>
        <p:txBody>
          <a:bodyPr>
            <a:normAutofit/>
          </a:bodyPr>
          <a:lstStyle>
            <a:lvl1pPr marL="0" indent="0" algn="l">
              <a:buNone/>
              <a:defRPr sz="1600" b="0" i="1">
                <a:solidFill>
                  <a:schemeClr val="bg1"/>
                </a:solidFill>
                <a:latin typeface="Arial Nova Cond" panose="020B0506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Coordonnées</a:t>
            </a:r>
          </a:p>
        </p:txBody>
      </p:sp>
      <p:grpSp>
        <p:nvGrpSpPr>
          <p:cNvPr id="14" name="Groupe 13">
            <a:extLst>
              <a:ext uri="{FF2B5EF4-FFF2-40B4-BE49-F238E27FC236}">
                <a16:creationId xmlns:a16="http://schemas.microsoft.com/office/drawing/2014/main" id="{3983B729-1067-981B-92A3-93D88B6F605E}"/>
              </a:ext>
            </a:extLst>
          </p:cNvPr>
          <p:cNvGrpSpPr/>
          <p:nvPr userDrawn="1"/>
        </p:nvGrpSpPr>
        <p:grpSpPr>
          <a:xfrm>
            <a:off x="689674" y="679747"/>
            <a:ext cx="1100669" cy="1242080"/>
            <a:chOff x="5706531" y="490797"/>
            <a:chExt cx="1100669" cy="1242080"/>
          </a:xfrm>
          <a:solidFill>
            <a:srgbClr val="BCDCF1"/>
          </a:solidFill>
        </p:grpSpPr>
        <p:grpSp>
          <p:nvGrpSpPr>
            <p:cNvPr id="15" name="Groupe 14">
              <a:extLst>
                <a:ext uri="{FF2B5EF4-FFF2-40B4-BE49-F238E27FC236}">
                  <a16:creationId xmlns:a16="http://schemas.microsoft.com/office/drawing/2014/main" id="{20F5A30A-B8B9-76A8-E1F3-D39A5F61B0D0}"/>
                </a:ext>
              </a:extLst>
            </p:cNvPr>
            <p:cNvGrpSpPr/>
            <p:nvPr/>
          </p:nvGrpSpPr>
          <p:grpSpPr>
            <a:xfrm>
              <a:off x="5812721" y="490797"/>
              <a:ext cx="890009" cy="889269"/>
              <a:chOff x="2571750" y="2711450"/>
              <a:chExt cx="1439148" cy="1437951"/>
            </a:xfrm>
            <a:grpFill/>
          </p:grpSpPr>
          <p:sp>
            <p:nvSpPr>
              <p:cNvPr id="25" name="Forme libre 24">
                <a:extLst>
                  <a:ext uri="{FF2B5EF4-FFF2-40B4-BE49-F238E27FC236}">
                    <a16:creationId xmlns:a16="http://schemas.microsoft.com/office/drawing/2014/main" id="{293068B8-BCDD-3640-F482-C23282BE3F39}"/>
                  </a:ext>
                </a:extLst>
              </p:cNvPr>
              <p:cNvSpPr/>
              <p:nvPr/>
            </p:nvSpPr>
            <p:spPr>
              <a:xfrm>
                <a:off x="2821538" y="2890124"/>
                <a:ext cx="715298" cy="646365"/>
              </a:xfrm>
              <a:custGeom>
                <a:avLst/>
                <a:gdLst>
                  <a:gd name="connsiteX0" fmla="*/ 0 w 715298"/>
                  <a:gd name="connsiteY0" fmla="*/ 646270 h 646365"/>
                  <a:gd name="connsiteX1" fmla="*/ 173121 w 715298"/>
                  <a:gd name="connsiteY1" fmla="*/ 392704 h 646365"/>
                  <a:gd name="connsiteX2" fmla="*/ 173977 w 715298"/>
                  <a:gd name="connsiteY2" fmla="*/ 391469 h 646365"/>
                  <a:gd name="connsiteX3" fmla="*/ 411495 w 715298"/>
                  <a:gd name="connsiteY3" fmla="*/ 79928 h 646365"/>
                  <a:gd name="connsiteX4" fmla="*/ 574534 w 715298"/>
                  <a:gd name="connsiteY4" fmla="*/ 0 h 646365"/>
                  <a:gd name="connsiteX5" fmla="*/ 692389 w 715298"/>
                  <a:gd name="connsiteY5" fmla="*/ 97131 h 646365"/>
                  <a:gd name="connsiteX6" fmla="*/ 712269 w 715298"/>
                  <a:gd name="connsiteY6" fmla="*/ 437183 h 646365"/>
                  <a:gd name="connsiteX7" fmla="*/ 0 w 715298"/>
                  <a:gd name="connsiteY7" fmla="*/ 646365 h 646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5298" h="646365">
                    <a:moveTo>
                      <a:pt x="0" y="646270"/>
                    </a:moveTo>
                    <a:cubicBezTo>
                      <a:pt x="27966" y="604738"/>
                      <a:pt x="84848" y="521103"/>
                      <a:pt x="173121" y="392704"/>
                    </a:cubicBezTo>
                    <a:lnTo>
                      <a:pt x="173977" y="391469"/>
                    </a:lnTo>
                    <a:cubicBezTo>
                      <a:pt x="250835" y="279702"/>
                      <a:pt x="323508" y="174018"/>
                      <a:pt x="411495" y="79928"/>
                    </a:cubicBezTo>
                    <a:cubicBezTo>
                      <a:pt x="457534" y="30603"/>
                      <a:pt x="520029" y="0"/>
                      <a:pt x="574534" y="0"/>
                    </a:cubicBezTo>
                    <a:cubicBezTo>
                      <a:pt x="614960" y="0"/>
                      <a:pt x="668323" y="16822"/>
                      <a:pt x="692389" y="97131"/>
                    </a:cubicBezTo>
                    <a:cubicBezTo>
                      <a:pt x="723494" y="200154"/>
                      <a:pt x="714743" y="392704"/>
                      <a:pt x="712269" y="437183"/>
                    </a:cubicBezTo>
                    <a:cubicBezTo>
                      <a:pt x="660809" y="456286"/>
                      <a:pt x="388857" y="555127"/>
                      <a:pt x="0" y="646365"/>
                    </a:cubicBezTo>
                  </a:path>
                </a:pathLst>
              </a:custGeom>
              <a:grpFill/>
              <a:ln w="9512" cap="flat">
                <a:noFill/>
                <a:prstDash val="solid"/>
                <a:miter/>
              </a:ln>
            </p:spPr>
            <p:txBody>
              <a:bodyPr rtlCol="0" anchor="ctr"/>
              <a:lstStyle/>
              <a:p>
                <a:endParaRPr lang="fr-FR"/>
              </a:p>
            </p:txBody>
          </p:sp>
          <p:sp>
            <p:nvSpPr>
              <p:cNvPr id="26" name="Forme libre 25">
                <a:extLst>
                  <a:ext uri="{FF2B5EF4-FFF2-40B4-BE49-F238E27FC236}">
                    <a16:creationId xmlns:a16="http://schemas.microsoft.com/office/drawing/2014/main" id="{3573FEFB-A28F-E91E-B749-75CAA07CBB9F}"/>
                  </a:ext>
                </a:extLst>
              </p:cNvPr>
              <p:cNvSpPr/>
              <p:nvPr/>
            </p:nvSpPr>
            <p:spPr>
              <a:xfrm>
                <a:off x="2571750" y="2711450"/>
                <a:ext cx="1384492" cy="709566"/>
              </a:xfrm>
              <a:custGeom>
                <a:avLst/>
                <a:gdLst>
                  <a:gd name="connsiteX0" fmla="*/ 0 w 1384492"/>
                  <a:gd name="connsiteY0" fmla="*/ 704910 h 709566"/>
                  <a:gd name="connsiteX1" fmla="*/ 215926 w 1384492"/>
                  <a:gd name="connsiteY1" fmla="*/ 205381 h 709566"/>
                  <a:gd name="connsiteX2" fmla="*/ 719213 w 1384492"/>
                  <a:gd name="connsiteY2" fmla="*/ 0 h 709566"/>
                  <a:gd name="connsiteX3" fmla="*/ 733577 w 1384492"/>
                  <a:gd name="connsiteY3" fmla="*/ 95 h 709566"/>
                  <a:gd name="connsiteX4" fmla="*/ 1384493 w 1384492"/>
                  <a:gd name="connsiteY4" fmla="*/ 443836 h 709566"/>
                  <a:gd name="connsiteX5" fmla="*/ 1104265 w 1384492"/>
                  <a:gd name="connsiteY5" fmla="*/ 562065 h 709566"/>
                  <a:gd name="connsiteX6" fmla="*/ 1037204 w 1384492"/>
                  <a:gd name="connsiteY6" fmla="*/ 206997 h 709566"/>
                  <a:gd name="connsiteX7" fmla="*/ 854381 w 1384492"/>
                  <a:gd name="connsiteY7" fmla="*/ 61491 h 709566"/>
                  <a:gd name="connsiteX8" fmla="*/ 689535 w 1384492"/>
                  <a:gd name="connsiteY8" fmla="*/ 110911 h 709566"/>
                  <a:gd name="connsiteX9" fmla="*/ 327218 w 1384492"/>
                  <a:gd name="connsiteY9" fmla="*/ 398787 h 709566"/>
                  <a:gd name="connsiteX10" fmla="*/ 0 w 1384492"/>
                  <a:gd name="connsiteY10" fmla="*/ 709567 h 709566"/>
                  <a:gd name="connsiteX11" fmla="*/ 0 w 1384492"/>
                  <a:gd name="connsiteY11" fmla="*/ 704910 h 709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84492" h="709566">
                    <a:moveTo>
                      <a:pt x="0" y="704910"/>
                    </a:moveTo>
                    <a:cubicBezTo>
                      <a:pt x="3710" y="515400"/>
                      <a:pt x="80378" y="337961"/>
                      <a:pt x="215926" y="205381"/>
                    </a:cubicBezTo>
                    <a:cubicBezTo>
                      <a:pt x="351284" y="72991"/>
                      <a:pt x="529922" y="0"/>
                      <a:pt x="719213" y="0"/>
                    </a:cubicBezTo>
                    <a:cubicBezTo>
                      <a:pt x="723969" y="0"/>
                      <a:pt x="728821" y="0"/>
                      <a:pt x="733577" y="95"/>
                    </a:cubicBezTo>
                    <a:cubicBezTo>
                      <a:pt x="1020844" y="5702"/>
                      <a:pt x="1274913" y="179435"/>
                      <a:pt x="1384493" y="443836"/>
                    </a:cubicBezTo>
                    <a:cubicBezTo>
                      <a:pt x="1346730" y="461323"/>
                      <a:pt x="1245330" y="507132"/>
                      <a:pt x="1104265" y="562065"/>
                    </a:cubicBezTo>
                    <a:cubicBezTo>
                      <a:pt x="1084955" y="435092"/>
                      <a:pt x="1060414" y="285499"/>
                      <a:pt x="1037204" y="206997"/>
                    </a:cubicBezTo>
                    <a:cubicBezTo>
                      <a:pt x="1009809" y="114523"/>
                      <a:pt x="943224" y="61491"/>
                      <a:pt x="854381" y="61491"/>
                    </a:cubicBezTo>
                    <a:cubicBezTo>
                      <a:pt x="803871" y="61491"/>
                      <a:pt x="748416" y="78123"/>
                      <a:pt x="689535" y="110911"/>
                    </a:cubicBezTo>
                    <a:cubicBezTo>
                      <a:pt x="621333" y="149022"/>
                      <a:pt x="499483" y="245773"/>
                      <a:pt x="327218" y="398787"/>
                    </a:cubicBezTo>
                    <a:cubicBezTo>
                      <a:pt x="189767" y="520818"/>
                      <a:pt x="60783" y="648456"/>
                      <a:pt x="0" y="709567"/>
                    </a:cubicBezTo>
                    <a:cubicBezTo>
                      <a:pt x="0" y="708046"/>
                      <a:pt x="0" y="706525"/>
                      <a:pt x="0" y="704910"/>
                    </a:cubicBezTo>
                  </a:path>
                </a:pathLst>
              </a:custGeom>
              <a:grpFill/>
              <a:ln w="9512" cap="flat">
                <a:noFill/>
                <a:prstDash val="solid"/>
                <a:miter/>
              </a:ln>
            </p:spPr>
            <p:txBody>
              <a:bodyPr rtlCol="0" anchor="ctr"/>
              <a:lstStyle/>
              <a:p>
                <a:endParaRPr lang="fr-FR"/>
              </a:p>
            </p:txBody>
          </p:sp>
          <p:sp>
            <p:nvSpPr>
              <p:cNvPr id="27" name="Forme libre 26">
                <a:extLst>
                  <a:ext uri="{FF2B5EF4-FFF2-40B4-BE49-F238E27FC236}">
                    <a16:creationId xmlns:a16="http://schemas.microsoft.com/office/drawing/2014/main" id="{81A99EC4-B92E-BFB4-9985-4EB2259E196D}"/>
                  </a:ext>
                </a:extLst>
              </p:cNvPr>
              <p:cNvSpPr/>
              <p:nvPr/>
            </p:nvSpPr>
            <p:spPr>
              <a:xfrm>
                <a:off x="2666966" y="3498474"/>
                <a:ext cx="858280" cy="650927"/>
              </a:xfrm>
              <a:custGeom>
                <a:avLst/>
                <a:gdLst>
                  <a:gd name="connsiteX0" fmla="*/ 624568 w 858280"/>
                  <a:gd name="connsiteY0" fmla="*/ 650927 h 650927"/>
                  <a:gd name="connsiteX1" fmla="*/ 610299 w 858280"/>
                  <a:gd name="connsiteY1" fmla="*/ 650737 h 650927"/>
                  <a:gd name="connsiteX2" fmla="*/ 0 w 858280"/>
                  <a:gd name="connsiteY2" fmla="*/ 289681 h 650927"/>
                  <a:gd name="connsiteX3" fmla="*/ 858281 w 858280"/>
                  <a:gd name="connsiteY3" fmla="*/ 0 h 650927"/>
                  <a:gd name="connsiteX4" fmla="*/ 803206 w 858280"/>
                  <a:gd name="connsiteY4" fmla="*/ 628403 h 650927"/>
                  <a:gd name="connsiteX5" fmla="*/ 624568 w 858280"/>
                  <a:gd name="connsiteY5" fmla="*/ 650832 h 650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8280" h="650927">
                    <a:moveTo>
                      <a:pt x="624568" y="650927"/>
                    </a:moveTo>
                    <a:cubicBezTo>
                      <a:pt x="619811" y="650927"/>
                      <a:pt x="615055" y="650927"/>
                      <a:pt x="610299" y="650737"/>
                    </a:cubicBezTo>
                    <a:cubicBezTo>
                      <a:pt x="357942" y="645890"/>
                      <a:pt x="125560" y="507987"/>
                      <a:pt x="0" y="289681"/>
                    </a:cubicBezTo>
                    <a:cubicBezTo>
                      <a:pt x="93409" y="249859"/>
                      <a:pt x="427666" y="112622"/>
                      <a:pt x="858281" y="0"/>
                    </a:cubicBezTo>
                    <a:lnTo>
                      <a:pt x="803206" y="628403"/>
                    </a:lnTo>
                    <a:cubicBezTo>
                      <a:pt x="745086" y="643324"/>
                      <a:pt x="685065" y="650832"/>
                      <a:pt x="624568" y="650832"/>
                    </a:cubicBezTo>
                  </a:path>
                </a:pathLst>
              </a:custGeom>
              <a:grpFill/>
              <a:ln w="9512" cap="flat">
                <a:noFill/>
                <a:prstDash val="solid"/>
                <a:miter/>
              </a:ln>
            </p:spPr>
            <p:txBody>
              <a:bodyPr rtlCol="0" anchor="ctr"/>
              <a:lstStyle/>
              <a:p>
                <a:endParaRPr lang="fr-FR"/>
              </a:p>
            </p:txBody>
          </p:sp>
          <p:sp>
            <p:nvSpPr>
              <p:cNvPr id="28" name="Forme libre 27">
                <a:extLst>
                  <a:ext uri="{FF2B5EF4-FFF2-40B4-BE49-F238E27FC236}">
                    <a16:creationId xmlns:a16="http://schemas.microsoft.com/office/drawing/2014/main" id="{57037F43-6B5B-9FDF-5977-22ED2CBF4585}"/>
                  </a:ext>
                </a:extLst>
              </p:cNvPr>
              <p:cNvSpPr/>
              <p:nvPr/>
            </p:nvSpPr>
            <p:spPr>
              <a:xfrm>
                <a:off x="3700746" y="3401343"/>
                <a:ext cx="310152" cy="574420"/>
              </a:xfrm>
              <a:custGeom>
                <a:avLst/>
                <a:gdLst>
                  <a:gd name="connsiteX0" fmla="*/ 59546 w 310152"/>
                  <a:gd name="connsiteY0" fmla="*/ 574420 h 574420"/>
                  <a:gd name="connsiteX1" fmla="*/ 0 w 310152"/>
                  <a:gd name="connsiteY1" fmla="*/ 55978 h 574420"/>
                  <a:gd name="connsiteX2" fmla="*/ 309525 w 310152"/>
                  <a:gd name="connsiteY2" fmla="*/ 0 h 574420"/>
                  <a:gd name="connsiteX3" fmla="*/ 310001 w 310152"/>
                  <a:gd name="connsiteY3" fmla="*/ 43243 h 574420"/>
                  <a:gd name="connsiteX4" fmla="*/ 59546 w 310152"/>
                  <a:gd name="connsiteY4" fmla="*/ 574420 h 574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152" h="574420">
                    <a:moveTo>
                      <a:pt x="59546" y="574420"/>
                    </a:moveTo>
                    <a:cubicBezTo>
                      <a:pt x="50034" y="483277"/>
                      <a:pt x="24446" y="241686"/>
                      <a:pt x="0" y="55978"/>
                    </a:cubicBezTo>
                    <a:cubicBezTo>
                      <a:pt x="164370" y="23190"/>
                      <a:pt x="266435" y="6653"/>
                      <a:pt x="309525" y="0"/>
                    </a:cubicBezTo>
                    <a:cubicBezTo>
                      <a:pt x="310191" y="14446"/>
                      <a:pt x="310286" y="28892"/>
                      <a:pt x="310001" y="43243"/>
                    </a:cubicBezTo>
                    <a:cubicBezTo>
                      <a:pt x="306006" y="248814"/>
                      <a:pt x="214974" y="440889"/>
                      <a:pt x="59546" y="574420"/>
                    </a:cubicBezTo>
                  </a:path>
                </a:pathLst>
              </a:custGeom>
              <a:grpFill/>
              <a:ln w="9512" cap="flat">
                <a:noFill/>
                <a:prstDash val="solid"/>
                <a:miter/>
              </a:ln>
            </p:spPr>
            <p:txBody>
              <a:bodyPr rtlCol="0" anchor="ctr"/>
              <a:lstStyle/>
              <a:p>
                <a:endParaRPr lang="fr-FR"/>
              </a:p>
            </p:txBody>
          </p:sp>
        </p:grpSp>
        <p:grpSp>
          <p:nvGrpSpPr>
            <p:cNvPr id="16" name="Groupe 15">
              <a:extLst>
                <a:ext uri="{FF2B5EF4-FFF2-40B4-BE49-F238E27FC236}">
                  <a16:creationId xmlns:a16="http://schemas.microsoft.com/office/drawing/2014/main" id="{8ED9B721-A267-4F9A-C8FB-4EDF9035D0FC}"/>
                </a:ext>
              </a:extLst>
            </p:cNvPr>
            <p:cNvGrpSpPr/>
            <p:nvPr/>
          </p:nvGrpSpPr>
          <p:grpSpPr>
            <a:xfrm>
              <a:off x="5706531" y="1530040"/>
              <a:ext cx="1100669" cy="202837"/>
              <a:chOff x="4227814" y="2908087"/>
              <a:chExt cx="5388249" cy="992975"/>
            </a:xfrm>
            <a:grpFill/>
          </p:grpSpPr>
          <p:sp>
            <p:nvSpPr>
              <p:cNvPr id="17" name="Forme libre 16">
                <a:extLst>
                  <a:ext uri="{FF2B5EF4-FFF2-40B4-BE49-F238E27FC236}">
                    <a16:creationId xmlns:a16="http://schemas.microsoft.com/office/drawing/2014/main" id="{954C32A8-2448-2ED4-5AA6-BF5FBA02FF11}"/>
                  </a:ext>
                </a:extLst>
              </p:cNvPr>
              <p:cNvSpPr/>
              <p:nvPr/>
            </p:nvSpPr>
            <p:spPr>
              <a:xfrm>
                <a:off x="4227814" y="2917686"/>
                <a:ext cx="986885" cy="967029"/>
              </a:xfrm>
              <a:custGeom>
                <a:avLst/>
                <a:gdLst>
                  <a:gd name="connsiteX0" fmla="*/ 639692 w 986885"/>
                  <a:gd name="connsiteY0" fmla="*/ 598180 h 967029"/>
                  <a:gd name="connsiteX1" fmla="*/ 490732 w 986885"/>
                  <a:gd name="connsiteY1" fmla="*/ 204906 h 967029"/>
                  <a:gd name="connsiteX2" fmla="*/ 339013 w 986885"/>
                  <a:gd name="connsiteY2" fmla="*/ 598180 h 967029"/>
                  <a:gd name="connsiteX3" fmla="*/ 639787 w 986885"/>
                  <a:gd name="connsiteY3" fmla="*/ 598180 h 967029"/>
                  <a:gd name="connsiteX4" fmla="*/ 421008 w 986885"/>
                  <a:gd name="connsiteY4" fmla="*/ 0 h 967029"/>
                  <a:gd name="connsiteX5" fmla="*/ 569968 w 986885"/>
                  <a:gd name="connsiteY5" fmla="*/ 0 h 967029"/>
                  <a:gd name="connsiteX6" fmla="*/ 986885 w 986885"/>
                  <a:gd name="connsiteY6" fmla="*/ 967029 h 967029"/>
                  <a:gd name="connsiteX7" fmla="*/ 790079 w 986885"/>
                  <a:gd name="connsiteY7" fmla="*/ 967029 h 967029"/>
                  <a:gd name="connsiteX8" fmla="*/ 699904 w 986885"/>
                  <a:gd name="connsiteY8" fmla="*/ 745777 h 967029"/>
                  <a:gd name="connsiteX9" fmla="*/ 280228 w 986885"/>
                  <a:gd name="connsiteY9" fmla="*/ 745777 h 967029"/>
                  <a:gd name="connsiteX10" fmla="*/ 192716 w 986885"/>
                  <a:gd name="connsiteY10" fmla="*/ 967029 h 967029"/>
                  <a:gd name="connsiteX11" fmla="*/ 0 w 986885"/>
                  <a:gd name="connsiteY11" fmla="*/ 967029 h 967029"/>
                  <a:gd name="connsiteX12" fmla="*/ 421008 w 986885"/>
                  <a:gd name="connsiteY12" fmla="*/ 0 h 967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6885" h="967029">
                    <a:moveTo>
                      <a:pt x="639692" y="598180"/>
                    </a:moveTo>
                    <a:lnTo>
                      <a:pt x="490732" y="204906"/>
                    </a:lnTo>
                    <a:lnTo>
                      <a:pt x="339013" y="598180"/>
                    </a:lnTo>
                    <a:lnTo>
                      <a:pt x="639787" y="598180"/>
                    </a:lnTo>
                    <a:close/>
                    <a:moveTo>
                      <a:pt x="421008" y="0"/>
                    </a:moveTo>
                    <a:lnTo>
                      <a:pt x="569968" y="0"/>
                    </a:lnTo>
                    <a:lnTo>
                      <a:pt x="986885" y="967029"/>
                    </a:lnTo>
                    <a:lnTo>
                      <a:pt x="790079" y="967029"/>
                    </a:lnTo>
                    <a:lnTo>
                      <a:pt x="699904" y="745777"/>
                    </a:lnTo>
                    <a:lnTo>
                      <a:pt x="280228" y="745777"/>
                    </a:lnTo>
                    <a:lnTo>
                      <a:pt x="192716" y="967029"/>
                    </a:lnTo>
                    <a:lnTo>
                      <a:pt x="0" y="967029"/>
                    </a:lnTo>
                    <a:lnTo>
                      <a:pt x="421008" y="0"/>
                    </a:lnTo>
                    <a:close/>
                  </a:path>
                </a:pathLst>
              </a:custGeom>
              <a:grpFill/>
              <a:ln w="9512" cap="flat">
                <a:noFill/>
                <a:prstDash val="solid"/>
                <a:miter/>
              </a:ln>
            </p:spPr>
            <p:txBody>
              <a:bodyPr rtlCol="0" anchor="ctr"/>
              <a:lstStyle/>
              <a:p>
                <a:endParaRPr lang="fr-FR"/>
              </a:p>
            </p:txBody>
          </p:sp>
          <p:sp>
            <p:nvSpPr>
              <p:cNvPr id="18" name="Forme libre 17">
                <a:extLst>
                  <a:ext uri="{FF2B5EF4-FFF2-40B4-BE49-F238E27FC236}">
                    <a16:creationId xmlns:a16="http://schemas.microsoft.com/office/drawing/2014/main" id="{E1893580-A1DE-E5E8-0239-182FC8F0EA96}"/>
                  </a:ext>
                </a:extLst>
              </p:cNvPr>
              <p:cNvSpPr/>
              <p:nvPr/>
            </p:nvSpPr>
            <p:spPr>
              <a:xfrm>
                <a:off x="5239146" y="3229036"/>
                <a:ext cx="598789" cy="671930"/>
              </a:xfrm>
              <a:custGeom>
                <a:avLst/>
                <a:gdLst>
                  <a:gd name="connsiteX0" fmla="*/ 598789 w 598789"/>
                  <a:gd name="connsiteY0" fmla="*/ 655584 h 671930"/>
                  <a:gd name="connsiteX1" fmla="*/ 442980 w 598789"/>
                  <a:gd name="connsiteY1" fmla="*/ 655584 h 671930"/>
                  <a:gd name="connsiteX2" fmla="*/ 442980 w 598789"/>
                  <a:gd name="connsiteY2" fmla="*/ 550375 h 671930"/>
                  <a:gd name="connsiteX3" fmla="*/ 440222 w 598789"/>
                  <a:gd name="connsiteY3" fmla="*/ 550375 h 671930"/>
                  <a:gd name="connsiteX4" fmla="*/ 239230 w 598789"/>
                  <a:gd name="connsiteY4" fmla="*/ 671931 h 671930"/>
                  <a:gd name="connsiteX5" fmla="*/ 0 w 598789"/>
                  <a:gd name="connsiteY5" fmla="*/ 413803 h 671930"/>
                  <a:gd name="connsiteX6" fmla="*/ 0 w 598789"/>
                  <a:gd name="connsiteY6" fmla="*/ 0 h 671930"/>
                  <a:gd name="connsiteX7" fmla="*/ 163989 w 598789"/>
                  <a:gd name="connsiteY7" fmla="*/ 0 h 671930"/>
                  <a:gd name="connsiteX8" fmla="*/ 163989 w 598789"/>
                  <a:gd name="connsiteY8" fmla="*/ 331879 h 671930"/>
                  <a:gd name="connsiteX9" fmla="*/ 284318 w 598789"/>
                  <a:gd name="connsiteY9" fmla="*/ 524429 h 671930"/>
                  <a:gd name="connsiteX10" fmla="*/ 434705 w 598789"/>
                  <a:gd name="connsiteY10" fmla="*/ 357825 h 671930"/>
                  <a:gd name="connsiteX11" fmla="*/ 434705 w 598789"/>
                  <a:gd name="connsiteY11" fmla="*/ 0 h 671930"/>
                  <a:gd name="connsiteX12" fmla="*/ 598694 w 598789"/>
                  <a:gd name="connsiteY12" fmla="*/ 0 h 671930"/>
                  <a:gd name="connsiteX13" fmla="*/ 598694 w 598789"/>
                  <a:gd name="connsiteY13" fmla="*/ 655584 h 671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8789" h="671930">
                    <a:moveTo>
                      <a:pt x="598789" y="655584"/>
                    </a:moveTo>
                    <a:lnTo>
                      <a:pt x="442980" y="655584"/>
                    </a:lnTo>
                    <a:lnTo>
                      <a:pt x="442980" y="550375"/>
                    </a:lnTo>
                    <a:lnTo>
                      <a:pt x="440222" y="550375"/>
                    </a:lnTo>
                    <a:cubicBezTo>
                      <a:pt x="410164" y="615858"/>
                      <a:pt x="348620" y="671931"/>
                      <a:pt x="239230" y="671931"/>
                    </a:cubicBezTo>
                    <a:cubicBezTo>
                      <a:pt x="62875" y="671931"/>
                      <a:pt x="0" y="547619"/>
                      <a:pt x="0" y="413803"/>
                    </a:cubicBezTo>
                    <a:lnTo>
                      <a:pt x="0" y="0"/>
                    </a:lnTo>
                    <a:lnTo>
                      <a:pt x="163989" y="0"/>
                    </a:lnTo>
                    <a:lnTo>
                      <a:pt x="163989" y="331879"/>
                    </a:lnTo>
                    <a:cubicBezTo>
                      <a:pt x="163989" y="404299"/>
                      <a:pt x="169506" y="524429"/>
                      <a:pt x="284318" y="524429"/>
                    </a:cubicBezTo>
                    <a:cubicBezTo>
                      <a:pt x="392281" y="524429"/>
                      <a:pt x="434705" y="445261"/>
                      <a:pt x="434705" y="357825"/>
                    </a:cubicBezTo>
                    <a:lnTo>
                      <a:pt x="434705" y="0"/>
                    </a:lnTo>
                    <a:lnTo>
                      <a:pt x="598694" y="0"/>
                    </a:lnTo>
                    <a:lnTo>
                      <a:pt x="598694" y="655584"/>
                    </a:lnTo>
                    <a:close/>
                  </a:path>
                </a:pathLst>
              </a:custGeom>
              <a:grpFill/>
              <a:ln w="9512" cap="flat">
                <a:noFill/>
                <a:prstDash val="solid"/>
                <a:miter/>
              </a:ln>
            </p:spPr>
            <p:txBody>
              <a:bodyPr rtlCol="0" anchor="ctr"/>
              <a:lstStyle/>
              <a:p>
                <a:endParaRPr lang="fr-FR"/>
              </a:p>
            </p:txBody>
          </p:sp>
          <p:sp>
            <p:nvSpPr>
              <p:cNvPr id="19" name="Forme libre 18">
                <a:extLst>
                  <a:ext uri="{FF2B5EF4-FFF2-40B4-BE49-F238E27FC236}">
                    <a16:creationId xmlns:a16="http://schemas.microsoft.com/office/drawing/2014/main" id="{47D9A284-3B86-756D-99A2-E8BCFF28C157}"/>
                  </a:ext>
                </a:extLst>
              </p:cNvPr>
              <p:cNvSpPr/>
              <p:nvPr/>
            </p:nvSpPr>
            <p:spPr>
              <a:xfrm>
                <a:off x="5922688" y="2917686"/>
                <a:ext cx="708084" cy="983376"/>
              </a:xfrm>
              <a:custGeom>
                <a:avLst/>
                <a:gdLst>
                  <a:gd name="connsiteX0" fmla="*/ 356801 w 708084"/>
                  <a:gd name="connsiteY0" fmla="*/ 835779 h 983376"/>
                  <a:gd name="connsiteX1" fmla="*/ 549517 w 708084"/>
                  <a:gd name="connsiteY1" fmla="*/ 639142 h 983376"/>
                  <a:gd name="connsiteX2" fmla="*/ 356801 w 708084"/>
                  <a:gd name="connsiteY2" fmla="*/ 442505 h 983376"/>
                  <a:gd name="connsiteX3" fmla="*/ 164085 w 708084"/>
                  <a:gd name="connsiteY3" fmla="*/ 639142 h 983376"/>
                  <a:gd name="connsiteX4" fmla="*/ 356801 w 708084"/>
                  <a:gd name="connsiteY4" fmla="*/ 835779 h 983376"/>
                  <a:gd name="connsiteX5" fmla="*/ 552275 w 708084"/>
                  <a:gd name="connsiteY5" fmla="*/ 868568 h 983376"/>
                  <a:gd name="connsiteX6" fmla="*/ 549517 w 708084"/>
                  <a:gd name="connsiteY6" fmla="*/ 868568 h 983376"/>
                  <a:gd name="connsiteX7" fmla="*/ 323984 w 708084"/>
                  <a:gd name="connsiteY7" fmla="*/ 983376 h 983376"/>
                  <a:gd name="connsiteX8" fmla="*/ 0 w 708084"/>
                  <a:gd name="connsiteY8" fmla="*/ 639237 h 983376"/>
                  <a:gd name="connsiteX9" fmla="*/ 317135 w 708084"/>
                  <a:gd name="connsiteY9" fmla="*/ 295003 h 983376"/>
                  <a:gd name="connsiteX10" fmla="*/ 540004 w 708084"/>
                  <a:gd name="connsiteY10" fmla="*/ 394700 h 983376"/>
                  <a:gd name="connsiteX11" fmla="*/ 544000 w 708084"/>
                  <a:gd name="connsiteY11" fmla="*/ 394700 h 983376"/>
                  <a:gd name="connsiteX12" fmla="*/ 544000 w 708084"/>
                  <a:gd name="connsiteY12" fmla="*/ 0 h 983376"/>
                  <a:gd name="connsiteX13" fmla="*/ 708084 w 708084"/>
                  <a:gd name="connsiteY13" fmla="*/ 0 h 983376"/>
                  <a:gd name="connsiteX14" fmla="*/ 708084 w 708084"/>
                  <a:gd name="connsiteY14" fmla="*/ 966934 h 983376"/>
                  <a:gd name="connsiteX15" fmla="*/ 552275 w 708084"/>
                  <a:gd name="connsiteY15" fmla="*/ 966934 h 983376"/>
                  <a:gd name="connsiteX16" fmla="*/ 552275 w 708084"/>
                  <a:gd name="connsiteY16" fmla="*/ 868568 h 983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08084" h="983376">
                    <a:moveTo>
                      <a:pt x="356801" y="835779"/>
                    </a:moveTo>
                    <a:cubicBezTo>
                      <a:pt x="477129" y="835779"/>
                      <a:pt x="549517" y="741595"/>
                      <a:pt x="549517" y="639142"/>
                    </a:cubicBezTo>
                    <a:cubicBezTo>
                      <a:pt x="549517" y="536689"/>
                      <a:pt x="477034" y="442505"/>
                      <a:pt x="356801" y="442505"/>
                    </a:cubicBezTo>
                    <a:cubicBezTo>
                      <a:pt x="236567" y="442505"/>
                      <a:pt x="164085" y="536689"/>
                      <a:pt x="164085" y="639142"/>
                    </a:cubicBezTo>
                    <a:cubicBezTo>
                      <a:pt x="164085" y="741595"/>
                      <a:pt x="236567" y="835779"/>
                      <a:pt x="356801" y="835779"/>
                    </a:cubicBezTo>
                    <a:moveTo>
                      <a:pt x="552275" y="868568"/>
                    </a:moveTo>
                    <a:lnTo>
                      <a:pt x="549517" y="868568"/>
                    </a:lnTo>
                    <a:cubicBezTo>
                      <a:pt x="501670" y="947831"/>
                      <a:pt x="415586" y="983376"/>
                      <a:pt x="323984" y="983376"/>
                    </a:cubicBezTo>
                    <a:cubicBezTo>
                      <a:pt x="121660" y="983376"/>
                      <a:pt x="0" y="833118"/>
                      <a:pt x="0" y="639237"/>
                    </a:cubicBezTo>
                    <a:cubicBezTo>
                      <a:pt x="0" y="445356"/>
                      <a:pt x="129841" y="295003"/>
                      <a:pt x="317135" y="295003"/>
                    </a:cubicBezTo>
                    <a:cubicBezTo>
                      <a:pt x="440127" y="295003"/>
                      <a:pt x="505761" y="352407"/>
                      <a:pt x="540004" y="394700"/>
                    </a:cubicBezTo>
                    <a:lnTo>
                      <a:pt x="544000" y="394700"/>
                    </a:lnTo>
                    <a:lnTo>
                      <a:pt x="544000" y="0"/>
                    </a:lnTo>
                    <a:lnTo>
                      <a:pt x="708084" y="0"/>
                    </a:lnTo>
                    <a:lnTo>
                      <a:pt x="708084" y="966934"/>
                    </a:lnTo>
                    <a:lnTo>
                      <a:pt x="552275" y="966934"/>
                    </a:lnTo>
                    <a:lnTo>
                      <a:pt x="552275" y="868568"/>
                    </a:lnTo>
                    <a:close/>
                  </a:path>
                </a:pathLst>
              </a:custGeom>
              <a:grpFill/>
              <a:ln w="9512" cap="flat">
                <a:noFill/>
                <a:prstDash val="solid"/>
                <a:miter/>
              </a:ln>
            </p:spPr>
            <p:txBody>
              <a:bodyPr rtlCol="0" anchor="ctr"/>
              <a:lstStyle/>
              <a:p>
                <a:endParaRPr lang="fr-FR"/>
              </a:p>
            </p:txBody>
          </p:sp>
          <p:sp>
            <p:nvSpPr>
              <p:cNvPr id="20" name="Forme libre 19">
                <a:extLst>
                  <a:ext uri="{FF2B5EF4-FFF2-40B4-BE49-F238E27FC236}">
                    <a16:creationId xmlns:a16="http://schemas.microsoft.com/office/drawing/2014/main" id="{5AF49FFC-8EB0-33B2-8409-0EB674281EE3}"/>
                  </a:ext>
                </a:extLst>
              </p:cNvPr>
              <p:cNvSpPr/>
              <p:nvPr/>
            </p:nvSpPr>
            <p:spPr>
              <a:xfrm>
                <a:off x="6715430" y="3212594"/>
                <a:ext cx="664328" cy="688372"/>
              </a:xfrm>
              <a:custGeom>
                <a:avLst/>
                <a:gdLst>
                  <a:gd name="connsiteX0" fmla="*/ 500339 w 664328"/>
                  <a:gd name="connsiteY0" fmla="*/ 278657 h 688372"/>
                  <a:gd name="connsiteX1" fmla="*/ 333591 w 664328"/>
                  <a:gd name="connsiteY1" fmla="*/ 122981 h 688372"/>
                  <a:gd name="connsiteX2" fmla="*/ 164085 w 664328"/>
                  <a:gd name="connsiteY2" fmla="*/ 278657 h 688372"/>
                  <a:gd name="connsiteX3" fmla="*/ 500339 w 664328"/>
                  <a:gd name="connsiteY3" fmla="*/ 278657 h 688372"/>
                  <a:gd name="connsiteX4" fmla="*/ 164085 w 664328"/>
                  <a:gd name="connsiteY4" fmla="*/ 401543 h 688372"/>
                  <a:gd name="connsiteX5" fmla="*/ 340440 w 664328"/>
                  <a:gd name="connsiteY5" fmla="*/ 557218 h 688372"/>
                  <a:gd name="connsiteX6" fmla="*/ 516795 w 664328"/>
                  <a:gd name="connsiteY6" fmla="*/ 468451 h 688372"/>
                  <a:gd name="connsiteX7" fmla="*/ 634365 w 664328"/>
                  <a:gd name="connsiteY7" fmla="*/ 557218 h 688372"/>
                  <a:gd name="connsiteX8" fmla="*/ 356801 w 664328"/>
                  <a:gd name="connsiteY8" fmla="*/ 688373 h 688372"/>
                  <a:gd name="connsiteX9" fmla="*/ 0 w 664328"/>
                  <a:gd name="connsiteY9" fmla="*/ 344234 h 688372"/>
                  <a:gd name="connsiteX10" fmla="*/ 356801 w 664328"/>
                  <a:gd name="connsiteY10" fmla="*/ 0 h 688372"/>
                  <a:gd name="connsiteX11" fmla="*/ 664328 w 664328"/>
                  <a:gd name="connsiteY11" fmla="*/ 356494 h 688372"/>
                  <a:gd name="connsiteX12" fmla="*/ 664328 w 664328"/>
                  <a:gd name="connsiteY12" fmla="*/ 401543 h 688372"/>
                  <a:gd name="connsiteX13" fmla="*/ 163989 w 664328"/>
                  <a:gd name="connsiteY13" fmla="*/ 401543 h 688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4328" h="688372">
                    <a:moveTo>
                      <a:pt x="500339" y="278657"/>
                    </a:moveTo>
                    <a:cubicBezTo>
                      <a:pt x="498912" y="183047"/>
                      <a:pt x="436037" y="122981"/>
                      <a:pt x="333591" y="122981"/>
                    </a:cubicBezTo>
                    <a:cubicBezTo>
                      <a:pt x="236472" y="122981"/>
                      <a:pt x="176355" y="184472"/>
                      <a:pt x="164085" y="278657"/>
                    </a:cubicBezTo>
                    <a:lnTo>
                      <a:pt x="500339" y="278657"/>
                    </a:lnTo>
                    <a:close/>
                    <a:moveTo>
                      <a:pt x="164085" y="401543"/>
                    </a:moveTo>
                    <a:cubicBezTo>
                      <a:pt x="175023" y="498578"/>
                      <a:pt x="248838" y="557218"/>
                      <a:pt x="340440" y="557218"/>
                    </a:cubicBezTo>
                    <a:cubicBezTo>
                      <a:pt x="422434" y="557218"/>
                      <a:pt x="475703" y="519012"/>
                      <a:pt x="516795" y="468451"/>
                    </a:cubicBezTo>
                    <a:lnTo>
                      <a:pt x="634365" y="557218"/>
                    </a:lnTo>
                    <a:cubicBezTo>
                      <a:pt x="557792" y="651402"/>
                      <a:pt x="460673" y="688373"/>
                      <a:pt x="356801" y="688373"/>
                    </a:cubicBezTo>
                    <a:cubicBezTo>
                      <a:pt x="158568" y="688373"/>
                      <a:pt x="0" y="550470"/>
                      <a:pt x="0" y="344234"/>
                    </a:cubicBezTo>
                    <a:cubicBezTo>
                      <a:pt x="0" y="137998"/>
                      <a:pt x="158568" y="0"/>
                      <a:pt x="356801" y="0"/>
                    </a:cubicBezTo>
                    <a:cubicBezTo>
                      <a:pt x="540005" y="0"/>
                      <a:pt x="664328" y="128399"/>
                      <a:pt x="664328" y="356494"/>
                    </a:cubicBezTo>
                    <a:lnTo>
                      <a:pt x="664328" y="401543"/>
                    </a:lnTo>
                    <a:lnTo>
                      <a:pt x="163989" y="401543"/>
                    </a:lnTo>
                    <a:close/>
                  </a:path>
                </a:pathLst>
              </a:custGeom>
              <a:grpFill/>
              <a:ln w="9512" cap="flat">
                <a:noFill/>
                <a:prstDash val="solid"/>
                <a:miter/>
              </a:ln>
            </p:spPr>
            <p:txBody>
              <a:bodyPr rtlCol="0" anchor="ctr"/>
              <a:lstStyle/>
              <a:p>
                <a:endParaRPr lang="fr-FR"/>
              </a:p>
            </p:txBody>
          </p:sp>
          <p:sp>
            <p:nvSpPr>
              <p:cNvPr id="21" name="Forme libre 20">
                <a:extLst>
                  <a:ext uri="{FF2B5EF4-FFF2-40B4-BE49-F238E27FC236}">
                    <a16:creationId xmlns:a16="http://schemas.microsoft.com/office/drawing/2014/main" id="{82B2538B-6B25-0FBA-ADDC-F8ADDE9460DB}"/>
                  </a:ext>
                </a:extLst>
              </p:cNvPr>
              <p:cNvSpPr/>
              <p:nvPr/>
            </p:nvSpPr>
            <p:spPr>
              <a:xfrm>
                <a:off x="7464417" y="3212689"/>
                <a:ext cx="598789" cy="672025"/>
              </a:xfrm>
              <a:custGeom>
                <a:avLst/>
                <a:gdLst>
                  <a:gd name="connsiteX0" fmla="*/ 95 w 598789"/>
                  <a:gd name="connsiteY0" fmla="*/ 16347 h 672025"/>
                  <a:gd name="connsiteX1" fmla="*/ 155904 w 598789"/>
                  <a:gd name="connsiteY1" fmla="*/ 16347 h 672025"/>
                  <a:gd name="connsiteX2" fmla="*/ 155904 w 598789"/>
                  <a:gd name="connsiteY2" fmla="*/ 121556 h 672025"/>
                  <a:gd name="connsiteX3" fmla="*/ 158568 w 598789"/>
                  <a:gd name="connsiteY3" fmla="*/ 121556 h 672025"/>
                  <a:gd name="connsiteX4" fmla="*/ 359559 w 598789"/>
                  <a:gd name="connsiteY4" fmla="*/ 0 h 672025"/>
                  <a:gd name="connsiteX5" fmla="*/ 598790 w 598789"/>
                  <a:gd name="connsiteY5" fmla="*/ 258128 h 672025"/>
                  <a:gd name="connsiteX6" fmla="*/ 598790 w 598789"/>
                  <a:gd name="connsiteY6" fmla="*/ 672026 h 672025"/>
                  <a:gd name="connsiteX7" fmla="*/ 434705 w 598789"/>
                  <a:gd name="connsiteY7" fmla="*/ 672026 h 672025"/>
                  <a:gd name="connsiteX8" fmla="*/ 434705 w 598789"/>
                  <a:gd name="connsiteY8" fmla="*/ 340147 h 672025"/>
                  <a:gd name="connsiteX9" fmla="*/ 314376 w 598789"/>
                  <a:gd name="connsiteY9" fmla="*/ 147597 h 672025"/>
                  <a:gd name="connsiteX10" fmla="*/ 163989 w 598789"/>
                  <a:gd name="connsiteY10" fmla="*/ 314201 h 672025"/>
                  <a:gd name="connsiteX11" fmla="*/ 163989 w 598789"/>
                  <a:gd name="connsiteY11" fmla="*/ 672026 h 672025"/>
                  <a:gd name="connsiteX12" fmla="*/ 0 w 598789"/>
                  <a:gd name="connsiteY12" fmla="*/ 672026 h 672025"/>
                  <a:gd name="connsiteX13" fmla="*/ 0 w 598789"/>
                  <a:gd name="connsiteY13" fmla="*/ 16347 h 67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8789" h="672025">
                    <a:moveTo>
                      <a:pt x="95" y="16347"/>
                    </a:moveTo>
                    <a:lnTo>
                      <a:pt x="155904" y="16347"/>
                    </a:lnTo>
                    <a:lnTo>
                      <a:pt x="155904" y="121556"/>
                    </a:lnTo>
                    <a:lnTo>
                      <a:pt x="158568" y="121556"/>
                    </a:lnTo>
                    <a:cubicBezTo>
                      <a:pt x="188721" y="56073"/>
                      <a:pt x="250265" y="0"/>
                      <a:pt x="359559" y="0"/>
                    </a:cubicBezTo>
                    <a:cubicBezTo>
                      <a:pt x="535915" y="0"/>
                      <a:pt x="598790" y="124312"/>
                      <a:pt x="598790" y="258128"/>
                    </a:cubicBezTo>
                    <a:lnTo>
                      <a:pt x="598790" y="672026"/>
                    </a:lnTo>
                    <a:lnTo>
                      <a:pt x="434705" y="672026"/>
                    </a:lnTo>
                    <a:lnTo>
                      <a:pt x="434705" y="340147"/>
                    </a:lnTo>
                    <a:cubicBezTo>
                      <a:pt x="434705" y="267822"/>
                      <a:pt x="429283" y="147597"/>
                      <a:pt x="314376" y="147597"/>
                    </a:cubicBezTo>
                    <a:cubicBezTo>
                      <a:pt x="206414" y="147597"/>
                      <a:pt x="163989" y="226860"/>
                      <a:pt x="163989" y="314201"/>
                    </a:cubicBezTo>
                    <a:lnTo>
                      <a:pt x="163989" y="672026"/>
                    </a:lnTo>
                    <a:lnTo>
                      <a:pt x="0" y="672026"/>
                    </a:lnTo>
                    <a:lnTo>
                      <a:pt x="0" y="16347"/>
                    </a:lnTo>
                    <a:close/>
                  </a:path>
                </a:pathLst>
              </a:custGeom>
              <a:grpFill/>
              <a:ln w="9512" cap="flat">
                <a:noFill/>
                <a:prstDash val="solid"/>
                <a:miter/>
              </a:ln>
            </p:spPr>
            <p:txBody>
              <a:bodyPr rtlCol="0" anchor="ctr"/>
              <a:lstStyle/>
              <a:p>
                <a:endParaRPr lang="fr-FR"/>
              </a:p>
            </p:txBody>
          </p:sp>
          <p:sp>
            <p:nvSpPr>
              <p:cNvPr id="22" name="Forme libre 21">
                <a:extLst>
                  <a:ext uri="{FF2B5EF4-FFF2-40B4-BE49-F238E27FC236}">
                    <a16:creationId xmlns:a16="http://schemas.microsoft.com/office/drawing/2014/main" id="{B45DE06D-7DB7-7CE6-B62B-FF889C4BEE14}"/>
                  </a:ext>
                </a:extLst>
              </p:cNvPr>
              <p:cNvSpPr/>
              <p:nvPr/>
            </p:nvSpPr>
            <p:spPr>
              <a:xfrm>
                <a:off x="8147865" y="3212689"/>
                <a:ext cx="594603" cy="688372"/>
              </a:xfrm>
              <a:custGeom>
                <a:avLst/>
                <a:gdLst>
                  <a:gd name="connsiteX0" fmla="*/ 481219 w 594603"/>
                  <a:gd name="connsiteY0" fmla="*/ 213079 h 688372"/>
                  <a:gd name="connsiteX1" fmla="*/ 356800 w 594603"/>
                  <a:gd name="connsiteY1" fmla="*/ 147502 h 688372"/>
                  <a:gd name="connsiteX2" fmla="*/ 163989 w 594603"/>
                  <a:gd name="connsiteY2" fmla="*/ 344139 h 688372"/>
                  <a:gd name="connsiteX3" fmla="*/ 356800 w 594603"/>
                  <a:gd name="connsiteY3" fmla="*/ 540776 h 688372"/>
                  <a:gd name="connsiteX4" fmla="*/ 483883 w 594603"/>
                  <a:gd name="connsiteY4" fmla="*/ 479380 h 688372"/>
                  <a:gd name="connsiteX5" fmla="*/ 593273 w 594603"/>
                  <a:gd name="connsiteY5" fmla="*/ 596850 h 688372"/>
                  <a:gd name="connsiteX6" fmla="*/ 356800 w 594603"/>
                  <a:gd name="connsiteY6" fmla="*/ 688373 h 688372"/>
                  <a:gd name="connsiteX7" fmla="*/ 0 w 594603"/>
                  <a:gd name="connsiteY7" fmla="*/ 344139 h 688372"/>
                  <a:gd name="connsiteX8" fmla="*/ 356800 w 594603"/>
                  <a:gd name="connsiteY8" fmla="*/ 0 h 688372"/>
                  <a:gd name="connsiteX9" fmla="*/ 594604 w 594603"/>
                  <a:gd name="connsiteY9" fmla="*/ 99697 h 688372"/>
                  <a:gd name="connsiteX10" fmla="*/ 481124 w 594603"/>
                  <a:gd name="connsiteY10" fmla="*/ 212984 h 688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4603" h="688372">
                    <a:moveTo>
                      <a:pt x="481219" y="213079"/>
                    </a:moveTo>
                    <a:cubicBezTo>
                      <a:pt x="442885" y="173447"/>
                      <a:pt x="400556" y="147502"/>
                      <a:pt x="356800" y="147502"/>
                    </a:cubicBezTo>
                    <a:cubicBezTo>
                      <a:pt x="236472" y="147502"/>
                      <a:pt x="163989" y="241686"/>
                      <a:pt x="163989" y="344139"/>
                    </a:cubicBezTo>
                    <a:cubicBezTo>
                      <a:pt x="163989" y="446592"/>
                      <a:pt x="236472" y="540776"/>
                      <a:pt x="356800" y="540776"/>
                    </a:cubicBezTo>
                    <a:cubicBezTo>
                      <a:pt x="407310" y="540776"/>
                      <a:pt x="453824" y="519012"/>
                      <a:pt x="483883" y="479380"/>
                    </a:cubicBezTo>
                    <a:lnTo>
                      <a:pt x="593273" y="596850"/>
                    </a:lnTo>
                    <a:cubicBezTo>
                      <a:pt x="526307" y="663758"/>
                      <a:pt x="414159" y="688373"/>
                      <a:pt x="356800" y="688373"/>
                    </a:cubicBezTo>
                    <a:cubicBezTo>
                      <a:pt x="158567" y="688373"/>
                      <a:pt x="0" y="550375"/>
                      <a:pt x="0" y="344139"/>
                    </a:cubicBezTo>
                    <a:cubicBezTo>
                      <a:pt x="0" y="137903"/>
                      <a:pt x="158567" y="0"/>
                      <a:pt x="356800" y="0"/>
                    </a:cubicBezTo>
                    <a:cubicBezTo>
                      <a:pt x="440222" y="0"/>
                      <a:pt x="531729" y="30033"/>
                      <a:pt x="594604" y="99697"/>
                    </a:cubicBezTo>
                    <a:lnTo>
                      <a:pt x="481124" y="212984"/>
                    </a:lnTo>
                    <a:close/>
                  </a:path>
                </a:pathLst>
              </a:custGeom>
              <a:grpFill/>
              <a:ln w="9512" cap="flat">
                <a:noFill/>
                <a:prstDash val="solid"/>
                <a:miter/>
              </a:ln>
            </p:spPr>
            <p:txBody>
              <a:bodyPr rtlCol="0" anchor="ctr"/>
              <a:lstStyle/>
              <a:p>
                <a:endParaRPr lang="fr-FR"/>
              </a:p>
            </p:txBody>
          </p:sp>
          <p:sp>
            <p:nvSpPr>
              <p:cNvPr id="23" name="Forme libre 22">
                <a:extLst>
                  <a:ext uri="{FF2B5EF4-FFF2-40B4-BE49-F238E27FC236}">
                    <a16:creationId xmlns:a16="http://schemas.microsoft.com/office/drawing/2014/main" id="{12BD76DA-1C9F-5902-44E1-4A5F7B9829C5}"/>
                  </a:ext>
                </a:extLst>
              </p:cNvPr>
              <p:cNvSpPr/>
              <p:nvPr/>
            </p:nvSpPr>
            <p:spPr>
              <a:xfrm>
                <a:off x="8750745" y="2908087"/>
                <a:ext cx="210408" cy="976533"/>
              </a:xfrm>
              <a:custGeom>
                <a:avLst/>
                <a:gdLst>
                  <a:gd name="connsiteX0" fmla="*/ 23210 w 210408"/>
                  <a:gd name="connsiteY0" fmla="*/ 320949 h 976533"/>
                  <a:gd name="connsiteX1" fmla="*/ 187294 w 210408"/>
                  <a:gd name="connsiteY1" fmla="*/ 320949 h 976533"/>
                  <a:gd name="connsiteX2" fmla="*/ 187294 w 210408"/>
                  <a:gd name="connsiteY2" fmla="*/ 976533 h 976533"/>
                  <a:gd name="connsiteX3" fmla="*/ 23210 w 210408"/>
                  <a:gd name="connsiteY3" fmla="*/ 976533 h 976533"/>
                  <a:gd name="connsiteX4" fmla="*/ 23210 w 210408"/>
                  <a:gd name="connsiteY4" fmla="*/ 320949 h 976533"/>
                  <a:gd name="connsiteX5" fmla="*/ 103872 w 210408"/>
                  <a:gd name="connsiteY5" fmla="*/ 0 h 976533"/>
                  <a:gd name="connsiteX6" fmla="*/ 210409 w 210408"/>
                  <a:gd name="connsiteY6" fmla="*/ 98271 h 976533"/>
                  <a:gd name="connsiteX7" fmla="*/ 103872 w 210408"/>
                  <a:gd name="connsiteY7" fmla="*/ 196637 h 976533"/>
                  <a:gd name="connsiteX8" fmla="*/ 0 w 210408"/>
                  <a:gd name="connsiteY8" fmla="*/ 98271 h 976533"/>
                  <a:gd name="connsiteX9" fmla="*/ 103872 w 210408"/>
                  <a:gd name="connsiteY9" fmla="*/ 0 h 976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0408" h="976533">
                    <a:moveTo>
                      <a:pt x="23210" y="320949"/>
                    </a:moveTo>
                    <a:lnTo>
                      <a:pt x="187294" y="320949"/>
                    </a:lnTo>
                    <a:lnTo>
                      <a:pt x="187294" y="976533"/>
                    </a:lnTo>
                    <a:lnTo>
                      <a:pt x="23210" y="976533"/>
                    </a:lnTo>
                    <a:lnTo>
                      <a:pt x="23210" y="320949"/>
                    </a:lnTo>
                    <a:close/>
                    <a:moveTo>
                      <a:pt x="103872" y="0"/>
                    </a:moveTo>
                    <a:cubicBezTo>
                      <a:pt x="163989" y="0"/>
                      <a:pt x="210409" y="42293"/>
                      <a:pt x="210409" y="98271"/>
                    </a:cubicBezTo>
                    <a:cubicBezTo>
                      <a:pt x="210409" y="154249"/>
                      <a:pt x="163989" y="196637"/>
                      <a:pt x="103872" y="196637"/>
                    </a:cubicBezTo>
                    <a:cubicBezTo>
                      <a:pt x="43756" y="196637"/>
                      <a:pt x="0" y="150163"/>
                      <a:pt x="0" y="98271"/>
                    </a:cubicBezTo>
                    <a:cubicBezTo>
                      <a:pt x="0" y="46379"/>
                      <a:pt x="43756" y="0"/>
                      <a:pt x="103872" y="0"/>
                    </a:cubicBezTo>
                  </a:path>
                </a:pathLst>
              </a:custGeom>
              <a:grpFill/>
              <a:ln w="9512" cap="flat">
                <a:noFill/>
                <a:prstDash val="solid"/>
                <a:miter/>
              </a:ln>
            </p:spPr>
            <p:txBody>
              <a:bodyPr rtlCol="0" anchor="ctr"/>
              <a:lstStyle/>
              <a:p>
                <a:endParaRPr lang="fr-FR"/>
              </a:p>
            </p:txBody>
          </p:sp>
          <p:sp>
            <p:nvSpPr>
              <p:cNvPr id="24" name="Forme libre 23">
                <a:extLst>
                  <a:ext uri="{FF2B5EF4-FFF2-40B4-BE49-F238E27FC236}">
                    <a16:creationId xmlns:a16="http://schemas.microsoft.com/office/drawing/2014/main" id="{3B09702B-0C60-4631-33F5-3FA7D541CC4A}"/>
                  </a:ext>
                </a:extLst>
              </p:cNvPr>
              <p:cNvSpPr/>
              <p:nvPr/>
            </p:nvSpPr>
            <p:spPr>
              <a:xfrm>
                <a:off x="9014611" y="3212499"/>
                <a:ext cx="601452" cy="688467"/>
              </a:xfrm>
              <a:custGeom>
                <a:avLst/>
                <a:gdLst>
                  <a:gd name="connsiteX0" fmla="*/ 444217 w 601452"/>
                  <a:gd name="connsiteY0" fmla="*/ 378448 h 688467"/>
                  <a:gd name="connsiteX1" fmla="*/ 410068 w 601452"/>
                  <a:gd name="connsiteY1" fmla="*/ 378448 h 688467"/>
                  <a:gd name="connsiteX2" fmla="*/ 163989 w 601452"/>
                  <a:gd name="connsiteY2" fmla="*/ 479571 h 688467"/>
                  <a:gd name="connsiteX3" fmla="*/ 278801 w 601452"/>
                  <a:gd name="connsiteY3" fmla="*/ 565582 h 688467"/>
                  <a:gd name="connsiteX4" fmla="*/ 444217 w 601452"/>
                  <a:gd name="connsiteY4" fmla="*/ 415419 h 688467"/>
                  <a:gd name="connsiteX5" fmla="*/ 444217 w 601452"/>
                  <a:gd name="connsiteY5" fmla="*/ 378543 h 688467"/>
                  <a:gd name="connsiteX6" fmla="*/ 453824 w 601452"/>
                  <a:gd name="connsiteY6" fmla="*/ 581928 h 688467"/>
                  <a:gd name="connsiteX7" fmla="*/ 449734 w 601452"/>
                  <a:gd name="connsiteY7" fmla="*/ 581928 h 688467"/>
                  <a:gd name="connsiteX8" fmla="*/ 239230 w 601452"/>
                  <a:gd name="connsiteY8" fmla="*/ 688468 h 688467"/>
                  <a:gd name="connsiteX9" fmla="*/ 0 w 601452"/>
                  <a:gd name="connsiteY9" fmla="*/ 491736 h 688467"/>
                  <a:gd name="connsiteX10" fmla="*/ 412827 w 601452"/>
                  <a:gd name="connsiteY10" fmla="*/ 263640 h 688467"/>
                  <a:gd name="connsiteX11" fmla="*/ 453824 w 601452"/>
                  <a:gd name="connsiteY11" fmla="*/ 263640 h 688467"/>
                  <a:gd name="connsiteX12" fmla="*/ 453824 w 601452"/>
                  <a:gd name="connsiteY12" fmla="*/ 245868 h 688467"/>
                  <a:gd name="connsiteX13" fmla="*/ 303437 w 601452"/>
                  <a:gd name="connsiteY13" fmla="*/ 122981 h 688467"/>
                  <a:gd name="connsiteX14" fmla="*/ 128509 w 601452"/>
                  <a:gd name="connsiteY14" fmla="*/ 191220 h 688467"/>
                  <a:gd name="connsiteX15" fmla="*/ 42424 w 601452"/>
                  <a:gd name="connsiteY15" fmla="*/ 105209 h 688467"/>
                  <a:gd name="connsiteX16" fmla="*/ 321225 w 601452"/>
                  <a:gd name="connsiteY16" fmla="*/ 0 h 688467"/>
                  <a:gd name="connsiteX17" fmla="*/ 601453 w 601452"/>
                  <a:gd name="connsiteY17" fmla="*/ 295003 h 688467"/>
                  <a:gd name="connsiteX18" fmla="*/ 601453 w 601452"/>
                  <a:gd name="connsiteY18" fmla="*/ 672026 h 688467"/>
                  <a:gd name="connsiteX19" fmla="*/ 453824 w 601452"/>
                  <a:gd name="connsiteY19" fmla="*/ 672026 h 688467"/>
                  <a:gd name="connsiteX20" fmla="*/ 453824 w 601452"/>
                  <a:gd name="connsiteY20" fmla="*/ 581833 h 688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01452" h="688467">
                    <a:moveTo>
                      <a:pt x="444217" y="378448"/>
                    </a:moveTo>
                    <a:lnTo>
                      <a:pt x="410068" y="378448"/>
                    </a:lnTo>
                    <a:cubicBezTo>
                      <a:pt x="319798" y="378448"/>
                      <a:pt x="163989" y="385291"/>
                      <a:pt x="163989" y="479571"/>
                    </a:cubicBezTo>
                    <a:cubicBezTo>
                      <a:pt x="163989" y="539636"/>
                      <a:pt x="225438" y="565582"/>
                      <a:pt x="278801" y="565582"/>
                    </a:cubicBezTo>
                    <a:cubicBezTo>
                      <a:pt x="390854" y="565582"/>
                      <a:pt x="444217" y="506847"/>
                      <a:pt x="444217" y="415419"/>
                    </a:cubicBezTo>
                    <a:lnTo>
                      <a:pt x="444217" y="378543"/>
                    </a:lnTo>
                    <a:close/>
                    <a:moveTo>
                      <a:pt x="453824" y="581928"/>
                    </a:moveTo>
                    <a:lnTo>
                      <a:pt x="449734" y="581928"/>
                    </a:lnTo>
                    <a:cubicBezTo>
                      <a:pt x="403315" y="655679"/>
                      <a:pt x="326742" y="688468"/>
                      <a:pt x="239230" y="688468"/>
                    </a:cubicBezTo>
                    <a:cubicBezTo>
                      <a:pt x="117570" y="688468"/>
                      <a:pt x="0" y="621560"/>
                      <a:pt x="0" y="491736"/>
                    </a:cubicBezTo>
                    <a:cubicBezTo>
                      <a:pt x="0" y="278752"/>
                      <a:pt x="248837" y="263640"/>
                      <a:pt x="412827" y="263640"/>
                    </a:cubicBezTo>
                    <a:lnTo>
                      <a:pt x="453824" y="263640"/>
                    </a:lnTo>
                    <a:lnTo>
                      <a:pt x="453824" y="245868"/>
                    </a:lnTo>
                    <a:cubicBezTo>
                      <a:pt x="453824" y="165274"/>
                      <a:pt x="390949" y="122981"/>
                      <a:pt x="303437" y="122981"/>
                    </a:cubicBezTo>
                    <a:cubicBezTo>
                      <a:pt x="235140" y="122981"/>
                      <a:pt x="172265" y="150258"/>
                      <a:pt x="128509" y="191220"/>
                    </a:cubicBezTo>
                    <a:lnTo>
                      <a:pt x="42424" y="105209"/>
                    </a:lnTo>
                    <a:cubicBezTo>
                      <a:pt x="114906" y="31458"/>
                      <a:pt x="217352" y="0"/>
                      <a:pt x="321225" y="0"/>
                    </a:cubicBezTo>
                    <a:cubicBezTo>
                      <a:pt x="601453" y="0"/>
                      <a:pt x="601453" y="202149"/>
                      <a:pt x="601453" y="295003"/>
                    </a:cubicBezTo>
                    <a:lnTo>
                      <a:pt x="601453" y="672026"/>
                    </a:lnTo>
                    <a:lnTo>
                      <a:pt x="453824" y="672026"/>
                    </a:lnTo>
                    <a:lnTo>
                      <a:pt x="453824" y="581833"/>
                    </a:lnTo>
                    <a:close/>
                  </a:path>
                </a:pathLst>
              </a:custGeom>
              <a:grpFill/>
              <a:ln w="9512" cap="flat">
                <a:noFill/>
                <a:prstDash val="solid"/>
                <a:miter/>
              </a:ln>
            </p:spPr>
            <p:txBody>
              <a:bodyPr rtlCol="0" anchor="ctr"/>
              <a:lstStyle/>
              <a:p>
                <a:endParaRPr lang="fr-FR"/>
              </a:p>
            </p:txBody>
          </p:sp>
        </p:grpSp>
      </p:grpSp>
      <p:sp>
        <p:nvSpPr>
          <p:cNvPr id="4" name="ZoneTexte 3">
            <a:extLst>
              <a:ext uri="{FF2B5EF4-FFF2-40B4-BE49-F238E27FC236}">
                <a16:creationId xmlns:a16="http://schemas.microsoft.com/office/drawing/2014/main" id="{CC8D416C-2C88-FB21-AE10-9B5AB8638E0A}"/>
              </a:ext>
            </a:extLst>
          </p:cNvPr>
          <p:cNvSpPr txBox="1"/>
          <p:nvPr userDrawn="1"/>
        </p:nvSpPr>
        <p:spPr>
          <a:xfrm>
            <a:off x="689674" y="2021620"/>
            <a:ext cx="1100669" cy="246221"/>
          </a:xfrm>
          <a:prstGeom prst="rect">
            <a:avLst/>
          </a:prstGeom>
          <a:noFill/>
        </p:spPr>
        <p:txBody>
          <a:bodyPr wrap="square" rtlCol="0">
            <a:spAutoFit/>
          </a:bodyPr>
          <a:lstStyle/>
          <a:p>
            <a:pPr algn="ctr"/>
            <a:r>
              <a:rPr lang="fr-FR" sz="1000" b="1" dirty="0" err="1">
                <a:solidFill>
                  <a:srgbClr val="BCDCF1"/>
                </a:solidFill>
                <a:latin typeface="Arial Nova" panose="020B0504020202020204" pitchFamily="34" charset="0"/>
              </a:rPr>
              <a:t>audencia</a:t>
            </a:r>
            <a:r>
              <a:rPr lang="fr-FR" sz="1000" dirty="0" err="1">
                <a:solidFill>
                  <a:srgbClr val="BCDCF1"/>
                </a:solidFill>
                <a:latin typeface="Arial Nova" panose="020B0504020202020204" pitchFamily="34" charset="0"/>
              </a:rPr>
              <a:t>.com</a:t>
            </a:r>
            <a:endParaRPr lang="fr-FR" sz="1000" dirty="0">
              <a:solidFill>
                <a:srgbClr val="BCDCF1"/>
              </a:solidFill>
              <a:latin typeface="Arial Nova" panose="020B0504020202020204" pitchFamily="34" charset="0"/>
            </a:endParaRPr>
          </a:p>
        </p:txBody>
      </p:sp>
      <p:sp>
        <p:nvSpPr>
          <p:cNvPr id="6" name="Graphique 29">
            <a:extLst>
              <a:ext uri="{FF2B5EF4-FFF2-40B4-BE49-F238E27FC236}">
                <a16:creationId xmlns:a16="http://schemas.microsoft.com/office/drawing/2014/main" id="{A6048FBC-0B3B-D1FD-CDAC-8C23F578CE90}"/>
              </a:ext>
            </a:extLst>
          </p:cNvPr>
          <p:cNvSpPr/>
          <p:nvPr userDrawn="1"/>
        </p:nvSpPr>
        <p:spPr>
          <a:xfrm rot="15300000" flipH="1">
            <a:off x="3262162" y="-2441458"/>
            <a:ext cx="5397791" cy="6592012"/>
          </a:xfrm>
          <a:custGeom>
            <a:avLst/>
            <a:gdLst>
              <a:gd name="connsiteX0" fmla="*/ 3641377 w 3685056"/>
              <a:gd name="connsiteY0" fmla="*/ 502156 h 4500347"/>
              <a:gd name="connsiteX1" fmla="*/ 3485068 w 3685056"/>
              <a:gd name="connsiteY1" fmla="*/ 267241 h 4500347"/>
              <a:gd name="connsiteX2" fmla="*/ 1912951 w 3685056"/>
              <a:gd name="connsiteY2" fmla="*/ 40437 h 4500347"/>
              <a:gd name="connsiteX3" fmla="*/ 0 w 3685056"/>
              <a:gd name="connsiteY3" fmla="*/ 300905 h 4500347"/>
              <a:gd name="connsiteX4" fmla="*/ 0 w 3685056"/>
              <a:gd name="connsiteY4" fmla="*/ 1274412 h 4500347"/>
              <a:gd name="connsiteX5" fmla="*/ 1858654 w 3685056"/>
              <a:gd name="connsiteY5" fmla="*/ 556494 h 4500347"/>
              <a:gd name="connsiteX6" fmla="*/ 3161174 w 3685056"/>
              <a:gd name="connsiteY6" fmla="*/ 585584 h 4500347"/>
              <a:gd name="connsiteX7" fmla="*/ 2778657 w 3685056"/>
              <a:gd name="connsiteY7" fmla="*/ 1898779 h 4500347"/>
              <a:gd name="connsiteX8" fmla="*/ 740171 w 3685056"/>
              <a:gd name="connsiteY8" fmla="*/ 4500348 h 4500347"/>
              <a:gd name="connsiteX9" fmla="*/ 2033185 w 3685056"/>
              <a:gd name="connsiteY9" fmla="*/ 4500348 h 4500347"/>
              <a:gd name="connsiteX10" fmla="*/ 2730149 w 3685056"/>
              <a:gd name="connsiteY10" fmla="*/ 3167028 h 4500347"/>
              <a:gd name="connsiteX11" fmla="*/ 3485129 w 3685056"/>
              <a:gd name="connsiteY11" fmla="*/ 1567507 h 4500347"/>
              <a:gd name="connsiteX12" fmla="*/ 3641438 w 3685056"/>
              <a:gd name="connsiteY12" fmla="*/ 502278 h 4500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85056" h="4500347">
                <a:moveTo>
                  <a:pt x="3641377" y="502156"/>
                </a:moveTo>
                <a:cubicBezTo>
                  <a:pt x="3598842" y="408239"/>
                  <a:pt x="3546494" y="330849"/>
                  <a:pt x="3485068" y="267241"/>
                </a:cubicBezTo>
                <a:cubicBezTo>
                  <a:pt x="3171595" y="-57261"/>
                  <a:pt x="2620336" y="-19938"/>
                  <a:pt x="1912951" y="40437"/>
                </a:cubicBezTo>
                <a:cubicBezTo>
                  <a:pt x="1067050" y="112582"/>
                  <a:pt x="0" y="300905"/>
                  <a:pt x="0" y="300905"/>
                </a:cubicBezTo>
                <a:lnTo>
                  <a:pt x="0" y="1274412"/>
                </a:lnTo>
                <a:cubicBezTo>
                  <a:pt x="0" y="1274412"/>
                  <a:pt x="1204956" y="769698"/>
                  <a:pt x="1858654" y="556494"/>
                </a:cubicBezTo>
                <a:cubicBezTo>
                  <a:pt x="2512352" y="343290"/>
                  <a:pt x="2927654" y="276267"/>
                  <a:pt x="3161174" y="585584"/>
                </a:cubicBezTo>
                <a:cubicBezTo>
                  <a:pt x="3421508" y="930455"/>
                  <a:pt x="2986887" y="1593487"/>
                  <a:pt x="2778657" y="1898779"/>
                </a:cubicBezTo>
                <a:cubicBezTo>
                  <a:pt x="2570427" y="2204071"/>
                  <a:pt x="2098695" y="2843562"/>
                  <a:pt x="740171" y="4500348"/>
                </a:cubicBezTo>
                <a:lnTo>
                  <a:pt x="2033185" y="4500348"/>
                </a:lnTo>
                <a:cubicBezTo>
                  <a:pt x="2033185" y="4500348"/>
                  <a:pt x="2463844" y="3709796"/>
                  <a:pt x="2730149" y="3167028"/>
                </a:cubicBezTo>
                <a:cubicBezTo>
                  <a:pt x="2930457" y="2758732"/>
                  <a:pt x="3269586" y="2131316"/>
                  <a:pt x="3485129" y="1567507"/>
                </a:cubicBezTo>
                <a:cubicBezTo>
                  <a:pt x="3652286" y="1130243"/>
                  <a:pt x="3745157" y="731217"/>
                  <a:pt x="3641438" y="502278"/>
                </a:cubicBezTo>
                <a:close/>
              </a:path>
            </a:pathLst>
          </a:custGeom>
          <a:solidFill>
            <a:srgbClr val="758BC5">
              <a:alpha val="70000"/>
            </a:srgbClr>
          </a:solidFill>
          <a:ln w="6093" cap="flat">
            <a:noFill/>
            <a:prstDash val="solid"/>
            <a:miter/>
          </a:ln>
        </p:spPr>
        <p:txBody>
          <a:bodyPr rtlCol="0" anchor="ctr"/>
          <a:lstStyle/>
          <a:p>
            <a:endParaRPr lang="fr-FR">
              <a:solidFill>
                <a:schemeClr val="accent2"/>
              </a:solidFill>
            </a:endParaRPr>
          </a:p>
        </p:txBody>
      </p:sp>
      <p:sp>
        <p:nvSpPr>
          <p:cNvPr id="8" name="Espace réservé du contenu 7">
            <a:extLst>
              <a:ext uri="{FF2B5EF4-FFF2-40B4-BE49-F238E27FC236}">
                <a16:creationId xmlns:a16="http://schemas.microsoft.com/office/drawing/2014/main" id="{4038C916-A98D-A5E7-086C-C33DDEE8D942}"/>
              </a:ext>
            </a:extLst>
          </p:cNvPr>
          <p:cNvSpPr>
            <a:spLocks noGrp="1"/>
          </p:cNvSpPr>
          <p:nvPr>
            <p:ph sz="quarter" idx="10" hasCustomPrompt="1"/>
          </p:nvPr>
        </p:nvSpPr>
        <p:spPr>
          <a:xfrm>
            <a:off x="592138" y="2613896"/>
            <a:ext cx="5840412" cy="1584325"/>
          </a:xfrm>
        </p:spPr>
        <p:txBody>
          <a:bodyPr/>
          <a:lstStyle>
            <a:lvl1pPr marL="0" indent="0">
              <a:buNone/>
              <a:defRPr>
                <a:solidFill>
                  <a:schemeClr val="bg1"/>
                </a:solidFill>
              </a:defRPr>
            </a:lvl1pPr>
          </a:lstStyle>
          <a:p>
            <a:pPr lvl="0"/>
            <a:r>
              <a:rPr lang="fr-FR" dirty="0"/>
              <a:t>Merci de votre attention.</a:t>
            </a:r>
          </a:p>
        </p:txBody>
      </p:sp>
      <p:pic>
        <p:nvPicPr>
          <p:cNvPr id="44" name="Image 43" descr="Une image contenant texte, Police, affiche, graphisme&#10;&#10;Description générée automatiquement">
            <a:extLst>
              <a:ext uri="{FF2B5EF4-FFF2-40B4-BE49-F238E27FC236}">
                <a16:creationId xmlns:a16="http://schemas.microsoft.com/office/drawing/2014/main" id="{2E4BAA38-D2BB-76CC-79E8-EEEFE8F7996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749626" y="386498"/>
            <a:ext cx="6282965" cy="6282965"/>
          </a:xfrm>
          <a:prstGeom prst="rect">
            <a:avLst/>
          </a:prstGeom>
        </p:spPr>
      </p:pic>
    </p:spTree>
    <p:extLst>
      <p:ext uri="{BB962C8B-B14F-4D97-AF65-F5344CB8AC3E}">
        <p14:creationId xmlns:p14="http://schemas.microsoft.com/office/powerpoint/2010/main" val="2290902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9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9366923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2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782801708"/>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3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74606803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4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02890175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5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46964959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36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55098552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37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72627258"/>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38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88541385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39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937469680"/>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40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545173955"/>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41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72607320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42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63661257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43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86125195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44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44104234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45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00534432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46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149924580"/>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47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86131443"/>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48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08592964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49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479926713"/>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50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462541167"/>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51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89404272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52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591099015"/>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53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687694165"/>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54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52868580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55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20381843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56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129028680"/>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57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905576699"/>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58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94850892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59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79437259"/>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60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05094149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61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22193926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62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39519619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63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909887733"/>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64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121230550"/>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77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359029800"/>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78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12084325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79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489970315"/>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80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77118675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81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89694856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82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442990499"/>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83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99624973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84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908919285"/>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85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54185535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86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0532104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87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40768070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88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4073130409"/>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89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839429587"/>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90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858584290"/>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91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703928973"/>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92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8425959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93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461182818"/>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94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364423405"/>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95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419878953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96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316878727"/>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97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51344334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98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86429783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99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851043745"/>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100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965033403"/>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101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966416165"/>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102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41014904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103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007695989"/>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104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783909693"/>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105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284728035"/>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106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53658308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07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99947386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Diapositive de section">
    <p:spTree>
      <p:nvGrpSpPr>
        <p:cNvPr id="1" name=""/>
        <p:cNvGrpSpPr/>
        <p:nvPr/>
      </p:nvGrpSpPr>
      <p:grpSpPr>
        <a:xfrm>
          <a:off x="0" y="0"/>
          <a:ext cx="0" cy="0"/>
          <a:chOff x="0" y="0"/>
          <a:chExt cx="0" cy="0"/>
        </a:xfrm>
      </p:grpSpPr>
      <p:sp>
        <p:nvSpPr>
          <p:cNvPr id="14" name="Sous-titre 2"/>
          <p:cNvSpPr txBox="1">
            <a:spLocks/>
          </p:cNvSpPr>
          <p:nvPr userDrawn="1"/>
        </p:nvSpPr>
        <p:spPr>
          <a:xfrm>
            <a:off x="799405" y="3615627"/>
            <a:ext cx="9144000" cy="1655762"/>
          </a:xfrm>
          <a:prstGeom prst="rect">
            <a:avLst/>
          </a:prstGeom>
        </p:spPr>
        <p:txBody>
          <a:bodyPr/>
          <a:lstStyle>
            <a:lvl1pPr marL="0" indent="0" algn="ctr" defTabSz="914400" rtl="0" eaLnBrk="1" latinLnBrk="0" hangingPunct="1">
              <a:spcBef>
                <a:spcPct val="20000"/>
              </a:spcBef>
              <a:buFont typeface="Arial" pitchFamily="34" charset="0"/>
              <a:buNone/>
              <a:defRPr sz="2400" kern="1200">
                <a:solidFill>
                  <a:schemeClr val="tx1"/>
                </a:solidFill>
                <a:latin typeface="+mn-lt"/>
                <a:ea typeface="+mn-ea"/>
                <a:cs typeface="+mn-cs"/>
              </a:defRPr>
            </a:lvl1pPr>
            <a:lvl2pPr marL="457200" indent="0" algn="ctr" defTabSz="914400" rtl="0" eaLnBrk="1" latinLnBrk="0" hangingPunct="1">
              <a:spcBef>
                <a:spcPct val="20000"/>
              </a:spcBef>
              <a:buFont typeface="Arial" pitchFamily="34" charset="0"/>
              <a:buNone/>
              <a:defRPr sz="2000" kern="1200">
                <a:solidFill>
                  <a:schemeClr val="tx1"/>
                </a:solidFill>
                <a:latin typeface="+mn-lt"/>
                <a:ea typeface="+mn-ea"/>
                <a:cs typeface="+mn-cs"/>
              </a:defRPr>
            </a:lvl2pPr>
            <a:lvl3pPr marL="914400" indent="0" algn="ctr" defTabSz="914400" rtl="0" eaLnBrk="1" latinLnBrk="0" hangingPunct="1">
              <a:spcBef>
                <a:spcPct val="20000"/>
              </a:spcBef>
              <a:buFont typeface="Arial" pitchFamily="34" charset="0"/>
              <a:buNone/>
              <a:defRPr sz="1800" kern="1200">
                <a:solidFill>
                  <a:schemeClr val="tx1"/>
                </a:solidFill>
                <a:latin typeface="+mn-lt"/>
                <a:ea typeface="+mn-ea"/>
                <a:cs typeface="+mn-cs"/>
              </a:defRPr>
            </a:lvl3pPr>
            <a:lvl4pPr marL="1371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5pPr>
            <a:lvl6pPr marL="22860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7pPr>
            <a:lvl8pPr marL="32004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9pPr>
          </a:lstStyle>
          <a:p>
            <a:endParaRPr lang="fr-FR" sz="3198" dirty="0">
              <a:solidFill>
                <a:schemeClr val="bg1">
                  <a:lumMod val="50000"/>
                </a:schemeClr>
              </a:solidFill>
              <a:latin typeface="HelveticaNeueLT Std Med" panose="020B0604020202020204" pitchFamily="34" charset="0"/>
            </a:endParaRPr>
          </a:p>
        </p:txBody>
      </p:sp>
      <p:sp>
        <p:nvSpPr>
          <p:cNvPr id="17" name="Sous-titre 2"/>
          <p:cNvSpPr>
            <a:spLocks noGrp="1"/>
          </p:cNvSpPr>
          <p:nvPr>
            <p:ph type="subTitle" idx="1" hasCustomPrompt="1"/>
          </p:nvPr>
        </p:nvSpPr>
        <p:spPr>
          <a:xfrm>
            <a:off x="8820" y="3252628"/>
            <a:ext cx="12191999" cy="480671"/>
          </a:xfrm>
          <a:prstGeom prst="rect">
            <a:avLst/>
          </a:prstGeom>
        </p:spPr>
        <p:txBody>
          <a:bodyPr/>
          <a:lstStyle>
            <a:lvl1pPr marL="0" indent="0" algn="ctr">
              <a:buNone/>
              <a:defRPr sz="2666">
                <a:solidFill>
                  <a:schemeClr val="bg1">
                    <a:lumMod val="75000"/>
                  </a:schemeClr>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sp>
        <p:nvSpPr>
          <p:cNvPr id="21" name="Titre 1"/>
          <p:cNvSpPr>
            <a:spLocks noGrp="1"/>
          </p:cNvSpPr>
          <p:nvPr>
            <p:ph type="ctrTitle"/>
          </p:nvPr>
        </p:nvSpPr>
        <p:spPr>
          <a:xfrm>
            <a:off x="16173" y="2615827"/>
            <a:ext cx="12175827" cy="625475"/>
          </a:xfrm>
          <a:prstGeom prst="rect">
            <a:avLst/>
          </a:prstGeom>
        </p:spPr>
        <p:txBody>
          <a:bodyPr anchor="b"/>
          <a:lstStyle>
            <a:lvl1pPr marL="0" indent="0" algn="ctr">
              <a:buFont typeface="+mj-lt"/>
              <a:buAutoNum type="arabicPeriod"/>
              <a:defRPr sz="3332" cap="all" baseline="0">
                <a:solidFill>
                  <a:schemeClr val="bg1"/>
                </a:solidFill>
                <a:latin typeface="Arial Black"/>
                <a:cs typeface="Arial Black"/>
              </a:defRPr>
            </a:lvl1pPr>
          </a:lstStyle>
          <a:p>
            <a:endParaRPr lang="fr-FR" dirty="0"/>
          </a:p>
        </p:txBody>
      </p:sp>
      <p:pic>
        <p:nvPicPr>
          <p:cNvPr id="12" name="Imag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546396" y="2084851"/>
            <a:ext cx="1100952" cy="131928"/>
          </a:xfrm>
          <a:prstGeom prst="rect">
            <a:avLst/>
          </a:prstGeom>
        </p:spPr>
      </p:pic>
      <p:pic>
        <p:nvPicPr>
          <p:cNvPr id="26" name="Image 2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546396" y="4257179"/>
            <a:ext cx="1100952" cy="131928"/>
          </a:xfrm>
          <a:prstGeom prst="rect">
            <a:avLst/>
          </a:prstGeom>
        </p:spPr>
      </p:pic>
      <p:sp>
        <p:nvSpPr>
          <p:cNvPr id="31" name="Espace réservé du numéro de diapositive 5"/>
          <p:cNvSpPr>
            <a:spLocks noGrp="1"/>
          </p:cNvSpPr>
          <p:nvPr>
            <p:ph type="sldNum" sz="quarter" idx="12"/>
          </p:nvPr>
        </p:nvSpPr>
        <p:spPr>
          <a:xfrm>
            <a:off x="11376587" y="6309320"/>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pic>
        <p:nvPicPr>
          <p:cNvPr id="9" name="Imag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136765" y="6208244"/>
            <a:ext cx="1920214" cy="435514"/>
          </a:xfrm>
          <a:prstGeom prst="rect">
            <a:avLst/>
          </a:prstGeom>
        </p:spPr>
      </p:pic>
    </p:spTree>
    <p:extLst>
      <p:ext uri="{BB962C8B-B14F-4D97-AF65-F5344CB8AC3E}">
        <p14:creationId xmlns:p14="http://schemas.microsoft.com/office/powerpoint/2010/main" val="307084380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108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793267627"/>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109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99087368"/>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110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2402796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111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907119938"/>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112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54225199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113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0806977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114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051283965"/>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115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50009818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theme" Target="../theme/theme1.xml"/><Relationship Id="rId61" Type="http://schemas.openxmlformats.org/officeDocument/2006/relationships/slideLayout" Target="../slideLayouts/slideLayout61.xml"/><Relationship Id="rId82" Type="http://schemas.openxmlformats.org/officeDocument/2006/relationships/slideLayout" Target="../slideLayouts/slideLayout8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B3CFC1A-F770-9618-CEDA-44AA0B0EBC33}"/>
              </a:ext>
            </a:extLst>
          </p:cNvPr>
          <p:cNvSpPr>
            <a:spLocks noGrp="1"/>
          </p:cNvSpPr>
          <p:nvPr>
            <p:ph type="title"/>
          </p:nvPr>
        </p:nvSpPr>
        <p:spPr>
          <a:xfrm>
            <a:off x="656844" y="487045"/>
            <a:ext cx="10829544" cy="1460500"/>
          </a:xfrm>
          <a:prstGeom prst="rect">
            <a:avLst/>
          </a:prstGeom>
        </p:spPr>
        <p:txBody>
          <a:bodyPr vert="horz" lIns="91440" tIns="45720" rIns="91440" bIns="45720" rtlCol="0" anchor="t">
            <a:normAutofit/>
          </a:bodyPr>
          <a:lstStyle/>
          <a:p>
            <a:r>
              <a:rPr lang="fr-FR" dirty="0"/>
              <a:t>MODIFIEZ </a:t>
            </a:r>
            <a:br>
              <a:rPr lang="fr-FR" dirty="0"/>
            </a:br>
            <a:r>
              <a:rPr lang="fr-FR" dirty="0"/>
              <a:t>LE STYLE DU TITRE</a:t>
            </a:r>
          </a:p>
        </p:txBody>
      </p:sp>
      <p:sp>
        <p:nvSpPr>
          <p:cNvPr id="3" name="Espace réservé du texte 2">
            <a:extLst>
              <a:ext uri="{FF2B5EF4-FFF2-40B4-BE49-F238E27FC236}">
                <a16:creationId xmlns:a16="http://schemas.microsoft.com/office/drawing/2014/main" id="{9914BD92-D03C-3328-44F8-EA5C097D0355}"/>
              </a:ext>
            </a:extLst>
          </p:cNvPr>
          <p:cNvSpPr>
            <a:spLocks noGrp="1"/>
          </p:cNvSpPr>
          <p:nvPr>
            <p:ph type="body" idx="1"/>
          </p:nvPr>
        </p:nvSpPr>
        <p:spPr>
          <a:xfrm>
            <a:off x="681228" y="1825625"/>
            <a:ext cx="10829544"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6" name="Espace réservé du numéro de diapositive 5">
            <a:extLst>
              <a:ext uri="{FF2B5EF4-FFF2-40B4-BE49-F238E27FC236}">
                <a16:creationId xmlns:a16="http://schemas.microsoft.com/office/drawing/2014/main" id="{52D7268D-6B8C-3C8A-2861-02A0F970051B}"/>
              </a:ext>
            </a:extLst>
          </p:cNvPr>
          <p:cNvSpPr>
            <a:spLocks noGrp="1"/>
          </p:cNvSpPr>
          <p:nvPr>
            <p:ph type="sldNum" sz="quarter" idx="4"/>
          </p:nvPr>
        </p:nvSpPr>
        <p:spPr>
          <a:xfrm>
            <a:off x="8854440" y="6356350"/>
            <a:ext cx="2743200" cy="365125"/>
          </a:xfrm>
          <a:prstGeom prst="rect">
            <a:avLst/>
          </a:prstGeom>
        </p:spPr>
        <p:txBody>
          <a:bodyPr vert="horz" lIns="91440" tIns="45720" rIns="91440" bIns="45720" rtlCol="0" anchor="ctr"/>
          <a:lstStyle>
            <a:lvl1pPr algn="r">
              <a:defRPr sz="1200">
                <a:solidFill>
                  <a:srgbClr val="032D5A"/>
                </a:solidFill>
              </a:defRPr>
            </a:lvl1pPr>
          </a:lstStyle>
          <a:p>
            <a:fld id="{421B1A79-1F45-8F4F-AED5-0EE30DCF0380}" type="slidenum">
              <a:rPr lang="fr-FR" smtClean="0"/>
              <a:pPr/>
              <a:t>‹#›</a:t>
            </a:fld>
            <a:endParaRPr lang="fr-FR" dirty="0"/>
          </a:p>
        </p:txBody>
      </p:sp>
    </p:spTree>
    <p:extLst>
      <p:ext uri="{BB962C8B-B14F-4D97-AF65-F5344CB8AC3E}">
        <p14:creationId xmlns:p14="http://schemas.microsoft.com/office/powerpoint/2010/main" val="41987757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0" r:id="rId4"/>
    <p:sldLayoutId id="2147483652" r:id="rId5"/>
    <p:sldLayoutId id="2147483653" r:id="rId6"/>
    <p:sldLayoutId id="2147483654" r:id="rId7"/>
    <p:sldLayoutId id="2147483655" r:id="rId8"/>
    <p:sldLayoutId id="2147483656" r:id="rId9"/>
    <p:sldLayoutId id="2147483657" r:id="rId10"/>
    <p:sldLayoutId id="2147483661" r:id="rId11"/>
    <p:sldLayoutId id="2147483663" r:id="rId12"/>
    <p:sldLayoutId id="2147483673" r:id="rId13"/>
    <p:sldLayoutId id="2147483696" r:id="rId14"/>
    <p:sldLayoutId id="2147483697" r:id="rId15"/>
    <p:sldLayoutId id="2147483698" r:id="rId16"/>
    <p:sldLayoutId id="2147483699" r:id="rId17"/>
    <p:sldLayoutId id="2147483700" r:id="rId18"/>
    <p:sldLayoutId id="2147483701" r:id="rId19"/>
    <p:sldLayoutId id="2147483702" r:id="rId20"/>
    <p:sldLayoutId id="2147483703" r:id="rId21"/>
    <p:sldLayoutId id="2147483704" r:id="rId22"/>
    <p:sldLayoutId id="2147483705" r:id="rId23"/>
    <p:sldLayoutId id="2147483706" r:id="rId24"/>
    <p:sldLayoutId id="2147483707" r:id="rId25"/>
    <p:sldLayoutId id="2147483708" r:id="rId26"/>
    <p:sldLayoutId id="2147483709" r:id="rId27"/>
    <p:sldLayoutId id="2147483710" r:id="rId28"/>
    <p:sldLayoutId id="2147483711" r:id="rId29"/>
    <p:sldLayoutId id="2147483712" r:id="rId30"/>
    <p:sldLayoutId id="2147483713" r:id="rId31"/>
    <p:sldLayoutId id="2147483714" r:id="rId32"/>
    <p:sldLayoutId id="2147483715" r:id="rId33"/>
    <p:sldLayoutId id="2147483716" r:id="rId34"/>
    <p:sldLayoutId id="2147483717" r:id="rId35"/>
    <p:sldLayoutId id="2147483718" r:id="rId36"/>
    <p:sldLayoutId id="2147483719" r:id="rId37"/>
    <p:sldLayoutId id="2147483720" r:id="rId38"/>
    <p:sldLayoutId id="2147483721" r:id="rId39"/>
    <p:sldLayoutId id="2147483722" r:id="rId40"/>
    <p:sldLayoutId id="2147483723" r:id="rId41"/>
    <p:sldLayoutId id="2147483724" r:id="rId42"/>
    <p:sldLayoutId id="2147483725" r:id="rId43"/>
    <p:sldLayoutId id="2147483726" r:id="rId44"/>
    <p:sldLayoutId id="2147483727" r:id="rId45"/>
    <p:sldLayoutId id="2147483728" r:id="rId46"/>
    <p:sldLayoutId id="2147483741" r:id="rId47"/>
    <p:sldLayoutId id="2147483742" r:id="rId48"/>
    <p:sldLayoutId id="2147483743" r:id="rId49"/>
    <p:sldLayoutId id="2147483744" r:id="rId50"/>
    <p:sldLayoutId id="2147483745" r:id="rId51"/>
    <p:sldLayoutId id="2147483746" r:id="rId52"/>
    <p:sldLayoutId id="2147483747" r:id="rId53"/>
    <p:sldLayoutId id="2147483748" r:id="rId54"/>
    <p:sldLayoutId id="2147483749" r:id="rId55"/>
    <p:sldLayoutId id="2147483750" r:id="rId56"/>
    <p:sldLayoutId id="2147483751" r:id="rId57"/>
    <p:sldLayoutId id="2147483752" r:id="rId58"/>
    <p:sldLayoutId id="2147483753" r:id="rId59"/>
    <p:sldLayoutId id="2147483754" r:id="rId60"/>
    <p:sldLayoutId id="2147483755" r:id="rId61"/>
    <p:sldLayoutId id="2147483756" r:id="rId62"/>
    <p:sldLayoutId id="2147483757" r:id="rId63"/>
    <p:sldLayoutId id="2147483758" r:id="rId64"/>
    <p:sldLayoutId id="2147483759" r:id="rId65"/>
    <p:sldLayoutId id="2147483760" r:id="rId66"/>
    <p:sldLayoutId id="2147483761" r:id="rId67"/>
    <p:sldLayoutId id="2147483762" r:id="rId68"/>
    <p:sldLayoutId id="2147483763" r:id="rId69"/>
    <p:sldLayoutId id="2147483764" r:id="rId70"/>
    <p:sldLayoutId id="2147483765" r:id="rId71"/>
    <p:sldLayoutId id="2147483766" r:id="rId72"/>
    <p:sldLayoutId id="2147483767" r:id="rId73"/>
    <p:sldLayoutId id="2147483768" r:id="rId74"/>
    <p:sldLayoutId id="2147483769" r:id="rId75"/>
    <p:sldLayoutId id="2147483770" r:id="rId76"/>
    <p:sldLayoutId id="2147483771" r:id="rId77"/>
    <p:sldLayoutId id="2147483772" r:id="rId78"/>
    <p:sldLayoutId id="2147483773" r:id="rId79"/>
    <p:sldLayoutId id="2147483774" r:id="rId80"/>
    <p:sldLayoutId id="2147483775" r:id="rId81"/>
    <p:sldLayoutId id="2147483776" r:id="rId82"/>
    <p:sldLayoutId id="2147483777" r:id="rId83"/>
    <p:sldLayoutId id="2147483778" r:id="rId84"/>
    <p:sldLayoutId id="2147483779" r:id="rId85"/>
    <p:sldLayoutId id="2147483780" r:id="rId86"/>
  </p:sldLayoutIdLst>
  <p:hf hdr="0" ftr="0" dt="0"/>
  <p:txStyles>
    <p:titleStyle>
      <a:lvl1pPr algn="l" defTabSz="914400" rtl="0" eaLnBrk="1" latinLnBrk="0" hangingPunct="1">
        <a:lnSpc>
          <a:spcPct val="75000"/>
        </a:lnSpc>
        <a:spcBef>
          <a:spcPct val="0"/>
        </a:spcBef>
        <a:buNone/>
        <a:defRPr sz="3000" b="1" kern="1200">
          <a:solidFill>
            <a:srgbClr val="9378B5"/>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1" kern="1200">
          <a:solidFill>
            <a:schemeClr val="tx1"/>
          </a:solidFill>
          <a:latin typeface="Arial Nova"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i="1" kern="1200">
          <a:solidFill>
            <a:schemeClr val="tx1"/>
          </a:solidFill>
          <a:latin typeface="Arial Nova Cond" panose="020B0506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i="1" kern="1200">
          <a:solidFill>
            <a:srgbClr val="22398E"/>
          </a:solidFill>
          <a:latin typeface="Arial Nova Cond" panose="020B0506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8.tmp"/><Relationship Id="rId3" Type="http://schemas.openxmlformats.org/officeDocument/2006/relationships/image" Target="../media/image13.tmp"/><Relationship Id="rId7" Type="http://schemas.openxmlformats.org/officeDocument/2006/relationships/image" Target="../media/image17.tmp"/><Relationship Id="rId2" Type="http://schemas.openxmlformats.org/officeDocument/2006/relationships/image" Target="../media/image12.tmp"/><Relationship Id="rId1" Type="http://schemas.openxmlformats.org/officeDocument/2006/relationships/slideLayout" Target="../slideLayouts/slideLayout2.xml"/><Relationship Id="rId6" Type="http://schemas.openxmlformats.org/officeDocument/2006/relationships/image" Target="../media/image16.tmp"/><Relationship Id="rId5" Type="http://schemas.openxmlformats.org/officeDocument/2006/relationships/image" Target="../media/image15.tmp"/><Relationship Id="rId4" Type="http://schemas.openxmlformats.org/officeDocument/2006/relationships/image" Target="../media/image14.tmp"/></Relationships>
</file>

<file path=ppt/slides/_rels/slide18.xml.rels><?xml version="1.0" encoding="UTF-8" standalone="yes"?>
<Relationships xmlns="http://schemas.openxmlformats.org/package/2006/relationships"><Relationship Id="rId3" Type="http://schemas.openxmlformats.org/officeDocument/2006/relationships/image" Target="../media/image20.tmp"/><Relationship Id="rId2" Type="http://schemas.openxmlformats.org/officeDocument/2006/relationships/image" Target="../media/image19.tmp"/><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tmp"/><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tmp"/><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tmp"/><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tmp"/><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tmp"/><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tmp"/><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8.tmp"/><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9.tmp"/><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30.tmp"/><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Forme libre 34">
            <a:extLst>
              <a:ext uri="{FF2B5EF4-FFF2-40B4-BE49-F238E27FC236}">
                <a16:creationId xmlns:a16="http://schemas.microsoft.com/office/drawing/2014/main" id="{6BADFA64-1A15-D993-E148-F8053C6F7A02}"/>
              </a:ext>
            </a:extLst>
          </p:cNvPr>
          <p:cNvSpPr/>
          <p:nvPr/>
        </p:nvSpPr>
        <p:spPr>
          <a:xfrm>
            <a:off x="1636077" y="3519885"/>
            <a:ext cx="5078718" cy="4256479"/>
          </a:xfrm>
          <a:custGeom>
            <a:avLst/>
            <a:gdLst>
              <a:gd name="connsiteX0" fmla="*/ 0 w 5078718"/>
              <a:gd name="connsiteY0" fmla="*/ 0 h 4256479"/>
              <a:gd name="connsiteX1" fmla="*/ 5078719 w 5078718"/>
              <a:gd name="connsiteY1" fmla="*/ 0 h 4256479"/>
              <a:gd name="connsiteX2" fmla="*/ 5078719 w 5078718"/>
              <a:gd name="connsiteY2" fmla="*/ 4256480 h 4256479"/>
              <a:gd name="connsiteX3" fmla="*/ 0 w 5078718"/>
              <a:gd name="connsiteY3" fmla="*/ 4256480 h 4256479"/>
            </a:gdLst>
            <a:ahLst/>
            <a:cxnLst>
              <a:cxn ang="0">
                <a:pos x="connsiteX0" y="connsiteY0"/>
              </a:cxn>
              <a:cxn ang="0">
                <a:pos x="connsiteX1" y="connsiteY1"/>
              </a:cxn>
              <a:cxn ang="0">
                <a:pos x="connsiteX2" y="connsiteY2"/>
              </a:cxn>
              <a:cxn ang="0">
                <a:pos x="connsiteX3" y="connsiteY3"/>
              </a:cxn>
            </a:cxnLst>
            <a:rect l="l" t="t" r="r" b="b"/>
            <a:pathLst>
              <a:path w="5078718" h="4256479">
                <a:moveTo>
                  <a:pt x="0" y="0"/>
                </a:moveTo>
                <a:lnTo>
                  <a:pt x="5078719" y="0"/>
                </a:lnTo>
                <a:lnTo>
                  <a:pt x="5078719" y="4256480"/>
                </a:lnTo>
                <a:lnTo>
                  <a:pt x="0" y="4256480"/>
                </a:lnTo>
                <a:close/>
              </a:path>
            </a:pathLst>
          </a:custGeom>
          <a:noFill/>
          <a:ln w="3628" cap="flat">
            <a:noFill/>
            <a:prstDash val="solid"/>
            <a:miter/>
          </a:ln>
        </p:spPr>
        <p:txBody>
          <a:bodyPr rtlCol="0" anchor="ctr"/>
          <a:lstStyle/>
          <a:p>
            <a:endParaRPr lang="fr-FR"/>
          </a:p>
        </p:txBody>
      </p:sp>
      <p:pic>
        <p:nvPicPr>
          <p:cNvPr id="5" name="Image 4" descr="Une image contenant Visage humain, personne, habits, sourire&#10;&#10;Description générée automatiquement">
            <a:extLst>
              <a:ext uri="{FF2B5EF4-FFF2-40B4-BE49-F238E27FC236}">
                <a16:creationId xmlns:a16="http://schemas.microsoft.com/office/drawing/2014/main" id="{A60C8D55-D7C6-46C6-3EB4-E7AD640E8B9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5372459" y="0"/>
            <a:ext cx="6573173" cy="6858000"/>
          </a:xfrm>
          <a:prstGeom prst="rect">
            <a:avLst/>
          </a:prstGeom>
          <a:effectLst>
            <a:outerShdw blurRad="609600" dist="1016000" dir="8100000" algn="tr" rotWithShape="0">
              <a:prstClr val="black">
                <a:alpha val="40000"/>
              </a:prstClr>
            </a:outerShdw>
          </a:effectLst>
        </p:spPr>
      </p:pic>
      <p:sp>
        <p:nvSpPr>
          <p:cNvPr id="2" name="Titre 1">
            <a:extLst>
              <a:ext uri="{FF2B5EF4-FFF2-40B4-BE49-F238E27FC236}">
                <a16:creationId xmlns:a16="http://schemas.microsoft.com/office/drawing/2014/main" id="{4CDD246A-A70A-E94F-3BF2-83F64E05CFE9}"/>
              </a:ext>
            </a:extLst>
          </p:cNvPr>
          <p:cNvSpPr>
            <a:spLocks noGrp="1"/>
          </p:cNvSpPr>
          <p:nvPr>
            <p:ph type="ctrTitle"/>
          </p:nvPr>
        </p:nvSpPr>
        <p:spPr>
          <a:xfrm>
            <a:off x="537328" y="2318993"/>
            <a:ext cx="7022969" cy="2498104"/>
          </a:xfrm>
        </p:spPr>
        <p:txBody>
          <a:bodyPr>
            <a:normAutofit fontScale="90000"/>
          </a:bodyPr>
          <a:lstStyle/>
          <a:p>
            <a:r>
              <a:rPr lang="fr-FR" dirty="0"/>
              <a:t>Sessions 1 and 2: Basic business </a:t>
            </a:r>
            <a:r>
              <a:rPr lang="fr-FR" dirty="0" err="1"/>
              <a:t>equation</a:t>
            </a:r>
            <a:r>
              <a:rPr lang="fr-FR" dirty="0"/>
              <a:t> or balance </a:t>
            </a:r>
            <a:r>
              <a:rPr lang="fr-FR" dirty="0" err="1"/>
              <a:t>sheet</a:t>
            </a:r>
            <a:r>
              <a:rPr lang="fr-FR" dirty="0"/>
              <a:t> as an </a:t>
            </a:r>
            <a:r>
              <a:rPr lang="fr-FR" dirty="0" err="1"/>
              <a:t>equation</a:t>
            </a:r>
            <a:endParaRPr lang="fr-FR" dirty="0"/>
          </a:p>
        </p:txBody>
      </p:sp>
      <p:sp>
        <p:nvSpPr>
          <p:cNvPr id="3" name="Sous-titre 2">
            <a:extLst>
              <a:ext uri="{FF2B5EF4-FFF2-40B4-BE49-F238E27FC236}">
                <a16:creationId xmlns:a16="http://schemas.microsoft.com/office/drawing/2014/main" id="{CF66FCA7-2738-B5BA-6CD7-335420B1EC29}"/>
              </a:ext>
            </a:extLst>
          </p:cNvPr>
          <p:cNvSpPr>
            <a:spLocks noGrp="1"/>
          </p:cNvSpPr>
          <p:nvPr>
            <p:ph type="subTitle" idx="1"/>
          </p:nvPr>
        </p:nvSpPr>
        <p:spPr>
          <a:xfrm>
            <a:off x="537328" y="4940644"/>
            <a:ext cx="7022969" cy="919467"/>
          </a:xfrm>
        </p:spPr>
        <p:txBody>
          <a:bodyPr>
            <a:normAutofit fontScale="70000" lnSpcReduction="20000"/>
          </a:bodyPr>
          <a:lstStyle/>
          <a:p>
            <a:r>
              <a:rPr lang="fr-FR" dirty="0"/>
              <a:t>Financial </a:t>
            </a:r>
            <a:r>
              <a:rPr lang="fr-FR" dirty="0" err="1"/>
              <a:t>Analysis</a:t>
            </a:r>
            <a:endParaRPr lang="fr-FR" dirty="0"/>
          </a:p>
          <a:p>
            <a:r>
              <a:rPr lang="fr-FR" dirty="0"/>
              <a:t>BBA FinTech, 2</a:t>
            </a:r>
            <a:r>
              <a:rPr lang="fr-FR" baseline="30000" dirty="0"/>
              <a:t>nd</a:t>
            </a:r>
            <a:r>
              <a:rPr lang="fr-FR" dirty="0"/>
              <a:t> </a:t>
            </a:r>
            <a:r>
              <a:rPr lang="fr-FR" dirty="0" err="1"/>
              <a:t>year</a:t>
            </a:r>
            <a:endParaRPr lang="fr-FR" dirty="0"/>
          </a:p>
          <a:p>
            <a:r>
              <a:rPr lang="fr-FR" dirty="0"/>
              <a:t>Eric Maton</a:t>
            </a:r>
          </a:p>
        </p:txBody>
      </p:sp>
      <p:pic>
        <p:nvPicPr>
          <p:cNvPr id="4" name="Image 3" descr="Une image contenant texte, Police, capture d’écran, noir&#10;&#10;Description générée automatiquement">
            <a:extLst>
              <a:ext uri="{FF2B5EF4-FFF2-40B4-BE49-F238E27FC236}">
                <a16:creationId xmlns:a16="http://schemas.microsoft.com/office/drawing/2014/main" id="{133B02E7-7249-01AE-9074-508ECC54124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952240" y="6146859"/>
            <a:ext cx="4274820" cy="550188"/>
          </a:xfrm>
          <a:prstGeom prst="rect">
            <a:avLst/>
          </a:prstGeom>
        </p:spPr>
      </p:pic>
    </p:spTree>
    <p:extLst>
      <p:ext uri="{BB962C8B-B14F-4D97-AF65-F5344CB8AC3E}">
        <p14:creationId xmlns:p14="http://schemas.microsoft.com/office/powerpoint/2010/main" val="603170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66B9113-2BE9-BA6C-5030-4654EB7EDE97}"/>
              </a:ext>
            </a:extLst>
          </p:cNvPr>
          <p:cNvSpPr>
            <a:spLocks noGrp="1"/>
          </p:cNvSpPr>
          <p:nvPr>
            <p:ph type="sldNum" sz="quarter" idx="10"/>
          </p:nvPr>
        </p:nvSpPr>
        <p:spPr/>
        <p:txBody>
          <a:bodyPr/>
          <a:lstStyle/>
          <a:p>
            <a:fld id="{421B1A79-1F45-8F4F-AED5-0EE30DCF0380}" type="slidenum">
              <a:rPr lang="fr-FR" smtClean="0"/>
              <a:t>2</a:t>
            </a:fld>
            <a:endParaRPr lang="fr-FR"/>
          </a:p>
        </p:txBody>
      </p:sp>
      <p:sp>
        <p:nvSpPr>
          <p:cNvPr id="5" name="Espace réservé du contenu 1">
            <a:extLst>
              <a:ext uri="{FF2B5EF4-FFF2-40B4-BE49-F238E27FC236}">
                <a16:creationId xmlns:a16="http://schemas.microsoft.com/office/drawing/2014/main" id="{76F86979-877B-1E67-1B71-2B52FD175E63}"/>
              </a:ext>
            </a:extLst>
          </p:cNvPr>
          <p:cNvSpPr txBox="1">
            <a:spLocks/>
          </p:cNvSpPr>
          <p:nvPr/>
        </p:nvSpPr>
        <p:spPr>
          <a:xfrm>
            <a:off x="1391935" y="2836212"/>
            <a:ext cx="10460055" cy="1223541"/>
          </a:xfrm>
          <a:prstGeom prst="rect">
            <a:avLst/>
          </a:prstGeom>
          <a:solidFill>
            <a:schemeClr val="bg1">
              <a:lumMod val="8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b="1" kern="1200">
                <a:solidFill>
                  <a:schemeClr val="tx1"/>
                </a:solidFill>
                <a:latin typeface="Arial Nova"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i="1" kern="1200">
                <a:solidFill>
                  <a:schemeClr val="tx1"/>
                </a:solidFill>
                <a:latin typeface="Arial Nova Cond" panose="020B0506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i="1" kern="1200">
                <a:solidFill>
                  <a:srgbClr val="22398E"/>
                </a:solidFill>
                <a:latin typeface="Arial Nova Cond" panose="020B0506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2399" dirty="0">
                <a:solidFill>
                  <a:srgbClr val="03050D"/>
                </a:solidFill>
              </a:rPr>
              <a:t>Sessions 3 and 4</a:t>
            </a:r>
          </a:p>
          <a:p>
            <a:pPr marL="0" indent="0">
              <a:buFont typeface="Arial" panose="020B0604020202020204" pitchFamily="34" charset="0"/>
              <a:buNone/>
            </a:pPr>
            <a:r>
              <a:rPr lang="fr-FR" sz="2399" b="0" dirty="0" err="1">
                <a:solidFill>
                  <a:srgbClr val="03050D"/>
                </a:solidFill>
              </a:rPr>
              <a:t>Income</a:t>
            </a:r>
            <a:r>
              <a:rPr lang="fr-FR" sz="2399" b="0" dirty="0">
                <a:solidFill>
                  <a:srgbClr val="03050D"/>
                </a:solidFill>
              </a:rPr>
              <a:t> </a:t>
            </a:r>
            <a:r>
              <a:rPr lang="fr-FR" sz="2399" b="0" dirty="0" err="1">
                <a:solidFill>
                  <a:srgbClr val="03050D"/>
                </a:solidFill>
              </a:rPr>
              <a:t>statement</a:t>
            </a:r>
            <a:r>
              <a:rPr lang="fr-FR" sz="2399" b="0" dirty="0">
                <a:solidFill>
                  <a:srgbClr val="03050D"/>
                </a:solidFill>
              </a:rPr>
              <a:t> (or P&amp;L: profit and </a:t>
            </a:r>
            <a:r>
              <a:rPr lang="fr-FR" sz="2399" b="0" dirty="0" err="1">
                <a:solidFill>
                  <a:srgbClr val="03050D"/>
                </a:solidFill>
              </a:rPr>
              <a:t>loss</a:t>
            </a:r>
            <a:r>
              <a:rPr lang="fr-FR" sz="2399" b="0" dirty="0">
                <a:solidFill>
                  <a:srgbClr val="03050D"/>
                </a:solidFill>
              </a:rPr>
              <a:t> </a:t>
            </a:r>
            <a:r>
              <a:rPr lang="fr-FR" sz="2399" b="0" dirty="0" err="1">
                <a:solidFill>
                  <a:srgbClr val="03050D"/>
                </a:solidFill>
              </a:rPr>
              <a:t>account</a:t>
            </a:r>
            <a:r>
              <a:rPr lang="fr-FR" sz="2399" b="0" dirty="0">
                <a:solidFill>
                  <a:srgbClr val="03050D"/>
                </a:solidFill>
              </a:rPr>
              <a:t>): </a:t>
            </a:r>
            <a:r>
              <a:rPr lang="fr-FR" sz="2399" b="0" dirty="0" err="1">
                <a:solidFill>
                  <a:srgbClr val="03050D"/>
                </a:solidFill>
              </a:rPr>
              <a:t>from</a:t>
            </a:r>
            <a:r>
              <a:rPr lang="fr-FR" sz="2399" b="0" dirty="0">
                <a:solidFill>
                  <a:srgbClr val="03050D"/>
                </a:solidFill>
              </a:rPr>
              <a:t> </a:t>
            </a:r>
            <a:r>
              <a:rPr lang="fr-FR" sz="2399" b="0" dirty="0" err="1">
                <a:solidFill>
                  <a:srgbClr val="03050D"/>
                </a:solidFill>
              </a:rPr>
              <a:t>accounting</a:t>
            </a:r>
            <a:r>
              <a:rPr lang="fr-FR" sz="2399" b="0" dirty="0">
                <a:solidFill>
                  <a:srgbClr val="03050D"/>
                </a:solidFill>
              </a:rPr>
              <a:t> information to </a:t>
            </a:r>
            <a:r>
              <a:rPr lang="fr-FR" sz="2399" b="0" dirty="0" err="1">
                <a:solidFill>
                  <a:srgbClr val="03050D"/>
                </a:solidFill>
              </a:rPr>
              <a:t>financial</a:t>
            </a:r>
            <a:r>
              <a:rPr lang="fr-FR" sz="2399" b="0" dirty="0">
                <a:solidFill>
                  <a:srgbClr val="03050D"/>
                </a:solidFill>
              </a:rPr>
              <a:t> </a:t>
            </a:r>
            <a:r>
              <a:rPr lang="fr-FR" sz="2399" b="0" dirty="0" err="1">
                <a:solidFill>
                  <a:srgbClr val="03050D"/>
                </a:solidFill>
              </a:rPr>
              <a:t>analysis</a:t>
            </a:r>
            <a:endParaRPr lang="fr-FR" sz="2399" b="0" dirty="0">
              <a:solidFill>
                <a:srgbClr val="03050D"/>
              </a:solidFill>
            </a:endParaRPr>
          </a:p>
        </p:txBody>
      </p:sp>
      <p:sp>
        <p:nvSpPr>
          <p:cNvPr id="6" name="ZoneTexte 7">
            <a:extLst>
              <a:ext uri="{FF2B5EF4-FFF2-40B4-BE49-F238E27FC236}">
                <a16:creationId xmlns:a16="http://schemas.microsoft.com/office/drawing/2014/main" id="{1AF846A2-2BF9-5C46-E486-B2C16659863B}"/>
              </a:ext>
            </a:extLst>
          </p:cNvPr>
          <p:cNvSpPr txBox="1"/>
          <p:nvPr/>
        </p:nvSpPr>
        <p:spPr>
          <a:xfrm rot="16200000">
            <a:off x="-1104770" y="3082997"/>
            <a:ext cx="4076940" cy="584455"/>
          </a:xfrm>
          <a:prstGeom prst="rect">
            <a:avLst/>
          </a:prstGeom>
          <a:solidFill>
            <a:schemeClr val="accent1">
              <a:lumMod val="40000"/>
              <a:lumOff val="60000"/>
            </a:schemeClr>
          </a:solidFill>
        </p:spPr>
        <p:txBody>
          <a:bodyPr wrap="square" rtlCol="0">
            <a:spAutoFit/>
          </a:bodyPr>
          <a:lstStyle/>
          <a:p>
            <a:pPr algn="ctr"/>
            <a:r>
              <a:rPr lang="fr-FR" sz="3198" dirty="0"/>
              <a:t>Brief contents</a:t>
            </a:r>
          </a:p>
        </p:txBody>
      </p:sp>
      <p:sp>
        <p:nvSpPr>
          <p:cNvPr id="7" name="Espace réservé du contenu 1">
            <a:extLst>
              <a:ext uri="{FF2B5EF4-FFF2-40B4-BE49-F238E27FC236}">
                <a16:creationId xmlns:a16="http://schemas.microsoft.com/office/drawing/2014/main" id="{640F67F8-9272-A0D8-48F5-90285759AE7F}"/>
              </a:ext>
            </a:extLst>
          </p:cNvPr>
          <p:cNvSpPr txBox="1">
            <a:spLocks/>
          </p:cNvSpPr>
          <p:nvPr/>
        </p:nvSpPr>
        <p:spPr>
          <a:xfrm>
            <a:off x="1395840" y="1336757"/>
            <a:ext cx="10460055" cy="1323658"/>
          </a:xfrm>
          <a:prstGeom prst="rect">
            <a:avLst/>
          </a:prstGeom>
          <a:solidFill>
            <a:schemeClr val="bg1">
              <a:lumMod val="85000"/>
            </a:schemeClr>
          </a:solidFill>
        </p:spPr>
        <p:txBody>
          <a:bodyPr/>
          <a:lstStyle>
            <a:lvl1pPr marL="355600" indent="-355600" algn="l" defTabSz="914400" rtl="0" eaLnBrk="1" latinLnBrk="0" hangingPunct="1">
              <a:spcBef>
                <a:spcPct val="20000"/>
              </a:spcBef>
              <a:buClr>
                <a:schemeClr val="tx1">
                  <a:lumMod val="85000"/>
                  <a:lumOff val="15000"/>
                </a:schemeClr>
              </a:buClr>
              <a:buSzPct val="70000"/>
              <a:buFont typeface="Wingdings" panose="05000000000000000000" pitchFamily="2" charset="2"/>
              <a:buChar char="§"/>
              <a:defRPr sz="2000" kern="1200">
                <a:solidFill>
                  <a:srgbClr val="17212F"/>
                </a:solidFill>
                <a:latin typeface="Arial"/>
                <a:ea typeface="+mn-ea"/>
                <a:cs typeface="Arial"/>
              </a:defRPr>
            </a:lvl1pPr>
            <a:lvl2pPr marL="742950" indent="-285750" algn="l" defTabSz="914400" rtl="0" eaLnBrk="1" latinLnBrk="0" hangingPunct="1">
              <a:spcBef>
                <a:spcPct val="20000"/>
              </a:spcBef>
              <a:buClr>
                <a:schemeClr val="tx1">
                  <a:lumMod val="85000"/>
                  <a:lumOff val="15000"/>
                </a:schemeClr>
              </a:buClr>
              <a:buSzPct val="50000"/>
              <a:buFont typeface="Wingdings" panose="05000000000000000000" pitchFamily="2" charset="2"/>
              <a:buChar char="§"/>
              <a:defRPr sz="1600" kern="1200">
                <a:solidFill>
                  <a:srgbClr val="17212F"/>
                </a:solidFill>
                <a:latin typeface="Arial"/>
                <a:ea typeface="+mn-ea"/>
                <a:cs typeface="Arial"/>
              </a:defRPr>
            </a:lvl2pPr>
            <a:lvl3pPr marL="1143000" indent="-228600" algn="l" defTabSz="914400" rtl="0" eaLnBrk="1" latinLnBrk="0" hangingPunct="1">
              <a:spcBef>
                <a:spcPct val="20000"/>
              </a:spcBef>
              <a:buClr>
                <a:schemeClr val="tx1">
                  <a:lumMod val="85000"/>
                  <a:lumOff val="15000"/>
                </a:schemeClr>
              </a:buClr>
              <a:buSzPct val="50000"/>
              <a:buFont typeface="Wingdings" panose="05000000000000000000" pitchFamily="2" charset="2"/>
              <a:buChar char="§"/>
              <a:defRPr sz="1400" kern="1200">
                <a:solidFill>
                  <a:srgbClr val="17212F"/>
                </a:solidFill>
                <a:latin typeface="Arial"/>
                <a:ea typeface="+mn-ea"/>
                <a:cs typeface="Arial"/>
              </a:defRPr>
            </a:lvl3pPr>
            <a:lvl4pPr marL="1600200" indent="-228600" algn="l" defTabSz="914400" rtl="0" eaLnBrk="1" latinLnBrk="0" hangingPunct="1">
              <a:spcBef>
                <a:spcPct val="20000"/>
              </a:spcBef>
              <a:buClr>
                <a:schemeClr val="tx1">
                  <a:lumMod val="85000"/>
                  <a:lumOff val="15000"/>
                </a:schemeClr>
              </a:buClr>
              <a:buSzPct val="50000"/>
              <a:buFont typeface="Wingdings" panose="05000000000000000000" pitchFamily="2" charset="2"/>
              <a:buChar char="§"/>
              <a:defRPr sz="1200" kern="1200">
                <a:solidFill>
                  <a:srgbClr val="17212F"/>
                </a:solidFill>
                <a:latin typeface="Arial"/>
                <a:ea typeface="+mn-ea"/>
                <a:cs typeface="Arial"/>
              </a:defRPr>
            </a:lvl4pPr>
            <a:lvl5pPr marL="2057400" indent="-228600" algn="l" defTabSz="914400" rtl="0" eaLnBrk="1" latinLnBrk="0" hangingPunct="1">
              <a:spcBef>
                <a:spcPct val="20000"/>
              </a:spcBef>
              <a:buClr>
                <a:schemeClr val="tx1">
                  <a:lumMod val="85000"/>
                  <a:lumOff val="15000"/>
                </a:schemeClr>
              </a:buClr>
              <a:buSzPct val="50000"/>
              <a:buFont typeface="Wingdings" panose="05000000000000000000" pitchFamily="2" charset="2"/>
              <a:buChar char="§"/>
              <a:defRPr sz="1600" kern="1200">
                <a:solidFill>
                  <a:srgbClr val="404040"/>
                </a:solidFill>
                <a:latin typeface="Arial"/>
                <a:ea typeface="+mn-ea"/>
                <a:cs typeface="Arial"/>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fr-FR" sz="2399" b="1" dirty="0"/>
              <a:t>Sessions 1 and 2</a:t>
            </a:r>
          </a:p>
          <a:p>
            <a:pPr marL="0" indent="0">
              <a:buNone/>
            </a:pPr>
            <a:r>
              <a:rPr lang="fr-FR" sz="2399" dirty="0"/>
              <a:t>Basic business </a:t>
            </a:r>
            <a:r>
              <a:rPr lang="fr-FR" sz="2399" dirty="0" err="1"/>
              <a:t>equation</a:t>
            </a:r>
            <a:r>
              <a:rPr lang="fr-FR" sz="2399" dirty="0"/>
              <a:t> or </a:t>
            </a:r>
            <a:r>
              <a:rPr lang="fr-FR" sz="2399" dirty="0" err="1"/>
              <a:t>fundamental</a:t>
            </a:r>
            <a:r>
              <a:rPr lang="fr-FR" sz="2399" dirty="0"/>
              <a:t> accounting </a:t>
            </a:r>
            <a:r>
              <a:rPr lang="fr-FR" sz="2399" dirty="0" err="1"/>
              <a:t>equation</a:t>
            </a:r>
            <a:r>
              <a:rPr lang="fr-FR" sz="2399" dirty="0"/>
              <a:t> (balance </a:t>
            </a:r>
            <a:r>
              <a:rPr lang="fr-FR" sz="2399" dirty="0" err="1"/>
              <a:t>sheet</a:t>
            </a:r>
            <a:r>
              <a:rPr lang="fr-FR" sz="2399" dirty="0"/>
              <a:t> </a:t>
            </a:r>
            <a:r>
              <a:rPr lang="fr-FR" sz="2399" dirty="0" err="1"/>
              <a:t>represented</a:t>
            </a:r>
            <a:r>
              <a:rPr lang="fr-FR" sz="2399" dirty="0"/>
              <a:t> as an </a:t>
            </a:r>
            <a:r>
              <a:rPr lang="fr-FR" sz="2399" dirty="0" err="1"/>
              <a:t>equation</a:t>
            </a:r>
            <a:r>
              <a:rPr lang="fr-FR" sz="2399" dirty="0"/>
              <a:t>)</a:t>
            </a:r>
          </a:p>
        </p:txBody>
      </p:sp>
      <p:sp>
        <p:nvSpPr>
          <p:cNvPr id="2" name="Espace réservé du contenu 1">
            <a:extLst>
              <a:ext uri="{FF2B5EF4-FFF2-40B4-BE49-F238E27FC236}">
                <a16:creationId xmlns:a16="http://schemas.microsoft.com/office/drawing/2014/main" id="{D883D8B2-E654-7309-72D5-EE1F271BFFBD}"/>
              </a:ext>
            </a:extLst>
          </p:cNvPr>
          <p:cNvSpPr txBox="1">
            <a:spLocks/>
          </p:cNvSpPr>
          <p:nvPr/>
        </p:nvSpPr>
        <p:spPr>
          <a:xfrm>
            <a:off x="1391935" y="4235550"/>
            <a:ext cx="10460055" cy="1178143"/>
          </a:xfrm>
          <a:prstGeom prst="rect">
            <a:avLst/>
          </a:prstGeom>
          <a:solidFill>
            <a:schemeClr val="bg1">
              <a:lumMod val="85000"/>
            </a:schemeClr>
          </a:solidFill>
        </p:spPr>
        <p:txBody>
          <a:bodyPr/>
          <a:lstStyle>
            <a:lvl1pPr marL="355600" indent="-355600" algn="l" defTabSz="914400" rtl="0" eaLnBrk="1" latinLnBrk="0" hangingPunct="1">
              <a:spcBef>
                <a:spcPct val="20000"/>
              </a:spcBef>
              <a:buClr>
                <a:schemeClr val="tx1">
                  <a:lumMod val="85000"/>
                  <a:lumOff val="15000"/>
                </a:schemeClr>
              </a:buClr>
              <a:buSzPct val="70000"/>
              <a:buFont typeface="Wingdings" panose="05000000000000000000" pitchFamily="2" charset="2"/>
              <a:buChar char="§"/>
              <a:defRPr sz="2000" kern="1200">
                <a:solidFill>
                  <a:srgbClr val="17212F"/>
                </a:solidFill>
                <a:latin typeface="Arial"/>
                <a:ea typeface="+mn-ea"/>
                <a:cs typeface="Arial"/>
              </a:defRPr>
            </a:lvl1pPr>
            <a:lvl2pPr marL="742950" indent="-285750" algn="l" defTabSz="914400" rtl="0" eaLnBrk="1" latinLnBrk="0" hangingPunct="1">
              <a:spcBef>
                <a:spcPct val="20000"/>
              </a:spcBef>
              <a:buClr>
                <a:schemeClr val="tx1">
                  <a:lumMod val="85000"/>
                  <a:lumOff val="15000"/>
                </a:schemeClr>
              </a:buClr>
              <a:buSzPct val="50000"/>
              <a:buFont typeface="Wingdings" panose="05000000000000000000" pitchFamily="2" charset="2"/>
              <a:buChar char="§"/>
              <a:defRPr sz="1600" kern="1200">
                <a:solidFill>
                  <a:srgbClr val="17212F"/>
                </a:solidFill>
                <a:latin typeface="Arial"/>
                <a:ea typeface="+mn-ea"/>
                <a:cs typeface="Arial"/>
              </a:defRPr>
            </a:lvl2pPr>
            <a:lvl3pPr marL="1143000" indent="-228600" algn="l" defTabSz="914400" rtl="0" eaLnBrk="1" latinLnBrk="0" hangingPunct="1">
              <a:spcBef>
                <a:spcPct val="20000"/>
              </a:spcBef>
              <a:buClr>
                <a:schemeClr val="tx1">
                  <a:lumMod val="85000"/>
                  <a:lumOff val="15000"/>
                </a:schemeClr>
              </a:buClr>
              <a:buSzPct val="50000"/>
              <a:buFont typeface="Wingdings" panose="05000000000000000000" pitchFamily="2" charset="2"/>
              <a:buChar char="§"/>
              <a:defRPr sz="1400" kern="1200">
                <a:solidFill>
                  <a:srgbClr val="17212F"/>
                </a:solidFill>
                <a:latin typeface="Arial"/>
                <a:ea typeface="+mn-ea"/>
                <a:cs typeface="Arial"/>
              </a:defRPr>
            </a:lvl3pPr>
            <a:lvl4pPr marL="1600200" indent="-228600" algn="l" defTabSz="914400" rtl="0" eaLnBrk="1" latinLnBrk="0" hangingPunct="1">
              <a:spcBef>
                <a:spcPct val="20000"/>
              </a:spcBef>
              <a:buClr>
                <a:schemeClr val="tx1">
                  <a:lumMod val="85000"/>
                  <a:lumOff val="15000"/>
                </a:schemeClr>
              </a:buClr>
              <a:buSzPct val="50000"/>
              <a:buFont typeface="Wingdings" panose="05000000000000000000" pitchFamily="2" charset="2"/>
              <a:buChar char="§"/>
              <a:defRPr sz="1200" kern="1200">
                <a:solidFill>
                  <a:srgbClr val="17212F"/>
                </a:solidFill>
                <a:latin typeface="Arial"/>
                <a:ea typeface="+mn-ea"/>
                <a:cs typeface="Arial"/>
              </a:defRPr>
            </a:lvl4pPr>
            <a:lvl5pPr marL="2057400" indent="-228600" algn="l" defTabSz="914400" rtl="0" eaLnBrk="1" latinLnBrk="0" hangingPunct="1">
              <a:spcBef>
                <a:spcPct val="20000"/>
              </a:spcBef>
              <a:buClr>
                <a:schemeClr val="tx1">
                  <a:lumMod val="85000"/>
                  <a:lumOff val="15000"/>
                </a:schemeClr>
              </a:buClr>
              <a:buSzPct val="50000"/>
              <a:buFont typeface="Wingdings" panose="05000000000000000000" pitchFamily="2" charset="2"/>
              <a:buChar char="§"/>
              <a:defRPr sz="1600" kern="1200">
                <a:solidFill>
                  <a:srgbClr val="404040"/>
                </a:solidFill>
                <a:latin typeface="Arial"/>
                <a:ea typeface="+mn-ea"/>
                <a:cs typeface="Arial"/>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fr-FR" sz="2399" b="1" dirty="0">
                <a:solidFill>
                  <a:srgbClr val="03050D"/>
                </a:solidFill>
              </a:rPr>
              <a:t>Session 5 and 6</a:t>
            </a:r>
          </a:p>
          <a:p>
            <a:pPr marL="0" indent="0">
              <a:buNone/>
            </a:pPr>
            <a:r>
              <a:rPr lang="fr-FR" sz="2399" kern="0" dirty="0">
                <a:solidFill>
                  <a:srgbClr val="03050D"/>
                </a:solidFill>
              </a:rPr>
              <a:t>Non-</a:t>
            </a:r>
            <a:r>
              <a:rPr lang="fr-FR" sz="2399" kern="0" dirty="0" err="1">
                <a:solidFill>
                  <a:srgbClr val="03050D"/>
                </a:solidFill>
              </a:rPr>
              <a:t>current</a:t>
            </a:r>
            <a:r>
              <a:rPr lang="fr-FR" sz="2399" kern="0" dirty="0">
                <a:solidFill>
                  <a:srgbClr val="03050D"/>
                </a:solidFill>
              </a:rPr>
              <a:t> assets (P,P&amp;E, intangible assets and right-of-use assets) and </a:t>
            </a:r>
            <a:r>
              <a:rPr lang="fr-FR" sz="2399" kern="0" dirty="0" err="1">
                <a:solidFill>
                  <a:srgbClr val="03050D"/>
                </a:solidFill>
              </a:rPr>
              <a:t>current</a:t>
            </a:r>
            <a:r>
              <a:rPr lang="fr-FR" sz="2399" kern="0" dirty="0">
                <a:solidFill>
                  <a:srgbClr val="03050D"/>
                </a:solidFill>
              </a:rPr>
              <a:t> assets (inventories)</a:t>
            </a:r>
          </a:p>
        </p:txBody>
      </p:sp>
    </p:spTree>
    <p:extLst>
      <p:ext uri="{BB962C8B-B14F-4D97-AF65-F5344CB8AC3E}">
        <p14:creationId xmlns:p14="http://schemas.microsoft.com/office/powerpoint/2010/main" val="20695903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7A7338B-1B75-6D81-60D2-A9B00280AEC1}"/>
              </a:ext>
            </a:extLst>
          </p:cNvPr>
          <p:cNvSpPr>
            <a:spLocks noGrp="1"/>
          </p:cNvSpPr>
          <p:nvPr>
            <p:ph type="sldNum" sz="quarter" idx="10"/>
          </p:nvPr>
        </p:nvSpPr>
        <p:spPr/>
        <p:txBody>
          <a:bodyPr/>
          <a:lstStyle/>
          <a:p>
            <a:fld id="{421B1A79-1F45-8F4F-AED5-0EE30DCF0380}" type="slidenum">
              <a:rPr lang="fr-FR" smtClean="0"/>
              <a:t>3</a:t>
            </a:fld>
            <a:endParaRPr lang="fr-FR"/>
          </a:p>
        </p:txBody>
      </p:sp>
      <p:sp>
        <p:nvSpPr>
          <p:cNvPr id="5" name="Espace réservé du contenu 1">
            <a:extLst>
              <a:ext uri="{FF2B5EF4-FFF2-40B4-BE49-F238E27FC236}">
                <a16:creationId xmlns:a16="http://schemas.microsoft.com/office/drawing/2014/main" id="{6F3931E1-BC68-D72D-AEB7-3C35E0A0DA41}"/>
              </a:ext>
            </a:extLst>
          </p:cNvPr>
          <p:cNvSpPr txBox="1">
            <a:spLocks/>
          </p:cNvSpPr>
          <p:nvPr/>
        </p:nvSpPr>
        <p:spPr>
          <a:xfrm>
            <a:off x="1336973" y="2763677"/>
            <a:ext cx="10460055" cy="1330645"/>
          </a:xfrm>
          <a:prstGeom prst="rect">
            <a:avLst/>
          </a:prstGeom>
          <a:solidFill>
            <a:schemeClr val="bg1">
              <a:lumMod val="8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b="1" kern="1200">
                <a:solidFill>
                  <a:schemeClr val="tx1"/>
                </a:solidFill>
                <a:latin typeface="Arial Nova"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i="1" kern="1200">
                <a:solidFill>
                  <a:schemeClr val="tx1"/>
                </a:solidFill>
                <a:latin typeface="Arial Nova Cond" panose="020B0506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i="1" kern="1200">
                <a:solidFill>
                  <a:srgbClr val="22398E"/>
                </a:solidFill>
                <a:latin typeface="Arial Nova Cond" panose="020B0506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2399" dirty="0">
                <a:solidFill>
                  <a:srgbClr val="03050D"/>
                </a:solidFill>
              </a:rPr>
              <a:t>Sessions 8 and 9</a:t>
            </a:r>
          </a:p>
          <a:p>
            <a:pPr marL="0" indent="0">
              <a:buFont typeface="Arial" panose="020B0604020202020204" pitchFamily="34" charset="0"/>
              <a:buNone/>
            </a:pPr>
            <a:r>
              <a:rPr lang="fr-FR" sz="2399" b="0" dirty="0" err="1">
                <a:solidFill>
                  <a:srgbClr val="03050D"/>
                </a:solidFill>
              </a:rPr>
              <a:t>Statement</a:t>
            </a:r>
            <a:r>
              <a:rPr lang="fr-FR" sz="2399" b="0" dirty="0">
                <a:solidFill>
                  <a:srgbClr val="03050D"/>
                </a:solidFill>
              </a:rPr>
              <a:t> of cash flows (operating cash flows, </a:t>
            </a:r>
            <a:r>
              <a:rPr lang="fr-FR" sz="2399" b="0" dirty="0" err="1">
                <a:solidFill>
                  <a:srgbClr val="03050D"/>
                </a:solidFill>
              </a:rPr>
              <a:t>investing</a:t>
            </a:r>
            <a:r>
              <a:rPr lang="fr-FR" sz="2399" b="0" dirty="0">
                <a:solidFill>
                  <a:srgbClr val="03050D"/>
                </a:solidFill>
              </a:rPr>
              <a:t> cash flows and </a:t>
            </a:r>
            <a:r>
              <a:rPr lang="fr-FR" sz="2399" b="0" dirty="0" err="1">
                <a:solidFill>
                  <a:srgbClr val="03050D"/>
                </a:solidFill>
              </a:rPr>
              <a:t>financing</a:t>
            </a:r>
            <a:r>
              <a:rPr lang="fr-FR" sz="2399" b="0" dirty="0">
                <a:solidFill>
                  <a:srgbClr val="03050D"/>
                </a:solidFill>
              </a:rPr>
              <a:t> cash flows) and </a:t>
            </a:r>
            <a:r>
              <a:rPr lang="fr-FR" sz="2399" b="0" dirty="0" err="1">
                <a:solidFill>
                  <a:srgbClr val="03050D"/>
                </a:solidFill>
              </a:rPr>
              <a:t>revision</a:t>
            </a:r>
            <a:endParaRPr lang="fr-FR" sz="2399" b="0" dirty="0">
              <a:solidFill>
                <a:srgbClr val="03050D"/>
              </a:solidFill>
            </a:endParaRPr>
          </a:p>
        </p:txBody>
      </p:sp>
      <p:sp>
        <p:nvSpPr>
          <p:cNvPr id="6" name="ZoneTexte 7">
            <a:extLst>
              <a:ext uri="{FF2B5EF4-FFF2-40B4-BE49-F238E27FC236}">
                <a16:creationId xmlns:a16="http://schemas.microsoft.com/office/drawing/2014/main" id="{B34E4E54-26D4-A802-424B-D4B9EDFFB313}"/>
              </a:ext>
            </a:extLst>
          </p:cNvPr>
          <p:cNvSpPr txBox="1"/>
          <p:nvPr/>
        </p:nvSpPr>
        <p:spPr>
          <a:xfrm rot="16200000">
            <a:off x="-636799" y="2381842"/>
            <a:ext cx="2840504" cy="584455"/>
          </a:xfrm>
          <a:prstGeom prst="rect">
            <a:avLst/>
          </a:prstGeom>
          <a:solidFill>
            <a:schemeClr val="accent1">
              <a:lumMod val="40000"/>
              <a:lumOff val="60000"/>
            </a:schemeClr>
          </a:solidFill>
        </p:spPr>
        <p:txBody>
          <a:bodyPr wrap="square" rtlCol="0">
            <a:spAutoFit/>
          </a:bodyPr>
          <a:lstStyle/>
          <a:p>
            <a:pPr algn="ctr"/>
            <a:r>
              <a:rPr lang="fr-FR" sz="3198" dirty="0"/>
              <a:t>Brief contents</a:t>
            </a:r>
          </a:p>
        </p:txBody>
      </p:sp>
      <p:sp>
        <p:nvSpPr>
          <p:cNvPr id="2" name="Espace réservé du contenu 1">
            <a:extLst>
              <a:ext uri="{FF2B5EF4-FFF2-40B4-BE49-F238E27FC236}">
                <a16:creationId xmlns:a16="http://schemas.microsoft.com/office/drawing/2014/main" id="{D4B2BE17-E38B-FC32-41D4-8AE6978643D5}"/>
              </a:ext>
            </a:extLst>
          </p:cNvPr>
          <p:cNvSpPr txBox="1">
            <a:spLocks/>
          </p:cNvSpPr>
          <p:nvPr/>
        </p:nvSpPr>
        <p:spPr>
          <a:xfrm>
            <a:off x="1383424" y="1253820"/>
            <a:ext cx="10460055" cy="1330645"/>
          </a:xfrm>
          <a:prstGeom prst="rect">
            <a:avLst/>
          </a:prstGeom>
          <a:solidFill>
            <a:schemeClr val="bg1">
              <a:lumMod val="85000"/>
            </a:schemeClr>
          </a:solidFill>
        </p:spPr>
        <p:txBody>
          <a:bodyPr vert="horz" lIns="64262" tIns="32131" rIns="64262" bIns="32131" rtlCol="0">
            <a:normAutofit/>
          </a:bodyPr>
          <a:lstStyle>
            <a:lvl1pPr marL="674324" marR="0" indent="-674324" defTabSz="914400" eaLnBrk="1" fontAlgn="auto" latinLnBrk="0" hangingPunct="1">
              <a:lnSpc>
                <a:spcPct val="100000"/>
              </a:lnSpc>
              <a:spcBef>
                <a:spcPts val="0"/>
              </a:spcBef>
              <a:spcAft>
                <a:spcPts val="0"/>
              </a:spcAft>
              <a:buClrTx/>
              <a:buSzPct val="70000"/>
              <a:buFont typeface="Wingdings" panose="05000000000000000000" pitchFamily="2" charset="2"/>
              <a:buChar char="§"/>
              <a:tabLst/>
              <a:defRPr sz="3793" b="0" i="0" cap="none" baseline="0">
                <a:solidFill>
                  <a:srgbClr val="1360AE"/>
                </a:solidFill>
                <a:latin typeface="Arial"/>
                <a:ea typeface="+mn-ea"/>
                <a:cs typeface="Arial"/>
              </a:defRPr>
            </a:lvl1pPr>
            <a:lvl2pPr marL="1408856" indent="-541868">
              <a:buClrTx/>
              <a:buSzPct val="50000"/>
              <a:buFont typeface="Wingdings" panose="05000000000000000000" pitchFamily="2" charset="2"/>
              <a:buChar char="§"/>
              <a:defRPr sz="3034" b="1" i="0">
                <a:solidFill>
                  <a:srgbClr val="1360AE"/>
                </a:solidFill>
                <a:latin typeface="Arial"/>
                <a:ea typeface="+mn-ea"/>
                <a:cs typeface="Arial"/>
              </a:defRPr>
            </a:lvl2pPr>
            <a:lvl3pPr marL="2167471" indent="-433494">
              <a:buClrTx/>
              <a:buSzPct val="50000"/>
              <a:buFont typeface="Wingdings" panose="05000000000000000000" pitchFamily="2" charset="2"/>
              <a:buChar char="§"/>
              <a:defRPr sz="2655" b="0" i="0">
                <a:solidFill>
                  <a:srgbClr val="1360AE"/>
                </a:solidFill>
                <a:latin typeface="Arial"/>
                <a:ea typeface="+mn-ea"/>
                <a:cs typeface="Arial"/>
              </a:defRPr>
            </a:lvl3pPr>
            <a:lvl4pPr marL="3034459" indent="-433494">
              <a:buClrTx/>
              <a:buSzPct val="50000"/>
              <a:buFont typeface="Wingdings" panose="05000000000000000000" pitchFamily="2" charset="2"/>
              <a:buChar char="§"/>
              <a:defRPr sz="2276" b="0" i="0">
                <a:solidFill>
                  <a:srgbClr val="1360AE"/>
                </a:solidFill>
                <a:latin typeface="Arial"/>
                <a:ea typeface="+mn-ea"/>
                <a:cs typeface="Arial"/>
              </a:defRPr>
            </a:lvl4pPr>
            <a:lvl5pPr marL="3901448" marR="0" indent="-433494" defTabSz="914400" eaLnBrk="1" fontAlgn="auto" latinLnBrk="0" hangingPunct="1">
              <a:lnSpc>
                <a:spcPct val="100000"/>
              </a:lnSpc>
              <a:spcBef>
                <a:spcPts val="0"/>
              </a:spcBef>
              <a:spcAft>
                <a:spcPts val="0"/>
              </a:spcAft>
              <a:buClr>
                <a:schemeClr val="tx1">
                  <a:lumMod val="85000"/>
                  <a:lumOff val="15000"/>
                </a:schemeClr>
              </a:buClr>
              <a:buSzPct val="50000"/>
              <a:buFont typeface="Wingdings" panose="05000000000000000000" pitchFamily="2" charset="2"/>
              <a:buChar char="§"/>
              <a:tabLst/>
              <a:defRPr sz="3034" b="0" i="0">
                <a:solidFill>
                  <a:srgbClr val="404040"/>
                </a:solidFill>
                <a:latin typeface="Arial"/>
                <a:ea typeface="+mn-ea"/>
                <a:cs typeface="Arial"/>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fr-FR" sz="2399" b="1" kern="0" dirty="0">
                <a:solidFill>
                  <a:srgbClr val="03050D"/>
                </a:solidFill>
              </a:rPr>
              <a:t>Session 7</a:t>
            </a:r>
          </a:p>
          <a:p>
            <a:pPr marL="0" indent="0">
              <a:buNone/>
            </a:pPr>
            <a:r>
              <a:rPr lang="fr-FR" sz="2399" kern="0" dirty="0">
                <a:solidFill>
                  <a:srgbClr val="03050D"/>
                </a:solidFill>
              </a:rPr>
              <a:t>Financial </a:t>
            </a:r>
            <a:r>
              <a:rPr lang="fr-FR" sz="2399" kern="0" dirty="0" err="1">
                <a:solidFill>
                  <a:srgbClr val="03050D"/>
                </a:solidFill>
              </a:rPr>
              <a:t>analysis</a:t>
            </a:r>
            <a:r>
              <a:rPr lang="fr-FR" sz="2399" kern="0" dirty="0">
                <a:solidFill>
                  <a:srgbClr val="03050D"/>
                </a:solidFill>
              </a:rPr>
              <a:t> techniques:</a:t>
            </a:r>
          </a:p>
          <a:p>
            <a:pPr marL="0" indent="0">
              <a:buNone/>
            </a:pPr>
            <a:r>
              <a:rPr lang="fr-FR" sz="2399" kern="0" dirty="0">
                <a:solidFill>
                  <a:srgbClr val="03050D"/>
                </a:solidFill>
              </a:rPr>
              <a:t>Activity ratios, </a:t>
            </a:r>
            <a:r>
              <a:rPr lang="fr-FR" sz="2399" kern="0" dirty="0" err="1">
                <a:solidFill>
                  <a:srgbClr val="03050D"/>
                </a:solidFill>
              </a:rPr>
              <a:t>solvency</a:t>
            </a:r>
            <a:r>
              <a:rPr lang="fr-FR" sz="2399" kern="0" dirty="0">
                <a:solidFill>
                  <a:srgbClr val="03050D"/>
                </a:solidFill>
              </a:rPr>
              <a:t> ratios and </a:t>
            </a:r>
            <a:r>
              <a:rPr lang="fr-FR" sz="2399" kern="0" dirty="0" err="1">
                <a:solidFill>
                  <a:srgbClr val="03050D"/>
                </a:solidFill>
              </a:rPr>
              <a:t>liquidity</a:t>
            </a:r>
            <a:r>
              <a:rPr lang="fr-FR" sz="2399" kern="0" dirty="0">
                <a:solidFill>
                  <a:srgbClr val="03050D"/>
                </a:solidFill>
              </a:rPr>
              <a:t> ratios</a:t>
            </a:r>
          </a:p>
          <a:p>
            <a:pPr marL="0" indent="0">
              <a:buNone/>
            </a:pPr>
            <a:endParaRPr lang="fr-FR" sz="2399" kern="0" dirty="0">
              <a:solidFill>
                <a:schemeClr val="accent6">
                  <a:lumMod val="50000"/>
                </a:schemeClr>
              </a:solidFill>
            </a:endParaRPr>
          </a:p>
        </p:txBody>
      </p:sp>
    </p:spTree>
    <p:extLst>
      <p:ext uri="{BB962C8B-B14F-4D97-AF65-F5344CB8AC3E}">
        <p14:creationId xmlns:p14="http://schemas.microsoft.com/office/powerpoint/2010/main" val="1406171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C08A8-7469-B534-34BD-EBD9681C5E07}"/>
              </a:ext>
            </a:extLst>
          </p:cNvPr>
          <p:cNvSpPr>
            <a:spLocks noGrp="1"/>
          </p:cNvSpPr>
          <p:nvPr>
            <p:ph type="title"/>
          </p:nvPr>
        </p:nvSpPr>
        <p:spPr/>
        <p:txBody>
          <a:bodyPr/>
          <a:lstStyle/>
          <a:p>
            <a:r>
              <a:rPr lang="fr-FR" dirty="0"/>
              <a:t>Grade</a:t>
            </a:r>
          </a:p>
        </p:txBody>
      </p:sp>
      <p:sp>
        <p:nvSpPr>
          <p:cNvPr id="3" name="Content Placeholder 2">
            <a:extLst>
              <a:ext uri="{FF2B5EF4-FFF2-40B4-BE49-F238E27FC236}">
                <a16:creationId xmlns:a16="http://schemas.microsoft.com/office/drawing/2014/main" id="{3EC95250-F7CB-172A-2AFA-68E3A69C145C}"/>
              </a:ext>
            </a:extLst>
          </p:cNvPr>
          <p:cNvSpPr>
            <a:spLocks noGrp="1"/>
          </p:cNvSpPr>
          <p:nvPr>
            <p:ph idx="1"/>
          </p:nvPr>
        </p:nvSpPr>
        <p:spPr/>
        <p:txBody>
          <a:bodyPr/>
          <a:lstStyle/>
          <a:p>
            <a:r>
              <a:rPr lang="fr-FR" dirty="0"/>
              <a:t>10% </a:t>
            </a:r>
            <a:r>
              <a:rPr lang="fr-FR" dirty="0" err="1"/>
              <a:t>Midterm</a:t>
            </a:r>
            <a:r>
              <a:rPr lang="fr-FR" dirty="0"/>
              <a:t> exam 1: MCQ on </a:t>
            </a:r>
            <a:r>
              <a:rPr lang="fr-FR" dirty="0" err="1"/>
              <a:t>Blackboard</a:t>
            </a:r>
            <a:r>
              <a:rPr lang="fr-FR" dirty="0"/>
              <a:t> at the </a:t>
            </a:r>
            <a:r>
              <a:rPr lang="fr-FR" dirty="0" err="1"/>
              <a:t>beginning</a:t>
            </a:r>
            <a:r>
              <a:rPr lang="fr-FR" dirty="0"/>
              <a:t> of session 4 (Tuesday 24 March) (30 minutes) </a:t>
            </a:r>
            <a:r>
              <a:rPr lang="fr-FR" dirty="0" err="1"/>
              <a:t>with</a:t>
            </a:r>
            <a:r>
              <a:rPr lang="fr-FR" dirty="0"/>
              <a:t> simple </a:t>
            </a:r>
            <a:r>
              <a:rPr lang="fr-FR" dirty="0" err="1"/>
              <a:t>calculator</a:t>
            </a:r>
            <a:endParaRPr lang="fr-FR" dirty="0"/>
          </a:p>
          <a:p>
            <a:endParaRPr lang="fr-FR" dirty="0"/>
          </a:p>
          <a:p>
            <a:r>
              <a:rPr lang="fr-FR" dirty="0"/>
              <a:t>20% </a:t>
            </a:r>
            <a:r>
              <a:rPr lang="fr-FR" dirty="0" err="1"/>
              <a:t>Midterm</a:t>
            </a:r>
            <a:r>
              <a:rPr lang="fr-FR" dirty="0"/>
              <a:t> exam 2: MCQ on </a:t>
            </a:r>
            <a:r>
              <a:rPr lang="fr-FR" dirty="0" err="1"/>
              <a:t>Blackboard</a:t>
            </a:r>
            <a:r>
              <a:rPr lang="fr-FR" dirty="0"/>
              <a:t> at the </a:t>
            </a:r>
            <a:r>
              <a:rPr lang="fr-FR" dirty="0" err="1"/>
              <a:t>beginning</a:t>
            </a:r>
            <a:r>
              <a:rPr lang="fr-FR" dirty="0"/>
              <a:t> of session 7 (Tuesday 31 March) (1 </a:t>
            </a:r>
            <a:r>
              <a:rPr lang="fr-FR" dirty="0" err="1"/>
              <a:t>hour</a:t>
            </a:r>
            <a:r>
              <a:rPr lang="fr-FR" dirty="0"/>
              <a:t>) </a:t>
            </a:r>
            <a:r>
              <a:rPr lang="fr-FR" dirty="0" err="1"/>
              <a:t>with</a:t>
            </a:r>
            <a:r>
              <a:rPr lang="fr-FR" dirty="0"/>
              <a:t> simple </a:t>
            </a:r>
            <a:r>
              <a:rPr lang="fr-FR" dirty="0" err="1"/>
              <a:t>calculator</a:t>
            </a:r>
            <a:endParaRPr lang="fr-FR" dirty="0"/>
          </a:p>
          <a:p>
            <a:endParaRPr lang="fr-FR" dirty="0"/>
          </a:p>
          <a:p>
            <a:r>
              <a:rPr lang="fr-FR" dirty="0"/>
              <a:t>10% Attendance</a:t>
            </a:r>
          </a:p>
          <a:p>
            <a:endParaRPr lang="fr-FR" dirty="0"/>
          </a:p>
          <a:p>
            <a:r>
              <a:rPr lang="fr-FR" dirty="0"/>
              <a:t>60% Final </a:t>
            </a:r>
            <a:r>
              <a:rPr lang="fr-FR" dirty="0" err="1"/>
              <a:t>examination</a:t>
            </a:r>
            <a:r>
              <a:rPr lang="fr-FR" dirty="0"/>
              <a:t>: 3 </a:t>
            </a:r>
            <a:r>
              <a:rPr lang="fr-FR" dirty="0" err="1"/>
              <a:t>exercises</a:t>
            </a:r>
            <a:r>
              <a:rPr lang="fr-FR" dirty="0"/>
              <a:t> (2 </a:t>
            </a:r>
            <a:r>
              <a:rPr lang="fr-FR" dirty="0" err="1"/>
              <a:t>hours</a:t>
            </a:r>
            <a:r>
              <a:rPr lang="fr-FR" dirty="0"/>
              <a:t>)</a:t>
            </a:r>
          </a:p>
          <a:p>
            <a:endParaRPr lang="fr-FR" dirty="0"/>
          </a:p>
        </p:txBody>
      </p:sp>
      <p:sp>
        <p:nvSpPr>
          <p:cNvPr id="4" name="Slide Number Placeholder 3">
            <a:extLst>
              <a:ext uri="{FF2B5EF4-FFF2-40B4-BE49-F238E27FC236}">
                <a16:creationId xmlns:a16="http://schemas.microsoft.com/office/drawing/2014/main" id="{AF972A96-0D8B-AB3E-03A9-9FF238171C91}"/>
              </a:ext>
            </a:extLst>
          </p:cNvPr>
          <p:cNvSpPr>
            <a:spLocks noGrp="1"/>
          </p:cNvSpPr>
          <p:nvPr>
            <p:ph type="sldNum" sz="quarter" idx="10"/>
          </p:nvPr>
        </p:nvSpPr>
        <p:spPr/>
        <p:txBody>
          <a:bodyPr/>
          <a:lstStyle/>
          <a:p>
            <a:fld id="{421B1A79-1F45-8F4F-AED5-0EE30DCF0380}" type="slidenum">
              <a:rPr lang="fr-FR" smtClean="0"/>
              <a:t>4</a:t>
            </a:fld>
            <a:endParaRPr lang="fr-FR"/>
          </a:p>
        </p:txBody>
      </p:sp>
    </p:spTree>
    <p:extLst>
      <p:ext uri="{BB962C8B-B14F-4D97-AF65-F5344CB8AC3E}">
        <p14:creationId xmlns:p14="http://schemas.microsoft.com/office/powerpoint/2010/main" val="1506774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CBAC2-829E-FAAC-5613-5EFF8C61EC9F}"/>
              </a:ext>
            </a:extLst>
          </p:cNvPr>
          <p:cNvSpPr>
            <a:spLocks noGrp="1"/>
          </p:cNvSpPr>
          <p:nvPr>
            <p:ph type="ctrTitle"/>
          </p:nvPr>
        </p:nvSpPr>
        <p:spPr/>
        <p:txBody>
          <a:bodyPr/>
          <a:lstStyle/>
          <a:p>
            <a:r>
              <a:rPr lang="fr-FR" dirty="0"/>
              <a:t>Basic business </a:t>
            </a:r>
            <a:r>
              <a:rPr lang="fr-FR" dirty="0" err="1"/>
              <a:t>equation</a:t>
            </a:r>
            <a:r>
              <a:rPr lang="fr-FR" dirty="0"/>
              <a:t> or balance </a:t>
            </a:r>
            <a:r>
              <a:rPr lang="fr-FR" dirty="0" err="1"/>
              <a:t>sheet</a:t>
            </a:r>
            <a:r>
              <a:rPr lang="fr-FR" dirty="0"/>
              <a:t> as an </a:t>
            </a:r>
            <a:r>
              <a:rPr lang="fr-FR" dirty="0" err="1"/>
              <a:t>equation</a:t>
            </a:r>
            <a:endParaRPr lang="fr-FR" dirty="0"/>
          </a:p>
        </p:txBody>
      </p:sp>
      <p:sp>
        <p:nvSpPr>
          <p:cNvPr id="3" name="Subtitle 2">
            <a:extLst>
              <a:ext uri="{FF2B5EF4-FFF2-40B4-BE49-F238E27FC236}">
                <a16:creationId xmlns:a16="http://schemas.microsoft.com/office/drawing/2014/main" id="{1CBC65FE-082E-E204-8CC1-26C55CD6991C}"/>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15809386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098E2-383D-9746-03EE-1DA53252A7D9}"/>
              </a:ext>
            </a:extLst>
          </p:cNvPr>
          <p:cNvSpPr>
            <a:spLocks noGrp="1"/>
          </p:cNvSpPr>
          <p:nvPr>
            <p:ph type="title"/>
          </p:nvPr>
        </p:nvSpPr>
        <p:spPr>
          <a:xfrm>
            <a:off x="656844" y="487045"/>
            <a:ext cx="10829544" cy="718625"/>
          </a:xfrm>
        </p:spPr>
        <p:txBody>
          <a:bodyPr/>
          <a:lstStyle/>
          <a:p>
            <a:r>
              <a:rPr lang="fr-FR" dirty="0"/>
              <a:t>Balance </a:t>
            </a:r>
            <a:r>
              <a:rPr lang="fr-FR" dirty="0" err="1"/>
              <a:t>sheet</a:t>
            </a:r>
            <a:r>
              <a:rPr lang="fr-FR" dirty="0"/>
              <a:t> (BS) </a:t>
            </a:r>
            <a:r>
              <a:rPr lang="fr-FR" dirty="0" err="1"/>
              <a:t>represented</a:t>
            </a:r>
            <a:r>
              <a:rPr lang="fr-FR" dirty="0"/>
              <a:t> as an </a:t>
            </a:r>
            <a:r>
              <a:rPr lang="fr-FR" dirty="0" err="1"/>
              <a:t>equation</a:t>
            </a:r>
            <a:endParaRPr lang="fr-FR" dirty="0"/>
          </a:p>
        </p:txBody>
      </p:sp>
      <p:sp>
        <p:nvSpPr>
          <p:cNvPr id="4" name="Slide Number Placeholder 3">
            <a:extLst>
              <a:ext uri="{FF2B5EF4-FFF2-40B4-BE49-F238E27FC236}">
                <a16:creationId xmlns:a16="http://schemas.microsoft.com/office/drawing/2014/main" id="{B91F079D-1C1D-27BC-1A2B-5DCAC5E5F5DA}"/>
              </a:ext>
            </a:extLst>
          </p:cNvPr>
          <p:cNvSpPr>
            <a:spLocks noGrp="1"/>
          </p:cNvSpPr>
          <p:nvPr>
            <p:ph type="sldNum" sz="quarter" idx="10"/>
          </p:nvPr>
        </p:nvSpPr>
        <p:spPr/>
        <p:txBody>
          <a:bodyPr/>
          <a:lstStyle/>
          <a:p>
            <a:fld id="{421B1A79-1F45-8F4F-AED5-0EE30DCF0380}" type="slidenum">
              <a:rPr lang="fr-FR" smtClean="0"/>
              <a:t>6</a:t>
            </a:fld>
            <a:endParaRPr lang="fr-FR"/>
          </a:p>
        </p:txBody>
      </p:sp>
      <p:sp>
        <p:nvSpPr>
          <p:cNvPr id="5" name="Slide Number Placeholder 4">
            <a:extLst>
              <a:ext uri="{FF2B5EF4-FFF2-40B4-BE49-F238E27FC236}">
                <a16:creationId xmlns:a16="http://schemas.microsoft.com/office/drawing/2014/main" id="{E6B8F7C7-C91B-3EF2-995D-A81FB1EF5D4D}"/>
              </a:ext>
            </a:extLst>
          </p:cNvPr>
          <p:cNvSpPr txBox="1">
            <a:spLocks/>
          </p:cNvSpPr>
          <p:nvPr/>
        </p:nvSpPr>
        <p:spPr>
          <a:xfrm>
            <a:off x="5746228" y="6335777"/>
            <a:ext cx="718774"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07C7597-8D70-4701-8085-9524B0B5C72B}" type="slidenum">
              <a:rPr lang="fr-FR" smtClean="0"/>
              <a:pPr/>
              <a:t>6</a:t>
            </a:fld>
            <a:endParaRPr lang="fr-FR" dirty="0"/>
          </a:p>
        </p:txBody>
      </p:sp>
      <p:grpSp>
        <p:nvGrpSpPr>
          <p:cNvPr id="7" name="Group 6">
            <a:extLst>
              <a:ext uri="{FF2B5EF4-FFF2-40B4-BE49-F238E27FC236}">
                <a16:creationId xmlns:a16="http://schemas.microsoft.com/office/drawing/2014/main" id="{ADC0AD12-D0B3-325D-2B72-64365F9C0E07}"/>
              </a:ext>
            </a:extLst>
          </p:cNvPr>
          <p:cNvGrpSpPr/>
          <p:nvPr/>
        </p:nvGrpSpPr>
        <p:grpSpPr>
          <a:xfrm>
            <a:off x="315044" y="1610053"/>
            <a:ext cx="11208394" cy="4147644"/>
            <a:chOff x="-238000" y="1966069"/>
            <a:chExt cx="8410400" cy="3112252"/>
          </a:xfrm>
        </p:grpSpPr>
        <p:sp>
          <p:nvSpPr>
            <p:cNvPr id="8" name="TextBox 7">
              <a:extLst>
                <a:ext uri="{FF2B5EF4-FFF2-40B4-BE49-F238E27FC236}">
                  <a16:creationId xmlns:a16="http://schemas.microsoft.com/office/drawing/2014/main" id="{487902A1-6061-44C5-B47A-9D140FDA5DA5}"/>
                </a:ext>
              </a:extLst>
            </p:cNvPr>
            <p:cNvSpPr txBox="1"/>
            <p:nvPr/>
          </p:nvSpPr>
          <p:spPr>
            <a:xfrm>
              <a:off x="539552" y="1966069"/>
              <a:ext cx="1440160" cy="807827"/>
            </a:xfrm>
            <a:prstGeom prst="rect">
              <a:avLst/>
            </a:prstGeom>
            <a:noFill/>
          </p:spPr>
          <p:txBody>
            <a:bodyPr wrap="square" rtlCol="0">
              <a:spAutoFit/>
            </a:bodyPr>
            <a:lstStyle/>
            <a:p>
              <a:pPr algn="ctr"/>
              <a:r>
                <a:rPr lang="en-US" sz="3198" dirty="0"/>
                <a:t>Assets (A)</a:t>
              </a:r>
            </a:p>
          </p:txBody>
        </p:sp>
        <p:sp>
          <p:nvSpPr>
            <p:cNvPr id="9" name="TextBox 8">
              <a:extLst>
                <a:ext uri="{FF2B5EF4-FFF2-40B4-BE49-F238E27FC236}">
                  <a16:creationId xmlns:a16="http://schemas.microsoft.com/office/drawing/2014/main" id="{E50C0BF1-A39C-F7CF-1B88-345191136B7D}"/>
                </a:ext>
              </a:extLst>
            </p:cNvPr>
            <p:cNvSpPr txBox="1"/>
            <p:nvPr/>
          </p:nvSpPr>
          <p:spPr>
            <a:xfrm>
              <a:off x="2051720" y="1966069"/>
              <a:ext cx="1296144" cy="438555"/>
            </a:xfrm>
            <a:prstGeom prst="rect">
              <a:avLst/>
            </a:prstGeom>
            <a:noFill/>
          </p:spPr>
          <p:txBody>
            <a:bodyPr wrap="square" rtlCol="0">
              <a:spAutoFit/>
            </a:bodyPr>
            <a:lstStyle/>
            <a:p>
              <a:pPr algn="ctr"/>
              <a:r>
                <a:rPr lang="en-US" sz="3198" dirty="0"/>
                <a:t>=</a:t>
              </a:r>
            </a:p>
          </p:txBody>
        </p:sp>
        <p:sp>
          <p:nvSpPr>
            <p:cNvPr id="10" name="TextBox 9">
              <a:extLst>
                <a:ext uri="{FF2B5EF4-FFF2-40B4-BE49-F238E27FC236}">
                  <a16:creationId xmlns:a16="http://schemas.microsoft.com/office/drawing/2014/main" id="{A2A20F98-170D-7F63-B54D-7580AFDAEB25}"/>
                </a:ext>
              </a:extLst>
            </p:cNvPr>
            <p:cNvSpPr txBox="1"/>
            <p:nvPr/>
          </p:nvSpPr>
          <p:spPr>
            <a:xfrm>
              <a:off x="6732240" y="1966069"/>
              <a:ext cx="1440160" cy="807827"/>
            </a:xfrm>
            <a:prstGeom prst="rect">
              <a:avLst/>
            </a:prstGeom>
            <a:noFill/>
          </p:spPr>
          <p:txBody>
            <a:bodyPr wrap="square" rtlCol="0">
              <a:spAutoFit/>
            </a:bodyPr>
            <a:lstStyle/>
            <a:p>
              <a:pPr algn="ctr"/>
              <a:r>
                <a:rPr lang="en-US" sz="3198" dirty="0"/>
                <a:t>Equity (E)</a:t>
              </a:r>
            </a:p>
          </p:txBody>
        </p:sp>
        <p:sp>
          <p:nvSpPr>
            <p:cNvPr id="11" name="TextBox 10">
              <a:extLst>
                <a:ext uri="{FF2B5EF4-FFF2-40B4-BE49-F238E27FC236}">
                  <a16:creationId xmlns:a16="http://schemas.microsoft.com/office/drawing/2014/main" id="{BF12EB74-C846-C479-9202-774AE01A040C}"/>
                </a:ext>
              </a:extLst>
            </p:cNvPr>
            <p:cNvSpPr txBox="1"/>
            <p:nvPr/>
          </p:nvSpPr>
          <p:spPr>
            <a:xfrm>
              <a:off x="3419872" y="1966069"/>
              <a:ext cx="1800200" cy="807827"/>
            </a:xfrm>
            <a:prstGeom prst="rect">
              <a:avLst/>
            </a:prstGeom>
            <a:noFill/>
          </p:spPr>
          <p:txBody>
            <a:bodyPr wrap="square" rtlCol="0">
              <a:spAutoFit/>
            </a:bodyPr>
            <a:lstStyle/>
            <a:p>
              <a:pPr algn="ctr"/>
              <a:r>
                <a:rPr lang="en-US" sz="3198" dirty="0"/>
                <a:t>Liabilities (L)</a:t>
              </a:r>
            </a:p>
          </p:txBody>
        </p:sp>
        <p:sp>
          <p:nvSpPr>
            <p:cNvPr id="12" name="TextBox 11">
              <a:extLst>
                <a:ext uri="{FF2B5EF4-FFF2-40B4-BE49-F238E27FC236}">
                  <a16:creationId xmlns:a16="http://schemas.microsoft.com/office/drawing/2014/main" id="{28134790-8507-EF45-BCBE-89921D7D4666}"/>
                </a:ext>
              </a:extLst>
            </p:cNvPr>
            <p:cNvSpPr txBox="1"/>
            <p:nvPr/>
          </p:nvSpPr>
          <p:spPr>
            <a:xfrm>
              <a:off x="5292080" y="1966069"/>
              <a:ext cx="1296144" cy="438555"/>
            </a:xfrm>
            <a:prstGeom prst="rect">
              <a:avLst/>
            </a:prstGeom>
            <a:noFill/>
          </p:spPr>
          <p:txBody>
            <a:bodyPr wrap="square" rtlCol="0">
              <a:spAutoFit/>
            </a:bodyPr>
            <a:lstStyle/>
            <a:p>
              <a:pPr algn="ctr"/>
              <a:r>
                <a:rPr lang="en-US" sz="3198" dirty="0"/>
                <a:t>+</a:t>
              </a:r>
            </a:p>
          </p:txBody>
        </p:sp>
        <p:sp>
          <p:nvSpPr>
            <p:cNvPr id="13" name="TextBox 12">
              <a:extLst>
                <a:ext uri="{FF2B5EF4-FFF2-40B4-BE49-F238E27FC236}">
                  <a16:creationId xmlns:a16="http://schemas.microsoft.com/office/drawing/2014/main" id="{03CFC726-B80E-8130-2420-06710E3EC152}"/>
                </a:ext>
              </a:extLst>
            </p:cNvPr>
            <p:cNvSpPr txBox="1"/>
            <p:nvPr/>
          </p:nvSpPr>
          <p:spPr>
            <a:xfrm>
              <a:off x="-238000" y="3162343"/>
              <a:ext cx="2464726" cy="1915978"/>
            </a:xfrm>
            <a:prstGeom prst="rect">
              <a:avLst/>
            </a:prstGeom>
            <a:noFill/>
          </p:spPr>
          <p:txBody>
            <a:bodyPr wrap="square" rtlCol="0">
              <a:spAutoFit/>
            </a:bodyPr>
            <a:lstStyle/>
            <a:p>
              <a:pPr algn="ctr"/>
              <a:r>
                <a:rPr lang="en-US" sz="3198" dirty="0"/>
                <a:t>What the company owns </a:t>
              </a:r>
            </a:p>
            <a:p>
              <a:pPr algn="ctr"/>
              <a:r>
                <a:rPr lang="en-US" sz="2399" dirty="0"/>
                <a:t>(and sometimes what you use: leases can be included according to accounting system)</a:t>
              </a:r>
              <a:endParaRPr lang="en-US" sz="3198" dirty="0"/>
            </a:p>
          </p:txBody>
        </p:sp>
        <p:sp>
          <p:nvSpPr>
            <p:cNvPr id="14" name="Arrow: Down 13">
              <a:extLst>
                <a:ext uri="{FF2B5EF4-FFF2-40B4-BE49-F238E27FC236}">
                  <a16:creationId xmlns:a16="http://schemas.microsoft.com/office/drawing/2014/main" id="{A69EB404-A175-5F3C-99D3-72ADE4FB5A87}"/>
                </a:ext>
              </a:extLst>
            </p:cNvPr>
            <p:cNvSpPr/>
            <p:nvPr/>
          </p:nvSpPr>
          <p:spPr>
            <a:xfrm rot="10800000">
              <a:off x="1115616" y="2826150"/>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15" name="Arrow: Down 14">
              <a:extLst>
                <a:ext uri="{FF2B5EF4-FFF2-40B4-BE49-F238E27FC236}">
                  <a16:creationId xmlns:a16="http://schemas.microsoft.com/office/drawing/2014/main" id="{FFD96254-F31F-BC59-AAAD-9580C30921C7}"/>
                </a:ext>
              </a:extLst>
            </p:cNvPr>
            <p:cNvSpPr/>
            <p:nvPr/>
          </p:nvSpPr>
          <p:spPr>
            <a:xfrm rot="10800000">
              <a:off x="7308304" y="2863136"/>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grpSp>
      <p:sp>
        <p:nvSpPr>
          <p:cNvPr id="16" name="TextBox 15">
            <a:extLst>
              <a:ext uri="{FF2B5EF4-FFF2-40B4-BE49-F238E27FC236}">
                <a16:creationId xmlns:a16="http://schemas.microsoft.com/office/drawing/2014/main" id="{A5EFA2D7-A280-12DD-002E-E37AA72ECB17}"/>
              </a:ext>
            </a:extLst>
          </p:cNvPr>
          <p:cNvSpPr txBox="1"/>
          <p:nvPr/>
        </p:nvSpPr>
        <p:spPr>
          <a:xfrm>
            <a:off x="3343104" y="3347337"/>
            <a:ext cx="8848896" cy="1076577"/>
          </a:xfrm>
          <a:prstGeom prst="rect">
            <a:avLst/>
          </a:prstGeom>
          <a:noFill/>
        </p:spPr>
        <p:txBody>
          <a:bodyPr wrap="square" rtlCol="0">
            <a:spAutoFit/>
          </a:bodyPr>
          <a:lstStyle/>
          <a:p>
            <a:pPr algn="ctr"/>
            <a:r>
              <a:rPr lang="en-US" sz="3198" dirty="0"/>
              <a:t>How the company finances the counterpart (assets)</a:t>
            </a:r>
          </a:p>
        </p:txBody>
      </p:sp>
      <p:sp>
        <p:nvSpPr>
          <p:cNvPr id="17" name="Arrow: Down 16">
            <a:extLst>
              <a:ext uri="{FF2B5EF4-FFF2-40B4-BE49-F238E27FC236}">
                <a16:creationId xmlns:a16="http://schemas.microsoft.com/office/drawing/2014/main" id="{5BA39D61-E461-C178-FB41-1CF7F0D1D3C5}"/>
              </a:ext>
            </a:extLst>
          </p:cNvPr>
          <p:cNvSpPr/>
          <p:nvPr/>
        </p:nvSpPr>
        <p:spPr>
          <a:xfrm rot="10800000">
            <a:off x="6133703" y="2775667"/>
            <a:ext cx="383855" cy="423326"/>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18" name="Arrow: Down 17">
            <a:extLst>
              <a:ext uri="{FF2B5EF4-FFF2-40B4-BE49-F238E27FC236}">
                <a16:creationId xmlns:a16="http://schemas.microsoft.com/office/drawing/2014/main" id="{068DB424-FC78-36B0-F8B3-263D229A234E}"/>
              </a:ext>
            </a:extLst>
          </p:cNvPr>
          <p:cNvSpPr/>
          <p:nvPr/>
        </p:nvSpPr>
        <p:spPr>
          <a:xfrm rot="10800000">
            <a:off x="6197445" y="4388516"/>
            <a:ext cx="383855" cy="423326"/>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19" name="TextBox 18">
            <a:extLst>
              <a:ext uri="{FF2B5EF4-FFF2-40B4-BE49-F238E27FC236}">
                <a16:creationId xmlns:a16="http://schemas.microsoft.com/office/drawing/2014/main" id="{632D4F3A-CE50-1B8A-659E-2EF712E78EB3}"/>
              </a:ext>
            </a:extLst>
          </p:cNvPr>
          <p:cNvSpPr txBox="1"/>
          <p:nvPr/>
        </p:nvSpPr>
        <p:spPr>
          <a:xfrm>
            <a:off x="4038258" y="4857333"/>
            <a:ext cx="4702227" cy="1076577"/>
          </a:xfrm>
          <a:prstGeom prst="rect">
            <a:avLst/>
          </a:prstGeom>
          <a:solidFill>
            <a:schemeClr val="bg1"/>
          </a:solidFill>
        </p:spPr>
        <p:txBody>
          <a:bodyPr wrap="square" rtlCol="0">
            <a:spAutoFit/>
          </a:bodyPr>
          <a:lstStyle/>
          <a:p>
            <a:pPr algn="ctr"/>
            <a:r>
              <a:rPr lang="en-US" sz="3198" dirty="0"/>
              <a:t>Stakeholders</a:t>
            </a:r>
          </a:p>
          <a:p>
            <a:pPr algn="ctr"/>
            <a:r>
              <a:rPr lang="en-US" sz="3198" dirty="0"/>
              <a:t>(excluding shareholders)</a:t>
            </a:r>
          </a:p>
        </p:txBody>
      </p:sp>
      <p:sp>
        <p:nvSpPr>
          <p:cNvPr id="20" name="TextBox 19">
            <a:extLst>
              <a:ext uri="{FF2B5EF4-FFF2-40B4-BE49-F238E27FC236}">
                <a16:creationId xmlns:a16="http://schemas.microsoft.com/office/drawing/2014/main" id="{01A74CCB-4D37-8640-2768-6921509B1DD0}"/>
              </a:ext>
            </a:extLst>
          </p:cNvPr>
          <p:cNvSpPr txBox="1"/>
          <p:nvPr/>
        </p:nvSpPr>
        <p:spPr>
          <a:xfrm>
            <a:off x="9286731" y="4992288"/>
            <a:ext cx="2641585" cy="584455"/>
          </a:xfrm>
          <a:prstGeom prst="rect">
            <a:avLst/>
          </a:prstGeom>
          <a:solidFill>
            <a:schemeClr val="bg1"/>
          </a:solidFill>
        </p:spPr>
        <p:txBody>
          <a:bodyPr wrap="square" rtlCol="0">
            <a:spAutoFit/>
          </a:bodyPr>
          <a:lstStyle/>
          <a:p>
            <a:pPr algn="ctr"/>
            <a:r>
              <a:rPr lang="en-US" sz="3198" dirty="0"/>
              <a:t>Shareholders</a:t>
            </a:r>
          </a:p>
        </p:txBody>
      </p:sp>
      <p:sp>
        <p:nvSpPr>
          <p:cNvPr id="21" name="Arrow: Down 20">
            <a:extLst>
              <a:ext uri="{FF2B5EF4-FFF2-40B4-BE49-F238E27FC236}">
                <a16:creationId xmlns:a16="http://schemas.microsoft.com/office/drawing/2014/main" id="{52AAC080-0B61-3801-E74D-A2FD2DECBB55}"/>
              </a:ext>
            </a:extLst>
          </p:cNvPr>
          <p:cNvSpPr/>
          <p:nvPr/>
        </p:nvSpPr>
        <p:spPr>
          <a:xfrm rot="10800000">
            <a:off x="10371872" y="4398503"/>
            <a:ext cx="383855" cy="423326"/>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Tree>
    <p:extLst>
      <p:ext uri="{BB962C8B-B14F-4D97-AF65-F5344CB8AC3E}">
        <p14:creationId xmlns:p14="http://schemas.microsoft.com/office/powerpoint/2010/main" val="922776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E249B-AD57-32D2-8E71-05CEE316BF15}"/>
              </a:ext>
            </a:extLst>
          </p:cNvPr>
          <p:cNvSpPr>
            <a:spLocks noGrp="1"/>
          </p:cNvSpPr>
          <p:nvPr>
            <p:ph type="title"/>
          </p:nvPr>
        </p:nvSpPr>
        <p:spPr>
          <a:xfrm>
            <a:off x="656844" y="487045"/>
            <a:ext cx="10829544" cy="675930"/>
          </a:xfrm>
        </p:spPr>
        <p:txBody>
          <a:bodyPr/>
          <a:lstStyle/>
          <a:p>
            <a:r>
              <a:rPr lang="fr-FR" dirty="0"/>
              <a:t>Assets </a:t>
            </a:r>
            <a:r>
              <a:rPr lang="fr-FR" u="sng" dirty="0"/>
              <a:t>at net value </a:t>
            </a:r>
            <a:r>
              <a:rPr lang="fr-FR" dirty="0"/>
              <a:t>= </a:t>
            </a:r>
            <a:r>
              <a:rPr lang="fr-FR" dirty="0" err="1"/>
              <a:t>Liabilities</a:t>
            </a:r>
            <a:r>
              <a:rPr lang="fr-FR" dirty="0"/>
              <a:t> + </a:t>
            </a:r>
            <a:r>
              <a:rPr lang="fr-FR" dirty="0" err="1"/>
              <a:t>Equity</a:t>
            </a:r>
            <a:endParaRPr lang="fr-FR" dirty="0"/>
          </a:p>
        </p:txBody>
      </p:sp>
      <p:sp>
        <p:nvSpPr>
          <p:cNvPr id="4" name="Slide Number Placeholder 3">
            <a:extLst>
              <a:ext uri="{FF2B5EF4-FFF2-40B4-BE49-F238E27FC236}">
                <a16:creationId xmlns:a16="http://schemas.microsoft.com/office/drawing/2014/main" id="{629EC213-DE19-0912-520C-355A75BA1D56}"/>
              </a:ext>
            </a:extLst>
          </p:cNvPr>
          <p:cNvSpPr>
            <a:spLocks noGrp="1"/>
          </p:cNvSpPr>
          <p:nvPr>
            <p:ph type="sldNum" sz="quarter" idx="10"/>
          </p:nvPr>
        </p:nvSpPr>
        <p:spPr/>
        <p:txBody>
          <a:bodyPr/>
          <a:lstStyle/>
          <a:p>
            <a:fld id="{421B1A79-1F45-8F4F-AED5-0EE30DCF0380}" type="slidenum">
              <a:rPr lang="fr-FR" smtClean="0"/>
              <a:t>7</a:t>
            </a:fld>
            <a:endParaRPr lang="fr-FR"/>
          </a:p>
        </p:txBody>
      </p:sp>
      <p:sp>
        <p:nvSpPr>
          <p:cNvPr id="5" name="Slide Number Placeholder 4">
            <a:extLst>
              <a:ext uri="{FF2B5EF4-FFF2-40B4-BE49-F238E27FC236}">
                <a16:creationId xmlns:a16="http://schemas.microsoft.com/office/drawing/2014/main" id="{9BFE7592-A837-BE59-07D0-0D91DF106C7B}"/>
              </a:ext>
            </a:extLst>
          </p:cNvPr>
          <p:cNvSpPr txBox="1">
            <a:spLocks/>
          </p:cNvSpPr>
          <p:nvPr/>
        </p:nvSpPr>
        <p:spPr>
          <a:xfrm>
            <a:off x="5746228" y="6335777"/>
            <a:ext cx="718774"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07C7597-8D70-4701-8085-9524B0B5C72B}" type="slidenum">
              <a:rPr lang="fr-FR" smtClean="0"/>
              <a:pPr/>
              <a:t>7</a:t>
            </a:fld>
            <a:endParaRPr lang="fr-FR" dirty="0"/>
          </a:p>
        </p:txBody>
      </p:sp>
      <p:sp>
        <p:nvSpPr>
          <p:cNvPr id="6" name="TextBox 5">
            <a:extLst>
              <a:ext uri="{FF2B5EF4-FFF2-40B4-BE49-F238E27FC236}">
                <a16:creationId xmlns:a16="http://schemas.microsoft.com/office/drawing/2014/main" id="{0BB0754E-FC00-37A1-5CB5-E52A269F8EDC}"/>
              </a:ext>
            </a:extLst>
          </p:cNvPr>
          <p:cNvSpPr txBox="1"/>
          <p:nvPr/>
        </p:nvSpPr>
        <p:spPr>
          <a:xfrm>
            <a:off x="1393774" y="1257615"/>
            <a:ext cx="8924634" cy="584455"/>
          </a:xfrm>
          <a:prstGeom prst="rect">
            <a:avLst/>
          </a:prstGeom>
          <a:solidFill>
            <a:schemeClr val="bg1">
              <a:lumMod val="95000"/>
            </a:schemeClr>
          </a:solidFill>
        </p:spPr>
        <p:txBody>
          <a:bodyPr wrap="square" rtlCol="0">
            <a:spAutoFit/>
          </a:bodyPr>
          <a:lstStyle/>
          <a:p>
            <a:pPr algn="ctr"/>
            <a:r>
              <a:rPr lang="en-US" sz="3198" dirty="0"/>
              <a:t>Balance sheet (BS) represented as an equation</a:t>
            </a:r>
          </a:p>
        </p:txBody>
      </p:sp>
      <p:grpSp>
        <p:nvGrpSpPr>
          <p:cNvPr id="7" name="Group 6">
            <a:extLst>
              <a:ext uri="{FF2B5EF4-FFF2-40B4-BE49-F238E27FC236}">
                <a16:creationId xmlns:a16="http://schemas.microsoft.com/office/drawing/2014/main" id="{75AF2E05-46E8-7013-20B9-1283739E3A9D}"/>
              </a:ext>
            </a:extLst>
          </p:cNvPr>
          <p:cNvGrpSpPr/>
          <p:nvPr/>
        </p:nvGrpSpPr>
        <p:grpSpPr>
          <a:xfrm>
            <a:off x="87899" y="2044769"/>
            <a:ext cx="11840418" cy="4256738"/>
            <a:chOff x="63723" y="1966069"/>
            <a:chExt cx="8884650" cy="3194112"/>
          </a:xfrm>
        </p:grpSpPr>
        <p:grpSp>
          <p:nvGrpSpPr>
            <p:cNvPr id="8" name="Group 7">
              <a:extLst>
                <a:ext uri="{FF2B5EF4-FFF2-40B4-BE49-F238E27FC236}">
                  <a16:creationId xmlns:a16="http://schemas.microsoft.com/office/drawing/2014/main" id="{5195B5F1-9A95-F212-7B20-3C56CAC14788}"/>
                </a:ext>
              </a:extLst>
            </p:cNvPr>
            <p:cNvGrpSpPr/>
            <p:nvPr/>
          </p:nvGrpSpPr>
          <p:grpSpPr>
            <a:xfrm>
              <a:off x="63723" y="1966069"/>
              <a:ext cx="8180685" cy="3194112"/>
              <a:chOff x="-8285" y="1966069"/>
              <a:chExt cx="8180685" cy="3194112"/>
            </a:xfrm>
          </p:grpSpPr>
          <p:sp>
            <p:nvSpPr>
              <p:cNvPr id="11" name="TextBox 10">
                <a:extLst>
                  <a:ext uri="{FF2B5EF4-FFF2-40B4-BE49-F238E27FC236}">
                    <a16:creationId xmlns:a16="http://schemas.microsoft.com/office/drawing/2014/main" id="{5F0A3D35-7A7B-0353-6B0D-8AB6B5300312}"/>
                  </a:ext>
                </a:extLst>
              </p:cNvPr>
              <p:cNvSpPr txBox="1"/>
              <p:nvPr/>
            </p:nvSpPr>
            <p:spPr>
              <a:xfrm>
                <a:off x="539552" y="1966069"/>
                <a:ext cx="1440160" cy="807827"/>
              </a:xfrm>
              <a:prstGeom prst="rect">
                <a:avLst/>
              </a:prstGeom>
              <a:noFill/>
            </p:spPr>
            <p:txBody>
              <a:bodyPr wrap="square" rtlCol="0">
                <a:spAutoFit/>
              </a:bodyPr>
              <a:lstStyle/>
              <a:p>
                <a:pPr algn="ctr"/>
                <a:r>
                  <a:rPr lang="en-US" sz="3198" dirty="0"/>
                  <a:t>Assets (A)</a:t>
                </a:r>
              </a:p>
            </p:txBody>
          </p:sp>
          <p:sp>
            <p:nvSpPr>
              <p:cNvPr id="12" name="TextBox 11">
                <a:extLst>
                  <a:ext uri="{FF2B5EF4-FFF2-40B4-BE49-F238E27FC236}">
                    <a16:creationId xmlns:a16="http://schemas.microsoft.com/office/drawing/2014/main" id="{F37E6177-AAFF-578A-6469-D4DC5801255A}"/>
                  </a:ext>
                </a:extLst>
              </p:cNvPr>
              <p:cNvSpPr txBox="1"/>
              <p:nvPr/>
            </p:nvSpPr>
            <p:spPr>
              <a:xfrm>
                <a:off x="2051720" y="1966069"/>
                <a:ext cx="1296144" cy="438555"/>
              </a:xfrm>
              <a:prstGeom prst="rect">
                <a:avLst/>
              </a:prstGeom>
              <a:noFill/>
            </p:spPr>
            <p:txBody>
              <a:bodyPr wrap="square" rtlCol="0">
                <a:spAutoFit/>
              </a:bodyPr>
              <a:lstStyle/>
              <a:p>
                <a:pPr algn="ctr"/>
                <a:r>
                  <a:rPr lang="en-US" sz="3198" dirty="0"/>
                  <a:t>=</a:t>
                </a:r>
              </a:p>
            </p:txBody>
          </p:sp>
          <p:sp>
            <p:nvSpPr>
              <p:cNvPr id="13" name="TextBox 12">
                <a:extLst>
                  <a:ext uri="{FF2B5EF4-FFF2-40B4-BE49-F238E27FC236}">
                    <a16:creationId xmlns:a16="http://schemas.microsoft.com/office/drawing/2014/main" id="{63E89355-0D69-FCF5-9AEF-CD6C1BD015AA}"/>
                  </a:ext>
                </a:extLst>
              </p:cNvPr>
              <p:cNvSpPr txBox="1"/>
              <p:nvPr/>
            </p:nvSpPr>
            <p:spPr>
              <a:xfrm>
                <a:off x="6732240" y="1966069"/>
                <a:ext cx="1440160" cy="807827"/>
              </a:xfrm>
              <a:prstGeom prst="rect">
                <a:avLst/>
              </a:prstGeom>
              <a:noFill/>
            </p:spPr>
            <p:txBody>
              <a:bodyPr wrap="square" rtlCol="0">
                <a:spAutoFit/>
              </a:bodyPr>
              <a:lstStyle/>
              <a:p>
                <a:pPr algn="ctr"/>
                <a:r>
                  <a:rPr lang="en-US" sz="3198" dirty="0"/>
                  <a:t>Equity (E)</a:t>
                </a:r>
              </a:p>
            </p:txBody>
          </p:sp>
          <p:sp>
            <p:nvSpPr>
              <p:cNvPr id="14" name="TextBox 13">
                <a:extLst>
                  <a:ext uri="{FF2B5EF4-FFF2-40B4-BE49-F238E27FC236}">
                    <a16:creationId xmlns:a16="http://schemas.microsoft.com/office/drawing/2014/main" id="{60A00766-47B8-23BA-055C-BC5CFEE2E02C}"/>
                  </a:ext>
                </a:extLst>
              </p:cNvPr>
              <p:cNvSpPr txBox="1"/>
              <p:nvPr/>
            </p:nvSpPr>
            <p:spPr>
              <a:xfrm>
                <a:off x="3419872" y="1966069"/>
                <a:ext cx="1800200" cy="807827"/>
              </a:xfrm>
              <a:prstGeom prst="rect">
                <a:avLst/>
              </a:prstGeom>
              <a:noFill/>
            </p:spPr>
            <p:txBody>
              <a:bodyPr wrap="square" rtlCol="0">
                <a:spAutoFit/>
              </a:bodyPr>
              <a:lstStyle/>
              <a:p>
                <a:pPr algn="ctr"/>
                <a:r>
                  <a:rPr lang="en-US" sz="3198" dirty="0"/>
                  <a:t>Liabilities (L)</a:t>
                </a:r>
              </a:p>
            </p:txBody>
          </p:sp>
          <p:sp>
            <p:nvSpPr>
              <p:cNvPr id="15" name="TextBox 14">
                <a:extLst>
                  <a:ext uri="{FF2B5EF4-FFF2-40B4-BE49-F238E27FC236}">
                    <a16:creationId xmlns:a16="http://schemas.microsoft.com/office/drawing/2014/main" id="{D3A4153A-EC7E-E280-A17D-DF95D2542CAA}"/>
                  </a:ext>
                </a:extLst>
              </p:cNvPr>
              <p:cNvSpPr txBox="1"/>
              <p:nvPr/>
            </p:nvSpPr>
            <p:spPr>
              <a:xfrm>
                <a:off x="5292080" y="1966069"/>
                <a:ext cx="1296144" cy="438555"/>
              </a:xfrm>
              <a:prstGeom prst="rect">
                <a:avLst/>
              </a:prstGeom>
              <a:noFill/>
            </p:spPr>
            <p:txBody>
              <a:bodyPr wrap="square" rtlCol="0">
                <a:spAutoFit/>
              </a:bodyPr>
              <a:lstStyle/>
              <a:p>
                <a:pPr algn="ctr"/>
                <a:r>
                  <a:rPr lang="en-US" sz="3198" dirty="0"/>
                  <a:t>+</a:t>
                </a:r>
              </a:p>
            </p:txBody>
          </p:sp>
          <p:sp>
            <p:nvSpPr>
              <p:cNvPr id="16" name="TextBox 15">
                <a:extLst>
                  <a:ext uri="{FF2B5EF4-FFF2-40B4-BE49-F238E27FC236}">
                    <a16:creationId xmlns:a16="http://schemas.microsoft.com/office/drawing/2014/main" id="{6379E1B3-B795-DC55-9898-9787CBF19269}"/>
                  </a:ext>
                </a:extLst>
              </p:cNvPr>
              <p:cNvSpPr txBox="1"/>
              <p:nvPr/>
            </p:nvSpPr>
            <p:spPr>
              <a:xfrm>
                <a:off x="-8285" y="2967165"/>
                <a:ext cx="4407664" cy="2193016"/>
              </a:xfrm>
              <a:prstGeom prst="rect">
                <a:avLst/>
              </a:prstGeom>
              <a:noFill/>
            </p:spPr>
            <p:txBody>
              <a:bodyPr wrap="square" rtlCol="0">
                <a:spAutoFit/>
              </a:bodyPr>
              <a:lstStyle/>
              <a:p>
                <a:pPr algn="ctr"/>
                <a:r>
                  <a:rPr lang="en-US" sz="3198" dirty="0"/>
                  <a:t>What the company owns </a:t>
                </a:r>
                <a:r>
                  <a:rPr lang="en-US" sz="3198" b="1" dirty="0"/>
                  <a:t>at net value</a:t>
                </a:r>
              </a:p>
              <a:p>
                <a:pPr algn="ctr"/>
                <a:r>
                  <a:rPr lang="en-US" sz="2399" dirty="0"/>
                  <a:t>(means after all the reductions in value: accumulated depreciation, amortization, impairment losses, write-down of inventories, allowance for doubtful accounts)</a:t>
                </a:r>
                <a:endParaRPr lang="en-US" sz="3198" dirty="0"/>
              </a:p>
            </p:txBody>
          </p:sp>
          <p:sp>
            <p:nvSpPr>
              <p:cNvPr id="17" name="Arrow: Down 16">
                <a:extLst>
                  <a:ext uri="{FF2B5EF4-FFF2-40B4-BE49-F238E27FC236}">
                    <a16:creationId xmlns:a16="http://schemas.microsoft.com/office/drawing/2014/main" id="{0D666B5B-9CCD-2CD1-5449-69D353679E6D}"/>
                  </a:ext>
                </a:extLst>
              </p:cNvPr>
              <p:cNvSpPr/>
              <p:nvPr/>
            </p:nvSpPr>
            <p:spPr>
              <a:xfrm rot="8512056">
                <a:off x="1552336" y="2684779"/>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18" name="Arrow: Down 17">
                <a:extLst>
                  <a:ext uri="{FF2B5EF4-FFF2-40B4-BE49-F238E27FC236}">
                    <a16:creationId xmlns:a16="http://schemas.microsoft.com/office/drawing/2014/main" id="{35CB6EAB-FB01-275D-B5F2-4A90B2FE964B}"/>
                  </a:ext>
                </a:extLst>
              </p:cNvPr>
              <p:cNvSpPr/>
              <p:nvPr/>
            </p:nvSpPr>
            <p:spPr>
              <a:xfrm rot="16200000">
                <a:off x="4950806" y="2966641"/>
                <a:ext cx="288032" cy="988436"/>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grpSp>
        <p:sp>
          <p:nvSpPr>
            <p:cNvPr id="9" name="TextBox 8">
              <a:extLst>
                <a:ext uri="{FF2B5EF4-FFF2-40B4-BE49-F238E27FC236}">
                  <a16:creationId xmlns:a16="http://schemas.microsoft.com/office/drawing/2014/main" id="{D70DFD94-388D-D319-90D7-45A05A3C77E1}"/>
                </a:ext>
              </a:extLst>
            </p:cNvPr>
            <p:cNvSpPr txBox="1"/>
            <p:nvPr/>
          </p:nvSpPr>
          <p:spPr>
            <a:xfrm>
              <a:off x="5724849" y="3013508"/>
              <a:ext cx="3223524" cy="1915642"/>
            </a:xfrm>
            <a:prstGeom prst="rect">
              <a:avLst/>
            </a:prstGeom>
            <a:solidFill>
              <a:schemeClr val="bg1"/>
            </a:solidFill>
          </p:spPr>
          <p:txBody>
            <a:bodyPr wrap="square" rtlCol="0">
              <a:spAutoFit/>
            </a:bodyPr>
            <a:lstStyle/>
            <a:p>
              <a:pPr algn="ctr"/>
              <a:r>
                <a:rPr lang="en-US" sz="3198" dirty="0"/>
                <a:t>Because of the reduction of value of assets we have a wealth reduction for shareholders</a:t>
              </a:r>
            </a:p>
          </p:txBody>
        </p:sp>
        <p:sp>
          <p:nvSpPr>
            <p:cNvPr id="10" name="Arrow: Down 9">
              <a:extLst>
                <a:ext uri="{FF2B5EF4-FFF2-40B4-BE49-F238E27FC236}">
                  <a16:creationId xmlns:a16="http://schemas.microsoft.com/office/drawing/2014/main" id="{3810778C-B25B-BCB0-6D13-54F836BA0F96}"/>
                </a:ext>
              </a:extLst>
            </p:cNvPr>
            <p:cNvSpPr/>
            <p:nvPr/>
          </p:nvSpPr>
          <p:spPr>
            <a:xfrm rot="10800000">
              <a:off x="7355658" y="2739811"/>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grpSp>
      <p:sp>
        <p:nvSpPr>
          <p:cNvPr id="3" name="TextBox 2">
            <a:extLst>
              <a:ext uri="{FF2B5EF4-FFF2-40B4-BE49-F238E27FC236}">
                <a16:creationId xmlns:a16="http://schemas.microsoft.com/office/drawing/2014/main" id="{4B4C7200-21F8-D27E-6F2D-846E0BECB911}"/>
              </a:ext>
            </a:extLst>
          </p:cNvPr>
          <p:cNvSpPr txBox="1"/>
          <p:nvPr/>
        </p:nvSpPr>
        <p:spPr>
          <a:xfrm>
            <a:off x="6230085" y="4379495"/>
            <a:ext cx="1402298" cy="1477328"/>
          </a:xfrm>
          <a:prstGeom prst="rect">
            <a:avLst/>
          </a:prstGeom>
          <a:solidFill>
            <a:schemeClr val="accent4">
              <a:lumMod val="20000"/>
              <a:lumOff val="80000"/>
            </a:schemeClr>
          </a:solidFill>
        </p:spPr>
        <p:txBody>
          <a:bodyPr wrap="square" rtlCol="0">
            <a:spAutoFit/>
          </a:bodyPr>
          <a:lstStyle/>
          <a:p>
            <a:pPr algn="ctr"/>
            <a:r>
              <a:rPr lang="en-US" dirty="0">
                <a:solidFill>
                  <a:srgbClr val="00B050"/>
                </a:solidFill>
              </a:rPr>
              <a:t>New reduction in value = noncash expense</a:t>
            </a:r>
          </a:p>
        </p:txBody>
      </p:sp>
    </p:spTree>
    <p:extLst>
      <p:ext uri="{BB962C8B-B14F-4D97-AF65-F5344CB8AC3E}">
        <p14:creationId xmlns:p14="http://schemas.microsoft.com/office/powerpoint/2010/main" val="2049951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1BD26-048D-9E99-619A-36B1A16B43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3A61D9-102D-4A6F-3AF1-75BF414A192F}"/>
              </a:ext>
            </a:extLst>
          </p:cNvPr>
          <p:cNvSpPr>
            <a:spLocks noGrp="1"/>
          </p:cNvSpPr>
          <p:nvPr>
            <p:ph type="title"/>
          </p:nvPr>
        </p:nvSpPr>
        <p:spPr>
          <a:xfrm>
            <a:off x="656844" y="487044"/>
            <a:ext cx="10829544" cy="906749"/>
          </a:xfrm>
        </p:spPr>
        <p:txBody>
          <a:bodyPr>
            <a:normAutofit fontScale="90000"/>
          </a:bodyPr>
          <a:lstStyle/>
          <a:p>
            <a:r>
              <a:rPr lang="fr-FR" dirty="0"/>
              <a:t>Usage (or </a:t>
            </a:r>
            <a:r>
              <a:rPr lang="fr-FR" dirty="0" err="1"/>
              <a:t>consumption</a:t>
            </a:r>
            <a:r>
              <a:rPr lang="fr-FR" dirty="0"/>
              <a:t>) = </a:t>
            </a:r>
            <a:r>
              <a:rPr lang="fr-FR" dirty="0" err="1"/>
              <a:t>expense</a:t>
            </a:r>
            <a:r>
              <a:rPr lang="fr-FR" dirty="0"/>
              <a:t> (</a:t>
            </a:r>
            <a:r>
              <a:rPr lang="fr-FR" dirty="0" err="1"/>
              <a:t>income</a:t>
            </a:r>
            <a:r>
              <a:rPr lang="fr-FR" dirty="0"/>
              <a:t> </a:t>
            </a:r>
            <a:r>
              <a:rPr lang="fr-FR" dirty="0" err="1"/>
              <a:t>statement</a:t>
            </a:r>
            <a:r>
              <a:rPr lang="fr-FR" dirty="0"/>
              <a:t>) = </a:t>
            </a:r>
            <a:r>
              <a:rPr lang="fr-FR" dirty="0" err="1"/>
              <a:t>reduction</a:t>
            </a:r>
            <a:r>
              <a:rPr lang="fr-FR" dirty="0"/>
              <a:t> in </a:t>
            </a:r>
            <a:r>
              <a:rPr lang="fr-FR" dirty="0" err="1"/>
              <a:t>equity</a:t>
            </a:r>
            <a:r>
              <a:rPr lang="fr-FR" dirty="0"/>
              <a:t> (and </a:t>
            </a:r>
            <a:r>
              <a:rPr lang="fr-FR" dirty="0" err="1"/>
              <a:t>reduction</a:t>
            </a:r>
            <a:r>
              <a:rPr lang="fr-FR" dirty="0"/>
              <a:t> in assets at net value)</a:t>
            </a:r>
            <a:br>
              <a:rPr lang="fr-FR" dirty="0"/>
            </a:br>
            <a:r>
              <a:rPr lang="fr-FR" dirty="0"/>
              <a:t>Example: </a:t>
            </a:r>
            <a:r>
              <a:rPr lang="fr-FR" dirty="0" err="1"/>
              <a:t>depreciation</a:t>
            </a:r>
            <a:r>
              <a:rPr lang="fr-FR" dirty="0"/>
              <a:t> and </a:t>
            </a:r>
            <a:r>
              <a:rPr lang="fr-FR" dirty="0" err="1"/>
              <a:t>amortization</a:t>
            </a:r>
            <a:r>
              <a:rPr lang="fr-FR" dirty="0"/>
              <a:t> </a:t>
            </a:r>
            <a:r>
              <a:rPr lang="fr-FR" dirty="0" err="1"/>
              <a:t>expense</a:t>
            </a:r>
            <a:endParaRPr lang="fr-FR" dirty="0"/>
          </a:p>
        </p:txBody>
      </p:sp>
      <p:sp>
        <p:nvSpPr>
          <p:cNvPr id="3" name="Content Placeholder 2">
            <a:extLst>
              <a:ext uri="{FF2B5EF4-FFF2-40B4-BE49-F238E27FC236}">
                <a16:creationId xmlns:a16="http://schemas.microsoft.com/office/drawing/2014/main" id="{B27DA35B-EA3D-B332-0E9B-A4C4EBEE2CA3}"/>
              </a:ext>
            </a:extLst>
          </p:cNvPr>
          <p:cNvSpPr>
            <a:spLocks noGrp="1"/>
          </p:cNvSpPr>
          <p:nvPr>
            <p:ph idx="1"/>
          </p:nvPr>
        </p:nvSpPr>
        <p:spPr>
          <a:xfrm>
            <a:off x="681228" y="1553592"/>
            <a:ext cx="11247088" cy="4623371"/>
          </a:xfrm>
        </p:spPr>
        <p:txBody>
          <a:bodyPr>
            <a:normAutofit/>
          </a:bodyPr>
          <a:lstStyle/>
          <a:p>
            <a:r>
              <a:rPr lang="en-US" noProof="0" dirty="0"/>
              <a:t>Property, plant and equipment (P,P&amp;E) (or tangible fixed assets): New equipment acquired at RMD400,000 (acquisition cost) on January 1</a:t>
            </a:r>
            <a:r>
              <a:rPr lang="en-US" baseline="30000" noProof="0" dirty="0"/>
              <a:t>st</a:t>
            </a:r>
            <a:r>
              <a:rPr lang="en-US" noProof="0" dirty="0"/>
              <a:t>, 2025</a:t>
            </a:r>
          </a:p>
          <a:p>
            <a:r>
              <a:rPr lang="en-US" noProof="0" dirty="0"/>
              <a:t>Starting date to use the equipment: January 1</a:t>
            </a:r>
            <a:r>
              <a:rPr lang="en-US" baseline="30000" noProof="0" dirty="0"/>
              <a:t>st</a:t>
            </a:r>
            <a:r>
              <a:rPr lang="en-US" noProof="0" dirty="0"/>
              <a:t>, 2025</a:t>
            </a:r>
          </a:p>
          <a:p>
            <a:r>
              <a:rPr lang="en-US" noProof="0" dirty="0"/>
              <a:t>Payment date: March 1</a:t>
            </a:r>
            <a:r>
              <a:rPr lang="en-US" baseline="30000" noProof="0" dirty="0"/>
              <a:t>st</a:t>
            </a:r>
            <a:r>
              <a:rPr lang="en-US" noProof="0" dirty="0"/>
              <a:t>, 2025</a:t>
            </a:r>
          </a:p>
          <a:p>
            <a:r>
              <a:rPr lang="en-US" noProof="0" dirty="0"/>
              <a:t>Depreciation method: straight-line method</a:t>
            </a:r>
          </a:p>
          <a:p>
            <a:r>
              <a:rPr lang="en-US" dirty="0"/>
              <a:t>Useful life: 5 years</a:t>
            </a:r>
          </a:p>
          <a:p>
            <a:r>
              <a:rPr lang="en-US" dirty="0"/>
              <a:t>Residual (or salvage) value: RMD 50,000</a:t>
            </a:r>
          </a:p>
          <a:p>
            <a:pPr marL="0" indent="0">
              <a:buNone/>
            </a:pPr>
            <a:endParaRPr lang="en-US" noProof="0" dirty="0"/>
          </a:p>
          <a:p>
            <a:pPr marL="0" indent="0">
              <a:buNone/>
            </a:pPr>
            <a:r>
              <a:rPr lang="en-US" noProof="0" dirty="0"/>
              <a:t>What is the 2025 depreciation expense? </a:t>
            </a:r>
          </a:p>
          <a:p>
            <a:pPr marL="0" indent="0">
              <a:buNone/>
            </a:pPr>
            <a:endParaRPr lang="en-US" noProof="0" dirty="0"/>
          </a:p>
        </p:txBody>
      </p:sp>
      <p:sp>
        <p:nvSpPr>
          <p:cNvPr id="4" name="Slide Number Placeholder 3">
            <a:extLst>
              <a:ext uri="{FF2B5EF4-FFF2-40B4-BE49-F238E27FC236}">
                <a16:creationId xmlns:a16="http://schemas.microsoft.com/office/drawing/2014/main" id="{E7E6DB45-B10E-1A16-C193-21A64E313ADD}"/>
              </a:ext>
            </a:extLst>
          </p:cNvPr>
          <p:cNvSpPr>
            <a:spLocks noGrp="1"/>
          </p:cNvSpPr>
          <p:nvPr>
            <p:ph type="sldNum" sz="quarter" idx="10"/>
          </p:nvPr>
        </p:nvSpPr>
        <p:spPr/>
        <p:txBody>
          <a:bodyPr/>
          <a:lstStyle/>
          <a:p>
            <a:fld id="{421B1A79-1F45-8F4F-AED5-0EE30DCF0380}" type="slidenum">
              <a:rPr lang="fr-FR" smtClean="0"/>
              <a:t>8</a:t>
            </a:fld>
            <a:endParaRPr lang="fr-FR"/>
          </a:p>
        </p:txBody>
      </p:sp>
    </p:spTree>
    <p:extLst>
      <p:ext uri="{BB962C8B-B14F-4D97-AF65-F5344CB8AC3E}">
        <p14:creationId xmlns:p14="http://schemas.microsoft.com/office/powerpoint/2010/main" val="42342567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0F87B-B62F-2C68-403A-C51ED0DAFA1F}"/>
              </a:ext>
            </a:extLst>
          </p:cNvPr>
          <p:cNvSpPr>
            <a:spLocks noGrp="1"/>
          </p:cNvSpPr>
          <p:nvPr>
            <p:ph type="title"/>
          </p:nvPr>
        </p:nvSpPr>
        <p:spPr>
          <a:xfrm>
            <a:off x="656844" y="487044"/>
            <a:ext cx="10829544" cy="906749"/>
          </a:xfrm>
        </p:spPr>
        <p:txBody>
          <a:bodyPr>
            <a:normAutofit fontScale="90000"/>
          </a:bodyPr>
          <a:lstStyle/>
          <a:p>
            <a:r>
              <a:rPr lang="fr-FR" dirty="0"/>
              <a:t>Usage (or </a:t>
            </a:r>
            <a:r>
              <a:rPr lang="fr-FR" dirty="0" err="1"/>
              <a:t>consumption</a:t>
            </a:r>
            <a:r>
              <a:rPr lang="fr-FR" dirty="0"/>
              <a:t>) = </a:t>
            </a:r>
            <a:r>
              <a:rPr lang="fr-FR" dirty="0" err="1"/>
              <a:t>expense</a:t>
            </a:r>
            <a:r>
              <a:rPr lang="fr-FR" dirty="0"/>
              <a:t> (</a:t>
            </a:r>
            <a:r>
              <a:rPr lang="fr-FR" dirty="0" err="1"/>
              <a:t>income</a:t>
            </a:r>
            <a:r>
              <a:rPr lang="fr-FR" dirty="0"/>
              <a:t> </a:t>
            </a:r>
            <a:r>
              <a:rPr lang="fr-FR" dirty="0" err="1"/>
              <a:t>statement</a:t>
            </a:r>
            <a:r>
              <a:rPr lang="fr-FR" dirty="0"/>
              <a:t>) = </a:t>
            </a:r>
            <a:r>
              <a:rPr lang="fr-FR" dirty="0" err="1"/>
              <a:t>reduction</a:t>
            </a:r>
            <a:r>
              <a:rPr lang="fr-FR" dirty="0"/>
              <a:t> in </a:t>
            </a:r>
            <a:r>
              <a:rPr lang="fr-FR" dirty="0" err="1"/>
              <a:t>equity</a:t>
            </a:r>
            <a:r>
              <a:rPr lang="fr-FR" dirty="0"/>
              <a:t> (and </a:t>
            </a:r>
            <a:r>
              <a:rPr lang="fr-FR" dirty="0" err="1"/>
              <a:t>reduction</a:t>
            </a:r>
            <a:r>
              <a:rPr lang="fr-FR" dirty="0"/>
              <a:t> in assets at net value)</a:t>
            </a:r>
            <a:br>
              <a:rPr lang="fr-FR" dirty="0"/>
            </a:br>
            <a:r>
              <a:rPr lang="fr-FR" dirty="0"/>
              <a:t>Example: </a:t>
            </a:r>
            <a:r>
              <a:rPr lang="fr-FR" dirty="0" err="1"/>
              <a:t>depreciation</a:t>
            </a:r>
            <a:r>
              <a:rPr lang="fr-FR" dirty="0"/>
              <a:t> and </a:t>
            </a:r>
            <a:r>
              <a:rPr lang="fr-FR" dirty="0" err="1"/>
              <a:t>amortization</a:t>
            </a:r>
            <a:r>
              <a:rPr lang="fr-FR" dirty="0"/>
              <a:t> </a:t>
            </a:r>
            <a:r>
              <a:rPr lang="fr-FR" dirty="0" err="1"/>
              <a:t>expense</a:t>
            </a:r>
            <a:endParaRPr lang="fr-FR"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D16C9AD-B13B-A4C2-1549-6B45EA3D44C2}"/>
                  </a:ext>
                </a:extLst>
              </p:cNvPr>
              <p:cNvSpPr>
                <a:spLocks noGrp="1"/>
              </p:cNvSpPr>
              <p:nvPr>
                <p:ph idx="1"/>
              </p:nvPr>
            </p:nvSpPr>
            <p:spPr>
              <a:xfrm>
                <a:off x="681228" y="1553592"/>
                <a:ext cx="10829544" cy="4623371"/>
              </a:xfrm>
            </p:spPr>
            <p:txBody>
              <a:bodyPr>
                <a:normAutofit fontScale="85000" lnSpcReduction="10000"/>
              </a:bodyPr>
              <a:lstStyle/>
              <a:p>
                <a:r>
                  <a:rPr lang="en-US" noProof="0" dirty="0"/>
                  <a:t>Property, plant and equipment (P,P&amp;E) (or tangible fixed assets): New equipment acquired at RMD400,000 (acquisition cost)</a:t>
                </a:r>
              </a:p>
              <a:p>
                <a:r>
                  <a:rPr lang="en-US" noProof="0" dirty="0"/>
                  <a:t>Starting date to use the equipment: January 1</a:t>
                </a:r>
                <a:r>
                  <a:rPr lang="en-US" baseline="30000" noProof="0" dirty="0"/>
                  <a:t>st</a:t>
                </a:r>
                <a:r>
                  <a:rPr lang="en-US" noProof="0" dirty="0"/>
                  <a:t>, 2025</a:t>
                </a:r>
              </a:p>
              <a:p>
                <a:r>
                  <a:rPr lang="en-US" noProof="0" dirty="0"/>
                  <a:t>Payment date: March </a:t>
                </a:r>
                <a:r>
                  <a:rPr lang="en-US" dirty="0"/>
                  <a:t>31</a:t>
                </a:r>
                <a:r>
                  <a:rPr lang="en-US" noProof="0" dirty="0"/>
                  <a:t>, 2025</a:t>
                </a:r>
              </a:p>
              <a:p>
                <a:r>
                  <a:rPr lang="en-US" noProof="0" dirty="0"/>
                  <a:t>Depreciation method: straight-line method</a:t>
                </a:r>
              </a:p>
              <a:p>
                <a:r>
                  <a:rPr lang="en-US" dirty="0"/>
                  <a:t>Useful life: 5 years</a:t>
                </a:r>
              </a:p>
              <a:p>
                <a:r>
                  <a:rPr lang="en-US" dirty="0"/>
                  <a:t>Residual (or salvage) value: RMD 50,000</a:t>
                </a:r>
              </a:p>
              <a:p>
                <a:pPr marL="0" indent="0">
                  <a:buNone/>
                </a:pPr>
                <a:endParaRPr lang="en-US" noProof="0" dirty="0"/>
              </a:p>
              <a:p>
                <a:pPr marL="0" indent="0">
                  <a:buNone/>
                </a:pPr>
                <a:r>
                  <a:rPr lang="en-US" noProof="0" dirty="0"/>
                  <a:t>What is the 2025 depreciation expense? Depreciation from January 1</a:t>
                </a:r>
                <a:r>
                  <a:rPr lang="en-US" baseline="30000" noProof="0" dirty="0"/>
                  <a:t>st</a:t>
                </a:r>
                <a:r>
                  <a:rPr lang="en-US" noProof="0" dirty="0"/>
                  <a:t> to December 31</a:t>
                </a:r>
              </a:p>
              <a:p>
                <a:pPr marL="0" indent="0">
                  <a:buNone/>
                </a:pPr>
                <a14:m>
                  <m:oMathPara xmlns:m="http://schemas.openxmlformats.org/officeDocument/2006/math">
                    <m:oMathParaPr>
                      <m:jc m:val="centerGroup"/>
                    </m:oMathParaPr>
                    <m:oMath xmlns:m="http://schemas.openxmlformats.org/officeDocument/2006/math">
                      <m:d>
                        <m:dPr>
                          <m:ctrlPr>
                            <a:rPr lang="fr-FR" b="0" i="1" smtClean="0">
                              <a:latin typeface="Cambria Math" panose="02040503050406030204" pitchFamily="18" charset="0"/>
                            </a:rPr>
                          </m:ctrlPr>
                        </m:dPr>
                        <m:e>
                          <m:r>
                            <m:rPr>
                              <m:sty m:val="p"/>
                            </m:rPr>
                            <a:rPr lang="fr-FR" b="0" i="0" smtClean="0">
                              <a:latin typeface="Cambria Math" panose="02040503050406030204" pitchFamily="18" charset="0"/>
                            </a:rPr>
                            <m:t>full</m:t>
                          </m:r>
                          <m:r>
                            <a:rPr lang="fr-FR" b="0" i="0" smtClean="0">
                              <a:latin typeface="Cambria Math" panose="02040503050406030204" pitchFamily="18" charset="0"/>
                            </a:rPr>
                            <m:t> </m:t>
                          </m:r>
                          <m:r>
                            <m:rPr>
                              <m:sty m:val="p"/>
                            </m:rPr>
                            <a:rPr lang="fr-FR" b="0" i="0" smtClean="0">
                              <a:latin typeface="Cambria Math" panose="02040503050406030204" pitchFamily="18" charset="0"/>
                            </a:rPr>
                            <m:t>year</m:t>
                          </m:r>
                        </m:e>
                      </m:d>
                      <m:r>
                        <a:rPr lang="fr-FR" b="0" i="0" smtClean="0">
                          <a:latin typeface="Cambria Math" panose="02040503050406030204" pitchFamily="18" charset="0"/>
                        </a:rPr>
                        <m:t> </m:t>
                      </m:r>
                      <m:r>
                        <m:rPr>
                          <m:sty m:val="p"/>
                        </m:rPr>
                        <a:rPr lang="fr-FR" b="0" i="0" smtClean="0">
                          <a:latin typeface="Cambria Math" panose="02040503050406030204" pitchFamily="18" charset="0"/>
                        </a:rPr>
                        <m:t>Depreciation</m:t>
                      </m:r>
                      <m:r>
                        <a:rPr lang="fr-FR" b="0" i="0" smtClean="0">
                          <a:latin typeface="Cambria Math" panose="02040503050406030204" pitchFamily="18" charset="0"/>
                        </a:rPr>
                        <m:t> </m:t>
                      </m:r>
                      <m:r>
                        <m:rPr>
                          <m:sty m:val="p"/>
                        </m:rPr>
                        <a:rPr lang="fr-FR" b="0" i="0" smtClean="0">
                          <a:latin typeface="Cambria Math" panose="02040503050406030204" pitchFamily="18" charset="0"/>
                        </a:rPr>
                        <m:t>expense</m:t>
                      </m:r>
                      <m:r>
                        <a:rPr lang="fr-FR" b="0" i="0" smtClean="0">
                          <a:latin typeface="Cambria Math" panose="02040503050406030204" pitchFamily="18" charset="0"/>
                        </a:rPr>
                        <m:t>= </m:t>
                      </m:r>
                      <m:f>
                        <m:fPr>
                          <m:ctrlPr>
                            <a:rPr lang="fr-FR" b="0" i="1" smtClean="0">
                              <a:latin typeface="Cambria Math" panose="02040503050406030204" pitchFamily="18" charset="0"/>
                            </a:rPr>
                          </m:ctrlPr>
                        </m:fPr>
                        <m:num>
                          <m:r>
                            <a:rPr lang="fr-FR" b="0" i="0" smtClean="0">
                              <a:latin typeface="Cambria Math" panose="02040503050406030204" pitchFamily="18" charset="0"/>
                            </a:rPr>
                            <m:t>400,000 −50,000</m:t>
                          </m:r>
                        </m:num>
                        <m:den>
                          <m:r>
                            <a:rPr lang="fr-FR" b="0" i="0" smtClean="0">
                              <a:latin typeface="Cambria Math" panose="02040503050406030204" pitchFamily="18" charset="0"/>
                            </a:rPr>
                            <m:t>5</m:t>
                          </m:r>
                        </m:den>
                      </m:f>
                      <m:r>
                        <a:rPr lang="fr-FR" b="0" i="0" smtClean="0">
                          <a:latin typeface="Cambria Math" panose="02040503050406030204" pitchFamily="18" charset="0"/>
                        </a:rPr>
                        <m:t>=</m:t>
                      </m:r>
                      <m:r>
                        <m:rPr>
                          <m:sty m:val="p"/>
                        </m:rPr>
                        <a:rPr lang="fr-FR" b="0" i="0" smtClean="0">
                          <a:latin typeface="Cambria Math" panose="02040503050406030204" pitchFamily="18" charset="0"/>
                        </a:rPr>
                        <m:t>RMD</m:t>
                      </m:r>
                      <m:r>
                        <a:rPr lang="fr-FR" b="0" i="0" smtClean="0">
                          <a:latin typeface="Cambria Math" panose="02040503050406030204" pitchFamily="18" charset="0"/>
                        </a:rPr>
                        <m:t>70,000</m:t>
                      </m:r>
                    </m:oMath>
                  </m:oMathPara>
                </a14:m>
                <a:endParaRPr lang="fr-FR" dirty="0"/>
              </a:p>
              <a:p>
                <a:pPr marL="0" indent="0">
                  <a:buNone/>
                </a:pPr>
                <a14:m>
                  <m:oMathPara xmlns:m="http://schemas.openxmlformats.org/officeDocument/2006/math">
                    <m:oMathParaPr>
                      <m:jc m:val="centerGroup"/>
                    </m:oMathParaPr>
                    <m:oMath xmlns:m="http://schemas.openxmlformats.org/officeDocument/2006/math">
                      <m:r>
                        <m:rPr>
                          <m:sty m:val="p"/>
                        </m:rPr>
                        <a:rPr lang="fr-FR" b="0" i="0" smtClean="0">
                          <a:latin typeface="Cambria Math" panose="02040503050406030204" pitchFamily="18" charset="0"/>
                        </a:rPr>
                        <m:t>Depreciation</m:t>
                      </m:r>
                      <m:r>
                        <a:rPr lang="fr-FR" b="0" i="0" smtClean="0">
                          <a:latin typeface="Cambria Math" panose="02040503050406030204" pitchFamily="18" charset="0"/>
                        </a:rPr>
                        <m:t> </m:t>
                      </m:r>
                      <m:r>
                        <m:rPr>
                          <m:sty m:val="p"/>
                        </m:rPr>
                        <a:rPr lang="fr-FR" b="0" i="0" smtClean="0">
                          <a:latin typeface="Cambria Math" panose="02040503050406030204" pitchFamily="18" charset="0"/>
                        </a:rPr>
                        <m:t>expense</m:t>
                      </m:r>
                      <m:r>
                        <a:rPr lang="fr-FR" b="0" i="0" smtClean="0">
                          <a:latin typeface="Cambria Math" panose="02040503050406030204" pitchFamily="18" charset="0"/>
                        </a:rPr>
                        <m:t>=</m:t>
                      </m:r>
                      <m:r>
                        <m:rPr>
                          <m:sty m:val="p"/>
                        </m:rPr>
                        <a:rPr lang="fr-FR" b="0" i="0" smtClean="0">
                          <a:latin typeface="Cambria Math" panose="02040503050406030204" pitchFamily="18" charset="0"/>
                        </a:rPr>
                        <m:t>depreciable</m:t>
                      </m:r>
                      <m:r>
                        <a:rPr lang="fr-FR" b="0" i="0" smtClean="0">
                          <a:latin typeface="Cambria Math" panose="02040503050406030204" pitchFamily="18" charset="0"/>
                        </a:rPr>
                        <m:t> </m:t>
                      </m:r>
                      <m:r>
                        <m:rPr>
                          <m:sty m:val="p"/>
                        </m:rPr>
                        <a:rPr lang="fr-FR" b="0" i="0" smtClean="0">
                          <a:latin typeface="Cambria Math" panose="02040503050406030204" pitchFamily="18" charset="0"/>
                        </a:rPr>
                        <m:t>amount</m:t>
                      </m:r>
                      <m:r>
                        <a:rPr lang="fr-FR" b="0" i="0" smtClean="0">
                          <a:latin typeface="Cambria Math" panose="02040503050406030204" pitchFamily="18" charset="0"/>
                        </a:rPr>
                        <m:t> </m:t>
                      </m:r>
                      <m:r>
                        <m:rPr>
                          <m:sty m:val="p"/>
                        </m:rPr>
                        <a:rPr lang="fr-FR" b="0" i="0" smtClean="0">
                          <a:latin typeface="Cambria Math" panose="02040503050406030204" pitchFamily="18" charset="0"/>
                        </a:rPr>
                        <m:t>x</m:t>
                      </m:r>
                      <m:r>
                        <a:rPr lang="fr-FR" b="0" i="0" smtClean="0">
                          <a:latin typeface="Cambria Math" panose="02040503050406030204" pitchFamily="18" charset="0"/>
                        </a:rPr>
                        <m:t> </m:t>
                      </m:r>
                      <m:r>
                        <m:rPr>
                          <m:sty m:val="p"/>
                        </m:rPr>
                        <a:rPr lang="fr-FR" b="0" i="0" smtClean="0">
                          <a:latin typeface="Cambria Math" panose="02040503050406030204" pitchFamily="18" charset="0"/>
                        </a:rPr>
                        <m:t>depreciation</m:t>
                      </m:r>
                      <m:r>
                        <a:rPr lang="fr-FR" b="0" i="0" smtClean="0">
                          <a:latin typeface="Cambria Math" panose="02040503050406030204" pitchFamily="18" charset="0"/>
                        </a:rPr>
                        <m:t> </m:t>
                      </m:r>
                      <m:r>
                        <m:rPr>
                          <m:sty m:val="p"/>
                        </m:rPr>
                        <a:rPr lang="fr-FR" b="0" i="0" smtClean="0">
                          <a:latin typeface="Cambria Math" panose="02040503050406030204" pitchFamily="18" charset="0"/>
                        </a:rPr>
                        <m:t>rate</m:t>
                      </m:r>
                      <m:r>
                        <a:rPr lang="fr-FR" b="0" i="0" smtClean="0">
                          <a:latin typeface="Cambria Math" panose="02040503050406030204" pitchFamily="18" charset="0"/>
                        </a:rPr>
                        <m:t>=</m:t>
                      </m:r>
                      <m:d>
                        <m:dPr>
                          <m:ctrlPr>
                            <a:rPr lang="fr-FR" b="0" i="1" smtClean="0">
                              <a:latin typeface="Cambria Math" panose="02040503050406030204" pitchFamily="18" charset="0"/>
                            </a:rPr>
                          </m:ctrlPr>
                        </m:dPr>
                        <m:e>
                          <m:r>
                            <a:rPr lang="fr-FR" b="0" i="0" smtClean="0">
                              <a:latin typeface="Cambria Math" panose="02040503050406030204" pitchFamily="18" charset="0"/>
                            </a:rPr>
                            <m:t>400,000 −50,000</m:t>
                          </m:r>
                        </m:e>
                      </m:d>
                      <m:r>
                        <a:rPr lang="fr-FR" b="0" i="0" smtClean="0">
                          <a:latin typeface="Cambria Math" panose="02040503050406030204" pitchFamily="18" charset="0"/>
                        </a:rPr>
                        <m:t> </m:t>
                      </m:r>
                      <m:r>
                        <m:rPr>
                          <m:sty m:val="p"/>
                        </m:rPr>
                        <a:rPr lang="fr-FR" b="0" i="0" smtClean="0">
                          <a:latin typeface="Cambria Math" panose="02040503050406030204" pitchFamily="18" charset="0"/>
                        </a:rPr>
                        <m:t>x</m:t>
                      </m:r>
                      <m:r>
                        <a:rPr lang="fr-FR" b="0" i="0" smtClean="0">
                          <a:latin typeface="Cambria Math" panose="02040503050406030204" pitchFamily="18" charset="0"/>
                        </a:rPr>
                        <m:t> </m:t>
                      </m:r>
                      <m:f>
                        <m:fPr>
                          <m:ctrlPr>
                            <a:rPr lang="fr-FR" b="0" i="1" smtClean="0">
                              <a:latin typeface="Cambria Math" panose="02040503050406030204" pitchFamily="18" charset="0"/>
                            </a:rPr>
                          </m:ctrlPr>
                        </m:fPr>
                        <m:num>
                          <m:r>
                            <a:rPr lang="fr-FR" b="0" i="0" smtClean="0">
                              <a:latin typeface="Cambria Math" panose="02040503050406030204" pitchFamily="18" charset="0"/>
                            </a:rPr>
                            <m:t>1</m:t>
                          </m:r>
                        </m:num>
                        <m:den>
                          <m:r>
                            <a:rPr lang="fr-FR" b="0" i="0" smtClean="0">
                              <a:latin typeface="Cambria Math" panose="02040503050406030204" pitchFamily="18" charset="0"/>
                            </a:rPr>
                            <m:t>5</m:t>
                          </m:r>
                        </m:den>
                      </m:f>
                      <m:r>
                        <a:rPr lang="fr-FR" b="0" i="0" smtClean="0">
                          <a:latin typeface="Cambria Math" panose="02040503050406030204" pitchFamily="18" charset="0"/>
                        </a:rPr>
                        <m:t>=350,000 </m:t>
                      </m:r>
                      <m:r>
                        <m:rPr>
                          <m:sty m:val="p"/>
                        </m:rPr>
                        <a:rPr lang="fr-FR" b="0" i="0" smtClean="0">
                          <a:latin typeface="Cambria Math" panose="02040503050406030204" pitchFamily="18" charset="0"/>
                        </a:rPr>
                        <m:t>x</m:t>
                      </m:r>
                      <m:r>
                        <a:rPr lang="fr-FR" b="0" i="0" smtClean="0">
                          <a:latin typeface="Cambria Math" panose="02040503050406030204" pitchFamily="18" charset="0"/>
                        </a:rPr>
                        <m:t> 20%=</m:t>
                      </m:r>
                      <m:r>
                        <m:rPr>
                          <m:sty m:val="p"/>
                        </m:rPr>
                        <a:rPr lang="fr-FR" b="0" i="0" smtClean="0">
                          <a:latin typeface="Cambria Math" panose="02040503050406030204" pitchFamily="18" charset="0"/>
                        </a:rPr>
                        <m:t>RMD</m:t>
                      </m:r>
                      <m:r>
                        <a:rPr lang="fr-FR" b="0" i="0" smtClean="0">
                          <a:latin typeface="Cambria Math" panose="02040503050406030204" pitchFamily="18" charset="0"/>
                        </a:rPr>
                        <m:t>70,000</m:t>
                      </m:r>
                    </m:oMath>
                  </m:oMathPara>
                </a14:m>
                <a:endParaRPr lang="fr-FR" dirty="0"/>
              </a:p>
              <a:p>
                <a:pPr marL="0" indent="0">
                  <a:buNone/>
                </a:pPr>
                <a:endParaRPr lang="en-US" noProof="0" dirty="0"/>
              </a:p>
            </p:txBody>
          </p:sp>
        </mc:Choice>
        <mc:Fallback xmlns="">
          <p:sp>
            <p:nvSpPr>
              <p:cNvPr id="3" name="Content Placeholder 2">
                <a:extLst>
                  <a:ext uri="{FF2B5EF4-FFF2-40B4-BE49-F238E27FC236}">
                    <a16:creationId xmlns:a16="http://schemas.microsoft.com/office/drawing/2014/main" id="{5D16C9AD-B13B-A4C2-1549-6B45EA3D44C2}"/>
                  </a:ext>
                </a:extLst>
              </p:cNvPr>
              <p:cNvSpPr>
                <a:spLocks noGrp="1" noRot="1" noChangeAspect="1" noMove="1" noResize="1" noEditPoints="1" noAdjustHandles="1" noChangeArrowheads="1" noChangeShapeType="1" noTextEdit="1"/>
              </p:cNvSpPr>
              <p:nvPr>
                <p:ph idx="1"/>
              </p:nvPr>
            </p:nvSpPr>
            <p:spPr>
              <a:xfrm>
                <a:off x="681228" y="1553592"/>
                <a:ext cx="10829544" cy="4623371"/>
              </a:xfrm>
              <a:blipFill>
                <a:blip r:embed="rId2"/>
                <a:stretch>
                  <a:fillRect l="-619" t="-197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7A7BFAE-F601-440F-D4C3-7C4026E4040F}"/>
              </a:ext>
            </a:extLst>
          </p:cNvPr>
          <p:cNvSpPr>
            <a:spLocks noGrp="1"/>
          </p:cNvSpPr>
          <p:nvPr>
            <p:ph type="sldNum" sz="quarter" idx="10"/>
          </p:nvPr>
        </p:nvSpPr>
        <p:spPr/>
        <p:txBody>
          <a:bodyPr/>
          <a:lstStyle/>
          <a:p>
            <a:fld id="{421B1A79-1F45-8F4F-AED5-0EE30DCF0380}" type="slidenum">
              <a:rPr lang="fr-FR" smtClean="0"/>
              <a:t>9</a:t>
            </a:fld>
            <a:endParaRPr lang="fr-FR"/>
          </a:p>
        </p:txBody>
      </p:sp>
    </p:spTree>
    <p:extLst>
      <p:ext uri="{BB962C8B-B14F-4D97-AF65-F5344CB8AC3E}">
        <p14:creationId xmlns:p14="http://schemas.microsoft.com/office/powerpoint/2010/main" val="3334667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extLst>
              <p:ext uri="{D42A27DB-BD31-4B8C-83A1-F6EECF244321}">
                <p14:modId xmlns:p14="http://schemas.microsoft.com/office/powerpoint/2010/main" val="4035368765"/>
              </p:ext>
            </p:extLst>
          </p:nvPr>
        </p:nvGraphicFramePr>
        <p:xfrm>
          <a:off x="475274" y="1833151"/>
          <a:ext cx="11284968" cy="4629077"/>
        </p:xfrm>
        <a:graphic>
          <a:graphicData uri="http://schemas.openxmlformats.org/drawingml/2006/table">
            <a:tbl>
              <a:tblPr firstRow="1" bandRow="1">
                <a:tableStyleId>{5C22544A-7EE6-4342-B048-85BDC9FD1C3A}</a:tableStyleId>
              </a:tblPr>
              <a:tblGrid>
                <a:gridCol w="1880828">
                  <a:extLst>
                    <a:ext uri="{9D8B030D-6E8A-4147-A177-3AD203B41FA5}">
                      <a16:colId xmlns:a16="http://schemas.microsoft.com/office/drawing/2014/main" val="4145778810"/>
                    </a:ext>
                  </a:extLst>
                </a:gridCol>
                <a:gridCol w="1880828">
                  <a:extLst>
                    <a:ext uri="{9D8B030D-6E8A-4147-A177-3AD203B41FA5}">
                      <a16:colId xmlns:a16="http://schemas.microsoft.com/office/drawing/2014/main" val="186388427"/>
                    </a:ext>
                  </a:extLst>
                </a:gridCol>
                <a:gridCol w="1880828">
                  <a:extLst>
                    <a:ext uri="{9D8B030D-6E8A-4147-A177-3AD203B41FA5}">
                      <a16:colId xmlns:a16="http://schemas.microsoft.com/office/drawing/2014/main" val="2779868177"/>
                    </a:ext>
                  </a:extLst>
                </a:gridCol>
                <a:gridCol w="1880828">
                  <a:extLst>
                    <a:ext uri="{9D8B030D-6E8A-4147-A177-3AD203B41FA5}">
                      <a16:colId xmlns:a16="http://schemas.microsoft.com/office/drawing/2014/main" val="2727681345"/>
                    </a:ext>
                  </a:extLst>
                </a:gridCol>
                <a:gridCol w="1880828">
                  <a:extLst>
                    <a:ext uri="{9D8B030D-6E8A-4147-A177-3AD203B41FA5}">
                      <a16:colId xmlns:a16="http://schemas.microsoft.com/office/drawing/2014/main" val="3898538417"/>
                    </a:ext>
                  </a:extLst>
                </a:gridCol>
                <a:gridCol w="1880828">
                  <a:extLst>
                    <a:ext uri="{9D8B030D-6E8A-4147-A177-3AD203B41FA5}">
                      <a16:colId xmlns:a16="http://schemas.microsoft.com/office/drawing/2014/main" val="3090142748"/>
                    </a:ext>
                  </a:extLst>
                </a:gridCol>
              </a:tblGrid>
              <a:tr h="749728">
                <a:tc>
                  <a:txBody>
                    <a:bodyPr/>
                    <a:lstStyle/>
                    <a:p>
                      <a:r>
                        <a:rPr lang="fr-FR" sz="2200" dirty="0"/>
                        <a:t>Change in:</a:t>
                      </a:r>
                    </a:p>
                  </a:txBody>
                  <a:tcPr marL="64262" marR="64262" marT="32131" marB="32131"/>
                </a:tc>
                <a:tc>
                  <a:txBody>
                    <a:bodyPr/>
                    <a:lstStyle/>
                    <a:p>
                      <a:pPr algn="ctr"/>
                      <a:r>
                        <a:rPr lang="fr-FR" sz="2200" dirty="0" err="1"/>
                        <a:t>Current</a:t>
                      </a:r>
                      <a:r>
                        <a:rPr lang="fr-FR" sz="2200" dirty="0"/>
                        <a:t> </a:t>
                      </a:r>
                      <a:r>
                        <a:rPr lang="fr-FR" sz="2200" dirty="0" err="1"/>
                        <a:t>assets</a:t>
                      </a:r>
                      <a:endParaRPr lang="fr-FR" sz="2200" dirty="0"/>
                    </a:p>
                  </a:txBody>
                  <a:tcPr marL="64262" marR="64262" marT="32131" marB="32131" anchor="ctr"/>
                </a:tc>
                <a:tc>
                  <a:txBody>
                    <a:bodyPr/>
                    <a:lstStyle/>
                    <a:p>
                      <a:pPr algn="ctr"/>
                      <a:r>
                        <a:rPr lang="fr-FR" sz="2200" dirty="0"/>
                        <a:t>Non-</a:t>
                      </a:r>
                      <a:r>
                        <a:rPr lang="fr-FR" sz="2200" dirty="0" err="1"/>
                        <a:t>current</a:t>
                      </a:r>
                      <a:r>
                        <a:rPr lang="fr-FR" sz="2200" dirty="0"/>
                        <a:t> </a:t>
                      </a:r>
                      <a:r>
                        <a:rPr lang="fr-FR" sz="2200" dirty="0" err="1"/>
                        <a:t>assets</a:t>
                      </a:r>
                      <a:endParaRPr lang="fr-FR" sz="2200" dirty="0"/>
                    </a:p>
                  </a:txBody>
                  <a:tcPr marL="64262" marR="64262" marT="32131" marB="32131" anchor="ctr"/>
                </a:tc>
                <a:tc>
                  <a:txBody>
                    <a:bodyPr/>
                    <a:lstStyle/>
                    <a:p>
                      <a:pPr algn="ctr"/>
                      <a:r>
                        <a:rPr lang="fr-FR" sz="2200" dirty="0" err="1"/>
                        <a:t>Current</a:t>
                      </a:r>
                      <a:r>
                        <a:rPr lang="fr-FR" sz="2200" dirty="0"/>
                        <a:t> </a:t>
                      </a:r>
                      <a:r>
                        <a:rPr lang="fr-FR" sz="2200" dirty="0" err="1"/>
                        <a:t>liabilities</a:t>
                      </a:r>
                      <a:endParaRPr lang="fr-FR" sz="2200" dirty="0"/>
                    </a:p>
                  </a:txBody>
                  <a:tcPr marL="64262" marR="64262" marT="32131" marB="32131" anchor="ctr"/>
                </a:tc>
                <a:tc>
                  <a:txBody>
                    <a:bodyPr/>
                    <a:lstStyle/>
                    <a:p>
                      <a:pPr algn="ctr"/>
                      <a:r>
                        <a:rPr lang="fr-FR" sz="2200" dirty="0"/>
                        <a:t>Non-</a:t>
                      </a:r>
                      <a:r>
                        <a:rPr lang="fr-FR" sz="2200" dirty="0" err="1"/>
                        <a:t>current</a:t>
                      </a:r>
                      <a:r>
                        <a:rPr lang="fr-FR" sz="2200" dirty="0"/>
                        <a:t> </a:t>
                      </a:r>
                      <a:r>
                        <a:rPr lang="fr-FR" sz="2200" dirty="0" err="1"/>
                        <a:t>liabilities</a:t>
                      </a:r>
                      <a:endParaRPr lang="fr-FR" sz="2200" dirty="0"/>
                    </a:p>
                  </a:txBody>
                  <a:tcPr marL="64262" marR="64262" marT="32131" marB="32131" anchor="ctr"/>
                </a:tc>
                <a:tc>
                  <a:txBody>
                    <a:bodyPr/>
                    <a:lstStyle/>
                    <a:p>
                      <a:pPr algn="ctr"/>
                      <a:r>
                        <a:rPr lang="fr-FR" sz="2200" dirty="0" err="1"/>
                        <a:t>Equity</a:t>
                      </a:r>
                      <a:endParaRPr lang="fr-FR" sz="2200" dirty="0"/>
                    </a:p>
                  </a:txBody>
                  <a:tcPr marL="64262" marR="64262" marT="32131" marB="32131" anchor="ctr"/>
                </a:tc>
                <a:extLst>
                  <a:ext uri="{0D108BD9-81ED-4DB2-BD59-A6C34878D82A}">
                    <a16:rowId xmlns:a16="http://schemas.microsoft.com/office/drawing/2014/main" val="1917803698"/>
                  </a:ext>
                </a:extLst>
              </a:tr>
              <a:tr h="1220985">
                <a:tc>
                  <a:txBody>
                    <a:bodyPr/>
                    <a:lstStyle/>
                    <a:p>
                      <a:r>
                        <a:rPr lang="fr-FR" sz="2200" dirty="0"/>
                        <a:t>Equipment acquisition on </a:t>
                      </a:r>
                      <a:r>
                        <a:rPr lang="fr-FR" sz="2200" dirty="0" err="1"/>
                        <a:t>credit</a:t>
                      </a:r>
                      <a:r>
                        <a:rPr lang="fr-FR" sz="2200" dirty="0"/>
                        <a:t> (</a:t>
                      </a:r>
                      <a:r>
                        <a:rPr lang="fr-FR" sz="2200" dirty="0" err="1"/>
                        <a:t>January</a:t>
                      </a:r>
                      <a:r>
                        <a:rPr lang="fr-FR" sz="2200" dirty="0"/>
                        <a:t> 1st)</a:t>
                      </a:r>
                    </a:p>
                  </a:txBody>
                  <a:tcPr marL="64262" marR="64262" marT="32131" marB="32131"/>
                </a:tc>
                <a:tc>
                  <a:txBody>
                    <a:bodyPr/>
                    <a:lstStyle/>
                    <a:p>
                      <a:endParaRPr lang="fr-FR" sz="1300" dirty="0"/>
                    </a:p>
                    <a:p>
                      <a:endParaRPr lang="fr-FR" sz="1300" dirty="0"/>
                    </a:p>
                    <a:p>
                      <a:endParaRPr lang="fr-FR" sz="1300" dirty="0"/>
                    </a:p>
                    <a:p>
                      <a:endParaRPr lang="fr-FR" sz="1300" dirty="0"/>
                    </a:p>
                    <a:p>
                      <a:endParaRPr lang="fr-FR" sz="1300" dirty="0"/>
                    </a:p>
                    <a:p>
                      <a:endParaRPr lang="fr-FR" sz="1300" dirty="0"/>
                    </a:p>
                  </a:txBody>
                  <a:tcPr marL="64262" marR="64262" marT="32131" marB="32131"/>
                </a:tc>
                <a:tc>
                  <a:txBody>
                    <a:bodyPr/>
                    <a:lstStyle/>
                    <a:p>
                      <a:endParaRPr lang="fr-FR" sz="1300" dirty="0"/>
                    </a:p>
                  </a:txBody>
                  <a:tcPr marL="64262" marR="64262" marT="32131" marB="32131"/>
                </a:tc>
                <a:tc>
                  <a:txBody>
                    <a:bodyPr/>
                    <a:lstStyle/>
                    <a:p>
                      <a:endParaRPr lang="fr-FR" sz="1300" dirty="0"/>
                    </a:p>
                  </a:txBody>
                  <a:tcPr marL="64262" marR="64262" marT="32131" marB="32131"/>
                </a:tc>
                <a:tc>
                  <a:txBody>
                    <a:bodyPr/>
                    <a:lstStyle/>
                    <a:p>
                      <a:endParaRPr lang="fr-FR" sz="1300" dirty="0"/>
                    </a:p>
                  </a:txBody>
                  <a:tcPr marL="64262" marR="64262" marT="32131" marB="32131"/>
                </a:tc>
                <a:tc>
                  <a:txBody>
                    <a:bodyPr/>
                    <a:lstStyle/>
                    <a:p>
                      <a:endParaRPr lang="fr-FR" sz="1300" dirty="0"/>
                    </a:p>
                  </a:txBody>
                  <a:tcPr marL="64262" marR="64262" marT="32131" marB="32131"/>
                </a:tc>
                <a:extLst>
                  <a:ext uri="{0D108BD9-81ED-4DB2-BD59-A6C34878D82A}">
                    <a16:rowId xmlns:a16="http://schemas.microsoft.com/office/drawing/2014/main" val="822261428"/>
                  </a:ext>
                </a:extLst>
              </a:tr>
              <a:tr h="1220985">
                <a:tc>
                  <a:txBody>
                    <a:bodyPr/>
                    <a:lstStyle/>
                    <a:p>
                      <a:r>
                        <a:rPr lang="fr-FR" sz="2200" dirty="0"/>
                        <a:t>Equipment </a:t>
                      </a:r>
                      <a:r>
                        <a:rPr lang="fr-FR" sz="2200" dirty="0" err="1"/>
                        <a:t>payment</a:t>
                      </a:r>
                      <a:endParaRPr lang="fr-FR" sz="2200" dirty="0"/>
                    </a:p>
                    <a:p>
                      <a:r>
                        <a:rPr lang="fr-FR" sz="2200" dirty="0"/>
                        <a:t>(March 31)</a:t>
                      </a:r>
                    </a:p>
                  </a:txBody>
                  <a:tcPr marL="64262" marR="64262" marT="32131" marB="32131"/>
                </a:tc>
                <a:tc>
                  <a:txBody>
                    <a:bodyPr/>
                    <a:lstStyle/>
                    <a:p>
                      <a:endParaRPr lang="fr-FR" sz="1300" dirty="0"/>
                    </a:p>
                  </a:txBody>
                  <a:tcPr marL="64262" marR="64262" marT="32131" marB="32131"/>
                </a:tc>
                <a:tc>
                  <a:txBody>
                    <a:bodyPr/>
                    <a:lstStyle/>
                    <a:p>
                      <a:endParaRPr lang="fr-FR" sz="1300" dirty="0"/>
                    </a:p>
                  </a:txBody>
                  <a:tcPr marL="64262" marR="64262" marT="32131" marB="32131"/>
                </a:tc>
                <a:tc>
                  <a:txBody>
                    <a:bodyPr/>
                    <a:lstStyle/>
                    <a:p>
                      <a:endParaRPr lang="fr-FR" sz="1300" dirty="0"/>
                    </a:p>
                  </a:txBody>
                  <a:tcPr marL="64262" marR="64262" marT="32131" marB="32131"/>
                </a:tc>
                <a:tc>
                  <a:txBody>
                    <a:bodyPr/>
                    <a:lstStyle/>
                    <a:p>
                      <a:endParaRPr lang="fr-FR" sz="1300" dirty="0"/>
                    </a:p>
                  </a:txBody>
                  <a:tcPr marL="64262" marR="64262" marT="32131" marB="32131"/>
                </a:tc>
                <a:tc>
                  <a:txBody>
                    <a:bodyPr/>
                    <a:lstStyle/>
                    <a:p>
                      <a:endParaRPr lang="fr-FR" sz="1300" dirty="0"/>
                    </a:p>
                  </a:txBody>
                  <a:tcPr marL="64262" marR="64262" marT="32131" marB="32131"/>
                </a:tc>
                <a:extLst>
                  <a:ext uri="{0D108BD9-81ED-4DB2-BD59-A6C34878D82A}">
                    <a16:rowId xmlns:a16="http://schemas.microsoft.com/office/drawing/2014/main" val="570082183"/>
                  </a:ext>
                </a:extLst>
              </a:tr>
              <a:tr h="1220985">
                <a:tc>
                  <a:txBody>
                    <a:bodyPr/>
                    <a:lstStyle/>
                    <a:p>
                      <a:r>
                        <a:rPr lang="fr-FR" sz="2200" dirty="0" err="1"/>
                        <a:t>Decembre</a:t>
                      </a:r>
                      <a:r>
                        <a:rPr lang="fr-FR" sz="2200" dirty="0"/>
                        <a:t> 31</a:t>
                      </a:r>
                    </a:p>
                    <a:p>
                      <a:r>
                        <a:rPr lang="fr-FR" sz="2200" dirty="0"/>
                        <a:t>(</a:t>
                      </a:r>
                      <a:r>
                        <a:rPr lang="fr-FR" sz="2200" dirty="0" err="1"/>
                        <a:t>cut</a:t>
                      </a:r>
                      <a:r>
                        <a:rPr lang="fr-FR" sz="2200" dirty="0"/>
                        <a:t> off)</a:t>
                      </a:r>
                    </a:p>
                  </a:txBody>
                  <a:tcPr marL="64262" marR="64262" marT="32131" marB="32131"/>
                </a:tc>
                <a:tc>
                  <a:txBody>
                    <a:bodyPr/>
                    <a:lstStyle/>
                    <a:p>
                      <a:endParaRPr lang="fr-FR" sz="1300" dirty="0"/>
                    </a:p>
                    <a:p>
                      <a:endParaRPr lang="fr-FR" sz="1300" dirty="0"/>
                    </a:p>
                    <a:p>
                      <a:endParaRPr lang="fr-FR" sz="1300" dirty="0"/>
                    </a:p>
                    <a:p>
                      <a:endParaRPr lang="fr-FR" sz="1300" dirty="0"/>
                    </a:p>
                    <a:p>
                      <a:endParaRPr lang="fr-FR" sz="1300" dirty="0"/>
                    </a:p>
                    <a:p>
                      <a:endParaRPr lang="fr-FR" sz="1300" dirty="0"/>
                    </a:p>
                  </a:txBody>
                  <a:tcPr marL="64262" marR="64262" marT="32131" marB="32131"/>
                </a:tc>
                <a:tc>
                  <a:txBody>
                    <a:bodyPr/>
                    <a:lstStyle/>
                    <a:p>
                      <a:endParaRPr lang="fr-FR" sz="1300" dirty="0"/>
                    </a:p>
                  </a:txBody>
                  <a:tcPr marL="64262" marR="64262" marT="32131" marB="32131"/>
                </a:tc>
                <a:tc>
                  <a:txBody>
                    <a:bodyPr/>
                    <a:lstStyle/>
                    <a:p>
                      <a:endParaRPr lang="fr-FR" sz="1300" dirty="0"/>
                    </a:p>
                  </a:txBody>
                  <a:tcPr marL="64262" marR="64262" marT="32131" marB="32131"/>
                </a:tc>
                <a:tc>
                  <a:txBody>
                    <a:bodyPr/>
                    <a:lstStyle/>
                    <a:p>
                      <a:endParaRPr lang="fr-FR" sz="1300" dirty="0"/>
                    </a:p>
                  </a:txBody>
                  <a:tcPr marL="64262" marR="64262" marT="32131" marB="32131"/>
                </a:tc>
                <a:tc>
                  <a:txBody>
                    <a:bodyPr/>
                    <a:lstStyle/>
                    <a:p>
                      <a:endParaRPr lang="fr-FR" sz="1300" dirty="0"/>
                    </a:p>
                  </a:txBody>
                  <a:tcPr marL="64262" marR="64262" marT="32131" marB="32131"/>
                </a:tc>
                <a:extLst>
                  <a:ext uri="{0D108BD9-81ED-4DB2-BD59-A6C34878D82A}">
                    <a16:rowId xmlns:a16="http://schemas.microsoft.com/office/drawing/2014/main" val="3318378948"/>
                  </a:ext>
                </a:extLst>
              </a:tr>
            </a:tbl>
          </a:graphicData>
        </a:graphic>
      </p:graphicFrame>
      <p:sp>
        <p:nvSpPr>
          <p:cNvPr id="3" name="Title 2"/>
          <p:cNvSpPr>
            <a:spLocks noGrp="1"/>
          </p:cNvSpPr>
          <p:nvPr>
            <p:ph type="title"/>
          </p:nvPr>
        </p:nvSpPr>
        <p:spPr/>
        <p:txBody>
          <a:bodyPr/>
          <a:lstStyle/>
          <a:p>
            <a:r>
              <a:rPr lang="fr-FR" dirty="0"/>
              <a:t>Equipment </a:t>
            </a:r>
            <a:r>
              <a:rPr lang="fr-FR" dirty="0" err="1"/>
              <a:t>effects</a:t>
            </a:r>
            <a:r>
              <a:rPr lang="fr-FR" dirty="0"/>
              <a:t> on balance </a:t>
            </a:r>
            <a:r>
              <a:rPr lang="fr-FR" dirty="0" err="1"/>
              <a:t>sheet</a:t>
            </a:r>
            <a:endParaRPr lang="fr-FR" dirty="0"/>
          </a:p>
        </p:txBody>
      </p:sp>
      <p:sp>
        <p:nvSpPr>
          <p:cNvPr id="4" name="Subtitle 3"/>
          <p:cNvSpPr>
            <a:spLocks noGrp="1"/>
          </p:cNvSpPr>
          <p:nvPr>
            <p:ph type="subTitle" idx="13"/>
          </p:nvPr>
        </p:nvSpPr>
        <p:spPr/>
        <p:txBody>
          <a:bodyPr/>
          <a:lstStyle/>
          <a:p>
            <a:r>
              <a:rPr lang="fr-FR" dirty="0" err="1"/>
              <a:t>Closing</a:t>
            </a:r>
            <a:r>
              <a:rPr lang="fr-FR" dirty="0"/>
              <a:t> date: </a:t>
            </a:r>
            <a:r>
              <a:rPr lang="fr-FR" dirty="0" err="1"/>
              <a:t>December</a:t>
            </a:r>
            <a:r>
              <a:rPr lang="fr-FR" dirty="0"/>
              <a:t> 31</a:t>
            </a:r>
          </a:p>
        </p:txBody>
      </p:sp>
      <p:sp>
        <p:nvSpPr>
          <p:cNvPr id="5" name="Slide Number Placeholder 4"/>
          <p:cNvSpPr>
            <a:spLocks noGrp="1"/>
          </p:cNvSpPr>
          <p:nvPr>
            <p:ph type="sldNum" sz="quarter" idx="12"/>
          </p:nvPr>
        </p:nvSpPr>
        <p:spPr/>
        <p:txBody>
          <a:bodyPr/>
          <a:lstStyle/>
          <a:p>
            <a:fld id="{307C7597-8D70-4701-8085-9524B0B5C72B}" type="slidenum">
              <a:rPr lang="fr-FR" smtClean="0"/>
              <a:pPr/>
              <a:t>10</a:t>
            </a:fld>
            <a:endParaRPr lang="fr-FR" dirty="0"/>
          </a:p>
        </p:txBody>
      </p:sp>
    </p:spTree>
    <p:extLst>
      <p:ext uri="{BB962C8B-B14F-4D97-AF65-F5344CB8AC3E}">
        <p14:creationId xmlns:p14="http://schemas.microsoft.com/office/powerpoint/2010/main" val="3943531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1C218-CAE8-E6D7-791F-BBEFA01AF8DB}"/>
            </a:ext>
          </a:extLst>
        </p:cNvPr>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047C32C5-242D-6C6A-6B93-19C3C0342913}"/>
              </a:ext>
            </a:extLst>
          </p:cNvPr>
          <p:cNvGraphicFramePr>
            <a:graphicFrameLocks noGrp="1"/>
          </p:cNvGraphicFramePr>
          <p:nvPr>
            <p:ph idx="1"/>
            <p:extLst>
              <p:ext uri="{D42A27DB-BD31-4B8C-83A1-F6EECF244321}">
                <p14:modId xmlns:p14="http://schemas.microsoft.com/office/powerpoint/2010/main" val="2217612143"/>
              </p:ext>
            </p:extLst>
          </p:nvPr>
        </p:nvGraphicFramePr>
        <p:xfrm>
          <a:off x="34507" y="1414358"/>
          <a:ext cx="12111487" cy="5452037"/>
        </p:xfrm>
        <a:graphic>
          <a:graphicData uri="http://schemas.openxmlformats.org/drawingml/2006/table">
            <a:tbl>
              <a:tblPr firstRow="1" bandRow="1">
                <a:tableStyleId>{5C22544A-7EE6-4342-B048-85BDC9FD1C3A}</a:tableStyleId>
              </a:tblPr>
              <a:tblGrid>
                <a:gridCol w="2004203">
                  <a:extLst>
                    <a:ext uri="{9D8B030D-6E8A-4147-A177-3AD203B41FA5}">
                      <a16:colId xmlns:a16="http://schemas.microsoft.com/office/drawing/2014/main" val="4145778810"/>
                    </a:ext>
                  </a:extLst>
                </a:gridCol>
                <a:gridCol w="2004203">
                  <a:extLst>
                    <a:ext uri="{9D8B030D-6E8A-4147-A177-3AD203B41FA5}">
                      <a16:colId xmlns:a16="http://schemas.microsoft.com/office/drawing/2014/main" val="186388427"/>
                    </a:ext>
                  </a:extLst>
                </a:gridCol>
                <a:gridCol w="2004203">
                  <a:extLst>
                    <a:ext uri="{9D8B030D-6E8A-4147-A177-3AD203B41FA5}">
                      <a16:colId xmlns:a16="http://schemas.microsoft.com/office/drawing/2014/main" val="2779868177"/>
                    </a:ext>
                  </a:extLst>
                </a:gridCol>
                <a:gridCol w="2004203">
                  <a:extLst>
                    <a:ext uri="{9D8B030D-6E8A-4147-A177-3AD203B41FA5}">
                      <a16:colId xmlns:a16="http://schemas.microsoft.com/office/drawing/2014/main" val="2727681345"/>
                    </a:ext>
                  </a:extLst>
                </a:gridCol>
                <a:gridCol w="2004203">
                  <a:extLst>
                    <a:ext uri="{9D8B030D-6E8A-4147-A177-3AD203B41FA5}">
                      <a16:colId xmlns:a16="http://schemas.microsoft.com/office/drawing/2014/main" val="3898538417"/>
                    </a:ext>
                  </a:extLst>
                </a:gridCol>
                <a:gridCol w="2090472">
                  <a:extLst>
                    <a:ext uri="{9D8B030D-6E8A-4147-A177-3AD203B41FA5}">
                      <a16:colId xmlns:a16="http://schemas.microsoft.com/office/drawing/2014/main" val="3090142748"/>
                    </a:ext>
                  </a:extLst>
                </a:gridCol>
              </a:tblGrid>
              <a:tr h="749728">
                <a:tc>
                  <a:txBody>
                    <a:bodyPr/>
                    <a:lstStyle/>
                    <a:p>
                      <a:r>
                        <a:rPr lang="fr-FR" sz="2200" dirty="0"/>
                        <a:t>Change in:</a:t>
                      </a:r>
                    </a:p>
                  </a:txBody>
                  <a:tcPr marL="64262" marR="64262" marT="32131" marB="32131"/>
                </a:tc>
                <a:tc>
                  <a:txBody>
                    <a:bodyPr/>
                    <a:lstStyle/>
                    <a:p>
                      <a:pPr algn="ctr"/>
                      <a:r>
                        <a:rPr lang="fr-FR" sz="2200" dirty="0" err="1"/>
                        <a:t>Current</a:t>
                      </a:r>
                      <a:r>
                        <a:rPr lang="fr-FR" sz="2200" dirty="0"/>
                        <a:t> </a:t>
                      </a:r>
                      <a:r>
                        <a:rPr lang="fr-FR" sz="2200" dirty="0" err="1"/>
                        <a:t>assets</a:t>
                      </a:r>
                      <a:endParaRPr lang="fr-FR" sz="2200" dirty="0"/>
                    </a:p>
                  </a:txBody>
                  <a:tcPr marL="64262" marR="64262" marT="32131" marB="32131" anchor="ctr"/>
                </a:tc>
                <a:tc>
                  <a:txBody>
                    <a:bodyPr/>
                    <a:lstStyle/>
                    <a:p>
                      <a:pPr algn="ctr"/>
                      <a:r>
                        <a:rPr lang="fr-FR" sz="2200" dirty="0"/>
                        <a:t>Non-</a:t>
                      </a:r>
                      <a:r>
                        <a:rPr lang="fr-FR" sz="2200" dirty="0" err="1"/>
                        <a:t>current</a:t>
                      </a:r>
                      <a:r>
                        <a:rPr lang="fr-FR" sz="2200" dirty="0"/>
                        <a:t> </a:t>
                      </a:r>
                      <a:r>
                        <a:rPr lang="fr-FR" sz="2200" dirty="0" err="1"/>
                        <a:t>assets</a:t>
                      </a:r>
                      <a:endParaRPr lang="fr-FR" sz="2200" dirty="0"/>
                    </a:p>
                  </a:txBody>
                  <a:tcPr marL="64262" marR="64262" marT="32131" marB="32131" anchor="ctr"/>
                </a:tc>
                <a:tc>
                  <a:txBody>
                    <a:bodyPr/>
                    <a:lstStyle/>
                    <a:p>
                      <a:pPr algn="ctr"/>
                      <a:r>
                        <a:rPr lang="fr-FR" sz="2200" dirty="0" err="1"/>
                        <a:t>Current</a:t>
                      </a:r>
                      <a:r>
                        <a:rPr lang="fr-FR" sz="2200" dirty="0"/>
                        <a:t> </a:t>
                      </a:r>
                      <a:r>
                        <a:rPr lang="fr-FR" sz="2200" dirty="0" err="1"/>
                        <a:t>liabilities</a:t>
                      </a:r>
                      <a:endParaRPr lang="fr-FR" sz="2200" dirty="0"/>
                    </a:p>
                  </a:txBody>
                  <a:tcPr marL="64262" marR="64262" marT="32131" marB="32131" anchor="ctr"/>
                </a:tc>
                <a:tc>
                  <a:txBody>
                    <a:bodyPr/>
                    <a:lstStyle/>
                    <a:p>
                      <a:pPr algn="ctr"/>
                      <a:r>
                        <a:rPr lang="fr-FR" sz="2200" dirty="0"/>
                        <a:t>Non-</a:t>
                      </a:r>
                      <a:r>
                        <a:rPr lang="fr-FR" sz="2200" dirty="0" err="1"/>
                        <a:t>current</a:t>
                      </a:r>
                      <a:r>
                        <a:rPr lang="fr-FR" sz="2200" dirty="0"/>
                        <a:t> </a:t>
                      </a:r>
                      <a:r>
                        <a:rPr lang="fr-FR" sz="2200" dirty="0" err="1"/>
                        <a:t>liabilities</a:t>
                      </a:r>
                      <a:endParaRPr lang="fr-FR" sz="2200" dirty="0"/>
                    </a:p>
                  </a:txBody>
                  <a:tcPr marL="64262" marR="64262" marT="32131" marB="32131" anchor="ctr"/>
                </a:tc>
                <a:tc>
                  <a:txBody>
                    <a:bodyPr/>
                    <a:lstStyle/>
                    <a:p>
                      <a:pPr algn="ctr"/>
                      <a:r>
                        <a:rPr lang="fr-FR" sz="2200" dirty="0" err="1"/>
                        <a:t>Equity</a:t>
                      </a:r>
                      <a:endParaRPr lang="fr-FR" sz="2200" dirty="0"/>
                    </a:p>
                  </a:txBody>
                  <a:tcPr marL="64262" marR="64262" marT="32131" marB="32131" anchor="ctr"/>
                </a:tc>
                <a:extLst>
                  <a:ext uri="{0D108BD9-81ED-4DB2-BD59-A6C34878D82A}">
                    <a16:rowId xmlns:a16="http://schemas.microsoft.com/office/drawing/2014/main" val="1917803698"/>
                  </a:ext>
                </a:extLst>
              </a:tr>
              <a:tr h="607953">
                <a:tc>
                  <a:txBody>
                    <a:bodyPr/>
                    <a:lstStyle/>
                    <a:p>
                      <a:r>
                        <a:rPr lang="fr-FR" sz="2200" dirty="0"/>
                        <a:t>Equipment acquisition on </a:t>
                      </a:r>
                      <a:r>
                        <a:rPr lang="fr-FR" sz="2200" dirty="0" err="1"/>
                        <a:t>credit</a:t>
                      </a:r>
                      <a:r>
                        <a:rPr lang="fr-FR" sz="2200" dirty="0"/>
                        <a:t> (</a:t>
                      </a:r>
                      <a:r>
                        <a:rPr lang="fr-FR" sz="2200" dirty="0" err="1"/>
                        <a:t>January</a:t>
                      </a:r>
                      <a:r>
                        <a:rPr lang="fr-FR" sz="2200" dirty="0"/>
                        <a:t> 1st)</a:t>
                      </a:r>
                    </a:p>
                  </a:txBody>
                  <a:tcPr marL="64262" marR="64262" marT="32131" marB="32131"/>
                </a:tc>
                <a:tc>
                  <a:txBody>
                    <a:bodyPr/>
                    <a:lstStyle/>
                    <a:p>
                      <a:pPr algn="ctr"/>
                      <a:endParaRPr lang="fr-FR" sz="2200" dirty="0"/>
                    </a:p>
                    <a:p>
                      <a:pPr algn="ctr"/>
                      <a:endParaRPr lang="fr-FR" sz="2200" dirty="0"/>
                    </a:p>
                    <a:p>
                      <a:pPr algn="ctr"/>
                      <a:endParaRPr lang="fr-FR" sz="2200" dirty="0"/>
                    </a:p>
                    <a:p>
                      <a:pPr algn="ctr"/>
                      <a:endParaRPr lang="fr-FR" sz="2200" dirty="0"/>
                    </a:p>
                  </a:txBody>
                  <a:tcPr marL="64262" marR="64262" marT="32131" marB="32131"/>
                </a:tc>
                <a:tc>
                  <a:txBody>
                    <a:bodyPr/>
                    <a:lstStyle/>
                    <a:p>
                      <a:pPr algn="ctr"/>
                      <a:r>
                        <a:rPr lang="fr-FR" sz="2200" dirty="0"/>
                        <a:t>Equipment: RMD400,000</a:t>
                      </a:r>
                    </a:p>
                  </a:txBody>
                  <a:tcPr marL="64262" marR="64262" marT="32131" marB="32131"/>
                </a:tc>
                <a:tc>
                  <a:txBody>
                    <a:bodyPr/>
                    <a:lstStyle/>
                    <a:p>
                      <a:pPr algn="ctr"/>
                      <a:r>
                        <a:rPr lang="fr-FR" sz="2200" dirty="0" err="1"/>
                        <a:t>Accounts</a:t>
                      </a:r>
                      <a:r>
                        <a:rPr lang="fr-FR" sz="2200" dirty="0"/>
                        <a:t> payable (</a:t>
                      </a:r>
                      <a:r>
                        <a:rPr lang="fr-FR" sz="2200" dirty="0" err="1"/>
                        <a:t>suppliers</a:t>
                      </a:r>
                      <a:r>
                        <a:rPr lang="fr-FR" sz="2200" dirty="0"/>
                        <a:t> of </a:t>
                      </a:r>
                      <a:r>
                        <a:rPr lang="fr-FR" sz="2200" dirty="0" err="1"/>
                        <a:t>equipment</a:t>
                      </a:r>
                      <a:r>
                        <a:rPr lang="fr-FR" sz="2200" dirty="0"/>
                        <a:t>): RMD400,000</a:t>
                      </a:r>
                    </a:p>
                  </a:txBody>
                  <a:tcPr marL="64262" marR="64262" marT="32131" marB="32131"/>
                </a:tc>
                <a:tc>
                  <a:txBody>
                    <a:bodyPr/>
                    <a:lstStyle/>
                    <a:p>
                      <a:pPr algn="ctr"/>
                      <a:endParaRPr lang="fr-FR" sz="2200" dirty="0"/>
                    </a:p>
                  </a:txBody>
                  <a:tcPr marL="64262" marR="64262" marT="32131" marB="32131"/>
                </a:tc>
                <a:tc>
                  <a:txBody>
                    <a:bodyPr/>
                    <a:lstStyle/>
                    <a:p>
                      <a:pPr algn="ctr"/>
                      <a:endParaRPr lang="fr-FR" sz="2200" dirty="0"/>
                    </a:p>
                  </a:txBody>
                  <a:tcPr marL="64262" marR="64262" marT="32131" marB="32131"/>
                </a:tc>
                <a:extLst>
                  <a:ext uri="{0D108BD9-81ED-4DB2-BD59-A6C34878D82A}">
                    <a16:rowId xmlns:a16="http://schemas.microsoft.com/office/drawing/2014/main" val="822261428"/>
                  </a:ext>
                </a:extLst>
              </a:tr>
              <a:tr h="1220985">
                <a:tc>
                  <a:txBody>
                    <a:bodyPr/>
                    <a:lstStyle/>
                    <a:p>
                      <a:r>
                        <a:rPr lang="fr-FR" sz="2200" dirty="0"/>
                        <a:t>Equipment </a:t>
                      </a:r>
                      <a:r>
                        <a:rPr lang="fr-FR" sz="2200" dirty="0" err="1"/>
                        <a:t>payment</a:t>
                      </a:r>
                      <a:endParaRPr lang="fr-FR" sz="2200" dirty="0"/>
                    </a:p>
                    <a:p>
                      <a:r>
                        <a:rPr lang="fr-FR" sz="2200" dirty="0"/>
                        <a:t>(March 31)</a:t>
                      </a:r>
                    </a:p>
                  </a:txBody>
                  <a:tcPr marL="64262" marR="64262" marT="32131" marB="32131"/>
                </a:tc>
                <a:tc>
                  <a:txBody>
                    <a:bodyPr/>
                    <a:lstStyle/>
                    <a:p>
                      <a:pPr algn="ctr"/>
                      <a:r>
                        <a:rPr lang="fr-FR" sz="2200" dirty="0"/>
                        <a:t>Cash and cash </a:t>
                      </a:r>
                      <a:r>
                        <a:rPr lang="fr-FR" sz="2200" dirty="0" err="1"/>
                        <a:t>equivalents</a:t>
                      </a:r>
                      <a:r>
                        <a:rPr lang="fr-FR" sz="2200" dirty="0"/>
                        <a:t>: RMD(400,000)</a:t>
                      </a:r>
                    </a:p>
                  </a:txBody>
                  <a:tcPr marL="64262" marR="64262" marT="32131" marB="32131"/>
                </a:tc>
                <a:tc>
                  <a:txBody>
                    <a:bodyPr/>
                    <a:lstStyle/>
                    <a:p>
                      <a:pPr algn="ctr"/>
                      <a:endParaRPr lang="fr-FR" sz="2200" dirty="0"/>
                    </a:p>
                  </a:txBody>
                  <a:tcPr marL="64262" marR="64262" marT="32131" marB="3213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2200" dirty="0" err="1"/>
                        <a:t>Accounts</a:t>
                      </a:r>
                      <a:r>
                        <a:rPr lang="fr-FR" sz="2200" dirty="0"/>
                        <a:t> payable (</a:t>
                      </a:r>
                      <a:r>
                        <a:rPr lang="fr-FR" sz="2200" dirty="0" err="1"/>
                        <a:t>suppliers</a:t>
                      </a:r>
                      <a:r>
                        <a:rPr lang="fr-FR" sz="2200" dirty="0"/>
                        <a:t> of </a:t>
                      </a:r>
                      <a:r>
                        <a:rPr lang="fr-FR" sz="2200" dirty="0" err="1"/>
                        <a:t>equipment</a:t>
                      </a:r>
                      <a:r>
                        <a:rPr lang="fr-FR" sz="2200" dirty="0"/>
                        <a:t>): RMD(400,000)</a:t>
                      </a:r>
                    </a:p>
                  </a:txBody>
                  <a:tcPr marL="64262" marR="64262" marT="32131" marB="32131"/>
                </a:tc>
                <a:tc>
                  <a:txBody>
                    <a:bodyPr/>
                    <a:lstStyle/>
                    <a:p>
                      <a:pPr algn="ctr"/>
                      <a:endParaRPr lang="fr-FR" sz="2200" dirty="0"/>
                    </a:p>
                  </a:txBody>
                  <a:tcPr marL="64262" marR="64262" marT="32131" marB="32131"/>
                </a:tc>
                <a:tc>
                  <a:txBody>
                    <a:bodyPr/>
                    <a:lstStyle/>
                    <a:p>
                      <a:pPr algn="ctr"/>
                      <a:endParaRPr lang="fr-FR" sz="2200" dirty="0"/>
                    </a:p>
                  </a:txBody>
                  <a:tcPr marL="64262" marR="64262" marT="32131" marB="32131"/>
                </a:tc>
                <a:extLst>
                  <a:ext uri="{0D108BD9-81ED-4DB2-BD59-A6C34878D82A}">
                    <a16:rowId xmlns:a16="http://schemas.microsoft.com/office/drawing/2014/main" val="570082183"/>
                  </a:ext>
                </a:extLst>
              </a:tr>
              <a:tr h="1220985">
                <a:tc>
                  <a:txBody>
                    <a:bodyPr/>
                    <a:lstStyle/>
                    <a:p>
                      <a:r>
                        <a:rPr lang="fr-FR" sz="2200" dirty="0" err="1"/>
                        <a:t>Decembre</a:t>
                      </a:r>
                      <a:r>
                        <a:rPr lang="fr-FR" sz="2200" dirty="0"/>
                        <a:t> 31</a:t>
                      </a:r>
                    </a:p>
                    <a:p>
                      <a:r>
                        <a:rPr lang="fr-FR" sz="2200" dirty="0"/>
                        <a:t>(</a:t>
                      </a:r>
                      <a:r>
                        <a:rPr lang="fr-FR" sz="2200" dirty="0" err="1"/>
                        <a:t>cut</a:t>
                      </a:r>
                      <a:r>
                        <a:rPr lang="fr-FR" sz="2200" dirty="0"/>
                        <a:t> off)</a:t>
                      </a:r>
                    </a:p>
                  </a:txBody>
                  <a:tcPr marL="64262" marR="64262" marT="32131" marB="32131"/>
                </a:tc>
                <a:tc>
                  <a:txBody>
                    <a:bodyPr/>
                    <a:lstStyle/>
                    <a:p>
                      <a:pPr algn="ctr"/>
                      <a:endParaRPr lang="fr-FR" sz="2200" dirty="0"/>
                    </a:p>
                    <a:p>
                      <a:pPr algn="ctr"/>
                      <a:endParaRPr lang="fr-FR" sz="2200" dirty="0"/>
                    </a:p>
                  </a:txBody>
                  <a:tcPr marL="64262" marR="64262" marT="32131" marB="32131"/>
                </a:tc>
                <a:tc>
                  <a:txBody>
                    <a:bodyPr/>
                    <a:lstStyle/>
                    <a:p>
                      <a:pPr algn="ctr"/>
                      <a:r>
                        <a:rPr lang="fr-FR" sz="2200" dirty="0" err="1"/>
                        <a:t>Accumulated</a:t>
                      </a:r>
                      <a:r>
                        <a:rPr lang="fr-FR" sz="2200" dirty="0"/>
                        <a:t> </a:t>
                      </a:r>
                      <a:r>
                        <a:rPr lang="fr-FR" sz="2200" dirty="0" err="1"/>
                        <a:t>depreciation</a:t>
                      </a:r>
                      <a:r>
                        <a:rPr lang="fr-FR" sz="2200" dirty="0"/>
                        <a:t>:</a:t>
                      </a:r>
                    </a:p>
                    <a:p>
                      <a:pPr algn="ctr"/>
                      <a:r>
                        <a:rPr lang="fr-FR" sz="2200" dirty="0"/>
                        <a:t>RMD(70,000)</a:t>
                      </a:r>
                    </a:p>
                  </a:txBody>
                  <a:tcPr marL="64262" marR="64262" marT="32131" marB="32131"/>
                </a:tc>
                <a:tc>
                  <a:txBody>
                    <a:bodyPr/>
                    <a:lstStyle/>
                    <a:p>
                      <a:pPr algn="ctr"/>
                      <a:endParaRPr lang="fr-FR" sz="2200" dirty="0"/>
                    </a:p>
                  </a:txBody>
                  <a:tcPr marL="64262" marR="64262" marT="32131" marB="32131"/>
                </a:tc>
                <a:tc>
                  <a:txBody>
                    <a:bodyPr/>
                    <a:lstStyle/>
                    <a:p>
                      <a:pPr algn="ctr"/>
                      <a:endParaRPr lang="fr-FR" sz="2200" dirty="0"/>
                    </a:p>
                  </a:txBody>
                  <a:tcPr marL="64262" marR="64262" marT="32131" marB="32131"/>
                </a:tc>
                <a:tc>
                  <a:txBody>
                    <a:bodyPr/>
                    <a:lstStyle/>
                    <a:p>
                      <a:pPr algn="ctr"/>
                      <a:r>
                        <a:rPr lang="fr-FR" sz="2200" dirty="0" err="1"/>
                        <a:t>Depreciation</a:t>
                      </a:r>
                      <a:r>
                        <a:rPr lang="fr-FR" sz="2200" dirty="0"/>
                        <a:t> </a:t>
                      </a:r>
                      <a:r>
                        <a:rPr lang="fr-FR" sz="2200" dirty="0" err="1"/>
                        <a:t>expense</a:t>
                      </a:r>
                      <a:r>
                        <a:rPr lang="fr-FR" sz="2200" dirty="0"/>
                        <a:t> </a:t>
                      </a:r>
                    </a:p>
                    <a:p>
                      <a:pPr algn="ctr"/>
                      <a:r>
                        <a:rPr lang="fr-FR" sz="2200" dirty="0"/>
                        <a:t>RMD (70,000)</a:t>
                      </a:r>
                    </a:p>
                  </a:txBody>
                  <a:tcPr marL="64262" marR="64262" marT="32131" marB="32131"/>
                </a:tc>
                <a:extLst>
                  <a:ext uri="{0D108BD9-81ED-4DB2-BD59-A6C34878D82A}">
                    <a16:rowId xmlns:a16="http://schemas.microsoft.com/office/drawing/2014/main" val="3318378948"/>
                  </a:ext>
                </a:extLst>
              </a:tr>
            </a:tbl>
          </a:graphicData>
        </a:graphic>
      </p:graphicFrame>
      <p:sp>
        <p:nvSpPr>
          <p:cNvPr id="3" name="Title 2">
            <a:extLst>
              <a:ext uri="{FF2B5EF4-FFF2-40B4-BE49-F238E27FC236}">
                <a16:creationId xmlns:a16="http://schemas.microsoft.com/office/drawing/2014/main" id="{380FD747-48CD-2BC6-82F2-D431E40FC78F}"/>
              </a:ext>
            </a:extLst>
          </p:cNvPr>
          <p:cNvSpPr>
            <a:spLocks noGrp="1"/>
          </p:cNvSpPr>
          <p:nvPr>
            <p:ph type="title"/>
          </p:nvPr>
        </p:nvSpPr>
        <p:spPr/>
        <p:txBody>
          <a:bodyPr/>
          <a:lstStyle/>
          <a:p>
            <a:r>
              <a:rPr lang="fr-FR" dirty="0"/>
              <a:t>Equipment </a:t>
            </a:r>
            <a:r>
              <a:rPr lang="fr-FR" dirty="0" err="1"/>
              <a:t>effects</a:t>
            </a:r>
            <a:r>
              <a:rPr lang="fr-FR" dirty="0"/>
              <a:t> on balance </a:t>
            </a:r>
            <a:r>
              <a:rPr lang="fr-FR" dirty="0" err="1"/>
              <a:t>sheet</a:t>
            </a:r>
            <a:endParaRPr lang="fr-FR" dirty="0"/>
          </a:p>
        </p:txBody>
      </p:sp>
      <p:sp>
        <p:nvSpPr>
          <p:cNvPr id="4" name="Subtitle 3">
            <a:extLst>
              <a:ext uri="{FF2B5EF4-FFF2-40B4-BE49-F238E27FC236}">
                <a16:creationId xmlns:a16="http://schemas.microsoft.com/office/drawing/2014/main" id="{6F90D4E0-001F-BB2F-51D5-E1DBABC9B24F}"/>
              </a:ext>
            </a:extLst>
          </p:cNvPr>
          <p:cNvSpPr>
            <a:spLocks noGrp="1"/>
          </p:cNvSpPr>
          <p:nvPr>
            <p:ph type="subTitle" idx="13"/>
          </p:nvPr>
        </p:nvSpPr>
        <p:spPr/>
        <p:txBody>
          <a:bodyPr/>
          <a:lstStyle/>
          <a:p>
            <a:r>
              <a:rPr lang="fr-FR" dirty="0" err="1"/>
              <a:t>Closing</a:t>
            </a:r>
            <a:r>
              <a:rPr lang="fr-FR" dirty="0"/>
              <a:t> date: </a:t>
            </a:r>
            <a:r>
              <a:rPr lang="fr-FR" dirty="0" err="1"/>
              <a:t>December</a:t>
            </a:r>
            <a:r>
              <a:rPr lang="fr-FR" dirty="0"/>
              <a:t> 31</a:t>
            </a:r>
          </a:p>
        </p:txBody>
      </p:sp>
      <p:sp>
        <p:nvSpPr>
          <p:cNvPr id="5" name="Slide Number Placeholder 4">
            <a:extLst>
              <a:ext uri="{FF2B5EF4-FFF2-40B4-BE49-F238E27FC236}">
                <a16:creationId xmlns:a16="http://schemas.microsoft.com/office/drawing/2014/main" id="{1AE2F7C8-1C7F-294E-3C48-BF7AA934E901}"/>
              </a:ext>
            </a:extLst>
          </p:cNvPr>
          <p:cNvSpPr>
            <a:spLocks noGrp="1"/>
          </p:cNvSpPr>
          <p:nvPr>
            <p:ph type="sldNum" sz="quarter" idx="12"/>
          </p:nvPr>
        </p:nvSpPr>
        <p:spPr/>
        <p:txBody>
          <a:bodyPr/>
          <a:lstStyle/>
          <a:p>
            <a:fld id="{307C7597-8D70-4701-8085-9524B0B5C72B}" type="slidenum">
              <a:rPr lang="fr-FR" smtClean="0"/>
              <a:pPr/>
              <a:t>11</a:t>
            </a:fld>
            <a:endParaRPr lang="fr-FR" dirty="0"/>
          </a:p>
        </p:txBody>
      </p:sp>
    </p:spTree>
    <p:extLst>
      <p:ext uri="{BB962C8B-B14F-4D97-AF65-F5344CB8AC3E}">
        <p14:creationId xmlns:p14="http://schemas.microsoft.com/office/powerpoint/2010/main" val="3773225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7A9F9-684F-9008-2B29-986BB6D42E0D}"/>
            </a:ext>
          </a:extLst>
        </p:cNvPr>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68373ACA-05DC-2084-8109-4B8BD1CE591C}"/>
              </a:ext>
            </a:extLst>
          </p:cNvPr>
          <p:cNvGraphicFramePr>
            <a:graphicFrameLocks noGrp="1"/>
          </p:cNvGraphicFramePr>
          <p:nvPr>
            <p:ph idx="1"/>
            <p:extLst>
              <p:ext uri="{D42A27DB-BD31-4B8C-83A1-F6EECF244321}">
                <p14:modId xmlns:p14="http://schemas.microsoft.com/office/powerpoint/2010/main" val="4196770562"/>
              </p:ext>
            </p:extLst>
          </p:nvPr>
        </p:nvGraphicFramePr>
        <p:xfrm>
          <a:off x="34507" y="1414358"/>
          <a:ext cx="12111487" cy="5452037"/>
        </p:xfrm>
        <a:graphic>
          <a:graphicData uri="http://schemas.openxmlformats.org/drawingml/2006/table">
            <a:tbl>
              <a:tblPr firstRow="1" bandRow="1">
                <a:tableStyleId>{5C22544A-7EE6-4342-B048-85BDC9FD1C3A}</a:tableStyleId>
              </a:tblPr>
              <a:tblGrid>
                <a:gridCol w="2004203">
                  <a:extLst>
                    <a:ext uri="{9D8B030D-6E8A-4147-A177-3AD203B41FA5}">
                      <a16:colId xmlns:a16="http://schemas.microsoft.com/office/drawing/2014/main" val="4145778810"/>
                    </a:ext>
                  </a:extLst>
                </a:gridCol>
                <a:gridCol w="2004203">
                  <a:extLst>
                    <a:ext uri="{9D8B030D-6E8A-4147-A177-3AD203B41FA5}">
                      <a16:colId xmlns:a16="http://schemas.microsoft.com/office/drawing/2014/main" val="186388427"/>
                    </a:ext>
                  </a:extLst>
                </a:gridCol>
                <a:gridCol w="2004203">
                  <a:extLst>
                    <a:ext uri="{9D8B030D-6E8A-4147-A177-3AD203B41FA5}">
                      <a16:colId xmlns:a16="http://schemas.microsoft.com/office/drawing/2014/main" val="2779868177"/>
                    </a:ext>
                  </a:extLst>
                </a:gridCol>
                <a:gridCol w="2004203">
                  <a:extLst>
                    <a:ext uri="{9D8B030D-6E8A-4147-A177-3AD203B41FA5}">
                      <a16:colId xmlns:a16="http://schemas.microsoft.com/office/drawing/2014/main" val="2727681345"/>
                    </a:ext>
                  </a:extLst>
                </a:gridCol>
                <a:gridCol w="2004203">
                  <a:extLst>
                    <a:ext uri="{9D8B030D-6E8A-4147-A177-3AD203B41FA5}">
                      <a16:colId xmlns:a16="http://schemas.microsoft.com/office/drawing/2014/main" val="3898538417"/>
                    </a:ext>
                  </a:extLst>
                </a:gridCol>
                <a:gridCol w="2090472">
                  <a:extLst>
                    <a:ext uri="{9D8B030D-6E8A-4147-A177-3AD203B41FA5}">
                      <a16:colId xmlns:a16="http://schemas.microsoft.com/office/drawing/2014/main" val="3090142748"/>
                    </a:ext>
                  </a:extLst>
                </a:gridCol>
              </a:tblGrid>
              <a:tr h="749728">
                <a:tc>
                  <a:txBody>
                    <a:bodyPr/>
                    <a:lstStyle/>
                    <a:p>
                      <a:r>
                        <a:rPr lang="fr-FR" sz="2200" dirty="0"/>
                        <a:t>Change in:</a:t>
                      </a:r>
                    </a:p>
                  </a:txBody>
                  <a:tcPr marL="64262" marR="64262" marT="32131" marB="32131"/>
                </a:tc>
                <a:tc>
                  <a:txBody>
                    <a:bodyPr/>
                    <a:lstStyle/>
                    <a:p>
                      <a:pPr algn="ctr"/>
                      <a:r>
                        <a:rPr lang="fr-FR" sz="2200" dirty="0" err="1"/>
                        <a:t>Current</a:t>
                      </a:r>
                      <a:r>
                        <a:rPr lang="fr-FR" sz="2200" dirty="0"/>
                        <a:t> </a:t>
                      </a:r>
                      <a:r>
                        <a:rPr lang="fr-FR" sz="2200" dirty="0" err="1"/>
                        <a:t>assets</a:t>
                      </a:r>
                      <a:endParaRPr lang="fr-FR" sz="2200" dirty="0"/>
                    </a:p>
                  </a:txBody>
                  <a:tcPr marL="64262" marR="64262" marT="32131" marB="32131" anchor="ctr"/>
                </a:tc>
                <a:tc>
                  <a:txBody>
                    <a:bodyPr/>
                    <a:lstStyle/>
                    <a:p>
                      <a:pPr algn="ctr"/>
                      <a:r>
                        <a:rPr lang="fr-FR" sz="2200" dirty="0"/>
                        <a:t>Non-</a:t>
                      </a:r>
                      <a:r>
                        <a:rPr lang="fr-FR" sz="2200" dirty="0" err="1"/>
                        <a:t>current</a:t>
                      </a:r>
                      <a:r>
                        <a:rPr lang="fr-FR" sz="2200" dirty="0"/>
                        <a:t> </a:t>
                      </a:r>
                      <a:r>
                        <a:rPr lang="fr-FR" sz="2200" dirty="0" err="1"/>
                        <a:t>assets</a:t>
                      </a:r>
                      <a:endParaRPr lang="fr-FR" sz="2200" dirty="0"/>
                    </a:p>
                  </a:txBody>
                  <a:tcPr marL="64262" marR="64262" marT="32131" marB="32131" anchor="ctr"/>
                </a:tc>
                <a:tc>
                  <a:txBody>
                    <a:bodyPr/>
                    <a:lstStyle/>
                    <a:p>
                      <a:pPr algn="ctr"/>
                      <a:r>
                        <a:rPr lang="fr-FR" sz="2200" dirty="0" err="1"/>
                        <a:t>Current</a:t>
                      </a:r>
                      <a:r>
                        <a:rPr lang="fr-FR" sz="2200" dirty="0"/>
                        <a:t> </a:t>
                      </a:r>
                      <a:r>
                        <a:rPr lang="fr-FR" sz="2200" dirty="0" err="1"/>
                        <a:t>liabilities</a:t>
                      </a:r>
                      <a:endParaRPr lang="fr-FR" sz="2200" dirty="0"/>
                    </a:p>
                  </a:txBody>
                  <a:tcPr marL="64262" marR="64262" marT="32131" marB="32131" anchor="ctr"/>
                </a:tc>
                <a:tc>
                  <a:txBody>
                    <a:bodyPr/>
                    <a:lstStyle/>
                    <a:p>
                      <a:pPr algn="ctr"/>
                      <a:r>
                        <a:rPr lang="fr-FR" sz="2200" dirty="0"/>
                        <a:t>Non-</a:t>
                      </a:r>
                      <a:r>
                        <a:rPr lang="fr-FR" sz="2200" dirty="0" err="1"/>
                        <a:t>current</a:t>
                      </a:r>
                      <a:r>
                        <a:rPr lang="fr-FR" sz="2200" dirty="0"/>
                        <a:t> </a:t>
                      </a:r>
                      <a:r>
                        <a:rPr lang="fr-FR" sz="2200" dirty="0" err="1"/>
                        <a:t>liabilities</a:t>
                      </a:r>
                      <a:endParaRPr lang="fr-FR" sz="2200" dirty="0"/>
                    </a:p>
                  </a:txBody>
                  <a:tcPr marL="64262" marR="64262" marT="32131" marB="32131" anchor="ctr"/>
                </a:tc>
                <a:tc>
                  <a:txBody>
                    <a:bodyPr/>
                    <a:lstStyle/>
                    <a:p>
                      <a:pPr algn="ctr"/>
                      <a:r>
                        <a:rPr lang="fr-FR" sz="2200" dirty="0" err="1"/>
                        <a:t>Equity</a:t>
                      </a:r>
                      <a:endParaRPr lang="fr-FR" sz="2200" dirty="0"/>
                    </a:p>
                  </a:txBody>
                  <a:tcPr marL="64262" marR="64262" marT="32131" marB="32131" anchor="ctr"/>
                </a:tc>
                <a:extLst>
                  <a:ext uri="{0D108BD9-81ED-4DB2-BD59-A6C34878D82A}">
                    <a16:rowId xmlns:a16="http://schemas.microsoft.com/office/drawing/2014/main" val="1917803698"/>
                  </a:ext>
                </a:extLst>
              </a:tr>
              <a:tr h="607953">
                <a:tc>
                  <a:txBody>
                    <a:bodyPr/>
                    <a:lstStyle/>
                    <a:p>
                      <a:r>
                        <a:rPr lang="fr-FR" sz="2200" dirty="0"/>
                        <a:t>Equipment acquisition on </a:t>
                      </a:r>
                      <a:r>
                        <a:rPr lang="fr-FR" sz="2200" dirty="0" err="1"/>
                        <a:t>credit</a:t>
                      </a:r>
                      <a:r>
                        <a:rPr lang="fr-FR" sz="2200" dirty="0"/>
                        <a:t> (</a:t>
                      </a:r>
                      <a:r>
                        <a:rPr lang="fr-FR" sz="2200" dirty="0" err="1"/>
                        <a:t>January</a:t>
                      </a:r>
                      <a:r>
                        <a:rPr lang="fr-FR" sz="2200" dirty="0"/>
                        <a:t> 1st)</a:t>
                      </a:r>
                    </a:p>
                  </a:txBody>
                  <a:tcPr marL="64262" marR="64262" marT="32131" marB="32131"/>
                </a:tc>
                <a:tc>
                  <a:txBody>
                    <a:bodyPr/>
                    <a:lstStyle/>
                    <a:p>
                      <a:pPr algn="ctr"/>
                      <a:endParaRPr lang="fr-FR" sz="2200" dirty="0"/>
                    </a:p>
                    <a:p>
                      <a:pPr algn="ctr"/>
                      <a:endParaRPr lang="fr-FR" sz="2200" dirty="0"/>
                    </a:p>
                    <a:p>
                      <a:pPr algn="ctr"/>
                      <a:endParaRPr lang="fr-FR" sz="2200" dirty="0"/>
                    </a:p>
                    <a:p>
                      <a:pPr algn="ctr"/>
                      <a:endParaRPr lang="fr-FR" sz="2200" dirty="0"/>
                    </a:p>
                  </a:txBody>
                  <a:tcPr marL="64262" marR="64262" marT="32131" marB="32131"/>
                </a:tc>
                <a:tc>
                  <a:txBody>
                    <a:bodyPr/>
                    <a:lstStyle/>
                    <a:p>
                      <a:pPr algn="ctr"/>
                      <a:r>
                        <a:rPr lang="fr-FR" sz="2200" dirty="0"/>
                        <a:t>Equipment: RMD400,000</a:t>
                      </a:r>
                    </a:p>
                  </a:txBody>
                  <a:tcPr marL="64262" marR="64262" marT="32131" marB="32131"/>
                </a:tc>
                <a:tc>
                  <a:txBody>
                    <a:bodyPr/>
                    <a:lstStyle/>
                    <a:p>
                      <a:pPr algn="ctr"/>
                      <a:r>
                        <a:rPr lang="fr-FR" sz="2200" dirty="0" err="1"/>
                        <a:t>Accounts</a:t>
                      </a:r>
                      <a:r>
                        <a:rPr lang="fr-FR" sz="2200" dirty="0"/>
                        <a:t> payable (</a:t>
                      </a:r>
                      <a:r>
                        <a:rPr lang="fr-FR" sz="2200" dirty="0" err="1"/>
                        <a:t>suppliers</a:t>
                      </a:r>
                      <a:r>
                        <a:rPr lang="fr-FR" sz="2200" dirty="0"/>
                        <a:t> of </a:t>
                      </a:r>
                      <a:r>
                        <a:rPr lang="fr-FR" sz="2200" dirty="0" err="1"/>
                        <a:t>equipment</a:t>
                      </a:r>
                      <a:r>
                        <a:rPr lang="fr-FR" sz="2200" dirty="0"/>
                        <a:t>): RMD400,000</a:t>
                      </a:r>
                    </a:p>
                  </a:txBody>
                  <a:tcPr marL="64262" marR="64262" marT="32131" marB="32131"/>
                </a:tc>
                <a:tc>
                  <a:txBody>
                    <a:bodyPr/>
                    <a:lstStyle/>
                    <a:p>
                      <a:pPr algn="ctr"/>
                      <a:endParaRPr lang="fr-FR" sz="2200" dirty="0"/>
                    </a:p>
                  </a:txBody>
                  <a:tcPr marL="64262" marR="64262" marT="32131" marB="32131"/>
                </a:tc>
                <a:tc>
                  <a:txBody>
                    <a:bodyPr/>
                    <a:lstStyle/>
                    <a:p>
                      <a:pPr algn="ctr"/>
                      <a:endParaRPr lang="fr-FR" sz="2200" dirty="0"/>
                    </a:p>
                  </a:txBody>
                  <a:tcPr marL="64262" marR="64262" marT="32131" marB="32131"/>
                </a:tc>
                <a:extLst>
                  <a:ext uri="{0D108BD9-81ED-4DB2-BD59-A6C34878D82A}">
                    <a16:rowId xmlns:a16="http://schemas.microsoft.com/office/drawing/2014/main" val="822261428"/>
                  </a:ext>
                </a:extLst>
              </a:tr>
              <a:tr h="1220985">
                <a:tc>
                  <a:txBody>
                    <a:bodyPr/>
                    <a:lstStyle/>
                    <a:p>
                      <a:r>
                        <a:rPr lang="fr-FR" sz="2200" dirty="0"/>
                        <a:t>Equipment </a:t>
                      </a:r>
                      <a:r>
                        <a:rPr lang="fr-FR" sz="2200" dirty="0" err="1"/>
                        <a:t>payment</a:t>
                      </a:r>
                      <a:endParaRPr lang="fr-FR" sz="2200" dirty="0"/>
                    </a:p>
                    <a:p>
                      <a:r>
                        <a:rPr lang="fr-FR" sz="2200" dirty="0"/>
                        <a:t>(March 31)</a:t>
                      </a:r>
                    </a:p>
                  </a:txBody>
                  <a:tcPr marL="64262" marR="64262" marT="32131" marB="32131"/>
                </a:tc>
                <a:tc>
                  <a:txBody>
                    <a:bodyPr/>
                    <a:lstStyle/>
                    <a:p>
                      <a:pPr algn="ctr"/>
                      <a:r>
                        <a:rPr lang="fr-FR" sz="2200" dirty="0"/>
                        <a:t>Cash and cash </a:t>
                      </a:r>
                      <a:r>
                        <a:rPr lang="fr-FR" sz="2200" dirty="0" err="1"/>
                        <a:t>equivalents</a:t>
                      </a:r>
                      <a:r>
                        <a:rPr lang="fr-FR" sz="2200" dirty="0"/>
                        <a:t>: RMD(400,000)</a:t>
                      </a:r>
                    </a:p>
                  </a:txBody>
                  <a:tcPr marL="64262" marR="64262" marT="32131" marB="32131"/>
                </a:tc>
                <a:tc>
                  <a:txBody>
                    <a:bodyPr/>
                    <a:lstStyle/>
                    <a:p>
                      <a:pPr algn="ctr"/>
                      <a:endParaRPr lang="fr-FR" sz="2200" dirty="0"/>
                    </a:p>
                  </a:txBody>
                  <a:tcPr marL="64262" marR="64262" marT="32131" marB="3213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2200" dirty="0" err="1"/>
                        <a:t>Accounts</a:t>
                      </a:r>
                      <a:r>
                        <a:rPr lang="fr-FR" sz="2200" dirty="0"/>
                        <a:t> payable (</a:t>
                      </a:r>
                      <a:r>
                        <a:rPr lang="fr-FR" sz="2200" dirty="0" err="1"/>
                        <a:t>suppliers</a:t>
                      </a:r>
                      <a:r>
                        <a:rPr lang="fr-FR" sz="2200" dirty="0"/>
                        <a:t> of </a:t>
                      </a:r>
                      <a:r>
                        <a:rPr lang="fr-FR" sz="2200" dirty="0" err="1"/>
                        <a:t>equipment</a:t>
                      </a:r>
                      <a:r>
                        <a:rPr lang="fr-FR" sz="2200" dirty="0"/>
                        <a:t>): RMD(400,000)</a:t>
                      </a:r>
                    </a:p>
                  </a:txBody>
                  <a:tcPr marL="64262" marR="64262" marT="32131" marB="32131"/>
                </a:tc>
                <a:tc>
                  <a:txBody>
                    <a:bodyPr/>
                    <a:lstStyle/>
                    <a:p>
                      <a:pPr algn="ctr"/>
                      <a:endParaRPr lang="fr-FR" sz="2200" dirty="0"/>
                    </a:p>
                  </a:txBody>
                  <a:tcPr marL="64262" marR="64262" marT="32131" marB="32131"/>
                </a:tc>
                <a:tc>
                  <a:txBody>
                    <a:bodyPr/>
                    <a:lstStyle/>
                    <a:p>
                      <a:pPr algn="ctr"/>
                      <a:endParaRPr lang="fr-FR" sz="2200" dirty="0"/>
                    </a:p>
                  </a:txBody>
                  <a:tcPr marL="64262" marR="64262" marT="32131" marB="32131"/>
                </a:tc>
                <a:extLst>
                  <a:ext uri="{0D108BD9-81ED-4DB2-BD59-A6C34878D82A}">
                    <a16:rowId xmlns:a16="http://schemas.microsoft.com/office/drawing/2014/main" val="570082183"/>
                  </a:ext>
                </a:extLst>
              </a:tr>
              <a:tr h="1220985">
                <a:tc>
                  <a:txBody>
                    <a:bodyPr/>
                    <a:lstStyle/>
                    <a:p>
                      <a:r>
                        <a:rPr lang="fr-FR" sz="2200" dirty="0" err="1"/>
                        <a:t>Decembre</a:t>
                      </a:r>
                      <a:r>
                        <a:rPr lang="fr-FR" sz="2200" dirty="0"/>
                        <a:t> 31</a:t>
                      </a:r>
                    </a:p>
                    <a:p>
                      <a:r>
                        <a:rPr lang="fr-FR" sz="2200" dirty="0"/>
                        <a:t>(</a:t>
                      </a:r>
                      <a:r>
                        <a:rPr lang="fr-FR" sz="2200" dirty="0" err="1"/>
                        <a:t>cut</a:t>
                      </a:r>
                      <a:r>
                        <a:rPr lang="fr-FR" sz="2200" dirty="0"/>
                        <a:t> off)</a:t>
                      </a:r>
                    </a:p>
                  </a:txBody>
                  <a:tcPr marL="64262" marR="64262" marT="32131" marB="32131"/>
                </a:tc>
                <a:tc>
                  <a:txBody>
                    <a:bodyPr/>
                    <a:lstStyle/>
                    <a:p>
                      <a:pPr algn="ctr"/>
                      <a:endParaRPr lang="fr-FR" sz="2200" dirty="0"/>
                    </a:p>
                    <a:p>
                      <a:pPr algn="ctr"/>
                      <a:endParaRPr lang="fr-FR" sz="2200" dirty="0"/>
                    </a:p>
                  </a:txBody>
                  <a:tcPr marL="64262" marR="64262" marT="32131" marB="32131"/>
                </a:tc>
                <a:tc>
                  <a:txBody>
                    <a:bodyPr/>
                    <a:lstStyle/>
                    <a:p>
                      <a:pPr algn="ctr"/>
                      <a:r>
                        <a:rPr lang="fr-FR" sz="2200" dirty="0" err="1"/>
                        <a:t>Accumulated</a:t>
                      </a:r>
                      <a:r>
                        <a:rPr lang="fr-FR" sz="2200" dirty="0"/>
                        <a:t> </a:t>
                      </a:r>
                      <a:r>
                        <a:rPr lang="fr-FR" sz="2200" dirty="0" err="1"/>
                        <a:t>depreciation</a:t>
                      </a:r>
                      <a:r>
                        <a:rPr lang="fr-FR" sz="2200" dirty="0"/>
                        <a:t>:</a:t>
                      </a:r>
                    </a:p>
                    <a:p>
                      <a:pPr algn="ctr"/>
                      <a:r>
                        <a:rPr lang="fr-FR" sz="2200" dirty="0"/>
                        <a:t>RMD(70,000)</a:t>
                      </a:r>
                    </a:p>
                  </a:txBody>
                  <a:tcPr marL="64262" marR="64262" marT="32131" marB="32131"/>
                </a:tc>
                <a:tc>
                  <a:txBody>
                    <a:bodyPr/>
                    <a:lstStyle/>
                    <a:p>
                      <a:pPr algn="ctr"/>
                      <a:endParaRPr lang="fr-FR" sz="2200" dirty="0"/>
                    </a:p>
                  </a:txBody>
                  <a:tcPr marL="64262" marR="64262" marT="32131" marB="32131"/>
                </a:tc>
                <a:tc>
                  <a:txBody>
                    <a:bodyPr/>
                    <a:lstStyle/>
                    <a:p>
                      <a:pPr algn="ctr"/>
                      <a:endParaRPr lang="fr-FR" sz="2200" dirty="0"/>
                    </a:p>
                  </a:txBody>
                  <a:tcPr marL="64262" marR="64262" marT="32131" marB="32131"/>
                </a:tc>
                <a:tc>
                  <a:txBody>
                    <a:bodyPr/>
                    <a:lstStyle/>
                    <a:p>
                      <a:pPr algn="ctr"/>
                      <a:r>
                        <a:rPr lang="fr-FR" sz="2200" dirty="0" err="1"/>
                        <a:t>Depreciation</a:t>
                      </a:r>
                      <a:r>
                        <a:rPr lang="fr-FR" sz="2200" dirty="0"/>
                        <a:t> </a:t>
                      </a:r>
                      <a:r>
                        <a:rPr lang="fr-FR" sz="2200" dirty="0" err="1"/>
                        <a:t>expense</a:t>
                      </a:r>
                      <a:r>
                        <a:rPr lang="fr-FR" sz="2200" dirty="0"/>
                        <a:t> </a:t>
                      </a:r>
                    </a:p>
                    <a:p>
                      <a:pPr algn="ctr"/>
                      <a:r>
                        <a:rPr lang="fr-FR" sz="2200" dirty="0"/>
                        <a:t>RMD (70,000)</a:t>
                      </a:r>
                    </a:p>
                  </a:txBody>
                  <a:tcPr marL="64262" marR="64262" marT="32131" marB="32131"/>
                </a:tc>
                <a:extLst>
                  <a:ext uri="{0D108BD9-81ED-4DB2-BD59-A6C34878D82A}">
                    <a16:rowId xmlns:a16="http://schemas.microsoft.com/office/drawing/2014/main" val="3318378948"/>
                  </a:ext>
                </a:extLst>
              </a:tr>
            </a:tbl>
          </a:graphicData>
        </a:graphic>
      </p:graphicFrame>
      <p:sp>
        <p:nvSpPr>
          <p:cNvPr id="3" name="Title 2">
            <a:extLst>
              <a:ext uri="{FF2B5EF4-FFF2-40B4-BE49-F238E27FC236}">
                <a16:creationId xmlns:a16="http://schemas.microsoft.com/office/drawing/2014/main" id="{16B941F6-3FDF-92A5-B6D5-99C5F78B87B1}"/>
              </a:ext>
            </a:extLst>
          </p:cNvPr>
          <p:cNvSpPr>
            <a:spLocks noGrp="1"/>
          </p:cNvSpPr>
          <p:nvPr>
            <p:ph type="title"/>
          </p:nvPr>
        </p:nvSpPr>
        <p:spPr/>
        <p:txBody>
          <a:bodyPr/>
          <a:lstStyle/>
          <a:p>
            <a:r>
              <a:rPr lang="fr-FR" dirty="0"/>
              <a:t>Equipment </a:t>
            </a:r>
            <a:r>
              <a:rPr lang="fr-FR" dirty="0" err="1"/>
              <a:t>effects</a:t>
            </a:r>
            <a:r>
              <a:rPr lang="fr-FR" dirty="0"/>
              <a:t> on balance </a:t>
            </a:r>
            <a:r>
              <a:rPr lang="fr-FR" dirty="0" err="1"/>
              <a:t>sheet</a:t>
            </a:r>
            <a:endParaRPr lang="fr-FR" dirty="0"/>
          </a:p>
        </p:txBody>
      </p:sp>
      <p:sp>
        <p:nvSpPr>
          <p:cNvPr id="4" name="Subtitle 3">
            <a:extLst>
              <a:ext uri="{FF2B5EF4-FFF2-40B4-BE49-F238E27FC236}">
                <a16:creationId xmlns:a16="http://schemas.microsoft.com/office/drawing/2014/main" id="{6DD86565-96F3-76AE-D6F1-4CE2765D4758}"/>
              </a:ext>
            </a:extLst>
          </p:cNvPr>
          <p:cNvSpPr>
            <a:spLocks noGrp="1"/>
          </p:cNvSpPr>
          <p:nvPr>
            <p:ph type="subTitle" idx="13"/>
          </p:nvPr>
        </p:nvSpPr>
        <p:spPr/>
        <p:txBody>
          <a:bodyPr/>
          <a:lstStyle/>
          <a:p>
            <a:r>
              <a:rPr lang="fr-FR" dirty="0" err="1"/>
              <a:t>Closing</a:t>
            </a:r>
            <a:r>
              <a:rPr lang="fr-FR" dirty="0"/>
              <a:t> date: </a:t>
            </a:r>
            <a:r>
              <a:rPr lang="fr-FR" dirty="0" err="1"/>
              <a:t>December</a:t>
            </a:r>
            <a:r>
              <a:rPr lang="fr-FR" dirty="0"/>
              <a:t> 31</a:t>
            </a:r>
          </a:p>
        </p:txBody>
      </p:sp>
      <p:sp>
        <p:nvSpPr>
          <p:cNvPr id="5" name="Slide Number Placeholder 4">
            <a:extLst>
              <a:ext uri="{FF2B5EF4-FFF2-40B4-BE49-F238E27FC236}">
                <a16:creationId xmlns:a16="http://schemas.microsoft.com/office/drawing/2014/main" id="{69FB3091-D7DE-76F0-D982-A376D6FFC788}"/>
              </a:ext>
            </a:extLst>
          </p:cNvPr>
          <p:cNvSpPr>
            <a:spLocks noGrp="1"/>
          </p:cNvSpPr>
          <p:nvPr>
            <p:ph type="sldNum" sz="quarter" idx="12"/>
          </p:nvPr>
        </p:nvSpPr>
        <p:spPr/>
        <p:txBody>
          <a:bodyPr/>
          <a:lstStyle/>
          <a:p>
            <a:fld id="{307C7597-8D70-4701-8085-9524B0B5C72B}" type="slidenum">
              <a:rPr lang="fr-FR" smtClean="0"/>
              <a:pPr/>
              <a:t>12</a:t>
            </a:fld>
            <a:endParaRPr lang="fr-FR" dirty="0"/>
          </a:p>
        </p:txBody>
      </p:sp>
      <p:sp>
        <p:nvSpPr>
          <p:cNvPr id="2" name="Rectangle: Rounded Corners 1">
            <a:extLst>
              <a:ext uri="{FF2B5EF4-FFF2-40B4-BE49-F238E27FC236}">
                <a16:creationId xmlns:a16="http://schemas.microsoft.com/office/drawing/2014/main" id="{34603681-56D9-C8EE-4763-F960D6E02B7E}"/>
              </a:ext>
            </a:extLst>
          </p:cNvPr>
          <p:cNvSpPr/>
          <p:nvPr/>
        </p:nvSpPr>
        <p:spPr>
          <a:xfrm>
            <a:off x="1889185" y="3735238"/>
            <a:ext cx="2147977" cy="1483743"/>
          </a:xfrm>
          <a:prstGeom prst="roundRect">
            <a:avLst/>
          </a:prstGeom>
          <a:noFill/>
          <a:ln w="38100">
            <a:solidFill>
              <a:srgbClr val="49A6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2C88BD1-813D-FA8C-8CAB-606C8BF23948}"/>
              </a:ext>
            </a:extLst>
          </p:cNvPr>
          <p:cNvSpPr txBox="1"/>
          <p:nvPr/>
        </p:nvSpPr>
        <p:spPr>
          <a:xfrm>
            <a:off x="2022893" y="3198167"/>
            <a:ext cx="1880559" cy="461665"/>
          </a:xfrm>
          <a:prstGeom prst="rect">
            <a:avLst/>
          </a:prstGeom>
          <a:noFill/>
        </p:spPr>
        <p:txBody>
          <a:bodyPr wrap="square" rtlCol="0">
            <a:spAutoFit/>
          </a:bodyPr>
          <a:lstStyle/>
          <a:p>
            <a:pPr algn="ctr"/>
            <a:r>
              <a:rPr lang="en-US" sz="2400" dirty="0">
                <a:solidFill>
                  <a:srgbClr val="00B050"/>
                </a:solidFill>
              </a:rPr>
              <a:t>Cash effect</a:t>
            </a:r>
          </a:p>
        </p:txBody>
      </p:sp>
      <p:sp>
        <p:nvSpPr>
          <p:cNvPr id="11" name="Rectangle: Rounded Corners 10">
            <a:extLst>
              <a:ext uri="{FF2B5EF4-FFF2-40B4-BE49-F238E27FC236}">
                <a16:creationId xmlns:a16="http://schemas.microsoft.com/office/drawing/2014/main" id="{EAA3EEB0-FEFB-3E5D-0510-B356085A0EA9}"/>
              </a:ext>
            </a:extLst>
          </p:cNvPr>
          <p:cNvSpPr/>
          <p:nvPr/>
        </p:nvSpPr>
        <p:spPr>
          <a:xfrm>
            <a:off x="10003747" y="5630113"/>
            <a:ext cx="2147977" cy="1190504"/>
          </a:xfrm>
          <a:prstGeom prst="roundRect">
            <a:avLst/>
          </a:prstGeom>
          <a:noFill/>
          <a:ln w="38100">
            <a:solidFill>
              <a:srgbClr val="49A6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A5AC2CF-BFA4-DEF3-756C-9BEBC5A152B3}"/>
              </a:ext>
            </a:extLst>
          </p:cNvPr>
          <p:cNvSpPr txBox="1"/>
          <p:nvPr/>
        </p:nvSpPr>
        <p:spPr>
          <a:xfrm>
            <a:off x="10059818" y="4429784"/>
            <a:ext cx="1880559" cy="1200329"/>
          </a:xfrm>
          <a:prstGeom prst="rect">
            <a:avLst/>
          </a:prstGeom>
          <a:noFill/>
        </p:spPr>
        <p:txBody>
          <a:bodyPr wrap="square" rtlCol="0">
            <a:spAutoFit/>
          </a:bodyPr>
          <a:lstStyle/>
          <a:p>
            <a:pPr algn="ctr"/>
            <a:r>
              <a:rPr lang="en-US" sz="2400" dirty="0">
                <a:solidFill>
                  <a:srgbClr val="00B050"/>
                </a:solidFill>
              </a:rPr>
              <a:t> Effect on income statement</a:t>
            </a:r>
          </a:p>
        </p:txBody>
      </p:sp>
    </p:spTree>
    <p:extLst>
      <p:ext uri="{BB962C8B-B14F-4D97-AF65-F5344CB8AC3E}">
        <p14:creationId xmlns:p14="http://schemas.microsoft.com/office/powerpoint/2010/main" val="30213898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E37AC-1AAC-546A-64FD-EC13F5542793}"/>
            </a:ext>
          </a:extLst>
        </p:cNvPr>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BC3AD280-0B67-C094-D9B1-35A32A6E0069}"/>
              </a:ext>
            </a:extLst>
          </p:cNvPr>
          <p:cNvGraphicFramePr>
            <a:graphicFrameLocks noGrp="1"/>
          </p:cNvGraphicFramePr>
          <p:nvPr>
            <p:ph idx="1"/>
            <p:extLst>
              <p:ext uri="{D42A27DB-BD31-4B8C-83A1-F6EECF244321}">
                <p14:modId xmlns:p14="http://schemas.microsoft.com/office/powerpoint/2010/main" val="2326008340"/>
              </p:ext>
            </p:extLst>
          </p:nvPr>
        </p:nvGraphicFramePr>
        <p:xfrm>
          <a:off x="34507" y="448202"/>
          <a:ext cx="12111487" cy="6430699"/>
        </p:xfrm>
        <a:graphic>
          <a:graphicData uri="http://schemas.openxmlformats.org/drawingml/2006/table">
            <a:tbl>
              <a:tblPr firstRow="1" bandRow="1">
                <a:tableStyleId>{5C22544A-7EE6-4342-B048-85BDC9FD1C3A}</a:tableStyleId>
              </a:tblPr>
              <a:tblGrid>
                <a:gridCol w="2004203">
                  <a:extLst>
                    <a:ext uri="{9D8B030D-6E8A-4147-A177-3AD203B41FA5}">
                      <a16:colId xmlns:a16="http://schemas.microsoft.com/office/drawing/2014/main" val="4145778810"/>
                    </a:ext>
                  </a:extLst>
                </a:gridCol>
                <a:gridCol w="2004203">
                  <a:extLst>
                    <a:ext uri="{9D8B030D-6E8A-4147-A177-3AD203B41FA5}">
                      <a16:colId xmlns:a16="http://schemas.microsoft.com/office/drawing/2014/main" val="186388427"/>
                    </a:ext>
                  </a:extLst>
                </a:gridCol>
                <a:gridCol w="2004203">
                  <a:extLst>
                    <a:ext uri="{9D8B030D-6E8A-4147-A177-3AD203B41FA5}">
                      <a16:colId xmlns:a16="http://schemas.microsoft.com/office/drawing/2014/main" val="2779868177"/>
                    </a:ext>
                  </a:extLst>
                </a:gridCol>
                <a:gridCol w="2004203">
                  <a:extLst>
                    <a:ext uri="{9D8B030D-6E8A-4147-A177-3AD203B41FA5}">
                      <a16:colId xmlns:a16="http://schemas.microsoft.com/office/drawing/2014/main" val="2727681345"/>
                    </a:ext>
                  </a:extLst>
                </a:gridCol>
                <a:gridCol w="2004203">
                  <a:extLst>
                    <a:ext uri="{9D8B030D-6E8A-4147-A177-3AD203B41FA5}">
                      <a16:colId xmlns:a16="http://schemas.microsoft.com/office/drawing/2014/main" val="3898538417"/>
                    </a:ext>
                  </a:extLst>
                </a:gridCol>
                <a:gridCol w="2090472">
                  <a:extLst>
                    <a:ext uri="{9D8B030D-6E8A-4147-A177-3AD203B41FA5}">
                      <a16:colId xmlns:a16="http://schemas.microsoft.com/office/drawing/2014/main" val="3090142748"/>
                    </a:ext>
                  </a:extLst>
                </a:gridCol>
              </a:tblGrid>
              <a:tr h="749728">
                <a:tc>
                  <a:txBody>
                    <a:bodyPr/>
                    <a:lstStyle/>
                    <a:p>
                      <a:r>
                        <a:rPr lang="fr-FR" sz="2000" dirty="0"/>
                        <a:t>Change in:</a:t>
                      </a:r>
                    </a:p>
                  </a:txBody>
                  <a:tcPr marL="64262" marR="64262" marT="32131" marB="32131"/>
                </a:tc>
                <a:tc>
                  <a:txBody>
                    <a:bodyPr/>
                    <a:lstStyle/>
                    <a:p>
                      <a:pPr algn="ctr"/>
                      <a:r>
                        <a:rPr lang="fr-FR" sz="2000" dirty="0" err="1"/>
                        <a:t>Current</a:t>
                      </a:r>
                      <a:r>
                        <a:rPr lang="fr-FR" sz="2000" dirty="0"/>
                        <a:t> </a:t>
                      </a:r>
                      <a:r>
                        <a:rPr lang="fr-FR" sz="2000" dirty="0" err="1"/>
                        <a:t>assets</a:t>
                      </a:r>
                      <a:endParaRPr lang="fr-FR" sz="2000" dirty="0"/>
                    </a:p>
                  </a:txBody>
                  <a:tcPr marL="64262" marR="64262" marT="32131" marB="32131" anchor="ctr"/>
                </a:tc>
                <a:tc>
                  <a:txBody>
                    <a:bodyPr/>
                    <a:lstStyle/>
                    <a:p>
                      <a:pPr algn="ctr"/>
                      <a:r>
                        <a:rPr lang="fr-FR" sz="2000" dirty="0"/>
                        <a:t>Non-</a:t>
                      </a:r>
                      <a:r>
                        <a:rPr lang="fr-FR" sz="2000" dirty="0" err="1"/>
                        <a:t>current</a:t>
                      </a:r>
                      <a:r>
                        <a:rPr lang="fr-FR" sz="2000" dirty="0"/>
                        <a:t> </a:t>
                      </a:r>
                      <a:r>
                        <a:rPr lang="fr-FR" sz="2000" dirty="0" err="1"/>
                        <a:t>assets</a:t>
                      </a:r>
                      <a:endParaRPr lang="fr-FR" sz="2000" dirty="0"/>
                    </a:p>
                  </a:txBody>
                  <a:tcPr marL="64262" marR="64262" marT="32131" marB="32131" anchor="ctr"/>
                </a:tc>
                <a:tc>
                  <a:txBody>
                    <a:bodyPr/>
                    <a:lstStyle/>
                    <a:p>
                      <a:pPr algn="ctr"/>
                      <a:r>
                        <a:rPr lang="fr-FR" sz="2000" dirty="0" err="1"/>
                        <a:t>Current</a:t>
                      </a:r>
                      <a:r>
                        <a:rPr lang="fr-FR" sz="2000" dirty="0"/>
                        <a:t> </a:t>
                      </a:r>
                      <a:r>
                        <a:rPr lang="fr-FR" sz="2000" dirty="0" err="1"/>
                        <a:t>liabilities</a:t>
                      </a:r>
                      <a:endParaRPr lang="fr-FR" sz="2000" dirty="0"/>
                    </a:p>
                  </a:txBody>
                  <a:tcPr marL="64262" marR="64262" marT="32131" marB="32131" anchor="ctr"/>
                </a:tc>
                <a:tc>
                  <a:txBody>
                    <a:bodyPr/>
                    <a:lstStyle/>
                    <a:p>
                      <a:pPr algn="ctr"/>
                      <a:r>
                        <a:rPr lang="fr-FR" sz="2000" dirty="0"/>
                        <a:t>Non-</a:t>
                      </a:r>
                      <a:r>
                        <a:rPr lang="fr-FR" sz="2000" dirty="0" err="1"/>
                        <a:t>current</a:t>
                      </a:r>
                      <a:r>
                        <a:rPr lang="fr-FR" sz="2000" dirty="0"/>
                        <a:t> </a:t>
                      </a:r>
                      <a:r>
                        <a:rPr lang="fr-FR" sz="2000" dirty="0" err="1"/>
                        <a:t>liabilities</a:t>
                      </a:r>
                      <a:endParaRPr lang="fr-FR" sz="2000" dirty="0"/>
                    </a:p>
                  </a:txBody>
                  <a:tcPr marL="64262" marR="64262" marT="32131" marB="32131" anchor="ctr"/>
                </a:tc>
                <a:tc>
                  <a:txBody>
                    <a:bodyPr/>
                    <a:lstStyle/>
                    <a:p>
                      <a:pPr algn="ctr"/>
                      <a:r>
                        <a:rPr lang="fr-FR" sz="2000" dirty="0" err="1"/>
                        <a:t>Equity</a:t>
                      </a:r>
                      <a:endParaRPr lang="fr-FR" sz="2000" dirty="0"/>
                    </a:p>
                  </a:txBody>
                  <a:tcPr marL="64262" marR="64262" marT="32131" marB="32131" anchor="ctr"/>
                </a:tc>
                <a:extLst>
                  <a:ext uri="{0D108BD9-81ED-4DB2-BD59-A6C34878D82A}">
                    <a16:rowId xmlns:a16="http://schemas.microsoft.com/office/drawing/2014/main" val="1917803698"/>
                  </a:ext>
                </a:extLst>
              </a:tr>
              <a:tr h="607953">
                <a:tc>
                  <a:txBody>
                    <a:bodyPr/>
                    <a:lstStyle/>
                    <a:p>
                      <a:r>
                        <a:rPr lang="fr-FR" sz="2000" dirty="0"/>
                        <a:t>Equipment acquisition on </a:t>
                      </a:r>
                      <a:r>
                        <a:rPr lang="fr-FR" sz="2000" dirty="0" err="1"/>
                        <a:t>credit</a:t>
                      </a:r>
                      <a:r>
                        <a:rPr lang="fr-FR" sz="2000" dirty="0"/>
                        <a:t> (</a:t>
                      </a:r>
                      <a:r>
                        <a:rPr lang="fr-FR" sz="2000" dirty="0" err="1"/>
                        <a:t>January</a:t>
                      </a:r>
                      <a:r>
                        <a:rPr lang="fr-FR" sz="2000" dirty="0"/>
                        <a:t> 1st)</a:t>
                      </a:r>
                    </a:p>
                  </a:txBody>
                  <a:tcPr marL="64262" marR="64262" marT="32131" marB="32131"/>
                </a:tc>
                <a:tc>
                  <a:txBody>
                    <a:bodyPr/>
                    <a:lstStyle/>
                    <a:p>
                      <a:pPr algn="ctr"/>
                      <a:endParaRPr lang="fr-FR" sz="2000" dirty="0"/>
                    </a:p>
                    <a:p>
                      <a:pPr algn="ctr"/>
                      <a:endParaRPr lang="fr-FR" sz="2000" dirty="0"/>
                    </a:p>
                    <a:p>
                      <a:pPr algn="ctr"/>
                      <a:endParaRPr lang="fr-FR" sz="2000" dirty="0"/>
                    </a:p>
                    <a:p>
                      <a:pPr algn="ctr"/>
                      <a:endParaRPr lang="fr-FR" sz="2000" dirty="0"/>
                    </a:p>
                  </a:txBody>
                  <a:tcPr marL="64262" marR="64262" marT="32131" marB="32131"/>
                </a:tc>
                <a:tc>
                  <a:txBody>
                    <a:bodyPr/>
                    <a:lstStyle/>
                    <a:p>
                      <a:pPr algn="ctr"/>
                      <a:r>
                        <a:rPr lang="fr-FR" sz="2000" dirty="0"/>
                        <a:t>Equipment: RMD400,000</a:t>
                      </a:r>
                    </a:p>
                  </a:txBody>
                  <a:tcPr marL="64262" marR="64262" marT="32131" marB="32131"/>
                </a:tc>
                <a:tc>
                  <a:txBody>
                    <a:bodyPr/>
                    <a:lstStyle/>
                    <a:p>
                      <a:pPr algn="ctr"/>
                      <a:r>
                        <a:rPr lang="fr-FR" sz="2000" dirty="0" err="1"/>
                        <a:t>Accounts</a:t>
                      </a:r>
                      <a:r>
                        <a:rPr lang="fr-FR" sz="2000" dirty="0"/>
                        <a:t> payable (</a:t>
                      </a:r>
                      <a:r>
                        <a:rPr lang="fr-FR" sz="2000" dirty="0" err="1"/>
                        <a:t>suppliers</a:t>
                      </a:r>
                      <a:r>
                        <a:rPr lang="fr-FR" sz="2000" dirty="0"/>
                        <a:t> of </a:t>
                      </a:r>
                      <a:r>
                        <a:rPr lang="fr-FR" sz="2000" dirty="0" err="1"/>
                        <a:t>equipment</a:t>
                      </a:r>
                      <a:r>
                        <a:rPr lang="fr-FR" sz="2000" dirty="0"/>
                        <a:t>): RMD400,000</a:t>
                      </a:r>
                    </a:p>
                  </a:txBody>
                  <a:tcPr marL="64262" marR="64262" marT="32131" marB="32131"/>
                </a:tc>
                <a:tc>
                  <a:txBody>
                    <a:bodyPr/>
                    <a:lstStyle/>
                    <a:p>
                      <a:pPr algn="ctr"/>
                      <a:endParaRPr lang="fr-FR" sz="2000" dirty="0"/>
                    </a:p>
                  </a:txBody>
                  <a:tcPr marL="64262" marR="64262" marT="32131" marB="32131"/>
                </a:tc>
                <a:tc>
                  <a:txBody>
                    <a:bodyPr/>
                    <a:lstStyle/>
                    <a:p>
                      <a:pPr algn="ctr"/>
                      <a:endParaRPr lang="fr-FR" sz="2000" dirty="0"/>
                    </a:p>
                  </a:txBody>
                  <a:tcPr marL="64262" marR="64262" marT="32131" marB="32131"/>
                </a:tc>
                <a:extLst>
                  <a:ext uri="{0D108BD9-81ED-4DB2-BD59-A6C34878D82A}">
                    <a16:rowId xmlns:a16="http://schemas.microsoft.com/office/drawing/2014/main" val="822261428"/>
                  </a:ext>
                </a:extLst>
              </a:tr>
              <a:tr h="1220985">
                <a:tc>
                  <a:txBody>
                    <a:bodyPr/>
                    <a:lstStyle/>
                    <a:p>
                      <a:r>
                        <a:rPr lang="fr-FR" sz="2000" dirty="0"/>
                        <a:t>Equipment </a:t>
                      </a:r>
                      <a:r>
                        <a:rPr lang="fr-FR" sz="2000" dirty="0" err="1"/>
                        <a:t>payment</a:t>
                      </a:r>
                      <a:endParaRPr lang="fr-FR" sz="2000" dirty="0"/>
                    </a:p>
                    <a:p>
                      <a:r>
                        <a:rPr lang="fr-FR" sz="2000" dirty="0"/>
                        <a:t>(March 31)</a:t>
                      </a:r>
                    </a:p>
                  </a:txBody>
                  <a:tcPr marL="64262" marR="64262" marT="32131" marB="32131"/>
                </a:tc>
                <a:tc>
                  <a:txBody>
                    <a:bodyPr/>
                    <a:lstStyle/>
                    <a:p>
                      <a:pPr algn="ctr"/>
                      <a:r>
                        <a:rPr lang="fr-FR" sz="2000" dirty="0"/>
                        <a:t>Cash and cash </a:t>
                      </a:r>
                      <a:r>
                        <a:rPr lang="fr-FR" sz="2000" dirty="0" err="1"/>
                        <a:t>equivalents</a:t>
                      </a:r>
                      <a:r>
                        <a:rPr lang="fr-FR" sz="2000" dirty="0"/>
                        <a:t>: RMD(400,000)</a:t>
                      </a:r>
                    </a:p>
                  </a:txBody>
                  <a:tcPr marL="64262" marR="64262" marT="32131" marB="32131"/>
                </a:tc>
                <a:tc>
                  <a:txBody>
                    <a:bodyPr/>
                    <a:lstStyle/>
                    <a:p>
                      <a:pPr algn="ctr"/>
                      <a:endParaRPr lang="fr-FR" sz="2000" dirty="0"/>
                    </a:p>
                  </a:txBody>
                  <a:tcPr marL="64262" marR="64262" marT="32131" marB="3213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2000" dirty="0" err="1"/>
                        <a:t>Accounts</a:t>
                      </a:r>
                      <a:r>
                        <a:rPr lang="fr-FR" sz="2000" dirty="0"/>
                        <a:t> payable (</a:t>
                      </a:r>
                      <a:r>
                        <a:rPr lang="fr-FR" sz="2000" dirty="0" err="1"/>
                        <a:t>suppliers</a:t>
                      </a:r>
                      <a:r>
                        <a:rPr lang="fr-FR" sz="2000" dirty="0"/>
                        <a:t> of </a:t>
                      </a:r>
                      <a:r>
                        <a:rPr lang="fr-FR" sz="2000" dirty="0" err="1"/>
                        <a:t>equipment</a:t>
                      </a:r>
                      <a:r>
                        <a:rPr lang="fr-FR" sz="2000" dirty="0"/>
                        <a:t>): RMD(400,000)</a:t>
                      </a:r>
                    </a:p>
                  </a:txBody>
                  <a:tcPr marL="64262" marR="64262" marT="32131" marB="32131"/>
                </a:tc>
                <a:tc>
                  <a:txBody>
                    <a:bodyPr/>
                    <a:lstStyle/>
                    <a:p>
                      <a:pPr algn="ctr"/>
                      <a:endParaRPr lang="fr-FR" sz="2000" dirty="0"/>
                    </a:p>
                  </a:txBody>
                  <a:tcPr marL="64262" marR="64262" marT="32131" marB="32131"/>
                </a:tc>
                <a:tc>
                  <a:txBody>
                    <a:bodyPr/>
                    <a:lstStyle/>
                    <a:p>
                      <a:pPr algn="ctr"/>
                      <a:endParaRPr lang="fr-FR" sz="2000" dirty="0"/>
                    </a:p>
                  </a:txBody>
                  <a:tcPr marL="64262" marR="64262" marT="32131" marB="32131"/>
                </a:tc>
                <a:extLst>
                  <a:ext uri="{0D108BD9-81ED-4DB2-BD59-A6C34878D82A}">
                    <a16:rowId xmlns:a16="http://schemas.microsoft.com/office/drawing/2014/main" val="570082183"/>
                  </a:ext>
                </a:extLst>
              </a:tr>
              <a:tr h="1220985">
                <a:tc>
                  <a:txBody>
                    <a:bodyPr/>
                    <a:lstStyle/>
                    <a:p>
                      <a:r>
                        <a:rPr lang="fr-FR" sz="2000" dirty="0" err="1"/>
                        <a:t>Decembre</a:t>
                      </a:r>
                      <a:r>
                        <a:rPr lang="fr-FR" sz="2000" dirty="0"/>
                        <a:t> 31</a:t>
                      </a:r>
                    </a:p>
                    <a:p>
                      <a:r>
                        <a:rPr lang="fr-FR" sz="2000" dirty="0"/>
                        <a:t>(</a:t>
                      </a:r>
                      <a:r>
                        <a:rPr lang="fr-FR" sz="2000" dirty="0" err="1"/>
                        <a:t>cut</a:t>
                      </a:r>
                      <a:r>
                        <a:rPr lang="fr-FR" sz="2000" dirty="0"/>
                        <a:t> off)</a:t>
                      </a:r>
                    </a:p>
                  </a:txBody>
                  <a:tcPr marL="64262" marR="64262" marT="32131" marB="32131">
                    <a:lnB w="12700" cap="flat" cmpd="sng" algn="ctr">
                      <a:solidFill>
                        <a:schemeClr val="tx1"/>
                      </a:solidFill>
                      <a:prstDash val="solid"/>
                      <a:round/>
                      <a:headEnd type="none" w="med" len="med"/>
                      <a:tailEnd type="none" w="med" len="med"/>
                    </a:lnB>
                  </a:tcPr>
                </a:tc>
                <a:tc>
                  <a:txBody>
                    <a:bodyPr/>
                    <a:lstStyle/>
                    <a:p>
                      <a:pPr algn="ctr"/>
                      <a:endParaRPr lang="fr-FR" sz="2000" dirty="0"/>
                    </a:p>
                    <a:p>
                      <a:pPr algn="ctr"/>
                      <a:endParaRPr lang="fr-FR" sz="2000" dirty="0"/>
                    </a:p>
                  </a:txBody>
                  <a:tcPr marL="64262" marR="64262" marT="32131" marB="32131">
                    <a:lnB w="12700" cap="flat" cmpd="sng" algn="ctr">
                      <a:solidFill>
                        <a:schemeClr val="tx1"/>
                      </a:solidFill>
                      <a:prstDash val="solid"/>
                      <a:round/>
                      <a:headEnd type="none" w="med" len="med"/>
                      <a:tailEnd type="none" w="med" len="med"/>
                    </a:lnB>
                  </a:tcPr>
                </a:tc>
                <a:tc>
                  <a:txBody>
                    <a:bodyPr/>
                    <a:lstStyle/>
                    <a:p>
                      <a:pPr algn="ctr"/>
                      <a:r>
                        <a:rPr lang="fr-FR" sz="2000" dirty="0" err="1"/>
                        <a:t>Accumulated</a:t>
                      </a:r>
                      <a:r>
                        <a:rPr lang="fr-FR" sz="2000" dirty="0"/>
                        <a:t> </a:t>
                      </a:r>
                      <a:r>
                        <a:rPr lang="fr-FR" sz="2000" dirty="0" err="1"/>
                        <a:t>depreciation</a:t>
                      </a:r>
                      <a:r>
                        <a:rPr lang="fr-FR" sz="2000" dirty="0"/>
                        <a:t>:</a:t>
                      </a:r>
                    </a:p>
                    <a:p>
                      <a:pPr algn="ctr"/>
                      <a:r>
                        <a:rPr lang="fr-FR" sz="2000" dirty="0"/>
                        <a:t>RMD(70,000)</a:t>
                      </a:r>
                    </a:p>
                  </a:txBody>
                  <a:tcPr marL="64262" marR="64262" marT="32131" marB="32131">
                    <a:lnB w="12700" cap="flat" cmpd="sng" algn="ctr">
                      <a:solidFill>
                        <a:schemeClr val="tx1"/>
                      </a:solidFill>
                      <a:prstDash val="solid"/>
                      <a:round/>
                      <a:headEnd type="none" w="med" len="med"/>
                      <a:tailEnd type="none" w="med" len="med"/>
                    </a:lnB>
                  </a:tcPr>
                </a:tc>
                <a:tc>
                  <a:txBody>
                    <a:bodyPr/>
                    <a:lstStyle/>
                    <a:p>
                      <a:pPr algn="ctr"/>
                      <a:endParaRPr lang="fr-FR" sz="2000" dirty="0"/>
                    </a:p>
                  </a:txBody>
                  <a:tcPr marL="64262" marR="64262" marT="32131" marB="32131">
                    <a:lnB w="12700" cap="flat" cmpd="sng" algn="ctr">
                      <a:solidFill>
                        <a:schemeClr val="tx1"/>
                      </a:solidFill>
                      <a:prstDash val="solid"/>
                      <a:round/>
                      <a:headEnd type="none" w="med" len="med"/>
                      <a:tailEnd type="none" w="med" len="med"/>
                    </a:lnB>
                  </a:tcPr>
                </a:tc>
                <a:tc>
                  <a:txBody>
                    <a:bodyPr/>
                    <a:lstStyle/>
                    <a:p>
                      <a:pPr algn="ctr"/>
                      <a:endParaRPr lang="fr-FR" sz="2000" dirty="0"/>
                    </a:p>
                  </a:txBody>
                  <a:tcPr marL="64262" marR="64262" marT="32131" marB="32131">
                    <a:lnB w="12700" cap="flat" cmpd="sng" algn="ctr">
                      <a:solidFill>
                        <a:schemeClr val="tx1"/>
                      </a:solidFill>
                      <a:prstDash val="solid"/>
                      <a:round/>
                      <a:headEnd type="none" w="med" len="med"/>
                      <a:tailEnd type="none" w="med" len="med"/>
                    </a:lnB>
                  </a:tcPr>
                </a:tc>
                <a:tc>
                  <a:txBody>
                    <a:bodyPr/>
                    <a:lstStyle/>
                    <a:p>
                      <a:pPr algn="ctr"/>
                      <a:r>
                        <a:rPr lang="fr-FR" sz="2000" dirty="0" err="1"/>
                        <a:t>Depreciation</a:t>
                      </a:r>
                      <a:r>
                        <a:rPr lang="fr-FR" sz="2000" dirty="0"/>
                        <a:t> </a:t>
                      </a:r>
                      <a:r>
                        <a:rPr lang="fr-FR" sz="2000" dirty="0" err="1"/>
                        <a:t>expense</a:t>
                      </a:r>
                      <a:r>
                        <a:rPr lang="fr-FR" sz="2000" dirty="0"/>
                        <a:t> </a:t>
                      </a:r>
                    </a:p>
                    <a:p>
                      <a:pPr algn="ctr"/>
                      <a:r>
                        <a:rPr lang="fr-FR" sz="2000" dirty="0"/>
                        <a:t>RMD (70,000)</a:t>
                      </a:r>
                    </a:p>
                  </a:txBody>
                  <a:tcPr marL="64262" marR="64262" marT="32131" marB="32131">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8378948"/>
                  </a:ext>
                </a:extLst>
              </a:tr>
              <a:tr h="1220985">
                <a:tc>
                  <a:txBody>
                    <a:bodyPr/>
                    <a:lstStyle/>
                    <a:p>
                      <a:r>
                        <a:rPr lang="fr-FR" sz="2000" dirty="0"/>
                        <a:t>Total </a:t>
                      </a:r>
                      <a:r>
                        <a:rPr lang="fr-FR" sz="2000" dirty="0" err="1"/>
                        <a:t>effects</a:t>
                      </a:r>
                      <a:r>
                        <a:rPr lang="fr-FR" sz="2000" dirty="0"/>
                        <a:t> (in 2025)</a:t>
                      </a:r>
                    </a:p>
                  </a:txBody>
                  <a:tcPr marL="64262" marR="64262" marT="32131" marB="32131">
                    <a:lnT w="12700" cap="flat" cmpd="sng" algn="ctr">
                      <a:solidFill>
                        <a:schemeClr val="tx1"/>
                      </a:solidFill>
                      <a:prstDash val="solid"/>
                      <a:round/>
                      <a:headEnd type="none" w="med" len="med"/>
                      <a:tailEnd type="none" w="med" len="med"/>
                    </a:lnT>
                  </a:tcPr>
                </a:tc>
                <a:tc>
                  <a:txBody>
                    <a:bodyPr/>
                    <a:lstStyle/>
                    <a:p>
                      <a:pPr algn="ctr"/>
                      <a:r>
                        <a:rPr lang="fr-FR" sz="2000" dirty="0"/>
                        <a:t>(400,000)</a:t>
                      </a:r>
                    </a:p>
                    <a:p>
                      <a:pPr algn="ctr"/>
                      <a:r>
                        <a:rPr lang="fr-FR" sz="2000" dirty="0"/>
                        <a:t>Reduction in cash and cash </a:t>
                      </a:r>
                      <a:r>
                        <a:rPr lang="fr-FR" sz="2000" dirty="0" err="1"/>
                        <a:t>equivalents</a:t>
                      </a:r>
                      <a:endParaRPr lang="fr-FR" sz="2000" dirty="0"/>
                    </a:p>
                  </a:txBody>
                  <a:tcPr marL="64262" marR="64262" marT="32131" marB="32131">
                    <a:lnT w="12700" cap="flat" cmpd="sng" algn="ctr">
                      <a:solidFill>
                        <a:schemeClr val="tx1"/>
                      </a:solidFill>
                      <a:prstDash val="solid"/>
                      <a:round/>
                      <a:headEnd type="none" w="med" len="med"/>
                      <a:tailEnd type="none" w="med" len="med"/>
                    </a:lnT>
                  </a:tcPr>
                </a:tc>
                <a:tc>
                  <a:txBody>
                    <a:bodyPr/>
                    <a:lstStyle/>
                    <a:p>
                      <a:pPr algn="ctr"/>
                      <a:r>
                        <a:rPr lang="fr-FR" sz="2000" dirty="0"/>
                        <a:t>330,000</a:t>
                      </a:r>
                    </a:p>
                    <a:p>
                      <a:pPr algn="ctr"/>
                      <a:r>
                        <a:rPr lang="fr-FR" sz="2000" dirty="0"/>
                        <a:t>Equipment at net value</a:t>
                      </a:r>
                    </a:p>
                  </a:txBody>
                  <a:tcPr marL="64262" marR="64262" marT="32131" marB="32131">
                    <a:lnT w="12700" cap="flat" cmpd="sng" algn="ctr">
                      <a:solidFill>
                        <a:schemeClr val="tx1"/>
                      </a:solidFill>
                      <a:prstDash val="solid"/>
                      <a:round/>
                      <a:headEnd type="none" w="med" len="med"/>
                      <a:tailEnd type="none" w="med" len="med"/>
                    </a:lnT>
                  </a:tcPr>
                </a:tc>
                <a:tc>
                  <a:txBody>
                    <a:bodyPr/>
                    <a:lstStyle/>
                    <a:p>
                      <a:pPr algn="ctr"/>
                      <a:r>
                        <a:rPr lang="fr-FR" sz="2000" dirty="0"/>
                        <a:t>0</a:t>
                      </a:r>
                    </a:p>
                  </a:txBody>
                  <a:tcPr marL="64262" marR="64262" marT="32131" marB="32131">
                    <a:lnT w="12700" cap="flat" cmpd="sng" algn="ctr">
                      <a:solidFill>
                        <a:schemeClr val="tx1"/>
                      </a:solidFill>
                      <a:prstDash val="solid"/>
                      <a:round/>
                      <a:headEnd type="none" w="med" len="med"/>
                      <a:tailEnd type="none" w="med" len="med"/>
                    </a:lnT>
                  </a:tcPr>
                </a:tc>
                <a:tc>
                  <a:txBody>
                    <a:bodyPr/>
                    <a:lstStyle/>
                    <a:p>
                      <a:pPr algn="ctr"/>
                      <a:r>
                        <a:rPr lang="fr-FR" sz="2000" dirty="0"/>
                        <a:t>0</a:t>
                      </a:r>
                    </a:p>
                  </a:txBody>
                  <a:tcPr marL="64262" marR="64262" marT="32131" marB="32131">
                    <a:lnT w="12700" cap="flat" cmpd="sng" algn="ctr">
                      <a:solidFill>
                        <a:schemeClr val="tx1"/>
                      </a:solidFill>
                      <a:prstDash val="solid"/>
                      <a:round/>
                      <a:headEnd type="none" w="med" len="med"/>
                      <a:tailEnd type="none" w="med" len="med"/>
                    </a:lnT>
                  </a:tcPr>
                </a:tc>
                <a:tc>
                  <a:txBody>
                    <a:bodyPr/>
                    <a:lstStyle/>
                    <a:p>
                      <a:pPr algn="ctr"/>
                      <a:r>
                        <a:rPr lang="fr-FR" sz="2000" dirty="0"/>
                        <a:t>(70,000)</a:t>
                      </a:r>
                    </a:p>
                    <a:p>
                      <a:pPr algn="ctr"/>
                      <a:r>
                        <a:rPr lang="fr-FR" sz="2000" dirty="0" err="1"/>
                        <a:t>Depreciation</a:t>
                      </a:r>
                      <a:r>
                        <a:rPr lang="fr-FR" sz="2000" dirty="0"/>
                        <a:t> </a:t>
                      </a:r>
                      <a:r>
                        <a:rPr lang="fr-FR" sz="2000" dirty="0" err="1"/>
                        <a:t>expense</a:t>
                      </a:r>
                      <a:r>
                        <a:rPr lang="fr-FR" sz="2000" dirty="0"/>
                        <a:t> (</a:t>
                      </a:r>
                      <a:r>
                        <a:rPr lang="fr-FR" sz="2000" dirty="0" err="1"/>
                        <a:t>income</a:t>
                      </a:r>
                      <a:r>
                        <a:rPr lang="fr-FR" sz="2000" dirty="0"/>
                        <a:t> </a:t>
                      </a:r>
                      <a:r>
                        <a:rPr lang="fr-FR" sz="2000" dirty="0" err="1"/>
                        <a:t>statement</a:t>
                      </a:r>
                      <a:r>
                        <a:rPr lang="fr-FR" sz="2000" dirty="0"/>
                        <a:t>)</a:t>
                      </a:r>
                    </a:p>
                  </a:txBody>
                  <a:tcPr marL="64262" marR="64262" marT="32131" marB="32131">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972047403"/>
                  </a:ext>
                </a:extLst>
              </a:tr>
            </a:tbl>
          </a:graphicData>
        </a:graphic>
      </p:graphicFrame>
      <p:sp>
        <p:nvSpPr>
          <p:cNvPr id="3" name="Title 2">
            <a:extLst>
              <a:ext uri="{FF2B5EF4-FFF2-40B4-BE49-F238E27FC236}">
                <a16:creationId xmlns:a16="http://schemas.microsoft.com/office/drawing/2014/main" id="{4DE4D17C-8C50-EAA2-316A-3FFD88A331EC}"/>
              </a:ext>
            </a:extLst>
          </p:cNvPr>
          <p:cNvSpPr>
            <a:spLocks noGrp="1"/>
          </p:cNvSpPr>
          <p:nvPr>
            <p:ph type="title"/>
          </p:nvPr>
        </p:nvSpPr>
        <p:spPr>
          <a:xfrm>
            <a:off x="1673532" y="15837"/>
            <a:ext cx="11286176" cy="633686"/>
          </a:xfrm>
        </p:spPr>
        <p:txBody>
          <a:bodyPr/>
          <a:lstStyle/>
          <a:p>
            <a:r>
              <a:rPr lang="fr-FR" dirty="0"/>
              <a:t>Equipment </a:t>
            </a:r>
            <a:r>
              <a:rPr lang="fr-FR" dirty="0" err="1"/>
              <a:t>effects</a:t>
            </a:r>
            <a:r>
              <a:rPr lang="fr-FR" dirty="0"/>
              <a:t> on balance </a:t>
            </a:r>
            <a:r>
              <a:rPr lang="fr-FR" dirty="0" err="1"/>
              <a:t>sheet</a:t>
            </a:r>
            <a:endParaRPr lang="fr-FR" dirty="0"/>
          </a:p>
        </p:txBody>
      </p:sp>
      <p:sp>
        <p:nvSpPr>
          <p:cNvPr id="5" name="Slide Number Placeholder 4">
            <a:extLst>
              <a:ext uri="{FF2B5EF4-FFF2-40B4-BE49-F238E27FC236}">
                <a16:creationId xmlns:a16="http://schemas.microsoft.com/office/drawing/2014/main" id="{8B556E12-9BE6-DC04-107D-8844A672BD01}"/>
              </a:ext>
            </a:extLst>
          </p:cNvPr>
          <p:cNvSpPr>
            <a:spLocks noGrp="1"/>
          </p:cNvSpPr>
          <p:nvPr>
            <p:ph type="sldNum" sz="quarter" idx="12"/>
          </p:nvPr>
        </p:nvSpPr>
        <p:spPr/>
        <p:txBody>
          <a:bodyPr/>
          <a:lstStyle/>
          <a:p>
            <a:fld id="{307C7597-8D70-4701-8085-9524B0B5C72B}" type="slidenum">
              <a:rPr lang="fr-FR" smtClean="0"/>
              <a:pPr/>
              <a:t>13</a:t>
            </a:fld>
            <a:endParaRPr lang="fr-FR" dirty="0"/>
          </a:p>
        </p:txBody>
      </p:sp>
    </p:spTree>
    <p:extLst>
      <p:ext uri="{BB962C8B-B14F-4D97-AF65-F5344CB8AC3E}">
        <p14:creationId xmlns:p14="http://schemas.microsoft.com/office/powerpoint/2010/main" val="17297063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BA4C5-871F-C3B7-C5C8-4D1BF3CEECDE}"/>
              </a:ext>
            </a:extLst>
          </p:cNvPr>
          <p:cNvSpPr>
            <a:spLocks noGrp="1"/>
          </p:cNvSpPr>
          <p:nvPr>
            <p:ph type="title"/>
          </p:nvPr>
        </p:nvSpPr>
        <p:spPr>
          <a:xfrm>
            <a:off x="656844" y="487045"/>
            <a:ext cx="10829544" cy="897872"/>
          </a:xfrm>
        </p:spPr>
        <p:txBody>
          <a:bodyPr>
            <a:normAutofit fontScale="90000"/>
          </a:bodyPr>
          <a:lstStyle/>
          <a:p>
            <a:r>
              <a:rPr lang="en-US" dirty="0"/>
              <a:t>Basic business equation: all is included in the balance sheet</a:t>
            </a:r>
            <a:br>
              <a:rPr lang="en-US" dirty="0"/>
            </a:br>
            <a:br>
              <a:rPr lang="en-US" dirty="0"/>
            </a:br>
            <a:endParaRPr lang="en-US" dirty="0"/>
          </a:p>
        </p:txBody>
      </p:sp>
      <p:sp>
        <p:nvSpPr>
          <p:cNvPr id="4" name="Slide Number Placeholder 3">
            <a:extLst>
              <a:ext uri="{FF2B5EF4-FFF2-40B4-BE49-F238E27FC236}">
                <a16:creationId xmlns:a16="http://schemas.microsoft.com/office/drawing/2014/main" id="{1908EAE0-7FC9-9E69-6C8B-B52850E6C26B}"/>
              </a:ext>
            </a:extLst>
          </p:cNvPr>
          <p:cNvSpPr>
            <a:spLocks noGrp="1"/>
          </p:cNvSpPr>
          <p:nvPr>
            <p:ph type="sldNum" sz="quarter" idx="10"/>
          </p:nvPr>
        </p:nvSpPr>
        <p:spPr/>
        <p:txBody>
          <a:bodyPr/>
          <a:lstStyle/>
          <a:p>
            <a:fld id="{421B1A79-1F45-8F4F-AED5-0EE30DCF0380}" type="slidenum">
              <a:rPr lang="fr-FR" smtClean="0"/>
              <a:t>14</a:t>
            </a:fld>
            <a:endParaRPr lang="fr-FR"/>
          </a:p>
        </p:txBody>
      </p:sp>
      <p:sp>
        <p:nvSpPr>
          <p:cNvPr id="5" name="Slide Number Placeholder 4">
            <a:extLst>
              <a:ext uri="{FF2B5EF4-FFF2-40B4-BE49-F238E27FC236}">
                <a16:creationId xmlns:a16="http://schemas.microsoft.com/office/drawing/2014/main" id="{36A6C24B-EF62-6380-FAD7-CB745016F7DF}"/>
              </a:ext>
            </a:extLst>
          </p:cNvPr>
          <p:cNvSpPr txBox="1">
            <a:spLocks/>
          </p:cNvSpPr>
          <p:nvPr/>
        </p:nvSpPr>
        <p:spPr>
          <a:xfrm>
            <a:off x="5746228" y="5376992"/>
            <a:ext cx="718774"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07C7597-8D70-4701-8085-9524B0B5C72B}" type="slidenum">
              <a:rPr lang="fr-FR" smtClean="0"/>
              <a:pPr/>
              <a:t>14</a:t>
            </a:fld>
            <a:endParaRPr lang="fr-FR" dirty="0"/>
          </a:p>
        </p:txBody>
      </p:sp>
      <p:sp>
        <p:nvSpPr>
          <p:cNvPr id="6" name="TextBox 5">
            <a:extLst>
              <a:ext uri="{FF2B5EF4-FFF2-40B4-BE49-F238E27FC236}">
                <a16:creationId xmlns:a16="http://schemas.microsoft.com/office/drawing/2014/main" id="{7806CACE-B095-ACB1-7B5A-0811E25615AD}"/>
              </a:ext>
            </a:extLst>
          </p:cNvPr>
          <p:cNvSpPr txBox="1"/>
          <p:nvPr/>
        </p:nvSpPr>
        <p:spPr>
          <a:xfrm>
            <a:off x="1393774" y="991289"/>
            <a:ext cx="8924634" cy="584455"/>
          </a:xfrm>
          <a:prstGeom prst="rect">
            <a:avLst/>
          </a:prstGeom>
          <a:solidFill>
            <a:schemeClr val="bg1">
              <a:lumMod val="95000"/>
            </a:schemeClr>
          </a:solidFill>
        </p:spPr>
        <p:txBody>
          <a:bodyPr wrap="square" rtlCol="0">
            <a:spAutoFit/>
          </a:bodyPr>
          <a:lstStyle/>
          <a:p>
            <a:pPr algn="ctr"/>
            <a:r>
              <a:rPr lang="en-US" sz="3198" dirty="0">
                <a:solidFill>
                  <a:srgbClr val="FF0000"/>
                </a:solidFill>
              </a:rPr>
              <a:t>Balance sheet (BS) </a:t>
            </a:r>
            <a:r>
              <a:rPr lang="en-US" sz="3198" dirty="0"/>
              <a:t>represented as an equation</a:t>
            </a:r>
          </a:p>
        </p:txBody>
      </p:sp>
      <p:sp>
        <p:nvSpPr>
          <p:cNvPr id="7" name="TextBox 6">
            <a:extLst>
              <a:ext uri="{FF2B5EF4-FFF2-40B4-BE49-F238E27FC236}">
                <a16:creationId xmlns:a16="http://schemas.microsoft.com/office/drawing/2014/main" id="{CEED6702-E574-2905-8F2C-2446F87128B4}"/>
              </a:ext>
            </a:extLst>
          </p:cNvPr>
          <p:cNvSpPr txBox="1"/>
          <p:nvPr/>
        </p:nvSpPr>
        <p:spPr>
          <a:xfrm>
            <a:off x="1765495" y="5866711"/>
            <a:ext cx="5815730" cy="461537"/>
          </a:xfrm>
          <a:prstGeom prst="rect">
            <a:avLst/>
          </a:prstGeom>
          <a:solidFill>
            <a:schemeClr val="bg1">
              <a:lumMod val="95000"/>
            </a:schemeClr>
          </a:solidFill>
        </p:spPr>
        <p:txBody>
          <a:bodyPr wrap="square" rtlCol="0">
            <a:spAutoFit/>
          </a:bodyPr>
          <a:lstStyle/>
          <a:p>
            <a:r>
              <a:rPr lang="en-US" sz="2399" dirty="0"/>
              <a:t>All the financial statements in one.</a:t>
            </a:r>
          </a:p>
        </p:txBody>
      </p:sp>
      <p:cxnSp>
        <p:nvCxnSpPr>
          <p:cNvPr id="8" name="Straight Arrow Connector 7">
            <a:extLst>
              <a:ext uri="{FF2B5EF4-FFF2-40B4-BE49-F238E27FC236}">
                <a16:creationId xmlns:a16="http://schemas.microsoft.com/office/drawing/2014/main" id="{E05E92F0-3771-E0BE-DF69-15E3AE82FA79}"/>
              </a:ext>
            </a:extLst>
          </p:cNvPr>
          <p:cNvCxnSpPr>
            <a:cxnSpLocks/>
          </p:cNvCxnSpPr>
          <p:nvPr/>
        </p:nvCxnSpPr>
        <p:spPr>
          <a:xfrm flipV="1">
            <a:off x="7823349" y="3520772"/>
            <a:ext cx="1693337" cy="98850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290FFCA-F1A7-378E-678E-FB196D314F11}"/>
              </a:ext>
            </a:extLst>
          </p:cNvPr>
          <p:cNvSpPr txBox="1"/>
          <p:nvPr/>
        </p:nvSpPr>
        <p:spPr>
          <a:xfrm>
            <a:off x="5027293" y="4509274"/>
            <a:ext cx="2987984" cy="784574"/>
          </a:xfrm>
          <a:prstGeom prst="rect">
            <a:avLst/>
          </a:prstGeom>
          <a:noFill/>
        </p:spPr>
        <p:txBody>
          <a:bodyPr wrap="square" rtlCol="0">
            <a:spAutoFit/>
          </a:bodyPr>
          <a:lstStyle/>
          <a:p>
            <a:pPr algn="ctr"/>
            <a:r>
              <a:rPr lang="fr-FR" sz="2249" dirty="0" err="1">
                <a:solidFill>
                  <a:srgbClr val="FF0000"/>
                </a:solidFill>
              </a:rPr>
              <a:t>Statement</a:t>
            </a:r>
            <a:r>
              <a:rPr lang="fr-FR" sz="2249" dirty="0">
                <a:solidFill>
                  <a:srgbClr val="FF0000"/>
                </a:solidFill>
              </a:rPr>
              <a:t> of change in </a:t>
            </a:r>
            <a:r>
              <a:rPr lang="fr-FR" sz="2249" dirty="0" err="1">
                <a:solidFill>
                  <a:srgbClr val="FF0000"/>
                </a:solidFill>
              </a:rPr>
              <a:t>equity</a:t>
            </a:r>
            <a:endParaRPr lang="fr-FR" sz="2249" dirty="0">
              <a:solidFill>
                <a:srgbClr val="FF0000"/>
              </a:solidFill>
            </a:endParaRPr>
          </a:p>
        </p:txBody>
      </p:sp>
      <p:cxnSp>
        <p:nvCxnSpPr>
          <p:cNvPr id="10" name="Straight Arrow Connector 9">
            <a:extLst>
              <a:ext uri="{FF2B5EF4-FFF2-40B4-BE49-F238E27FC236}">
                <a16:creationId xmlns:a16="http://schemas.microsoft.com/office/drawing/2014/main" id="{45CB30FD-35A6-AD5B-920B-DEE09FFBF1D7}"/>
              </a:ext>
            </a:extLst>
          </p:cNvPr>
          <p:cNvCxnSpPr>
            <a:cxnSpLocks/>
          </p:cNvCxnSpPr>
          <p:nvPr/>
        </p:nvCxnSpPr>
        <p:spPr>
          <a:xfrm flipH="1" flipV="1">
            <a:off x="10516421" y="4731462"/>
            <a:ext cx="436902" cy="34656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E69311A-084C-40E8-04C7-58AA67F996BF}"/>
              </a:ext>
            </a:extLst>
          </p:cNvPr>
          <p:cNvSpPr txBox="1"/>
          <p:nvPr/>
        </p:nvSpPr>
        <p:spPr>
          <a:xfrm>
            <a:off x="9400394" y="5072003"/>
            <a:ext cx="2998249" cy="1130694"/>
          </a:xfrm>
          <a:prstGeom prst="rect">
            <a:avLst/>
          </a:prstGeom>
          <a:noFill/>
        </p:spPr>
        <p:txBody>
          <a:bodyPr wrap="square" rtlCol="0">
            <a:spAutoFit/>
          </a:bodyPr>
          <a:lstStyle/>
          <a:p>
            <a:pPr algn="ctr"/>
            <a:r>
              <a:rPr lang="fr-FR" sz="2249" dirty="0" err="1">
                <a:solidFill>
                  <a:srgbClr val="FF0000"/>
                </a:solidFill>
              </a:rPr>
              <a:t>Statement</a:t>
            </a:r>
            <a:r>
              <a:rPr lang="fr-FR" sz="2249" dirty="0">
                <a:solidFill>
                  <a:srgbClr val="FF0000"/>
                </a:solidFill>
              </a:rPr>
              <a:t> of </a:t>
            </a:r>
            <a:r>
              <a:rPr lang="fr-FR" sz="2249" dirty="0" err="1">
                <a:solidFill>
                  <a:srgbClr val="FF0000"/>
                </a:solidFill>
              </a:rPr>
              <a:t>comprehensive</a:t>
            </a:r>
            <a:r>
              <a:rPr lang="fr-FR" sz="2249" dirty="0">
                <a:solidFill>
                  <a:srgbClr val="FF0000"/>
                </a:solidFill>
              </a:rPr>
              <a:t> </a:t>
            </a:r>
            <a:r>
              <a:rPr lang="fr-FR" sz="2249" dirty="0" err="1">
                <a:solidFill>
                  <a:srgbClr val="FF0000"/>
                </a:solidFill>
              </a:rPr>
              <a:t>income</a:t>
            </a:r>
            <a:endParaRPr lang="fr-FR" sz="2249" dirty="0">
              <a:solidFill>
                <a:srgbClr val="FF0000"/>
              </a:solidFill>
            </a:endParaRPr>
          </a:p>
        </p:txBody>
      </p:sp>
      <p:grpSp>
        <p:nvGrpSpPr>
          <p:cNvPr id="12" name="Group 11">
            <a:extLst>
              <a:ext uri="{FF2B5EF4-FFF2-40B4-BE49-F238E27FC236}">
                <a16:creationId xmlns:a16="http://schemas.microsoft.com/office/drawing/2014/main" id="{D29BC1B9-B709-0CDB-2568-D5E6FA160952}"/>
              </a:ext>
            </a:extLst>
          </p:cNvPr>
          <p:cNvGrpSpPr/>
          <p:nvPr/>
        </p:nvGrpSpPr>
        <p:grpSpPr>
          <a:xfrm>
            <a:off x="817991" y="2675085"/>
            <a:ext cx="10172164" cy="1076577"/>
            <a:chOff x="539552" y="1966069"/>
            <a:chExt cx="7632848" cy="807827"/>
          </a:xfrm>
        </p:grpSpPr>
        <p:sp>
          <p:nvSpPr>
            <p:cNvPr id="13" name="TextBox 12">
              <a:extLst>
                <a:ext uri="{FF2B5EF4-FFF2-40B4-BE49-F238E27FC236}">
                  <a16:creationId xmlns:a16="http://schemas.microsoft.com/office/drawing/2014/main" id="{AE6A0BE0-2F39-D1AB-AFD7-B931BD0DD6D0}"/>
                </a:ext>
              </a:extLst>
            </p:cNvPr>
            <p:cNvSpPr txBox="1"/>
            <p:nvPr/>
          </p:nvSpPr>
          <p:spPr>
            <a:xfrm>
              <a:off x="539552" y="1966069"/>
              <a:ext cx="1440160" cy="807827"/>
            </a:xfrm>
            <a:prstGeom prst="rect">
              <a:avLst/>
            </a:prstGeom>
            <a:noFill/>
          </p:spPr>
          <p:txBody>
            <a:bodyPr wrap="square" rtlCol="0">
              <a:spAutoFit/>
            </a:bodyPr>
            <a:lstStyle/>
            <a:p>
              <a:pPr algn="ctr"/>
              <a:r>
                <a:rPr lang="en-US" sz="3198" dirty="0"/>
                <a:t>Assets (A)</a:t>
              </a:r>
            </a:p>
          </p:txBody>
        </p:sp>
        <p:sp>
          <p:nvSpPr>
            <p:cNvPr id="14" name="TextBox 13">
              <a:extLst>
                <a:ext uri="{FF2B5EF4-FFF2-40B4-BE49-F238E27FC236}">
                  <a16:creationId xmlns:a16="http://schemas.microsoft.com/office/drawing/2014/main" id="{D74DBE08-A1EE-C6A9-8A9D-15A4351A9247}"/>
                </a:ext>
              </a:extLst>
            </p:cNvPr>
            <p:cNvSpPr txBox="1"/>
            <p:nvPr/>
          </p:nvSpPr>
          <p:spPr>
            <a:xfrm>
              <a:off x="2051720" y="1966069"/>
              <a:ext cx="1296144" cy="438555"/>
            </a:xfrm>
            <a:prstGeom prst="rect">
              <a:avLst/>
            </a:prstGeom>
            <a:noFill/>
          </p:spPr>
          <p:txBody>
            <a:bodyPr wrap="square" rtlCol="0">
              <a:spAutoFit/>
            </a:bodyPr>
            <a:lstStyle/>
            <a:p>
              <a:pPr algn="ctr"/>
              <a:r>
                <a:rPr lang="en-US" sz="3198" dirty="0"/>
                <a:t>=</a:t>
              </a:r>
            </a:p>
          </p:txBody>
        </p:sp>
        <p:sp>
          <p:nvSpPr>
            <p:cNvPr id="15" name="TextBox 14">
              <a:extLst>
                <a:ext uri="{FF2B5EF4-FFF2-40B4-BE49-F238E27FC236}">
                  <a16:creationId xmlns:a16="http://schemas.microsoft.com/office/drawing/2014/main" id="{5F9BA418-1AEE-9C19-0158-52A066CCA0A7}"/>
                </a:ext>
              </a:extLst>
            </p:cNvPr>
            <p:cNvSpPr txBox="1"/>
            <p:nvPr/>
          </p:nvSpPr>
          <p:spPr>
            <a:xfrm>
              <a:off x="6732240" y="1966069"/>
              <a:ext cx="1440160" cy="807827"/>
            </a:xfrm>
            <a:prstGeom prst="rect">
              <a:avLst/>
            </a:prstGeom>
            <a:noFill/>
          </p:spPr>
          <p:txBody>
            <a:bodyPr wrap="square" rtlCol="0">
              <a:spAutoFit/>
            </a:bodyPr>
            <a:lstStyle/>
            <a:p>
              <a:pPr algn="ctr"/>
              <a:r>
                <a:rPr lang="en-US" sz="3198" dirty="0"/>
                <a:t>Equity (E)</a:t>
              </a:r>
            </a:p>
          </p:txBody>
        </p:sp>
        <p:sp>
          <p:nvSpPr>
            <p:cNvPr id="16" name="TextBox 15">
              <a:extLst>
                <a:ext uri="{FF2B5EF4-FFF2-40B4-BE49-F238E27FC236}">
                  <a16:creationId xmlns:a16="http://schemas.microsoft.com/office/drawing/2014/main" id="{8A5B0F64-7130-E36B-C349-E904F431F099}"/>
                </a:ext>
              </a:extLst>
            </p:cNvPr>
            <p:cNvSpPr txBox="1"/>
            <p:nvPr/>
          </p:nvSpPr>
          <p:spPr>
            <a:xfrm>
              <a:off x="3419872" y="1966069"/>
              <a:ext cx="1800200" cy="807827"/>
            </a:xfrm>
            <a:prstGeom prst="rect">
              <a:avLst/>
            </a:prstGeom>
            <a:noFill/>
          </p:spPr>
          <p:txBody>
            <a:bodyPr wrap="square" rtlCol="0">
              <a:spAutoFit/>
            </a:bodyPr>
            <a:lstStyle/>
            <a:p>
              <a:pPr algn="ctr"/>
              <a:r>
                <a:rPr lang="en-US" sz="3198" dirty="0"/>
                <a:t>Liabilities (L)</a:t>
              </a:r>
            </a:p>
          </p:txBody>
        </p:sp>
        <p:sp>
          <p:nvSpPr>
            <p:cNvPr id="17" name="TextBox 16">
              <a:extLst>
                <a:ext uri="{FF2B5EF4-FFF2-40B4-BE49-F238E27FC236}">
                  <a16:creationId xmlns:a16="http://schemas.microsoft.com/office/drawing/2014/main" id="{70D8ED0D-60D1-1D66-5A93-F153BFA4FD4F}"/>
                </a:ext>
              </a:extLst>
            </p:cNvPr>
            <p:cNvSpPr txBox="1"/>
            <p:nvPr/>
          </p:nvSpPr>
          <p:spPr>
            <a:xfrm>
              <a:off x="5292080" y="1966069"/>
              <a:ext cx="1296144" cy="438555"/>
            </a:xfrm>
            <a:prstGeom prst="rect">
              <a:avLst/>
            </a:prstGeom>
            <a:noFill/>
          </p:spPr>
          <p:txBody>
            <a:bodyPr wrap="square" rtlCol="0">
              <a:spAutoFit/>
            </a:bodyPr>
            <a:lstStyle/>
            <a:p>
              <a:pPr algn="ctr"/>
              <a:r>
                <a:rPr lang="en-US" sz="3198" dirty="0"/>
                <a:t>+</a:t>
              </a:r>
            </a:p>
          </p:txBody>
        </p:sp>
      </p:grpSp>
      <p:cxnSp>
        <p:nvCxnSpPr>
          <p:cNvPr id="24" name="Straight Arrow Connector 23">
            <a:extLst>
              <a:ext uri="{FF2B5EF4-FFF2-40B4-BE49-F238E27FC236}">
                <a16:creationId xmlns:a16="http://schemas.microsoft.com/office/drawing/2014/main" id="{30A6F389-2A3C-44BA-8EF8-1332066A2243}"/>
              </a:ext>
            </a:extLst>
          </p:cNvPr>
          <p:cNvCxnSpPr>
            <a:cxnSpLocks/>
            <a:stCxn id="27" idx="0"/>
          </p:cNvCxnSpPr>
          <p:nvPr/>
        </p:nvCxnSpPr>
        <p:spPr>
          <a:xfrm flipV="1">
            <a:off x="8914121" y="4709126"/>
            <a:ext cx="186513" cy="4425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20A60E18-D6D2-3753-A950-85DC4D311138}"/>
              </a:ext>
            </a:extLst>
          </p:cNvPr>
          <p:cNvSpPr txBox="1"/>
          <p:nvPr/>
        </p:nvSpPr>
        <p:spPr>
          <a:xfrm>
            <a:off x="7861900" y="5151656"/>
            <a:ext cx="2104442" cy="1130694"/>
          </a:xfrm>
          <a:prstGeom prst="rect">
            <a:avLst/>
          </a:prstGeom>
          <a:noFill/>
        </p:spPr>
        <p:txBody>
          <a:bodyPr wrap="square" rtlCol="0">
            <a:spAutoFit/>
          </a:bodyPr>
          <a:lstStyle/>
          <a:p>
            <a:pPr algn="ctr"/>
            <a:r>
              <a:rPr lang="fr-FR" sz="2249" dirty="0" err="1">
                <a:solidFill>
                  <a:srgbClr val="FF0000"/>
                </a:solidFill>
              </a:rPr>
              <a:t>Income</a:t>
            </a:r>
            <a:r>
              <a:rPr lang="fr-FR" sz="2249" dirty="0">
                <a:solidFill>
                  <a:srgbClr val="FF0000"/>
                </a:solidFill>
              </a:rPr>
              <a:t> </a:t>
            </a:r>
            <a:r>
              <a:rPr lang="fr-FR" sz="2249" dirty="0" err="1">
                <a:solidFill>
                  <a:srgbClr val="FF0000"/>
                </a:solidFill>
              </a:rPr>
              <a:t>statement</a:t>
            </a:r>
            <a:r>
              <a:rPr lang="fr-FR" sz="2249" dirty="0">
                <a:solidFill>
                  <a:srgbClr val="FF0000"/>
                </a:solidFill>
              </a:rPr>
              <a:t> </a:t>
            </a:r>
          </a:p>
          <a:p>
            <a:pPr algn="ctr"/>
            <a:r>
              <a:rPr lang="fr-FR" sz="2249" dirty="0">
                <a:solidFill>
                  <a:srgbClr val="FF0000"/>
                </a:solidFill>
              </a:rPr>
              <a:t>(or P&amp;L)</a:t>
            </a:r>
          </a:p>
        </p:txBody>
      </p:sp>
      <p:sp>
        <p:nvSpPr>
          <p:cNvPr id="32" name="TextBox 31">
            <a:extLst>
              <a:ext uri="{FF2B5EF4-FFF2-40B4-BE49-F238E27FC236}">
                <a16:creationId xmlns:a16="http://schemas.microsoft.com/office/drawing/2014/main" id="{8751B8D4-3757-DDF2-786C-B8C51E6FBA1C}"/>
              </a:ext>
            </a:extLst>
          </p:cNvPr>
          <p:cNvSpPr txBox="1"/>
          <p:nvPr/>
        </p:nvSpPr>
        <p:spPr>
          <a:xfrm>
            <a:off x="304563" y="4960585"/>
            <a:ext cx="2987984" cy="784574"/>
          </a:xfrm>
          <a:prstGeom prst="rect">
            <a:avLst/>
          </a:prstGeom>
          <a:noFill/>
        </p:spPr>
        <p:txBody>
          <a:bodyPr wrap="square" rtlCol="0">
            <a:spAutoFit/>
          </a:bodyPr>
          <a:lstStyle/>
          <a:p>
            <a:pPr algn="ctr"/>
            <a:r>
              <a:rPr lang="fr-FR" sz="2249" dirty="0" err="1">
                <a:solidFill>
                  <a:srgbClr val="FF0000"/>
                </a:solidFill>
              </a:rPr>
              <a:t>Statement</a:t>
            </a:r>
            <a:r>
              <a:rPr lang="fr-FR" sz="2249" dirty="0">
                <a:solidFill>
                  <a:srgbClr val="FF0000"/>
                </a:solidFill>
              </a:rPr>
              <a:t> of cash flows</a:t>
            </a:r>
          </a:p>
        </p:txBody>
      </p:sp>
      <p:cxnSp>
        <p:nvCxnSpPr>
          <p:cNvPr id="33" name="Straight Arrow Connector 32">
            <a:extLst>
              <a:ext uri="{FF2B5EF4-FFF2-40B4-BE49-F238E27FC236}">
                <a16:creationId xmlns:a16="http://schemas.microsoft.com/office/drawing/2014/main" id="{53681347-8D19-246D-691E-6A90AFEC5D6B}"/>
              </a:ext>
            </a:extLst>
          </p:cNvPr>
          <p:cNvCxnSpPr>
            <a:cxnSpLocks/>
          </p:cNvCxnSpPr>
          <p:nvPr/>
        </p:nvCxnSpPr>
        <p:spPr>
          <a:xfrm flipH="1" flipV="1">
            <a:off x="1765495" y="4324525"/>
            <a:ext cx="12134" cy="51450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0EF2BA5D-B5CF-9BDF-9FAA-AB8052D6B1E1}"/>
              </a:ext>
            </a:extLst>
          </p:cNvPr>
          <p:cNvSpPr txBox="1"/>
          <p:nvPr/>
        </p:nvSpPr>
        <p:spPr>
          <a:xfrm>
            <a:off x="105122" y="3886295"/>
            <a:ext cx="3987483" cy="461665"/>
          </a:xfrm>
          <a:prstGeom prst="rect">
            <a:avLst/>
          </a:prstGeom>
          <a:noFill/>
        </p:spPr>
        <p:txBody>
          <a:bodyPr wrap="square" rtlCol="0">
            <a:spAutoFit/>
          </a:bodyPr>
          <a:lstStyle/>
          <a:p>
            <a:pPr algn="ctr"/>
            <a:r>
              <a:rPr lang="en-US" sz="2400" dirty="0">
                <a:solidFill>
                  <a:srgbClr val="49A682"/>
                </a:solidFill>
              </a:rPr>
              <a:t>Cash and cash equivalents</a:t>
            </a:r>
          </a:p>
        </p:txBody>
      </p:sp>
      <p:cxnSp>
        <p:nvCxnSpPr>
          <p:cNvPr id="37" name="Straight Arrow Connector 36">
            <a:extLst>
              <a:ext uri="{FF2B5EF4-FFF2-40B4-BE49-F238E27FC236}">
                <a16:creationId xmlns:a16="http://schemas.microsoft.com/office/drawing/2014/main" id="{DCDFC698-34D3-0BA1-5276-D0474499262D}"/>
              </a:ext>
            </a:extLst>
          </p:cNvPr>
          <p:cNvCxnSpPr>
            <a:cxnSpLocks/>
          </p:cNvCxnSpPr>
          <p:nvPr/>
        </p:nvCxnSpPr>
        <p:spPr>
          <a:xfrm flipV="1">
            <a:off x="1728559" y="3673593"/>
            <a:ext cx="0" cy="29933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5F90EE07-F654-04D4-E6FE-A69419A5764F}"/>
              </a:ext>
            </a:extLst>
          </p:cNvPr>
          <p:cNvSpPr txBox="1"/>
          <p:nvPr/>
        </p:nvSpPr>
        <p:spPr>
          <a:xfrm>
            <a:off x="7965339" y="4269797"/>
            <a:ext cx="2831573" cy="461665"/>
          </a:xfrm>
          <a:prstGeom prst="rect">
            <a:avLst/>
          </a:prstGeom>
          <a:noFill/>
        </p:spPr>
        <p:txBody>
          <a:bodyPr wrap="square" rtlCol="0">
            <a:spAutoFit/>
          </a:bodyPr>
          <a:lstStyle/>
          <a:p>
            <a:pPr algn="ctr"/>
            <a:r>
              <a:rPr lang="en-US" sz="2400" dirty="0">
                <a:solidFill>
                  <a:srgbClr val="49A682"/>
                </a:solidFill>
              </a:rPr>
              <a:t>Retained earnings</a:t>
            </a:r>
          </a:p>
        </p:txBody>
      </p:sp>
      <p:cxnSp>
        <p:nvCxnSpPr>
          <p:cNvPr id="40" name="Straight Arrow Connector 39">
            <a:extLst>
              <a:ext uri="{FF2B5EF4-FFF2-40B4-BE49-F238E27FC236}">
                <a16:creationId xmlns:a16="http://schemas.microsoft.com/office/drawing/2014/main" id="{AB545C12-6AB7-5B7A-207B-1F30475692AC}"/>
              </a:ext>
            </a:extLst>
          </p:cNvPr>
          <p:cNvCxnSpPr>
            <a:cxnSpLocks/>
            <a:stCxn id="39" idx="0"/>
          </p:cNvCxnSpPr>
          <p:nvPr/>
        </p:nvCxnSpPr>
        <p:spPr>
          <a:xfrm flipV="1">
            <a:off x="9381126" y="3751662"/>
            <a:ext cx="420743" cy="51813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79D15237-7F57-52B3-15A4-1ECC00AEE783}"/>
              </a:ext>
            </a:extLst>
          </p:cNvPr>
          <p:cNvSpPr txBox="1"/>
          <p:nvPr/>
        </p:nvSpPr>
        <p:spPr>
          <a:xfrm>
            <a:off x="5246704" y="1696010"/>
            <a:ext cx="6602414" cy="646331"/>
          </a:xfrm>
          <a:prstGeom prst="rect">
            <a:avLst/>
          </a:prstGeom>
          <a:noFill/>
        </p:spPr>
        <p:txBody>
          <a:bodyPr wrap="square" rtlCol="0">
            <a:spAutoFit/>
          </a:bodyPr>
          <a:lstStyle/>
          <a:p>
            <a:r>
              <a:rPr lang="en-US" dirty="0">
                <a:solidFill>
                  <a:srgbClr val="49A682"/>
                </a:solidFill>
              </a:rPr>
              <a:t>Cash and cash equivalents, retained earnings, accumulated OCI (other comprehensive income): line items in balance sheet</a:t>
            </a:r>
          </a:p>
        </p:txBody>
      </p:sp>
      <p:cxnSp>
        <p:nvCxnSpPr>
          <p:cNvPr id="45" name="Straight Arrow Connector 44">
            <a:extLst>
              <a:ext uri="{FF2B5EF4-FFF2-40B4-BE49-F238E27FC236}">
                <a16:creationId xmlns:a16="http://schemas.microsoft.com/office/drawing/2014/main" id="{963B1CB0-1924-561E-A0E0-27ADD2D951DC}"/>
              </a:ext>
            </a:extLst>
          </p:cNvPr>
          <p:cNvCxnSpPr>
            <a:cxnSpLocks/>
          </p:cNvCxnSpPr>
          <p:nvPr/>
        </p:nvCxnSpPr>
        <p:spPr>
          <a:xfrm flipV="1">
            <a:off x="11158989" y="4421858"/>
            <a:ext cx="0" cy="72979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9C41EA21-B0C5-05FA-6326-3EEB0773A2A3}"/>
              </a:ext>
            </a:extLst>
          </p:cNvPr>
          <p:cNvSpPr txBox="1"/>
          <p:nvPr/>
        </p:nvSpPr>
        <p:spPr>
          <a:xfrm>
            <a:off x="9454581" y="3924152"/>
            <a:ext cx="2831573" cy="461665"/>
          </a:xfrm>
          <a:prstGeom prst="rect">
            <a:avLst/>
          </a:prstGeom>
          <a:noFill/>
        </p:spPr>
        <p:txBody>
          <a:bodyPr wrap="square" rtlCol="0">
            <a:spAutoFit/>
          </a:bodyPr>
          <a:lstStyle/>
          <a:p>
            <a:pPr algn="ctr"/>
            <a:r>
              <a:rPr lang="en-US" sz="2400" dirty="0">
                <a:solidFill>
                  <a:srgbClr val="49A682"/>
                </a:solidFill>
              </a:rPr>
              <a:t>Accumulated OCI</a:t>
            </a:r>
          </a:p>
        </p:txBody>
      </p:sp>
      <p:cxnSp>
        <p:nvCxnSpPr>
          <p:cNvPr id="48" name="Straight Arrow Connector 47">
            <a:extLst>
              <a:ext uri="{FF2B5EF4-FFF2-40B4-BE49-F238E27FC236}">
                <a16:creationId xmlns:a16="http://schemas.microsoft.com/office/drawing/2014/main" id="{0FA964D3-4320-C21D-D789-B2B55ACB4B3F}"/>
              </a:ext>
            </a:extLst>
          </p:cNvPr>
          <p:cNvCxnSpPr>
            <a:cxnSpLocks/>
          </p:cNvCxnSpPr>
          <p:nvPr/>
        </p:nvCxnSpPr>
        <p:spPr>
          <a:xfrm flipH="1" flipV="1">
            <a:off x="10567298" y="3511752"/>
            <a:ext cx="507165" cy="41750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F668BBC4-C9DF-ADA6-2BCB-A817AFE80DEE}"/>
              </a:ext>
            </a:extLst>
          </p:cNvPr>
          <p:cNvSpPr txBox="1"/>
          <p:nvPr/>
        </p:nvSpPr>
        <p:spPr>
          <a:xfrm>
            <a:off x="188618" y="1773114"/>
            <a:ext cx="3219873" cy="369332"/>
          </a:xfrm>
          <a:prstGeom prst="rect">
            <a:avLst/>
          </a:prstGeom>
          <a:noFill/>
        </p:spPr>
        <p:txBody>
          <a:bodyPr wrap="square" rtlCol="0">
            <a:spAutoFit/>
          </a:bodyPr>
          <a:lstStyle/>
          <a:p>
            <a:r>
              <a:rPr lang="en-US" dirty="0">
                <a:solidFill>
                  <a:srgbClr val="FF0000"/>
                </a:solidFill>
              </a:rPr>
              <a:t>In red: financial statements</a:t>
            </a:r>
          </a:p>
        </p:txBody>
      </p:sp>
    </p:spTree>
    <p:extLst>
      <p:ext uri="{BB962C8B-B14F-4D97-AF65-F5344CB8AC3E}">
        <p14:creationId xmlns:p14="http://schemas.microsoft.com/office/powerpoint/2010/main" val="23818466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7C163-9628-1A16-B9F2-0CF485B99E5D}"/>
              </a:ext>
            </a:extLst>
          </p:cNvPr>
          <p:cNvSpPr>
            <a:spLocks noGrp="1"/>
          </p:cNvSpPr>
          <p:nvPr>
            <p:ph type="title"/>
          </p:nvPr>
        </p:nvSpPr>
        <p:spPr>
          <a:xfrm>
            <a:off x="656844" y="487045"/>
            <a:ext cx="6782643" cy="438453"/>
          </a:xfrm>
        </p:spPr>
        <p:txBody>
          <a:bodyPr/>
          <a:lstStyle/>
          <a:p>
            <a:r>
              <a:rPr lang="en-US" dirty="0"/>
              <a:t>Alibaba</a:t>
            </a:r>
          </a:p>
        </p:txBody>
      </p:sp>
      <p:sp>
        <p:nvSpPr>
          <p:cNvPr id="4" name="Slide Number Placeholder 3">
            <a:extLst>
              <a:ext uri="{FF2B5EF4-FFF2-40B4-BE49-F238E27FC236}">
                <a16:creationId xmlns:a16="http://schemas.microsoft.com/office/drawing/2014/main" id="{5754C240-5B71-03A8-0430-340ACB851EA9}"/>
              </a:ext>
            </a:extLst>
          </p:cNvPr>
          <p:cNvSpPr>
            <a:spLocks noGrp="1"/>
          </p:cNvSpPr>
          <p:nvPr>
            <p:ph type="sldNum" sz="quarter" idx="10"/>
          </p:nvPr>
        </p:nvSpPr>
        <p:spPr/>
        <p:txBody>
          <a:bodyPr/>
          <a:lstStyle/>
          <a:p>
            <a:fld id="{421B1A79-1F45-8F4F-AED5-0EE30DCF0380}" type="slidenum">
              <a:rPr lang="fr-FR" smtClean="0"/>
              <a:t>15</a:t>
            </a:fld>
            <a:endParaRPr lang="fr-FR"/>
          </a:p>
        </p:txBody>
      </p:sp>
      <p:sp>
        <p:nvSpPr>
          <p:cNvPr id="5" name="TextBox 4">
            <a:extLst>
              <a:ext uri="{FF2B5EF4-FFF2-40B4-BE49-F238E27FC236}">
                <a16:creationId xmlns:a16="http://schemas.microsoft.com/office/drawing/2014/main" id="{08642531-3E21-F624-E88D-6EA34E27DC91}"/>
              </a:ext>
            </a:extLst>
          </p:cNvPr>
          <p:cNvSpPr txBox="1"/>
          <p:nvPr/>
        </p:nvSpPr>
        <p:spPr>
          <a:xfrm>
            <a:off x="130731" y="2036648"/>
            <a:ext cx="2525273" cy="1260345"/>
          </a:xfrm>
          <a:prstGeom prst="rect">
            <a:avLst/>
          </a:prstGeom>
          <a:solidFill>
            <a:schemeClr val="tx1">
              <a:lumMod val="10000"/>
              <a:lumOff val="90000"/>
            </a:schemeClr>
          </a:solidFill>
        </p:spPr>
        <p:txBody>
          <a:bodyPr wrap="square" rtlCol="0">
            <a:spAutoFit/>
          </a:bodyPr>
          <a:lstStyle/>
          <a:p>
            <a:pPr algn="ctr"/>
            <a:r>
              <a:rPr lang="fr-FR" sz="2530" dirty="0" err="1"/>
              <a:t>Current</a:t>
            </a:r>
            <a:r>
              <a:rPr lang="fr-FR" sz="2530" dirty="0"/>
              <a:t> assets (short-</a:t>
            </a:r>
            <a:r>
              <a:rPr lang="fr-FR" sz="2530" dirty="0" err="1"/>
              <a:t>term</a:t>
            </a:r>
            <a:r>
              <a:rPr lang="fr-FR" sz="2530" dirty="0"/>
              <a:t> assets)</a:t>
            </a:r>
            <a:endParaRPr lang="en-US" sz="2530" dirty="0"/>
          </a:p>
        </p:txBody>
      </p:sp>
      <p:sp>
        <p:nvSpPr>
          <p:cNvPr id="6" name="TextBox 5">
            <a:extLst>
              <a:ext uri="{FF2B5EF4-FFF2-40B4-BE49-F238E27FC236}">
                <a16:creationId xmlns:a16="http://schemas.microsoft.com/office/drawing/2014/main" id="{9D39C70F-3B39-62A4-2408-EA0435942D14}"/>
              </a:ext>
            </a:extLst>
          </p:cNvPr>
          <p:cNvSpPr txBox="1"/>
          <p:nvPr/>
        </p:nvSpPr>
        <p:spPr>
          <a:xfrm>
            <a:off x="1041117" y="3424213"/>
            <a:ext cx="704504" cy="481670"/>
          </a:xfrm>
          <a:prstGeom prst="rect">
            <a:avLst/>
          </a:prstGeom>
          <a:solidFill>
            <a:schemeClr val="tx1">
              <a:lumMod val="10000"/>
              <a:lumOff val="90000"/>
            </a:schemeClr>
          </a:solidFill>
        </p:spPr>
        <p:txBody>
          <a:bodyPr wrap="square" rtlCol="0">
            <a:spAutoFit/>
          </a:bodyPr>
          <a:lstStyle/>
          <a:p>
            <a:pPr algn="ctr"/>
            <a:r>
              <a:rPr lang="fr-FR" sz="2530" dirty="0"/>
              <a:t>+</a:t>
            </a:r>
            <a:endParaRPr lang="en-US" sz="2530" dirty="0"/>
          </a:p>
        </p:txBody>
      </p:sp>
      <p:sp>
        <p:nvSpPr>
          <p:cNvPr id="7" name="TextBox 6">
            <a:extLst>
              <a:ext uri="{FF2B5EF4-FFF2-40B4-BE49-F238E27FC236}">
                <a16:creationId xmlns:a16="http://schemas.microsoft.com/office/drawing/2014/main" id="{1BB59824-DE9B-C2B0-F8E2-265333FC87C7}"/>
              </a:ext>
            </a:extLst>
          </p:cNvPr>
          <p:cNvSpPr txBox="1"/>
          <p:nvPr/>
        </p:nvSpPr>
        <p:spPr>
          <a:xfrm>
            <a:off x="130733" y="4070411"/>
            <a:ext cx="2525273" cy="1260345"/>
          </a:xfrm>
          <a:prstGeom prst="rect">
            <a:avLst/>
          </a:prstGeom>
          <a:solidFill>
            <a:schemeClr val="tx1">
              <a:lumMod val="10000"/>
              <a:lumOff val="90000"/>
            </a:schemeClr>
          </a:solidFill>
        </p:spPr>
        <p:txBody>
          <a:bodyPr wrap="square" rtlCol="0">
            <a:spAutoFit/>
          </a:bodyPr>
          <a:lstStyle/>
          <a:p>
            <a:pPr algn="ctr"/>
            <a:r>
              <a:rPr lang="fr-FR" sz="2530" dirty="0"/>
              <a:t>Non-</a:t>
            </a:r>
            <a:r>
              <a:rPr lang="fr-FR" sz="2530" dirty="0" err="1"/>
              <a:t>current</a:t>
            </a:r>
            <a:r>
              <a:rPr lang="fr-FR" sz="2530" dirty="0"/>
              <a:t> assets (long-</a:t>
            </a:r>
            <a:r>
              <a:rPr lang="fr-FR" sz="2530" dirty="0" err="1"/>
              <a:t>term</a:t>
            </a:r>
            <a:r>
              <a:rPr lang="fr-FR" sz="2530" dirty="0"/>
              <a:t> assets)</a:t>
            </a:r>
            <a:endParaRPr lang="en-US" sz="2530" dirty="0"/>
          </a:p>
        </p:txBody>
      </p:sp>
      <p:sp>
        <p:nvSpPr>
          <p:cNvPr id="8" name="TextBox 7">
            <a:extLst>
              <a:ext uri="{FF2B5EF4-FFF2-40B4-BE49-F238E27FC236}">
                <a16:creationId xmlns:a16="http://schemas.microsoft.com/office/drawing/2014/main" id="{EA43021F-E5CF-F0E7-8D8F-0071381A3ABD}"/>
              </a:ext>
            </a:extLst>
          </p:cNvPr>
          <p:cNvSpPr txBox="1"/>
          <p:nvPr/>
        </p:nvSpPr>
        <p:spPr>
          <a:xfrm>
            <a:off x="205283" y="5856286"/>
            <a:ext cx="4478860" cy="438453"/>
          </a:xfrm>
          <a:prstGeom prst="rect">
            <a:avLst/>
          </a:prstGeom>
          <a:noFill/>
        </p:spPr>
        <p:txBody>
          <a:bodyPr wrap="square" rtlCol="0">
            <a:spAutoFit/>
          </a:bodyPr>
          <a:lstStyle/>
          <a:p>
            <a:r>
              <a:rPr lang="fr-FR" sz="2249" dirty="0"/>
              <a:t>Long-</a:t>
            </a:r>
            <a:r>
              <a:rPr lang="fr-FR" sz="2249" dirty="0" err="1"/>
              <a:t>term</a:t>
            </a:r>
            <a:r>
              <a:rPr lang="fr-FR" sz="2249" dirty="0"/>
              <a:t>-</a:t>
            </a:r>
            <a:r>
              <a:rPr lang="fr-FR" sz="2249" dirty="0" err="1"/>
              <a:t>term</a:t>
            </a:r>
            <a:r>
              <a:rPr lang="fr-FR" sz="2249" dirty="0"/>
              <a:t>: more </a:t>
            </a:r>
            <a:r>
              <a:rPr lang="fr-FR" sz="2249" dirty="0" err="1"/>
              <a:t>than</a:t>
            </a:r>
            <a:r>
              <a:rPr lang="fr-FR" sz="2249" dirty="0"/>
              <a:t> 1 </a:t>
            </a:r>
            <a:r>
              <a:rPr lang="fr-FR" sz="2249" dirty="0" err="1"/>
              <a:t>year</a:t>
            </a:r>
            <a:endParaRPr lang="en-US" sz="2249" dirty="0"/>
          </a:p>
        </p:txBody>
      </p:sp>
      <p:pic>
        <p:nvPicPr>
          <p:cNvPr id="10" name="Picture 9">
            <a:extLst>
              <a:ext uri="{FF2B5EF4-FFF2-40B4-BE49-F238E27FC236}">
                <a16:creationId xmlns:a16="http://schemas.microsoft.com/office/drawing/2014/main" id="{7243F717-3237-FAD6-6D4C-51BBF3851817}"/>
              </a:ext>
            </a:extLst>
          </p:cNvPr>
          <p:cNvPicPr>
            <a:picLocks noChangeAspect="1"/>
          </p:cNvPicPr>
          <p:nvPr/>
        </p:nvPicPr>
        <p:blipFill>
          <a:blip r:embed="rId2"/>
          <a:stretch>
            <a:fillRect/>
          </a:stretch>
        </p:blipFill>
        <p:spPr>
          <a:xfrm>
            <a:off x="2944762" y="1255147"/>
            <a:ext cx="9262150" cy="4347705"/>
          </a:xfrm>
          <a:prstGeom prst="rect">
            <a:avLst/>
          </a:prstGeom>
        </p:spPr>
      </p:pic>
      <p:sp>
        <p:nvSpPr>
          <p:cNvPr id="11" name="Left Brace 10">
            <a:extLst>
              <a:ext uri="{FF2B5EF4-FFF2-40B4-BE49-F238E27FC236}">
                <a16:creationId xmlns:a16="http://schemas.microsoft.com/office/drawing/2014/main" id="{7E52E7D5-3062-6C44-13BC-E2A2E3C46AEF}"/>
              </a:ext>
            </a:extLst>
          </p:cNvPr>
          <p:cNvSpPr/>
          <p:nvPr/>
        </p:nvSpPr>
        <p:spPr>
          <a:xfrm>
            <a:off x="2772076" y="4070411"/>
            <a:ext cx="259882" cy="1165732"/>
          </a:xfrm>
          <a:prstGeom prst="leftBrace">
            <a:avLst>
              <a:gd name="adj1" fmla="val 44697"/>
              <a:gd name="adj2" fmla="val 5000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7354921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CE2D4-62D5-FCAA-DBB4-AE5C3F56EA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E38115-AF3B-1092-5797-65631860AF42}"/>
              </a:ext>
            </a:extLst>
          </p:cNvPr>
          <p:cNvSpPr>
            <a:spLocks noGrp="1"/>
          </p:cNvSpPr>
          <p:nvPr>
            <p:ph type="title"/>
          </p:nvPr>
        </p:nvSpPr>
        <p:spPr>
          <a:xfrm>
            <a:off x="656844" y="487045"/>
            <a:ext cx="6782643" cy="438453"/>
          </a:xfrm>
        </p:spPr>
        <p:txBody>
          <a:bodyPr/>
          <a:lstStyle/>
          <a:p>
            <a:r>
              <a:rPr lang="en-US" dirty="0"/>
              <a:t>Alibaba</a:t>
            </a:r>
          </a:p>
        </p:txBody>
      </p:sp>
      <p:sp>
        <p:nvSpPr>
          <p:cNvPr id="4" name="Slide Number Placeholder 3">
            <a:extLst>
              <a:ext uri="{FF2B5EF4-FFF2-40B4-BE49-F238E27FC236}">
                <a16:creationId xmlns:a16="http://schemas.microsoft.com/office/drawing/2014/main" id="{986C1866-B6A9-C4E7-1CA0-8E30E2A2672D}"/>
              </a:ext>
            </a:extLst>
          </p:cNvPr>
          <p:cNvSpPr>
            <a:spLocks noGrp="1"/>
          </p:cNvSpPr>
          <p:nvPr>
            <p:ph type="sldNum" sz="quarter" idx="10"/>
          </p:nvPr>
        </p:nvSpPr>
        <p:spPr/>
        <p:txBody>
          <a:bodyPr/>
          <a:lstStyle/>
          <a:p>
            <a:fld id="{421B1A79-1F45-8F4F-AED5-0EE30DCF0380}" type="slidenum">
              <a:rPr lang="fr-FR" smtClean="0"/>
              <a:t>16</a:t>
            </a:fld>
            <a:endParaRPr lang="fr-FR"/>
          </a:p>
        </p:txBody>
      </p:sp>
      <p:sp>
        <p:nvSpPr>
          <p:cNvPr id="3" name="TextBox 2">
            <a:extLst>
              <a:ext uri="{FF2B5EF4-FFF2-40B4-BE49-F238E27FC236}">
                <a16:creationId xmlns:a16="http://schemas.microsoft.com/office/drawing/2014/main" id="{4D0682B7-817D-0239-5D61-C59CD1536232}"/>
              </a:ext>
            </a:extLst>
          </p:cNvPr>
          <p:cNvSpPr txBox="1"/>
          <p:nvPr/>
        </p:nvSpPr>
        <p:spPr>
          <a:xfrm>
            <a:off x="205283" y="5856286"/>
            <a:ext cx="4478860" cy="438453"/>
          </a:xfrm>
          <a:prstGeom prst="rect">
            <a:avLst/>
          </a:prstGeom>
          <a:noFill/>
        </p:spPr>
        <p:txBody>
          <a:bodyPr wrap="square" rtlCol="0">
            <a:spAutoFit/>
          </a:bodyPr>
          <a:lstStyle/>
          <a:p>
            <a:r>
              <a:rPr lang="fr-FR" sz="2249" dirty="0"/>
              <a:t>Long-</a:t>
            </a:r>
            <a:r>
              <a:rPr lang="fr-FR" sz="2249" dirty="0" err="1"/>
              <a:t>term</a:t>
            </a:r>
            <a:r>
              <a:rPr lang="fr-FR" sz="2249" dirty="0"/>
              <a:t>-</a:t>
            </a:r>
            <a:r>
              <a:rPr lang="fr-FR" sz="2249" dirty="0" err="1"/>
              <a:t>term</a:t>
            </a:r>
            <a:r>
              <a:rPr lang="fr-FR" sz="2249" dirty="0"/>
              <a:t>: more </a:t>
            </a:r>
            <a:r>
              <a:rPr lang="fr-FR" sz="2249" dirty="0" err="1"/>
              <a:t>than</a:t>
            </a:r>
            <a:r>
              <a:rPr lang="fr-FR" sz="2249" dirty="0"/>
              <a:t> 1 </a:t>
            </a:r>
            <a:r>
              <a:rPr lang="fr-FR" sz="2249" dirty="0" err="1"/>
              <a:t>year</a:t>
            </a:r>
            <a:endParaRPr lang="en-US" sz="2249" dirty="0"/>
          </a:p>
        </p:txBody>
      </p:sp>
      <p:sp>
        <p:nvSpPr>
          <p:cNvPr id="12" name="TextBox 11">
            <a:extLst>
              <a:ext uri="{FF2B5EF4-FFF2-40B4-BE49-F238E27FC236}">
                <a16:creationId xmlns:a16="http://schemas.microsoft.com/office/drawing/2014/main" id="{7279F7D6-74F2-D52D-9F63-9F731F19FCD6}"/>
              </a:ext>
            </a:extLst>
          </p:cNvPr>
          <p:cNvSpPr txBox="1"/>
          <p:nvPr/>
        </p:nvSpPr>
        <p:spPr>
          <a:xfrm>
            <a:off x="131545" y="1945188"/>
            <a:ext cx="3003743" cy="2308324"/>
          </a:xfrm>
          <a:prstGeom prst="rect">
            <a:avLst/>
          </a:prstGeom>
          <a:noFill/>
        </p:spPr>
        <p:txBody>
          <a:bodyPr wrap="square" rtlCol="0">
            <a:spAutoFit/>
          </a:bodyPr>
          <a:lstStyle/>
          <a:p>
            <a:r>
              <a:rPr lang="en-US" dirty="0"/>
              <a:t>“Cash and cash equivalents”: the bottom line in the statement of cash flows</a:t>
            </a:r>
          </a:p>
          <a:p>
            <a:r>
              <a:rPr lang="en-US" dirty="0"/>
              <a:t>(in Alibaba statement of cash flows “restricted cash and escrow receivables” are also included)</a:t>
            </a:r>
          </a:p>
        </p:txBody>
      </p:sp>
      <p:pic>
        <p:nvPicPr>
          <p:cNvPr id="5" name="Picture 4">
            <a:extLst>
              <a:ext uri="{FF2B5EF4-FFF2-40B4-BE49-F238E27FC236}">
                <a16:creationId xmlns:a16="http://schemas.microsoft.com/office/drawing/2014/main" id="{CD900977-BEE7-8649-98C3-32EA00D7F88F}"/>
              </a:ext>
            </a:extLst>
          </p:cNvPr>
          <p:cNvPicPr>
            <a:picLocks noChangeAspect="1"/>
          </p:cNvPicPr>
          <p:nvPr/>
        </p:nvPicPr>
        <p:blipFill>
          <a:blip r:embed="rId2"/>
          <a:stretch>
            <a:fillRect/>
          </a:stretch>
        </p:blipFill>
        <p:spPr>
          <a:xfrm>
            <a:off x="2910600" y="925498"/>
            <a:ext cx="9262150" cy="4347705"/>
          </a:xfrm>
          <a:prstGeom prst="rect">
            <a:avLst/>
          </a:prstGeom>
        </p:spPr>
      </p:pic>
      <p:sp>
        <p:nvSpPr>
          <p:cNvPr id="6" name="Rectangle: Rounded Corners 5">
            <a:extLst>
              <a:ext uri="{FF2B5EF4-FFF2-40B4-BE49-F238E27FC236}">
                <a16:creationId xmlns:a16="http://schemas.microsoft.com/office/drawing/2014/main" id="{7A504302-5E20-810A-D21B-BDD1F32294C4}"/>
              </a:ext>
            </a:extLst>
          </p:cNvPr>
          <p:cNvSpPr/>
          <p:nvPr/>
        </p:nvSpPr>
        <p:spPr>
          <a:xfrm>
            <a:off x="3162413" y="2440014"/>
            <a:ext cx="9010337" cy="297393"/>
          </a:xfrm>
          <a:prstGeom prst="roundRect">
            <a:avLst>
              <a:gd name="adj" fmla="val 50000"/>
            </a:avLst>
          </a:prstGeom>
          <a:no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C4950A47-C1E4-4247-9F22-ED55754E67BB}"/>
              </a:ext>
            </a:extLst>
          </p:cNvPr>
          <p:cNvSpPr/>
          <p:nvPr/>
        </p:nvSpPr>
        <p:spPr>
          <a:xfrm>
            <a:off x="3162413" y="2877953"/>
            <a:ext cx="8898042" cy="221382"/>
          </a:xfrm>
          <a:prstGeom prst="roundRect">
            <a:avLst>
              <a:gd name="adj" fmla="val 50000"/>
            </a:avLst>
          </a:prstGeom>
          <a:no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694426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9835A-64EF-D657-9A02-11C2580C500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9353C6E-637A-EB8F-DECC-AF4CA78988DE}"/>
              </a:ext>
            </a:extLst>
          </p:cNvPr>
          <p:cNvSpPr>
            <a:spLocks noGrp="1"/>
          </p:cNvSpPr>
          <p:nvPr>
            <p:ph type="sldNum" sz="quarter" idx="10"/>
          </p:nvPr>
        </p:nvSpPr>
        <p:spPr/>
        <p:txBody>
          <a:bodyPr/>
          <a:lstStyle/>
          <a:p>
            <a:fld id="{421B1A79-1F45-8F4F-AED5-0EE30DCF0380}" type="slidenum">
              <a:rPr lang="fr-FR" smtClean="0"/>
              <a:t>17</a:t>
            </a:fld>
            <a:endParaRPr lang="fr-FR"/>
          </a:p>
        </p:txBody>
      </p:sp>
      <p:sp>
        <p:nvSpPr>
          <p:cNvPr id="7" name="TextBox 6">
            <a:extLst>
              <a:ext uri="{FF2B5EF4-FFF2-40B4-BE49-F238E27FC236}">
                <a16:creationId xmlns:a16="http://schemas.microsoft.com/office/drawing/2014/main" id="{FCDA6FFD-5FDF-F909-BC30-B63A63D9CD3E}"/>
              </a:ext>
            </a:extLst>
          </p:cNvPr>
          <p:cNvSpPr txBox="1"/>
          <p:nvPr/>
        </p:nvSpPr>
        <p:spPr>
          <a:xfrm>
            <a:off x="3551210" y="2750369"/>
            <a:ext cx="819510" cy="584775"/>
          </a:xfrm>
          <a:prstGeom prst="rect">
            <a:avLst/>
          </a:prstGeom>
          <a:noFill/>
        </p:spPr>
        <p:txBody>
          <a:bodyPr wrap="square" rtlCol="0">
            <a:spAutoFit/>
          </a:bodyPr>
          <a:lstStyle/>
          <a:p>
            <a:pPr algn="ctr"/>
            <a:r>
              <a:rPr lang="en-US" sz="3200" dirty="0"/>
              <a:t>+</a:t>
            </a:r>
          </a:p>
        </p:txBody>
      </p:sp>
      <p:sp>
        <p:nvSpPr>
          <p:cNvPr id="9" name="TextBox 8">
            <a:extLst>
              <a:ext uri="{FF2B5EF4-FFF2-40B4-BE49-F238E27FC236}">
                <a16:creationId xmlns:a16="http://schemas.microsoft.com/office/drawing/2014/main" id="{E57532B2-1F65-7A8D-3201-EE024F43DD8A}"/>
              </a:ext>
            </a:extLst>
          </p:cNvPr>
          <p:cNvSpPr txBox="1"/>
          <p:nvPr/>
        </p:nvSpPr>
        <p:spPr>
          <a:xfrm>
            <a:off x="3539711" y="2041734"/>
            <a:ext cx="819510" cy="584775"/>
          </a:xfrm>
          <a:prstGeom prst="rect">
            <a:avLst/>
          </a:prstGeom>
          <a:noFill/>
        </p:spPr>
        <p:txBody>
          <a:bodyPr wrap="square" rtlCol="0">
            <a:spAutoFit/>
          </a:bodyPr>
          <a:lstStyle/>
          <a:p>
            <a:pPr algn="ctr"/>
            <a:r>
              <a:rPr lang="en-US" sz="3200" dirty="0"/>
              <a:t>+</a:t>
            </a:r>
          </a:p>
        </p:txBody>
      </p:sp>
      <p:sp>
        <p:nvSpPr>
          <p:cNvPr id="16" name="TextBox 15">
            <a:extLst>
              <a:ext uri="{FF2B5EF4-FFF2-40B4-BE49-F238E27FC236}">
                <a16:creationId xmlns:a16="http://schemas.microsoft.com/office/drawing/2014/main" id="{84D2BE0D-A3F8-5F95-0BA0-00A10238BD2B}"/>
              </a:ext>
            </a:extLst>
          </p:cNvPr>
          <p:cNvSpPr txBox="1"/>
          <p:nvPr/>
        </p:nvSpPr>
        <p:spPr>
          <a:xfrm>
            <a:off x="3556964" y="3472109"/>
            <a:ext cx="819510" cy="584775"/>
          </a:xfrm>
          <a:prstGeom prst="rect">
            <a:avLst/>
          </a:prstGeom>
          <a:noFill/>
        </p:spPr>
        <p:txBody>
          <a:bodyPr wrap="square" rtlCol="0">
            <a:spAutoFit/>
          </a:bodyPr>
          <a:lstStyle/>
          <a:p>
            <a:pPr algn="ctr"/>
            <a:r>
              <a:rPr lang="en-US" sz="3200" dirty="0"/>
              <a:t>+</a:t>
            </a:r>
          </a:p>
        </p:txBody>
      </p:sp>
      <p:sp>
        <p:nvSpPr>
          <p:cNvPr id="18" name="TextBox 17">
            <a:extLst>
              <a:ext uri="{FF2B5EF4-FFF2-40B4-BE49-F238E27FC236}">
                <a16:creationId xmlns:a16="http://schemas.microsoft.com/office/drawing/2014/main" id="{C455F7FE-D119-FD2F-D356-92E8F6B04AB4}"/>
              </a:ext>
            </a:extLst>
          </p:cNvPr>
          <p:cNvSpPr txBox="1"/>
          <p:nvPr/>
        </p:nvSpPr>
        <p:spPr>
          <a:xfrm>
            <a:off x="3554091" y="4599292"/>
            <a:ext cx="819510" cy="584775"/>
          </a:xfrm>
          <a:prstGeom prst="rect">
            <a:avLst/>
          </a:prstGeom>
          <a:noFill/>
        </p:spPr>
        <p:txBody>
          <a:bodyPr wrap="square" rtlCol="0">
            <a:spAutoFit/>
          </a:bodyPr>
          <a:lstStyle/>
          <a:p>
            <a:pPr algn="ctr"/>
            <a:r>
              <a:rPr lang="en-US" sz="3200" dirty="0"/>
              <a:t>=</a:t>
            </a:r>
          </a:p>
        </p:txBody>
      </p:sp>
      <p:sp>
        <p:nvSpPr>
          <p:cNvPr id="22" name="Title 21">
            <a:extLst>
              <a:ext uri="{FF2B5EF4-FFF2-40B4-BE49-F238E27FC236}">
                <a16:creationId xmlns:a16="http://schemas.microsoft.com/office/drawing/2014/main" id="{0251A0E1-3E44-9035-D317-669A0380FC57}"/>
              </a:ext>
            </a:extLst>
          </p:cNvPr>
          <p:cNvSpPr>
            <a:spLocks noGrp="1"/>
          </p:cNvSpPr>
          <p:nvPr>
            <p:ph type="title"/>
          </p:nvPr>
        </p:nvSpPr>
        <p:spPr>
          <a:xfrm>
            <a:off x="262209" y="117606"/>
            <a:ext cx="10829544" cy="1460500"/>
          </a:xfrm>
        </p:spPr>
        <p:txBody>
          <a:bodyPr/>
          <a:lstStyle/>
          <a:p>
            <a:r>
              <a:rPr lang="en-US" dirty="0"/>
              <a:t>Alibaba</a:t>
            </a:r>
          </a:p>
        </p:txBody>
      </p:sp>
      <p:pic>
        <p:nvPicPr>
          <p:cNvPr id="11" name="Picture 10">
            <a:extLst>
              <a:ext uri="{FF2B5EF4-FFF2-40B4-BE49-F238E27FC236}">
                <a16:creationId xmlns:a16="http://schemas.microsoft.com/office/drawing/2014/main" id="{36715790-6818-D5E0-74A6-1986112AD599}"/>
              </a:ext>
            </a:extLst>
          </p:cNvPr>
          <p:cNvPicPr>
            <a:picLocks noChangeAspect="1"/>
          </p:cNvPicPr>
          <p:nvPr/>
        </p:nvPicPr>
        <p:blipFill>
          <a:blip r:embed="rId2"/>
          <a:stretch>
            <a:fillRect/>
          </a:stretch>
        </p:blipFill>
        <p:spPr>
          <a:xfrm>
            <a:off x="1904221" y="638910"/>
            <a:ext cx="9560969" cy="1009073"/>
          </a:xfrm>
          <a:prstGeom prst="rect">
            <a:avLst/>
          </a:prstGeom>
        </p:spPr>
      </p:pic>
      <p:pic>
        <p:nvPicPr>
          <p:cNvPr id="12" name="Picture 11">
            <a:extLst>
              <a:ext uri="{FF2B5EF4-FFF2-40B4-BE49-F238E27FC236}">
                <a16:creationId xmlns:a16="http://schemas.microsoft.com/office/drawing/2014/main" id="{969AA24F-A0FB-B7A2-37B2-58E49458C06E}"/>
              </a:ext>
            </a:extLst>
          </p:cNvPr>
          <p:cNvPicPr>
            <a:picLocks noChangeAspect="1"/>
          </p:cNvPicPr>
          <p:nvPr/>
        </p:nvPicPr>
        <p:blipFill>
          <a:blip r:embed="rId3"/>
          <a:stretch>
            <a:fillRect/>
          </a:stretch>
        </p:blipFill>
        <p:spPr>
          <a:xfrm>
            <a:off x="726810" y="1205376"/>
            <a:ext cx="5620039" cy="457223"/>
          </a:xfrm>
          <a:prstGeom prst="rect">
            <a:avLst/>
          </a:prstGeom>
        </p:spPr>
      </p:pic>
      <p:pic>
        <p:nvPicPr>
          <p:cNvPr id="24" name="Picture 23">
            <a:extLst>
              <a:ext uri="{FF2B5EF4-FFF2-40B4-BE49-F238E27FC236}">
                <a16:creationId xmlns:a16="http://schemas.microsoft.com/office/drawing/2014/main" id="{FE4D0157-0078-7FE6-B2D7-00337B9AD299}"/>
              </a:ext>
            </a:extLst>
          </p:cNvPr>
          <p:cNvPicPr>
            <a:picLocks noChangeAspect="1"/>
          </p:cNvPicPr>
          <p:nvPr/>
        </p:nvPicPr>
        <p:blipFill>
          <a:blip r:embed="rId4"/>
          <a:stretch>
            <a:fillRect/>
          </a:stretch>
        </p:blipFill>
        <p:spPr>
          <a:xfrm>
            <a:off x="752189" y="1778644"/>
            <a:ext cx="10713001" cy="222261"/>
          </a:xfrm>
          <a:prstGeom prst="rect">
            <a:avLst/>
          </a:prstGeom>
        </p:spPr>
      </p:pic>
      <p:pic>
        <p:nvPicPr>
          <p:cNvPr id="26" name="Picture 25">
            <a:extLst>
              <a:ext uri="{FF2B5EF4-FFF2-40B4-BE49-F238E27FC236}">
                <a16:creationId xmlns:a16="http://schemas.microsoft.com/office/drawing/2014/main" id="{646E58D9-E058-FF79-1558-08D0FA563775}"/>
              </a:ext>
            </a:extLst>
          </p:cNvPr>
          <p:cNvPicPr>
            <a:picLocks noChangeAspect="1"/>
          </p:cNvPicPr>
          <p:nvPr/>
        </p:nvPicPr>
        <p:blipFill>
          <a:blip r:embed="rId5"/>
          <a:stretch>
            <a:fillRect/>
          </a:stretch>
        </p:blipFill>
        <p:spPr>
          <a:xfrm>
            <a:off x="758540" y="2496760"/>
            <a:ext cx="10706650" cy="266714"/>
          </a:xfrm>
          <a:prstGeom prst="rect">
            <a:avLst/>
          </a:prstGeom>
        </p:spPr>
      </p:pic>
      <p:pic>
        <p:nvPicPr>
          <p:cNvPr id="28" name="Picture 27">
            <a:extLst>
              <a:ext uri="{FF2B5EF4-FFF2-40B4-BE49-F238E27FC236}">
                <a16:creationId xmlns:a16="http://schemas.microsoft.com/office/drawing/2014/main" id="{ADB12EB4-E17B-94C2-956A-A44E998BF874}"/>
              </a:ext>
            </a:extLst>
          </p:cNvPr>
          <p:cNvPicPr>
            <a:picLocks noChangeAspect="1"/>
          </p:cNvPicPr>
          <p:nvPr/>
        </p:nvPicPr>
        <p:blipFill>
          <a:blip r:embed="rId6"/>
          <a:stretch>
            <a:fillRect/>
          </a:stretch>
        </p:blipFill>
        <p:spPr>
          <a:xfrm>
            <a:off x="749025" y="3295643"/>
            <a:ext cx="10693950" cy="266714"/>
          </a:xfrm>
          <a:prstGeom prst="rect">
            <a:avLst/>
          </a:prstGeom>
        </p:spPr>
      </p:pic>
      <p:pic>
        <p:nvPicPr>
          <p:cNvPr id="30" name="Picture 29">
            <a:extLst>
              <a:ext uri="{FF2B5EF4-FFF2-40B4-BE49-F238E27FC236}">
                <a16:creationId xmlns:a16="http://schemas.microsoft.com/office/drawing/2014/main" id="{52A1A2A5-698B-A878-AEE2-2A14C5557B48}"/>
              </a:ext>
            </a:extLst>
          </p:cNvPr>
          <p:cNvPicPr>
            <a:picLocks noChangeAspect="1"/>
          </p:cNvPicPr>
          <p:nvPr/>
        </p:nvPicPr>
        <p:blipFill>
          <a:blip r:embed="rId7"/>
          <a:stretch>
            <a:fillRect/>
          </a:stretch>
        </p:blipFill>
        <p:spPr>
          <a:xfrm>
            <a:off x="704573" y="4013584"/>
            <a:ext cx="10738402" cy="482625"/>
          </a:xfrm>
          <a:prstGeom prst="rect">
            <a:avLst/>
          </a:prstGeom>
        </p:spPr>
      </p:pic>
      <p:pic>
        <p:nvPicPr>
          <p:cNvPr id="32" name="Picture 31">
            <a:extLst>
              <a:ext uri="{FF2B5EF4-FFF2-40B4-BE49-F238E27FC236}">
                <a16:creationId xmlns:a16="http://schemas.microsoft.com/office/drawing/2014/main" id="{304F06D3-36E1-51F1-6FB9-5BB419868C3A}"/>
              </a:ext>
            </a:extLst>
          </p:cNvPr>
          <p:cNvPicPr>
            <a:picLocks noChangeAspect="1"/>
          </p:cNvPicPr>
          <p:nvPr/>
        </p:nvPicPr>
        <p:blipFill>
          <a:blip r:embed="rId8"/>
          <a:stretch>
            <a:fillRect/>
          </a:stretch>
        </p:blipFill>
        <p:spPr>
          <a:xfrm>
            <a:off x="758540" y="5061987"/>
            <a:ext cx="10814606" cy="1536779"/>
          </a:xfrm>
          <a:prstGeom prst="rect">
            <a:avLst/>
          </a:prstGeom>
        </p:spPr>
      </p:pic>
      <p:sp>
        <p:nvSpPr>
          <p:cNvPr id="33" name="Rectangle: Rounded Corners 32">
            <a:extLst>
              <a:ext uri="{FF2B5EF4-FFF2-40B4-BE49-F238E27FC236}">
                <a16:creationId xmlns:a16="http://schemas.microsoft.com/office/drawing/2014/main" id="{9C701A8E-C5BA-F05F-0E35-D627EF3A352B}"/>
              </a:ext>
            </a:extLst>
          </p:cNvPr>
          <p:cNvSpPr/>
          <p:nvPr/>
        </p:nvSpPr>
        <p:spPr>
          <a:xfrm>
            <a:off x="8829636" y="5024601"/>
            <a:ext cx="1647646" cy="1777482"/>
          </a:xfrm>
          <a:prstGeom prst="roundRect">
            <a:avLst>
              <a:gd name="adj" fmla="val 30587"/>
            </a:avLst>
          </a:prstGeom>
          <a:no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287338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28FFC-0472-1058-9C0E-D58FDC1873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A0CF94-96B1-4C1E-A9CB-93FAB1281245}"/>
              </a:ext>
            </a:extLst>
          </p:cNvPr>
          <p:cNvSpPr>
            <a:spLocks noGrp="1"/>
          </p:cNvSpPr>
          <p:nvPr>
            <p:ph type="title"/>
          </p:nvPr>
        </p:nvSpPr>
        <p:spPr>
          <a:xfrm>
            <a:off x="656844" y="487045"/>
            <a:ext cx="6782643" cy="438453"/>
          </a:xfrm>
        </p:spPr>
        <p:txBody>
          <a:bodyPr/>
          <a:lstStyle/>
          <a:p>
            <a:r>
              <a:rPr lang="en-US" dirty="0"/>
              <a:t>Alibaba</a:t>
            </a:r>
          </a:p>
        </p:txBody>
      </p:sp>
      <p:sp>
        <p:nvSpPr>
          <p:cNvPr id="4" name="Slide Number Placeholder 3">
            <a:extLst>
              <a:ext uri="{FF2B5EF4-FFF2-40B4-BE49-F238E27FC236}">
                <a16:creationId xmlns:a16="http://schemas.microsoft.com/office/drawing/2014/main" id="{A08C838B-F5EA-53FB-3EFF-209769CB9158}"/>
              </a:ext>
            </a:extLst>
          </p:cNvPr>
          <p:cNvSpPr>
            <a:spLocks noGrp="1"/>
          </p:cNvSpPr>
          <p:nvPr>
            <p:ph type="sldNum" sz="quarter" idx="10"/>
          </p:nvPr>
        </p:nvSpPr>
        <p:spPr/>
        <p:txBody>
          <a:bodyPr/>
          <a:lstStyle/>
          <a:p>
            <a:fld id="{421B1A79-1F45-8F4F-AED5-0EE30DCF0380}" type="slidenum">
              <a:rPr lang="fr-FR" smtClean="0"/>
              <a:t>18</a:t>
            </a:fld>
            <a:endParaRPr lang="fr-FR"/>
          </a:p>
        </p:txBody>
      </p:sp>
      <p:sp>
        <p:nvSpPr>
          <p:cNvPr id="3" name="TextBox 2">
            <a:extLst>
              <a:ext uri="{FF2B5EF4-FFF2-40B4-BE49-F238E27FC236}">
                <a16:creationId xmlns:a16="http://schemas.microsoft.com/office/drawing/2014/main" id="{56B47DE7-6073-740B-65D0-4CDA85EE2D49}"/>
              </a:ext>
            </a:extLst>
          </p:cNvPr>
          <p:cNvSpPr txBox="1"/>
          <p:nvPr/>
        </p:nvSpPr>
        <p:spPr>
          <a:xfrm>
            <a:off x="66331" y="2850528"/>
            <a:ext cx="2525273" cy="1260345"/>
          </a:xfrm>
          <a:prstGeom prst="rect">
            <a:avLst/>
          </a:prstGeom>
          <a:solidFill>
            <a:schemeClr val="tx1">
              <a:lumMod val="10000"/>
              <a:lumOff val="90000"/>
            </a:schemeClr>
          </a:solidFill>
        </p:spPr>
        <p:txBody>
          <a:bodyPr wrap="square" rtlCol="0">
            <a:spAutoFit/>
          </a:bodyPr>
          <a:lstStyle/>
          <a:p>
            <a:pPr algn="ctr"/>
            <a:r>
              <a:rPr lang="fr-FR" sz="2530" dirty="0" err="1"/>
              <a:t>Current</a:t>
            </a:r>
            <a:r>
              <a:rPr lang="fr-FR" sz="2530" dirty="0"/>
              <a:t> </a:t>
            </a:r>
            <a:r>
              <a:rPr lang="fr-FR" sz="2530" dirty="0" err="1"/>
              <a:t>liabilities</a:t>
            </a:r>
            <a:r>
              <a:rPr lang="fr-FR" sz="2530" dirty="0"/>
              <a:t> (short-</a:t>
            </a:r>
            <a:r>
              <a:rPr lang="fr-FR" sz="2530" dirty="0" err="1"/>
              <a:t>term</a:t>
            </a:r>
            <a:r>
              <a:rPr lang="fr-FR" sz="2530" dirty="0"/>
              <a:t> </a:t>
            </a:r>
            <a:r>
              <a:rPr lang="fr-FR" sz="2530" dirty="0" err="1"/>
              <a:t>financing</a:t>
            </a:r>
            <a:r>
              <a:rPr lang="fr-FR" sz="2530" dirty="0"/>
              <a:t>)</a:t>
            </a:r>
            <a:endParaRPr lang="en-US" sz="2530" dirty="0"/>
          </a:p>
        </p:txBody>
      </p:sp>
      <p:sp>
        <p:nvSpPr>
          <p:cNvPr id="10" name="TextBox 9">
            <a:extLst>
              <a:ext uri="{FF2B5EF4-FFF2-40B4-BE49-F238E27FC236}">
                <a16:creationId xmlns:a16="http://schemas.microsoft.com/office/drawing/2014/main" id="{BB4F9E0C-A7CA-5A39-99ED-D93762FE7692}"/>
              </a:ext>
            </a:extLst>
          </p:cNvPr>
          <p:cNvSpPr txBox="1"/>
          <p:nvPr/>
        </p:nvSpPr>
        <p:spPr>
          <a:xfrm>
            <a:off x="976716" y="4218842"/>
            <a:ext cx="704504" cy="481670"/>
          </a:xfrm>
          <a:prstGeom prst="rect">
            <a:avLst/>
          </a:prstGeom>
          <a:solidFill>
            <a:schemeClr val="tx1">
              <a:lumMod val="10000"/>
              <a:lumOff val="90000"/>
            </a:schemeClr>
          </a:solidFill>
        </p:spPr>
        <p:txBody>
          <a:bodyPr wrap="square" rtlCol="0">
            <a:spAutoFit/>
          </a:bodyPr>
          <a:lstStyle/>
          <a:p>
            <a:pPr algn="ctr"/>
            <a:r>
              <a:rPr lang="fr-FR" sz="2530" dirty="0"/>
              <a:t>+</a:t>
            </a:r>
            <a:endParaRPr lang="en-US" sz="2530" dirty="0"/>
          </a:p>
        </p:txBody>
      </p:sp>
      <p:sp>
        <p:nvSpPr>
          <p:cNvPr id="11" name="TextBox 10">
            <a:extLst>
              <a:ext uri="{FF2B5EF4-FFF2-40B4-BE49-F238E27FC236}">
                <a16:creationId xmlns:a16="http://schemas.microsoft.com/office/drawing/2014/main" id="{990CBD7F-0500-5D23-2DC2-D3F8C01BCD9E}"/>
              </a:ext>
            </a:extLst>
          </p:cNvPr>
          <p:cNvSpPr txBox="1"/>
          <p:nvPr/>
        </p:nvSpPr>
        <p:spPr>
          <a:xfrm>
            <a:off x="66332" y="4788038"/>
            <a:ext cx="2525273" cy="1260345"/>
          </a:xfrm>
          <a:prstGeom prst="rect">
            <a:avLst/>
          </a:prstGeom>
          <a:solidFill>
            <a:schemeClr val="tx1">
              <a:lumMod val="10000"/>
              <a:lumOff val="90000"/>
            </a:schemeClr>
          </a:solidFill>
        </p:spPr>
        <p:txBody>
          <a:bodyPr wrap="square" rtlCol="0">
            <a:spAutoFit/>
          </a:bodyPr>
          <a:lstStyle/>
          <a:p>
            <a:pPr algn="ctr"/>
            <a:r>
              <a:rPr lang="fr-FR" sz="2530" dirty="0"/>
              <a:t>Non-</a:t>
            </a:r>
            <a:r>
              <a:rPr lang="fr-FR" sz="2530" dirty="0" err="1"/>
              <a:t>current</a:t>
            </a:r>
            <a:r>
              <a:rPr lang="fr-FR" sz="2530" dirty="0"/>
              <a:t> </a:t>
            </a:r>
            <a:r>
              <a:rPr lang="fr-FR" sz="2530" dirty="0" err="1"/>
              <a:t>liabilities</a:t>
            </a:r>
            <a:r>
              <a:rPr lang="fr-FR" sz="2530" dirty="0"/>
              <a:t> (long-</a:t>
            </a:r>
            <a:r>
              <a:rPr lang="fr-FR" sz="2530" dirty="0" err="1"/>
              <a:t>term</a:t>
            </a:r>
            <a:r>
              <a:rPr lang="fr-FR" sz="2530" dirty="0"/>
              <a:t> </a:t>
            </a:r>
            <a:r>
              <a:rPr lang="fr-FR" sz="2530" dirty="0" err="1"/>
              <a:t>financing</a:t>
            </a:r>
            <a:r>
              <a:rPr lang="fr-FR" sz="2530" dirty="0"/>
              <a:t>)</a:t>
            </a:r>
            <a:endParaRPr lang="en-US" sz="2530" dirty="0"/>
          </a:p>
        </p:txBody>
      </p:sp>
      <p:grpSp>
        <p:nvGrpSpPr>
          <p:cNvPr id="9" name="Group 8">
            <a:extLst>
              <a:ext uri="{FF2B5EF4-FFF2-40B4-BE49-F238E27FC236}">
                <a16:creationId xmlns:a16="http://schemas.microsoft.com/office/drawing/2014/main" id="{F5B313B2-B452-43CD-EECE-7ACC44D0129D}"/>
              </a:ext>
            </a:extLst>
          </p:cNvPr>
          <p:cNvGrpSpPr/>
          <p:nvPr/>
        </p:nvGrpSpPr>
        <p:grpSpPr>
          <a:xfrm>
            <a:off x="2825975" y="1842201"/>
            <a:ext cx="9227024" cy="4459307"/>
            <a:chOff x="2825975" y="1842201"/>
            <a:chExt cx="9227024" cy="4459307"/>
          </a:xfrm>
        </p:grpSpPr>
        <p:pic>
          <p:nvPicPr>
            <p:cNvPr id="6" name="Picture 5">
              <a:extLst>
                <a:ext uri="{FF2B5EF4-FFF2-40B4-BE49-F238E27FC236}">
                  <a16:creationId xmlns:a16="http://schemas.microsoft.com/office/drawing/2014/main" id="{582A77BF-46F5-4E6B-0E06-C0ACEC6F20C5}"/>
                </a:ext>
              </a:extLst>
            </p:cNvPr>
            <p:cNvPicPr>
              <a:picLocks noChangeAspect="1"/>
            </p:cNvPicPr>
            <p:nvPr/>
          </p:nvPicPr>
          <p:blipFill>
            <a:blip r:embed="rId2"/>
            <a:stretch>
              <a:fillRect/>
            </a:stretch>
          </p:blipFill>
          <p:spPr>
            <a:xfrm>
              <a:off x="7439487" y="1842201"/>
              <a:ext cx="4553184" cy="1073205"/>
            </a:xfrm>
            <a:prstGeom prst="rect">
              <a:avLst/>
            </a:prstGeom>
          </p:spPr>
        </p:pic>
        <p:pic>
          <p:nvPicPr>
            <p:cNvPr id="8" name="Picture 7">
              <a:extLst>
                <a:ext uri="{FF2B5EF4-FFF2-40B4-BE49-F238E27FC236}">
                  <a16:creationId xmlns:a16="http://schemas.microsoft.com/office/drawing/2014/main" id="{6785163C-564B-0B9F-0D43-9B7A6E1BBED0}"/>
                </a:ext>
              </a:extLst>
            </p:cNvPr>
            <p:cNvPicPr>
              <a:picLocks noChangeAspect="1"/>
            </p:cNvPicPr>
            <p:nvPr/>
          </p:nvPicPr>
          <p:blipFill>
            <a:blip r:embed="rId3"/>
            <a:stretch>
              <a:fillRect/>
            </a:stretch>
          </p:blipFill>
          <p:spPr>
            <a:xfrm>
              <a:off x="2825975" y="2878682"/>
              <a:ext cx="9227024" cy="3422826"/>
            </a:xfrm>
            <a:prstGeom prst="rect">
              <a:avLst/>
            </a:prstGeom>
          </p:spPr>
        </p:pic>
      </p:grpSp>
      <p:sp>
        <p:nvSpPr>
          <p:cNvPr id="14" name="Left Brace 13">
            <a:extLst>
              <a:ext uri="{FF2B5EF4-FFF2-40B4-BE49-F238E27FC236}">
                <a16:creationId xmlns:a16="http://schemas.microsoft.com/office/drawing/2014/main" id="{BC85E21C-16D9-35EB-5EA9-EA6A5907CE5D}"/>
              </a:ext>
            </a:extLst>
          </p:cNvPr>
          <p:cNvSpPr/>
          <p:nvPr/>
        </p:nvSpPr>
        <p:spPr>
          <a:xfrm>
            <a:off x="2704701" y="4811555"/>
            <a:ext cx="259882" cy="1165732"/>
          </a:xfrm>
          <a:prstGeom prst="leftBrace">
            <a:avLst>
              <a:gd name="adj1" fmla="val 44697"/>
              <a:gd name="adj2" fmla="val 5000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6675519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6EF9B-4493-4CFE-849E-3895B96F1196}"/>
              </a:ext>
            </a:extLst>
          </p:cNvPr>
          <p:cNvSpPr>
            <a:spLocks noGrp="1"/>
          </p:cNvSpPr>
          <p:nvPr>
            <p:ph type="title"/>
          </p:nvPr>
        </p:nvSpPr>
        <p:spPr/>
        <p:txBody>
          <a:bodyPr/>
          <a:lstStyle/>
          <a:p>
            <a:r>
              <a:rPr lang="en-US" dirty="0"/>
              <a:t>Alibaba</a:t>
            </a:r>
          </a:p>
        </p:txBody>
      </p:sp>
      <p:sp>
        <p:nvSpPr>
          <p:cNvPr id="4" name="Slide Number Placeholder 3">
            <a:extLst>
              <a:ext uri="{FF2B5EF4-FFF2-40B4-BE49-F238E27FC236}">
                <a16:creationId xmlns:a16="http://schemas.microsoft.com/office/drawing/2014/main" id="{6C65141B-21EB-0897-8424-FCA3427EEA41}"/>
              </a:ext>
            </a:extLst>
          </p:cNvPr>
          <p:cNvSpPr>
            <a:spLocks noGrp="1"/>
          </p:cNvSpPr>
          <p:nvPr>
            <p:ph type="sldNum" sz="quarter" idx="10"/>
          </p:nvPr>
        </p:nvSpPr>
        <p:spPr/>
        <p:txBody>
          <a:bodyPr/>
          <a:lstStyle/>
          <a:p>
            <a:fld id="{421B1A79-1F45-8F4F-AED5-0EE30DCF0380}" type="slidenum">
              <a:rPr lang="fr-FR" smtClean="0"/>
              <a:t>19</a:t>
            </a:fld>
            <a:endParaRPr lang="fr-FR"/>
          </a:p>
        </p:txBody>
      </p:sp>
      <p:sp>
        <p:nvSpPr>
          <p:cNvPr id="5" name="TextBox 4">
            <a:extLst>
              <a:ext uri="{FF2B5EF4-FFF2-40B4-BE49-F238E27FC236}">
                <a16:creationId xmlns:a16="http://schemas.microsoft.com/office/drawing/2014/main" id="{B73E60D5-345E-E982-0D60-EF84C5F8FB36}"/>
              </a:ext>
            </a:extLst>
          </p:cNvPr>
          <p:cNvSpPr txBox="1"/>
          <p:nvPr/>
        </p:nvSpPr>
        <p:spPr>
          <a:xfrm>
            <a:off x="77001" y="3443127"/>
            <a:ext cx="2525273" cy="1260345"/>
          </a:xfrm>
          <a:prstGeom prst="rect">
            <a:avLst/>
          </a:prstGeom>
          <a:solidFill>
            <a:schemeClr val="tx1">
              <a:lumMod val="10000"/>
              <a:lumOff val="90000"/>
            </a:schemeClr>
          </a:solidFill>
        </p:spPr>
        <p:txBody>
          <a:bodyPr wrap="square" rtlCol="0">
            <a:spAutoFit/>
          </a:bodyPr>
          <a:lstStyle/>
          <a:p>
            <a:pPr algn="ctr"/>
            <a:r>
              <a:rPr lang="fr-FR" sz="2530" dirty="0" err="1"/>
              <a:t>Shareholders</a:t>
            </a:r>
            <a:r>
              <a:rPr lang="fr-FR" sz="2530" dirty="0"/>
              <a:t>’ </a:t>
            </a:r>
            <a:r>
              <a:rPr lang="fr-FR" sz="2530" dirty="0" err="1"/>
              <a:t>Equity</a:t>
            </a:r>
            <a:r>
              <a:rPr lang="fr-FR" sz="2530" dirty="0"/>
              <a:t> (long-</a:t>
            </a:r>
            <a:r>
              <a:rPr lang="fr-FR" sz="2530" dirty="0" err="1"/>
              <a:t>term</a:t>
            </a:r>
            <a:r>
              <a:rPr lang="fr-FR" sz="2530" dirty="0"/>
              <a:t> </a:t>
            </a:r>
            <a:r>
              <a:rPr lang="fr-FR" sz="2530" dirty="0" err="1"/>
              <a:t>financing</a:t>
            </a:r>
            <a:r>
              <a:rPr lang="fr-FR" sz="2530" dirty="0"/>
              <a:t>)</a:t>
            </a:r>
            <a:endParaRPr lang="en-US" sz="2530" dirty="0"/>
          </a:p>
        </p:txBody>
      </p:sp>
      <p:sp>
        <p:nvSpPr>
          <p:cNvPr id="9" name="TextBox 8">
            <a:extLst>
              <a:ext uri="{FF2B5EF4-FFF2-40B4-BE49-F238E27FC236}">
                <a16:creationId xmlns:a16="http://schemas.microsoft.com/office/drawing/2014/main" id="{0B1BFB07-1FB4-87AD-79C1-E3A3F7D96AD2}"/>
              </a:ext>
            </a:extLst>
          </p:cNvPr>
          <p:cNvSpPr txBox="1"/>
          <p:nvPr/>
        </p:nvSpPr>
        <p:spPr>
          <a:xfrm>
            <a:off x="103517" y="5016109"/>
            <a:ext cx="2420429" cy="923330"/>
          </a:xfrm>
          <a:prstGeom prst="rect">
            <a:avLst/>
          </a:prstGeom>
          <a:noFill/>
        </p:spPr>
        <p:txBody>
          <a:bodyPr wrap="square" rtlCol="0">
            <a:spAutoFit/>
          </a:bodyPr>
          <a:lstStyle/>
          <a:p>
            <a:r>
              <a:rPr lang="en-US" dirty="0"/>
              <a:t>Net income of the period is included here</a:t>
            </a:r>
          </a:p>
        </p:txBody>
      </p:sp>
      <p:pic>
        <p:nvPicPr>
          <p:cNvPr id="10" name="Picture 9">
            <a:extLst>
              <a:ext uri="{FF2B5EF4-FFF2-40B4-BE49-F238E27FC236}">
                <a16:creationId xmlns:a16="http://schemas.microsoft.com/office/drawing/2014/main" id="{33972EB5-BB7F-4070-53AD-1EC86E34512F}"/>
              </a:ext>
            </a:extLst>
          </p:cNvPr>
          <p:cNvPicPr>
            <a:picLocks noChangeAspect="1"/>
          </p:cNvPicPr>
          <p:nvPr/>
        </p:nvPicPr>
        <p:blipFill>
          <a:blip r:embed="rId2"/>
          <a:stretch>
            <a:fillRect/>
          </a:stretch>
        </p:blipFill>
        <p:spPr>
          <a:xfrm>
            <a:off x="3015778" y="1947545"/>
            <a:ext cx="9176222" cy="4718292"/>
          </a:xfrm>
          <a:prstGeom prst="rect">
            <a:avLst/>
          </a:prstGeom>
        </p:spPr>
      </p:pic>
      <p:sp>
        <p:nvSpPr>
          <p:cNvPr id="11" name="Rectangle: Rounded Corners 10">
            <a:extLst>
              <a:ext uri="{FF2B5EF4-FFF2-40B4-BE49-F238E27FC236}">
                <a16:creationId xmlns:a16="http://schemas.microsoft.com/office/drawing/2014/main" id="{01647527-04DF-F720-8DC6-237F7FDC490C}"/>
              </a:ext>
            </a:extLst>
          </p:cNvPr>
          <p:cNvSpPr/>
          <p:nvPr/>
        </p:nvSpPr>
        <p:spPr>
          <a:xfrm>
            <a:off x="2950285" y="5523630"/>
            <a:ext cx="9241715" cy="293298"/>
          </a:xfrm>
          <a:prstGeom prst="roundRect">
            <a:avLst>
              <a:gd name="adj" fmla="val 50000"/>
            </a:avLst>
          </a:prstGeom>
          <a:no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4E937C02-A8AF-C0BF-179C-70C9801E959B}"/>
              </a:ext>
            </a:extLst>
          </p:cNvPr>
          <p:cNvSpPr/>
          <p:nvPr/>
        </p:nvSpPr>
        <p:spPr>
          <a:xfrm>
            <a:off x="2153061" y="5523630"/>
            <a:ext cx="552091" cy="29329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23070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7F380-BCC7-AC91-2ED7-17B8F4E76592}"/>
              </a:ext>
            </a:extLst>
          </p:cNvPr>
          <p:cNvSpPr>
            <a:spLocks noGrp="1"/>
          </p:cNvSpPr>
          <p:nvPr>
            <p:ph type="title"/>
          </p:nvPr>
        </p:nvSpPr>
        <p:spPr/>
        <p:txBody>
          <a:bodyPr/>
          <a:lstStyle/>
          <a:p>
            <a:r>
              <a:rPr lang="en-US" dirty="0"/>
              <a:t>Anta Sports</a:t>
            </a:r>
          </a:p>
        </p:txBody>
      </p:sp>
      <p:sp>
        <p:nvSpPr>
          <p:cNvPr id="4" name="Slide Number Placeholder 3">
            <a:extLst>
              <a:ext uri="{FF2B5EF4-FFF2-40B4-BE49-F238E27FC236}">
                <a16:creationId xmlns:a16="http://schemas.microsoft.com/office/drawing/2014/main" id="{A4692C3A-C5A7-2A99-AD7D-978F5DBBFE75}"/>
              </a:ext>
            </a:extLst>
          </p:cNvPr>
          <p:cNvSpPr>
            <a:spLocks noGrp="1"/>
          </p:cNvSpPr>
          <p:nvPr>
            <p:ph type="sldNum" sz="quarter" idx="10"/>
          </p:nvPr>
        </p:nvSpPr>
        <p:spPr/>
        <p:txBody>
          <a:bodyPr/>
          <a:lstStyle/>
          <a:p>
            <a:fld id="{421B1A79-1F45-8F4F-AED5-0EE30DCF0380}" type="slidenum">
              <a:rPr lang="fr-FR" smtClean="0"/>
              <a:t>20</a:t>
            </a:fld>
            <a:endParaRPr lang="fr-FR"/>
          </a:p>
        </p:txBody>
      </p:sp>
      <p:sp>
        <p:nvSpPr>
          <p:cNvPr id="5" name="TextBox 4">
            <a:extLst>
              <a:ext uri="{FF2B5EF4-FFF2-40B4-BE49-F238E27FC236}">
                <a16:creationId xmlns:a16="http://schemas.microsoft.com/office/drawing/2014/main" id="{DD9B5AEB-3B78-8DD5-3766-A71F8CE11B38}"/>
              </a:ext>
            </a:extLst>
          </p:cNvPr>
          <p:cNvSpPr txBox="1"/>
          <p:nvPr/>
        </p:nvSpPr>
        <p:spPr>
          <a:xfrm>
            <a:off x="622405" y="2434805"/>
            <a:ext cx="3026852" cy="481670"/>
          </a:xfrm>
          <a:prstGeom prst="rect">
            <a:avLst/>
          </a:prstGeom>
          <a:solidFill>
            <a:schemeClr val="tx1">
              <a:lumMod val="10000"/>
              <a:lumOff val="90000"/>
            </a:schemeClr>
          </a:solidFill>
        </p:spPr>
        <p:txBody>
          <a:bodyPr wrap="square" rtlCol="0">
            <a:spAutoFit/>
          </a:bodyPr>
          <a:lstStyle/>
          <a:p>
            <a:pPr algn="ctr"/>
            <a:r>
              <a:rPr lang="fr-FR" sz="2530" dirty="0"/>
              <a:t>Non-</a:t>
            </a:r>
            <a:r>
              <a:rPr lang="fr-FR" sz="2530" dirty="0" err="1"/>
              <a:t>current</a:t>
            </a:r>
            <a:r>
              <a:rPr lang="fr-FR" sz="2530" dirty="0"/>
              <a:t> assets</a:t>
            </a:r>
            <a:endParaRPr lang="en-US" sz="2530" dirty="0"/>
          </a:p>
        </p:txBody>
      </p:sp>
      <p:sp>
        <p:nvSpPr>
          <p:cNvPr id="6" name="TextBox 5">
            <a:extLst>
              <a:ext uri="{FF2B5EF4-FFF2-40B4-BE49-F238E27FC236}">
                <a16:creationId xmlns:a16="http://schemas.microsoft.com/office/drawing/2014/main" id="{75989386-D144-461D-F035-CEF521D4FF7E}"/>
              </a:ext>
            </a:extLst>
          </p:cNvPr>
          <p:cNvSpPr txBox="1"/>
          <p:nvPr/>
        </p:nvSpPr>
        <p:spPr>
          <a:xfrm>
            <a:off x="1696409" y="3459856"/>
            <a:ext cx="704504" cy="481670"/>
          </a:xfrm>
          <a:prstGeom prst="rect">
            <a:avLst/>
          </a:prstGeom>
          <a:solidFill>
            <a:schemeClr val="tx1">
              <a:lumMod val="10000"/>
              <a:lumOff val="90000"/>
            </a:schemeClr>
          </a:solidFill>
        </p:spPr>
        <p:txBody>
          <a:bodyPr wrap="square" rtlCol="0">
            <a:spAutoFit/>
          </a:bodyPr>
          <a:lstStyle/>
          <a:p>
            <a:pPr algn="ctr"/>
            <a:r>
              <a:rPr lang="fr-FR" sz="2530" dirty="0"/>
              <a:t>+</a:t>
            </a:r>
            <a:endParaRPr lang="en-US" sz="2530" dirty="0"/>
          </a:p>
        </p:txBody>
      </p:sp>
      <p:sp>
        <p:nvSpPr>
          <p:cNvPr id="7" name="TextBox 6">
            <a:extLst>
              <a:ext uri="{FF2B5EF4-FFF2-40B4-BE49-F238E27FC236}">
                <a16:creationId xmlns:a16="http://schemas.microsoft.com/office/drawing/2014/main" id="{1439D6A7-F29A-5066-C559-245D66D96139}"/>
              </a:ext>
            </a:extLst>
          </p:cNvPr>
          <p:cNvSpPr txBox="1"/>
          <p:nvPr/>
        </p:nvSpPr>
        <p:spPr>
          <a:xfrm>
            <a:off x="786025" y="4760301"/>
            <a:ext cx="2525273" cy="481670"/>
          </a:xfrm>
          <a:prstGeom prst="rect">
            <a:avLst/>
          </a:prstGeom>
          <a:solidFill>
            <a:schemeClr val="tx1">
              <a:lumMod val="10000"/>
              <a:lumOff val="90000"/>
            </a:schemeClr>
          </a:solidFill>
        </p:spPr>
        <p:txBody>
          <a:bodyPr wrap="square" rtlCol="0">
            <a:spAutoFit/>
          </a:bodyPr>
          <a:lstStyle/>
          <a:p>
            <a:pPr algn="ctr"/>
            <a:r>
              <a:rPr lang="fr-FR" sz="2530" dirty="0" err="1"/>
              <a:t>Current</a:t>
            </a:r>
            <a:r>
              <a:rPr lang="fr-FR" sz="2530" dirty="0"/>
              <a:t> assets</a:t>
            </a:r>
            <a:endParaRPr lang="en-US" sz="2530" dirty="0"/>
          </a:p>
        </p:txBody>
      </p:sp>
      <p:pic>
        <p:nvPicPr>
          <p:cNvPr id="9" name="Picture 8">
            <a:extLst>
              <a:ext uri="{FF2B5EF4-FFF2-40B4-BE49-F238E27FC236}">
                <a16:creationId xmlns:a16="http://schemas.microsoft.com/office/drawing/2014/main" id="{7C8445DA-22D3-50F3-808E-2FC8641688BE}"/>
              </a:ext>
            </a:extLst>
          </p:cNvPr>
          <p:cNvPicPr>
            <a:picLocks noChangeAspect="1"/>
          </p:cNvPicPr>
          <p:nvPr/>
        </p:nvPicPr>
        <p:blipFill>
          <a:blip r:embed="rId2"/>
          <a:stretch>
            <a:fillRect/>
          </a:stretch>
        </p:blipFill>
        <p:spPr>
          <a:xfrm>
            <a:off x="3927108" y="191367"/>
            <a:ext cx="7090084" cy="5951194"/>
          </a:xfrm>
          <a:prstGeom prst="rect">
            <a:avLst/>
          </a:prstGeom>
        </p:spPr>
      </p:pic>
    </p:spTree>
    <p:extLst>
      <p:ext uri="{BB962C8B-B14F-4D97-AF65-F5344CB8AC3E}">
        <p14:creationId xmlns:p14="http://schemas.microsoft.com/office/powerpoint/2010/main" val="28768594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A50F7-DC47-D2C8-C198-060E4958A6D2}"/>
              </a:ext>
            </a:extLst>
          </p:cNvPr>
          <p:cNvSpPr>
            <a:spLocks noGrp="1"/>
          </p:cNvSpPr>
          <p:nvPr>
            <p:ph type="title"/>
          </p:nvPr>
        </p:nvSpPr>
        <p:spPr/>
        <p:txBody>
          <a:bodyPr/>
          <a:lstStyle/>
          <a:p>
            <a:r>
              <a:rPr lang="en-US" dirty="0"/>
              <a:t>Anta Sports</a:t>
            </a:r>
          </a:p>
        </p:txBody>
      </p:sp>
      <p:sp>
        <p:nvSpPr>
          <p:cNvPr id="4" name="Slide Number Placeholder 3">
            <a:extLst>
              <a:ext uri="{FF2B5EF4-FFF2-40B4-BE49-F238E27FC236}">
                <a16:creationId xmlns:a16="http://schemas.microsoft.com/office/drawing/2014/main" id="{D3C787B2-B086-86A3-C215-995D4C36E1B7}"/>
              </a:ext>
            </a:extLst>
          </p:cNvPr>
          <p:cNvSpPr>
            <a:spLocks noGrp="1"/>
          </p:cNvSpPr>
          <p:nvPr>
            <p:ph type="sldNum" sz="quarter" idx="10"/>
          </p:nvPr>
        </p:nvSpPr>
        <p:spPr/>
        <p:txBody>
          <a:bodyPr/>
          <a:lstStyle/>
          <a:p>
            <a:fld id="{421B1A79-1F45-8F4F-AED5-0EE30DCF0380}" type="slidenum">
              <a:rPr lang="fr-FR" smtClean="0"/>
              <a:t>21</a:t>
            </a:fld>
            <a:endParaRPr lang="fr-FR"/>
          </a:p>
        </p:txBody>
      </p:sp>
      <p:sp>
        <p:nvSpPr>
          <p:cNvPr id="5" name="TextBox 4">
            <a:extLst>
              <a:ext uri="{FF2B5EF4-FFF2-40B4-BE49-F238E27FC236}">
                <a16:creationId xmlns:a16="http://schemas.microsoft.com/office/drawing/2014/main" id="{D6630126-7798-B9F9-BAD5-D7E09914C779}"/>
              </a:ext>
            </a:extLst>
          </p:cNvPr>
          <p:cNvSpPr txBox="1"/>
          <p:nvPr/>
        </p:nvSpPr>
        <p:spPr>
          <a:xfrm>
            <a:off x="492730" y="936365"/>
            <a:ext cx="3018272" cy="481670"/>
          </a:xfrm>
          <a:prstGeom prst="rect">
            <a:avLst/>
          </a:prstGeom>
          <a:solidFill>
            <a:schemeClr val="tx1">
              <a:lumMod val="10000"/>
              <a:lumOff val="90000"/>
            </a:schemeClr>
          </a:solidFill>
        </p:spPr>
        <p:txBody>
          <a:bodyPr wrap="square" rtlCol="0">
            <a:spAutoFit/>
          </a:bodyPr>
          <a:lstStyle/>
          <a:p>
            <a:pPr algn="ctr"/>
            <a:r>
              <a:rPr lang="fr-FR" sz="2530" dirty="0" err="1"/>
              <a:t>Current</a:t>
            </a:r>
            <a:r>
              <a:rPr lang="fr-FR" sz="2530" dirty="0"/>
              <a:t> assets</a:t>
            </a:r>
            <a:endParaRPr lang="en-US" sz="2530" dirty="0"/>
          </a:p>
        </p:txBody>
      </p:sp>
      <p:sp>
        <p:nvSpPr>
          <p:cNvPr id="6" name="TextBox 5">
            <a:extLst>
              <a:ext uri="{FF2B5EF4-FFF2-40B4-BE49-F238E27FC236}">
                <a16:creationId xmlns:a16="http://schemas.microsoft.com/office/drawing/2014/main" id="{25AE7345-AE11-4B48-89A1-07872515BBF9}"/>
              </a:ext>
            </a:extLst>
          </p:cNvPr>
          <p:cNvSpPr txBox="1"/>
          <p:nvPr/>
        </p:nvSpPr>
        <p:spPr>
          <a:xfrm>
            <a:off x="1649614" y="1510251"/>
            <a:ext cx="704504" cy="481670"/>
          </a:xfrm>
          <a:prstGeom prst="rect">
            <a:avLst/>
          </a:prstGeom>
          <a:solidFill>
            <a:schemeClr val="tx1">
              <a:lumMod val="10000"/>
              <a:lumOff val="90000"/>
            </a:schemeClr>
          </a:solidFill>
        </p:spPr>
        <p:txBody>
          <a:bodyPr wrap="square" rtlCol="0">
            <a:spAutoFit/>
          </a:bodyPr>
          <a:lstStyle/>
          <a:p>
            <a:pPr algn="ctr"/>
            <a:r>
              <a:rPr lang="fr-FR" sz="2530" dirty="0"/>
              <a:t>– </a:t>
            </a:r>
            <a:endParaRPr lang="en-US" sz="2530" dirty="0"/>
          </a:p>
        </p:txBody>
      </p:sp>
      <p:sp>
        <p:nvSpPr>
          <p:cNvPr id="7" name="TextBox 6">
            <a:extLst>
              <a:ext uri="{FF2B5EF4-FFF2-40B4-BE49-F238E27FC236}">
                <a16:creationId xmlns:a16="http://schemas.microsoft.com/office/drawing/2014/main" id="{1F0CA594-131A-0850-A273-58E2FFF073B8}"/>
              </a:ext>
            </a:extLst>
          </p:cNvPr>
          <p:cNvSpPr txBox="1"/>
          <p:nvPr/>
        </p:nvSpPr>
        <p:spPr>
          <a:xfrm>
            <a:off x="500339" y="2071840"/>
            <a:ext cx="3018520" cy="481670"/>
          </a:xfrm>
          <a:prstGeom prst="rect">
            <a:avLst/>
          </a:prstGeom>
          <a:solidFill>
            <a:schemeClr val="tx1">
              <a:lumMod val="10000"/>
              <a:lumOff val="90000"/>
            </a:schemeClr>
          </a:solidFill>
        </p:spPr>
        <p:txBody>
          <a:bodyPr wrap="square" rtlCol="0">
            <a:spAutoFit/>
          </a:bodyPr>
          <a:lstStyle/>
          <a:p>
            <a:pPr algn="ctr"/>
            <a:r>
              <a:rPr lang="fr-FR" sz="2530" dirty="0" err="1"/>
              <a:t>Current</a:t>
            </a:r>
            <a:r>
              <a:rPr lang="fr-FR" sz="2530" dirty="0"/>
              <a:t> </a:t>
            </a:r>
            <a:r>
              <a:rPr lang="fr-FR" sz="2530" dirty="0" err="1"/>
              <a:t>liabilities</a:t>
            </a:r>
            <a:endParaRPr lang="en-US" sz="2530" dirty="0"/>
          </a:p>
        </p:txBody>
      </p:sp>
      <p:sp>
        <p:nvSpPr>
          <p:cNvPr id="8" name="TextBox 7">
            <a:extLst>
              <a:ext uri="{FF2B5EF4-FFF2-40B4-BE49-F238E27FC236}">
                <a16:creationId xmlns:a16="http://schemas.microsoft.com/office/drawing/2014/main" id="{BADC5A65-7DD1-B07E-B83A-4E849D28A967}"/>
              </a:ext>
            </a:extLst>
          </p:cNvPr>
          <p:cNvSpPr txBox="1"/>
          <p:nvPr/>
        </p:nvSpPr>
        <p:spPr>
          <a:xfrm>
            <a:off x="1682143" y="2632102"/>
            <a:ext cx="704504" cy="481670"/>
          </a:xfrm>
          <a:prstGeom prst="rect">
            <a:avLst/>
          </a:prstGeom>
          <a:solidFill>
            <a:schemeClr val="tx1">
              <a:lumMod val="10000"/>
              <a:lumOff val="90000"/>
            </a:schemeClr>
          </a:solidFill>
        </p:spPr>
        <p:txBody>
          <a:bodyPr wrap="square" rtlCol="0">
            <a:spAutoFit/>
          </a:bodyPr>
          <a:lstStyle/>
          <a:p>
            <a:pPr algn="ctr"/>
            <a:r>
              <a:rPr lang="fr-FR" sz="2530" dirty="0"/>
              <a:t>= </a:t>
            </a:r>
            <a:endParaRPr lang="en-US" sz="2530" dirty="0"/>
          </a:p>
        </p:txBody>
      </p:sp>
      <p:sp>
        <p:nvSpPr>
          <p:cNvPr id="10" name="TextBox 9">
            <a:extLst>
              <a:ext uri="{FF2B5EF4-FFF2-40B4-BE49-F238E27FC236}">
                <a16:creationId xmlns:a16="http://schemas.microsoft.com/office/drawing/2014/main" id="{1585D90F-F024-CDC5-31F1-7337139614F1}"/>
              </a:ext>
            </a:extLst>
          </p:cNvPr>
          <p:cNvSpPr txBox="1"/>
          <p:nvPr/>
        </p:nvSpPr>
        <p:spPr>
          <a:xfrm>
            <a:off x="492084" y="3158148"/>
            <a:ext cx="3060793" cy="871008"/>
          </a:xfrm>
          <a:prstGeom prst="rect">
            <a:avLst/>
          </a:prstGeom>
          <a:solidFill>
            <a:schemeClr val="tx1">
              <a:lumMod val="10000"/>
              <a:lumOff val="90000"/>
            </a:schemeClr>
          </a:solidFill>
        </p:spPr>
        <p:txBody>
          <a:bodyPr wrap="square" rtlCol="0">
            <a:spAutoFit/>
          </a:bodyPr>
          <a:lstStyle/>
          <a:p>
            <a:pPr algn="ctr"/>
            <a:r>
              <a:rPr lang="en-US" sz="2530" noProof="0" dirty="0"/>
              <a:t>Working capital (or “net current assets”)</a:t>
            </a:r>
          </a:p>
        </p:txBody>
      </p:sp>
      <p:pic>
        <p:nvPicPr>
          <p:cNvPr id="11" name="Picture 10">
            <a:extLst>
              <a:ext uri="{FF2B5EF4-FFF2-40B4-BE49-F238E27FC236}">
                <a16:creationId xmlns:a16="http://schemas.microsoft.com/office/drawing/2014/main" id="{39C07622-7FEC-82AF-944A-708649FB7E25}"/>
              </a:ext>
            </a:extLst>
          </p:cNvPr>
          <p:cNvPicPr>
            <a:picLocks noChangeAspect="1"/>
          </p:cNvPicPr>
          <p:nvPr/>
        </p:nvPicPr>
        <p:blipFill>
          <a:blip r:embed="rId2"/>
          <a:stretch>
            <a:fillRect/>
          </a:stretch>
        </p:blipFill>
        <p:spPr>
          <a:xfrm>
            <a:off x="3716991" y="0"/>
            <a:ext cx="7559488" cy="6227545"/>
          </a:xfrm>
          <a:prstGeom prst="rect">
            <a:avLst/>
          </a:prstGeom>
        </p:spPr>
      </p:pic>
      <p:sp>
        <p:nvSpPr>
          <p:cNvPr id="12" name="TextBox 11">
            <a:extLst>
              <a:ext uri="{FF2B5EF4-FFF2-40B4-BE49-F238E27FC236}">
                <a16:creationId xmlns:a16="http://schemas.microsoft.com/office/drawing/2014/main" id="{0D20D775-0337-0E7E-3D72-752BF796ADD8}"/>
              </a:ext>
            </a:extLst>
          </p:cNvPr>
          <p:cNvSpPr txBox="1"/>
          <p:nvPr/>
        </p:nvSpPr>
        <p:spPr>
          <a:xfrm>
            <a:off x="424988" y="4202721"/>
            <a:ext cx="3018520" cy="871008"/>
          </a:xfrm>
          <a:prstGeom prst="rect">
            <a:avLst/>
          </a:prstGeom>
          <a:solidFill>
            <a:srgbClr val="92D050"/>
          </a:solidFill>
        </p:spPr>
        <p:txBody>
          <a:bodyPr wrap="square" rtlCol="0">
            <a:spAutoFit/>
          </a:bodyPr>
          <a:lstStyle/>
          <a:p>
            <a:pPr algn="ctr"/>
            <a:r>
              <a:rPr lang="fr-FR" sz="2530" dirty="0"/>
              <a:t>Assets – </a:t>
            </a:r>
            <a:r>
              <a:rPr lang="fr-FR" sz="2530" dirty="0" err="1"/>
              <a:t>Liabilities</a:t>
            </a:r>
            <a:r>
              <a:rPr lang="fr-FR" sz="2530" dirty="0"/>
              <a:t> = Net assets</a:t>
            </a:r>
            <a:endParaRPr lang="en-US" sz="2530" dirty="0"/>
          </a:p>
        </p:txBody>
      </p:sp>
      <p:sp>
        <p:nvSpPr>
          <p:cNvPr id="13" name="TextBox 12">
            <a:extLst>
              <a:ext uri="{FF2B5EF4-FFF2-40B4-BE49-F238E27FC236}">
                <a16:creationId xmlns:a16="http://schemas.microsoft.com/office/drawing/2014/main" id="{9E4556BE-F21F-E6B0-F15A-DA2EB5889B55}"/>
              </a:ext>
            </a:extLst>
          </p:cNvPr>
          <p:cNvSpPr txBox="1"/>
          <p:nvPr/>
        </p:nvSpPr>
        <p:spPr>
          <a:xfrm>
            <a:off x="1649614" y="5168901"/>
            <a:ext cx="704504" cy="481670"/>
          </a:xfrm>
          <a:prstGeom prst="rect">
            <a:avLst/>
          </a:prstGeom>
          <a:solidFill>
            <a:srgbClr val="92D050"/>
          </a:solidFill>
        </p:spPr>
        <p:txBody>
          <a:bodyPr wrap="square" rtlCol="0">
            <a:spAutoFit/>
          </a:bodyPr>
          <a:lstStyle/>
          <a:p>
            <a:pPr algn="ctr"/>
            <a:r>
              <a:rPr lang="fr-FR" sz="2530" dirty="0"/>
              <a:t>= </a:t>
            </a:r>
            <a:endParaRPr lang="en-US" sz="2530" dirty="0"/>
          </a:p>
        </p:txBody>
      </p:sp>
      <p:sp>
        <p:nvSpPr>
          <p:cNvPr id="14" name="TextBox 13">
            <a:extLst>
              <a:ext uri="{FF2B5EF4-FFF2-40B4-BE49-F238E27FC236}">
                <a16:creationId xmlns:a16="http://schemas.microsoft.com/office/drawing/2014/main" id="{FAEAFEFC-8399-CE31-E08F-8620627CA037}"/>
              </a:ext>
            </a:extLst>
          </p:cNvPr>
          <p:cNvSpPr txBox="1"/>
          <p:nvPr/>
        </p:nvSpPr>
        <p:spPr>
          <a:xfrm>
            <a:off x="403852" y="5745743"/>
            <a:ext cx="3018521" cy="481670"/>
          </a:xfrm>
          <a:prstGeom prst="rect">
            <a:avLst/>
          </a:prstGeom>
          <a:solidFill>
            <a:srgbClr val="92D050"/>
          </a:solidFill>
        </p:spPr>
        <p:txBody>
          <a:bodyPr wrap="square" rtlCol="0">
            <a:spAutoFit/>
          </a:bodyPr>
          <a:lstStyle/>
          <a:p>
            <a:pPr algn="ctr"/>
            <a:r>
              <a:rPr lang="en-US" sz="2530" noProof="0" dirty="0"/>
              <a:t>Equity</a:t>
            </a:r>
          </a:p>
        </p:txBody>
      </p:sp>
    </p:spTree>
    <p:extLst>
      <p:ext uri="{BB962C8B-B14F-4D97-AF65-F5344CB8AC3E}">
        <p14:creationId xmlns:p14="http://schemas.microsoft.com/office/powerpoint/2010/main" val="39766128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E99DA-EB6C-B0C4-BE71-C1BFBE0D9328}"/>
              </a:ext>
            </a:extLst>
          </p:cNvPr>
          <p:cNvSpPr>
            <a:spLocks noGrp="1"/>
          </p:cNvSpPr>
          <p:nvPr>
            <p:ph type="title"/>
          </p:nvPr>
        </p:nvSpPr>
        <p:spPr/>
        <p:txBody>
          <a:bodyPr/>
          <a:lstStyle/>
          <a:p>
            <a:r>
              <a:rPr lang="en-US" dirty="0"/>
              <a:t>Airbus</a:t>
            </a:r>
          </a:p>
        </p:txBody>
      </p:sp>
      <p:sp>
        <p:nvSpPr>
          <p:cNvPr id="4" name="Slide Number Placeholder 3">
            <a:extLst>
              <a:ext uri="{FF2B5EF4-FFF2-40B4-BE49-F238E27FC236}">
                <a16:creationId xmlns:a16="http://schemas.microsoft.com/office/drawing/2014/main" id="{45C4C57E-EA82-2877-2412-4F3DFF99E45F}"/>
              </a:ext>
            </a:extLst>
          </p:cNvPr>
          <p:cNvSpPr>
            <a:spLocks noGrp="1"/>
          </p:cNvSpPr>
          <p:nvPr>
            <p:ph type="sldNum" sz="quarter" idx="10"/>
          </p:nvPr>
        </p:nvSpPr>
        <p:spPr/>
        <p:txBody>
          <a:bodyPr/>
          <a:lstStyle/>
          <a:p>
            <a:fld id="{421B1A79-1F45-8F4F-AED5-0EE30DCF0380}" type="slidenum">
              <a:rPr lang="fr-FR" smtClean="0"/>
              <a:t>22</a:t>
            </a:fld>
            <a:endParaRPr lang="fr-FR"/>
          </a:p>
        </p:txBody>
      </p:sp>
      <p:sp>
        <p:nvSpPr>
          <p:cNvPr id="5" name="TextBox 4">
            <a:extLst>
              <a:ext uri="{FF2B5EF4-FFF2-40B4-BE49-F238E27FC236}">
                <a16:creationId xmlns:a16="http://schemas.microsoft.com/office/drawing/2014/main" id="{95F114C4-CAA9-F451-EC29-22F411A90638}"/>
              </a:ext>
            </a:extLst>
          </p:cNvPr>
          <p:cNvSpPr txBox="1"/>
          <p:nvPr/>
        </p:nvSpPr>
        <p:spPr>
          <a:xfrm>
            <a:off x="438174" y="4303284"/>
            <a:ext cx="2525273" cy="1260345"/>
          </a:xfrm>
          <a:prstGeom prst="rect">
            <a:avLst/>
          </a:prstGeom>
          <a:solidFill>
            <a:schemeClr val="tx1">
              <a:lumMod val="10000"/>
              <a:lumOff val="90000"/>
            </a:schemeClr>
          </a:solidFill>
        </p:spPr>
        <p:txBody>
          <a:bodyPr wrap="square" rtlCol="0">
            <a:spAutoFit/>
          </a:bodyPr>
          <a:lstStyle/>
          <a:p>
            <a:pPr algn="ctr"/>
            <a:r>
              <a:rPr lang="fr-FR" sz="2530" dirty="0" err="1"/>
              <a:t>Current</a:t>
            </a:r>
            <a:r>
              <a:rPr lang="fr-FR" sz="2530" dirty="0"/>
              <a:t> assets (short-</a:t>
            </a:r>
            <a:r>
              <a:rPr lang="fr-FR" sz="2530" dirty="0" err="1"/>
              <a:t>term</a:t>
            </a:r>
            <a:r>
              <a:rPr lang="fr-FR" sz="2530" dirty="0"/>
              <a:t> assets)</a:t>
            </a:r>
            <a:endParaRPr lang="en-US" sz="2530" dirty="0"/>
          </a:p>
        </p:txBody>
      </p:sp>
      <p:sp>
        <p:nvSpPr>
          <p:cNvPr id="6" name="TextBox 5">
            <a:extLst>
              <a:ext uri="{FF2B5EF4-FFF2-40B4-BE49-F238E27FC236}">
                <a16:creationId xmlns:a16="http://schemas.microsoft.com/office/drawing/2014/main" id="{605460A7-9763-0442-160D-C3F25FBAAD2D}"/>
              </a:ext>
            </a:extLst>
          </p:cNvPr>
          <p:cNvSpPr txBox="1"/>
          <p:nvPr/>
        </p:nvSpPr>
        <p:spPr>
          <a:xfrm>
            <a:off x="1291421" y="3510290"/>
            <a:ext cx="704504" cy="481670"/>
          </a:xfrm>
          <a:prstGeom prst="rect">
            <a:avLst/>
          </a:prstGeom>
          <a:solidFill>
            <a:schemeClr val="tx1">
              <a:lumMod val="10000"/>
              <a:lumOff val="90000"/>
            </a:schemeClr>
          </a:solidFill>
        </p:spPr>
        <p:txBody>
          <a:bodyPr wrap="square" rtlCol="0">
            <a:spAutoFit/>
          </a:bodyPr>
          <a:lstStyle/>
          <a:p>
            <a:pPr algn="ctr"/>
            <a:r>
              <a:rPr lang="fr-FR" sz="2530" dirty="0"/>
              <a:t>+</a:t>
            </a:r>
            <a:endParaRPr lang="en-US" sz="2530" dirty="0"/>
          </a:p>
        </p:txBody>
      </p:sp>
      <p:sp>
        <p:nvSpPr>
          <p:cNvPr id="7" name="TextBox 6">
            <a:extLst>
              <a:ext uri="{FF2B5EF4-FFF2-40B4-BE49-F238E27FC236}">
                <a16:creationId xmlns:a16="http://schemas.microsoft.com/office/drawing/2014/main" id="{15CB9970-A391-AA80-A0F1-0ADA452E09AF}"/>
              </a:ext>
            </a:extLst>
          </p:cNvPr>
          <p:cNvSpPr txBox="1"/>
          <p:nvPr/>
        </p:nvSpPr>
        <p:spPr>
          <a:xfrm>
            <a:off x="438174" y="1822441"/>
            <a:ext cx="2525273" cy="1260345"/>
          </a:xfrm>
          <a:prstGeom prst="rect">
            <a:avLst/>
          </a:prstGeom>
          <a:solidFill>
            <a:schemeClr val="tx1">
              <a:lumMod val="10000"/>
              <a:lumOff val="90000"/>
            </a:schemeClr>
          </a:solidFill>
        </p:spPr>
        <p:txBody>
          <a:bodyPr wrap="square" rtlCol="0">
            <a:spAutoFit/>
          </a:bodyPr>
          <a:lstStyle/>
          <a:p>
            <a:pPr algn="ctr"/>
            <a:r>
              <a:rPr lang="fr-FR" sz="2530" dirty="0"/>
              <a:t>Non-</a:t>
            </a:r>
            <a:r>
              <a:rPr lang="fr-FR" sz="2530" dirty="0" err="1"/>
              <a:t>current</a:t>
            </a:r>
            <a:r>
              <a:rPr lang="fr-FR" sz="2530" dirty="0"/>
              <a:t> assets (long-</a:t>
            </a:r>
            <a:r>
              <a:rPr lang="fr-FR" sz="2530" dirty="0" err="1"/>
              <a:t>term</a:t>
            </a:r>
            <a:r>
              <a:rPr lang="fr-FR" sz="2530" dirty="0"/>
              <a:t> assets)</a:t>
            </a:r>
            <a:endParaRPr lang="en-US" sz="2530" dirty="0"/>
          </a:p>
        </p:txBody>
      </p:sp>
      <p:pic>
        <p:nvPicPr>
          <p:cNvPr id="9" name="Picture 8">
            <a:extLst>
              <a:ext uri="{FF2B5EF4-FFF2-40B4-BE49-F238E27FC236}">
                <a16:creationId xmlns:a16="http://schemas.microsoft.com/office/drawing/2014/main" id="{5767EF5A-B814-79A8-B685-112C423348B9}"/>
              </a:ext>
            </a:extLst>
          </p:cNvPr>
          <p:cNvPicPr>
            <a:picLocks noChangeAspect="1"/>
          </p:cNvPicPr>
          <p:nvPr/>
        </p:nvPicPr>
        <p:blipFill>
          <a:blip r:embed="rId2"/>
          <a:stretch>
            <a:fillRect/>
          </a:stretch>
        </p:blipFill>
        <p:spPr>
          <a:xfrm>
            <a:off x="3109567" y="208158"/>
            <a:ext cx="7102836" cy="6604264"/>
          </a:xfrm>
          <a:prstGeom prst="rect">
            <a:avLst/>
          </a:prstGeom>
        </p:spPr>
      </p:pic>
    </p:spTree>
    <p:extLst>
      <p:ext uri="{BB962C8B-B14F-4D97-AF65-F5344CB8AC3E}">
        <p14:creationId xmlns:p14="http://schemas.microsoft.com/office/powerpoint/2010/main" val="39121612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CB7FF-E51F-1B66-776F-E3B5C0D33EE3}"/>
              </a:ext>
            </a:extLst>
          </p:cNvPr>
          <p:cNvSpPr>
            <a:spLocks noGrp="1"/>
          </p:cNvSpPr>
          <p:nvPr>
            <p:ph type="title"/>
          </p:nvPr>
        </p:nvSpPr>
        <p:spPr/>
        <p:txBody>
          <a:bodyPr/>
          <a:lstStyle/>
          <a:p>
            <a:r>
              <a:rPr lang="en-US" dirty="0"/>
              <a:t>Airbus</a:t>
            </a:r>
          </a:p>
        </p:txBody>
      </p:sp>
      <p:sp>
        <p:nvSpPr>
          <p:cNvPr id="4" name="Slide Number Placeholder 3">
            <a:extLst>
              <a:ext uri="{FF2B5EF4-FFF2-40B4-BE49-F238E27FC236}">
                <a16:creationId xmlns:a16="http://schemas.microsoft.com/office/drawing/2014/main" id="{D4F1256E-F2D2-F7EF-1015-DF00346CABD3}"/>
              </a:ext>
            </a:extLst>
          </p:cNvPr>
          <p:cNvSpPr>
            <a:spLocks noGrp="1"/>
          </p:cNvSpPr>
          <p:nvPr>
            <p:ph type="sldNum" sz="quarter" idx="10"/>
          </p:nvPr>
        </p:nvSpPr>
        <p:spPr/>
        <p:txBody>
          <a:bodyPr/>
          <a:lstStyle/>
          <a:p>
            <a:fld id="{421B1A79-1F45-8F4F-AED5-0EE30DCF0380}" type="slidenum">
              <a:rPr lang="fr-FR" smtClean="0"/>
              <a:t>23</a:t>
            </a:fld>
            <a:endParaRPr lang="fr-FR"/>
          </a:p>
        </p:txBody>
      </p:sp>
      <p:sp>
        <p:nvSpPr>
          <p:cNvPr id="5" name="TextBox 4">
            <a:extLst>
              <a:ext uri="{FF2B5EF4-FFF2-40B4-BE49-F238E27FC236}">
                <a16:creationId xmlns:a16="http://schemas.microsoft.com/office/drawing/2014/main" id="{E2BE889D-1114-1328-1038-162535D824FA}"/>
              </a:ext>
            </a:extLst>
          </p:cNvPr>
          <p:cNvSpPr txBox="1"/>
          <p:nvPr/>
        </p:nvSpPr>
        <p:spPr>
          <a:xfrm>
            <a:off x="823901" y="1233369"/>
            <a:ext cx="2525273" cy="481670"/>
          </a:xfrm>
          <a:prstGeom prst="rect">
            <a:avLst/>
          </a:prstGeom>
          <a:solidFill>
            <a:schemeClr val="tx1">
              <a:lumMod val="10000"/>
              <a:lumOff val="90000"/>
            </a:schemeClr>
          </a:solidFill>
        </p:spPr>
        <p:txBody>
          <a:bodyPr wrap="square" rtlCol="0">
            <a:spAutoFit/>
          </a:bodyPr>
          <a:lstStyle/>
          <a:p>
            <a:pPr algn="ctr"/>
            <a:r>
              <a:rPr lang="fr-FR" sz="2530" dirty="0" err="1"/>
              <a:t>Equity</a:t>
            </a:r>
            <a:endParaRPr lang="en-US" sz="2530" dirty="0"/>
          </a:p>
        </p:txBody>
      </p:sp>
      <p:sp>
        <p:nvSpPr>
          <p:cNvPr id="6" name="TextBox 5">
            <a:extLst>
              <a:ext uri="{FF2B5EF4-FFF2-40B4-BE49-F238E27FC236}">
                <a16:creationId xmlns:a16="http://schemas.microsoft.com/office/drawing/2014/main" id="{7B8DD6C8-D970-148C-DF4B-87FE11282802}"/>
              </a:ext>
            </a:extLst>
          </p:cNvPr>
          <p:cNvSpPr txBox="1"/>
          <p:nvPr/>
        </p:nvSpPr>
        <p:spPr>
          <a:xfrm>
            <a:off x="327259" y="2920405"/>
            <a:ext cx="3254772" cy="481670"/>
          </a:xfrm>
          <a:prstGeom prst="rect">
            <a:avLst/>
          </a:prstGeom>
          <a:solidFill>
            <a:schemeClr val="tx1">
              <a:lumMod val="10000"/>
              <a:lumOff val="90000"/>
            </a:schemeClr>
          </a:solidFill>
        </p:spPr>
        <p:txBody>
          <a:bodyPr wrap="square" rtlCol="0">
            <a:spAutoFit/>
          </a:bodyPr>
          <a:lstStyle/>
          <a:p>
            <a:pPr algn="ctr"/>
            <a:r>
              <a:rPr lang="fr-FR" sz="2530" dirty="0"/>
              <a:t>Non-</a:t>
            </a:r>
            <a:r>
              <a:rPr lang="fr-FR" sz="2530" dirty="0" err="1"/>
              <a:t>current</a:t>
            </a:r>
            <a:r>
              <a:rPr lang="fr-FR" sz="2530" dirty="0"/>
              <a:t> </a:t>
            </a:r>
            <a:r>
              <a:rPr lang="fr-FR" sz="2530" dirty="0" err="1"/>
              <a:t>liabilities</a:t>
            </a:r>
            <a:endParaRPr lang="en-US" sz="2530" dirty="0"/>
          </a:p>
        </p:txBody>
      </p:sp>
      <p:sp>
        <p:nvSpPr>
          <p:cNvPr id="7" name="TextBox 6">
            <a:extLst>
              <a:ext uri="{FF2B5EF4-FFF2-40B4-BE49-F238E27FC236}">
                <a16:creationId xmlns:a16="http://schemas.microsoft.com/office/drawing/2014/main" id="{01A7B9D8-BA3D-2949-40B2-69ED8F9C2D3F}"/>
              </a:ext>
            </a:extLst>
          </p:cNvPr>
          <p:cNvSpPr txBox="1"/>
          <p:nvPr/>
        </p:nvSpPr>
        <p:spPr>
          <a:xfrm>
            <a:off x="1782363" y="3759884"/>
            <a:ext cx="704504" cy="481670"/>
          </a:xfrm>
          <a:prstGeom prst="rect">
            <a:avLst/>
          </a:prstGeom>
          <a:solidFill>
            <a:schemeClr val="tx1">
              <a:lumMod val="10000"/>
              <a:lumOff val="90000"/>
            </a:schemeClr>
          </a:solidFill>
        </p:spPr>
        <p:txBody>
          <a:bodyPr wrap="square" rtlCol="0">
            <a:spAutoFit/>
          </a:bodyPr>
          <a:lstStyle/>
          <a:p>
            <a:pPr algn="ctr"/>
            <a:r>
              <a:rPr lang="fr-FR" sz="2530" dirty="0"/>
              <a:t>+</a:t>
            </a:r>
            <a:endParaRPr lang="en-US" sz="2530" dirty="0"/>
          </a:p>
        </p:txBody>
      </p:sp>
      <p:sp>
        <p:nvSpPr>
          <p:cNvPr id="8" name="TextBox 7">
            <a:extLst>
              <a:ext uri="{FF2B5EF4-FFF2-40B4-BE49-F238E27FC236}">
                <a16:creationId xmlns:a16="http://schemas.microsoft.com/office/drawing/2014/main" id="{F99D027A-3CBE-0AC4-E54E-7FB8AC956D6A}"/>
              </a:ext>
            </a:extLst>
          </p:cNvPr>
          <p:cNvSpPr txBox="1"/>
          <p:nvPr/>
        </p:nvSpPr>
        <p:spPr>
          <a:xfrm>
            <a:off x="327259" y="4545204"/>
            <a:ext cx="3091143" cy="481670"/>
          </a:xfrm>
          <a:prstGeom prst="rect">
            <a:avLst/>
          </a:prstGeom>
          <a:solidFill>
            <a:schemeClr val="tx1">
              <a:lumMod val="10000"/>
              <a:lumOff val="90000"/>
            </a:schemeClr>
          </a:solidFill>
        </p:spPr>
        <p:txBody>
          <a:bodyPr wrap="square" rtlCol="0">
            <a:spAutoFit/>
          </a:bodyPr>
          <a:lstStyle/>
          <a:p>
            <a:pPr algn="ctr"/>
            <a:r>
              <a:rPr lang="fr-FR" sz="2530" dirty="0" err="1"/>
              <a:t>Current</a:t>
            </a:r>
            <a:r>
              <a:rPr lang="fr-FR" sz="2530" dirty="0"/>
              <a:t> </a:t>
            </a:r>
            <a:r>
              <a:rPr lang="fr-FR" sz="2530" dirty="0" err="1"/>
              <a:t>liabilities</a:t>
            </a:r>
            <a:endParaRPr lang="en-US" sz="2530" dirty="0"/>
          </a:p>
        </p:txBody>
      </p:sp>
      <p:sp>
        <p:nvSpPr>
          <p:cNvPr id="9" name="TextBox 8">
            <a:extLst>
              <a:ext uri="{FF2B5EF4-FFF2-40B4-BE49-F238E27FC236}">
                <a16:creationId xmlns:a16="http://schemas.microsoft.com/office/drawing/2014/main" id="{3B2EA39D-3633-2D9F-1793-B2D9B0B8D20C}"/>
              </a:ext>
            </a:extLst>
          </p:cNvPr>
          <p:cNvSpPr txBox="1"/>
          <p:nvPr/>
        </p:nvSpPr>
        <p:spPr>
          <a:xfrm>
            <a:off x="1811842" y="2036649"/>
            <a:ext cx="704504" cy="481670"/>
          </a:xfrm>
          <a:prstGeom prst="rect">
            <a:avLst/>
          </a:prstGeom>
          <a:solidFill>
            <a:schemeClr val="tx1">
              <a:lumMod val="10000"/>
              <a:lumOff val="90000"/>
            </a:schemeClr>
          </a:solidFill>
        </p:spPr>
        <p:txBody>
          <a:bodyPr wrap="square" rtlCol="0">
            <a:spAutoFit/>
          </a:bodyPr>
          <a:lstStyle/>
          <a:p>
            <a:pPr algn="ctr"/>
            <a:r>
              <a:rPr lang="fr-FR" sz="2530" dirty="0"/>
              <a:t>+</a:t>
            </a:r>
            <a:endParaRPr lang="en-US" sz="2530" dirty="0"/>
          </a:p>
        </p:txBody>
      </p:sp>
      <p:pic>
        <p:nvPicPr>
          <p:cNvPr id="11" name="Picture 10">
            <a:extLst>
              <a:ext uri="{FF2B5EF4-FFF2-40B4-BE49-F238E27FC236}">
                <a16:creationId xmlns:a16="http://schemas.microsoft.com/office/drawing/2014/main" id="{958BF667-26CC-F1FA-9043-62CB6F6E0237}"/>
              </a:ext>
            </a:extLst>
          </p:cNvPr>
          <p:cNvPicPr>
            <a:picLocks noChangeAspect="1"/>
          </p:cNvPicPr>
          <p:nvPr/>
        </p:nvPicPr>
        <p:blipFill>
          <a:blip r:embed="rId2"/>
          <a:stretch>
            <a:fillRect/>
          </a:stretch>
        </p:blipFill>
        <p:spPr>
          <a:xfrm>
            <a:off x="4857275" y="0"/>
            <a:ext cx="6394657" cy="6870538"/>
          </a:xfrm>
          <a:prstGeom prst="rect">
            <a:avLst/>
          </a:prstGeom>
        </p:spPr>
      </p:pic>
      <p:sp>
        <p:nvSpPr>
          <p:cNvPr id="12" name="TextBox 11">
            <a:extLst>
              <a:ext uri="{FF2B5EF4-FFF2-40B4-BE49-F238E27FC236}">
                <a16:creationId xmlns:a16="http://schemas.microsoft.com/office/drawing/2014/main" id="{F28DB2F7-1690-8678-05E9-8AB892E2F8BF}"/>
              </a:ext>
            </a:extLst>
          </p:cNvPr>
          <p:cNvSpPr txBox="1"/>
          <p:nvPr/>
        </p:nvSpPr>
        <p:spPr>
          <a:xfrm>
            <a:off x="1782658" y="5146826"/>
            <a:ext cx="704504" cy="481670"/>
          </a:xfrm>
          <a:prstGeom prst="rect">
            <a:avLst/>
          </a:prstGeom>
          <a:solidFill>
            <a:schemeClr val="tx1">
              <a:lumMod val="10000"/>
              <a:lumOff val="90000"/>
            </a:schemeClr>
          </a:solidFill>
        </p:spPr>
        <p:txBody>
          <a:bodyPr wrap="square" rtlCol="0">
            <a:spAutoFit/>
          </a:bodyPr>
          <a:lstStyle/>
          <a:p>
            <a:pPr algn="ctr"/>
            <a:r>
              <a:rPr lang="fr-FR" sz="2530" dirty="0"/>
              <a:t>=</a:t>
            </a:r>
            <a:endParaRPr lang="en-US" sz="2530" dirty="0"/>
          </a:p>
        </p:txBody>
      </p:sp>
      <p:sp>
        <p:nvSpPr>
          <p:cNvPr id="13" name="TextBox 12">
            <a:extLst>
              <a:ext uri="{FF2B5EF4-FFF2-40B4-BE49-F238E27FC236}">
                <a16:creationId xmlns:a16="http://schemas.microsoft.com/office/drawing/2014/main" id="{C015341D-CAF7-5CA0-E6E1-BD185E2A0B94}"/>
              </a:ext>
            </a:extLst>
          </p:cNvPr>
          <p:cNvSpPr txBox="1"/>
          <p:nvPr/>
        </p:nvSpPr>
        <p:spPr>
          <a:xfrm>
            <a:off x="257689" y="5935451"/>
            <a:ext cx="3753852" cy="871008"/>
          </a:xfrm>
          <a:prstGeom prst="rect">
            <a:avLst/>
          </a:prstGeom>
          <a:solidFill>
            <a:schemeClr val="tx1">
              <a:lumMod val="10000"/>
              <a:lumOff val="90000"/>
            </a:schemeClr>
          </a:solidFill>
        </p:spPr>
        <p:txBody>
          <a:bodyPr wrap="square" rtlCol="0">
            <a:spAutoFit/>
          </a:bodyPr>
          <a:lstStyle/>
          <a:p>
            <a:pPr algn="ctr"/>
            <a:r>
              <a:rPr lang="fr-FR" sz="2530" dirty="0" err="1"/>
              <a:t>Tota</a:t>
            </a:r>
            <a:r>
              <a:rPr lang="fr-FR" sz="2530" dirty="0"/>
              <a:t> </a:t>
            </a:r>
            <a:r>
              <a:rPr lang="fr-FR" sz="2530" dirty="0" err="1"/>
              <a:t>equity</a:t>
            </a:r>
            <a:r>
              <a:rPr lang="fr-FR" sz="2530" dirty="0"/>
              <a:t> and </a:t>
            </a:r>
            <a:r>
              <a:rPr lang="fr-FR" sz="2530" dirty="0" err="1"/>
              <a:t>liabilities</a:t>
            </a:r>
            <a:r>
              <a:rPr lang="fr-FR" sz="2530" dirty="0"/>
              <a:t> = Total assets</a:t>
            </a:r>
            <a:endParaRPr lang="en-US" sz="2530" dirty="0"/>
          </a:p>
        </p:txBody>
      </p:sp>
    </p:spTree>
    <p:extLst>
      <p:ext uri="{BB962C8B-B14F-4D97-AF65-F5344CB8AC3E}">
        <p14:creationId xmlns:p14="http://schemas.microsoft.com/office/powerpoint/2010/main" val="3793804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2A2FF-60AA-A55F-0376-A6D3B5EF2F1D}"/>
              </a:ext>
            </a:extLst>
          </p:cNvPr>
          <p:cNvSpPr>
            <a:spLocks noGrp="1"/>
          </p:cNvSpPr>
          <p:nvPr>
            <p:ph type="title"/>
          </p:nvPr>
        </p:nvSpPr>
        <p:spPr>
          <a:xfrm>
            <a:off x="656844" y="487045"/>
            <a:ext cx="11271472" cy="569398"/>
          </a:xfrm>
        </p:spPr>
        <p:txBody>
          <a:bodyPr>
            <a:normAutofit fontScale="90000"/>
          </a:bodyPr>
          <a:lstStyle/>
          <a:p>
            <a:r>
              <a:rPr lang="en-US" dirty="0"/>
              <a:t>Profit (i.e. change in equity) is not cash flow (i.e. change in assets)</a:t>
            </a:r>
          </a:p>
        </p:txBody>
      </p:sp>
      <p:sp>
        <p:nvSpPr>
          <p:cNvPr id="4" name="Slide Number Placeholder 3">
            <a:extLst>
              <a:ext uri="{FF2B5EF4-FFF2-40B4-BE49-F238E27FC236}">
                <a16:creationId xmlns:a16="http://schemas.microsoft.com/office/drawing/2014/main" id="{2BD6251B-29DC-AC3E-A988-7385DBCFFD7C}"/>
              </a:ext>
            </a:extLst>
          </p:cNvPr>
          <p:cNvSpPr>
            <a:spLocks noGrp="1"/>
          </p:cNvSpPr>
          <p:nvPr>
            <p:ph type="sldNum" sz="quarter" idx="10"/>
          </p:nvPr>
        </p:nvSpPr>
        <p:spPr/>
        <p:txBody>
          <a:bodyPr/>
          <a:lstStyle/>
          <a:p>
            <a:fld id="{421B1A79-1F45-8F4F-AED5-0EE30DCF0380}" type="slidenum">
              <a:rPr lang="fr-FR" smtClean="0"/>
              <a:t>24</a:t>
            </a:fld>
            <a:endParaRPr lang="fr-FR" dirty="0"/>
          </a:p>
        </p:txBody>
      </p:sp>
      <p:sp>
        <p:nvSpPr>
          <p:cNvPr id="5" name="TextBox 4">
            <a:extLst>
              <a:ext uri="{FF2B5EF4-FFF2-40B4-BE49-F238E27FC236}">
                <a16:creationId xmlns:a16="http://schemas.microsoft.com/office/drawing/2014/main" id="{7E86916C-1BFB-833F-F973-D38D4AC8DFE9}"/>
              </a:ext>
            </a:extLst>
          </p:cNvPr>
          <p:cNvSpPr txBox="1"/>
          <p:nvPr/>
        </p:nvSpPr>
        <p:spPr>
          <a:xfrm>
            <a:off x="5751333" y="1056443"/>
            <a:ext cx="5735055" cy="707886"/>
          </a:xfrm>
          <a:prstGeom prst="rect">
            <a:avLst/>
          </a:prstGeom>
          <a:solidFill>
            <a:schemeClr val="accent1">
              <a:lumMod val="20000"/>
              <a:lumOff val="80000"/>
            </a:schemeClr>
          </a:solidFill>
        </p:spPr>
        <p:txBody>
          <a:bodyPr wrap="square" rtlCol="0">
            <a:spAutoFit/>
          </a:bodyPr>
          <a:lstStyle/>
          <a:p>
            <a:pPr algn="ctr"/>
            <a:r>
              <a:rPr lang="en-US" sz="2000" dirty="0"/>
              <a:t>Change in cash and cash equivalents </a:t>
            </a:r>
          </a:p>
          <a:p>
            <a:pPr algn="ctr"/>
            <a:r>
              <a:rPr lang="en-US" sz="2000" dirty="0"/>
              <a:t>(= cash flow)</a:t>
            </a:r>
          </a:p>
        </p:txBody>
      </p:sp>
      <p:sp>
        <p:nvSpPr>
          <p:cNvPr id="6" name="TextBox 5">
            <a:extLst>
              <a:ext uri="{FF2B5EF4-FFF2-40B4-BE49-F238E27FC236}">
                <a16:creationId xmlns:a16="http://schemas.microsoft.com/office/drawing/2014/main" id="{83B2BC10-6D70-E38D-9579-DA0FAB6CB7DC}"/>
              </a:ext>
            </a:extLst>
          </p:cNvPr>
          <p:cNvSpPr txBox="1"/>
          <p:nvPr/>
        </p:nvSpPr>
        <p:spPr>
          <a:xfrm>
            <a:off x="8106310" y="1867064"/>
            <a:ext cx="626723" cy="461665"/>
          </a:xfrm>
          <a:prstGeom prst="rect">
            <a:avLst/>
          </a:prstGeom>
          <a:noFill/>
        </p:spPr>
        <p:txBody>
          <a:bodyPr wrap="square" rtlCol="0">
            <a:spAutoFit/>
          </a:bodyPr>
          <a:lstStyle/>
          <a:p>
            <a:pPr algn="ctr"/>
            <a:r>
              <a:rPr lang="en-US" sz="2400" dirty="0"/>
              <a:t>+</a:t>
            </a:r>
          </a:p>
        </p:txBody>
      </p:sp>
      <p:sp>
        <p:nvSpPr>
          <p:cNvPr id="7" name="TextBox 6">
            <a:extLst>
              <a:ext uri="{FF2B5EF4-FFF2-40B4-BE49-F238E27FC236}">
                <a16:creationId xmlns:a16="http://schemas.microsoft.com/office/drawing/2014/main" id="{093F3809-B62D-3602-F4E9-D97B13F751F7}"/>
              </a:ext>
            </a:extLst>
          </p:cNvPr>
          <p:cNvSpPr txBox="1"/>
          <p:nvPr/>
        </p:nvSpPr>
        <p:spPr>
          <a:xfrm>
            <a:off x="5790719" y="2359547"/>
            <a:ext cx="5735055" cy="707886"/>
          </a:xfrm>
          <a:prstGeom prst="rect">
            <a:avLst/>
          </a:prstGeom>
          <a:solidFill>
            <a:schemeClr val="accent3">
              <a:lumMod val="90000"/>
            </a:schemeClr>
          </a:solidFill>
        </p:spPr>
        <p:txBody>
          <a:bodyPr wrap="square" rtlCol="0">
            <a:spAutoFit/>
          </a:bodyPr>
          <a:lstStyle/>
          <a:p>
            <a:pPr algn="ctr"/>
            <a:r>
              <a:rPr lang="en-US" sz="2000" dirty="0"/>
              <a:t>Change in noncash assets (= total assets excluding cash and cash equivalents)</a:t>
            </a:r>
          </a:p>
        </p:txBody>
      </p:sp>
      <p:sp>
        <p:nvSpPr>
          <p:cNvPr id="8" name="TextBox 7">
            <a:extLst>
              <a:ext uri="{FF2B5EF4-FFF2-40B4-BE49-F238E27FC236}">
                <a16:creationId xmlns:a16="http://schemas.microsoft.com/office/drawing/2014/main" id="{601292EF-08C2-2B21-1E1C-EB11E48045D1}"/>
              </a:ext>
            </a:extLst>
          </p:cNvPr>
          <p:cNvSpPr txBox="1"/>
          <p:nvPr/>
        </p:nvSpPr>
        <p:spPr>
          <a:xfrm>
            <a:off x="8114874" y="3139346"/>
            <a:ext cx="626723" cy="461665"/>
          </a:xfrm>
          <a:prstGeom prst="rect">
            <a:avLst/>
          </a:prstGeom>
          <a:noFill/>
        </p:spPr>
        <p:txBody>
          <a:bodyPr wrap="square" rtlCol="0">
            <a:spAutoFit/>
          </a:bodyPr>
          <a:lstStyle/>
          <a:p>
            <a:pPr algn="ctr"/>
            <a:r>
              <a:rPr lang="en-US" sz="2400" dirty="0"/>
              <a:t>=</a:t>
            </a:r>
          </a:p>
        </p:txBody>
      </p:sp>
      <p:sp>
        <p:nvSpPr>
          <p:cNvPr id="9" name="TextBox 8">
            <a:extLst>
              <a:ext uri="{FF2B5EF4-FFF2-40B4-BE49-F238E27FC236}">
                <a16:creationId xmlns:a16="http://schemas.microsoft.com/office/drawing/2014/main" id="{50B60E25-4020-19C5-0DFD-9C1DE74F39FA}"/>
              </a:ext>
            </a:extLst>
          </p:cNvPr>
          <p:cNvSpPr txBox="1"/>
          <p:nvPr/>
        </p:nvSpPr>
        <p:spPr>
          <a:xfrm>
            <a:off x="5799283" y="3683198"/>
            <a:ext cx="5735055" cy="400110"/>
          </a:xfrm>
          <a:prstGeom prst="rect">
            <a:avLst/>
          </a:prstGeom>
          <a:solidFill>
            <a:schemeClr val="accent3">
              <a:lumMod val="90000"/>
            </a:schemeClr>
          </a:solidFill>
        </p:spPr>
        <p:txBody>
          <a:bodyPr wrap="square" rtlCol="0">
            <a:spAutoFit/>
          </a:bodyPr>
          <a:lstStyle/>
          <a:p>
            <a:pPr algn="ctr"/>
            <a:r>
              <a:rPr lang="en-US" sz="2000" dirty="0"/>
              <a:t>Change in liabilities</a:t>
            </a:r>
          </a:p>
        </p:txBody>
      </p:sp>
      <p:sp>
        <p:nvSpPr>
          <p:cNvPr id="10" name="TextBox 9">
            <a:extLst>
              <a:ext uri="{FF2B5EF4-FFF2-40B4-BE49-F238E27FC236}">
                <a16:creationId xmlns:a16="http://schemas.microsoft.com/office/drawing/2014/main" id="{0BABF6E9-DE20-3F30-BB2B-4CBAC42C1F73}"/>
              </a:ext>
            </a:extLst>
          </p:cNvPr>
          <p:cNvSpPr txBox="1"/>
          <p:nvPr/>
        </p:nvSpPr>
        <p:spPr>
          <a:xfrm>
            <a:off x="8114874" y="4146214"/>
            <a:ext cx="626723" cy="461665"/>
          </a:xfrm>
          <a:prstGeom prst="rect">
            <a:avLst/>
          </a:prstGeom>
          <a:noFill/>
        </p:spPr>
        <p:txBody>
          <a:bodyPr wrap="square" rtlCol="0">
            <a:spAutoFit/>
          </a:bodyPr>
          <a:lstStyle/>
          <a:p>
            <a:pPr algn="ctr"/>
            <a:r>
              <a:rPr lang="en-US" sz="2400" dirty="0"/>
              <a:t>+</a:t>
            </a:r>
          </a:p>
        </p:txBody>
      </p:sp>
      <p:sp>
        <p:nvSpPr>
          <p:cNvPr id="11" name="TextBox 10">
            <a:extLst>
              <a:ext uri="{FF2B5EF4-FFF2-40B4-BE49-F238E27FC236}">
                <a16:creationId xmlns:a16="http://schemas.microsoft.com/office/drawing/2014/main" id="{F9F3D45F-349A-0791-7253-8D6AAFC9CD35}"/>
              </a:ext>
            </a:extLst>
          </p:cNvPr>
          <p:cNvSpPr txBox="1"/>
          <p:nvPr/>
        </p:nvSpPr>
        <p:spPr>
          <a:xfrm>
            <a:off x="5818121" y="4575333"/>
            <a:ext cx="5735055" cy="400110"/>
          </a:xfrm>
          <a:prstGeom prst="rect">
            <a:avLst/>
          </a:prstGeom>
          <a:solidFill>
            <a:schemeClr val="accent3">
              <a:lumMod val="90000"/>
            </a:schemeClr>
          </a:solidFill>
        </p:spPr>
        <p:txBody>
          <a:bodyPr wrap="square" rtlCol="0">
            <a:spAutoFit/>
          </a:bodyPr>
          <a:lstStyle/>
          <a:p>
            <a:pPr algn="ctr"/>
            <a:r>
              <a:rPr lang="en-US" sz="2000" dirty="0"/>
              <a:t>Change in equity (excluding net income)</a:t>
            </a:r>
          </a:p>
        </p:txBody>
      </p:sp>
      <p:sp>
        <p:nvSpPr>
          <p:cNvPr id="12" name="TextBox 11">
            <a:extLst>
              <a:ext uri="{FF2B5EF4-FFF2-40B4-BE49-F238E27FC236}">
                <a16:creationId xmlns:a16="http://schemas.microsoft.com/office/drawing/2014/main" id="{5A32348E-D62C-5688-F6C4-0C808B39AA51}"/>
              </a:ext>
            </a:extLst>
          </p:cNvPr>
          <p:cNvSpPr txBox="1"/>
          <p:nvPr/>
        </p:nvSpPr>
        <p:spPr>
          <a:xfrm>
            <a:off x="8113164" y="4956157"/>
            <a:ext cx="626723" cy="461665"/>
          </a:xfrm>
          <a:prstGeom prst="rect">
            <a:avLst/>
          </a:prstGeom>
          <a:noFill/>
        </p:spPr>
        <p:txBody>
          <a:bodyPr wrap="square" rtlCol="0">
            <a:spAutoFit/>
          </a:bodyPr>
          <a:lstStyle/>
          <a:p>
            <a:pPr algn="ctr"/>
            <a:r>
              <a:rPr lang="en-US" sz="2400" dirty="0"/>
              <a:t>+</a:t>
            </a:r>
          </a:p>
        </p:txBody>
      </p:sp>
      <p:sp>
        <p:nvSpPr>
          <p:cNvPr id="13" name="TextBox 12">
            <a:extLst>
              <a:ext uri="{FF2B5EF4-FFF2-40B4-BE49-F238E27FC236}">
                <a16:creationId xmlns:a16="http://schemas.microsoft.com/office/drawing/2014/main" id="{4EFC3295-21D7-CDDE-4F26-EE0A2CF6E9AE}"/>
              </a:ext>
            </a:extLst>
          </p:cNvPr>
          <p:cNvSpPr txBox="1"/>
          <p:nvPr/>
        </p:nvSpPr>
        <p:spPr>
          <a:xfrm>
            <a:off x="5770171" y="5441799"/>
            <a:ext cx="5735055" cy="400110"/>
          </a:xfrm>
          <a:prstGeom prst="rect">
            <a:avLst/>
          </a:prstGeom>
          <a:solidFill>
            <a:schemeClr val="accent1">
              <a:lumMod val="20000"/>
              <a:lumOff val="80000"/>
            </a:schemeClr>
          </a:solidFill>
        </p:spPr>
        <p:txBody>
          <a:bodyPr wrap="square" rtlCol="0">
            <a:spAutoFit/>
          </a:bodyPr>
          <a:lstStyle/>
          <a:p>
            <a:pPr algn="ctr"/>
            <a:r>
              <a:rPr lang="en-US" sz="2000" dirty="0"/>
              <a:t>Net income (i.e. net profit or net (loss))</a:t>
            </a:r>
          </a:p>
        </p:txBody>
      </p:sp>
      <p:sp>
        <p:nvSpPr>
          <p:cNvPr id="14" name="Left Brace 13">
            <a:extLst>
              <a:ext uri="{FF2B5EF4-FFF2-40B4-BE49-F238E27FC236}">
                <a16:creationId xmlns:a16="http://schemas.microsoft.com/office/drawing/2014/main" id="{2FDEAA77-D980-EA1A-5FF2-323A2D088F86}"/>
              </a:ext>
            </a:extLst>
          </p:cNvPr>
          <p:cNvSpPr/>
          <p:nvPr/>
        </p:nvSpPr>
        <p:spPr>
          <a:xfrm>
            <a:off x="5044611" y="1056443"/>
            <a:ext cx="441789" cy="2082902"/>
          </a:xfrm>
          <a:prstGeom prst="leftBrace">
            <a:avLst>
              <a:gd name="adj1" fmla="val 23087"/>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3CD8B961-2FA8-EBA1-EE61-B3310C2E478B}"/>
              </a:ext>
            </a:extLst>
          </p:cNvPr>
          <p:cNvSpPr txBox="1"/>
          <p:nvPr/>
        </p:nvSpPr>
        <p:spPr>
          <a:xfrm>
            <a:off x="1099335" y="1867064"/>
            <a:ext cx="3640957" cy="461665"/>
          </a:xfrm>
          <a:prstGeom prst="rect">
            <a:avLst/>
          </a:prstGeom>
          <a:solidFill>
            <a:srgbClr val="92D050"/>
          </a:solidFill>
        </p:spPr>
        <p:txBody>
          <a:bodyPr wrap="square" rtlCol="0">
            <a:spAutoFit/>
          </a:bodyPr>
          <a:lstStyle/>
          <a:p>
            <a:pPr algn="ctr"/>
            <a:r>
              <a:rPr lang="en-US" sz="2400" dirty="0"/>
              <a:t>Change in assets</a:t>
            </a:r>
          </a:p>
        </p:txBody>
      </p:sp>
      <p:sp>
        <p:nvSpPr>
          <p:cNvPr id="16" name="TextBox 15">
            <a:extLst>
              <a:ext uri="{FF2B5EF4-FFF2-40B4-BE49-F238E27FC236}">
                <a16:creationId xmlns:a16="http://schemas.microsoft.com/office/drawing/2014/main" id="{6DC79DE9-B2F1-8F03-FAA7-F84C431824E4}"/>
              </a:ext>
            </a:extLst>
          </p:cNvPr>
          <p:cNvSpPr txBox="1"/>
          <p:nvPr/>
        </p:nvSpPr>
        <p:spPr>
          <a:xfrm>
            <a:off x="2698676" y="2921880"/>
            <a:ext cx="626723" cy="461665"/>
          </a:xfrm>
          <a:prstGeom prst="rect">
            <a:avLst/>
          </a:prstGeom>
          <a:noFill/>
        </p:spPr>
        <p:txBody>
          <a:bodyPr wrap="square" rtlCol="0">
            <a:spAutoFit/>
          </a:bodyPr>
          <a:lstStyle/>
          <a:p>
            <a:pPr algn="ctr"/>
            <a:r>
              <a:rPr lang="en-US" sz="2400" dirty="0"/>
              <a:t>=</a:t>
            </a:r>
          </a:p>
        </p:txBody>
      </p:sp>
      <p:sp>
        <p:nvSpPr>
          <p:cNvPr id="17" name="TextBox 16">
            <a:extLst>
              <a:ext uri="{FF2B5EF4-FFF2-40B4-BE49-F238E27FC236}">
                <a16:creationId xmlns:a16="http://schemas.microsoft.com/office/drawing/2014/main" id="{7104732E-3D46-9A72-3FDC-DDD5C4C2929D}"/>
              </a:ext>
            </a:extLst>
          </p:cNvPr>
          <p:cNvSpPr txBox="1"/>
          <p:nvPr/>
        </p:nvSpPr>
        <p:spPr>
          <a:xfrm>
            <a:off x="1112544" y="3691762"/>
            <a:ext cx="3640958" cy="461665"/>
          </a:xfrm>
          <a:prstGeom prst="rect">
            <a:avLst/>
          </a:prstGeom>
          <a:solidFill>
            <a:srgbClr val="92D050"/>
          </a:solidFill>
        </p:spPr>
        <p:txBody>
          <a:bodyPr wrap="square" rtlCol="0">
            <a:spAutoFit/>
          </a:bodyPr>
          <a:lstStyle/>
          <a:p>
            <a:pPr algn="ctr"/>
            <a:r>
              <a:rPr lang="en-US" sz="2400" dirty="0"/>
              <a:t>Change in liabilities</a:t>
            </a:r>
          </a:p>
        </p:txBody>
      </p:sp>
      <p:sp>
        <p:nvSpPr>
          <p:cNvPr id="18" name="Left Brace 17">
            <a:extLst>
              <a:ext uri="{FF2B5EF4-FFF2-40B4-BE49-F238E27FC236}">
                <a16:creationId xmlns:a16="http://schemas.microsoft.com/office/drawing/2014/main" id="{C3857BEA-5670-0B85-6163-D38F6417F840}"/>
              </a:ext>
            </a:extLst>
          </p:cNvPr>
          <p:cNvSpPr/>
          <p:nvPr/>
        </p:nvSpPr>
        <p:spPr>
          <a:xfrm>
            <a:off x="5091457" y="4387065"/>
            <a:ext cx="441789" cy="1623318"/>
          </a:xfrm>
          <a:prstGeom prst="leftBrace">
            <a:avLst>
              <a:gd name="adj1" fmla="val 23087"/>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06756F01-7D3F-36F4-E701-A712A78F1D02}"/>
              </a:ext>
            </a:extLst>
          </p:cNvPr>
          <p:cNvSpPr txBox="1"/>
          <p:nvPr/>
        </p:nvSpPr>
        <p:spPr>
          <a:xfrm>
            <a:off x="2739768" y="4411628"/>
            <a:ext cx="626723" cy="461665"/>
          </a:xfrm>
          <a:prstGeom prst="rect">
            <a:avLst/>
          </a:prstGeom>
          <a:noFill/>
        </p:spPr>
        <p:txBody>
          <a:bodyPr wrap="square" rtlCol="0">
            <a:spAutoFit/>
          </a:bodyPr>
          <a:lstStyle/>
          <a:p>
            <a:pPr algn="ctr"/>
            <a:r>
              <a:rPr lang="en-US" sz="2400" dirty="0"/>
              <a:t>+</a:t>
            </a:r>
          </a:p>
        </p:txBody>
      </p:sp>
      <p:sp>
        <p:nvSpPr>
          <p:cNvPr id="20" name="TextBox 19">
            <a:extLst>
              <a:ext uri="{FF2B5EF4-FFF2-40B4-BE49-F238E27FC236}">
                <a16:creationId xmlns:a16="http://schemas.microsoft.com/office/drawing/2014/main" id="{D5B1AAA7-7826-6B6A-F0A1-C95D60E73C7F}"/>
              </a:ext>
            </a:extLst>
          </p:cNvPr>
          <p:cNvSpPr txBox="1"/>
          <p:nvPr/>
        </p:nvSpPr>
        <p:spPr>
          <a:xfrm>
            <a:off x="1172478" y="5005140"/>
            <a:ext cx="3640958" cy="461665"/>
          </a:xfrm>
          <a:prstGeom prst="rect">
            <a:avLst/>
          </a:prstGeom>
          <a:solidFill>
            <a:srgbClr val="92D050"/>
          </a:solidFill>
        </p:spPr>
        <p:txBody>
          <a:bodyPr wrap="square" rtlCol="0">
            <a:spAutoFit/>
          </a:bodyPr>
          <a:lstStyle/>
          <a:p>
            <a:pPr algn="ctr"/>
            <a:r>
              <a:rPr lang="en-US" sz="2400" dirty="0"/>
              <a:t>Change in equity</a:t>
            </a:r>
          </a:p>
        </p:txBody>
      </p:sp>
    </p:spTree>
    <p:extLst>
      <p:ext uri="{BB962C8B-B14F-4D97-AF65-F5344CB8AC3E}">
        <p14:creationId xmlns:p14="http://schemas.microsoft.com/office/powerpoint/2010/main" val="32531552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17421-6C7E-708C-BD20-ED332C08015E}"/>
              </a:ext>
            </a:extLst>
          </p:cNvPr>
          <p:cNvSpPr>
            <a:spLocks noGrp="1"/>
          </p:cNvSpPr>
          <p:nvPr>
            <p:ph type="title"/>
          </p:nvPr>
        </p:nvSpPr>
        <p:spPr>
          <a:xfrm>
            <a:off x="656844" y="487045"/>
            <a:ext cx="10829544" cy="658174"/>
          </a:xfrm>
        </p:spPr>
        <p:txBody>
          <a:bodyPr/>
          <a:lstStyle/>
          <a:p>
            <a:r>
              <a:rPr lang="en-US" dirty="0"/>
              <a:t>Example with provision: profit is not cash flow</a:t>
            </a:r>
          </a:p>
        </p:txBody>
      </p:sp>
      <p:sp>
        <p:nvSpPr>
          <p:cNvPr id="3" name="Content Placeholder 2">
            <a:extLst>
              <a:ext uri="{FF2B5EF4-FFF2-40B4-BE49-F238E27FC236}">
                <a16:creationId xmlns:a16="http://schemas.microsoft.com/office/drawing/2014/main" id="{35ABC2D6-A907-2D0C-BEB1-E8719C7FB1FD}"/>
              </a:ext>
            </a:extLst>
          </p:cNvPr>
          <p:cNvSpPr>
            <a:spLocks noGrp="1"/>
          </p:cNvSpPr>
          <p:nvPr>
            <p:ph idx="1"/>
          </p:nvPr>
        </p:nvSpPr>
        <p:spPr>
          <a:xfrm>
            <a:off x="681228" y="1145219"/>
            <a:ext cx="11247088" cy="5031744"/>
          </a:xfrm>
        </p:spPr>
        <p:txBody>
          <a:bodyPr>
            <a:normAutofit fontScale="92500" lnSpcReduction="10000"/>
          </a:bodyPr>
          <a:lstStyle/>
          <a:p>
            <a:r>
              <a:rPr lang="fr-FR" dirty="0" err="1"/>
              <a:t>Warranty</a:t>
            </a:r>
            <a:r>
              <a:rPr lang="fr-FR" dirty="0"/>
              <a:t>: replacement of the </a:t>
            </a:r>
            <a:r>
              <a:rPr lang="fr-FR" dirty="0" err="1"/>
              <a:t>product</a:t>
            </a:r>
            <a:r>
              <a:rPr lang="fr-FR" dirty="0"/>
              <a:t> or </a:t>
            </a:r>
            <a:r>
              <a:rPr lang="fr-FR" dirty="0" err="1"/>
              <a:t>repair</a:t>
            </a:r>
            <a:r>
              <a:rPr lang="fr-FR" dirty="0"/>
              <a:t> of the </a:t>
            </a:r>
            <a:r>
              <a:rPr lang="fr-FR" dirty="0" err="1"/>
              <a:t>product</a:t>
            </a:r>
            <a:r>
              <a:rPr lang="fr-FR" dirty="0"/>
              <a:t> </a:t>
            </a:r>
            <a:r>
              <a:rPr lang="fr-FR" dirty="0" err="1"/>
              <a:t>during</a:t>
            </a:r>
            <a:r>
              <a:rPr lang="fr-FR" dirty="0"/>
              <a:t> 1 </a:t>
            </a:r>
            <a:r>
              <a:rPr lang="fr-FR" dirty="0" err="1"/>
              <a:t>year</a:t>
            </a:r>
            <a:endParaRPr lang="fr-FR" dirty="0"/>
          </a:p>
          <a:p>
            <a:r>
              <a:rPr lang="fr-FR" dirty="0" err="1"/>
              <a:t>Expected</a:t>
            </a:r>
            <a:r>
              <a:rPr lang="fr-FR" dirty="0"/>
              <a:t> percentage of </a:t>
            </a:r>
            <a:r>
              <a:rPr lang="fr-FR" dirty="0" err="1"/>
              <a:t>products</a:t>
            </a:r>
            <a:r>
              <a:rPr lang="fr-FR" dirty="0"/>
              <a:t> </a:t>
            </a:r>
            <a:r>
              <a:rPr lang="fr-FR" dirty="0" err="1"/>
              <a:t>replaced</a:t>
            </a:r>
            <a:r>
              <a:rPr lang="fr-FR" dirty="0"/>
              <a:t>: 2%</a:t>
            </a:r>
          </a:p>
          <a:p>
            <a:r>
              <a:rPr lang="fr-FR" dirty="0" err="1"/>
              <a:t>Expected</a:t>
            </a:r>
            <a:r>
              <a:rPr lang="fr-FR" dirty="0"/>
              <a:t> percentage of </a:t>
            </a:r>
            <a:r>
              <a:rPr lang="fr-FR" dirty="0" err="1"/>
              <a:t>products</a:t>
            </a:r>
            <a:r>
              <a:rPr lang="fr-FR" dirty="0"/>
              <a:t> </a:t>
            </a:r>
            <a:r>
              <a:rPr lang="fr-FR" dirty="0" err="1"/>
              <a:t>repaired</a:t>
            </a:r>
            <a:r>
              <a:rPr lang="fr-FR" dirty="0"/>
              <a:t>: 5%</a:t>
            </a:r>
          </a:p>
          <a:p>
            <a:r>
              <a:rPr lang="fr-FR" dirty="0"/>
              <a:t>Unit </a:t>
            </a:r>
            <a:r>
              <a:rPr lang="fr-FR" dirty="0" err="1"/>
              <a:t>manufacturing</a:t>
            </a:r>
            <a:r>
              <a:rPr lang="fr-FR" dirty="0"/>
              <a:t> </a:t>
            </a:r>
            <a:r>
              <a:rPr lang="fr-FR" dirty="0" err="1"/>
              <a:t>cost</a:t>
            </a:r>
            <a:r>
              <a:rPr lang="fr-FR" dirty="0"/>
              <a:t> of </a:t>
            </a:r>
            <a:r>
              <a:rPr lang="fr-FR" dirty="0" err="1"/>
              <a:t>this</a:t>
            </a:r>
            <a:r>
              <a:rPr lang="fr-FR" dirty="0"/>
              <a:t> </a:t>
            </a:r>
            <a:r>
              <a:rPr lang="fr-FR" dirty="0" err="1"/>
              <a:t>product</a:t>
            </a:r>
            <a:r>
              <a:rPr lang="fr-FR" dirty="0"/>
              <a:t>: €100</a:t>
            </a:r>
          </a:p>
          <a:p>
            <a:r>
              <a:rPr lang="fr-FR" dirty="0" err="1"/>
              <a:t>Average</a:t>
            </a:r>
            <a:r>
              <a:rPr lang="fr-FR" dirty="0"/>
              <a:t> </a:t>
            </a:r>
            <a:r>
              <a:rPr lang="fr-FR" dirty="0" err="1"/>
              <a:t>repairment</a:t>
            </a:r>
            <a:r>
              <a:rPr lang="fr-FR" dirty="0"/>
              <a:t> </a:t>
            </a:r>
            <a:r>
              <a:rPr lang="fr-FR" dirty="0" err="1"/>
              <a:t>cost</a:t>
            </a:r>
            <a:r>
              <a:rPr lang="fr-FR" dirty="0"/>
              <a:t>: €20</a:t>
            </a:r>
          </a:p>
          <a:p>
            <a:r>
              <a:rPr lang="fr-FR" dirty="0" err="1"/>
              <a:t>Selling</a:t>
            </a:r>
            <a:r>
              <a:rPr lang="fr-FR" dirty="0"/>
              <a:t> </a:t>
            </a:r>
            <a:r>
              <a:rPr lang="fr-FR" dirty="0" err="1"/>
              <a:t>price</a:t>
            </a:r>
            <a:r>
              <a:rPr lang="fr-FR" dirty="0"/>
              <a:t>: €220</a:t>
            </a:r>
          </a:p>
          <a:p>
            <a:r>
              <a:rPr lang="fr-FR" dirty="0"/>
              <a:t>Unit commercial and administrative: €80 (</a:t>
            </a:r>
            <a:r>
              <a:rPr lang="fr-FR" dirty="0" err="1"/>
              <a:t>without</a:t>
            </a:r>
            <a:r>
              <a:rPr lang="fr-FR" dirty="0"/>
              <a:t> </a:t>
            </a:r>
            <a:r>
              <a:rPr lang="fr-FR" dirty="0" err="1"/>
              <a:t>warranty</a:t>
            </a:r>
            <a:r>
              <a:rPr lang="fr-FR" dirty="0"/>
              <a:t>)</a:t>
            </a:r>
          </a:p>
          <a:p>
            <a:r>
              <a:rPr lang="fr-FR" dirty="0" err="1"/>
              <a:t>Depreciation</a:t>
            </a:r>
            <a:r>
              <a:rPr lang="fr-FR" dirty="0"/>
              <a:t> and </a:t>
            </a:r>
            <a:r>
              <a:rPr lang="fr-FR" dirty="0" err="1"/>
              <a:t>amortization</a:t>
            </a:r>
            <a:r>
              <a:rPr lang="fr-FR" dirty="0"/>
              <a:t> </a:t>
            </a:r>
            <a:r>
              <a:rPr lang="fr-FR" dirty="0" err="1"/>
              <a:t>expense</a:t>
            </a:r>
            <a:r>
              <a:rPr lang="fr-FR" dirty="0"/>
              <a:t> (</a:t>
            </a:r>
            <a:r>
              <a:rPr lang="fr-FR" dirty="0" err="1"/>
              <a:t>included</a:t>
            </a:r>
            <a:r>
              <a:rPr lang="fr-FR" dirty="0"/>
              <a:t> in </a:t>
            </a:r>
            <a:r>
              <a:rPr lang="fr-FR" dirty="0" err="1"/>
              <a:t>manufacturing</a:t>
            </a:r>
            <a:r>
              <a:rPr lang="fr-FR" dirty="0"/>
              <a:t>, commercial and </a:t>
            </a:r>
            <a:r>
              <a:rPr lang="fr-FR" dirty="0" err="1"/>
              <a:t>adminstrative</a:t>
            </a:r>
            <a:r>
              <a:rPr lang="fr-FR" dirty="0"/>
              <a:t> </a:t>
            </a:r>
            <a:r>
              <a:rPr lang="fr-FR" dirty="0" err="1"/>
              <a:t>expenses</a:t>
            </a:r>
            <a:r>
              <a:rPr lang="fr-FR" dirty="0"/>
              <a:t>): €30,000</a:t>
            </a:r>
          </a:p>
          <a:p>
            <a:pPr marL="0" indent="0">
              <a:buNone/>
            </a:pPr>
            <a:endParaRPr lang="fr-FR" dirty="0"/>
          </a:p>
          <a:p>
            <a:pPr marL="0" indent="0">
              <a:buNone/>
            </a:pPr>
            <a:r>
              <a:rPr lang="fr-FR" dirty="0"/>
              <a:t>In </a:t>
            </a:r>
            <a:r>
              <a:rPr lang="fr-FR" dirty="0" err="1"/>
              <a:t>February</a:t>
            </a:r>
            <a:r>
              <a:rPr lang="fr-FR" dirty="0"/>
              <a:t> 2026, 1,000 </a:t>
            </a:r>
            <a:r>
              <a:rPr lang="fr-FR" dirty="0" err="1"/>
              <a:t>products</a:t>
            </a:r>
            <a:r>
              <a:rPr lang="fr-FR" dirty="0"/>
              <a:t> </a:t>
            </a:r>
            <a:r>
              <a:rPr lang="fr-FR" dirty="0" err="1"/>
              <a:t>were</a:t>
            </a:r>
            <a:r>
              <a:rPr lang="fr-FR" dirty="0"/>
              <a:t> </a:t>
            </a:r>
            <a:r>
              <a:rPr lang="fr-FR" dirty="0" err="1"/>
              <a:t>sold</a:t>
            </a:r>
            <a:r>
              <a:rPr lang="fr-FR" dirty="0"/>
              <a:t> on </a:t>
            </a:r>
            <a:r>
              <a:rPr lang="fr-FR" dirty="0" err="1"/>
              <a:t>credit</a:t>
            </a:r>
            <a:r>
              <a:rPr lang="fr-FR" dirty="0"/>
              <a:t> (</a:t>
            </a:r>
            <a:r>
              <a:rPr lang="fr-FR" dirty="0" err="1"/>
              <a:t>with</a:t>
            </a:r>
            <a:r>
              <a:rPr lang="fr-FR" dirty="0"/>
              <a:t> one </a:t>
            </a:r>
            <a:r>
              <a:rPr lang="fr-FR" dirty="0" err="1"/>
              <a:t>month</a:t>
            </a:r>
            <a:r>
              <a:rPr lang="fr-FR" dirty="0"/>
              <a:t> </a:t>
            </a:r>
            <a:r>
              <a:rPr lang="fr-FR" dirty="0" err="1"/>
              <a:t>credit</a:t>
            </a:r>
            <a:r>
              <a:rPr lang="fr-FR" dirty="0"/>
              <a:t> </a:t>
            </a:r>
            <a:r>
              <a:rPr lang="fr-FR" dirty="0" err="1"/>
              <a:t>term</a:t>
            </a:r>
            <a:r>
              <a:rPr lang="fr-FR" dirty="0"/>
              <a:t>) </a:t>
            </a:r>
            <a:r>
              <a:rPr lang="fr-FR" dirty="0" err="1"/>
              <a:t>what</a:t>
            </a:r>
            <a:r>
              <a:rPr lang="fr-FR" dirty="0"/>
              <a:t> </a:t>
            </a:r>
            <a:r>
              <a:rPr lang="fr-FR" dirty="0" err="1"/>
              <a:t>is</a:t>
            </a:r>
            <a:r>
              <a:rPr lang="fr-FR" dirty="0"/>
              <a:t> the </a:t>
            </a:r>
            <a:r>
              <a:rPr lang="fr-FR" dirty="0" err="1"/>
              <a:t>effect</a:t>
            </a:r>
            <a:r>
              <a:rPr lang="fr-FR" dirty="0"/>
              <a:t> on the balance </a:t>
            </a:r>
            <a:r>
              <a:rPr lang="fr-FR" dirty="0" err="1"/>
              <a:t>sheet</a:t>
            </a:r>
            <a:r>
              <a:rPr lang="fr-FR" dirty="0"/>
              <a:t> at the end of </a:t>
            </a:r>
            <a:r>
              <a:rPr lang="fr-FR" dirty="0" err="1"/>
              <a:t>February</a:t>
            </a:r>
            <a:r>
              <a:rPr lang="fr-FR" dirty="0"/>
              <a:t> 2026?</a:t>
            </a:r>
          </a:p>
          <a:p>
            <a:pPr marL="0" indent="0">
              <a:buNone/>
            </a:pPr>
            <a:r>
              <a:rPr lang="fr-FR" dirty="0"/>
              <a:t>All the cash </a:t>
            </a:r>
            <a:r>
              <a:rPr lang="fr-FR" dirty="0" err="1"/>
              <a:t>expense</a:t>
            </a:r>
            <a:r>
              <a:rPr lang="fr-FR" dirty="0"/>
              <a:t> </a:t>
            </a:r>
            <a:r>
              <a:rPr lang="fr-FR" dirty="0" err="1"/>
              <a:t>is</a:t>
            </a:r>
            <a:r>
              <a:rPr lang="fr-FR" dirty="0"/>
              <a:t> cash </a:t>
            </a:r>
            <a:r>
              <a:rPr lang="fr-FR" dirty="0" err="1"/>
              <a:t>paid</a:t>
            </a:r>
            <a:r>
              <a:rPr lang="fr-FR" dirty="0"/>
              <a:t>. </a:t>
            </a:r>
          </a:p>
          <a:p>
            <a:endParaRPr lang="en-US" dirty="0"/>
          </a:p>
        </p:txBody>
      </p:sp>
      <p:sp>
        <p:nvSpPr>
          <p:cNvPr id="4" name="Slide Number Placeholder 3">
            <a:extLst>
              <a:ext uri="{FF2B5EF4-FFF2-40B4-BE49-F238E27FC236}">
                <a16:creationId xmlns:a16="http://schemas.microsoft.com/office/drawing/2014/main" id="{37B9A5A0-A84E-D231-08E0-8E8AFF218BE8}"/>
              </a:ext>
            </a:extLst>
          </p:cNvPr>
          <p:cNvSpPr>
            <a:spLocks noGrp="1"/>
          </p:cNvSpPr>
          <p:nvPr>
            <p:ph type="sldNum" sz="quarter" idx="10"/>
          </p:nvPr>
        </p:nvSpPr>
        <p:spPr/>
        <p:txBody>
          <a:bodyPr/>
          <a:lstStyle/>
          <a:p>
            <a:fld id="{421B1A79-1F45-8F4F-AED5-0EE30DCF0380}" type="slidenum">
              <a:rPr lang="fr-FR" smtClean="0"/>
              <a:t>25</a:t>
            </a:fld>
            <a:endParaRPr lang="fr-FR"/>
          </a:p>
        </p:txBody>
      </p:sp>
    </p:spTree>
    <p:extLst>
      <p:ext uri="{BB962C8B-B14F-4D97-AF65-F5344CB8AC3E}">
        <p14:creationId xmlns:p14="http://schemas.microsoft.com/office/powerpoint/2010/main" val="3634705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3DFF8-1EB7-4CCC-5FD7-1187BC0EAA46}"/>
              </a:ext>
            </a:extLst>
          </p:cNvPr>
          <p:cNvSpPr>
            <a:spLocks noGrp="1"/>
          </p:cNvSpPr>
          <p:nvPr>
            <p:ph type="title"/>
          </p:nvPr>
        </p:nvSpPr>
        <p:spPr/>
        <p:txBody>
          <a:bodyPr/>
          <a:lstStyle/>
          <a:p>
            <a:r>
              <a:rPr lang="en-US" dirty="0"/>
              <a:t>Provision for warranty</a:t>
            </a:r>
            <a:br>
              <a:rPr lang="en-US" dirty="0"/>
            </a:br>
            <a:r>
              <a:rPr lang="en-US" sz="2400" i="1" dirty="0"/>
              <a:t>Example: Microsoft</a:t>
            </a:r>
          </a:p>
        </p:txBody>
      </p:sp>
      <p:sp>
        <p:nvSpPr>
          <p:cNvPr id="4" name="Slide Number Placeholder 3">
            <a:extLst>
              <a:ext uri="{FF2B5EF4-FFF2-40B4-BE49-F238E27FC236}">
                <a16:creationId xmlns:a16="http://schemas.microsoft.com/office/drawing/2014/main" id="{112D6869-230B-19F2-BA6F-5DA5C4A73B43}"/>
              </a:ext>
            </a:extLst>
          </p:cNvPr>
          <p:cNvSpPr>
            <a:spLocks noGrp="1"/>
          </p:cNvSpPr>
          <p:nvPr>
            <p:ph type="sldNum" sz="quarter" idx="10"/>
          </p:nvPr>
        </p:nvSpPr>
        <p:spPr/>
        <p:txBody>
          <a:bodyPr/>
          <a:lstStyle/>
          <a:p>
            <a:fld id="{421B1A79-1F45-8F4F-AED5-0EE30DCF0380}" type="slidenum">
              <a:rPr lang="fr-FR" smtClean="0"/>
              <a:t>26</a:t>
            </a:fld>
            <a:endParaRPr lang="fr-FR"/>
          </a:p>
        </p:txBody>
      </p:sp>
      <p:pic>
        <p:nvPicPr>
          <p:cNvPr id="5" name="Content Placeholder 6">
            <a:extLst>
              <a:ext uri="{FF2B5EF4-FFF2-40B4-BE49-F238E27FC236}">
                <a16:creationId xmlns:a16="http://schemas.microsoft.com/office/drawing/2014/main" id="{5A98A223-E3E2-84B5-47E3-B26C04986C40}"/>
              </a:ext>
            </a:extLst>
          </p:cNvPr>
          <p:cNvPicPr>
            <a:picLocks noChangeAspect="1"/>
          </p:cNvPicPr>
          <p:nvPr/>
        </p:nvPicPr>
        <p:blipFill>
          <a:blip r:embed="rId2"/>
          <a:stretch>
            <a:fillRect/>
          </a:stretch>
        </p:blipFill>
        <p:spPr>
          <a:xfrm>
            <a:off x="312387" y="1941817"/>
            <a:ext cx="11514896" cy="1701391"/>
          </a:xfrm>
          <a:prstGeom prst="rect">
            <a:avLst/>
          </a:prstGeom>
        </p:spPr>
      </p:pic>
      <p:cxnSp>
        <p:nvCxnSpPr>
          <p:cNvPr id="6" name="Straight Connector 5">
            <a:extLst>
              <a:ext uri="{FF2B5EF4-FFF2-40B4-BE49-F238E27FC236}">
                <a16:creationId xmlns:a16="http://schemas.microsoft.com/office/drawing/2014/main" id="{6943D539-F47F-94A2-8DF4-412D6C451A15}"/>
              </a:ext>
            </a:extLst>
          </p:cNvPr>
          <p:cNvCxnSpPr/>
          <p:nvPr/>
        </p:nvCxnSpPr>
        <p:spPr>
          <a:xfrm>
            <a:off x="7970319" y="2551768"/>
            <a:ext cx="3213119" cy="0"/>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B558020-7A3C-3422-D6C1-F0D4B94ED85F}"/>
              </a:ext>
            </a:extLst>
          </p:cNvPr>
          <p:cNvCxnSpPr>
            <a:cxnSpLocks/>
          </p:cNvCxnSpPr>
          <p:nvPr/>
        </p:nvCxnSpPr>
        <p:spPr>
          <a:xfrm>
            <a:off x="2026050" y="2732824"/>
            <a:ext cx="8354108" cy="0"/>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4562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6410F-83B2-9759-E75A-F6F06618E64F}"/>
              </a:ext>
            </a:extLst>
          </p:cNvPr>
          <p:cNvSpPr>
            <a:spLocks noGrp="1"/>
          </p:cNvSpPr>
          <p:nvPr>
            <p:ph type="title"/>
          </p:nvPr>
        </p:nvSpPr>
        <p:spPr>
          <a:xfrm>
            <a:off x="656844" y="487045"/>
            <a:ext cx="10829544" cy="899966"/>
          </a:xfrm>
        </p:spPr>
        <p:txBody>
          <a:bodyPr/>
          <a:lstStyle/>
          <a:p>
            <a:r>
              <a:rPr lang="en-US" dirty="0"/>
              <a:t>Under IFRS: IAS 37 Provisions, contingent liabilities and contingent assets </a:t>
            </a:r>
          </a:p>
        </p:txBody>
      </p:sp>
      <p:sp>
        <p:nvSpPr>
          <p:cNvPr id="4" name="Slide Number Placeholder 3">
            <a:extLst>
              <a:ext uri="{FF2B5EF4-FFF2-40B4-BE49-F238E27FC236}">
                <a16:creationId xmlns:a16="http://schemas.microsoft.com/office/drawing/2014/main" id="{C76F7F25-23FF-A72D-C403-D91E7B8C20A0}"/>
              </a:ext>
            </a:extLst>
          </p:cNvPr>
          <p:cNvSpPr>
            <a:spLocks noGrp="1"/>
          </p:cNvSpPr>
          <p:nvPr>
            <p:ph type="sldNum" sz="quarter" idx="10"/>
          </p:nvPr>
        </p:nvSpPr>
        <p:spPr/>
        <p:txBody>
          <a:bodyPr/>
          <a:lstStyle/>
          <a:p>
            <a:fld id="{421B1A79-1F45-8F4F-AED5-0EE30DCF0380}" type="slidenum">
              <a:rPr lang="fr-FR" smtClean="0"/>
              <a:t>27</a:t>
            </a:fld>
            <a:endParaRPr lang="fr-FR"/>
          </a:p>
        </p:txBody>
      </p:sp>
      <p:pic>
        <p:nvPicPr>
          <p:cNvPr id="5" name="Picture 4" descr="A white text with black text&#10;&#10;Description automatically generated">
            <a:extLst>
              <a:ext uri="{FF2B5EF4-FFF2-40B4-BE49-F238E27FC236}">
                <a16:creationId xmlns:a16="http://schemas.microsoft.com/office/drawing/2014/main" id="{545389F8-12CA-F09C-457D-81B172815E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3854" y="1253447"/>
            <a:ext cx="8832096" cy="4841577"/>
          </a:xfrm>
          <a:prstGeom prst="rect">
            <a:avLst/>
          </a:prstGeom>
        </p:spPr>
      </p:pic>
    </p:spTree>
    <p:extLst>
      <p:ext uri="{BB962C8B-B14F-4D97-AF65-F5344CB8AC3E}">
        <p14:creationId xmlns:p14="http://schemas.microsoft.com/office/powerpoint/2010/main" val="7798824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0C6D1-BE21-488B-DF33-1E033DA0C9F8}"/>
              </a:ext>
            </a:extLst>
          </p:cNvPr>
          <p:cNvSpPr>
            <a:spLocks noGrp="1"/>
          </p:cNvSpPr>
          <p:nvPr>
            <p:ph type="title"/>
          </p:nvPr>
        </p:nvSpPr>
        <p:spPr/>
        <p:txBody>
          <a:bodyPr/>
          <a:lstStyle/>
          <a:p>
            <a:r>
              <a:rPr lang="en-US" dirty="0"/>
              <a:t>Income statement (or profit or loss account or P&amp;L): revenue (and other income) - expense</a:t>
            </a:r>
          </a:p>
        </p:txBody>
      </p:sp>
      <p:sp>
        <p:nvSpPr>
          <p:cNvPr id="3" name="Content Placeholder 2">
            <a:extLst>
              <a:ext uri="{FF2B5EF4-FFF2-40B4-BE49-F238E27FC236}">
                <a16:creationId xmlns:a16="http://schemas.microsoft.com/office/drawing/2014/main" id="{70CF45F3-C8D0-CB7D-618E-96EB16246963}"/>
              </a:ext>
            </a:extLst>
          </p:cNvPr>
          <p:cNvSpPr>
            <a:spLocks noGrp="1"/>
          </p:cNvSpPr>
          <p:nvPr>
            <p:ph idx="1"/>
          </p:nvPr>
        </p:nvSpPr>
        <p:spPr>
          <a:xfrm>
            <a:off x="270260" y="1866721"/>
            <a:ext cx="11401181" cy="4351338"/>
          </a:xfrm>
        </p:spPr>
        <p:txBody>
          <a:bodyPr/>
          <a:lstStyle/>
          <a:p>
            <a:pPr marL="0" indent="0">
              <a:buNone/>
            </a:pPr>
            <a:r>
              <a:rPr lang="fr-FR" dirty="0"/>
              <a:t>Revenue (or sales or sales revenue or turnover) 	</a:t>
            </a:r>
          </a:p>
          <a:p>
            <a:pPr marL="0" indent="0">
              <a:buNone/>
            </a:pPr>
            <a:r>
              <a:rPr lang="fr-FR" dirty="0" err="1"/>
              <a:t>Cost</a:t>
            </a:r>
            <a:r>
              <a:rPr lang="fr-FR" dirty="0"/>
              <a:t> of sales (or </a:t>
            </a:r>
            <a:r>
              <a:rPr lang="fr-FR" dirty="0" err="1"/>
              <a:t>cost</a:t>
            </a:r>
            <a:r>
              <a:rPr lang="fr-FR" dirty="0"/>
              <a:t> of </a:t>
            </a:r>
            <a:r>
              <a:rPr lang="fr-FR" dirty="0" err="1"/>
              <a:t>goods</a:t>
            </a:r>
            <a:r>
              <a:rPr lang="fr-FR" dirty="0"/>
              <a:t> </a:t>
            </a:r>
            <a:r>
              <a:rPr lang="fr-FR" dirty="0" err="1"/>
              <a:t>sold</a:t>
            </a:r>
            <a:r>
              <a:rPr lang="fr-FR" dirty="0"/>
              <a:t>)				</a:t>
            </a:r>
          </a:p>
          <a:p>
            <a:pPr marL="0" indent="0">
              <a:buNone/>
            </a:pPr>
            <a:r>
              <a:rPr lang="fr-FR" dirty="0"/>
              <a:t>Gross profit (or </a:t>
            </a:r>
            <a:r>
              <a:rPr lang="fr-FR" dirty="0" err="1"/>
              <a:t>gross</a:t>
            </a:r>
            <a:r>
              <a:rPr lang="fr-FR" dirty="0"/>
              <a:t> </a:t>
            </a:r>
            <a:r>
              <a:rPr lang="fr-FR" dirty="0" err="1"/>
              <a:t>margin</a:t>
            </a:r>
            <a:r>
              <a:rPr lang="fr-FR" dirty="0"/>
              <a:t>)					</a:t>
            </a:r>
          </a:p>
          <a:p>
            <a:pPr marL="0" indent="0">
              <a:buNone/>
            </a:pPr>
            <a:r>
              <a:rPr lang="fr-FR" dirty="0" err="1"/>
              <a:t>Selling</a:t>
            </a:r>
            <a:r>
              <a:rPr lang="fr-FR" dirty="0"/>
              <a:t>, </a:t>
            </a:r>
            <a:r>
              <a:rPr lang="fr-FR" dirty="0" err="1"/>
              <a:t>general</a:t>
            </a:r>
            <a:r>
              <a:rPr lang="fr-FR" dirty="0"/>
              <a:t> and administrative </a:t>
            </a:r>
            <a:r>
              <a:rPr lang="fr-FR" dirty="0" err="1"/>
              <a:t>expense</a:t>
            </a:r>
            <a:r>
              <a:rPr lang="fr-FR" dirty="0"/>
              <a:t> (</a:t>
            </a:r>
            <a:r>
              <a:rPr lang="fr-FR" dirty="0" err="1"/>
              <a:t>without</a:t>
            </a:r>
            <a:r>
              <a:rPr lang="fr-FR" dirty="0"/>
              <a:t> provision)</a:t>
            </a:r>
          </a:p>
          <a:p>
            <a:pPr marL="0" indent="0">
              <a:buNone/>
            </a:pPr>
            <a:r>
              <a:rPr lang="fr-FR" dirty="0"/>
              <a:t>Provision </a:t>
            </a:r>
            <a:r>
              <a:rPr lang="fr-FR" dirty="0" err="1"/>
              <a:t>expense</a:t>
            </a:r>
            <a:r>
              <a:rPr lang="fr-FR" dirty="0"/>
              <a:t> (</a:t>
            </a:r>
            <a:r>
              <a:rPr lang="fr-FR" dirty="0" err="1"/>
              <a:t>warranty</a:t>
            </a:r>
            <a:r>
              <a:rPr lang="fr-FR" dirty="0"/>
              <a:t>)								    </a:t>
            </a:r>
          </a:p>
          <a:p>
            <a:pPr marL="0" indent="0">
              <a:buNone/>
            </a:pPr>
            <a:r>
              <a:rPr lang="fr-FR" dirty="0"/>
              <a:t>Operating profit or EBIT (</a:t>
            </a:r>
            <a:r>
              <a:rPr lang="fr-FR" dirty="0" err="1"/>
              <a:t>Earnings</a:t>
            </a:r>
            <a:r>
              <a:rPr lang="fr-FR" dirty="0"/>
              <a:t> </a:t>
            </a:r>
            <a:r>
              <a:rPr lang="fr-FR" dirty="0" err="1"/>
              <a:t>Before</a:t>
            </a:r>
            <a:r>
              <a:rPr lang="fr-FR" dirty="0"/>
              <a:t> </a:t>
            </a:r>
            <a:r>
              <a:rPr lang="fr-FR" dirty="0" err="1"/>
              <a:t>Interest</a:t>
            </a:r>
            <a:r>
              <a:rPr lang="fr-FR" dirty="0"/>
              <a:t> and (</a:t>
            </a:r>
            <a:r>
              <a:rPr lang="fr-FR" dirty="0" err="1"/>
              <a:t>income</a:t>
            </a:r>
            <a:r>
              <a:rPr lang="fr-FR" dirty="0"/>
              <a:t>) </a:t>
            </a:r>
            <a:r>
              <a:rPr lang="fr-FR" dirty="0" err="1"/>
              <a:t>Tax</a:t>
            </a:r>
            <a:r>
              <a:rPr lang="fr-FR" dirty="0"/>
              <a:t>)</a:t>
            </a:r>
          </a:p>
          <a:p>
            <a:pPr marL="0" indent="0">
              <a:buNone/>
            </a:pPr>
            <a:r>
              <a:rPr lang="fr-FR" dirty="0"/>
              <a:t>											</a:t>
            </a:r>
          </a:p>
          <a:p>
            <a:pPr marL="0" indent="0">
              <a:buNone/>
            </a:pPr>
            <a:r>
              <a:rPr lang="fr-FR" b="0" i="1" dirty="0"/>
              <a:t>D&amp;A </a:t>
            </a:r>
            <a:r>
              <a:rPr lang="fr-FR" b="0" i="1" dirty="0" err="1"/>
              <a:t>expense</a:t>
            </a:r>
            <a:r>
              <a:rPr lang="fr-FR" b="0" i="1" dirty="0"/>
              <a:t> </a:t>
            </a:r>
            <a:r>
              <a:rPr lang="fr-FR" b="0" i="1" dirty="0" err="1"/>
              <a:t>is</a:t>
            </a:r>
            <a:r>
              <a:rPr lang="fr-FR" b="0" i="1" dirty="0"/>
              <a:t> </a:t>
            </a:r>
            <a:r>
              <a:rPr lang="fr-FR" b="0" i="1" dirty="0" err="1"/>
              <a:t>included</a:t>
            </a:r>
            <a:r>
              <a:rPr lang="fr-FR" b="0" i="1" dirty="0"/>
              <a:t> in the </a:t>
            </a:r>
            <a:r>
              <a:rPr lang="fr-FR" b="0" i="1" dirty="0" err="1"/>
              <a:t>cost</a:t>
            </a:r>
            <a:r>
              <a:rPr lang="fr-FR" b="0" i="1" dirty="0"/>
              <a:t> of sales and the </a:t>
            </a:r>
            <a:r>
              <a:rPr lang="fr-FR" b="0" i="1" dirty="0" err="1"/>
              <a:t>selling</a:t>
            </a:r>
            <a:r>
              <a:rPr lang="fr-FR" b="0" i="1" dirty="0"/>
              <a:t>, </a:t>
            </a:r>
            <a:r>
              <a:rPr lang="fr-FR" b="0" i="1" dirty="0" err="1"/>
              <a:t>general</a:t>
            </a:r>
            <a:r>
              <a:rPr lang="fr-FR" b="0" i="1" dirty="0"/>
              <a:t> and administrative </a:t>
            </a:r>
            <a:r>
              <a:rPr lang="fr-FR" b="0" i="1" dirty="0" err="1"/>
              <a:t>expense</a:t>
            </a:r>
            <a:r>
              <a:rPr lang="fr-FR" b="0" i="1" dirty="0"/>
              <a:t>.</a:t>
            </a:r>
          </a:p>
          <a:p>
            <a:endParaRPr lang="en-US" dirty="0"/>
          </a:p>
        </p:txBody>
      </p:sp>
      <p:sp>
        <p:nvSpPr>
          <p:cNvPr id="4" name="Slide Number Placeholder 3">
            <a:extLst>
              <a:ext uri="{FF2B5EF4-FFF2-40B4-BE49-F238E27FC236}">
                <a16:creationId xmlns:a16="http://schemas.microsoft.com/office/drawing/2014/main" id="{782B8C2D-95BC-04C6-2CF3-19727864E29B}"/>
              </a:ext>
            </a:extLst>
          </p:cNvPr>
          <p:cNvSpPr>
            <a:spLocks noGrp="1"/>
          </p:cNvSpPr>
          <p:nvPr>
            <p:ph type="sldNum" sz="quarter" idx="10"/>
          </p:nvPr>
        </p:nvSpPr>
        <p:spPr/>
        <p:txBody>
          <a:bodyPr/>
          <a:lstStyle/>
          <a:p>
            <a:fld id="{421B1A79-1F45-8F4F-AED5-0EE30DCF0380}" type="slidenum">
              <a:rPr lang="fr-FR" smtClean="0"/>
              <a:t>28</a:t>
            </a:fld>
            <a:endParaRPr lang="fr-FR"/>
          </a:p>
        </p:txBody>
      </p:sp>
    </p:spTree>
    <p:extLst>
      <p:ext uri="{BB962C8B-B14F-4D97-AF65-F5344CB8AC3E}">
        <p14:creationId xmlns:p14="http://schemas.microsoft.com/office/powerpoint/2010/main" val="41240182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DF533-2420-88AA-D2B6-5E83C46D55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FAEDA7-EF79-EA3F-F836-A593E91EDB00}"/>
              </a:ext>
            </a:extLst>
          </p:cNvPr>
          <p:cNvSpPr>
            <a:spLocks noGrp="1"/>
          </p:cNvSpPr>
          <p:nvPr>
            <p:ph type="title"/>
          </p:nvPr>
        </p:nvSpPr>
        <p:spPr/>
        <p:txBody>
          <a:bodyPr/>
          <a:lstStyle/>
          <a:p>
            <a:r>
              <a:rPr lang="en-US" dirty="0"/>
              <a:t>Income statement (or profit or loss account or P&amp;L): revenue (and other income) - expense</a:t>
            </a:r>
          </a:p>
        </p:txBody>
      </p:sp>
      <p:sp>
        <p:nvSpPr>
          <p:cNvPr id="3" name="Content Placeholder 2">
            <a:extLst>
              <a:ext uri="{FF2B5EF4-FFF2-40B4-BE49-F238E27FC236}">
                <a16:creationId xmlns:a16="http://schemas.microsoft.com/office/drawing/2014/main" id="{E05E0CAA-1570-4930-4004-08DB8F16E43F}"/>
              </a:ext>
            </a:extLst>
          </p:cNvPr>
          <p:cNvSpPr>
            <a:spLocks noGrp="1"/>
          </p:cNvSpPr>
          <p:nvPr>
            <p:ph idx="1"/>
          </p:nvPr>
        </p:nvSpPr>
        <p:spPr>
          <a:xfrm>
            <a:off x="270260" y="1866721"/>
            <a:ext cx="11401181" cy="4351338"/>
          </a:xfrm>
        </p:spPr>
        <p:txBody>
          <a:bodyPr>
            <a:normAutofit fontScale="85000" lnSpcReduction="20000"/>
          </a:bodyPr>
          <a:lstStyle/>
          <a:p>
            <a:pPr marL="0" indent="0">
              <a:buNone/>
            </a:pPr>
            <a:r>
              <a:rPr lang="fr-FR" dirty="0"/>
              <a:t>Revenue (or sales or sales revenue or turnover) 				€220,000</a:t>
            </a:r>
          </a:p>
          <a:p>
            <a:pPr marL="0" indent="0">
              <a:buNone/>
            </a:pPr>
            <a:r>
              <a:rPr lang="fr-FR" dirty="0"/>
              <a:t>   </a:t>
            </a:r>
            <a:r>
              <a:rPr lang="fr-FR" i="1" dirty="0"/>
              <a:t>1,000 x €220	</a:t>
            </a:r>
          </a:p>
          <a:p>
            <a:pPr marL="0" indent="0">
              <a:buNone/>
            </a:pPr>
            <a:r>
              <a:rPr lang="fr-FR" dirty="0" err="1"/>
              <a:t>Cost</a:t>
            </a:r>
            <a:r>
              <a:rPr lang="fr-FR" dirty="0"/>
              <a:t> of sales (or </a:t>
            </a:r>
            <a:r>
              <a:rPr lang="fr-FR" dirty="0" err="1"/>
              <a:t>cost</a:t>
            </a:r>
            <a:r>
              <a:rPr lang="fr-FR" dirty="0"/>
              <a:t> of revenue or </a:t>
            </a:r>
            <a:r>
              <a:rPr lang="fr-FR" dirty="0" err="1"/>
              <a:t>cost</a:t>
            </a:r>
            <a:r>
              <a:rPr lang="fr-FR" dirty="0"/>
              <a:t> of </a:t>
            </a:r>
            <a:r>
              <a:rPr lang="fr-FR" dirty="0" err="1"/>
              <a:t>goods</a:t>
            </a:r>
            <a:r>
              <a:rPr lang="fr-FR" dirty="0"/>
              <a:t> </a:t>
            </a:r>
            <a:r>
              <a:rPr lang="fr-FR" dirty="0" err="1"/>
              <a:t>sold</a:t>
            </a:r>
            <a:r>
              <a:rPr lang="fr-FR" dirty="0"/>
              <a:t>)			€100,000</a:t>
            </a:r>
          </a:p>
          <a:p>
            <a:pPr marL="0" indent="0">
              <a:buNone/>
            </a:pPr>
            <a:r>
              <a:rPr lang="fr-FR" dirty="0"/>
              <a:t>   </a:t>
            </a:r>
            <a:r>
              <a:rPr lang="fr-FR" i="1" dirty="0"/>
              <a:t>1,000 x €100</a:t>
            </a:r>
          </a:p>
          <a:p>
            <a:pPr marL="0" indent="0">
              <a:buNone/>
            </a:pPr>
            <a:r>
              <a:rPr lang="fr-FR" dirty="0"/>
              <a:t>Gross profit (or </a:t>
            </a:r>
            <a:r>
              <a:rPr lang="fr-FR" dirty="0" err="1"/>
              <a:t>gross</a:t>
            </a:r>
            <a:r>
              <a:rPr lang="fr-FR" dirty="0"/>
              <a:t> </a:t>
            </a:r>
            <a:r>
              <a:rPr lang="fr-FR" dirty="0" err="1"/>
              <a:t>margin</a:t>
            </a:r>
            <a:r>
              <a:rPr lang="fr-FR" dirty="0"/>
              <a:t>)							€120,000</a:t>
            </a:r>
          </a:p>
          <a:p>
            <a:pPr marL="0" indent="0">
              <a:buNone/>
            </a:pPr>
            <a:r>
              <a:rPr lang="fr-FR" dirty="0" err="1"/>
              <a:t>Selling</a:t>
            </a:r>
            <a:r>
              <a:rPr lang="fr-FR" dirty="0"/>
              <a:t>, </a:t>
            </a:r>
            <a:r>
              <a:rPr lang="fr-FR" dirty="0" err="1"/>
              <a:t>general</a:t>
            </a:r>
            <a:r>
              <a:rPr lang="fr-FR" dirty="0"/>
              <a:t> and administrative (S,G&amp;A) </a:t>
            </a:r>
            <a:r>
              <a:rPr lang="fr-FR" dirty="0" err="1"/>
              <a:t>expense</a:t>
            </a:r>
            <a:r>
              <a:rPr lang="fr-FR" dirty="0"/>
              <a:t> (</a:t>
            </a:r>
            <a:r>
              <a:rPr lang="fr-FR" dirty="0" err="1"/>
              <a:t>without</a:t>
            </a:r>
            <a:r>
              <a:rPr lang="fr-FR" dirty="0"/>
              <a:t> provision)</a:t>
            </a:r>
          </a:p>
          <a:p>
            <a:pPr marL="0" indent="0">
              <a:buNone/>
            </a:pPr>
            <a:r>
              <a:rPr lang="fr-FR" dirty="0"/>
              <a:t>   </a:t>
            </a:r>
            <a:r>
              <a:rPr lang="fr-FR" i="1" dirty="0"/>
              <a:t>1,000 x €80</a:t>
            </a:r>
            <a:r>
              <a:rPr lang="fr-FR" dirty="0"/>
              <a:t>									  €80,000</a:t>
            </a:r>
          </a:p>
          <a:p>
            <a:pPr marL="0" indent="0">
              <a:buNone/>
            </a:pPr>
            <a:r>
              <a:rPr lang="fr-FR" dirty="0"/>
              <a:t>Provision (or </a:t>
            </a:r>
            <a:r>
              <a:rPr lang="fr-FR" dirty="0" err="1"/>
              <a:t>warranty</a:t>
            </a:r>
            <a:r>
              <a:rPr lang="fr-FR" dirty="0"/>
              <a:t>) </a:t>
            </a:r>
            <a:r>
              <a:rPr lang="fr-FR" dirty="0" err="1"/>
              <a:t>expense</a:t>
            </a:r>
            <a:r>
              <a:rPr lang="fr-FR" dirty="0"/>
              <a:t>					   	    €3,000</a:t>
            </a:r>
          </a:p>
          <a:p>
            <a:pPr marL="0" indent="0">
              <a:buNone/>
            </a:pPr>
            <a:r>
              <a:rPr lang="fr-FR" dirty="0"/>
              <a:t>   </a:t>
            </a:r>
            <a:r>
              <a:rPr lang="fr-FR" i="1" dirty="0"/>
              <a:t>2% x 1,000 x €100 + 5% x 1,000 x €20</a:t>
            </a:r>
          </a:p>
          <a:p>
            <a:pPr marL="0" indent="0">
              <a:buNone/>
            </a:pPr>
            <a:r>
              <a:rPr lang="fr-FR" dirty="0"/>
              <a:t>Operating profit or EBIT (</a:t>
            </a:r>
            <a:r>
              <a:rPr lang="fr-FR" dirty="0" err="1"/>
              <a:t>Earnings</a:t>
            </a:r>
            <a:r>
              <a:rPr lang="fr-FR" dirty="0"/>
              <a:t> </a:t>
            </a:r>
            <a:r>
              <a:rPr lang="fr-FR" dirty="0" err="1"/>
              <a:t>Before</a:t>
            </a:r>
            <a:r>
              <a:rPr lang="fr-FR" dirty="0"/>
              <a:t> </a:t>
            </a:r>
            <a:r>
              <a:rPr lang="fr-FR" dirty="0" err="1"/>
              <a:t>Interest</a:t>
            </a:r>
            <a:r>
              <a:rPr lang="fr-FR" dirty="0"/>
              <a:t> and (</a:t>
            </a:r>
            <a:r>
              <a:rPr lang="fr-FR" dirty="0" err="1"/>
              <a:t>income</a:t>
            </a:r>
            <a:r>
              <a:rPr lang="fr-FR" dirty="0"/>
              <a:t>) </a:t>
            </a:r>
            <a:r>
              <a:rPr lang="fr-FR" dirty="0" err="1"/>
              <a:t>Tax</a:t>
            </a:r>
            <a:r>
              <a:rPr lang="fr-FR" dirty="0"/>
              <a:t>)	 	  €37,000</a:t>
            </a:r>
          </a:p>
          <a:p>
            <a:pPr marL="0" indent="0">
              <a:buNone/>
            </a:pPr>
            <a:endParaRPr lang="fr-FR" dirty="0"/>
          </a:p>
          <a:p>
            <a:pPr marL="0" indent="0">
              <a:buNone/>
            </a:pPr>
            <a:r>
              <a:rPr lang="fr-FR" b="0" i="1" dirty="0"/>
              <a:t>D&amp;A </a:t>
            </a:r>
            <a:r>
              <a:rPr lang="fr-FR" b="0" i="1" dirty="0" err="1"/>
              <a:t>expense</a:t>
            </a:r>
            <a:r>
              <a:rPr lang="fr-FR" b="0" i="1" dirty="0"/>
              <a:t> are </a:t>
            </a:r>
            <a:r>
              <a:rPr lang="fr-FR" b="0" i="1" dirty="0" err="1"/>
              <a:t>included</a:t>
            </a:r>
            <a:r>
              <a:rPr lang="fr-FR" b="0" i="1" dirty="0"/>
              <a:t> in the </a:t>
            </a:r>
            <a:r>
              <a:rPr lang="fr-FR" b="0" i="1" dirty="0" err="1"/>
              <a:t>cost</a:t>
            </a:r>
            <a:r>
              <a:rPr lang="fr-FR" b="0" i="1" dirty="0"/>
              <a:t> of sales and the </a:t>
            </a:r>
            <a:r>
              <a:rPr lang="fr-FR" b="0" i="1" dirty="0" err="1"/>
              <a:t>selling</a:t>
            </a:r>
            <a:r>
              <a:rPr lang="fr-FR" b="0" i="1" dirty="0"/>
              <a:t>, </a:t>
            </a:r>
            <a:r>
              <a:rPr lang="fr-FR" b="0" i="1" dirty="0" err="1"/>
              <a:t>general</a:t>
            </a:r>
            <a:r>
              <a:rPr lang="fr-FR" b="0" i="1" dirty="0"/>
              <a:t> and administrative </a:t>
            </a:r>
            <a:r>
              <a:rPr lang="fr-FR" b="0" i="1" dirty="0" err="1"/>
              <a:t>expense</a:t>
            </a:r>
            <a:r>
              <a:rPr lang="fr-FR" b="0" i="1" dirty="0"/>
              <a:t>.</a:t>
            </a:r>
          </a:p>
          <a:p>
            <a:endParaRPr lang="en-US" dirty="0"/>
          </a:p>
        </p:txBody>
      </p:sp>
      <p:sp>
        <p:nvSpPr>
          <p:cNvPr id="4" name="Slide Number Placeholder 3">
            <a:extLst>
              <a:ext uri="{FF2B5EF4-FFF2-40B4-BE49-F238E27FC236}">
                <a16:creationId xmlns:a16="http://schemas.microsoft.com/office/drawing/2014/main" id="{5BD08E9C-C529-749D-51FA-0CF07DFB076F}"/>
              </a:ext>
            </a:extLst>
          </p:cNvPr>
          <p:cNvSpPr>
            <a:spLocks noGrp="1"/>
          </p:cNvSpPr>
          <p:nvPr>
            <p:ph type="sldNum" sz="quarter" idx="10"/>
          </p:nvPr>
        </p:nvSpPr>
        <p:spPr/>
        <p:txBody>
          <a:bodyPr/>
          <a:lstStyle/>
          <a:p>
            <a:fld id="{421B1A79-1F45-8F4F-AED5-0EE30DCF0380}" type="slidenum">
              <a:rPr lang="fr-FR" smtClean="0"/>
              <a:t>29</a:t>
            </a:fld>
            <a:endParaRPr lang="fr-FR"/>
          </a:p>
        </p:txBody>
      </p:sp>
    </p:spTree>
    <p:extLst>
      <p:ext uri="{BB962C8B-B14F-4D97-AF65-F5344CB8AC3E}">
        <p14:creationId xmlns:p14="http://schemas.microsoft.com/office/powerpoint/2010/main" val="6354317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DA971-4181-0917-F97D-07830FA9F68D}"/>
              </a:ext>
            </a:extLst>
          </p:cNvPr>
          <p:cNvSpPr>
            <a:spLocks noGrp="1"/>
          </p:cNvSpPr>
          <p:nvPr>
            <p:ph type="title"/>
          </p:nvPr>
        </p:nvSpPr>
        <p:spPr>
          <a:xfrm>
            <a:off x="656844" y="487045"/>
            <a:ext cx="11271472" cy="540371"/>
          </a:xfrm>
        </p:spPr>
        <p:txBody>
          <a:bodyPr/>
          <a:lstStyle/>
          <a:p>
            <a:r>
              <a:rPr lang="en-US" dirty="0"/>
              <a:t>Impact on balance sheet (or statement of financial position)</a:t>
            </a:r>
          </a:p>
        </p:txBody>
      </p:sp>
      <p:sp>
        <p:nvSpPr>
          <p:cNvPr id="4" name="Slide Number Placeholder 3">
            <a:extLst>
              <a:ext uri="{FF2B5EF4-FFF2-40B4-BE49-F238E27FC236}">
                <a16:creationId xmlns:a16="http://schemas.microsoft.com/office/drawing/2014/main" id="{02996946-0404-9ED7-1623-C16E9D23B561}"/>
              </a:ext>
            </a:extLst>
          </p:cNvPr>
          <p:cNvSpPr>
            <a:spLocks noGrp="1"/>
          </p:cNvSpPr>
          <p:nvPr>
            <p:ph type="sldNum" sz="quarter" idx="10"/>
          </p:nvPr>
        </p:nvSpPr>
        <p:spPr/>
        <p:txBody>
          <a:bodyPr/>
          <a:lstStyle/>
          <a:p>
            <a:fld id="{421B1A79-1F45-8F4F-AED5-0EE30DCF0380}" type="slidenum">
              <a:rPr lang="fr-FR" smtClean="0"/>
              <a:t>30</a:t>
            </a:fld>
            <a:endParaRPr lang="fr-FR"/>
          </a:p>
        </p:txBody>
      </p:sp>
      <p:graphicFrame>
        <p:nvGraphicFramePr>
          <p:cNvPr id="5" name="Content Placeholder 5">
            <a:extLst>
              <a:ext uri="{FF2B5EF4-FFF2-40B4-BE49-F238E27FC236}">
                <a16:creationId xmlns:a16="http://schemas.microsoft.com/office/drawing/2014/main" id="{8A4FD820-25EE-384D-DA69-59856F55801A}"/>
              </a:ext>
            </a:extLst>
          </p:cNvPr>
          <p:cNvGraphicFramePr>
            <a:graphicFrameLocks/>
          </p:cNvGraphicFramePr>
          <p:nvPr>
            <p:extLst>
              <p:ext uri="{D42A27DB-BD31-4B8C-83A1-F6EECF244321}">
                <p14:modId xmlns:p14="http://schemas.microsoft.com/office/powerpoint/2010/main" val="1394335125"/>
              </p:ext>
            </p:extLst>
          </p:nvPr>
        </p:nvGraphicFramePr>
        <p:xfrm>
          <a:off x="98179" y="1394025"/>
          <a:ext cx="11993411" cy="3206291"/>
        </p:xfrm>
        <a:graphic>
          <a:graphicData uri="http://schemas.openxmlformats.org/drawingml/2006/table">
            <a:tbl>
              <a:tblPr firstRow="1" bandRow="1">
                <a:tableStyleId>{5C22544A-7EE6-4342-B048-85BDC9FD1C3A}</a:tableStyleId>
              </a:tblPr>
              <a:tblGrid>
                <a:gridCol w="2398682">
                  <a:extLst>
                    <a:ext uri="{9D8B030D-6E8A-4147-A177-3AD203B41FA5}">
                      <a16:colId xmlns:a16="http://schemas.microsoft.com/office/drawing/2014/main" val="186388427"/>
                    </a:ext>
                  </a:extLst>
                </a:gridCol>
                <a:gridCol w="2398682">
                  <a:extLst>
                    <a:ext uri="{9D8B030D-6E8A-4147-A177-3AD203B41FA5}">
                      <a16:colId xmlns:a16="http://schemas.microsoft.com/office/drawing/2014/main" val="2779868177"/>
                    </a:ext>
                  </a:extLst>
                </a:gridCol>
                <a:gridCol w="2398682">
                  <a:extLst>
                    <a:ext uri="{9D8B030D-6E8A-4147-A177-3AD203B41FA5}">
                      <a16:colId xmlns:a16="http://schemas.microsoft.com/office/drawing/2014/main" val="2727681345"/>
                    </a:ext>
                  </a:extLst>
                </a:gridCol>
                <a:gridCol w="2073345">
                  <a:extLst>
                    <a:ext uri="{9D8B030D-6E8A-4147-A177-3AD203B41FA5}">
                      <a16:colId xmlns:a16="http://schemas.microsoft.com/office/drawing/2014/main" val="3898538417"/>
                    </a:ext>
                  </a:extLst>
                </a:gridCol>
                <a:gridCol w="2724020">
                  <a:extLst>
                    <a:ext uri="{9D8B030D-6E8A-4147-A177-3AD203B41FA5}">
                      <a16:colId xmlns:a16="http://schemas.microsoft.com/office/drawing/2014/main" val="3090142748"/>
                    </a:ext>
                  </a:extLst>
                </a:gridCol>
              </a:tblGrid>
              <a:tr h="1092460">
                <a:tc>
                  <a:txBody>
                    <a:bodyPr/>
                    <a:lstStyle/>
                    <a:p>
                      <a:pPr algn="ctr"/>
                      <a:r>
                        <a:rPr lang="fr-FR" sz="2200" dirty="0"/>
                        <a:t>Change in </a:t>
                      </a:r>
                      <a:r>
                        <a:rPr lang="fr-FR" sz="2200" dirty="0" err="1"/>
                        <a:t>Current</a:t>
                      </a:r>
                      <a:r>
                        <a:rPr lang="fr-FR" sz="2200" dirty="0"/>
                        <a:t> </a:t>
                      </a:r>
                      <a:r>
                        <a:rPr lang="fr-FR" sz="2200" dirty="0" err="1"/>
                        <a:t>assets</a:t>
                      </a:r>
                      <a:endParaRPr lang="fr-FR" sz="2200" dirty="0"/>
                    </a:p>
                  </a:txBody>
                  <a:tcPr marL="64262" marR="64262" marT="32131" marB="32131"/>
                </a:tc>
                <a:tc>
                  <a:txBody>
                    <a:bodyPr/>
                    <a:lstStyle/>
                    <a:p>
                      <a:pPr algn="ctr"/>
                      <a:r>
                        <a:rPr lang="fr-FR" sz="2200" dirty="0"/>
                        <a:t>Change in  Non-</a:t>
                      </a:r>
                      <a:r>
                        <a:rPr lang="fr-FR" sz="2200" dirty="0" err="1"/>
                        <a:t>current</a:t>
                      </a:r>
                      <a:r>
                        <a:rPr lang="fr-FR" sz="2200" dirty="0"/>
                        <a:t> </a:t>
                      </a:r>
                      <a:r>
                        <a:rPr lang="fr-FR" sz="2200" dirty="0" err="1"/>
                        <a:t>assets</a:t>
                      </a:r>
                      <a:endParaRPr lang="fr-FR" sz="2200" dirty="0"/>
                    </a:p>
                  </a:txBody>
                  <a:tcPr marL="64262" marR="64262" marT="32131" marB="32131"/>
                </a:tc>
                <a:tc>
                  <a:txBody>
                    <a:bodyPr/>
                    <a:lstStyle/>
                    <a:p>
                      <a:pPr algn="ctr"/>
                      <a:r>
                        <a:rPr lang="fr-FR" sz="2200" dirty="0"/>
                        <a:t>Change in </a:t>
                      </a:r>
                      <a:r>
                        <a:rPr lang="fr-FR" sz="2200" dirty="0" err="1"/>
                        <a:t>Current</a:t>
                      </a:r>
                      <a:r>
                        <a:rPr lang="fr-FR" sz="2200" dirty="0"/>
                        <a:t> </a:t>
                      </a:r>
                      <a:r>
                        <a:rPr lang="fr-FR" sz="2200" dirty="0" err="1"/>
                        <a:t>liabilities</a:t>
                      </a:r>
                      <a:endParaRPr lang="fr-FR" sz="2200" dirty="0"/>
                    </a:p>
                  </a:txBody>
                  <a:tcPr marL="64262" marR="64262" marT="32131" marB="32131"/>
                </a:tc>
                <a:tc>
                  <a:txBody>
                    <a:bodyPr/>
                    <a:lstStyle/>
                    <a:p>
                      <a:pPr algn="ctr"/>
                      <a:r>
                        <a:rPr lang="fr-FR" sz="2200" dirty="0"/>
                        <a:t>Change in Non-</a:t>
                      </a:r>
                      <a:r>
                        <a:rPr lang="fr-FR" sz="2200" dirty="0" err="1"/>
                        <a:t>current</a:t>
                      </a:r>
                      <a:r>
                        <a:rPr lang="fr-FR" sz="2200" dirty="0"/>
                        <a:t> </a:t>
                      </a:r>
                      <a:r>
                        <a:rPr lang="fr-FR" sz="2200" dirty="0" err="1"/>
                        <a:t>liabilities</a:t>
                      </a:r>
                      <a:endParaRPr lang="fr-FR" sz="2200" dirty="0"/>
                    </a:p>
                  </a:txBody>
                  <a:tcPr marL="64262" marR="64262" marT="32131" marB="32131"/>
                </a:tc>
                <a:tc>
                  <a:txBody>
                    <a:bodyPr/>
                    <a:lstStyle/>
                    <a:p>
                      <a:pPr algn="ctr"/>
                      <a:r>
                        <a:rPr lang="fr-FR" sz="2200" dirty="0"/>
                        <a:t>Change in </a:t>
                      </a:r>
                      <a:r>
                        <a:rPr lang="fr-FR" sz="2200" dirty="0" err="1"/>
                        <a:t>Equity</a:t>
                      </a:r>
                      <a:endParaRPr lang="fr-FR" sz="2200" dirty="0"/>
                    </a:p>
                  </a:txBody>
                  <a:tcPr marL="64262" marR="64262" marT="32131" marB="32131"/>
                </a:tc>
                <a:extLst>
                  <a:ext uri="{0D108BD9-81ED-4DB2-BD59-A6C34878D82A}">
                    <a16:rowId xmlns:a16="http://schemas.microsoft.com/office/drawing/2014/main" val="1917803698"/>
                  </a:ext>
                </a:extLst>
              </a:tr>
              <a:tr h="2113831">
                <a:tc>
                  <a:txBody>
                    <a:bodyPr/>
                    <a:lstStyle/>
                    <a:p>
                      <a:endParaRPr lang="fr-FR" sz="1300" dirty="0"/>
                    </a:p>
                  </a:txBody>
                  <a:tcPr marL="64262" marR="64262" marT="32131" marB="32131"/>
                </a:tc>
                <a:tc>
                  <a:txBody>
                    <a:bodyPr/>
                    <a:lstStyle/>
                    <a:p>
                      <a:endParaRPr lang="fr-FR" sz="1300"/>
                    </a:p>
                  </a:txBody>
                  <a:tcPr marL="64262" marR="64262" marT="32131" marB="32131"/>
                </a:tc>
                <a:tc>
                  <a:txBody>
                    <a:bodyPr/>
                    <a:lstStyle/>
                    <a:p>
                      <a:endParaRPr lang="fr-FR" sz="1300"/>
                    </a:p>
                  </a:txBody>
                  <a:tcPr marL="64262" marR="64262" marT="32131" marB="32131"/>
                </a:tc>
                <a:tc>
                  <a:txBody>
                    <a:bodyPr/>
                    <a:lstStyle/>
                    <a:p>
                      <a:endParaRPr lang="fr-FR" sz="1300" dirty="0"/>
                    </a:p>
                  </a:txBody>
                  <a:tcPr marL="64262" marR="64262" marT="32131" marB="32131"/>
                </a:tc>
                <a:tc>
                  <a:txBody>
                    <a:bodyPr/>
                    <a:lstStyle/>
                    <a:p>
                      <a:pPr marL="0" marR="0" lvl="0" indent="0" defTabSz="914400" eaLnBrk="1" fontAlgn="auto" latinLnBrk="0" hangingPunct="1">
                        <a:lnSpc>
                          <a:spcPct val="100000"/>
                        </a:lnSpc>
                        <a:spcBef>
                          <a:spcPts val="0"/>
                        </a:spcBef>
                        <a:spcAft>
                          <a:spcPts val="0"/>
                        </a:spcAft>
                        <a:buClrTx/>
                        <a:buSzTx/>
                        <a:buFontTx/>
                        <a:buNone/>
                        <a:tabLst/>
                        <a:defRPr/>
                      </a:pPr>
                      <a:endParaRPr lang="fr-FR" sz="2200" dirty="0"/>
                    </a:p>
                  </a:txBody>
                  <a:tcPr marL="64262" marR="64262" marT="32131" marB="32131"/>
                </a:tc>
                <a:extLst>
                  <a:ext uri="{0D108BD9-81ED-4DB2-BD59-A6C34878D82A}">
                    <a16:rowId xmlns:a16="http://schemas.microsoft.com/office/drawing/2014/main" val="3318378948"/>
                  </a:ext>
                </a:extLst>
              </a:tr>
            </a:tbl>
          </a:graphicData>
        </a:graphic>
      </p:graphicFrame>
    </p:spTree>
    <p:extLst>
      <p:ext uri="{BB962C8B-B14F-4D97-AF65-F5344CB8AC3E}">
        <p14:creationId xmlns:p14="http://schemas.microsoft.com/office/powerpoint/2010/main" val="22687516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87096-D4E9-8923-1B21-74C8CBAC83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8FCBD1-CC32-D0A5-6E3D-6F9BB6002184}"/>
              </a:ext>
            </a:extLst>
          </p:cNvPr>
          <p:cNvSpPr>
            <a:spLocks noGrp="1"/>
          </p:cNvSpPr>
          <p:nvPr>
            <p:ph type="title"/>
          </p:nvPr>
        </p:nvSpPr>
        <p:spPr>
          <a:xfrm>
            <a:off x="656844" y="487045"/>
            <a:ext cx="11271472" cy="540371"/>
          </a:xfrm>
        </p:spPr>
        <p:txBody>
          <a:bodyPr/>
          <a:lstStyle/>
          <a:p>
            <a:r>
              <a:rPr lang="en-US" dirty="0"/>
              <a:t>Impact on balance sheet (or statement of financial position)</a:t>
            </a:r>
          </a:p>
        </p:txBody>
      </p:sp>
      <p:sp>
        <p:nvSpPr>
          <p:cNvPr id="4" name="Slide Number Placeholder 3">
            <a:extLst>
              <a:ext uri="{FF2B5EF4-FFF2-40B4-BE49-F238E27FC236}">
                <a16:creationId xmlns:a16="http://schemas.microsoft.com/office/drawing/2014/main" id="{5398E03C-85E5-78C9-4D2F-376D93B0F8BC}"/>
              </a:ext>
            </a:extLst>
          </p:cNvPr>
          <p:cNvSpPr>
            <a:spLocks noGrp="1"/>
          </p:cNvSpPr>
          <p:nvPr>
            <p:ph type="sldNum" sz="quarter" idx="10"/>
          </p:nvPr>
        </p:nvSpPr>
        <p:spPr/>
        <p:txBody>
          <a:bodyPr/>
          <a:lstStyle/>
          <a:p>
            <a:fld id="{421B1A79-1F45-8F4F-AED5-0EE30DCF0380}" type="slidenum">
              <a:rPr lang="fr-FR" smtClean="0"/>
              <a:t>31</a:t>
            </a:fld>
            <a:endParaRPr lang="fr-FR"/>
          </a:p>
        </p:txBody>
      </p:sp>
      <p:graphicFrame>
        <p:nvGraphicFramePr>
          <p:cNvPr id="3" name="Content Placeholder 5">
            <a:extLst>
              <a:ext uri="{FF2B5EF4-FFF2-40B4-BE49-F238E27FC236}">
                <a16:creationId xmlns:a16="http://schemas.microsoft.com/office/drawing/2014/main" id="{3A581910-61B5-29B9-EBA3-FA70E63FF26D}"/>
              </a:ext>
            </a:extLst>
          </p:cNvPr>
          <p:cNvGraphicFramePr>
            <a:graphicFrameLocks/>
          </p:cNvGraphicFramePr>
          <p:nvPr>
            <p:extLst>
              <p:ext uri="{D42A27DB-BD31-4B8C-83A1-F6EECF244321}">
                <p14:modId xmlns:p14="http://schemas.microsoft.com/office/powerpoint/2010/main" val="2976440674"/>
              </p:ext>
            </p:extLst>
          </p:nvPr>
        </p:nvGraphicFramePr>
        <p:xfrm>
          <a:off x="402978" y="1332822"/>
          <a:ext cx="11779204" cy="4968686"/>
        </p:xfrm>
        <a:graphic>
          <a:graphicData uri="http://schemas.openxmlformats.org/drawingml/2006/table">
            <a:tbl>
              <a:tblPr firstRow="1" bandRow="1">
                <a:tableStyleId>{5C22544A-7EE6-4342-B048-85BDC9FD1C3A}</a:tableStyleId>
              </a:tblPr>
              <a:tblGrid>
                <a:gridCol w="2355841">
                  <a:extLst>
                    <a:ext uri="{9D8B030D-6E8A-4147-A177-3AD203B41FA5}">
                      <a16:colId xmlns:a16="http://schemas.microsoft.com/office/drawing/2014/main" val="186388427"/>
                    </a:ext>
                  </a:extLst>
                </a:gridCol>
                <a:gridCol w="2355841">
                  <a:extLst>
                    <a:ext uri="{9D8B030D-6E8A-4147-A177-3AD203B41FA5}">
                      <a16:colId xmlns:a16="http://schemas.microsoft.com/office/drawing/2014/main" val="2779868177"/>
                    </a:ext>
                  </a:extLst>
                </a:gridCol>
                <a:gridCol w="2355841">
                  <a:extLst>
                    <a:ext uri="{9D8B030D-6E8A-4147-A177-3AD203B41FA5}">
                      <a16:colId xmlns:a16="http://schemas.microsoft.com/office/drawing/2014/main" val="2727681345"/>
                    </a:ext>
                  </a:extLst>
                </a:gridCol>
                <a:gridCol w="1766323">
                  <a:extLst>
                    <a:ext uri="{9D8B030D-6E8A-4147-A177-3AD203B41FA5}">
                      <a16:colId xmlns:a16="http://schemas.microsoft.com/office/drawing/2014/main" val="3898538417"/>
                    </a:ext>
                  </a:extLst>
                </a:gridCol>
                <a:gridCol w="2945358">
                  <a:extLst>
                    <a:ext uri="{9D8B030D-6E8A-4147-A177-3AD203B41FA5}">
                      <a16:colId xmlns:a16="http://schemas.microsoft.com/office/drawing/2014/main" val="3090142748"/>
                    </a:ext>
                  </a:extLst>
                </a:gridCol>
              </a:tblGrid>
              <a:tr h="913902">
                <a:tc>
                  <a:txBody>
                    <a:bodyPr/>
                    <a:lstStyle/>
                    <a:p>
                      <a:pPr algn="ctr"/>
                      <a:r>
                        <a:rPr lang="fr-FR" sz="2200" dirty="0"/>
                        <a:t>Change in </a:t>
                      </a:r>
                      <a:r>
                        <a:rPr lang="fr-FR" sz="2200" dirty="0" err="1"/>
                        <a:t>Current</a:t>
                      </a:r>
                      <a:r>
                        <a:rPr lang="fr-FR" sz="2200" dirty="0"/>
                        <a:t> </a:t>
                      </a:r>
                      <a:r>
                        <a:rPr lang="fr-FR" sz="2200" dirty="0" err="1"/>
                        <a:t>assets</a:t>
                      </a:r>
                      <a:endParaRPr lang="fr-FR" sz="2200" dirty="0"/>
                    </a:p>
                  </a:txBody>
                  <a:tcPr marL="64262" marR="64262" marT="32131" marB="32131"/>
                </a:tc>
                <a:tc>
                  <a:txBody>
                    <a:bodyPr/>
                    <a:lstStyle/>
                    <a:p>
                      <a:pPr algn="ctr"/>
                      <a:r>
                        <a:rPr lang="fr-FR" sz="2200" dirty="0"/>
                        <a:t>Change in  Non-</a:t>
                      </a:r>
                      <a:r>
                        <a:rPr lang="fr-FR" sz="2200" dirty="0" err="1"/>
                        <a:t>current</a:t>
                      </a:r>
                      <a:r>
                        <a:rPr lang="fr-FR" sz="2200" dirty="0"/>
                        <a:t> </a:t>
                      </a:r>
                      <a:r>
                        <a:rPr lang="fr-FR" sz="2200" dirty="0" err="1"/>
                        <a:t>assets</a:t>
                      </a:r>
                      <a:endParaRPr lang="fr-FR" sz="2200" dirty="0"/>
                    </a:p>
                  </a:txBody>
                  <a:tcPr marL="64262" marR="64262" marT="32131" marB="32131"/>
                </a:tc>
                <a:tc>
                  <a:txBody>
                    <a:bodyPr/>
                    <a:lstStyle/>
                    <a:p>
                      <a:pPr algn="ctr"/>
                      <a:r>
                        <a:rPr lang="fr-FR" sz="2200" dirty="0"/>
                        <a:t>Change in </a:t>
                      </a:r>
                      <a:r>
                        <a:rPr lang="fr-FR" sz="2200" dirty="0" err="1"/>
                        <a:t>Current</a:t>
                      </a:r>
                      <a:r>
                        <a:rPr lang="fr-FR" sz="2200" dirty="0"/>
                        <a:t> </a:t>
                      </a:r>
                      <a:r>
                        <a:rPr lang="fr-FR" sz="2200" dirty="0" err="1"/>
                        <a:t>liabilities</a:t>
                      </a:r>
                      <a:endParaRPr lang="fr-FR" sz="2200" dirty="0"/>
                    </a:p>
                  </a:txBody>
                  <a:tcPr marL="64262" marR="64262" marT="32131" marB="32131"/>
                </a:tc>
                <a:tc>
                  <a:txBody>
                    <a:bodyPr/>
                    <a:lstStyle/>
                    <a:p>
                      <a:pPr algn="ctr"/>
                      <a:r>
                        <a:rPr lang="fr-FR" sz="2200" dirty="0"/>
                        <a:t>Change in Non-</a:t>
                      </a:r>
                      <a:r>
                        <a:rPr lang="fr-FR" sz="2200" dirty="0" err="1"/>
                        <a:t>current</a:t>
                      </a:r>
                      <a:r>
                        <a:rPr lang="fr-FR" sz="2200" dirty="0"/>
                        <a:t> </a:t>
                      </a:r>
                      <a:r>
                        <a:rPr lang="fr-FR" sz="2200" dirty="0" err="1"/>
                        <a:t>liabilities</a:t>
                      </a:r>
                      <a:endParaRPr lang="fr-FR" sz="2200" dirty="0"/>
                    </a:p>
                  </a:txBody>
                  <a:tcPr marL="64262" marR="64262" marT="32131" marB="32131"/>
                </a:tc>
                <a:tc>
                  <a:txBody>
                    <a:bodyPr/>
                    <a:lstStyle/>
                    <a:p>
                      <a:pPr algn="ctr"/>
                      <a:r>
                        <a:rPr lang="fr-FR" sz="2200" dirty="0"/>
                        <a:t>Change in </a:t>
                      </a:r>
                      <a:r>
                        <a:rPr lang="fr-FR" sz="2200" dirty="0" err="1"/>
                        <a:t>Equity</a:t>
                      </a:r>
                      <a:endParaRPr lang="fr-FR" sz="2200" dirty="0"/>
                    </a:p>
                  </a:txBody>
                  <a:tcPr marL="64262" marR="64262" marT="32131" marB="32131"/>
                </a:tc>
                <a:extLst>
                  <a:ext uri="{0D108BD9-81ED-4DB2-BD59-A6C34878D82A}">
                    <a16:rowId xmlns:a16="http://schemas.microsoft.com/office/drawing/2014/main" val="1917803698"/>
                  </a:ext>
                </a:extLst>
              </a:tr>
              <a:tr h="3148856">
                <a:tc>
                  <a:txBody>
                    <a:bodyPr/>
                    <a:lstStyle/>
                    <a:p>
                      <a:r>
                        <a:rPr lang="fr-FR" sz="2200" dirty="0">
                          <a:solidFill>
                            <a:schemeClr val="tx1"/>
                          </a:solidFill>
                        </a:rPr>
                        <a:t>Cash and cash </a:t>
                      </a:r>
                      <a:r>
                        <a:rPr lang="fr-FR" sz="2200" dirty="0" err="1">
                          <a:solidFill>
                            <a:schemeClr val="tx1"/>
                          </a:solidFill>
                        </a:rPr>
                        <a:t>equivalents</a:t>
                      </a:r>
                      <a:r>
                        <a:rPr lang="fr-FR" sz="2200" dirty="0">
                          <a:solidFill>
                            <a:schemeClr val="tx1"/>
                          </a:solidFill>
                        </a:rPr>
                        <a:t>:</a:t>
                      </a:r>
                    </a:p>
                    <a:p>
                      <a:r>
                        <a:rPr lang="fr-FR" sz="2200" dirty="0">
                          <a:solidFill>
                            <a:schemeClr val="tx1"/>
                          </a:solidFill>
                        </a:rPr>
                        <a:t>Cash </a:t>
                      </a:r>
                      <a:r>
                        <a:rPr lang="fr-FR" sz="2200" dirty="0" err="1">
                          <a:solidFill>
                            <a:schemeClr val="tx1"/>
                          </a:solidFill>
                        </a:rPr>
                        <a:t>outflow</a:t>
                      </a:r>
                      <a:r>
                        <a:rPr lang="fr-FR" sz="2200" dirty="0">
                          <a:solidFill>
                            <a:schemeClr val="tx1"/>
                          </a:solidFill>
                        </a:rPr>
                        <a:t> = 100,000 + 80,000 – 30,000 = €(150,000)</a:t>
                      </a:r>
                    </a:p>
                    <a:p>
                      <a:r>
                        <a:rPr lang="fr-FR" sz="2200" dirty="0" err="1">
                          <a:solidFill>
                            <a:schemeClr val="tx1"/>
                          </a:solidFill>
                        </a:rPr>
                        <a:t>Accounts</a:t>
                      </a:r>
                      <a:r>
                        <a:rPr lang="fr-FR" sz="2200" dirty="0">
                          <a:solidFill>
                            <a:schemeClr val="tx1"/>
                          </a:solidFill>
                        </a:rPr>
                        <a:t> </a:t>
                      </a:r>
                      <a:r>
                        <a:rPr lang="fr-FR" sz="2200" dirty="0" err="1">
                          <a:solidFill>
                            <a:schemeClr val="tx1"/>
                          </a:solidFill>
                        </a:rPr>
                        <a:t>receivable</a:t>
                      </a:r>
                      <a:r>
                        <a:rPr lang="fr-FR" sz="2200" dirty="0">
                          <a:solidFill>
                            <a:schemeClr val="tx1"/>
                          </a:solidFill>
                        </a:rPr>
                        <a:t> : +€220,000</a:t>
                      </a:r>
                    </a:p>
                  </a:txBody>
                  <a:tcPr marL="64262" marR="64262" marT="32131" marB="32131"/>
                </a:tc>
                <a:tc>
                  <a:txBody>
                    <a:bodyPr/>
                    <a:lstStyle/>
                    <a:p>
                      <a:r>
                        <a:rPr lang="fr-FR" sz="2200" dirty="0">
                          <a:solidFill>
                            <a:schemeClr val="tx1"/>
                          </a:solidFill>
                        </a:rPr>
                        <a:t>P,P&amp;E</a:t>
                      </a:r>
                      <a:r>
                        <a:rPr lang="fr-FR" sz="2200" baseline="0" dirty="0">
                          <a:solidFill>
                            <a:schemeClr val="tx1"/>
                          </a:solidFill>
                        </a:rPr>
                        <a:t> and intangible </a:t>
                      </a:r>
                      <a:r>
                        <a:rPr lang="fr-FR" sz="2200" baseline="0" dirty="0" err="1">
                          <a:solidFill>
                            <a:schemeClr val="tx1"/>
                          </a:solidFill>
                        </a:rPr>
                        <a:t>assets</a:t>
                      </a:r>
                      <a:r>
                        <a:rPr lang="fr-FR" sz="2200" baseline="0" dirty="0">
                          <a:solidFill>
                            <a:schemeClr val="tx1"/>
                          </a:solidFill>
                        </a:rPr>
                        <a:t>:</a:t>
                      </a:r>
                    </a:p>
                    <a:p>
                      <a:r>
                        <a:rPr lang="fr-FR" sz="2200" baseline="0" dirty="0">
                          <a:solidFill>
                            <a:schemeClr val="tx1"/>
                          </a:solidFill>
                        </a:rPr>
                        <a:t>D&amp;A </a:t>
                      </a:r>
                      <a:r>
                        <a:rPr lang="fr-FR" sz="2200" baseline="0" dirty="0" err="1">
                          <a:solidFill>
                            <a:schemeClr val="tx1"/>
                          </a:solidFill>
                        </a:rPr>
                        <a:t>expense</a:t>
                      </a:r>
                      <a:r>
                        <a:rPr lang="fr-FR" sz="2200" baseline="0" dirty="0">
                          <a:solidFill>
                            <a:schemeClr val="tx1"/>
                          </a:solidFill>
                        </a:rPr>
                        <a:t> = €(30,000)</a:t>
                      </a:r>
                      <a:endParaRPr lang="fr-FR" sz="2200" dirty="0">
                        <a:solidFill>
                          <a:schemeClr val="tx1"/>
                        </a:solidFill>
                      </a:endParaRPr>
                    </a:p>
                  </a:txBody>
                  <a:tcPr marL="64262" marR="64262" marT="32131" marB="32131"/>
                </a:tc>
                <a:tc>
                  <a:txBody>
                    <a:bodyPr/>
                    <a:lstStyle/>
                    <a:p>
                      <a:r>
                        <a:rPr lang="fr-FR" sz="2200" dirty="0">
                          <a:solidFill>
                            <a:schemeClr val="tx1"/>
                          </a:solidFill>
                        </a:rPr>
                        <a:t>Provision (</a:t>
                      </a:r>
                      <a:r>
                        <a:rPr lang="fr-FR" sz="2200" dirty="0" err="1">
                          <a:solidFill>
                            <a:schemeClr val="tx1"/>
                          </a:solidFill>
                        </a:rPr>
                        <a:t>warranty</a:t>
                      </a:r>
                      <a:r>
                        <a:rPr lang="fr-FR" sz="2200" dirty="0">
                          <a:solidFill>
                            <a:schemeClr val="tx1"/>
                          </a:solidFill>
                        </a:rPr>
                        <a:t>) = +€3,000</a:t>
                      </a:r>
                    </a:p>
                  </a:txBody>
                  <a:tcPr marL="64262" marR="64262" marT="32131" marB="32131"/>
                </a:tc>
                <a:tc>
                  <a:txBody>
                    <a:bodyPr/>
                    <a:lstStyle/>
                    <a:p>
                      <a:endParaRPr lang="fr-FR" sz="2200" dirty="0">
                        <a:solidFill>
                          <a:schemeClr val="tx1"/>
                        </a:solidFill>
                      </a:endParaRPr>
                    </a:p>
                  </a:txBody>
                  <a:tcPr marL="64262" marR="64262" marT="32131" marB="32131"/>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fr-FR" sz="2200" dirty="0">
                          <a:solidFill>
                            <a:schemeClr val="tx1"/>
                          </a:solidFill>
                        </a:rPr>
                        <a:t>Profit: €37,000</a:t>
                      </a:r>
                    </a:p>
                  </a:txBody>
                  <a:tcPr marL="64262" marR="64262" marT="32131" marB="32131"/>
                </a:tc>
                <a:extLst>
                  <a:ext uri="{0D108BD9-81ED-4DB2-BD59-A6C34878D82A}">
                    <a16:rowId xmlns:a16="http://schemas.microsoft.com/office/drawing/2014/main" val="3318378948"/>
                  </a:ext>
                </a:extLst>
              </a:tr>
              <a:tr h="749728">
                <a:tc gridSpan="2">
                  <a:txBody>
                    <a:bodyPr/>
                    <a:lstStyle/>
                    <a:p>
                      <a:pPr algn="ctr"/>
                      <a:r>
                        <a:rPr lang="fr-FR" sz="2200" dirty="0"/>
                        <a:t>Total assets: </a:t>
                      </a:r>
                    </a:p>
                    <a:p>
                      <a:pPr algn="ctr"/>
                      <a:r>
                        <a:rPr lang="fr-FR" sz="2200" dirty="0"/>
                        <a:t>+ €40,000</a:t>
                      </a:r>
                    </a:p>
                  </a:txBody>
                  <a:tcPr marL="64262" marR="64262" marT="32131" marB="32131"/>
                </a:tc>
                <a:tc hMerge="1">
                  <a:txBody>
                    <a:bodyPr/>
                    <a:lstStyle/>
                    <a:p>
                      <a:endParaRPr lang="fr-FR" sz="3200" dirty="0"/>
                    </a:p>
                  </a:txBody>
                  <a:tcPr/>
                </a:tc>
                <a:tc gridSpan="2">
                  <a:txBody>
                    <a:bodyPr/>
                    <a:lstStyle/>
                    <a:p>
                      <a:pPr algn="ctr"/>
                      <a:r>
                        <a:rPr lang="fr-FR" sz="2200" dirty="0"/>
                        <a:t>Total </a:t>
                      </a:r>
                      <a:r>
                        <a:rPr lang="fr-FR" sz="2200" dirty="0" err="1"/>
                        <a:t>liabilities</a:t>
                      </a:r>
                      <a:r>
                        <a:rPr lang="fr-FR" sz="2200" dirty="0"/>
                        <a:t>: </a:t>
                      </a:r>
                    </a:p>
                    <a:p>
                      <a:pPr algn="ctr"/>
                      <a:r>
                        <a:rPr lang="fr-FR" sz="2200" dirty="0"/>
                        <a:t>+ €3,000</a:t>
                      </a:r>
                    </a:p>
                  </a:txBody>
                  <a:tcPr marL="64262" marR="64262" marT="32131" marB="32131"/>
                </a:tc>
                <a:tc hMerge="1">
                  <a:txBody>
                    <a:bodyPr/>
                    <a:lstStyle/>
                    <a:p>
                      <a:endParaRPr lang="fr-FR" sz="3200" dirty="0"/>
                    </a:p>
                  </a:txBody>
                  <a:tcPr/>
                </a:tc>
                <a:tc>
                  <a:txBody>
                    <a:bodyPr/>
                    <a:lstStyle/>
                    <a:p>
                      <a:pPr algn="ctr"/>
                      <a:r>
                        <a:rPr lang="fr-FR" sz="2200" dirty="0"/>
                        <a:t>Total</a:t>
                      </a:r>
                      <a:r>
                        <a:rPr lang="fr-FR" sz="2200" baseline="0" dirty="0"/>
                        <a:t> </a:t>
                      </a:r>
                      <a:r>
                        <a:rPr lang="fr-FR" sz="2200" baseline="0" dirty="0" err="1"/>
                        <a:t>Equity</a:t>
                      </a:r>
                      <a:r>
                        <a:rPr lang="fr-FR" sz="2200" baseline="0" dirty="0"/>
                        <a:t>: </a:t>
                      </a:r>
                    </a:p>
                    <a:p>
                      <a:pPr algn="ctr"/>
                      <a:r>
                        <a:rPr lang="fr-FR" sz="2200" baseline="0" dirty="0"/>
                        <a:t>+ €37,000</a:t>
                      </a:r>
                      <a:endParaRPr lang="fr-FR" sz="2200" dirty="0"/>
                    </a:p>
                  </a:txBody>
                  <a:tcPr marL="64262" marR="64262" marT="32131" marB="32131"/>
                </a:tc>
                <a:extLst>
                  <a:ext uri="{0D108BD9-81ED-4DB2-BD59-A6C34878D82A}">
                    <a16:rowId xmlns:a16="http://schemas.microsoft.com/office/drawing/2014/main" val="2822443525"/>
                  </a:ext>
                </a:extLst>
              </a:tr>
            </a:tbl>
          </a:graphicData>
        </a:graphic>
      </p:graphicFrame>
    </p:spTree>
    <p:extLst>
      <p:ext uri="{BB962C8B-B14F-4D97-AF65-F5344CB8AC3E}">
        <p14:creationId xmlns:p14="http://schemas.microsoft.com/office/powerpoint/2010/main" val="9745027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FE794-287F-2981-981C-61CEC00F06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153EA0-91BC-9CCB-97B8-E0B19D843DFA}"/>
              </a:ext>
            </a:extLst>
          </p:cNvPr>
          <p:cNvSpPr>
            <a:spLocks noGrp="1"/>
          </p:cNvSpPr>
          <p:nvPr>
            <p:ph type="title"/>
          </p:nvPr>
        </p:nvSpPr>
        <p:spPr>
          <a:xfrm>
            <a:off x="656844" y="487045"/>
            <a:ext cx="11271472" cy="540371"/>
          </a:xfrm>
        </p:spPr>
        <p:txBody>
          <a:bodyPr/>
          <a:lstStyle/>
          <a:p>
            <a:r>
              <a:rPr lang="en-US" dirty="0"/>
              <a:t>Impact on balance sheet (or statement of financial position)</a:t>
            </a:r>
          </a:p>
        </p:txBody>
      </p:sp>
      <p:sp>
        <p:nvSpPr>
          <p:cNvPr id="4" name="Slide Number Placeholder 3">
            <a:extLst>
              <a:ext uri="{FF2B5EF4-FFF2-40B4-BE49-F238E27FC236}">
                <a16:creationId xmlns:a16="http://schemas.microsoft.com/office/drawing/2014/main" id="{F192961E-605F-CF1A-048F-D3C59BB43055}"/>
              </a:ext>
            </a:extLst>
          </p:cNvPr>
          <p:cNvSpPr>
            <a:spLocks noGrp="1"/>
          </p:cNvSpPr>
          <p:nvPr>
            <p:ph type="sldNum" sz="quarter" idx="10"/>
          </p:nvPr>
        </p:nvSpPr>
        <p:spPr/>
        <p:txBody>
          <a:bodyPr/>
          <a:lstStyle/>
          <a:p>
            <a:fld id="{421B1A79-1F45-8F4F-AED5-0EE30DCF0380}" type="slidenum">
              <a:rPr lang="fr-FR" smtClean="0"/>
              <a:t>32</a:t>
            </a:fld>
            <a:endParaRPr lang="fr-FR"/>
          </a:p>
        </p:txBody>
      </p:sp>
      <p:graphicFrame>
        <p:nvGraphicFramePr>
          <p:cNvPr id="5" name="Content Placeholder 5">
            <a:extLst>
              <a:ext uri="{FF2B5EF4-FFF2-40B4-BE49-F238E27FC236}">
                <a16:creationId xmlns:a16="http://schemas.microsoft.com/office/drawing/2014/main" id="{70F4DC37-6FEC-C601-C507-82E057EAFCEF}"/>
              </a:ext>
            </a:extLst>
          </p:cNvPr>
          <p:cNvGraphicFramePr>
            <a:graphicFrameLocks/>
          </p:cNvGraphicFramePr>
          <p:nvPr>
            <p:extLst>
              <p:ext uri="{D42A27DB-BD31-4B8C-83A1-F6EECF244321}">
                <p14:modId xmlns:p14="http://schemas.microsoft.com/office/powerpoint/2010/main" val="3170309148"/>
              </p:ext>
            </p:extLst>
          </p:nvPr>
        </p:nvGraphicFramePr>
        <p:xfrm>
          <a:off x="92430" y="917655"/>
          <a:ext cx="12007140" cy="5612541"/>
        </p:xfrm>
        <a:graphic>
          <a:graphicData uri="http://schemas.openxmlformats.org/drawingml/2006/table">
            <a:tbl>
              <a:tblPr firstRow="1" bandRow="1">
                <a:tableStyleId>{5C22544A-7EE6-4342-B048-85BDC9FD1C3A}</a:tableStyleId>
              </a:tblPr>
              <a:tblGrid>
                <a:gridCol w="2401428">
                  <a:extLst>
                    <a:ext uri="{9D8B030D-6E8A-4147-A177-3AD203B41FA5}">
                      <a16:colId xmlns:a16="http://schemas.microsoft.com/office/drawing/2014/main" val="186388427"/>
                    </a:ext>
                  </a:extLst>
                </a:gridCol>
                <a:gridCol w="2401428">
                  <a:extLst>
                    <a:ext uri="{9D8B030D-6E8A-4147-A177-3AD203B41FA5}">
                      <a16:colId xmlns:a16="http://schemas.microsoft.com/office/drawing/2014/main" val="2779868177"/>
                    </a:ext>
                  </a:extLst>
                </a:gridCol>
                <a:gridCol w="2401428">
                  <a:extLst>
                    <a:ext uri="{9D8B030D-6E8A-4147-A177-3AD203B41FA5}">
                      <a16:colId xmlns:a16="http://schemas.microsoft.com/office/drawing/2014/main" val="2727681345"/>
                    </a:ext>
                  </a:extLst>
                </a:gridCol>
                <a:gridCol w="1800503">
                  <a:extLst>
                    <a:ext uri="{9D8B030D-6E8A-4147-A177-3AD203B41FA5}">
                      <a16:colId xmlns:a16="http://schemas.microsoft.com/office/drawing/2014/main" val="3898538417"/>
                    </a:ext>
                  </a:extLst>
                </a:gridCol>
                <a:gridCol w="3002353">
                  <a:extLst>
                    <a:ext uri="{9D8B030D-6E8A-4147-A177-3AD203B41FA5}">
                      <a16:colId xmlns:a16="http://schemas.microsoft.com/office/drawing/2014/main" val="3090142748"/>
                    </a:ext>
                  </a:extLst>
                </a:gridCol>
              </a:tblGrid>
              <a:tr h="996557">
                <a:tc>
                  <a:txBody>
                    <a:bodyPr/>
                    <a:lstStyle/>
                    <a:p>
                      <a:pPr algn="ctr"/>
                      <a:r>
                        <a:rPr lang="fr-FR" sz="2200" dirty="0"/>
                        <a:t>Change in </a:t>
                      </a:r>
                      <a:r>
                        <a:rPr lang="fr-FR" sz="2200" dirty="0" err="1"/>
                        <a:t>Current</a:t>
                      </a:r>
                      <a:r>
                        <a:rPr lang="fr-FR" sz="2200" dirty="0"/>
                        <a:t> </a:t>
                      </a:r>
                      <a:r>
                        <a:rPr lang="fr-FR" sz="2200" dirty="0" err="1"/>
                        <a:t>assets</a:t>
                      </a:r>
                      <a:endParaRPr lang="fr-FR" sz="2200" dirty="0"/>
                    </a:p>
                  </a:txBody>
                  <a:tcPr marL="64262" marR="64262" marT="32131" marB="32131"/>
                </a:tc>
                <a:tc>
                  <a:txBody>
                    <a:bodyPr/>
                    <a:lstStyle/>
                    <a:p>
                      <a:pPr algn="ctr"/>
                      <a:r>
                        <a:rPr lang="fr-FR" sz="2200" dirty="0"/>
                        <a:t>Change in  Non-</a:t>
                      </a:r>
                      <a:r>
                        <a:rPr lang="fr-FR" sz="2200" dirty="0" err="1"/>
                        <a:t>current</a:t>
                      </a:r>
                      <a:r>
                        <a:rPr lang="fr-FR" sz="2200" dirty="0"/>
                        <a:t> </a:t>
                      </a:r>
                      <a:r>
                        <a:rPr lang="fr-FR" sz="2200" dirty="0" err="1"/>
                        <a:t>assets</a:t>
                      </a:r>
                      <a:endParaRPr lang="fr-FR" sz="2200" dirty="0"/>
                    </a:p>
                  </a:txBody>
                  <a:tcPr marL="64262" marR="64262" marT="32131" marB="32131"/>
                </a:tc>
                <a:tc>
                  <a:txBody>
                    <a:bodyPr/>
                    <a:lstStyle/>
                    <a:p>
                      <a:pPr algn="ctr"/>
                      <a:r>
                        <a:rPr lang="fr-FR" sz="2200" dirty="0"/>
                        <a:t>Change in </a:t>
                      </a:r>
                      <a:r>
                        <a:rPr lang="fr-FR" sz="2200" dirty="0" err="1"/>
                        <a:t>Current</a:t>
                      </a:r>
                      <a:r>
                        <a:rPr lang="fr-FR" sz="2200" dirty="0"/>
                        <a:t> </a:t>
                      </a:r>
                      <a:r>
                        <a:rPr lang="fr-FR" sz="2200" dirty="0" err="1"/>
                        <a:t>liabilities</a:t>
                      </a:r>
                      <a:endParaRPr lang="fr-FR" sz="2200" dirty="0"/>
                    </a:p>
                  </a:txBody>
                  <a:tcPr marL="64262" marR="64262" marT="32131" marB="32131"/>
                </a:tc>
                <a:tc>
                  <a:txBody>
                    <a:bodyPr/>
                    <a:lstStyle/>
                    <a:p>
                      <a:pPr algn="ctr"/>
                      <a:r>
                        <a:rPr lang="fr-FR" sz="2200" dirty="0"/>
                        <a:t>Change in Non-</a:t>
                      </a:r>
                      <a:r>
                        <a:rPr lang="fr-FR" sz="2200" dirty="0" err="1"/>
                        <a:t>current</a:t>
                      </a:r>
                      <a:r>
                        <a:rPr lang="fr-FR" sz="2200" dirty="0"/>
                        <a:t> </a:t>
                      </a:r>
                      <a:r>
                        <a:rPr lang="fr-FR" sz="2200" dirty="0" err="1"/>
                        <a:t>liabilities</a:t>
                      </a:r>
                      <a:endParaRPr lang="fr-FR" sz="2200" dirty="0"/>
                    </a:p>
                  </a:txBody>
                  <a:tcPr marL="64262" marR="64262" marT="32131" marB="32131"/>
                </a:tc>
                <a:tc>
                  <a:txBody>
                    <a:bodyPr/>
                    <a:lstStyle/>
                    <a:p>
                      <a:pPr algn="ctr"/>
                      <a:r>
                        <a:rPr lang="fr-FR" sz="2200" dirty="0"/>
                        <a:t>Change in </a:t>
                      </a:r>
                      <a:r>
                        <a:rPr lang="fr-FR" sz="2200" dirty="0" err="1"/>
                        <a:t>Equity</a:t>
                      </a:r>
                      <a:endParaRPr lang="fr-FR" sz="2200" dirty="0"/>
                    </a:p>
                  </a:txBody>
                  <a:tcPr marL="64262" marR="64262" marT="32131" marB="32131"/>
                </a:tc>
                <a:extLst>
                  <a:ext uri="{0D108BD9-81ED-4DB2-BD59-A6C34878D82A}">
                    <a16:rowId xmlns:a16="http://schemas.microsoft.com/office/drawing/2014/main" val="1917803698"/>
                  </a:ext>
                </a:extLst>
              </a:tr>
              <a:tr h="3889979">
                <a:tc>
                  <a:txBody>
                    <a:bodyPr/>
                    <a:lstStyle/>
                    <a:p>
                      <a:r>
                        <a:rPr lang="fr-FR" sz="2200" dirty="0"/>
                        <a:t>Cash and cash </a:t>
                      </a:r>
                      <a:r>
                        <a:rPr lang="fr-FR" sz="2200" dirty="0" err="1"/>
                        <a:t>equivalents</a:t>
                      </a:r>
                      <a:r>
                        <a:rPr lang="fr-FR" sz="2200" dirty="0"/>
                        <a:t>:</a:t>
                      </a:r>
                    </a:p>
                    <a:p>
                      <a:r>
                        <a:rPr lang="fr-FR" sz="2200" dirty="0"/>
                        <a:t>Cash </a:t>
                      </a:r>
                      <a:r>
                        <a:rPr lang="fr-FR" sz="2200" dirty="0" err="1"/>
                        <a:t>outflow</a:t>
                      </a:r>
                      <a:r>
                        <a:rPr lang="fr-FR" sz="2200" dirty="0"/>
                        <a:t> = </a:t>
                      </a:r>
                      <a:r>
                        <a:rPr lang="fr-FR" sz="2200" dirty="0">
                          <a:solidFill>
                            <a:schemeClr val="accent2">
                              <a:lumMod val="75000"/>
                            </a:schemeClr>
                          </a:solidFill>
                        </a:rPr>
                        <a:t>100,000</a:t>
                      </a:r>
                      <a:r>
                        <a:rPr lang="fr-FR" sz="2200" dirty="0"/>
                        <a:t> + </a:t>
                      </a:r>
                      <a:r>
                        <a:rPr lang="fr-FR" sz="2200" dirty="0">
                          <a:solidFill>
                            <a:srgbClr val="0070C0"/>
                          </a:solidFill>
                        </a:rPr>
                        <a:t>80,000</a:t>
                      </a:r>
                      <a:r>
                        <a:rPr lang="fr-FR" sz="2200" dirty="0"/>
                        <a:t> – 30,000 = €(150,000)</a:t>
                      </a:r>
                    </a:p>
                    <a:p>
                      <a:r>
                        <a:rPr lang="fr-FR" sz="2200" dirty="0" err="1">
                          <a:solidFill>
                            <a:srgbClr val="00B050"/>
                          </a:solidFill>
                        </a:rPr>
                        <a:t>Accounts</a:t>
                      </a:r>
                      <a:r>
                        <a:rPr lang="fr-FR" sz="2200" dirty="0">
                          <a:solidFill>
                            <a:srgbClr val="00B050"/>
                          </a:solidFill>
                        </a:rPr>
                        <a:t> </a:t>
                      </a:r>
                      <a:r>
                        <a:rPr lang="fr-FR" sz="2200" dirty="0" err="1">
                          <a:solidFill>
                            <a:srgbClr val="00B050"/>
                          </a:solidFill>
                        </a:rPr>
                        <a:t>receivable</a:t>
                      </a:r>
                      <a:r>
                        <a:rPr lang="fr-FR" sz="2200" dirty="0">
                          <a:solidFill>
                            <a:srgbClr val="00B050"/>
                          </a:solidFill>
                        </a:rPr>
                        <a:t> : +€220,000</a:t>
                      </a:r>
                    </a:p>
                  </a:txBody>
                  <a:tcPr marL="64262" marR="64262" marT="32131" marB="32131"/>
                </a:tc>
                <a:tc>
                  <a:txBody>
                    <a:bodyPr/>
                    <a:lstStyle/>
                    <a:p>
                      <a:r>
                        <a:rPr lang="fr-FR" sz="2200" dirty="0"/>
                        <a:t>P,P&amp;E</a:t>
                      </a:r>
                      <a:r>
                        <a:rPr lang="fr-FR" sz="2200" baseline="0" dirty="0"/>
                        <a:t> and intangible </a:t>
                      </a:r>
                      <a:r>
                        <a:rPr lang="fr-FR" sz="2200" baseline="0" dirty="0" err="1"/>
                        <a:t>assets</a:t>
                      </a:r>
                      <a:r>
                        <a:rPr lang="fr-FR" sz="2200" baseline="0" dirty="0"/>
                        <a:t>:</a:t>
                      </a:r>
                    </a:p>
                    <a:p>
                      <a:r>
                        <a:rPr lang="fr-FR" sz="2200" baseline="0" dirty="0"/>
                        <a:t>D&amp;A </a:t>
                      </a:r>
                      <a:r>
                        <a:rPr lang="fr-FR" sz="2200" baseline="0" dirty="0" err="1"/>
                        <a:t>expense</a:t>
                      </a:r>
                      <a:r>
                        <a:rPr lang="fr-FR" sz="2200" baseline="0" dirty="0"/>
                        <a:t> = €(30,000)</a:t>
                      </a:r>
                      <a:endParaRPr lang="fr-FR" sz="2200" dirty="0"/>
                    </a:p>
                  </a:txBody>
                  <a:tcPr marL="64262" marR="64262" marT="32131" marB="32131"/>
                </a:tc>
                <a:tc>
                  <a:txBody>
                    <a:bodyPr/>
                    <a:lstStyle/>
                    <a:p>
                      <a:r>
                        <a:rPr lang="fr-FR" sz="2200" dirty="0">
                          <a:solidFill>
                            <a:schemeClr val="bg2">
                              <a:lumMod val="50000"/>
                            </a:schemeClr>
                          </a:solidFill>
                        </a:rPr>
                        <a:t>Provision (</a:t>
                      </a:r>
                      <a:r>
                        <a:rPr lang="fr-FR" sz="2200" dirty="0" err="1">
                          <a:solidFill>
                            <a:schemeClr val="bg2">
                              <a:lumMod val="50000"/>
                            </a:schemeClr>
                          </a:solidFill>
                        </a:rPr>
                        <a:t>warranty</a:t>
                      </a:r>
                      <a:r>
                        <a:rPr lang="fr-FR" sz="2200" dirty="0">
                          <a:solidFill>
                            <a:schemeClr val="bg2">
                              <a:lumMod val="50000"/>
                            </a:schemeClr>
                          </a:solidFill>
                        </a:rPr>
                        <a:t>) = +€3,000</a:t>
                      </a:r>
                    </a:p>
                  </a:txBody>
                  <a:tcPr marL="64262" marR="64262" marT="32131" marB="32131"/>
                </a:tc>
                <a:tc>
                  <a:txBody>
                    <a:bodyPr/>
                    <a:lstStyle/>
                    <a:p>
                      <a:endParaRPr lang="fr-FR" sz="2200" dirty="0"/>
                    </a:p>
                  </a:txBody>
                  <a:tcPr marL="64262" marR="64262" marT="32131" marB="32131"/>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fr-FR" sz="2200" dirty="0"/>
                        <a:t>Profit: €37,000</a:t>
                      </a:r>
                    </a:p>
                    <a:p>
                      <a:pPr marL="0" marR="0" lvl="0" indent="0" defTabSz="914400" eaLnBrk="1" fontAlgn="auto" latinLnBrk="0" hangingPunct="1">
                        <a:lnSpc>
                          <a:spcPct val="100000"/>
                        </a:lnSpc>
                        <a:spcBef>
                          <a:spcPts val="0"/>
                        </a:spcBef>
                        <a:spcAft>
                          <a:spcPts val="0"/>
                        </a:spcAft>
                        <a:buClrTx/>
                        <a:buSzTx/>
                        <a:buFontTx/>
                        <a:buNone/>
                        <a:tabLst/>
                        <a:defRPr/>
                      </a:pPr>
                      <a:r>
                        <a:rPr lang="fr-FR" sz="2200" dirty="0"/>
                        <a:t>(= </a:t>
                      </a:r>
                      <a:r>
                        <a:rPr lang="fr-FR" sz="2200" dirty="0">
                          <a:solidFill>
                            <a:srgbClr val="00B050"/>
                          </a:solidFill>
                        </a:rPr>
                        <a:t>220,000 (revenue)</a:t>
                      </a:r>
                    </a:p>
                    <a:p>
                      <a:pPr marL="0" marR="0" lvl="0" indent="0" defTabSz="914400" eaLnBrk="1" fontAlgn="auto" latinLnBrk="0" hangingPunct="1">
                        <a:lnSpc>
                          <a:spcPct val="100000"/>
                        </a:lnSpc>
                        <a:spcBef>
                          <a:spcPts val="0"/>
                        </a:spcBef>
                        <a:spcAft>
                          <a:spcPts val="0"/>
                        </a:spcAft>
                        <a:buClrTx/>
                        <a:buSzTx/>
                        <a:buFontTx/>
                        <a:buNone/>
                        <a:tabLst/>
                        <a:defRPr/>
                      </a:pPr>
                      <a:r>
                        <a:rPr lang="fr-FR" sz="2200" dirty="0">
                          <a:solidFill>
                            <a:schemeClr val="accent2">
                              <a:lumMod val="75000"/>
                            </a:schemeClr>
                          </a:solidFill>
                        </a:rPr>
                        <a:t>- 100,000 (</a:t>
                      </a:r>
                      <a:r>
                        <a:rPr lang="fr-FR" sz="2200" dirty="0" err="1">
                          <a:solidFill>
                            <a:schemeClr val="accent2">
                              <a:lumMod val="75000"/>
                            </a:schemeClr>
                          </a:solidFill>
                        </a:rPr>
                        <a:t>cost</a:t>
                      </a:r>
                      <a:r>
                        <a:rPr lang="fr-FR" sz="2200" dirty="0">
                          <a:solidFill>
                            <a:schemeClr val="accent2">
                              <a:lumMod val="75000"/>
                            </a:schemeClr>
                          </a:solidFill>
                        </a:rPr>
                        <a:t> of sales </a:t>
                      </a:r>
                      <a:r>
                        <a:rPr lang="fr-FR" sz="2200" dirty="0" err="1">
                          <a:solidFill>
                            <a:schemeClr val="accent2">
                              <a:lumMod val="75000"/>
                            </a:schemeClr>
                          </a:solidFill>
                        </a:rPr>
                        <a:t>including</a:t>
                      </a:r>
                      <a:r>
                        <a:rPr lang="fr-FR" sz="2200" dirty="0">
                          <a:solidFill>
                            <a:schemeClr val="accent2">
                              <a:lumMod val="75000"/>
                            </a:schemeClr>
                          </a:solidFill>
                        </a:rPr>
                        <a:t> D&amp;A </a:t>
                      </a:r>
                      <a:r>
                        <a:rPr lang="fr-FR" sz="2200" dirty="0" err="1">
                          <a:solidFill>
                            <a:schemeClr val="accent2">
                              <a:lumMod val="75000"/>
                            </a:schemeClr>
                          </a:solidFill>
                        </a:rPr>
                        <a:t>expense</a:t>
                      </a:r>
                      <a:r>
                        <a:rPr lang="fr-FR" sz="2200" dirty="0">
                          <a:solidFill>
                            <a:schemeClr val="accent2">
                              <a:lumMod val="75000"/>
                            </a:schemeClr>
                          </a:solidFill>
                        </a:rPr>
                        <a:t>)</a:t>
                      </a:r>
                    </a:p>
                    <a:p>
                      <a:pPr marL="0" marR="0" lvl="0" indent="0" defTabSz="914400" eaLnBrk="1" fontAlgn="auto" latinLnBrk="0" hangingPunct="1">
                        <a:lnSpc>
                          <a:spcPct val="100000"/>
                        </a:lnSpc>
                        <a:spcBef>
                          <a:spcPts val="0"/>
                        </a:spcBef>
                        <a:spcAft>
                          <a:spcPts val="0"/>
                        </a:spcAft>
                        <a:buClrTx/>
                        <a:buSzTx/>
                        <a:buFontTx/>
                        <a:buNone/>
                        <a:tabLst/>
                        <a:defRPr/>
                      </a:pPr>
                      <a:r>
                        <a:rPr lang="fr-FR" sz="2200" dirty="0">
                          <a:solidFill>
                            <a:srgbClr val="0070C0"/>
                          </a:solidFill>
                        </a:rPr>
                        <a:t>- 80,000 (commercial and administrative </a:t>
                      </a:r>
                      <a:r>
                        <a:rPr lang="fr-FR" sz="2200" dirty="0" err="1">
                          <a:solidFill>
                            <a:srgbClr val="0070C0"/>
                          </a:solidFill>
                        </a:rPr>
                        <a:t>expense</a:t>
                      </a:r>
                      <a:r>
                        <a:rPr lang="fr-FR" sz="2200" dirty="0">
                          <a:solidFill>
                            <a:srgbClr val="0070C0"/>
                          </a:solidFill>
                        </a:rPr>
                        <a:t> </a:t>
                      </a:r>
                      <a:r>
                        <a:rPr lang="fr-FR" sz="2200" dirty="0" err="1">
                          <a:solidFill>
                            <a:srgbClr val="0070C0"/>
                          </a:solidFill>
                        </a:rPr>
                        <a:t>including</a:t>
                      </a:r>
                      <a:r>
                        <a:rPr lang="fr-FR" sz="2200" dirty="0">
                          <a:solidFill>
                            <a:srgbClr val="0070C0"/>
                          </a:solidFill>
                        </a:rPr>
                        <a:t> D&amp;A </a:t>
                      </a:r>
                      <a:r>
                        <a:rPr lang="fr-FR" sz="2200" dirty="0" err="1">
                          <a:solidFill>
                            <a:srgbClr val="0070C0"/>
                          </a:solidFill>
                        </a:rPr>
                        <a:t>expense</a:t>
                      </a:r>
                      <a:r>
                        <a:rPr lang="fr-FR" sz="2200" dirty="0">
                          <a:solidFill>
                            <a:srgbClr val="0070C0"/>
                          </a:solidFill>
                        </a:rPr>
                        <a:t> and </a:t>
                      </a:r>
                      <a:r>
                        <a:rPr lang="fr-FR" sz="2200" dirty="0" err="1">
                          <a:solidFill>
                            <a:srgbClr val="0070C0"/>
                          </a:solidFill>
                        </a:rPr>
                        <a:t>excluding</a:t>
                      </a:r>
                      <a:r>
                        <a:rPr lang="fr-FR" sz="2200" dirty="0">
                          <a:solidFill>
                            <a:srgbClr val="0070C0"/>
                          </a:solidFill>
                        </a:rPr>
                        <a:t> provision)</a:t>
                      </a:r>
                    </a:p>
                    <a:p>
                      <a:pPr marL="0" marR="0" lvl="0" indent="0" defTabSz="914400" eaLnBrk="1" fontAlgn="auto" latinLnBrk="0" hangingPunct="1">
                        <a:lnSpc>
                          <a:spcPct val="100000"/>
                        </a:lnSpc>
                        <a:spcBef>
                          <a:spcPts val="0"/>
                        </a:spcBef>
                        <a:spcAft>
                          <a:spcPts val="0"/>
                        </a:spcAft>
                        <a:buClrTx/>
                        <a:buSzTx/>
                        <a:buFontTx/>
                        <a:buNone/>
                        <a:tabLst/>
                        <a:defRPr/>
                      </a:pPr>
                      <a:r>
                        <a:rPr lang="fr-FR" sz="2200" dirty="0">
                          <a:solidFill>
                            <a:schemeClr val="bg2">
                              <a:lumMod val="50000"/>
                            </a:schemeClr>
                          </a:solidFill>
                        </a:rPr>
                        <a:t>- 3,000 (Provision </a:t>
                      </a:r>
                      <a:r>
                        <a:rPr lang="fr-FR" sz="2200" dirty="0" err="1">
                          <a:solidFill>
                            <a:schemeClr val="bg2">
                              <a:lumMod val="50000"/>
                            </a:schemeClr>
                          </a:solidFill>
                        </a:rPr>
                        <a:t>expense</a:t>
                      </a:r>
                      <a:r>
                        <a:rPr lang="fr-FR" sz="2200" dirty="0">
                          <a:solidFill>
                            <a:schemeClr val="bg2">
                              <a:lumMod val="50000"/>
                            </a:schemeClr>
                          </a:solidFill>
                        </a:rPr>
                        <a:t>)</a:t>
                      </a:r>
                    </a:p>
                  </a:txBody>
                  <a:tcPr marL="64262" marR="64262" marT="32131" marB="32131"/>
                </a:tc>
                <a:extLst>
                  <a:ext uri="{0D108BD9-81ED-4DB2-BD59-A6C34878D82A}">
                    <a16:rowId xmlns:a16="http://schemas.microsoft.com/office/drawing/2014/main" val="3318378948"/>
                  </a:ext>
                </a:extLst>
              </a:tr>
              <a:tr h="454817">
                <a:tc gridSpan="2">
                  <a:txBody>
                    <a:bodyPr/>
                    <a:lstStyle/>
                    <a:p>
                      <a:pPr algn="ctr"/>
                      <a:r>
                        <a:rPr lang="fr-FR" sz="2200" dirty="0"/>
                        <a:t>Total </a:t>
                      </a:r>
                      <a:r>
                        <a:rPr lang="fr-FR" sz="2200" dirty="0" err="1"/>
                        <a:t>assets</a:t>
                      </a:r>
                      <a:r>
                        <a:rPr lang="fr-FR" sz="2200" dirty="0"/>
                        <a:t>: + €40,000</a:t>
                      </a:r>
                    </a:p>
                  </a:txBody>
                  <a:tcPr marL="64262" marR="64262" marT="32131" marB="32131"/>
                </a:tc>
                <a:tc hMerge="1">
                  <a:txBody>
                    <a:bodyPr/>
                    <a:lstStyle/>
                    <a:p>
                      <a:endParaRPr lang="fr-FR" sz="3200" dirty="0"/>
                    </a:p>
                  </a:txBody>
                  <a:tcPr/>
                </a:tc>
                <a:tc gridSpan="2">
                  <a:txBody>
                    <a:bodyPr/>
                    <a:lstStyle/>
                    <a:p>
                      <a:pPr algn="ctr"/>
                      <a:r>
                        <a:rPr lang="fr-FR" sz="2200" dirty="0"/>
                        <a:t>Total </a:t>
                      </a:r>
                      <a:r>
                        <a:rPr lang="fr-FR" sz="2200" dirty="0" err="1"/>
                        <a:t>liabilities</a:t>
                      </a:r>
                      <a:r>
                        <a:rPr lang="fr-FR" sz="2200" dirty="0"/>
                        <a:t>: + €3,000</a:t>
                      </a:r>
                    </a:p>
                  </a:txBody>
                  <a:tcPr marL="64262" marR="64262" marT="32131" marB="32131"/>
                </a:tc>
                <a:tc hMerge="1">
                  <a:txBody>
                    <a:bodyPr/>
                    <a:lstStyle/>
                    <a:p>
                      <a:endParaRPr lang="fr-FR" sz="3200" dirty="0"/>
                    </a:p>
                  </a:txBody>
                  <a:tcPr/>
                </a:tc>
                <a:tc>
                  <a:txBody>
                    <a:bodyPr/>
                    <a:lstStyle/>
                    <a:p>
                      <a:pPr algn="ctr"/>
                      <a:r>
                        <a:rPr lang="fr-FR" sz="2200" dirty="0"/>
                        <a:t>Total</a:t>
                      </a:r>
                      <a:r>
                        <a:rPr lang="fr-FR" sz="2200" baseline="0" dirty="0"/>
                        <a:t> </a:t>
                      </a:r>
                      <a:r>
                        <a:rPr lang="fr-FR" sz="2200" baseline="0" dirty="0" err="1"/>
                        <a:t>Equity</a:t>
                      </a:r>
                      <a:r>
                        <a:rPr lang="fr-FR" sz="2200" baseline="0" dirty="0"/>
                        <a:t>: + €37,000</a:t>
                      </a:r>
                      <a:endParaRPr lang="fr-FR" sz="2200" dirty="0"/>
                    </a:p>
                  </a:txBody>
                  <a:tcPr marL="64262" marR="64262" marT="32131" marB="32131"/>
                </a:tc>
                <a:extLst>
                  <a:ext uri="{0D108BD9-81ED-4DB2-BD59-A6C34878D82A}">
                    <a16:rowId xmlns:a16="http://schemas.microsoft.com/office/drawing/2014/main" val="2822443525"/>
                  </a:ext>
                </a:extLst>
              </a:tr>
            </a:tbl>
          </a:graphicData>
        </a:graphic>
      </p:graphicFrame>
    </p:spTree>
    <p:extLst>
      <p:ext uri="{BB962C8B-B14F-4D97-AF65-F5344CB8AC3E}">
        <p14:creationId xmlns:p14="http://schemas.microsoft.com/office/powerpoint/2010/main" val="13911356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DF661-55CE-96B2-F5AD-D3D6C771024E}"/>
              </a:ext>
            </a:extLst>
          </p:cNvPr>
          <p:cNvSpPr>
            <a:spLocks noGrp="1"/>
          </p:cNvSpPr>
          <p:nvPr>
            <p:ph type="title"/>
          </p:nvPr>
        </p:nvSpPr>
        <p:spPr>
          <a:xfrm>
            <a:off x="656844" y="55532"/>
            <a:ext cx="10829544" cy="489000"/>
          </a:xfrm>
        </p:spPr>
        <p:txBody>
          <a:bodyPr/>
          <a:lstStyle/>
          <a:p>
            <a:r>
              <a:rPr lang="en-US" dirty="0"/>
              <a:t>Profit is not cash flow</a:t>
            </a:r>
          </a:p>
        </p:txBody>
      </p:sp>
      <p:sp>
        <p:nvSpPr>
          <p:cNvPr id="4" name="Slide Number Placeholder 3">
            <a:extLst>
              <a:ext uri="{FF2B5EF4-FFF2-40B4-BE49-F238E27FC236}">
                <a16:creationId xmlns:a16="http://schemas.microsoft.com/office/drawing/2014/main" id="{D9D3BA71-CC51-A081-92C9-3B7121408422}"/>
              </a:ext>
            </a:extLst>
          </p:cNvPr>
          <p:cNvSpPr>
            <a:spLocks noGrp="1"/>
          </p:cNvSpPr>
          <p:nvPr>
            <p:ph type="sldNum" sz="quarter" idx="10"/>
          </p:nvPr>
        </p:nvSpPr>
        <p:spPr/>
        <p:txBody>
          <a:bodyPr/>
          <a:lstStyle/>
          <a:p>
            <a:fld id="{421B1A79-1F45-8F4F-AED5-0EE30DCF0380}" type="slidenum">
              <a:rPr lang="fr-FR" smtClean="0"/>
              <a:t>33</a:t>
            </a:fld>
            <a:endParaRPr lang="fr-FR"/>
          </a:p>
        </p:txBody>
      </p:sp>
      <p:sp>
        <p:nvSpPr>
          <p:cNvPr id="5" name="Content Placeholder 6">
            <a:extLst>
              <a:ext uri="{FF2B5EF4-FFF2-40B4-BE49-F238E27FC236}">
                <a16:creationId xmlns:a16="http://schemas.microsoft.com/office/drawing/2014/main" id="{207CAC1F-2D77-67CA-CBDE-29BD6F346B84}"/>
              </a:ext>
            </a:extLst>
          </p:cNvPr>
          <p:cNvSpPr txBox="1">
            <a:spLocks/>
          </p:cNvSpPr>
          <p:nvPr/>
        </p:nvSpPr>
        <p:spPr>
          <a:xfrm>
            <a:off x="215757" y="532831"/>
            <a:ext cx="11878477" cy="34740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b="1" kern="1200">
                <a:solidFill>
                  <a:schemeClr val="tx1"/>
                </a:solidFill>
                <a:latin typeface="Arial Nova"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i="1" kern="1200">
                <a:solidFill>
                  <a:schemeClr val="tx1"/>
                </a:solidFill>
                <a:latin typeface="Arial Nova Cond" panose="020B0506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i="1" kern="1200">
                <a:solidFill>
                  <a:srgbClr val="22398E"/>
                </a:solidFill>
                <a:latin typeface="Arial Nova Cond" panose="020B0506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dirty="0"/>
              <a:t>	Profit			€37,000 </a:t>
            </a:r>
          </a:p>
          <a:p>
            <a:pPr marL="0" indent="0">
              <a:buFont typeface="Arial" panose="020B0604020202020204" pitchFamily="34" charset="0"/>
              <a:buNone/>
            </a:pPr>
            <a:r>
              <a:rPr lang="fr-FR" dirty="0"/>
              <a:t>				</a:t>
            </a:r>
            <a:r>
              <a:rPr lang="fr-FR" i="1" dirty="0"/>
              <a:t>= 220,000 – 100,000 – 80, 000 – 3,000</a:t>
            </a:r>
          </a:p>
          <a:p>
            <a:pPr marL="0" indent="0">
              <a:buFont typeface="Arial" panose="020B0604020202020204" pitchFamily="34" charset="0"/>
              <a:buNone/>
            </a:pPr>
            <a:r>
              <a:rPr lang="fr-FR" dirty="0"/>
              <a:t>	D&amp;A </a:t>
            </a:r>
            <a:r>
              <a:rPr lang="fr-FR" dirty="0" err="1"/>
              <a:t>expense</a:t>
            </a:r>
            <a:r>
              <a:rPr lang="fr-FR" dirty="0"/>
              <a:t>	€30,000 (</a:t>
            </a:r>
            <a:r>
              <a:rPr lang="fr-FR" dirty="0" err="1"/>
              <a:t>noncash</a:t>
            </a:r>
            <a:r>
              <a:rPr lang="fr-FR" dirty="0"/>
              <a:t> </a:t>
            </a:r>
            <a:r>
              <a:rPr lang="fr-FR" dirty="0" err="1"/>
              <a:t>expense</a:t>
            </a:r>
            <a:r>
              <a:rPr lang="fr-FR" dirty="0"/>
              <a:t>)</a:t>
            </a:r>
          </a:p>
          <a:p>
            <a:pPr marL="0" indent="0">
              <a:buFont typeface="Arial" panose="020B0604020202020204" pitchFamily="34" charset="0"/>
              <a:buNone/>
            </a:pPr>
            <a:r>
              <a:rPr lang="fr-FR" b="0" i="1" dirty="0" err="1"/>
              <a:t>Increase</a:t>
            </a:r>
            <a:r>
              <a:rPr lang="fr-FR" b="0" i="1" dirty="0"/>
              <a:t> in </a:t>
            </a:r>
            <a:r>
              <a:rPr lang="fr-FR" b="0" i="1" dirty="0" err="1"/>
              <a:t>working</a:t>
            </a:r>
            <a:r>
              <a:rPr lang="fr-FR" b="0" i="1" dirty="0"/>
              <a:t> capital </a:t>
            </a:r>
            <a:r>
              <a:rPr lang="fr-FR" b="0" i="1" dirty="0" err="1"/>
              <a:t>requirement</a:t>
            </a:r>
            <a:r>
              <a:rPr lang="fr-FR" b="0" i="1" dirty="0"/>
              <a:t> (or operating </a:t>
            </a:r>
            <a:r>
              <a:rPr lang="fr-FR" b="0" i="1" dirty="0" err="1"/>
              <a:t>working</a:t>
            </a:r>
            <a:r>
              <a:rPr lang="fr-FR" b="0" i="1" dirty="0"/>
              <a:t> capital)</a:t>
            </a:r>
            <a:r>
              <a:rPr lang="fr-FR" dirty="0"/>
              <a:t>:</a:t>
            </a:r>
          </a:p>
          <a:p>
            <a:pPr marL="0" indent="0">
              <a:buFont typeface="Arial" panose="020B0604020202020204" pitchFamily="34" charset="0"/>
              <a:buNone/>
            </a:pPr>
            <a:r>
              <a:rPr lang="fr-FR" dirty="0"/>
              <a:t>	</a:t>
            </a:r>
            <a:r>
              <a:rPr lang="fr-FR" dirty="0" err="1"/>
              <a:t>Increase</a:t>
            </a:r>
            <a:r>
              <a:rPr lang="fr-FR" dirty="0"/>
              <a:t> in </a:t>
            </a:r>
            <a:r>
              <a:rPr lang="fr-FR" dirty="0" err="1"/>
              <a:t>accounts</a:t>
            </a:r>
            <a:r>
              <a:rPr lang="fr-FR" dirty="0"/>
              <a:t> </a:t>
            </a:r>
            <a:r>
              <a:rPr lang="fr-FR" dirty="0" err="1"/>
              <a:t>receivable</a:t>
            </a:r>
            <a:r>
              <a:rPr lang="fr-FR" dirty="0"/>
              <a:t> (assets)	€(220,000)</a:t>
            </a:r>
          </a:p>
          <a:p>
            <a:pPr marL="0" indent="0">
              <a:buFont typeface="Arial" panose="020B0604020202020204" pitchFamily="34" charset="0"/>
              <a:buNone/>
            </a:pPr>
            <a:r>
              <a:rPr lang="fr-FR" dirty="0"/>
              <a:t>	</a:t>
            </a:r>
            <a:r>
              <a:rPr lang="fr-FR" dirty="0" err="1"/>
              <a:t>Increase</a:t>
            </a:r>
            <a:r>
              <a:rPr lang="fr-FR" dirty="0"/>
              <a:t> in provision (</a:t>
            </a:r>
            <a:r>
              <a:rPr lang="fr-FR" dirty="0" err="1"/>
              <a:t>liabilities</a:t>
            </a:r>
            <a:r>
              <a:rPr lang="fr-FR" dirty="0"/>
              <a:t>)	     	                  €3,000</a:t>
            </a:r>
          </a:p>
          <a:p>
            <a:pPr marL="0" indent="0">
              <a:buFont typeface="Arial" panose="020B0604020202020204" pitchFamily="34" charset="0"/>
              <a:buNone/>
            </a:pPr>
            <a:r>
              <a:rPr lang="fr-FR" dirty="0"/>
              <a:t>	Operating cash flow 				€(150,000)</a:t>
            </a:r>
          </a:p>
        </p:txBody>
      </p:sp>
      <p:graphicFrame>
        <p:nvGraphicFramePr>
          <p:cNvPr id="6" name="Content Placeholder 5">
            <a:extLst>
              <a:ext uri="{FF2B5EF4-FFF2-40B4-BE49-F238E27FC236}">
                <a16:creationId xmlns:a16="http://schemas.microsoft.com/office/drawing/2014/main" id="{BA865C6E-A7AA-9F1A-F10B-49B690207599}"/>
              </a:ext>
            </a:extLst>
          </p:cNvPr>
          <p:cNvGraphicFramePr>
            <a:graphicFrameLocks/>
          </p:cNvGraphicFramePr>
          <p:nvPr>
            <p:extLst>
              <p:ext uri="{D42A27DB-BD31-4B8C-83A1-F6EECF244321}">
                <p14:modId xmlns:p14="http://schemas.microsoft.com/office/powerpoint/2010/main" val="193760992"/>
              </p:ext>
            </p:extLst>
          </p:nvPr>
        </p:nvGraphicFramePr>
        <p:xfrm>
          <a:off x="0" y="3825285"/>
          <a:ext cx="12192000" cy="319076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186388427"/>
                    </a:ext>
                  </a:extLst>
                </a:gridCol>
                <a:gridCol w="2438400">
                  <a:extLst>
                    <a:ext uri="{9D8B030D-6E8A-4147-A177-3AD203B41FA5}">
                      <a16:colId xmlns:a16="http://schemas.microsoft.com/office/drawing/2014/main" val="2779868177"/>
                    </a:ext>
                  </a:extLst>
                </a:gridCol>
                <a:gridCol w="2438400">
                  <a:extLst>
                    <a:ext uri="{9D8B030D-6E8A-4147-A177-3AD203B41FA5}">
                      <a16:colId xmlns:a16="http://schemas.microsoft.com/office/drawing/2014/main" val="2727681345"/>
                    </a:ext>
                  </a:extLst>
                </a:gridCol>
                <a:gridCol w="1828223">
                  <a:extLst>
                    <a:ext uri="{9D8B030D-6E8A-4147-A177-3AD203B41FA5}">
                      <a16:colId xmlns:a16="http://schemas.microsoft.com/office/drawing/2014/main" val="3898538417"/>
                    </a:ext>
                  </a:extLst>
                </a:gridCol>
                <a:gridCol w="3048577">
                  <a:extLst>
                    <a:ext uri="{9D8B030D-6E8A-4147-A177-3AD203B41FA5}">
                      <a16:colId xmlns:a16="http://schemas.microsoft.com/office/drawing/2014/main" val="3090142748"/>
                    </a:ext>
                  </a:extLst>
                </a:gridCol>
              </a:tblGrid>
              <a:tr h="749728">
                <a:tc>
                  <a:txBody>
                    <a:bodyPr/>
                    <a:lstStyle/>
                    <a:p>
                      <a:r>
                        <a:rPr lang="fr-FR" sz="2200" dirty="0"/>
                        <a:t>Change in </a:t>
                      </a:r>
                      <a:r>
                        <a:rPr lang="fr-FR" sz="2200" dirty="0" err="1"/>
                        <a:t>Current</a:t>
                      </a:r>
                      <a:r>
                        <a:rPr lang="fr-FR" sz="2200" dirty="0"/>
                        <a:t> </a:t>
                      </a:r>
                      <a:r>
                        <a:rPr lang="fr-FR" sz="2200" dirty="0" err="1"/>
                        <a:t>assets</a:t>
                      </a:r>
                      <a:endParaRPr lang="fr-FR" sz="2200" dirty="0"/>
                    </a:p>
                  </a:txBody>
                  <a:tcPr marL="64262" marR="64262" marT="32131" marB="32131"/>
                </a:tc>
                <a:tc>
                  <a:txBody>
                    <a:bodyPr/>
                    <a:lstStyle/>
                    <a:p>
                      <a:r>
                        <a:rPr lang="fr-FR" sz="2200" dirty="0"/>
                        <a:t>Change in  Non-</a:t>
                      </a:r>
                      <a:r>
                        <a:rPr lang="fr-FR" sz="2200" dirty="0" err="1"/>
                        <a:t>current</a:t>
                      </a:r>
                      <a:r>
                        <a:rPr lang="fr-FR" sz="2200" dirty="0"/>
                        <a:t> </a:t>
                      </a:r>
                      <a:r>
                        <a:rPr lang="fr-FR" sz="2200" dirty="0" err="1"/>
                        <a:t>assets</a:t>
                      </a:r>
                      <a:endParaRPr lang="fr-FR" sz="2200" dirty="0"/>
                    </a:p>
                  </a:txBody>
                  <a:tcPr marL="64262" marR="64262" marT="32131" marB="32131"/>
                </a:tc>
                <a:tc>
                  <a:txBody>
                    <a:bodyPr/>
                    <a:lstStyle/>
                    <a:p>
                      <a:r>
                        <a:rPr lang="fr-FR" sz="2200" dirty="0"/>
                        <a:t>Change in </a:t>
                      </a:r>
                      <a:r>
                        <a:rPr lang="fr-FR" sz="2200" dirty="0" err="1"/>
                        <a:t>Current</a:t>
                      </a:r>
                      <a:r>
                        <a:rPr lang="fr-FR" sz="2200" dirty="0"/>
                        <a:t> </a:t>
                      </a:r>
                      <a:r>
                        <a:rPr lang="fr-FR" sz="2200" dirty="0" err="1"/>
                        <a:t>liabilities</a:t>
                      </a:r>
                      <a:endParaRPr lang="fr-FR" sz="2200" dirty="0"/>
                    </a:p>
                  </a:txBody>
                  <a:tcPr marL="64262" marR="64262" marT="32131" marB="32131"/>
                </a:tc>
                <a:tc>
                  <a:txBody>
                    <a:bodyPr/>
                    <a:lstStyle/>
                    <a:p>
                      <a:r>
                        <a:rPr lang="fr-FR" sz="2200" dirty="0"/>
                        <a:t>Change in Non-</a:t>
                      </a:r>
                      <a:r>
                        <a:rPr lang="fr-FR" sz="2200" dirty="0" err="1"/>
                        <a:t>current</a:t>
                      </a:r>
                      <a:r>
                        <a:rPr lang="fr-FR" sz="2200" dirty="0"/>
                        <a:t> </a:t>
                      </a:r>
                      <a:r>
                        <a:rPr lang="fr-FR" sz="2200" dirty="0" err="1"/>
                        <a:t>liabilities</a:t>
                      </a:r>
                      <a:endParaRPr lang="fr-FR" sz="2200" dirty="0"/>
                    </a:p>
                  </a:txBody>
                  <a:tcPr marL="64262" marR="64262" marT="32131" marB="32131"/>
                </a:tc>
                <a:tc>
                  <a:txBody>
                    <a:bodyPr/>
                    <a:lstStyle/>
                    <a:p>
                      <a:r>
                        <a:rPr lang="fr-FR" sz="2200" dirty="0"/>
                        <a:t>Change in </a:t>
                      </a:r>
                      <a:r>
                        <a:rPr lang="fr-FR" sz="2200" dirty="0" err="1"/>
                        <a:t>Equity</a:t>
                      </a:r>
                      <a:endParaRPr lang="fr-FR" sz="2200" dirty="0"/>
                    </a:p>
                  </a:txBody>
                  <a:tcPr marL="64262" marR="64262" marT="32131" marB="32131"/>
                </a:tc>
                <a:extLst>
                  <a:ext uri="{0D108BD9-81ED-4DB2-BD59-A6C34878D82A}">
                    <a16:rowId xmlns:a16="http://schemas.microsoft.com/office/drawing/2014/main" val="1917803698"/>
                  </a:ext>
                </a:extLst>
              </a:tr>
              <a:tr h="2120658">
                <a:tc>
                  <a:txBody>
                    <a:bodyPr/>
                    <a:lstStyle/>
                    <a:p>
                      <a:r>
                        <a:rPr lang="fr-FR" sz="2200" dirty="0"/>
                        <a:t>Cash flow = €(150,000)</a:t>
                      </a:r>
                    </a:p>
                    <a:p>
                      <a:r>
                        <a:rPr lang="fr-FR" sz="2200" dirty="0" err="1"/>
                        <a:t>Increase</a:t>
                      </a:r>
                      <a:r>
                        <a:rPr lang="fr-FR" sz="2200" dirty="0"/>
                        <a:t> in </a:t>
                      </a:r>
                      <a:r>
                        <a:rPr lang="fr-FR" sz="2200" dirty="0" err="1"/>
                        <a:t>Accounts</a:t>
                      </a:r>
                      <a:r>
                        <a:rPr lang="fr-FR" sz="2200" dirty="0"/>
                        <a:t> </a:t>
                      </a:r>
                      <a:r>
                        <a:rPr lang="fr-FR" sz="2200" dirty="0" err="1"/>
                        <a:t>receivable</a:t>
                      </a:r>
                      <a:r>
                        <a:rPr lang="fr-FR" sz="2200" dirty="0"/>
                        <a:t> : €220,000</a:t>
                      </a:r>
                    </a:p>
                  </a:txBody>
                  <a:tcPr marL="64262" marR="64262" marT="32131" marB="32131"/>
                </a:tc>
                <a:tc>
                  <a:txBody>
                    <a:bodyPr/>
                    <a:lstStyle/>
                    <a:p>
                      <a:r>
                        <a:rPr lang="fr-FR" sz="2200" dirty="0" err="1"/>
                        <a:t>Decrease</a:t>
                      </a:r>
                      <a:r>
                        <a:rPr lang="fr-FR" sz="2200" dirty="0"/>
                        <a:t> in P,P&amp;E</a:t>
                      </a:r>
                      <a:r>
                        <a:rPr lang="fr-FR" sz="2200" baseline="0" dirty="0"/>
                        <a:t> and intangible </a:t>
                      </a:r>
                      <a:r>
                        <a:rPr lang="fr-FR" sz="2200" baseline="0" dirty="0" err="1"/>
                        <a:t>assets</a:t>
                      </a:r>
                      <a:r>
                        <a:rPr lang="fr-FR" sz="2200" baseline="0" dirty="0"/>
                        <a:t>: €(30,000)</a:t>
                      </a:r>
                      <a:endParaRPr lang="fr-FR" sz="2200" dirty="0"/>
                    </a:p>
                  </a:txBody>
                  <a:tcPr marL="64262" marR="64262" marT="32131" marB="32131"/>
                </a:tc>
                <a:tc>
                  <a:txBody>
                    <a:bodyPr/>
                    <a:lstStyle/>
                    <a:p>
                      <a:r>
                        <a:rPr lang="fr-FR" sz="2200" dirty="0" err="1"/>
                        <a:t>Increase</a:t>
                      </a:r>
                      <a:r>
                        <a:rPr lang="fr-FR" sz="2200" dirty="0"/>
                        <a:t> in Provision (</a:t>
                      </a:r>
                      <a:r>
                        <a:rPr lang="fr-FR" sz="2200" dirty="0" err="1"/>
                        <a:t>warranty</a:t>
                      </a:r>
                      <a:r>
                        <a:rPr lang="fr-FR" sz="2200" dirty="0"/>
                        <a:t>) = 3,000</a:t>
                      </a:r>
                    </a:p>
                  </a:txBody>
                  <a:tcPr marL="64262" marR="64262" marT="32131" marB="32131"/>
                </a:tc>
                <a:tc>
                  <a:txBody>
                    <a:bodyPr/>
                    <a:lstStyle/>
                    <a:p>
                      <a:endParaRPr lang="fr-FR" sz="2200" dirty="0"/>
                    </a:p>
                  </a:txBody>
                  <a:tcPr marL="64262" marR="64262" marT="32131" marB="32131"/>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fr-FR" sz="2200" dirty="0"/>
                        <a:t>Profit: €37,000</a:t>
                      </a:r>
                    </a:p>
                  </a:txBody>
                  <a:tcPr marL="64262" marR="64262" marT="32131" marB="32131"/>
                </a:tc>
                <a:extLst>
                  <a:ext uri="{0D108BD9-81ED-4DB2-BD59-A6C34878D82A}">
                    <a16:rowId xmlns:a16="http://schemas.microsoft.com/office/drawing/2014/main" val="3318378948"/>
                  </a:ext>
                </a:extLst>
              </a:tr>
            </a:tbl>
          </a:graphicData>
        </a:graphic>
      </p:graphicFrame>
    </p:spTree>
    <p:extLst>
      <p:ext uri="{BB962C8B-B14F-4D97-AF65-F5344CB8AC3E}">
        <p14:creationId xmlns:p14="http://schemas.microsoft.com/office/powerpoint/2010/main" val="32034983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D4670-9A8E-5D86-091F-4D23D98013EA}"/>
              </a:ext>
            </a:extLst>
          </p:cNvPr>
          <p:cNvSpPr>
            <a:spLocks noGrp="1"/>
          </p:cNvSpPr>
          <p:nvPr>
            <p:ph type="title"/>
          </p:nvPr>
        </p:nvSpPr>
        <p:spPr/>
        <p:txBody>
          <a:bodyPr/>
          <a:lstStyle/>
          <a:p>
            <a:r>
              <a:rPr lang="en-US" dirty="0"/>
              <a:t>Statement of cash flows and change in balance sheet</a:t>
            </a:r>
          </a:p>
        </p:txBody>
      </p:sp>
      <p:sp>
        <p:nvSpPr>
          <p:cNvPr id="4" name="Slide Number Placeholder 3">
            <a:extLst>
              <a:ext uri="{FF2B5EF4-FFF2-40B4-BE49-F238E27FC236}">
                <a16:creationId xmlns:a16="http://schemas.microsoft.com/office/drawing/2014/main" id="{486B919F-269A-0E18-DFDC-227A5956CB41}"/>
              </a:ext>
            </a:extLst>
          </p:cNvPr>
          <p:cNvSpPr>
            <a:spLocks noGrp="1"/>
          </p:cNvSpPr>
          <p:nvPr>
            <p:ph type="sldNum" sz="quarter" idx="10"/>
          </p:nvPr>
        </p:nvSpPr>
        <p:spPr/>
        <p:txBody>
          <a:bodyPr/>
          <a:lstStyle/>
          <a:p>
            <a:fld id="{421B1A79-1F45-8F4F-AED5-0EE30DCF0380}" type="slidenum">
              <a:rPr lang="fr-FR" smtClean="0"/>
              <a:t>34</a:t>
            </a:fld>
            <a:endParaRPr lang="fr-FR"/>
          </a:p>
        </p:txBody>
      </p:sp>
      <p:sp>
        <p:nvSpPr>
          <p:cNvPr id="5" name="Slide Number Placeholder 4">
            <a:extLst>
              <a:ext uri="{FF2B5EF4-FFF2-40B4-BE49-F238E27FC236}">
                <a16:creationId xmlns:a16="http://schemas.microsoft.com/office/drawing/2014/main" id="{630DD40A-4A1F-BEC8-00A1-D649B5F66EF5}"/>
              </a:ext>
            </a:extLst>
          </p:cNvPr>
          <p:cNvSpPr txBox="1">
            <a:spLocks/>
          </p:cNvSpPr>
          <p:nvPr/>
        </p:nvSpPr>
        <p:spPr>
          <a:xfrm>
            <a:off x="5746228" y="5637136"/>
            <a:ext cx="718774"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07C7597-8D70-4701-8085-9524B0B5C72B}" type="slidenum">
              <a:rPr lang="fr-FR" smtClean="0"/>
              <a:pPr/>
              <a:t>34</a:t>
            </a:fld>
            <a:endParaRPr lang="fr-FR" dirty="0"/>
          </a:p>
        </p:txBody>
      </p:sp>
      <p:sp>
        <p:nvSpPr>
          <p:cNvPr id="6" name="TextBox 5">
            <a:extLst>
              <a:ext uri="{FF2B5EF4-FFF2-40B4-BE49-F238E27FC236}">
                <a16:creationId xmlns:a16="http://schemas.microsoft.com/office/drawing/2014/main" id="{F340F9A3-6639-6D6C-6A19-93246A58206A}"/>
              </a:ext>
            </a:extLst>
          </p:cNvPr>
          <p:cNvSpPr txBox="1"/>
          <p:nvPr/>
        </p:nvSpPr>
        <p:spPr>
          <a:xfrm>
            <a:off x="1393774" y="1251433"/>
            <a:ext cx="8924634" cy="584455"/>
          </a:xfrm>
          <a:prstGeom prst="rect">
            <a:avLst/>
          </a:prstGeom>
          <a:solidFill>
            <a:schemeClr val="bg1">
              <a:lumMod val="95000"/>
            </a:schemeClr>
          </a:solidFill>
        </p:spPr>
        <p:txBody>
          <a:bodyPr wrap="square" rtlCol="0">
            <a:spAutoFit/>
          </a:bodyPr>
          <a:lstStyle/>
          <a:p>
            <a:pPr algn="ctr"/>
            <a:r>
              <a:rPr lang="en-US" sz="3198" dirty="0"/>
              <a:t>Balance sheet (BS) represented as an equation</a:t>
            </a:r>
          </a:p>
        </p:txBody>
      </p:sp>
      <p:sp>
        <p:nvSpPr>
          <p:cNvPr id="7" name="TextBox 6">
            <a:extLst>
              <a:ext uri="{FF2B5EF4-FFF2-40B4-BE49-F238E27FC236}">
                <a16:creationId xmlns:a16="http://schemas.microsoft.com/office/drawing/2014/main" id="{8592651B-5985-8D35-67D1-D43BCEDC69CA}"/>
              </a:ext>
            </a:extLst>
          </p:cNvPr>
          <p:cNvSpPr txBox="1"/>
          <p:nvPr/>
        </p:nvSpPr>
        <p:spPr>
          <a:xfrm>
            <a:off x="770562" y="4658230"/>
            <a:ext cx="11055499" cy="830740"/>
          </a:xfrm>
          <a:prstGeom prst="rect">
            <a:avLst/>
          </a:prstGeom>
          <a:solidFill>
            <a:schemeClr val="bg1">
              <a:lumMod val="95000"/>
            </a:schemeClr>
          </a:solidFill>
        </p:spPr>
        <p:txBody>
          <a:bodyPr wrap="square" rtlCol="0">
            <a:spAutoFit/>
          </a:bodyPr>
          <a:lstStyle/>
          <a:p>
            <a:r>
              <a:rPr lang="en-US" sz="2399" dirty="0"/>
              <a:t>Net profit and change in cash can be reconciled and the statement of cash flows can be done with the change in balance sheet.</a:t>
            </a:r>
          </a:p>
        </p:txBody>
      </p:sp>
      <p:grpSp>
        <p:nvGrpSpPr>
          <p:cNvPr id="8" name="Group 7">
            <a:extLst>
              <a:ext uri="{FF2B5EF4-FFF2-40B4-BE49-F238E27FC236}">
                <a16:creationId xmlns:a16="http://schemas.microsoft.com/office/drawing/2014/main" id="{44E7C91F-017A-3C5B-3E7F-CBD2C14ED163}"/>
              </a:ext>
            </a:extLst>
          </p:cNvPr>
          <p:cNvGrpSpPr/>
          <p:nvPr/>
        </p:nvGrpSpPr>
        <p:grpSpPr>
          <a:xfrm>
            <a:off x="322475" y="1923178"/>
            <a:ext cx="11933551" cy="2665986"/>
            <a:chOff x="173236" y="1966069"/>
            <a:chExt cx="8366452" cy="2000466"/>
          </a:xfrm>
        </p:grpSpPr>
        <p:sp>
          <p:nvSpPr>
            <p:cNvPr id="9" name="TextBox 8">
              <a:extLst>
                <a:ext uri="{FF2B5EF4-FFF2-40B4-BE49-F238E27FC236}">
                  <a16:creationId xmlns:a16="http://schemas.microsoft.com/office/drawing/2014/main" id="{8F5342B6-3124-2C0F-50CC-CF6E2BB5D8E7}"/>
                </a:ext>
              </a:extLst>
            </p:cNvPr>
            <p:cNvSpPr txBox="1"/>
            <p:nvPr/>
          </p:nvSpPr>
          <p:spPr>
            <a:xfrm>
              <a:off x="173236" y="1966069"/>
              <a:ext cx="2179643" cy="807827"/>
            </a:xfrm>
            <a:prstGeom prst="rect">
              <a:avLst/>
            </a:prstGeom>
            <a:noFill/>
          </p:spPr>
          <p:txBody>
            <a:bodyPr wrap="square" rtlCol="0">
              <a:spAutoFit/>
            </a:bodyPr>
            <a:lstStyle/>
            <a:p>
              <a:pPr algn="ctr"/>
              <a:r>
                <a:rPr lang="en-US" sz="3198" dirty="0"/>
                <a:t>Change in Assets (A)</a:t>
              </a:r>
            </a:p>
          </p:txBody>
        </p:sp>
        <p:sp>
          <p:nvSpPr>
            <p:cNvPr id="10" name="TextBox 9">
              <a:extLst>
                <a:ext uri="{FF2B5EF4-FFF2-40B4-BE49-F238E27FC236}">
                  <a16:creationId xmlns:a16="http://schemas.microsoft.com/office/drawing/2014/main" id="{556750F0-B71F-C952-527B-A67292DB2E26}"/>
                </a:ext>
              </a:extLst>
            </p:cNvPr>
            <p:cNvSpPr txBox="1"/>
            <p:nvPr/>
          </p:nvSpPr>
          <p:spPr>
            <a:xfrm>
              <a:off x="2051720" y="1966069"/>
              <a:ext cx="1296144" cy="438555"/>
            </a:xfrm>
            <a:prstGeom prst="rect">
              <a:avLst/>
            </a:prstGeom>
            <a:noFill/>
          </p:spPr>
          <p:txBody>
            <a:bodyPr wrap="square" rtlCol="0">
              <a:spAutoFit/>
            </a:bodyPr>
            <a:lstStyle/>
            <a:p>
              <a:pPr algn="ctr"/>
              <a:r>
                <a:rPr lang="en-US" sz="3198" dirty="0"/>
                <a:t>=</a:t>
              </a:r>
            </a:p>
          </p:txBody>
        </p:sp>
        <p:sp>
          <p:nvSpPr>
            <p:cNvPr id="11" name="TextBox 10">
              <a:extLst>
                <a:ext uri="{FF2B5EF4-FFF2-40B4-BE49-F238E27FC236}">
                  <a16:creationId xmlns:a16="http://schemas.microsoft.com/office/drawing/2014/main" id="{F0630305-4FB1-6284-6A9A-5CEC3C6E085B}"/>
                </a:ext>
              </a:extLst>
            </p:cNvPr>
            <p:cNvSpPr txBox="1"/>
            <p:nvPr/>
          </p:nvSpPr>
          <p:spPr>
            <a:xfrm>
              <a:off x="6308254" y="1966069"/>
              <a:ext cx="2186546" cy="807827"/>
            </a:xfrm>
            <a:prstGeom prst="rect">
              <a:avLst/>
            </a:prstGeom>
            <a:noFill/>
          </p:spPr>
          <p:txBody>
            <a:bodyPr wrap="square" rtlCol="0">
              <a:spAutoFit/>
            </a:bodyPr>
            <a:lstStyle/>
            <a:p>
              <a:pPr algn="ctr"/>
              <a:r>
                <a:rPr lang="en-US" sz="3198" dirty="0"/>
                <a:t>Change in Equity (E)</a:t>
              </a:r>
            </a:p>
          </p:txBody>
        </p:sp>
        <p:sp>
          <p:nvSpPr>
            <p:cNvPr id="12" name="TextBox 11">
              <a:extLst>
                <a:ext uri="{FF2B5EF4-FFF2-40B4-BE49-F238E27FC236}">
                  <a16:creationId xmlns:a16="http://schemas.microsoft.com/office/drawing/2014/main" id="{9505E2EC-2198-0E43-1045-7A36505F999A}"/>
                </a:ext>
              </a:extLst>
            </p:cNvPr>
            <p:cNvSpPr txBox="1"/>
            <p:nvPr/>
          </p:nvSpPr>
          <p:spPr>
            <a:xfrm>
              <a:off x="3207274" y="1966069"/>
              <a:ext cx="2377977" cy="807827"/>
            </a:xfrm>
            <a:prstGeom prst="rect">
              <a:avLst/>
            </a:prstGeom>
            <a:noFill/>
          </p:spPr>
          <p:txBody>
            <a:bodyPr wrap="square" rtlCol="0">
              <a:spAutoFit/>
            </a:bodyPr>
            <a:lstStyle/>
            <a:p>
              <a:pPr algn="ctr"/>
              <a:r>
                <a:rPr lang="en-US" sz="3198" dirty="0"/>
                <a:t>Change in Liabilities (L)</a:t>
              </a:r>
            </a:p>
          </p:txBody>
        </p:sp>
        <p:sp>
          <p:nvSpPr>
            <p:cNvPr id="13" name="TextBox 12">
              <a:extLst>
                <a:ext uri="{FF2B5EF4-FFF2-40B4-BE49-F238E27FC236}">
                  <a16:creationId xmlns:a16="http://schemas.microsoft.com/office/drawing/2014/main" id="{C9C5BB34-9EB7-3B1E-A250-E2834E02EBD3}"/>
                </a:ext>
              </a:extLst>
            </p:cNvPr>
            <p:cNvSpPr txBox="1"/>
            <p:nvPr/>
          </p:nvSpPr>
          <p:spPr>
            <a:xfrm>
              <a:off x="5292080" y="1966069"/>
              <a:ext cx="1296144" cy="438555"/>
            </a:xfrm>
            <a:prstGeom prst="rect">
              <a:avLst/>
            </a:prstGeom>
            <a:noFill/>
          </p:spPr>
          <p:txBody>
            <a:bodyPr wrap="square" rtlCol="0">
              <a:spAutoFit/>
            </a:bodyPr>
            <a:lstStyle/>
            <a:p>
              <a:pPr algn="ctr"/>
              <a:r>
                <a:rPr lang="en-US" sz="3198" dirty="0"/>
                <a:t>+</a:t>
              </a:r>
            </a:p>
          </p:txBody>
        </p:sp>
        <p:sp>
          <p:nvSpPr>
            <p:cNvPr id="14" name="TextBox 13">
              <a:extLst>
                <a:ext uri="{FF2B5EF4-FFF2-40B4-BE49-F238E27FC236}">
                  <a16:creationId xmlns:a16="http://schemas.microsoft.com/office/drawing/2014/main" id="{A99A75EC-3C9C-38F9-C8C8-6D8DCB833FA8}"/>
                </a:ext>
              </a:extLst>
            </p:cNvPr>
            <p:cNvSpPr txBox="1"/>
            <p:nvPr/>
          </p:nvSpPr>
          <p:spPr>
            <a:xfrm>
              <a:off x="6249469" y="3158708"/>
              <a:ext cx="2290219" cy="807827"/>
            </a:xfrm>
            <a:prstGeom prst="rect">
              <a:avLst/>
            </a:prstGeom>
            <a:noFill/>
          </p:spPr>
          <p:txBody>
            <a:bodyPr wrap="square" rtlCol="0">
              <a:spAutoFit/>
            </a:bodyPr>
            <a:lstStyle/>
            <a:p>
              <a:pPr algn="ctr"/>
              <a:r>
                <a:rPr lang="en-US" sz="3198" dirty="0"/>
                <a:t>Net income (P&amp;L)</a:t>
              </a:r>
            </a:p>
          </p:txBody>
        </p:sp>
        <p:sp>
          <p:nvSpPr>
            <p:cNvPr id="15" name="TextBox 14">
              <a:extLst>
                <a:ext uri="{FF2B5EF4-FFF2-40B4-BE49-F238E27FC236}">
                  <a16:creationId xmlns:a16="http://schemas.microsoft.com/office/drawing/2014/main" id="{E46D823E-335C-0ECA-C675-4BC59B6BD7E3}"/>
                </a:ext>
              </a:extLst>
            </p:cNvPr>
            <p:cNvSpPr txBox="1"/>
            <p:nvPr/>
          </p:nvSpPr>
          <p:spPr>
            <a:xfrm>
              <a:off x="326952" y="3216977"/>
              <a:ext cx="1872208" cy="438555"/>
            </a:xfrm>
            <a:prstGeom prst="rect">
              <a:avLst/>
            </a:prstGeom>
            <a:noFill/>
          </p:spPr>
          <p:txBody>
            <a:bodyPr wrap="square" rtlCol="0">
              <a:spAutoFit/>
            </a:bodyPr>
            <a:lstStyle/>
            <a:p>
              <a:pPr algn="ctr"/>
              <a:r>
                <a:rPr lang="en-US" sz="3198" dirty="0"/>
                <a:t>Cash flow</a:t>
              </a:r>
            </a:p>
          </p:txBody>
        </p:sp>
        <p:sp>
          <p:nvSpPr>
            <p:cNvPr id="16" name="Arrow: Down 15">
              <a:extLst>
                <a:ext uri="{FF2B5EF4-FFF2-40B4-BE49-F238E27FC236}">
                  <a16:creationId xmlns:a16="http://schemas.microsoft.com/office/drawing/2014/main" id="{F38A67A8-3C1D-8DB9-D961-528FF3E36280}"/>
                </a:ext>
              </a:extLst>
            </p:cNvPr>
            <p:cNvSpPr/>
            <p:nvPr/>
          </p:nvSpPr>
          <p:spPr>
            <a:xfrm rot="10800000">
              <a:off x="1119040" y="2827347"/>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17" name="Arrow: Down 16">
              <a:extLst>
                <a:ext uri="{FF2B5EF4-FFF2-40B4-BE49-F238E27FC236}">
                  <a16:creationId xmlns:a16="http://schemas.microsoft.com/office/drawing/2014/main" id="{B2BF7E8A-0DD7-BAD2-942E-79EBA29FB517}"/>
                </a:ext>
              </a:extLst>
            </p:cNvPr>
            <p:cNvSpPr/>
            <p:nvPr/>
          </p:nvSpPr>
          <p:spPr>
            <a:xfrm rot="10800000">
              <a:off x="7257511" y="2789693"/>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grpSp>
    </p:spTree>
    <p:extLst>
      <p:ext uri="{BB962C8B-B14F-4D97-AF65-F5344CB8AC3E}">
        <p14:creationId xmlns:p14="http://schemas.microsoft.com/office/powerpoint/2010/main" val="33456657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0062E-3F61-5045-AF45-546F32A878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E0F046-535B-EC18-9929-BF689CF7EB78}"/>
              </a:ext>
            </a:extLst>
          </p:cNvPr>
          <p:cNvSpPr>
            <a:spLocks noGrp="1"/>
          </p:cNvSpPr>
          <p:nvPr>
            <p:ph type="title"/>
          </p:nvPr>
        </p:nvSpPr>
        <p:spPr>
          <a:xfrm>
            <a:off x="656844" y="487045"/>
            <a:ext cx="11271472" cy="569398"/>
          </a:xfrm>
        </p:spPr>
        <p:txBody>
          <a:bodyPr>
            <a:normAutofit/>
          </a:bodyPr>
          <a:lstStyle/>
          <a:p>
            <a:r>
              <a:rPr lang="en-US" dirty="0"/>
              <a:t>From net income to cash flow</a:t>
            </a:r>
          </a:p>
        </p:txBody>
      </p:sp>
      <p:sp>
        <p:nvSpPr>
          <p:cNvPr id="4" name="Slide Number Placeholder 3">
            <a:extLst>
              <a:ext uri="{FF2B5EF4-FFF2-40B4-BE49-F238E27FC236}">
                <a16:creationId xmlns:a16="http://schemas.microsoft.com/office/drawing/2014/main" id="{E7C05CDE-C3C8-2601-C35E-CAC95C4778D0}"/>
              </a:ext>
            </a:extLst>
          </p:cNvPr>
          <p:cNvSpPr>
            <a:spLocks noGrp="1"/>
          </p:cNvSpPr>
          <p:nvPr>
            <p:ph type="sldNum" sz="quarter" idx="10"/>
          </p:nvPr>
        </p:nvSpPr>
        <p:spPr/>
        <p:txBody>
          <a:bodyPr/>
          <a:lstStyle/>
          <a:p>
            <a:fld id="{421B1A79-1F45-8F4F-AED5-0EE30DCF0380}" type="slidenum">
              <a:rPr lang="fr-FR" smtClean="0"/>
              <a:t>35</a:t>
            </a:fld>
            <a:endParaRPr lang="fr-FR" dirty="0"/>
          </a:p>
        </p:txBody>
      </p:sp>
      <p:sp>
        <p:nvSpPr>
          <p:cNvPr id="5" name="TextBox 4">
            <a:extLst>
              <a:ext uri="{FF2B5EF4-FFF2-40B4-BE49-F238E27FC236}">
                <a16:creationId xmlns:a16="http://schemas.microsoft.com/office/drawing/2014/main" id="{0D61E705-7D08-93F8-4235-E21AB22D7F00}"/>
              </a:ext>
            </a:extLst>
          </p:cNvPr>
          <p:cNvSpPr txBox="1"/>
          <p:nvPr/>
        </p:nvSpPr>
        <p:spPr>
          <a:xfrm>
            <a:off x="5751333" y="1056443"/>
            <a:ext cx="5735055" cy="707886"/>
          </a:xfrm>
          <a:prstGeom prst="rect">
            <a:avLst/>
          </a:prstGeom>
          <a:solidFill>
            <a:schemeClr val="accent1">
              <a:lumMod val="20000"/>
              <a:lumOff val="80000"/>
            </a:schemeClr>
          </a:solidFill>
        </p:spPr>
        <p:txBody>
          <a:bodyPr wrap="square" rtlCol="0">
            <a:spAutoFit/>
          </a:bodyPr>
          <a:lstStyle/>
          <a:p>
            <a:pPr algn="ctr"/>
            <a:r>
              <a:rPr lang="en-US" sz="2000" dirty="0"/>
              <a:t>Change in cash and cash equivalents </a:t>
            </a:r>
          </a:p>
          <a:p>
            <a:pPr algn="ctr"/>
            <a:r>
              <a:rPr lang="en-US" sz="2000" dirty="0"/>
              <a:t>(= cash flow)</a:t>
            </a:r>
          </a:p>
        </p:txBody>
      </p:sp>
      <p:sp>
        <p:nvSpPr>
          <p:cNvPr id="6" name="TextBox 5">
            <a:extLst>
              <a:ext uri="{FF2B5EF4-FFF2-40B4-BE49-F238E27FC236}">
                <a16:creationId xmlns:a16="http://schemas.microsoft.com/office/drawing/2014/main" id="{8A1EC359-3709-F045-C5E9-947BFAA00783}"/>
              </a:ext>
            </a:extLst>
          </p:cNvPr>
          <p:cNvSpPr txBox="1"/>
          <p:nvPr/>
        </p:nvSpPr>
        <p:spPr>
          <a:xfrm>
            <a:off x="8080554" y="2598590"/>
            <a:ext cx="626723" cy="461665"/>
          </a:xfrm>
          <a:prstGeom prst="rect">
            <a:avLst/>
          </a:prstGeom>
          <a:noFill/>
        </p:spPr>
        <p:txBody>
          <a:bodyPr wrap="square" rtlCol="0">
            <a:spAutoFit/>
          </a:bodyPr>
          <a:lstStyle/>
          <a:p>
            <a:pPr algn="ctr"/>
            <a:r>
              <a:rPr lang="en-US" sz="2400" dirty="0"/>
              <a:t>+</a:t>
            </a:r>
          </a:p>
        </p:txBody>
      </p:sp>
      <p:sp>
        <p:nvSpPr>
          <p:cNvPr id="7" name="TextBox 6">
            <a:extLst>
              <a:ext uri="{FF2B5EF4-FFF2-40B4-BE49-F238E27FC236}">
                <a16:creationId xmlns:a16="http://schemas.microsoft.com/office/drawing/2014/main" id="{009C120D-BBA4-3817-7268-922486986A31}"/>
              </a:ext>
            </a:extLst>
          </p:cNvPr>
          <p:cNvSpPr txBox="1"/>
          <p:nvPr/>
        </p:nvSpPr>
        <p:spPr>
          <a:xfrm>
            <a:off x="5751333" y="4595583"/>
            <a:ext cx="5735055" cy="707886"/>
          </a:xfrm>
          <a:prstGeom prst="rect">
            <a:avLst/>
          </a:prstGeom>
          <a:solidFill>
            <a:schemeClr val="accent3">
              <a:lumMod val="90000"/>
            </a:schemeClr>
          </a:solidFill>
        </p:spPr>
        <p:txBody>
          <a:bodyPr wrap="square" rtlCol="0">
            <a:spAutoFit/>
          </a:bodyPr>
          <a:lstStyle/>
          <a:p>
            <a:pPr algn="ctr"/>
            <a:r>
              <a:rPr lang="en-US" sz="2000" dirty="0"/>
              <a:t>Change in noncash assets (= total assets excluding cash and cash equivalents)</a:t>
            </a:r>
          </a:p>
        </p:txBody>
      </p:sp>
      <p:sp>
        <p:nvSpPr>
          <p:cNvPr id="8" name="TextBox 7">
            <a:extLst>
              <a:ext uri="{FF2B5EF4-FFF2-40B4-BE49-F238E27FC236}">
                <a16:creationId xmlns:a16="http://schemas.microsoft.com/office/drawing/2014/main" id="{EF344A21-699B-F9CD-660C-9DA5CD59092D}"/>
              </a:ext>
            </a:extLst>
          </p:cNvPr>
          <p:cNvSpPr txBox="1"/>
          <p:nvPr/>
        </p:nvSpPr>
        <p:spPr>
          <a:xfrm>
            <a:off x="8094050" y="1749516"/>
            <a:ext cx="626723" cy="461665"/>
          </a:xfrm>
          <a:prstGeom prst="rect">
            <a:avLst/>
          </a:prstGeom>
          <a:noFill/>
        </p:spPr>
        <p:txBody>
          <a:bodyPr wrap="square" rtlCol="0">
            <a:spAutoFit/>
          </a:bodyPr>
          <a:lstStyle/>
          <a:p>
            <a:pPr algn="ctr"/>
            <a:r>
              <a:rPr lang="en-US" sz="2400" dirty="0"/>
              <a:t>=</a:t>
            </a:r>
          </a:p>
        </p:txBody>
      </p:sp>
      <p:sp>
        <p:nvSpPr>
          <p:cNvPr id="9" name="TextBox 8">
            <a:extLst>
              <a:ext uri="{FF2B5EF4-FFF2-40B4-BE49-F238E27FC236}">
                <a16:creationId xmlns:a16="http://schemas.microsoft.com/office/drawing/2014/main" id="{F67C3C29-CE05-526F-0C63-D653AF3AE850}"/>
              </a:ext>
            </a:extLst>
          </p:cNvPr>
          <p:cNvSpPr txBox="1"/>
          <p:nvPr/>
        </p:nvSpPr>
        <p:spPr>
          <a:xfrm>
            <a:off x="5790719" y="3758051"/>
            <a:ext cx="5735055" cy="400110"/>
          </a:xfrm>
          <a:prstGeom prst="rect">
            <a:avLst/>
          </a:prstGeom>
          <a:solidFill>
            <a:schemeClr val="accent3">
              <a:lumMod val="90000"/>
            </a:schemeClr>
          </a:solidFill>
        </p:spPr>
        <p:txBody>
          <a:bodyPr wrap="square" rtlCol="0">
            <a:spAutoFit/>
          </a:bodyPr>
          <a:lstStyle/>
          <a:p>
            <a:pPr algn="ctr"/>
            <a:r>
              <a:rPr lang="en-US" sz="2000" dirty="0"/>
              <a:t>Change in liabilities</a:t>
            </a:r>
          </a:p>
        </p:txBody>
      </p:sp>
      <p:sp>
        <p:nvSpPr>
          <p:cNvPr id="10" name="TextBox 9">
            <a:extLst>
              <a:ext uri="{FF2B5EF4-FFF2-40B4-BE49-F238E27FC236}">
                <a16:creationId xmlns:a16="http://schemas.microsoft.com/office/drawing/2014/main" id="{C21D338B-B2B9-F617-7C3C-891306398DA7}"/>
              </a:ext>
            </a:extLst>
          </p:cNvPr>
          <p:cNvSpPr txBox="1"/>
          <p:nvPr/>
        </p:nvSpPr>
        <p:spPr>
          <a:xfrm>
            <a:off x="8113164" y="3366512"/>
            <a:ext cx="626723" cy="461665"/>
          </a:xfrm>
          <a:prstGeom prst="rect">
            <a:avLst/>
          </a:prstGeom>
          <a:noFill/>
        </p:spPr>
        <p:txBody>
          <a:bodyPr wrap="square" rtlCol="0">
            <a:spAutoFit/>
          </a:bodyPr>
          <a:lstStyle/>
          <a:p>
            <a:pPr algn="ctr"/>
            <a:r>
              <a:rPr lang="en-US" sz="2400" dirty="0"/>
              <a:t>+</a:t>
            </a:r>
          </a:p>
        </p:txBody>
      </p:sp>
      <p:sp>
        <p:nvSpPr>
          <p:cNvPr id="11" name="TextBox 10">
            <a:extLst>
              <a:ext uri="{FF2B5EF4-FFF2-40B4-BE49-F238E27FC236}">
                <a16:creationId xmlns:a16="http://schemas.microsoft.com/office/drawing/2014/main" id="{4AFC6827-571C-822B-3C19-28408E1B3ADF}"/>
              </a:ext>
            </a:extLst>
          </p:cNvPr>
          <p:cNvSpPr txBox="1"/>
          <p:nvPr/>
        </p:nvSpPr>
        <p:spPr>
          <a:xfrm>
            <a:off x="5790719" y="2985043"/>
            <a:ext cx="5735055" cy="400110"/>
          </a:xfrm>
          <a:prstGeom prst="rect">
            <a:avLst/>
          </a:prstGeom>
          <a:solidFill>
            <a:schemeClr val="accent3">
              <a:lumMod val="90000"/>
            </a:schemeClr>
          </a:solidFill>
        </p:spPr>
        <p:txBody>
          <a:bodyPr wrap="square" rtlCol="0">
            <a:spAutoFit/>
          </a:bodyPr>
          <a:lstStyle/>
          <a:p>
            <a:pPr algn="ctr"/>
            <a:r>
              <a:rPr lang="en-US" sz="2000" dirty="0"/>
              <a:t>Change in equity (excluding net income)</a:t>
            </a:r>
          </a:p>
        </p:txBody>
      </p:sp>
      <p:sp>
        <p:nvSpPr>
          <p:cNvPr id="12" name="TextBox 11">
            <a:extLst>
              <a:ext uri="{FF2B5EF4-FFF2-40B4-BE49-F238E27FC236}">
                <a16:creationId xmlns:a16="http://schemas.microsoft.com/office/drawing/2014/main" id="{87D559CF-B854-DE68-D2AA-3A60158697AF}"/>
              </a:ext>
            </a:extLst>
          </p:cNvPr>
          <p:cNvSpPr txBox="1"/>
          <p:nvPr/>
        </p:nvSpPr>
        <p:spPr>
          <a:xfrm>
            <a:off x="8113164" y="4103179"/>
            <a:ext cx="626723" cy="461665"/>
          </a:xfrm>
          <a:prstGeom prst="rect">
            <a:avLst/>
          </a:prstGeom>
          <a:noFill/>
        </p:spPr>
        <p:txBody>
          <a:bodyPr wrap="square" rtlCol="0">
            <a:spAutoFit/>
          </a:bodyPr>
          <a:lstStyle/>
          <a:p>
            <a:pPr algn="ctr"/>
            <a:r>
              <a:rPr lang="en-US" sz="2400" dirty="0"/>
              <a:t>-</a:t>
            </a:r>
          </a:p>
        </p:txBody>
      </p:sp>
      <p:sp>
        <p:nvSpPr>
          <p:cNvPr id="13" name="TextBox 12">
            <a:extLst>
              <a:ext uri="{FF2B5EF4-FFF2-40B4-BE49-F238E27FC236}">
                <a16:creationId xmlns:a16="http://schemas.microsoft.com/office/drawing/2014/main" id="{95246BAC-9111-2473-497B-013206D0C841}"/>
              </a:ext>
            </a:extLst>
          </p:cNvPr>
          <p:cNvSpPr txBox="1"/>
          <p:nvPr/>
        </p:nvSpPr>
        <p:spPr>
          <a:xfrm>
            <a:off x="5751333" y="2174631"/>
            <a:ext cx="5735055" cy="400110"/>
          </a:xfrm>
          <a:prstGeom prst="rect">
            <a:avLst/>
          </a:prstGeom>
          <a:solidFill>
            <a:schemeClr val="accent1">
              <a:lumMod val="20000"/>
              <a:lumOff val="80000"/>
            </a:schemeClr>
          </a:solidFill>
        </p:spPr>
        <p:txBody>
          <a:bodyPr wrap="square" rtlCol="0">
            <a:spAutoFit/>
          </a:bodyPr>
          <a:lstStyle/>
          <a:p>
            <a:pPr algn="ctr"/>
            <a:r>
              <a:rPr lang="en-US" sz="2000" dirty="0"/>
              <a:t>Net income (i.e. net profit or net (loss))</a:t>
            </a:r>
          </a:p>
        </p:txBody>
      </p:sp>
    </p:spTree>
    <p:extLst>
      <p:ext uri="{BB962C8B-B14F-4D97-AF65-F5344CB8AC3E}">
        <p14:creationId xmlns:p14="http://schemas.microsoft.com/office/powerpoint/2010/main" val="36374907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F4B85-7D66-1642-716F-0366EA08B5B1}"/>
              </a:ext>
            </a:extLst>
          </p:cNvPr>
          <p:cNvSpPr>
            <a:spLocks noGrp="1"/>
          </p:cNvSpPr>
          <p:nvPr>
            <p:ph type="title"/>
          </p:nvPr>
        </p:nvSpPr>
        <p:spPr>
          <a:xfrm>
            <a:off x="656844" y="487045"/>
            <a:ext cx="10829544" cy="631541"/>
          </a:xfrm>
        </p:spPr>
        <p:txBody>
          <a:bodyPr/>
          <a:lstStyle/>
          <a:p>
            <a:r>
              <a:rPr lang="en-US" dirty="0"/>
              <a:t>Example: net income &gt; cash flow</a:t>
            </a:r>
          </a:p>
        </p:txBody>
      </p:sp>
      <p:sp>
        <p:nvSpPr>
          <p:cNvPr id="4" name="Slide Number Placeholder 3">
            <a:extLst>
              <a:ext uri="{FF2B5EF4-FFF2-40B4-BE49-F238E27FC236}">
                <a16:creationId xmlns:a16="http://schemas.microsoft.com/office/drawing/2014/main" id="{DCC66867-64F8-FEFB-EE64-99E93777D432}"/>
              </a:ext>
            </a:extLst>
          </p:cNvPr>
          <p:cNvSpPr>
            <a:spLocks noGrp="1"/>
          </p:cNvSpPr>
          <p:nvPr>
            <p:ph type="sldNum" sz="quarter" idx="10"/>
          </p:nvPr>
        </p:nvSpPr>
        <p:spPr/>
        <p:txBody>
          <a:bodyPr/>
          <a:lstStyle/>
          <a:p>
            <a:fld id="{421B1A79-1F45-8F4F-AED5-0EE30DCF0380}" type="slidenum">
              <a:rPr lang="fr-FR" smtClean="0"/>
              <a:t>36</a:t>
            </a:fld>
            <a:endParaRPr lang="fr-FR"/>
          </a:p>
        </p:txBody>
      </p:sp>
      <p:sp>
        <p:nvSpPr>
          <p:cNvPr id="5" name="TextBox 4">
            <a:extLst>
              <a:ext uri="{FF2B5EF4-FFF2-40B4-BE49-F238E27FC236}">
                <a16:creationId xmlns:a16="http://schemas.microsoft.com/office/drawing/2014/main" id="{25AF0532-0069-1F3C-4A6B-63294D4F08FC}"/>
              </a:ext>
            </a:extLst>
          </p:cNvPr>
          <p:cNvSpPr txBox="1"/>
          <p:nvPr/>
        </p:nvSpPr>
        <p:spPr>
          <a:xfrm>
            <a:off x="1393774" y="1950074"/>
            <a:ext cx="8924634" cy="584455"/>
          </a:xfrm>
          <a:prstGeom prst="rect">
            <a:avLst/>
          </a:prstGeom>
          <a:solidFill>
            <a:schemeClr val="bg1">
              <a:lumMod val="95000"/>
            </a:schemeClr>
          </a:solidFill>
        </p:spPr>
        <p:txBody>
          <a:bodyPr wrap="square" rtlCol="0">
            <a:spAutoFit/>
          </a:bodyPr>
          <a:lstStyle/>
          <a:p>
            <a:pPr algn="ctr"/>
            <a:r>
              <a:rPr lang="en-US" sz="3198" dirty="0"/>
              <a:t>Increase in liabilities: cash flow &gt; Net income</a:t>
            </a:r>
          </a:p>
        </p:txBody>
      </p:sp>
      <p:sp>
        <p:nvSpPr>
          <p:cNvPr id="6" name="TextBox 5">
            <a:extLst>
              <a:ext uri="{FF2B5EF4-FFF2-40B4-BE49-F238E27FC236}">
                <a16:creationId xmlns:a16="http://schemas.microsoft.com/office/drawing/2014/main" id="{D620D44F-477C-A9E7-8A04-124886D47F46}"/>
              </a:ext>
            </a:extLst>
          </p:cNvPr>
          <p:cNvSpPr txBox="1"/>
          <p:nvPr/>
        </p:nvSpPr>
        <p:spPr>
          <a:xfrm>
            <a:off x="322475" y="5356871"/>
            <a:ext cx="11797697" cy="830740"/>
          </a:xfrm>
          <a:prstGeom prst="rect">
            <a:avLst/>
          </a:prstGeom>
          <a:solidFill>
            <a:schemeClr val="bg1">
              <a:lumMod val="95000"/>
            </a:schemeClr>
          </a:solidFill>
        </p:spPr>
        <p:txBody>
          <a:bodyPr wrap="square" rtlCol="0">
            <a:spAutoFit/>
          </a:bodyPr>
          <a:lstStyle/>
          <a:p>
            <a:r>
              <a:rPr lang="en-US" sz="2399" dirty="0"/>
              <a:t>For instance, some expenses are not paid during the period (.e. increase in accounts payable or accrued expenses).</a:t>
            </a:r>
          </a:p>
        </p:txBody>
      </p:sp>
      <p:grpSp>
        <p:nvGrpSpPr>
          <p:cNvPr id="7" name="Group 6">
            <a:extLst>
              <a:ext uri="{FF2B5EF4-FFF2-40B4-BE49-F238E27FC236}">
                <a16:creationId xmlns:a16="http://schemas.microsoft.com/office/drawing/2014/main" id="{52055B4F-E20B-6A77-1174-1A6E199D3130}"/>
              </a:ext>
            </a:extLst>
          </p:cNvPr>
          <p:cNvGrpSpPr/>
          <p:nvPr/>
        </p:nvGrpSpPr>
        <p:grpSpPr>
          <a:xfrm>
            <a:off x="322475" y="2595185"/>
            <a:ext cx="11869525" cy="2743640"/>
            <a:chOff x="173236" y="1966069"/>
            <a:chExt cx="8321564" cy="2058735"/>
          </a:xfrm>
        </p:grpSpPr>
        <p:sp>
          <p:nvSpPr>
            <p:cNvPr id="8" name="TextBox 7">
              <a:extLst>
                <a:ext uri="{FF2B5EF4-FFF2-40B4-BE49-F238E27FC236}">
                  <a16:creationId xmlns:a16="http://schemas.microsoft.com/office/drawing/2014/main" id="{74BC1FFF-8304-F34E-F87C-0196A908249F}"/>
                </a:ext>
              </a:extLst>
            </p:cNvPr>
            <p:cNvSpPr txBox="1"/>
            <p:nvPr/>
          </p:nvSpPr>
          <p:spPr>
            <a:xfrm>
              <a:off x="173236" y="1966069"/>
              <a:ext cx="2179643" cy="807827"/>
            </a:xfrm>
            <a:prstGeom prst="rect">
              <a:avLst/>
            </a:prstGeom>
            <a:noFill/>
          </p:spPr>
          <p:txBody>
            <a:bodyPr wrap="square" rtlCol="0">
              <a:spAutoFit/>
            </a:bodyPr>
            <a:lstStyle/>
            <a:p>
              <a:pPr algn="ctr"/>
              <a:r>
                <a:rPr lang="en-US" sz="3198" dirty="0"/>
                <a:t>Change in Assets (A)</a:t>
              </a:r>
            </a:p>
          </p:txBody>
        </p:sp>
        <p:sp>
          <p:nvSpPr>
            <p:cNvPr id="9" name="TextBox 8">
              <a:extLst>
                <a:ext uri="{FF2B5EF4-FFF2-40B4-BE49-F238E27FC236}">
                  <a16:creationId xmlns:a16="http://schemas.microsoft.com/office/drawing/2014/main" id="{65096BFC-5B80-F88F-E907-FF51811E6268}"/>
                </a:ext>
              </a:extLst>
            </p:cNvPr>
            <p:cNvSpPr txBox="1"/>
            <p:nvPr/>
          </p:nvSpPr>
          <p:spPr>
            <a:xfrm>
              <a:off x="2051720" y="1966069"/>
              <a:ext cx="1296144" cy="438555"/>
            </a:xfrm>
            <a:prstGeom prst="rect">
              <a:avLst/>
            </a:prstGeom>
            <a:noFill/>
          </p:spPr>
          <p:txBody>
            <a:bodyPr wrap="square" rtlCol="0">
              <a:spAutoFit/>
            </a:bodyPr>
            <a:lstStyle/>
            <a:p>
              <a:pPr algn="ctr"/>
              <a:r>
                <a:rPr lang="en-US" sz="3198" dirty="0"/>
                <a:t>=</a:t>
              </a:r>
            </a:p>
          </p:txBody>
        </p:sp>
        <p:sp>
          <p:nvSpPr>
            <p:cNvPr id="10" name="TextBox 9">
              <a:extLst>
                <a:ext uri="{FF2B5EF4-FFF2-40B4-BE49-F238E27FC236}">
                  <a16:creationId xmlns:a16="http://schemas.microsoft.com/office/drawing/2014/main" id="{4685F755-DCDF-2D9B-3EFA-EEF85C93EA34}"/>
                </a:ext>
              </a:extLst>
            </p:cNvPr>
            <p:cNvSpPr txBox="1"/>
            <p:nvPr/>
          </p:nvSpPr>
          <p:spPr>
            <a:xfrm>
              <a:off x="6308254" y="1966069"/>
              <a:ext cx="2186546" cy="807827"/>
            </a:xfrm>
            <a:prstGeom prst="rect">
              <a:avLst/>
            </a:prstGeom>
            <a:noFill/>
          </p:spPr>
          <p:txBody>
            <a:bodyPr wrap="square" rtlCol="0">
              <a:spAutoFit/>
            </a:bodyPr>
            <a:lstStyle/>
            <a:p>
              <a:pPr algn="ctr"/>
              <a:r>
                <a:rPr lang="en-US" sz="3198" dirty="0"/>
                <a:t>Change in Equity (E)</a:t>
              </a:r>
            </a:p>
          </p:txBody>
        </p:sp>
        <p:sp>
          <p:nvSpPr>
            <p:cNvPr id="11" name="TextBox 10">
              <a:extLst>
                <a:ext uri="{FF2B5EF4-FFF2-40B4-BE49-F238E27FC236}">
                  <a16:creationId xmlns:a16="http://schemas.microsoft.com/office/drawing/2014/main" id="{7F69FAAF-2DCA-B9B0-F6CE-C4E3B8318F2C}"/>
                </a:ext>
              </a:extLst>
            </p:cNvPr>
            <p:cNvSpPr txBox="1"/>
            <p:nvPr/>
          </p:nvSpPr>
          <p:spPr>
            <a:xfrm>
              <a:off x="3207274" y="1966069"/>
              <a:ext cx="2377977" cy="807827"/>
            </a:xfrm>
            <a:prstGeom prst="rect">
              <a:avLst/>
            </a:prstGeom>
            <a:noFill/>
          </p:spPr>
          <p:txBody>
            <a:bodyPr wrap="square" rtlCol="0">
              <a:spAutoFit/>
            </a:bodyPr>
            <a:lstStyle/>
            <a:p>
              <a:pPr algn="ctr"/>
              <a:r>
                <a:rPr lang="en-US" sz="3198" dirty="0"/>
                <a:t>Change in Liabilities (L)</a:t>
              </a:r>
            </a:p>
          </p:txBody>
        </p:sp>
        <p:sp>
          <p:nvSpPr>
            <p:cNvPr id="12" name="TextBox 11">
              <a:extLst>
                <a:ext uri="{FF2B5EF4-FFF2-40B4-BE49-F238E27FC236}">
                  <a16:creationId xmlns:a16="http://schemas.microsoft.com/office/drawing/2014/main" id="{1D60A002-5719-0351-2FA8-F89C1DA2F53E}"/>
                </a:ext>
              </a:extLst>
            </p:cNvPr>
            <p:cNvSpPr txBox="1"/>
            <p:nvPr/>
          </p:nvSpPr>
          <p:spPr>
            <a:xfrm>
              <a:off x="5292080" y="1966069"/>
              <a:ext cx="1296144" cy="438555"/>
            </a:xfrm>
            <a:prstGeom prst="rect">
              <a:avLst/>
            </a:prstGeom>
            <a:noFill/>
          </p:spPr>
          <p:txBody>
            <a:bodyPr wrap="square" rtlCol="0">
              <a:spAutoFit/>
            </a:bodyPr>
            <a:lstStyle/>
            <a:p>
              <a:pPr algn="ctr"/>
              <a:r>
                <a:rPr lang="en-US" sz="3198" dirty="0"/>
                <a:t>+</a:t>
              </a:r>
            </a:p>
          </p:txBody>
        </p:sp>
        <p:sp>
          <p:nvSpPr>
            <p:cNvPr id="13" name="TextBox 12">
              <a:extLst>
                <a:ext uri="{FF2B5EF4-FFF2-40B4-BE49-F238E27FC236}">
                  <a16:creationId xmlns:a16="http://schemas.microsoft.com/office/drawing/2014/main" id="{409E15BD-0EE4-35D6-4717-92B74FA3CA60}"/>
                </a:ext>
              </a:extLst>
            </p:cNvPr>
            <p:cNvSpPr txBox="1"/>
            <p:nvPr/>
          </p:nvSpPr>
          <p:spPr>
            <a:xfrm>
              <a:off x="6154224" y="3172031"/>
              <a:ext cx="2290219" cy="807827"/>
            </a:xfrm>
            <a:prstGeom prst="rect">
              <a:avLst/>
            </a:prstGeom>
            <a:noFill/>
          </p:spPr>
          <p:txBody>
            <a:bodyPr wrap="square" rtlCol="0">
              <a:spAutoFit/>
            </a:bodyPr>
            <a:lstStyle/>
            <a:p>
              <a:pPr algn="ctr"/>
              <a:r>
                <a:rPr lang="en-US" sz="3198" dirty="0"/>
                <a:t>Net income (P&amp;L)</a:t>
              </a:r>
            </a:p>
          </p:txBody>
        </p:sp>
        <p:sp>
          <p:nvSpPr>
            <p:cNvPr id="14" name="TextBox 13">
              <a:extLst>
                <a:ext uri="{FF2B5EF4-FFF2-40B4-BE49-F238E27FC236}">
                  <a16:creationId xmlns:a16="http://schemas.microsoft.com/office/drawing/2014/main" id="{D92D76C6-DA68-4C8C-F62C-95DE0299B259}"/>
                </a:ext>
              </a:extLst>
            </p:cNvPr>
            <p:cNvSpPr txBox="1"/>
            <p:nvPr/>
          </p:nvSpPr>
          <p:spPr>
            <a:xfrm>
              <a:off x="326952" y="3216977"/>
              <a:ext cx="1872208" cy="807827"/>
            </a:xfrm>
            <a:prstGeom prst="rect">
              <a:avLst/>
            </a:prstGeom>
            <a:noFill/>
          </p:spPr>
          <p:txBody>
            <a:bodyPr wrap="square" rtlCol="0">
              <a:spAutoFit/>
            </a:bodyPr>
            <a:lstStyle/>
            <a:p>
              <a:pPr algn="ctr"/>
              <a:r>
                <a:rPr lang="en-US" sz="3198" dirty="0"/>
                <a:t>Increase in Cash</a:t>
              </a:r>
            </a:p>
          </p:txBody>
        </p:sp>
        <p:sp>
          <p:nvSpPr>
            <p:cNvPr id="15" name="Arrow: Down 14">
              <a:extLst>
                <a:ext uri="{FF2B5EF4-FFF2-40B4-BE49-F238E27FC236}">
                  <a16:creationId xmlns:a16="http://schemas.microsoft.com/office/drawing/2014/main" id="{652BF252-3AED-B146-DE89-AF217621C2DE}"/>
                </a:ext>
              </a:extLst>
            </p:cNvPr>
            <p:cNvSpPr/>
            <p:nvPr/>
          </p:nvSpPr>
          <p:spPr>
            <a:xfrm rot="10800000">
              <a:off x="1119040" y="2827347"/>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16" name="Arrow: Down 15">
              <a:extLst>
                <a:ext uri="{FF2B5EF4-FFF2-40B4-BE49-F238E27FC236}">
                  <a16:creationId xmlns:a16="http://schemas.microsoft.com/office/drawing/2014/main" id="{B66AE2F7-DB9F-1748-262C-3205F8F2188F}"/>
                </a:ext>
              </a:extLst>
            </p:cNvPr>
            <p:cNvSpPr/>
            <p:nvPr/>
          </p:nvSpPr>
          <p:spPr>
            <a:xfrm rot="10800000">
              <a:off x="7257511" y="2789693"/>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grpSp>
      <p:sp>
        <p:nvSpPr>
          <p:cNvPr id="17" name="TextBox 16">
            <a:extLst>
              <a:ext uri="{FF2B5EF4-FFF2-40B4-BE49-F238E27FC236}">
                <a16:creationId xmlns:a16="http://schemas.microsoft.com/office/drawing/2014/main" id="{3EE3D95E-4BBE-F039-29F8-13274A85929E}"/>
              </a:ext>
            </a:extLst>
          </p:cNvPr>
          <p:cNvSpPr txBox="1"/>
          <p:nvPr/>
        </p:nvSpPr>
        <p:spPr>
          <a:xfrm>
            <a:off x="3846817" y="4475314"/>
            <a:ext cx="642624" cy="568169"/>
          </a:xfrm>
          <a:prstGeom prst="rect">
            <a:avLst/>
          </a:prstGeom>
          <a:noFill/>
        </p:spPr>
        <p:txBody>
          <a:bodyPr wrap="square" rtlCol="0">
            <a:spAutoFit/>
          </a:bodyPr>
          <a:lstStyle/>
          <a:p>
            <a:r>
              <a:rPr lang="fr-FR" sz="3092" dirty="0"/>
              <a:t>=</a:t>
            </a:r>
            <a:endParaRPr lang="en-US" sz="3092" dirty="0"/>
          </a:p>
        </p:txBody>
      </p:sp>
      <p:sp>
        <p:nvSpPr>
          <p:cNvPr id="18" name="TextBox 17">
            <a:extLst>
              <a:ext uri="{FF2B5EF4-FFF2-40B4-BE49-F238E27FC236}">
                <a16:creationId xmlns:a16="http://schemas.microsoft.com/office/drawing/2014/main" id="{995FF5DB-9942-F529-6A30-1BB6F35208C1}"/>
              </a:ext>
            </a:extLst>
          </p:cNvPr>
          <p:cNvSpPr txBox="1"/>
          <p:nvPr/>
        </p:nvSpPr>
        <p:spPr>
          <a:xfrm>
            <a:off x="4973361" y="4212693"/>
            <a:ext cx="2670438" cy="1076577"/>
          </a:xfrm>
          <a:prstGeom prst="rect">
            <a:avLst/>
          </a:prstGeom>
          <a:noFill/>
        </p:spPr>
        <p:txBody>
          <a:bodyPr wrap="square" rtlCol="0">
            <a:spAutoFit/>
          </a:bodyPr>
          <a:lstStyle/>
          <a:p>
            <a:pPr algn="ctr"/>
            <a:r>
              <a:rPr lang="en-US" sz="3198" dirty="0"/>
              <a:t>Increase in liabilities</a:t>
            </a:r>
          </a:p>
        </p:txBody>
      </p:sp>
      <p:sp>
        <p:nvSpPr>
          <p:cNvPr id="19" name="TextBox 18">
            <a:extLst>
              <a:ext uri="{FF2B5EF4-FFF2-40B4-BE49-F238E27FC236}">
                <a16:creationId xmlns:a16="http://schemas.microsoft.com/office/drawing/2014/main" id="{33887B49-1FCB-068E-D324-C4D092EF73BD}"/>
              </a:ext>
            </a:extLst>
          </p:cNvPr>
          <p:cNvSpPr txBox="1"/>
          <p:nvPr/>
        </p:nvSpPr>
        <p:spPr>
          <a:xfrm>
            <a:off x="8398735" y="4454508"/>
            <a:ext cx="642624" cy="568169"/>
          </a:xfrm>
          <a:prstGeom prst="rect">
            <a:avLst/>
          </a:prstGeom>
          <a:noFill/>
        </p:spPr>
        <p:txBody>
          <a:bodyPr wrap="square" rtlCol="0">
            <a:spAutoFit/>
          </a:bodyPr>
          <a:lstStyle/>
          <a:p>
            <a:r>
              <a:rPr lang="fr-FR" sz="3092" dirty="0"/>
              <a:t>+</a:t>
            </a:r>
            <a:endParaRPr lang="en-US" sz="3092" dirty="0"/>
          </a:p>
        </p:txBody>
      </p:sp>
    </p:spTree>
    <p:extLst>
      <p:ext uri="{BB962C8B-B14F-4D97-AF65-F5344CB8AC3E}">
        <p14:creationId xmlns:p14="http://schemas.microsoft.com/office/powerpoint/2010/main" val="25239669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BD034-B8E9-CD10-AC9B-66B1C523BA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A68253-1CF4-7ED7-6803-AA1B3ABA946F}"/>
              </a:ext>
            </a:extLst>
          </p:cNvPr>
          <p:cNvSpPr>
            <a:spLocks noGrp="1"/>
          </p:cNvSpPr>
          <p:nvPr>
            <p:ph type="title"/>
          </p:nvPr>
        </p:nvSpPr>
        <p:spPr>
          <a:xfrm>
            <a:off x="656844" y="487045"/>
            <a:ext cx="10829544" cy="631541"/>
          </a:xfrm>
        </p:spPr>
        <p:txBody>
          <a:bodyPr/>
          <a:lstStyle/>
          <a:p>
            <a:r>
              <a:rPr lang="en-US" dirty="0"/>
              <a:t>Example: net income &lt; cash flow</a:t>
            </a:r>
          </a:p>
        </p:txBody>
      </p:sp>
      <p:sp>
        <p:nvSpPr>
          <p:cNvPr id="4" name="Slide Number Placeholder 3">
            <a:extLst>
              <a:ext uri="{FF2B5EF4-FFF2-40B4-BE49-F238E27FC236}">
                <a16:creationId xmlns:a16="http://schemas.microsoft.com/office/drawing/2014/main" id="{7BD562A2-B124-F909-F2A8-DB56865632B8}"/>
              </a:ext>
            </a:extLst>
          </p:cNvPr>
          <p:cNvSpPr>
            <a:spLocks noGrp="1"/>
          </p:cNvSpPr>
          <p:nvPr>
            <p:ph type="sldNum" sz="quarter" idx="10"/>
          </p:nvPr>
        </p:nvSpPr>
        <p:spPr/>
        <p:txBody>
          <a:bodyPr/>
          <a:lstStyle/>
          <a:p>
            <a:fld id="{421B1A79-1F45-8F4F-AED5-0EE30DCF0380}" type="slidenum">
              <a:rPr lang="fr-FR" smtClean="0"/>
              <a:t>37</a:t>
            </a:fld>
            <a:endParaRPr lang="fr-FR"/>
          </a:p>
        </p:txBody>
      </p:sp>
      <p:sp>
        <p:nvSpPr>
          <p:cNvPr id="3" name="TextBox 2">
            <a:extLst>
              <a:ext uri="{FF2B5EF4-FFF2-40B4-BE49-F238E27FC236}">
                <a16:creationId xmlns:a16="http://schemas.microsoft.com/office/drawing/2014/main" id="{249EA1E9-D867-68FE-703D-39C313533A4F}"/>
              </a:ext>
            </a:extLst>
          </p:cNvPr>
          <p:cNvSpPr txBox="1"/>
          <p:nvPr/>
        </p:nvSpPr>
        <p:spPr>
          <a:xfrm>
            <a:off x="1393773" y="1950074"/>
            <a:ext cx="10092615" cy="584455"/>
          </a:xfrm>
          <a:prstGeom prst="rect">
            <a:avLst/>
          </a:prstGeom>
          <a:solidFill>
            <a:schemeClr val="bg1">
              <a:lumMod val="95000"/>
            </a:schemeClr>
          </a:solidFill>
        </p:spPr>
        <p:txBody>
          <a:bodyPr wrap="square" rtlCol="0">
            <a:spAutoFit/>
          </a:bodyPr>
          <a:lstStyle/>
          <a:p>
            <a:pPr algn="ctr"/>
            <a:r>
              <a:rPr lang="en-US" sz="3198" dirty="0"/>
              <a:t>Increase in noncash assets: cash flow &lt; Net income</a:t>
            </a:r>
          </a:p>
        </p:txBody>
      </p:sp>
      <p:sp>
        <p:nvSpPr>
          <p:cNvPr id="20" name="TextBox 19">
            <a:extLst>
              <a:ext uri="{FF2B5EF4-FFF2-40B4-BE49-F238E27FC236}">
                <a16:creationId xmlns:a16="http://schemas.microsoft.com/office/drawing/2014/main" id="{5AC08895-213D-DF50-26D0-C9D660249EB0}"/>
              </a:ext>
            </a:extLst>
          </p:cNvPr>
          <p:cNvSpPr txBox="1"/>
          <p:nvPr/>
        </p:nvSpPr>
        <p:spPr>
          <a:xfrm>
            <a:off x="408374" y="5356871"/>
            <a:ext cx="11417688" cy="830740"/>
          </a:xfrm>
          <a:prstGeom prst="rect">
            <a:avLst/>
          </a:prstGeom>
          <a:solidFill>
            <a:schemeClr val="bg1">
              <a:lumMod val="95000"/>
            </a:schemeClr>
          </a:solidFill>
        </p:spPr>
        <p:txBody>
          <a:bodyPr wrap="square" rtlCol="0">
            <a:spAutoFit/>
          </a:bodyPr>
          <a:lstStyle/>
          <a:p>
            <a:r>
              <a:rPr lang="en-US" sz="2399" dirty="0"/>
              <a:t>For instance, a portion of the revenue is not collected during the period (i.e. increase in accounts receivable).</a:t>
            </a:r>
          </a:p>
        </p:txBody>
      </p:sp>
      <p:grpSp>
        <p:nvGrpSpPr>
          <p:cNvPr id="21" name="Group 20">
            <a:extLst>
              <a:ext uri="{FF2B5EF4-FFF2-40B4-BE49-F238E27FC236}">
                <a16:creationId xmlns:a16="http://schemas.microsoft.com/office/drawing/2014/main" id="{E4B9E883-9211-6D96-8037-82E3ECA038E6}"/>
              </a:ext>
            </a:extLst>
          </p:cNvPr>
          <p:cNvGrpSpPr/>
          <p:nvPr/>
        </p:nvGrpSpPr>
        <p:grpSpPr>
          <a:xfrm>
            <a:off x="292965" y="2621819"/>
            <a:ext cx="11899035" cy="2665986"/>
            <a:chOff x="152545" y="1966069"/>
            <a:chExt cx="8342255" cy="2000466"/>
          </a:xfrm>
        </p:grpSpPr>
        <p:sp>
          <p:nvSpPr>
            <p:cNvPr id="22" name="TextBox 21">
              <a:extLst>
                <a:ext uri="{FF2B5EF4-FFF2-40B4-BE49-F238E27FC236}">
                  <a16:creationId xmlns:a16="http://schemas.microsoft.com/office/drawing/2014/main" id="{E023364D-158B-F752-C71F-242D2C4BCB39}"/>
                </a:ext>
              </a:extLst>
            </p:cNvPr>
            <p:cNvSpPr txBox="1"/>
            <p:nvPr/>
          </p:nvSpPr>
          <p:spPr>
            <a:xfrm>
              <a:off x="173236" y="1966069"/>
              <a:ext cx="2179643" cy="807827"/>
            </a:xfrm>
            <a:prstGeom prst="rect">
              <a:avLst/>
            </a:prstGeom>
            <a:noFill/>
          </p:spPr>
          <p:txBody>
            <a:bodyPr wrap="square" rtlCol="0">
              <a:spAutoFit/>
            </a:bodyPr>
            <a:lstStyle/>
            <a:p>
              <a:pPr algn="ctr"/>
              <a:r>
                <a:rPr lang="en-US" sz="3198" dirty="0"/>
                <a:t>Change in Assets (A)</a:t>
              </a:r>
            </a:p>
          </p:txBody>
        </p:sp>
        <p:sp>
          <p:nvSpPr>
            <p:cNvPr id="23" name="TextBox 22">
              <a:extLst>
                <a:ext uri="{FF2B5EF4-FFF2-40B4-BE49-F238E27FC236}">
                  <a16:creationId xmlns:a16="http://schemas.microsoft.com/office/drawing/2014/main" id="{1B43E99F-A401-BB43-493D-007E46834408}"/>
                </a:ext>
              </a:extLst>
            </p:cNvPr>
            <p:cNvSpPr txBox="1"/>
            <p:nvPr/>
          </p:nvSpPr>
          <p:spPr>
            <a:xfrm>
              <a:off x="2051720" y="1966069"/>
              <a:ext cx="1296144" cy="438555"/>
            </a:xfrm>
            <a:prstGeom prst="rect">
              <a:avLst/>
            </a:prstGeom>
            <a:noFill/>
          </p:spPr>
          <p:txBody>
            <a:bodyPr wrap="square" rtlCol="0">
              <a:spAutoFit/>
            </a:bodyPr>
            <a:lstStyle/>
            <a:p>
              <a:pPr algn="ctr"/>
              <a:r>
                <a:rPr lang="en-US" sz="3198" dirty="0"/>
                <a:t>=</a:t>
              </a:r>
            </a:p>
          </p:txBody>
        </p:sp>
        <p:sp>
          <p:nvSpPr>
            <p:cNvPr id="24" name="TextBox 23">
              <a:extLst>
                <a:ext uri="{FF2B5EF4-FFF2-40B4-BE49-F238E27FC236}">
                  <a16:creationId xmlns:a16="http://schemas.microsoft.com/office/drawing/2014/main" id="{047E2A0A-D825-46D0-E048-A10924683ABC}"/>
                </a:ext>
              </a:extLst>
            </p:cNvPr>
            <p:cNvSpPr txBox="1"/>
            <p:nvPr/>
          </p:nvSpPr>
          <p:spPr>
            <a:xfrm>
              <a:off x="6308254" y="1966069"/>
              <a:ext cx="2186546" cy="807827"/>
            </a:xfrm>
            <a:prstGeom prst="rect">
              <a:avLst/>
            </a:prstGeom>
            <a:noFill/>
          </p:spPr>
          <p:txBody>
            <a:bodyPr wrap="square" rtlCol="0">
              <a:spAutoFit/>
            </a:bodyPr>
            <a:lstStyle/>
            <a:p>
              <a:pPr algn="ctr"/>
              <a:r>
                <a:rPr lang="en-US" sz="3198" dirty="0"/>
                <a:t>Change in Equity (E)</a:t>
              </a:r>
            </a:p>
          </p:txBody>
        </p:sp>
        <p:sp>
          <p:nvSpPr>
            <p:cNvPr id="25" name="TextBox 24">
              <a:extLst>
                <a:ext uri="{FF2B5EF4-FFF2-40B4-BE49-F238E27FC236}">
                  <a16:creationId xmlns:a16="http://schemas.microsoft.com/office/drawing/2014/main" id="{5703C062-5B99-C7F6-CDA0-64EC1809656F}"/>
                </a:ext>
              </a:extLst>
            </p:cNvPr>
            <p:cNvSpPr txBox="1"/>
            <p:nvPr/>
          </p:nvSpPr>
          <p:spPr>
            <a:xfrm>
              <a:off x="3207274" y="1966069"/>
              <a:ext cx="2377977" cy="807827"/>
            </a:xfrm>
            <a:prstGeom prst="rect">
              <a:avLst/>
            </a:prstGeom>
            <a:noFill/>
          </p:spPr>
          <p:txBody>
            <a:bodyPr wrap="square" rtlCol="0">
              <a:spAutoFit/>
            </a:bodyPr>
            <a:lstStyle/>
            <a:p>
              <a:pPr algn="ctr"/>
              <a:r>
                <a:rPr lang="en-US" sz="3198" dirty="0"/>
                <a:t>Change in Liabilities (L)</a:t>
              </a:r>
            </a:p>
          </p:txBody>
        </p:sp>
        <p:sp>
          <p:nvSpPr>
            <p:cNvPr id="26" name="TextBox 25">
              <a:extLst>
                <a:ext uri="{FF2B5EF4-FFF2-40B4-BE49-F238E27FC236}">
                  <a16:creationId xmlns:a16="http://schemas.microsoft.com/office/drawing/2014/main" id="{96BED910-EADC-FE98-ED1C-CC02252E85A3}"/>
                </a:ext>
              </a:extLst>
            </p:cNvPr>
            <p:cNvSpPr txBox="1"/>
            <p:nvPr/>
          </p:nvSpPr>
          <p:spPr>
            <a:xfrm>
              <a:off x="5292080" y="1966069"/>
              <a:ext cx="1296144" cy="438555"/>
            </a:xfrm>
            <a:prstGeom prst="rect">
              <a:avLst/>
            </a:prstGeom>
            <a:noFill/>
          </p:spPr>
          <p:txBody>
            <a:bodyPr wrap="square" rtlCol="0">
              <a:spAutoFit/>
            </a:bodyPr>
            <a:lstStyle/>
            <a:p>
              <a:pPr algn="ctr"/>
              <a:r>
                <a:rPr lang="en-US" sz="3198" dirty="0"/>
                <a:t>+</a:t>
              </a:r>
            </a:p>
          </p:txBody>
        </p:sp>
        <p:sp>
          <p:nvSpPr>
            <p:cNvPr id="27" name="TextBox 26">
              <a:extLst>
                <a:ext uri="{FF2B5EF4-FFF2-40B4-BE49-F238E27FC236}">
                  <a16:creationId xmlns:a16="http://schemas.microsoft.com/office/drawing/2014/main" id="{AB850FB5-D0AF-FC4C-D00F-DFF09D6FCE61}"/>
                </a:ext>
              </a:extLst>
            </p:cNvPr>
            <p:cNvSpPr txBox="1"/>
            <p:nvPr/>
          </p:nvSpPr>
          <p:spPr>
            <a:xfrm>
              <a:off x="6098206" y="3158708"/>
              <a:ext cx="2290219" cy="807827"/>
            </a:xfrm>
            <a:prstGeom prst="rect">
              <a:avLst/>
            </a:prstGeom>
            <a:noFill/>
          </p:spPr>
          <p:txBody>
            <a:bodyPr wrap="square" rtlCol="0">
              <a:spAutoFit/>
            </a:bodyPr>
            <a:lstStyle/>
            <a:p>
              <a:pPr algn="ctr"/>
              <a:r>
                <a:rPr lang="en-US" sz="3198" dirty="0"/>
                <a:t>Net income (P&amp;L)</a:t>
              </a:r>
            </a:p>
          </p:txBody>
        </p:sp>
        <p:sp>
          <p:nvSpPr>
            <p:cNvPr id="28" name="TextBox 27">
              <a:extLst>
                <a:ext uri="{FF2B5EF4-FFF2-40B4-BE49-F238E27FC236}">
                  <a16:creationId xmlns:a16="http://schemas.microsoft.com/office/drawing/2014/main" id="{8CA47586-D436-7F43-ACD1-1E891E2A1C66}"/>
                </a:ext>
              </a:extLst>
            </p:cNvPr>
            <p:cNvSpPr txBox="1"/>
            <p:nvPr/>
          </p:nvSpPr>
          <p:spPr>
            <a:xfrm>
              <a:off x="152545" y="3216977"/>
              <a:ext cx="2345367" cy="438555"/>
            </a:xfrm>
            <a:prstGeom prst="rect">
              <a:avLst/>
            </a:prstGeom>
            <a:noFill/>
          </p:spPr>
          <p:txBody>
            <a:bodyPr wrap="square" rtlCol="0">
              <a:spAutoFit/>
            </a:bodyPr>
            <a:lstStyle/>
            <a:p>
              <a:pPr algn="ctr"/>
              <a:r>
                <a:rPr lang="en-US" sz="3198" dirty="0"/>
                <a:t>Increase in Cash</a:t>
              </a:r>
            </a:p>
          </p:txBody>
        </p:sp>
        <p:sp>
          <p:nvSpPr>
            <p:cNvPr id="29" name="Arrow: Down 28">
              <a:extLst>
                <a:ext uri="{FF2B5EF4-FFF2-40B4-BE49-F238E27FC236}">
                  <a16:creationId xmlns:a16="http://schemas.microsoft.com/office/drawing/2014/main" id="{FCCFFDA2-907F-A821-FF5A-29248DD58966}"/>
                </a:ext>
              </a:extLst>
            </p:cNvPr>
            <p:cNvSpPr/>
            <p:nvPr/>
          </p:nvSpPr>
          <p:spPr>
            <a:xfrm rot="10800000">
              <a:off x="1119040" y="2827347"/>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30" name="Arrow: Down 29">
              <a:extLst>
                <a:ext uri="{FF2B5EF4-FFF2-40B4-BE49-F238E27FC236}">
                  <a16:creationId xmlns:a16="http://schemas.microsoft.com/office/drawing/2014/main" id="{29D8A5B3-61CE-BBAD-49CE-41EE0AD06BDB}"/>
                </a:ext>
              </a:extLst>
            </p:cNvPr>
            <p:cNvSpPr/>
            <p:nvPr/>
          </p:nvSpPr>
          <p:spPr>
            <a:xfrm rot="10800000">
              <a:off x="7257511" y="2789693"/>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grpSp>
      <p:sp>
        <p:nvSpPr>
          <p:cNvPr id="31" name="TextBox 30">
            <a:extLst>
              <a:ext uri="{FF2B5EF4-FFF2-40B4-BE49-F238E27FC236}">
                <a16:creationId xmlns:a16="http://schemas.microsoft.com/office/drawing/2014/main" id="{AF6E692F-F29A-A179-6C0C-AAE8A26549D4}"/>
              </a:ext>
            </a:extLst>
          </p:cNvPr>
          <p:cNvSpPr txBox="1"/>
          <p:nvPr/>
        </p:nvSpPr>
        <p:spPr>
          <a:xfrm>
            <a:off x="3846817" y="4324392"/>
            <a:ext cx="642624" cy="568169"/>
          </a:xfrm>
          <a:prstGeom prst="rect">
            <a:avLst/>
          </a:prstGeom>
          <a:noFill/>
        </p:spPr>
        <p:txBody>
          <a:bodyPr wrap="square" rtlCol="0">
            <a:spAutoFit/>
          </a:bodyPr>
          <a:lstStyle/>
          <a:p>
            <a:pPr algn="ctr"/>
            <a:r>
              <a:rPr lang="fr-FR" sz="3092" dirty="0"/>
              <a:t>+</a:t>
            </a:r>
            <a:endParaRPr lang="en-US" sz="3092" dirty="0"/>
          </a:p>
        </p:txBody>
      </p:sp>
      <p:sp>
        <p:nvSpPr>
          <p:cNvPr id="32" name="TextBox 31">
            <a:extLst>
              <a:ext uri="{FF2B5EF4-FFF2-40B4-BE49-F238E27FC236}">
                <a16:creationId xmlns:a16="http://schemas.microsoft.com/office/drawing/2014/main" id="{497A0685-7197-29B0-95E8-A4A64C4ED2FF}"/>
              </a:ext>
            </a:extLst>
          </p:cNvPr>
          <p:cNvSpPr txBox="1"/>
          <p:nvPr/>
        </p:nvSpPr>
        <p:spPr>
          <a:xfrm>
            <a:off x="4973360" y="4061771"/>
            <a:ext cx="3266669" cy="1076577"/>
          </a:xfrm>
          <a:prstGeom prst="rect">
            <a:avLst/>
          </a:prstGeom>
          <a:noFill/>
        </p:spPr>
        <p:txBody>
          <a:bodyPr wrap="square" rtlCol="0">
            <a:spAutoFit/>
          </a:bodyPr>
          <a:lstStyle/>
          <a:p>
            <a:pPr algn="ctr"/>
            <a:r>
              <a:rPr lang="en-US" sz="3198" dirty="0"/>
              <a:t>Increase in noncash assets</a:t>
            </a:r>
          </a:p>
        </p:txBody>
      </p:sp>
      <p:sp>
        <p:nvSpPr>
          <p:cNvPr id="33" name="Arrow: Down 32">
            <a:extLst>
              <a:ext uri="{FF2B5EF4-FFF2-40B4-BE49-F238E27FC236}">
                <a16:creationId xmlns:a16="http://schemas.microsoft.com/office/drawing/2014/main" id="{86DBAEFD-4B5C-AD11-63E6-54BA0BC4CB2D}"/>
              </a:ext>
            </a:extLst>
          </p:cNvPr>
          <p:cNvSpPr/>
          <p:nvPr/>
        </p:nvSpPr>
        <p:spPr>
          <a:xfrm rot="6762960">
            <a:off x="3965524" y="2664883"/>
            <a:ext cx="410837" cy="2206064"/>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34" name="TextBox 33">
            <a:extLst>
              <a:ext uri="{FF2B5EF4-FFF2-40B4-BE49-F238E27FC236}">
                <a16:creationId xmlns:a16="http://schemas.microsoft.com/office/drawing/2014/main" id="{3A5FF89F-9EE8-A745-61EB-0C3306EF3783}"/>
              </a:ext>
            </a:extLst>
          </p:cNvPr>
          <p:cNvSpPr txBox="1"/>
          <p:nvPr/>
        </p:nvSpPr>
        <p:spPr>
          <a:xfrm>
            <a:off x="8430580" y="4387831"/>
            <a:ext cx="642624" cy="568169"/>
          </a:xfrm>
          <a:prstGeom prst="rect">
            <a:avLst/>
          </a:prstGeom>
          <a:noFill/>
        </p:spPr>
        <p:txBody>
          <a:bodyPr wrap="square" rtlCol="0">
            <a:spAutoFit/>
          </a:bodyPr>
          <a:lstStyle/>
          <a:p>
            <a:r>
              <a:rPr lang="fr-FR" sz="3092" dirty="0"/>
              <a:t>=</a:t>
            </a:r>
            <a:endParaRPr lang="en-US" sz="3092" dirty="0"/>
          </a:p>
        </p:txBody>
      </p:sp>
    </p:spTree>
    <p:extLst>
      <p:ext uri="{BB962C8B-B14F-4D97-AF65-F5344CB8AC3E}">
        <p14:creationId xmlns:p14="http://schemas.microsoft.com/office/powerpoint/2010/main" val="30162484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5821E-1984-65DE-DC2E-1F45CA10DC0E}"/>
              </a:ext>
            </a:extLst>
          </p:cNvPr>
          <p:cNvSpPr>
            <a:spLocks noGrp="1"/>
          </p:cNvSpPr>
          <p:nvPr>
            <p:ph type="title"/>
          </p:nvPr>
        </p:nvSpPr>
        <p:spPr>
          <a:xfrm>
            <a:off x="656844" y="487045"/>
            <a:ext cx="10829544" cy="667052"/>
          </a:xfrm>
        </p:spPr>
        <p:txBody>
          <a:bodyPr/>
          <a:lstStyle/>
          <a:p>
            <a:r>
              <a:rPr lang="en-US" dirty="0"/>
              <a:t>Change in balance sheet: net income versus cash flow</a:t>
            </a:r>
          </a:p>
        </p:txBody>
      </p:sp>
      <p:sp>
        <p:nvSpPr>
          <p:cNvPr id="4" name="Slide Number Placeholder 3">
            <a:extLst>
              <a:ext uri="{FF2B5EF4-FFF2-40B4-BE49-F238E27FC236}">
                <a16:creationId xmlns:a16="http://schemas.microsoft.com/office/drawing/2014/main" id="{10F3B928-D1CF-71C4-D981-C2B2FD911823}"/>
              </a:ext>
            </a:extLst>
          </p:cNvPr>
          <p:cNvSpPr>
            <a:spLocks noGrp="1"/>
          </p:cNvSpPr>
          <p:nvPr>
            <p:ph type="sldNum" sz="quarter" idx="10"/>
          </p:nvPr>
        </p:nvSpPr>
        <p:spPr/>
        <p:txBody>
          <a:bodyPr/>
          <a:lstStyle/>
          <a:p>
            <a:fld id="{421B1A79-1F45-8F4F-AED5-0EE30DCF0380}" type="slidenum">
              <a:rPr lang="fr-FR" smtClean="0"/>
              <a:t>38</a:t>
            </a:fld>
            <a:endParaRPr lang="fr-FR"/>
          </a:p>
        </p:txBody>
      </p:sp>
      <p:sp>
        <p:nvSpPr>
          <p:cNvPr id="5" name="Slide Number Placeholder 4">
            <a:extLst>
              <a:ext uri="{FF2B5EF4-FFF2-40B4-BE49-F238E27FC236}">
                <a16:creationId xmlns:a16="http://schemas.microsoft.com/office/drawing/2014/main" id="{517C3DC5-14C7-27BB-FC2D-92877136C672}"/>
              </a:ext>
            </a:extLst>
          </p:cNvPr>
          <p:cNvSpPr txBox="1">
            <a:spLocks/>
          </p:cNvSpPr>
          <p:nvPr/>
        </p:nvSpPr>
        <p:spPr>
          <a:xfrm>
            <a:off x="5746228" y="5448007"/>
            <a:ext cx="718774"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07C7597-8D70-4701-8085-9524B0B5C72B}" type="slidenum">
              <a:rPr lang="fr-FR" smtClean="0"/>
              <a:pPr/>
              <a:t>38</a:t>
            </a:fld>
            <a:endParaRPr lang="fr-FR" dirty="0"/>
          </a:p>
        </p:txBody>
      </p:sp>
      <p:grpSp>
        <p:nvGrpSpPr>
          <p:cNvPr id="7" name="Group 6">
            <a:extLst>
              <a:ext uri="{FF2B5EF4-FFF2-40B4-BE49-F238E27FC236}">
                <a16:creationId xmlns:a16="http://schemas.microsoft.com/office/drawing/2014/main" id="{7166B974-25E5-DCF5-47C9-D50F6F88724A}"/>
              </a:ext>
            </a:extLst>
          </p:cNvPr>
          <p:cNvGrpSpPr/>
          <p:nvPr/>
        </p:nvGrpSpPr>
        <p:grpSpPr>
          <a:xfrm>
            <a:off x="-126252" y="1695486"/>
            <a:ext cx="12479810" cy="2464685"/>
            <a:chOff x="-254626" y="1966069"/>
            <a:chExt cx="8749426" cy="1849417"/>
          </a:xfrm>
        </p:grpSpPr>
        <p:sp>
          <p:nvSpPr>
            <p:cNvPr id="8" name="TextBox 7">
              <a:extLst>
                <a:ext uri="{FF2B5EF4-FFF2-40B4-BE49-F238E27FC236}">
                  <a16:creationId xmlns:a16="http://schemas.microsoft.com/office/drawing/2014/main" id="{8676D44A-C4DA-602C-8CCD-58E44B1434A9}"/>
                </a:ext>
              </a:extLst>
            </p:cNvPr>
            <p:cNvSpPr txBox="1"/>
            <p:nvPr/>
          </p:nvSpPr>
          <p:spPr>
            <a:xfrm>
              <a:off x="173236" y="1966069"/>
              <a:ext cx="2179643" cy="807827"/>
            </a:xfrm>
            <a:prstGeom prst="rect">
              <a:avLst/>
            </a:prstGeom>
            <a:noFill/>
          </p:spPr>
          <p:txBody>
            <a:bodyPr wrap="square" rtlCol="0">
              <a:spAutoFit/>
            </a:bodyPr>
            <a:lstStyle/>
            <a:p>
              <a:pPr algn="ctr"/>
              <a:r>
                <a:rPr lang="en-US" sz="3198" dirty="0"/>
                <a:t>Change in Assets (A)</a:t>
              </a:r>
            </a:p>
          </p:txBody>
        </p:sp>
        <p:sp>
          <p:nvSpPr>
            <p:cNvPr id="9" name="TextBox 8">
              <a:extLst>
                <a:ext uri="{FF2B5EF4-FFF2-40B4-BE49-F238E27FC236}">
                  <a16:creationId xmlns:a16="http://schemas.microsoft.com/office/drawing/2014/main" id="{B07E6ABA-6850-5202-888B-955318C099EF}"/>
                </a:ext>
              </a:extLst>
            </p:cNvPr>
            <p:cNvSpPr txBox="1"/>
            <p:nvPr/>
          </p:nvSpPr>
          <p:spPr>
            <a:xfrm>
              <a:off x="2051720" y="1966069"/>
              <a:ext cx="1296144" cy="438555"/>
            </a:xfrm>
            <a:prstGeom prst="rect">
              <a:avLst/>
            </a:prstGeom>
            <a:noFill/>
          </p:spPr>
          <p:txBody>
            <a:bodyPr wrap="square" rtlCol="0">
              <a:spAutoFit/>
            </a:bodyPr>
            <a:lstStyle/>
            <a:p>
              <a:pPr algn="ctr"/>
              <a:r>
                <a:rPr lang="en-US" sz="3198" dirty="0"/>
                <a:t>=</a:t>
              </a:r>
            </a:p>
          </p:txBody>
        </p:sp>
        <p:sp>
          <p:nvSpPr>
            <p:cNvPr id="10" name="TextBox 9">
              <a:extLst>
                <a:ext uri="{FF2B5EF4-FFF2-40B4-BE49-F238E27FC236}">
                  <a16:creationId xmlns:a16="http://schemas.microsoft.com/office/drawing/2014/main" id="{8E3B2619-607C-4A47-2F9D-AD3B9CE1B052}"/>
                </a:ext>
              </a:extLst>
            </p:cNvPr>
            <p:cNvSpPr txBox="1"/>
            <p:nvPr/>
          </p:nvSpPr>
          <p:spPr>
            <a:xfrm>
              <a:off x="6308254" y="1966069"/>
              <a:ext cx="2186546" cy="807827"/>
            </a:xfrm>
            <a:prstGeom prst="rect">
              <a:avLst/>
            </a:prstGeom>
            <a:noFill/>
          </p:spPr>
          <p:txBody>
            <a:bodyPr wrap="square" rtlCol="0">
              <a:spAutoFit/>
            </a:bodyPr>
            <a:lstStyle/>
            <a:p>
              <a:pPr algn="ctr"/>
              <a:r>
                <a:rPr lang="en-US" sz="3198" dirty="0"/>
                <a:t>Change in Equity (E)</a:t>
              </a:r>
            </a:p>
          </p:txBody>
        </p:sp>
        <p:sp>
          <p:nvSpPr>
            <p:cNvPr id="11" name="TextBox 10">
              <a:extLst>
                <a:ext uri="{FF2B5EF4-FFF2-40B4-BE49-F238E27FC236}">
                  <a16:creationId xmlns:a16="http://schemas.microsoft.com/office/drawing/2014/main" id="{669635AA-F6A7-AC5A-44BC-B71038965F23}"/>
                </a:ext>
              </a:extLst>
            </p:cNvPr>
            <p:cNvSpPr txBox="1"/>
            <p:nvPr/>
          </p:nvSpPr>
          <p:spPr>
            <a:xfrm>
              <a:off x="3207274" y="1966069"/>
              <a:ext cx="2377977" cy="807827"/>
            </a:xfrm>
            <a:prstGeom prst="rect">
              <a:avLst/>
            </a:prstGeom>
            <a:noFill/>
          </p:spPr>
          <p:txBody>
            <a:bodyPr wrap="square" rtlCol="0">
              <a:spAutoFit/>
            </a:bodyPr>
            <a:lstStyle/>
            <a:p>
              <a:pPr algn="ctr"/>
              <a:r>
                <a:rPr lang="en-US" sz="3198" dirty="0"/>
                <a:t>Change in Liabilities (L)</a:t>
              </a:r>
            </a:p>
          </p:txBody>
        </p:sp>
        <p:sp>
          <p:nvSpPr>
            <p:cNvPr id="12" name="TextBox 11">
              <a:extLst>
                <a:ext uri="{FF2B5EF4-FFF2-40B4-BE49-F238E27FC236}">
                  <a16:creationId xmlns:a16="http://schemas.microsoft.com/office/drawing/2014/main" id="{E4494E61-0372-C32D-DD79-9A1E14B2C95C}"/>
                </a:ext>
              </a:extLst>
            </p:cNvPr>
            <p:cNvSpPr txBox="1"/>
            <p:nvPr/>
          </p:nvSpPr>
          <p:spPr>
            <a:xfrm>
              <a:off x="5292080" y="1966069"/>
              <a:ext cx="1296144" cy="438555"/>
            </a:xfrm>
            <a:prstGeom prst="rect">
              <a:avLst/>
            </a:prstGeom>
            <a:noFill/>
          </p:spPr>
          <p:txBody>
            <a:bodyPr wrap="square" rtlCol="0">
              <a:spAutoFit/>
            </a:bodyPr>
            <a:lstStyle/>
            <a:p>
              <a:pPr algn="ctr"/>
              <a:r>
                <a:rPr lang="en-US" sz="3198" dirty="0"/>
                <a:t>+</a:t>
              </a:r>
            </a:p>
          </p:txBody>
        </p:sp>
        <p:sp>
          <p:nvSpPr>
            <p:cNvPr id="14" name="TextBox 13">
              <a:extLst>
                <a:ext uri="{FF2B5EF4-FFF2-40B4-BE49-F238E27FC236}">
                  <a16:creationId xmlns:a16="http://schemas.microsoft.com/office/drawing/2014/main" id="{9EA6F00E-3269-6B00-2037-E2B57247915A}"/>
                </a:ext>
              </a:extLst>
            </p:cNvPr>
            <p:cNvSpPr txBox="1"/>
            <p:nvPr/>
          </p:nvSpPr>
          <p:spPr>
            <a:xfrm>
              <a:off x="-254626" y="3007659"/>
              <a:ext cx="1078182" cy="807827"/>
            </a:xfrm>
            <a:prstGeom prst="rect">
              <a:avLst/>
            </a:prstGeom>
            <a:noFill/>
          </p:spPr>
          <p:txBody>
            <a:bodyPr wrap="square" rtlCol="0">
              <a:spAutoFit/>
            </a:bodyPr>
            <a:lstStyle/>
            <a:p>
              <a:pPr algn="ctr"/>
              <a:r>
                <a:rPr lang="en-US" sz="3198" b="1" dirty="0"/>
                <a:t>Cash flow</a:t>
              </a:r>
            </a:p>
          </p:txBody>
        </p:sp>
        <p:sp>
          <p:nvSpPr>
            <p:cNvPr id="15" name="Arrow: Down 14">
              <a:extLst>
                <a:ext uri="{FF2B5EF4-FFF2-40B4-BE49-F238E27FC236}">
                  <a16:creationId xmlns:a16="http://schemas.microsoft.com/office/drawing/2014/main" id="{9AD16A65-8738-2D97-E90E-CB094CCE7E4B}"/>
                </a:ext>
              </a:extLst>
            </p:cNvPr>
            <p:cNvSpPr/>
            <p:nvPr/>
          </p:nvSpPr>
          <p:spPr>
            <a:xfrm rot="12275120">
              <a:off x="548454" y="2779804"/>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16" name="Arrow: Down 15">
              <a:extLst>
                <a:ext uri="{FF2B5EF4-FFF2-40B4-BE49-F238E27FC236}">
                  <a16:creationId xmlns:a16="http://schemas.microsoft.com/office/drawing/2014/main" id="{05575D15-EB87-BA67-21DC-666B1ADA012D}"/>
                </a:ext>
              </a:extLst>
            </p:cNvPr>
            <p:cNvSpPr/>
            <p:nvPr/>
          </p:nvSpPr>
          <p:spPr>
            <a:xfrm rot="12636060">
              <a:off x="6500211" y="2754105"/>
              <a:ext cx="288032" cy="189663"/>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grpSp>
      <p:sp>
        <p:nvSpPr>
          <p:cNvPr id="17" name="Arrow: Down 14">
            <a:extLst>
              <a:ext uri="{FF2B5EF4-FFF2-40B4-BE49-F238E27FC236}">
                <a16:creationId xmlns:a16="http://schemas.microsoft.com/office/drawing/2014/main" id="{C5B6CADD-73A7-D528-6A2F-CE71CE7D3C9C}"/>
              </a:ext>
            </a:extLst>
          </p:cNvPr>
          <p:cNvSpPr/>
          <p:nvPr/>
        </p:nvSpPr>
        <p:spPr>
          <a:xfrm rot="8899058">
            <a:off x="2144190" y="2790004"/>
            <a:ext cx="410836" cy="423325"/>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18" name="TextBox 17">
            <a:extLst>
              <a:ext uri="{FF2B5EF4-FFF2-40B4-BE49-F238E27FC236}">
                <a16:creationId xmlns:a16="http://schemas.microsoft.com/office/drawing/2014/main" id="{44943CED-B5E4-DDC1-FE8F-6BE46FEDB0B7}"/>
              </a:ext>
            </a:extLst>
          </p:cNvPr>
          <p:cNvSpPr txBox="1"/>
          <p:nvPr/>
        </p:nvSpPr>
        <p:spPr>
          <a:xfrm>
            <a:off x="1233996" y="3398062"/>
            <a:ext cx="2773478" cy="3108543"/>
          </a:xfrm>
          <a:prstGeom prst="rect">
            <a:avLst/>
          </a:prstGeom>
          <a:noFill/>
        </p:spPr>
        <p:txBody>
          <a:bodyPr wrap="square" rtlCol="0">
            <a:spAutoFit/>
          </a:bodyPr>
          <a:lstStyle/>
          <a:p>
            <a:pPr algn="ctr"/>
            <a:r>
              <a:rPr lang="en-US" sz="2800" dirty="0"/>
              <a:t>Change in operating assets and nonoperating assets (excluding cash)</a:t>
            </a:r>
          </a:p>
        </p:txBody>
      </p:sp>
      <p:sp>
        <p:nvSpPr>
          <p:cNvPr id="19" name="Arrow: Down 17">
            <a:extLst>
              <a:ext uri="{FF2B5EF4-FFF2-40B4-BE49-F238E27FC236}">
                <a16:creationId xmlns:a16="http://schemas.microsoft.com/office/drawing/2014/main" id="{658C6167-B589-BAA4-4096-D3E4E2E585FF}"/>
              </a:ext>
            </a:extLst>
          </p:cNvPr>
          <p:cNvSpPr/>
          <p:nvPr/>
        </p:nvSpPr>
        <p:spPr>
          <a:xfrm rot="8430336">
            <a:off x="10994797" y="2790005"/>
            <a:ext cx="410836" cy="423325"/>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20" name="TextBox 19">
            <a:extLst>
              <a:ext uri="{FF2B5EF4-FFF2-40B4-BE49-F238E27FC236}">
                <a16:creationId xmlns:a16="http://schemas.microsoft.com/office/drawing/2014/main" id="{1A3E7C80-612A-F2D8-EEE2-8D1DB9CD83D2}"/>
              </a:ext>
            </a:extLst>
          </p:cNvPr>
          <p:cNvSpPr txBox="1"/>
          <p:nvPr/>
        </p:nvSpPr>
        <p:spPr>
          <a:xfrm>
            <a:off x="10165950" y="3308160"/>
            <a:ext cx="2187608" cy="1384995"/>
          </a:xfrm>
          <a:prstGeom prst="rect">
            <a:avLst/>
          </a:prstGeom>
          <a:noFill/>
        </p:spPr>
        <p:txBody>
          <a:bodyPr wrap="square" rtlCol="0">
            <a:spAutoFit/>
          </a:bodyPr>
          <a:lstStyle/>
          <a:p>
            <a:pPr algn="ctr"/>
            <a:r>
              <a:rPr lang="en-US" sz="2800" dirty="0"/>
              <a:t>Change in contributed capital</a:t>
            </a:r>
          </a:p>
        </p:txBody>
      </p:sp>
      <p:sp>
        <p:nvSpPr>
          <p:cNvPr id="21" name="Arrow: Down 17">
            <a:extLst>
              <a:ext uri="{FF2B5EF4-FFF2-40B4-BE49-F238E27FC236}">
                <a16:creationId xmlns:a16="http://schemas.microsoft.com/office/drawing/2014/main" id="{8FED513B-32E1-7A3D-33AC-A98CD36769E9}"/>
              </a:ext>
            </a:extLst>
          </p:cNvPr>
          <p:cNvSpPr/>
          <p:nvPr/>
        </p:nvSpPr>
        <p:spPr>
          <a:xfrm rot="12642639">
            <a:off x="10054224" y="2707340"/>
            <a:ext cx="410836" cy="137178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22" name="TextBox 21">
            <a:extLst>
              <a:ext uri="{FF2B5EF4-FFF2-40B4-BE49-F238E27FC236}">
                <a16:creationId xmlns:a16="http://schemas.microsoft.com/office/drawing/2014/main" id="{AC2B0A5B-13FC-7B14-0177-CBB5ABBE47BC}"/>
              </a:ext>
            </a:extLst>
          </p:cNvPr>
          <p:cNvSpPr txBox="1"/>
          <p:nvPr/>
        </p:nvSpPr>
        <p:spPr>
          <a:xfrm>
            <a:off x="8363910" y="4048649"/>
            <a:ext cx="2004027" cy="523220"/>
          </a:xfrm>
          <a:prstGeom prst="rect">
            <a:avLst/>
          </a:prstGeom>
          <a:noFill/>
        </p:spPr>
        <p:txBody>
          <a:bodyPr wrap="square" rtlCol="0">
            <a:spAutoFit/>
          </a:bodyPr>
          <a:lstStyle/>
          <a:p>
            <a:pPr algn="ctr"/>
            <a:r>
              <a:rPr lang="en-US" sz="2800" dirty="0"/>
              <a:t>- Dividends</a:t>
            </a:r>
          </a:p>
        </p:txBody>
      </p:sp>
      <p:sp>
        <p:nvSpPr>
          <p:cNvPr id="23" name="Arrow: Down 14">
            <a:extLst>
              <a:ext uri="{FF2B5EF4-FFF2-40B4-BE49-F238E27FC236}">
                <a16:creationId xmlns:a16="http://schemas.microsoft.com/office/drawing/2014/main" id="{F007AE8E-6375-2E99-EC6E-B68B0F724E02}"/>
              </a:ext>
            </a:extLst>
          </p:cNvPr>
          <p:cNvSpPr/>
          <p:nvPr/>
        </p:nvSpPr>
        <p:spPr>
          <a:xfrm rot="8899058">
            <a:off x="6856705" y="2724678"/>
            <a:ext cx="410836" cy="423325"/>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24" name="TextBox 23">
            <a:extLst>
              <a:ext uri="{FF2B5EF4-FFF2-40B4-BE49-F238E27FC236}">
                <a16:creationId xmlns:a16="http://schemas.microsoft.com/office/drawing/2014/main" id="{58036E72-D4D9-599F-9199-A9A3D34D8ADF}"/>
              </a:ext>
            </a:extLst>
          </p:cNvPr>
          <p:cNvSpPr txBox="1"/>
          <p:nvPr/>
        </p:nvSpPr>
        <p:spPr>
          <a:xfrm>
            <a:off x="6096001" y="3342803"/>
            <a:ext cx="2107501" cy="2246769"/>
          </a:xfrm>
          <a:prstGeom prst="rect">
            <a:avLst/>
          </a:prstGeom>
          <a:solidFill>
            <a:srgbClr val="FEF9F4"/>
          </a:solidFill>
        </p:spPr>
        <p:txBody>
          <a:bodyPr wrap="square" rtlCol="0">
            <a:spAutoFit/>
          </a:bodyPr>
          <a:lstStyle/>
          <a:p>
            <a:pPr algn="ctr"/>
            <a:r>
              <a:rPr lang="en-US" sz="2800" dirty="0"/>
              <a:t>Change in debt (i.e. interest-bearing liabilities)</a:t>
            </a:r>
          </a:p>
        </p:txBody>
      </p:sp>
      <p:sp>
        <p:nvSpPr>
          <p:cNvPr id="25" name="Arrow: Down 14">
            <a:extLst>
              <a:ext uri="{FF2B5EF4-FFF2-40B4-BE49-F238E27FC236}">
                <a16:creationId xmlns:a16="http://schemas.microsoft.com/office/drawing/2014/main" id="{8579D252-8B3E-F5A4-1BEA-B82172551AEF}"/>
              </a:ext>
            </a:extLst>
          </p:cNvPr>
          <p:cNvSpPr/>
          <p:nvPr/>
        </p:nvSpPr>
        <p:spPr>
          <a:xfrm rot="12361253">
            <a:off x="5573762" y="2840011"/>
            <a:ext cx="410836" cy="423325"/>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26" name="TextBox 25">
            <a:extLst>
              <a:ext uri="{FF2B5EF4-FFF2-40B4-BE49-F238E27FC236}">
                <a16:creationId xmlns:a16="http://schemas.microsoft.com/office/drawing/2014/main" id="{DE1B9B18-2B26-9420-CD55-E1642DD2B958}"/>
              </a:ext>
            </a:extLst>
          </p:cNvPr>
          <p:cNvSpPr txBox="1"/>
          <p:nvPr/>
        </p:nvSpPr>
        <p:spPr>
          <a:xfrm>
            <a:off x="3953922" y="3344510"/>
            <a:ext cx="2107501" cy="1384995"/>
          </a:xfrm>
          <a:prstGeom prst="rect">
            <a:avLst/>
          </a:prstGeom>
          <a:noFill/>
        </p:spPr>
        <p:txBody>
          <a:bodyPr wrap="square" rtlCol="0">
            <a:spAutoFit/>
          </a:bodyPr>
          <a:lstStyle/>
          <a:p>
            <a:pPr algn="ctr"/>
            <a:r>
              <a:rPr lang="en-US" sz="2800" dirty="0"/>
              <a:t>Change in operating liabilities</a:t>
            </a:r>
          </a:p>
        </p:txBody>
      </p:sp>
      <p:sp>
        <p:nvSpPr>
          <p:cNvPr id="3" name="TextBox 2">
            <a:extLst>
              <a:ext uri="{FF2B5EF4-FFF2-40B4-BE49-F238E27FC236}">
                <a16:creationId xmlns:a16="http://schemas.microsoft.com/office/drawing/2014/main" id="{DA5EE8F8-495A-5D14-CA1E-8A04708280A1}"/>
              </a:ext>
            </a:extLst>
          </p:cNvPr>
          <p:cNvSpPr txBox="1"/>
          <p:nvPr/>
        </p:nvSpPr>
        <p:spPr>
          <a:xfrm>
            <a:off x="8685911" y="5696198"/>
            <a:ext cx="3147461" cy="830997"/>
          </a:xfrm>
          <a:prstGeom prst="rect">
            <a:avLst/>
          </a:prstGeom>
          <a:noFill/>
        </p:spPr>
        <p:txBody>
          <a:bodyPr wrap="square" rtlCol="0">
            <a:spAutoFit/>
          </a:bodyPr>
          <a:lstStyle/>
          <a:p>
            <a:pPr algn="ctr"/>
            <a:r>
              <a:rPr lang="en-US" sz="2400" dirty="0"/>
              <a:t>Net income </a:t>
            </a:r>
          </a:p>
          <a:p>
            <a:pPr algn="ctr"/>
            <a:r>
              <a:rPr lang="en-US" sz="2400" dirty="0"/>
              <a:t>= net profit or net loss</a:t>
            </a:r>
          </a:p>
        </p:txBody>
      </p:sp>
      <p:sp>
        <p:nvSpPr>
          <p:cNvPr id="6" name="TextBox 5">
            <a:extLst>
              <a:ext uri="{FF2B5EF4-FFF2-40B4-BE49-F238E27FC236}">
                <a16:creationId xmlns:a16="http://schemas.microsoft.com/office/drawing/2014/main" id="{B8B8F3F9-1A02-F036-D3A9-249CB50E77A0}"/>
              </a:ext>
            </a:extLst>
          </p:cNvPr>
          <p:cNvSpPr txBox="1"/>
          <p:nvPr/>
        </p:nvSpPr>
        <p:spPr>
          <a:xfrm>
            <a:off x="7820549" y="2972072"/>
            <a:ext cx="2416504" cy="584454"/>
          </a:xfrm>
          <a:prstGeom prst="rect">
            <a:avLst/>
          </a:prstGeom>
          <a:noFill/>
        </p:spPr>
        <p:txBody>
          <a:bodyPr wrap="square" rtlCol="0">
            <a:spAutoFit/>
          </a:bodyPr>
          <a:lstStyle/>
          <a:p>
            <a:pPr algn="ctr"/>
            <a:r>
              <a:rPr lang="en-US" sz="3198" b="1" dirty="0"/>
              <a:t>Net income</a:t>
            </a:r>
          </a:p>
        </p:txBody>
      </p:sp>
    </p:spTree>
    <p:extLst>
      <p:ext uri="{BB962C8B-B14F-4D97-AF65-F5344CB8AC3E}">
        <p14:creationId xmlns:p14="http://schemas.microsoft.com/office/powerpoint/2010/main" val="29840850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9A3F6-1707-8DB5-F686-1213353ECAD9}"/>
              </a:ext>
            </a:extLst>
          </p:cNvPr>
          <p:cNvSpPr>
            <a:spLocks noGrp="1"/>
          </p:cNvSpPr>
          <p:nvPr>
            <p:ph type="title"/>
          </p:nvPr>
        </p:nvSpPr>
        <p:spPr/>
        <p:txBody>
          <a:bodyPr/>
          <a:lstStyle/>
          <a:p>
            <a:r>
              <a:rPr lang="en-US" dirty="0"/>
              <a:t>Exercise 1</a:t>
            </a:r>
          </a:p>
        </p:txBody>
      </p:sp>
      <p:sp>
        <p:nvSpPr>
          <p:cNvPr id="3" name="Content Placeholder 2">
            <a:extLst>
              <a:ext uri="{FF2B5EF4-FFF2-40B4-BE49-F238E27FC236}">
                <a16:creationId xmlns:a16="http://schemas.microsoft.com/office/drawing/2014/main" id="{5DECBB47-0432-4DC6-895E-02F5FDFF606E}"/>
              </a:ext>
            </a:extLst>
          </p:cNvPr>
          <p:cNvSpPr>
            <a:spLocks noGrp="1"/>
          </p:cNvSpPr>
          <p:nvPr>
            <p:ph idx="1"/>
          </p:nvPr>
        </p:nvSpPr>
        <p:spPr>
          <a:xfrm>
            <a:off x="681228" y="1260630"/>
            <a:ext cx="10829544" cy="1091954"/>
          </a:xfrm>
        </p:spPr>
        <p:txBody>
          <a:bodyPr>
            <a:normAutofit/>
          </a:bodyPr>
          <a:lstStyle/>
          <a:p>
            <a:pPr marL="0" indent="0">
              <a:buNone/>
            </a:pPr>
            <a:r>
              <a:rPr lang="fr-FR" sz="2800" dirty="0" err="1"/>
              <a:t>What</a:t>
            </a:r>
            <a:r>
              <a:rPr lang="fr-FR" sz="2800" dirty="0"/>
              <a:t> </a:t>
            </a:r>
            <a:r>
              <a:rPr lang="fr-FR" sz="2800" dirty="0" err="1"/>
              <a:t>is</a:t>
            </a:r>
            <a:r>
              <a:rPr lang="fr-FR" sz="2800" dirty="0"/>
              <a:t> the cash flow (</a:t>
            </a:r>
            <a:r>
              <a:rPr lang="fr-FR" sz="2800" dirty="0" err="1"/>
              <a:t>with</a:t>
            </a:r>
            <a:r>
              <a:rPr lang="fr-FR" sz="2800" dirty="0"/>
              <a:t> indirect </a:t>
            </a:r>
            <a:r>
              <a:rPr lang="fr-FR" sz="2800" dirty="0" err="1"/>
              <a:t>method</a:t>
            </a:r>
            <a:r>
              <a:rPr lang="fr-FR" sz="2800" dirty="0"/>
              <a:t>: change in balance </a:t>
            </a:r>
            <a:r>
              <a:rPr lang="fr-FR" sz="2800" dirty="0" err="1"/>
              <a:t>sheet</a:t>
            </a:r>
            <a:r>
              <a:rPr lang="fr-FR" sz="2800" dirty="0"/>
              <a:t>)?</a:t>
            </a:r>
            <a:endParaRPr lang="en-US" sz="2800" dirty="0"/>
          </a:p>
          <a:p>
            <a:endParaRPr lang="en-US" dirty="0"/>
          </a:p>
        </p:txBody>
      </p:sp>
      <p:sp>
        <p:nvSpPr>
          <p:cNvPr id="4" name="Slide Number Placeholder 3">
            <a:extLst>
              <a:ext uri="{FF2B5EF4-FFF2-40B4-BE49-F238E27FC236}">
                <a16:creationId xmlns:a16="http://schemas.microsoft.com/office/drawing/2014/main" id="{0F5062B5-FB23-BAE1-3453-874D83BBDEBD}"/>
              </a:ext>
            </a:extLst>
          </p:cNvPr>
          <p:cNvSpPr>
            <a:spLocks noGrp="1"/>
          </p:cNvSpPr>
          <p:nvPr>
            <p:ph type="sldNum" sz="quarter" idx="10"/>
          </p:nvPr>
        </p:nvSpPr>
        <p:spPr/>
        <p:txBody>
          <a:bodyPr/>
          <a:lstStyle/>
          <a:p>
            <a:fld id="{421B1A79-1F45-8F4F-AED5-0EE30DCF0380}" type="slidenum">
              <a:rPr lang="fr-FR" smtClean="0"/>
              <a:t>39</a:t>
            </a:fld>
            <a:endParaRPr lang="fr-FR"/>
          </a:p>
        </p:txBody>
      </p:sp>
      <p:graphicFrame>
        <p:nvGraphicFramePr>
          <p:cNvPr id="5" name="Content Placeholder 5">
            <a:extLst>
              <a:ext uri="{FF2B5EF4-FFF2-40B4-BE49-F238E27FC236}">
                <a16:creationId xmlns:a16="http://schemas.microsoft.com/office/drawing/2014/main" id="{446E3C72-268F-B485-3D14-C18524146836}"/>
              </a:ext>
            </a:extLst>
          </p:cNvPr>
          <p:cNvGraphicFramePr>
            <a:graphicFrameLocks/>
          </p:cNvGraphicFramePr>
          <p:nvPr>
            <p:extLst>
              <p:ext uri="{D42A27DB-BD31-4B8C-83A1-F6EECF244321}">
                <p14:modId xmlns:p14="http://schemas.microsoft.com/office/powerpoint/2010/main" val="1421432356"/>
              </p:ext>
            </p:extLst>
          </p:nvPr>
        </p:nvGraphicFramePr>
        <p:xfrm>
          <a:off x="1115666" y="2466848"/>
          <a:ext cx="6265581" cy="2597268"/>
        </p:xfrm>
        <a:graphic>
          <a:graphicData uri="http://schemas.openxmlformats.org/drawingml/2006/table">
            <a:tbl>
              <a:tblPr>
                <a:tableStyleId>{B301B821-A1FF-4177-AEE7-76D212191A09}</a:tableStyleId>
              </a:tblPr>
              <a:tblGrid>
                <a:gridCol w="4934838">
                  <a:extLst>
                    <a:ext uri="{9D8B030D-6E8A-4147-A177-3AD203B41FA5}">
                      <a16:colId xmlns:a16="http://schemas.microsoft.com/office/drawing/2014/main" val="1555731078"/>
                    </a:ext>
                  </a:extLst>
                </a:gridCol>
                <a:gridCol w="1330743">
                  <a:extLst>
                    <a:ext uri="{9D8B030D-6E8A-4147-A177-3AD203B41FA5}">
                      <a16:colId xmlns:a16="http://schemas.microsoft.com/office/drawing/2014/main" val="1682692781"/>
                    </a:ext>
                  </a:extLst>
                </a:gridCol>
              </a:tblGrid>
              <a:tr h="432878">
                <a:tc>
                  <a:txBody>
                    <a:bodyPr/>
                    <a:lstStyle/>
                    <a:p>
                      <a:pPr algn="l" fontAlgn="b"/>
                      <a:r>
                        <a:rPr lang="en-US" sz="2800" u="none" strike="noStrike" dirty="0">
                          <a:effectLst/>
                        </a:rPr>
                        <a:t>Net profit</a:t>
                      </a:r>
                      <a:endParaRPr lang="en-US" sz="2800" b="0" i="0" u="none" strike="noStrike" dirty="0">
                        <a:solidFill>
                          <a:srgbClr val="000000"/>
                        </a:solidFill>
                        <a:effectLst/>
                        <a:latin typeface="Calibri" panose="020F0502020204030204" pitchFamily="34" charset="0"/>
                      </a:endParaRPr>
                    </a:p>
                  </a:txBody>
                  <a:tcPr marL="4463" marR="4463" marT="4463" marB="0" anchor="b">
                    <a:solidFill>
                      <a:schemeClr val="tx1">
                        <a:lumMod val="10000"/>
                        <a:lumOff val="90000"/>
                      </a:schemeClr>
                    </a:solidFill>
                  </a:tcPr>
                </a:tc>
                <a:tc>
                  <a:txBody>
                    <a:bodyPr/>
                    <a:lstStyle/>
                    <a:p>
                      <a:pPr algn="r" fontAlgn="b"/>
                      <a:r>
                        <a:rPr lang="en-US" sz="2800" u="none" strike="noStrike" dirty="0">
                          <a:effectLst/>
                        </a:rPr>
                        <a:t>200</a:t>
                      </a:r>
                      <a:endParaRPr lang="en-US" sz="2800" b="0" i="0" u="none" strike="noStrike" dirty="0">
                        <a:solidFill>
                          <a:srgbClr val="000000"/>
                        </a:solidFill>
                        <a:effectLst/>
                        <a:latin typeface="Calibri" panose="020F0502020204030204" pitchFamily="34" charset="0"/>
                      </a:endParaRPr>
                    </a:p>
                  </a:txBody>
                  <a:tcPr marL="4463" marR="4463" marT="4463" marB="0" anchor="b">
                    <a:solidFill>
                      <a:schemeClr val="tx1">
                        <a:lumMod val="10000"/>
                        <a:lumOff val="90000"/>
                      </a:schemeClr>
                    </a:solidFill>
                  </a:tcPr>
                </a:tc>
                <a:extLst>
                  <a:ext uri="{0D108BD9-81ED-4DB2-BD59-A6C34878D82A}">
                    <a16:rowId xmlns:a16="http://schemas.microsoft.com/office/drawing/2014/main" val="374100810"/>
                  </a:ext>
                </a:extLst>
              </a:tr>
              <a:tr h="432878">
                <a:tc>
                  <a:txBody>
                    <a:bodyPr/>
                    <a:lstStyle/>
                    <a:p>
                      <a:pPr algn="l" fontAlgn="b"/>
                      <a:r>
                        <a:rPr lang="en-US" sz="2800" u="none" strike="noStrike" dirty="0">
                          <a:effectLst/>
                        </a:rPr>
                        <a:t>Investment in P,P&amp;E</a:t>
                      </a:r>
                      <a:endParaRPr lang="en-US" sz="2800" b="0" i="0" u="none" strike="noStrike" dirty="0">
                        <a:solidFill>
                          <a:srgbClr val="000000"/>
                        </a:solidFill>
                        <a:effectLst/>
                        <a:latin typeface="Calibri" panose="020F0502020204030204" pitchFamily="34" charset="0"/>
                      </a:endParaRPr>
                    </a:p>
                  </a:txBody>
                  <a:tcPr marL="4463" marR="4463" marT="4463" marB="0" anchor="b"/>
                </a:tc>
                <a:tc>
                  <a:txBody>
                    <a:bodyPr/>
                    <a:lstStyle/>
                    <a:p>
                      <a:pPr algn="r" fontAlgn="b"/>
                      <a:r>
                        <a:rPr lang="en-US" sz="2800" u="none" strike="noStrike">
                          <a:effectLst/>
                        </a:rPr>
                        <a:t>80</a:t>
                      </a:r>
                      <a:endParaRPr lang="en-US" sz="2800" b="0" i="0" u="none" strike="noStrike">
                        <a:solidFill>
                          <a:srgbClr val="000000"/>
                        </a:solidFill>
                        <a:effectLst/>
                        <a:latin typeface="Calibri" panose="020F0502020204030204" pitchFamily="34" charset="0"/>
                      </a:endParaRPr>
                    </a:p>
                  </a:txBody>
                  <a:tcPr marL="4463" marR="4463" marT="4463" marB="0" anchor="b"/>
                </a:tc>
                <a:extLst>
                  <a:ext uri="{0D108BD9-81ED-4DB2-BD59-A6C34878D82A}">
                    <a16:rowId xmlns:a16="http://schemas.microsoft.com/office/drawing/2014/main" val="2877163862"/>
                  </a:ext>
                </a:extLst>
              </a:tr>
              <a:tr h="432878">
                <a:tc>
                  <a:txBody>
                    <a:bodyPr/>
                    <a:lstStyle/>
                    <a:p>
                      <a:pPr algn="l" fontAlgn="b"/>
                      <a:r>
                        <a:rPr lang="en-US" sz="2800" u="none" strike="noStrike" dirty="0">
                          <a:effectLst/>
                        </a:rPr>
                        <a:t>Increase in inventories</a:t>
                      </a:r>
                      <a:endParaRPr lang="en-US" sz="2800" b="0" i="0" u="none" strike="noStrike" dirty="0">
                        <a:solidFill>
                          <a:srgbClr val="000000"/>
                        </a:solidFill>
                        <a:effectLst/>
                        <a:latin typeface="Calibri" panose="020F0502020204030204" pitchFamily="34" charset="0"/>
                      </a:endParaRPr>
                    </a:p>
                  </a:txBody>
                  <a:tcPr marL="4463" marR="4463" marT="4463" marB="0" anchor="b">
                    <a:solidFill>
                      <a:schemeClr val="tx1">
                        <a:lumMod val="10000"/>
                        <a:lumOff val="90000"/>
                      </a:schemeClr>
                    </a:solidFill>
                  </a:tcPr>
                </a:tc>
                <a:tc>
                  <a:txBody>
                    <a:bodyPr/>
                    <a:lstStyle/>
                    <a:p>
                      <a:pPr algn="r" fontAlgn="b"/>
                      <a:r>
                        <a:rPr lang="en-US" sz="2800" u="none" strike="noStrike" dirty="0">
                          <a:effectLst/>
                        </a:rPr>
                        <a:t>10</a:t>
                      </a:r>
                      <a:endParaRPr lang="en-US" sz="2800" b="0" i="0" u="none" strike="noStrike" dirty="0">
                        <a:solidFill>
                          <a:srgbClr val="000000"/>
                        </a:solidFill>
                        <a:effectLst/>
                        <a:latin typeface="Calibri" panose="020F0502020204030204" pitchFamily="34" charset="0"/>
                      </a:endParaRPr>
                    </a:p>
                  </a:txBody>
                  <a:tcPr marL="4463" marR="4463" marT="4463" marB="0" anchor="b">
                    <a:solidFill>
                      <a:schemeClr val="tx1">
                        <a:lumMod val="10000"/>
                        <a:lumOff val="90000"/>
                      </a:schemeClr>
                    </a:solidFill>
                  </a:tcPr>
                </a:tc>
                <a:extLst>
                  <a:ext uri="{0D108BD9-81ED-4DB2-BD59-A6C34878D82A}">
                    <a16:rowId xmlns:a16="http://schemas.microsoft.com/office/drawing/2014/main" val="1864690327"/>
                  </a:ext>
                </a:extLst>
              </a:tr>
              <a:tr h="432878">
                <a:tc>
                  <a:txBody>
                    <a:bodyPr/>
                    <a:lstStyle/>
                    <a:p>
                      <a:pPr algn="l" fontAlgn="b"/>
                      <a:r>
                        <a:rPr lang="en-US" sz="2800" u="none" strike="noStrike">
                          <a:effectLst/>
                        </a:rPr>
                        <a:t>Repayment of debt</a:t>
                      </a:r>
                      <a:endParaRPr lang="en-US" sz="2800" b="0" i="0" u="none" strike="noStrike">
                        <a:solidFill>
                          <a:srgbClr val="000000"/>
                        </a:solidFill>
                        <a:effectLst/>
                        <a:latin typeface="Calibri" panose="020F0502020204030204" pitchFamily="34" charset="0"/>
                      </a:endParaRPr>
                    </a:p>
                  </a:txBody>
                  <a:tcPr marL="4463" marR="4463" marT="4463" marB="0" anchor="b"/>
                </a:tc>
                <a:tc>
                  <a:txBody>
                    <a:bodyPr/>
                    <a:lstStyle/>
                    <a:p>
                      <a:pPr algn="r" fontAlgn="b"/>
                      <a:r>
                        <a:rPr lang="en-US" sz="2800" u="none" strike="noStrike" dirty="0">
                          <a:effectLst/>
                        </a:rPr>
                        <a:t>60</a:t>
                      </a:r>
                      <a:endParaRPr lang="en-US" sz="2800" b="0" i="0" u="none" strike="noStrike" dirty="0">
                        <a:solidFill>
                          <a:srgbClr val="000000"/>
                        </a:solidFill>
                        <a:effectLst/>
                        <a:latin typeface="Calibri" panose="020F0502020204030204" pitchFamily="34" charset="0"/>
                      </a:endParaRPr>
                    </a:p>
                  </a:txBody>
                  <a:tcPr marL="4463" marR="4463" marT="4463" marB="0" anchor="b"/>
                </a:tc>
                <a:extLst>
                  <a:ext uri="{0D108BD9-81ED-4DB2-BD59-A6C34878D82A}">
                    <a16:rowId xmlns:a16="http://schemas.microsoft.com/office/drawing/2014/main" val="1395014584"/>
                  </a:ext>
                </a:extLst>
              </a:tr>
              <a:tr h="432878">
                <a:tc>
                  <a:txBody>
                    <a:bodyPr/>
                    <a:lstStyle/>
                    <a:p>
                      <a:pPr algn="l" fontAlgn="b"/>
                      <a:r>
                        <a:rPr lang="en-US" sz="2800" u="none" strike="noStrike" dirty="0">
                          <a:effectLst/>
                        </a:rPr>
                        <a:t>Issuance of shares</a:t>
                      </a:r>
                      <a:endParaRPr lang="en-US" sz="2800" b="0" i="0" u="none" strike="noStrike" dirty="0">
                        <a:solidFill>
                          <a:srgbClr val="000000"/>
                        </a:solidFill>
                        <a:effectLst/>
                        <a:latin typeface="Calibri" panose="020F0502020204030204" pitchFamily="34" charset="0"/>
                      </a:endParaRPr>
                    </a:p>
                  </a:txBody>
                  <a:tcPr marL="4463" marR="4463" marT="4463" marB="0" anchor="b">
                    <a:solidFill>
                      <a:schemeClr val="tx1">
                        <a:lumMod val="10000"/>
                        <a:lumOff val="90000"/>
                      </a:schemeClr>
                    </a:solidFill>
                  </a:tcPr>
                </a:tc>
                <a:tc>
                  <a:txBody>
                    <a:bodyPr/>
                    <a:lstStyle/>
                    <a:p>
                      <a:pPr algn="r" fontAlgn="b"/>
                      <a:r>
                        <a:rPr lang="en-US" sz="2800" u="none" strike="noStrike" dirty="0">
                          <a:effectLst/>
                        </a:rPr>
                        <a:t>110</a:t>
                      </a:r>
                      <a:endParaRPr lang="en-US" sz="2800" b="0" i="0" u="none" strike="noStrike" dirty="0">
                        <a:solidFill>
                          <a:srgbClr val="000000"/>
                        </a:solidFill>
                        <a:effectLst/>
                        <a:latin typeface="Calibri" panose="020F0502020204030204" pitchFamily="34" charset="0"/>
                      </a:endParaRPr>
                    </a:p>
                  </a:txBody>
                  <a:tcPr marL="4463" marR="4463" marT="4463" marB="0" anchor="b">
                    <a:solidFill>
                      <a:schemeClr val="tx1">
                        <a:lumMod val="10000"/>
                        <a:lumOff val="90000"/>
                      </a:schemeClr>
                    </a:solidFill>
                  </a:tcPr>
                </a:tc>
                <a:extLst>
                  <a:ext uri="{0D108BD9-81ED-4DB2-BD59-A6C34878D82A}">
                    <a16:rowId xmlns:a16="http://schemas.microsoft.com/office/drawing/2014/main" val="3311995271"/>
                  </a:ext>
                </a:extLst>
              </a:tr>
              <a:tr h="432878">
                <a:tc>
                  <a:txBody>
                    <a:bodyPr/>
                    <a:lstStyle/>
                    <a:p>
                      <a:pPr algn="l" fontAlgn="b"/>
                      <a:r>
                        <a:rPr lang="en-US" sz="2800" u="none" strike="noStrike">
                          <a:effectLst/>
                        </a:rPr>
                        <a:t>Increase in accounts payable</a:t>
                      </a:r>
                      <a:endParaRPr lang="en-US" sz="2800" b="0" i="0" u="none" strike="noStrike">
                        <a:solidFill>
                          <a:srgbClr val="000000"/>
                        </a:solidFill>
                        <a:effectLst/>
                        <a:latin typeface="Calibri" panose="020F0502020204030204" pitchFamily="34" charset="0"/>
                      </a:endParaRPr>
                    </a:p>
                  </a:txBody>
                  <a:tcPr marL="4463" marR="4463" marT="4463" marB="0" anchor="b"/>
                </a:tc>
                <a:tc>
                  <a:txBody>
                    <a:bodyPr/>
                    <a:lstStyle/>
                    <a:p>
                      <a:pPr algn="r" fontAlgn="b"/>
                      <a:r>
                        <a:rPr lang="en-US" sz="2800" u="none" strike="noStrike" dirty="0">
                          <a:effectLst/>
                        </a:rPr>
                        <a:t>15</a:t>
                      </a:r>
                      <a:endParaRPr lang="en-US" sz="2800" b="0" i="0" u="none" strike="noStrike" dirty="0">
                        <a:solidFill>
                          <a:srgbClr val="000000"/>
                        </a:solidFill>
                        <a:effectLst/>
                        <a:latin typeface="Calibri" panose="020F0502020204030204" pitchFamily="34" charset="0"/>
                      </a:endParaRPr>
                    </a:p>
                  </a:txBody>
                  <a:tcPr marL="4463" marR="4463" marT="4463" marB="0" anchor="b"/>
                </a:tc>
                <a:extLst>
                  <a:ext uri="{0D108BD9-81ED-4DB2-BD59-A6C34878D82A}">
                    <a16:rowId xmlns:a16="http://schemas.microsoft.com/office/drawing/2014/main" val="314942409"/>
                  </a:ext>
                </a:extLst>
              </a:tr>
            </a:tbl>
          </a:graphicData>
        </a:graphic>
      </p:graphicFrame>
    </p:spTree>
    <p:extLst>
      <p:ext uri="{BB962C8B-B14F-4D97-AF65-F5344CB8AC3E}">
        <p14:creationId xmlns:p14="http://schemas.microsoft.com/office/powerpoint/2010/main" val="42091342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C31DC-296A-A0D3-9F5B-6FF02AE99B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C86C11-8662-8CE2-9856-99DC8CF921E8}"/>
              </a:ext>
            </a:extLst>
          </p:cNvPr>
          <p:cNvSpPr>
            <a:spLocks noGrp="1"/>
          </p:cNvSpPr>
          <p:nvPr>
            <p:ph type="title"/>
          </p:nvPr>
        </p:nvSpPr>
        <p:spPr/>
        <p:txBody>
          <a:bodyPr/>
          <a:lstStyle/>
          <a:p>
            <a:r>
              <a:rPr lang="en-US" dirty="0"/>
              <a:t>Exercise 1: answer</a:t>
            </a:r>
          </a:p>
        </p:txBody>
      </p:sp>
      <p:sp>
        <p:nvSpPr>
          <p:cNvPr id="3" name="Content Placeholder 2">
            <a:extLst>
              <a:ext uri="{FF2B5EF4-FFF2-40B4-BE49-F238E27FC236}">
                <a16:creationId xmlns:a16="http://schemas.microsoft.com/office/drawing/2014/main" id="{CDBBC1E6-4DD7-BF65-115D-B79F7C009D46}"/>
              </a:ext>
            </a:extLst>
          </p:cNvPr>
          <p:cNvSpPr>
            <a:spLocks noGrp="1"/>
          </p:cNvSpPr>
          <p:nvPr>
            <p:ph idx="1"/>
          </p:nvPr>
        </p:nvSpPr>
        <p:spPr>
          <a:xfrm>
            <a:off x="681228" y="1260630"/>
            <a:ext cx="10829544" cy="1091954"/>
          </a:xfrm>
        </p:spPr>
        <p:txBody>
          <a:bodyPr>
            <a:normAutofit/>
          </a:bodyPr>
          <a:lstStyle/>
          <a:p>
            <a:pPr marL="0" indent="0">
              <a:buNone/>
            </a:pPr>
            <a:r>
              <a:rPr lang="fr-FR" sz="2800" dirty="0" err="1"/>
              <a:t>What</a:t>
            </a:r>
            <a:r>
              <a:rPr lang="fr-FR" sz="2800" dirty="0"/>
              <a:t> </a:t>
            </a:r>
            <a:r>
              <a:rPr lang="fr-FR" sz="2800" dirty="0" err="1"/>
              <a:t>is</a:t>
            </a:r>
            <a:r>
              <a:rPr lang="fr-FR" sz="2800" dirty="0"/>
              <a:t> the cash flow (</a:t>
            </a:r>
            <a:r>
              <a:rPr lang="fr-FR" sz="2800" dirty="0" err="1"/>
              <a:t>with</a:t>
            </a:r>
            <a:r>
              <a:rPr lang="fr-FR" sz="2800" dirty="0"/>
              <a:t> indirect </a:t>
            </a:r>
            <a:r>
              <a:rPr lang="fr-FR" sz="2800" dirty="0" err="1"/>
              <a:t>method</a:t>
            </a:r>
            <a:r>
              <a:rPr lang="fr-FR" sz="2800" dirty="0"/>
              <a:t>: change in balance </a:t>
            </a:r>
            <a:r>
              <a:rPr lang="fr-FR" sz="2800" dirty="0" err="1"/>
              <a:t>sheet</a:t>
            </a:r>
            <a:r>
              <a:rPr lang="fr-FR" sz="2800" dirty="0"/>
              <a:t>)?</a:t>
            </a:r>
            <a:endParaRPr lang="en-US" sz="2800" dirty="0"/>
          </a:p>
          <a:p>
            <a:endParaRPr lang="en-US" dirty="0"/>
          </a:p>
        </p:txBody>
      </p:sp>
      <p:sp>
        <p:nvSpPr>
          <p:cNvPr id="4" name="Slide Number Placeholder 3">
            <a:extLst>
              <a:ext uri="{FF2B5EF4-FFF2-40B4-BE49-F238E27FC236}">
                <a16:creationId xmlns:a16="http://schemas.microsoft.com/office/drawing/2014/main" id="{20784C47-D370-EF77-5A03-7FB0C5C39885}"/>
              </a:ext>
            </a:extLst>
          </p:cNvPr>
          <p:cNvSpPr>
            <a:spLocks noGrp="1"/>
          </p:cNvSpPr>
          <p:nvPr>
            <p:ph type="sldNum" sz="quarter" idx="10"/>
          </p:nvPr>
        </p:nvSpPr>
        <p:spPr/>
        <p:txBody>
          <a:bodyPr/>
          <a:lstStyle/>
          <a:p>
            <a:fld id="{421B1A79-1F45-8F4F-AED5-0EE30DCF0380}" type="slidenum">
              <a:rPr lang="fr-FR" smtClean="0"/>
              <a:t>40</a:t>
            </a:fld>
            <a:endParaRPr lang="fr-FR"/>
          </a:p>
        </p:txBody>
      </p:sp>
      <p:graphicFrame>
        <p:nvGraphicFramePr>
          <p:cNvPr id="6" name="Content Placeholder 5">
            <a:extLst>
              <a:ext uri="{FF2B5EF4-FFF2-40B4-BE49-F238E27FC236}">
                <a16:creationId xmlns:a16="http://schemas.microsoft.com/office/drawing/2014/main" id="{62FD69A0-9106-C63F-3125-45267423A5B6}"/>
              </a:ext>
            </a:extLst>
          </p:cNvPr>
          <p:cNvGraphicFramePr>
            <a:graphicFrameLocks/>
          </p:cNvGraphicFramePr>
          <p:nvPr>
            <p:extLst>
              <p:ext uri="{D42A27DB-BD31-4B8C-83A1-F6EECF244321}">
                <p14:modId xmlns:p14="http://schemas.microsoft.com/office/powerpoint/2010/main" val="1979093430"/>
              </p:ext>
            </p:extLst>
          </p:nvPr>
        </p:nvGraphicFramePr>
        <p:xfrm>
          <a:off x="79899" y="2341071"/>
          <a:ext cx="11311031" cy="2603650"/>
        </p:xfrm>
        <a:graphic>
          <a:graphicData uri="http://schemas.openxmlformats.org/drawingml/2006/table">
            <a:tbl>
              <a:tblPr>
                <a:tableStyleId>{B301B821-A1FF-4177-AEE7-76D212191A09}</a:tableStyleId>
              </a:tblPr>
              <a:tblGrid>
                <a:gridCol w="4918229">
                  <a:extLst>
                    <a:ext uri="{9D8B030D-6E8A-4147-A177-3AD203B41FA5}">
                      <a16:colId xmlns:a16="http://schemas.microsoft.com/office/drawing/2014/main" val="1555731078"/>
                    </a:ext>
                  </a:extLst>
                </a:gridCol>
                <a:gridCol w="930411">
                  <a:extLst>
                    <a:ext uri="{9D8B030D-6E8A-4147-A177-3AD203B41FA5}">
                      <a16:colId xmlns:a16="http://schemas.microsoft.com/office/drawing/2014/main" val="1682692781"/>
                    </a:ext>
                  </a:extLst>
                </a:gridCol>
                <a:gridCol w="5462391">
                  <a:extLst>
                    <a:ext uri="{9D8B030D-6E8A-4147-A177-3AD203B41FA5}">
                      <a16:colId xmlns:a16="http://schemas.microsoft.com/office/drawing/2014/main" val="3922811676"/>
                    </a:ext>
                  </a:extLst>
                </a:gridCol>
              </a:tblGrid>
              <a:tr h="365516">
                <a:tc>
                  <a:txBody>
                    <a:bodyPr/>
                    <a:lstStyle/>
                    <a:p>
                      <a:pPr algn="l" fontAlgn="b"/>
                      <a:r>
                        <a:rPr lang="en-US" sz="2800" u="none" strike="noStrike" dirty="0">
                          <a:effectLst/>
                        </a:rPr>
                        <a:t>Net profit</a:t>
                      </a:r>
                      <a:endParaRPr lang="en-US" sz="2800" b="0" i="0" u="none" strike="noStrike" dirty="0">
                        <a:solidFill>
                          <a:srgbClr val="000000"/>
                        </a:solidFill>
                        <a:effectLst/>
                        <a:latin typeface="Calibri" panose="020F0502020204030204" pitchFamily="34" charset="0"/>
                      </a:endParaRPr>
                    </a:p>
                  </a:txBody>
                  <a:tcPr marL="4463" marR="4463" marT="4463" marB="0" anchor="b">
                    <a:solidFill>
                      <a:schemeClr val="tx1">
                        <a:lumMod val="10000"/>
                        <a:lumOff val="90000"/>
                      </a:schemeClr>
                    </a:solidFill>
                  </a:tcPr>
                </a:tc>
                <a:tc>
                  <a:txBody>
                    <a:bodyPr/>
                    <a:lstStyle/>
                    <a:p>
                      <a:pPr algn="r" fontAlgn="b"/>
                      <a:r>
                        <a:rPr lang="en-US" sz="2800" u="none" strike="noStrike" dirty="0">
                          <a:effectLst/>
                        </a:rPr>
                        <a:t>200</a:t>
                      </a:r>
                      <a:endParaRPr lang="en-US" sz="2800" b="0" i="0" u="none" strike="noStrike" dirty="0">
                        <a:solidFill>
                          <a:srgbClr val="000000"/>
                        </a:solidFill>
                        <a:effectLst/>
                        <a:latin typeface="Calibri" panose="020F0502020204030204" pitchFamily="34" charset="0"/>
                      </a:endParaRPr>
                    </a:p>
                  </a:txBody>
                  <a:tcPr marL="4463" marR="4463" marT="4463" marB="0" anchor="b">
                    <a:solidFill>
                      <a:schemeClr val="tx1">
                        <a:lumMod val="10000"/>
                        <a:lumOff val="90000"/>
                      </a:schemeClr>
                    </a:solidFill>
                  </a:tcPr>
                </a:tc>
                <a:tc>
                  <a:txBody>
                    <a:bodyPr/>
                    <a:lstStyle/>
                    <a:p>
                      <a:pPr algn="r" fontAlgn="b"/>
                      <a:endParaRPr lang="en-US" sz="2800" b="0" i="0" u="none" strike="noStrike" dirty="0">
                        <a:solidFill>
                          <a:srgbClr val="000000"/>
                        </a:solidFill>
                        <a:effectLst/>
                        <a:latin typeface="Calibri" panose="020F0502020204030204" pitchFamily="34" charset="0"/>
                      </a:endParaRPr>
                    </a:p>
                  </a:txBody>
                  <a:tcPr marL="4463" marR="4463" marT="4463" marB="0" anchor="b">
                    <a:solidFill>
                      <a:schemeClr val="tx1">
                        <a:lumMod val="10000"/>
                        <a:lumOff val="90000"/>
                      </a:schemeClr>
                    </a:solidFill>
                  </a:tcPr>
                </a:tc>
                <a:extLst>
                  <a:ext uri="{0D108BD9-81ED-4DB2-BD59-A6C34878D82A}">
                    <a16:rowId xmlns:a16="http://schemas.microsoft.com/office/drawing/2014/main" val="374100810"/>
                  </a:ext>
                </a:extLst>
              </a:tr>
              <a:tr h="365516">
                <a:tc>
                  <a:txBody>
                    <a:bodyPr/>
                    <a:lstStyle/>
                    <a:p>
                      <a:pPr algn="l" fontAlgn="b"/>
                      <a:r>
                        <a:rPr lang="en-US" sz="2800" u="none" strike="noStrike" dirty="0">
                          <a:effectLst/>
                        </a:rPr>
                        <a:t>Investment in P,P&amp;E</a:t>
                      </a:r>
                      <a:endParaRPr lang="en-US" sz="2800" b="0" i="0" u="none" strike="noStrike" dirty="0">
                        <a:solidFill>
                          <a:srgbClr val="000000"/>
                        </a:solidFill>
                        <a:effectLst/>
                        <a:latin typeface="Calibri" panose="020F0502020204030204" pitchFamily="34" charset="0"/>
                      </a:endParaRPr>
                    </a:p>
                  </a:txBody>
                  <a:tcPr marL="4463" marR="4463" marT="4463" marB="0" anchor="b"/>
                </a:tc>
                <a:tc>
                  <a:txBody>
                    <a:bodyPr/>
                    <a:lstStyle/>
                    <a:p>
                      <a:pPr algn="r" fontAlgn="b"/>
                      <a:r>
                        <a:rPr lang="en-US" sz="2800" u="none" strike="noStrike" dirty="0">
                          <a:effectLst/>
                        </a:rPr>
                        <a:t>80</a:t>
                      </a:r>
                      <a:endParaRPr lang="en-US" sz="2800" b="0" i="0" u="none" strike="noStrike" dirty="0">
                        <a:solidFill>
                          <a:srgbClr val="000000"/>
                        </a:solidFill>
                        <a:effectLst/>
                        <a:latin typeface="Calibri" panose="020F0502020204030204" pitchFamily="34" charset="0"/>
                      </a:endParaRPr>
                    </a:p>
                  </a:txBody>
                  <a:tcPr marL="4463" marR="4463" marT="4463" marB="0" anchor="b"/>
                </a:tc>
                <a:tc>
                  <a:txBody>
                    <a:bodyPr/>
                    <a:lstStyle/>
                    <a:p>
                      <a:pPr algn="r" fontAlgn="b"/>
                      <a:r>
                        <a:rPr lang="fr-FR" sz="2800" b="0" i="0" u="none" strike="noStrike" dirty="0" err="1">
                          <a:solidFill>
                            <a:srgbClr val="000000"/>
                          </a:solidFill>
                          <a:effectLst/>
                          <a:latin typeface="Calibri" panose="020F0502020204030204" pitchFamily="34" charset="0"/>
                        </a:rPr>
                        <a:t>Increase</a:t>
                      </a:r>
                      <a:r>
                        <a:rPr lang="fr-FR" sz="2800" b="0" i="0" u="none" strike="noStrike" dirty="0">
                          <a:solidFill>
                            <a:srgbClr val="000000"/>
                          </a:solidFill>
                          <a:effectLst/>
                          <a:latin typeface="Calibri" panose="020F0502020204030204" pitchFamily="34" charset="0"/>
                        </a:rPr>
                        <a:t> in </a:t>
                      </a:r>
                      <a:r>
                        <a:rPr lang="fr-FR" sz="2800" b="0" i="0" u="none" strike="noStrike" dirty="0" err="1">
                          <a:solidFill>
                            <a:srgbClr val="000000"/>
                          </a:solidFill>
                          <a:effectLst/>
                          <a:latin typeface="Calibri" panose="020F0502020204030204" pitchFamily="34" charset="0"/>
                        </a:rPr>
                        <a:t>noncash</a:t>
                      </a:r>
                      <a:r>
                        <a:rPr lang="fr-FR" sz="2800" b="0" i="0" u="none" strike="noStrike" dirty="0">
                          <a:solidFill>
                            <a:srgbClr val="000000"/>
                          </a:solidFill>
                          <a:effectLst/>
                          <a:latin typeface="Calibri" panose="020F0502020204030204" pitchFamily="34" charset="0"/>
                        </a:rPr>
                        <a:t> assets</a:t>
                      </a:r>
                      <a:endParaRPr lang="en-US" sz="2800" b="0" i="0" u="none" strike="noStrike" dirty="0">
                        <a:solidFill>
                          <a:srgbClr val="000000"/>
                        </a:solidFill>
                        <a:effectLst/>
                        <a:latin typeface="Calibri" panose="020F0502020204030204" pitchFamily="34" charset="0"/>
                      </a:endParaRPr>
                    </a:p>
                  </a:txBody>
                  <a:tcPr marL="4463" marR="4463" marT="4463" marB="0" anchor="b"/>
                </a:tc>
                <a:extLst>
                  <a:ext uri="{0D108BD9-81ED-4DB2-BD59-A6C34878D82A}">
                    <a16:rowId xmlns:a16="http://schemas.microsoft.com/office/drawing/2014/main" val="2877163862"/>
                  </a:ext>
                </a:extLst>
              </a:tr>
              <a:tr h="365516">
                <a:tc>
                  <a:txBody>
                    <a:bodyPr/>
                    <a:lstStyle/>
                    <a:p>
                      <a:pPr algn="l" fontAlgn="b"/>
                      <a:r>
                        <a:rPr lang="en-US" sz="2800" u="none" strike="noStrike" dirty="0">
                          <a:effectLst/>
                        </a:rPr>
                        <a:t>Increase in inventories</a:t>
                      </a:r>
                      <a:endParaRPr lang="en-US" sz="2800" b="0" i="0" u="none" strike="noStrike" dirty="0">
                        <a:solidFill>
                          <a:srgbClr val="000000"/>
                        </a:solidFill>
                        <a:effectLst/>
                        <a:latin typeface="Calibri" panose="020F0502020204030204" pitchFamily="34" charset="0"/>
                      </a:endParaRPr>
                    </a:p>
                  </a:txBody>
                  <a:tcPr marL="4463" marR="4463" marT="4463" marB="0" anchor="b">
                    <a:solidFill>
                      <a:schemeClr val="tx1">
                        <a:lumMod val="10000"/>
                        <a:lumOff val="90000"/>
                      </a:schemeClr>
                    </a:solidFill>
                  </a:tcPr>
                </a:tc>
                <a:tc>
                  <a:txBody>
                    <a:bodyPr/>
                    <a:lstStyle/>
                    <a:p>
                      <a:pPr algn="r" fontAlgn="b"/>
                      <a:r>
                        <a:rPr lang="en-US" sz="2800" u="none" strike="noStrike" dirty="0">
                          <a:effectLst/>
                        </a:rPr>
                        <a:t>10</a:t>
                      </a:r>
                      <a:endParaRPr lang="en-US" sz="2800" b="0" i="0" u="none" strike="noStrike" dirty="0">
                        <a:solidFill>
                          <a:srgbClr val="000000"/>
                        </a:solidFill>
                        <a:effectLst/>
                        <a:latin typeface="Calibri" panose="020F0502020204030204" pitchFamily="34" charset="0"/>
                      </a:endParaRPr>
                    </a:p>
                  </a:txBody>
                  <a:tcPr marL="4463" marR="4463" marT="4463" marB="0" anchor="b">
                    <a:solidFill>
                      <a:schemeClr val="tx1">
                        <a:lumMod val="10000"/>
                        <a:lumOff val="90000"/>
                      </a:schemeClr>
                    </a:solidFill>
                  </a:tcPr>
                </a:tc>
                <a:tc>
                  <a:txBody>
                    <a:bodyPr/>
                    <a:lstStyle/>
                    <a:p>
                      <a:pPr algn="r" fontAlgn="b"/>
                      <a:r>
                        <a:rPr lang="fr-FR" sz="2800" b="0" i="0" u="none" strike="noStrike" dirty="0" err="1">
                          <a:solidFill>
                            <a:srgbClr val="000000"/>
                          </a:solidFill>
                          <a:effectLst/>
                          <a:latin typeface="Calibri" panose="020F0502020204030204" pitchFamily="34" charset="0"/>
                        </a:rPr>
                        <a:t>Increase</a:t>
                      </a:r>
                      <a:r>
                        <a:rPr lang="fr-FR" sz="2800" b="0" i="0" u="none" strike="noStrike" dirty="0">
                          <a:solidFill>
                            <a:srgbClr val="000000"/>
                          </a:solidFill>
                          <a:effectLst/>
                          <a:latin typeface="Calibri" panose="020F0502020204030204" pitchFamily="34" charset="0"/>
                        </a:rPr>
                        <a:t> in </a:t>
                      </a:r>
                      <a:r>
                        <a:rPr lang="fr-FR" sz="2800" b="0" i="0" u="none" strike="noStrike" dirty="0" err="1">
                          <a:solidFill>
                            <a:srgbClr val="000000"/>
                          </a:solidFill>
                          <a:effectLst/>
                          <a:latin typeface="Calibri" panose="020F0502020204030204" pitchFamily="34" charset="0"/>
                        </a:rPr>
                        <a:t>noncash</a:t>
                      </a:r>
                      <a:r>
                        <a:rPr lang="fr-FR" sz="2800" b="0" i="0" u="none" strike="noStrike" dirty="0">
                          <a:solidFill>
                            <a:srgbClr val="000000"/>
                          </a:solidFill>
                          <a:effectLst/>
                          <a:latin typeface="Calibri" panose="020F0502020204030204" pitchFamily="34" charset="0"/>
                        </a:rPr>
                        <a:t> assets</a:t>
                      </a:r>
                      <a:endParaRPr lang="en-US" sz="2800" b="0" i="0" u="none" strike="noStrike" dirty="0">
                        <a:solidFill>
                          <a:srgbClr val="000000"/>
                        </a:solidFill>
                        <a:effectLst/>
                        <a:latin typeface="Calibri" panose="020F0502020204030204" pitchFamily="34" charset="0"/>
                      </a:endParaRPr>
                    </a:p>
                  </a:txBody>
                  <a:tcPr marL="4463" marR="4463" marT="4463" marB="0" anchor="b">
                    <a:solidFill>
                      <a:schemeClr val="tx1">
                        <a:lumMod val="10000"/>
                        <a:lumOff val="90000"/>
                      </a:schemeClr>
                    </a:solidFill>
                  </a:tcPr>
                </a:tc>
                <a:extLst>
                  <a:ext uri="{0D108BD9-81ED-4DB2-BD59-A6C34878D82A}">
                    <a16:rowId xmlns:a16="http://schemas.microsoft.com/office/drawing/2014/main" val="1864690327"/>
                  </a:ext>
                </a:extLst>
              </a:tr>
              <a:tr h="365516">
                <a:tc>
                  <a:txBody>
                    <a:bodyPr/>
                    <a:lstStyle/>
                    <a:p>
                      <a:pPr algn="l" fontAlgn="b"/>
                      <a:r>
                        <a:rPr lang="en-US" sz="2800" u="none" strike="noStrike">
                          <a:effectLst/>
                        </a:rPr>
                        <a:t>Repayment of debt</a:t>
                      </a:r>
                      <a:endParaRPr lang="en-US" sz="2800" b="0" i="0" u="none" strike="noStrike">
                        <a:solidFill>
                          <a:srgbClr val="000000"/>
                        </a:solidFill>
                        <a:effectLst/>
                        <a:latin typeface="Calibri" panose="020F0502020204030204" pitchFamily="34" charset="0"/>
                      </a:endParaRPr>
                    </a:p>
                  </a:txBody>
                  <a:tcPr marL="4463" marR="4463" marT="4463" marB="0" anchor="b"/>
                </a:tc>
                <a:tc>
                  <a:txBody>
                    <a:bodyPr/>
                    <a:lstStyle/>
                    <a:p>
                      <a:pPr algn="r" fontAlgn="b"/>
                      <a:r>
                        <a:rPr lang="en-US" sz="2800" u="none" strike="noStrike" dirty="0">
                          <a:effectLst/>
                        </a:rPr>
                        <a:t>60</a:t>
                      </a:r>
                      <a:endParaRPr lang="en-US" sz="2800" b="0" i="0" u="none" strike="noStrike" dirty="0">
                        <a:solidFill>
                          <a:srgbClr val="000000"/>
                        </a:solidFill>
                        <a:effectLst/>
                        <a:latin typeface="Calibri" panose="020F0502020204030204" pitchFamily="34" charset="0"/>
                      </a:endParaRPr>
                    </a:p>
                  </a:txBody>
                  <a:tcPr marL="4463" marR="4463" marT="4463" marB="0" anchor="b"/>
                </a:tc>
                <a:tc>
                  <a:txBody>
                    <a:bodyPr/>
                    <a:lstStyle/>
                    <a:p>
                      <a:pPr algn="r" fontAlgn="b"/>
                      <a:r>
                        <a:rPr lang="fr-FR" sz="2800" b="0" i="0" u="none" strike="noStrike" dirty="0" err="1">
                          <a:solidFill>
                            <a:srgbClr val="000000"/>
                          </a:solidFill>
                          <a:effectLst/>
                          <a:latin typeface="Calibri" panose="020F0502020204030204" pitchFamily="34" charset="0"/>
                        </a:rPr>
                        <a:t>Decrease</a:t>
                      </a:r>
                      <a:r>
                        <a:rPr lang="fr-FR" sz="2800" b="0" i="0" u="none" strike="noStrike" dirty="0">
                          <a:solidFill>
                            <a:srgbClr val="000000"/>
                          </a:solidFill>
                          <a:effectLst/>
                          <a:latin typeface="Calibri" panose="020F0502020204030204" pitchFamily="34" charset="0"/>
                        </a:rPr>
                        <a:t> in </a:t>
                      </a:r>
                      <a:r>
                        <a:rPr lang="fr-FR" sz="2800" b="0" i="0" u="none" strike="noStrike" dirty="0" err="1">
                          <a:solidFill>
                            <a:srgbClr val="000000"/>
                          </a:solidFill>
                          <a:effectLst/>
                          <a:latin typeface="Calibri" panose="020F0502020204030204" pitchFamily="34" charset="0"/>
                        </a:rPr>
                        <a:t>debt</a:t>
                      </a:r>
                      <a:endParaRPr lang="en-US" sz="2800" b="0" i="0" u="none" strike="noStrike" dirty="0">
                        <a:solidFill>
                          <a:srgbClr val="000000"/>
                        </a:solidFill>
                        <a:effectLst/>
                        <a:latin typeface="Calibri" panose="020F0502020204030204" pitchFamily="34" charset="0"/>
                      </a:endParaRPr>
                    </a:p>
                  </a:txBody>
                  <a:tcPr marL="4463" marR="4463" marT="4463" marB="0" anchor="b"/>
                </a:tc>
                <a:extLst>
                  <a:ext uri="{0D108BD9-81ED-4DB2-BD59-A6C34878D82A}">
                    <a16:rowId xmlns:a16="http://schemas.microsoft.com/office/drawing/2014/main" val="1395014584"/>
                  </a:ext>
                </a:extLst>
              </a:tr>
              <a:tr h="365516">
                <a:tc>
                  <a:txBody>
                    <a:bodyPr/>
                    <a:lstStyle/>
                    <a:p>
                      <a:pPr algn="l" fontAlgn="b"/>
                      <a:r>
                        <a:rPr lang="en-US" sz="2800" u="none" strike="noStrike" dirty="0">
                          <a:effectLst/>
                        </a:rPr>
                        <a:t>Issuance of shares</a:t>
                      </a:r>
                      <a:endParaRPr lang="en-US" sz="2800" b="0" i="0" u="none" strike="noStrike" dirty="0">
                        <a:solidFill>
                          <a:srgbClr val="000000"/>
                        </a:solidFill>
                        <a:effectLst/>
                        <a:latin typeface="Calibri" panose="020F0502020204030204" pitchFamily="34" charset="0"/>
                      </a:endParaRPr>
                    </a:p>
                  </a:txBody>
                  <a:tcPr marL="4463" marR="4463" marT="4463" marB="0" anchor="b">
                    <a:solidFill>
                      <a:schemeClr val="tx1">
                        <a:lumMod val="10000"/>
                        <a:lumOff val="90000"/>
                      </a:schemeClr>
                    </a:solidFill>
                  </a:tcPr>
                </a:tc>
                <a:tc>
                  <a:txBody>
                    <a:bodyPr/>
                    <a:lstStyle/>
                    <a:p>
                      <a:pPr algn="r" fontAlgn="b"/>
                      <a:r>
                        <a:rPr lang="en-US" sz="2800" u="none" strike="noStrike" dirty="0">
                          <a:effectLst/>
                        </a:rPr>
                        <a:t>110</a:t>
                      </a:r>
                      <a:endParaRPr lang="en-US" sz="2800" b="0" i="0" u="none" strike="noStrike" dirty="0">
                        <a:solidFill>
                          <a:srgbClr val="000000"/>
                        </a:solidFill>
                        <a:effectLst/>
                        <a:latin typeface="Calibri" panose="020F0502020204030204" pitchFamily="34" charset="0"/>
                      </a:endParaRPr>
                    </a:p>
                  </a:txBody>
                  <a:tcPr marL="4463" marR="4463" marT="4463" marB="0" anchor="b">
                    <a:solidFill>
                      <a:schemeClr val="tx1">
                        <a:lumMod val="10000"/>
                        <a:lumOff val="90000"/>
                      </a:schemeClr>
                    </a:solidFill>
                  </a:tcPr>
                </a:tc>
                <a:tc>
                  <a:txBody>
                    <a:bodyPr/>
                    <a:lstStyle/>
                    <a:p>
                      <a:pPr algn="r" fontAlgn="b"/>
                      <a:r>
                        <a:rPr lang="fr-FR" sz="2800" b="0" i="0" u="none" strike="noStrike" dirty="0" err="1">
                          <a:solidFill>
                            <a:srgbClr val="000000"/>
                          </a:solidFill>
                          <a:effectLst/>
                          <a:latin typeface="Calibri" panose="020F0502020204030204" pitchFamily="34" charset="0"/>
                        </a:rPr>
                        <a:t>Increase</a:t>
                      </a:r>
                      <a:r>
                        <a:rPr lang="fr-FR" sz="2800" b="0" i="0" u="none" strike="noStrike" dirty="0">
                          <a:solidFill>
                            <a:srgbClr val="000000"/>
                          </a:solidFill>
                          <a:effectLst/>
                          <a:latin typeface="Calibri" panose="020F0502020204030204" pitchFamily="34" charset="0"/>
                        </a:rPr>
                        <a:t> in </a:t>
                      </a:r>
                      <a:r>
                        <a:rPr lang="fr-FR" sz="2800" b="0" i="0" u="none" strike="noStrike" dirty="0" err="1">
                          <a:solidFill>
                            <a:srgbClr val="000000"/>
                          </a:solidFill>
                          <a:effectLst/>
                          <a:latin typeface="Calibri" panose="020F0502020204030204" pitchFamily="34" charset="0"/>
                        </a:rPr>
                        <a:t>contributed</a:t>
                      </a:r>
                      <a:r>
                        <a:rPr lang="fr-FR" sz="2800" b="0" i="0" u="none" strike="noStrike" dirty="0">
                          <a:solidFill>
                            <a:srgbClr val="000000"/>
                          </a:solidFill>
                          <a:effectLst/>
                          <a:latin typeface="Calibri" panose="020F0502020204030204" pitchFamily="34" charset="0"/>
                        </a:rPr>
                        <a:t> capital</a:t>
                      </a:r>
                      <a:endParaRPr lang="en-US" sz="2800" b="0" i="0" u="none" strike="noStrike" dirty="0">
                        <a:solidFill>
                          <a:srgbClr val="000000"/>
                        </a:solidFill>
                        <a:effectLst/>
                        <a:latin typeface="Calibri" panose="020F0502020204030204" pitchFamily="34" charset="0"/>
                      </a:endParaRPr>
                    </a:p>
                  </a:txBody>
                  <a:tcPr marL="4463" marR="4463" marT="4463" marB="0" anchor="b">
                    <a:solidFill>
                      <a:schemeClr val="tx1">
                        <a:lumMod val="10000"/>
                        <a:lumOff val="90000"/>
                      </a:schemeClr>
                    </a:solidFill>
                  </a:tcPr>
                </a:tc>
                <a:extLst>
                  <a:ext uri="{0D108BD9-81ED-4DB2-BD59-A6C34878D82A}">
                    <a16:rowId xmlns:a16="http://schemas.microsoft.com/office/drawing/2014/main" val="3311995271"/>
                  </a:ext>
                </a:extLst>
              </a:tr>
              <a:tr h="447735">
                <a:tc>
                  <a:txBody>
                    <a:bodyPr/>
                    <a:lstStyle/>
                    <a:p>
                      <a:pPr algn="l" fontAlgn="b"/>
                      <a:r>
                        <a:rPr lang="en-US" sz="2800" u="none" strike="noStrike">
                          <a:effectLst/>
                        </a:rPr>
                        <a:t>Increase in accounts payable</a:t>
                      </a:r>
                      <a:endParaRPr lang="en-US" sz="2800" b="0" i="0" u="none" strike="noStrike">
                        <a:solidFill>
                          <a:srgbClr val="000000"/>
                        </a:solidFill>
                        <a:effectLst/>
                        <a:latin typeface="Calibri" panose="020F0502020204030204" pitchFamily="34" charset="0"/>
                      </a:endParaRPr>
                    </a:p>
                  </a:txBody>
                  <a:tcPr marL="4463" marR="4463" marT="4463" marB="0" anchor="b"/>
                </a:tc>
                <a:tc>
                  <a:txBody>
                    <a:bodyPr/>
                    <a:lstStyle/>
                    <a:p>
                      <a:pPr algn="r" fontAlgn="b"/>
                      <a:r>
                        <a:rPr lang="en-US" sz="2800" u="none" strike="noStrike" dirty="0">
                          <a:effectLst/>
                        </a:rPr>
                        <a:t>15</a:t>
                      </a:r>
                      <a:endParaRPr lang="en-US" sz="2800" b="0" i="0" u="none" strike="noStrike" dirty="0">
                        <a:solidFill>
                          <a:srgbClr val="000000"/>
                        </a:solidFill>
                        <a:effectLst/>
                        <a:latin typeface="Calibri" panose="020F0502020204030204" pitchFamily="34" charset="0"/>
                      </a:endParaRPr>
                    </a:p>
                  </a:txBody>
                  <a:tcPr marL="4463" marR="4463" marT="4463" marB="0" anchor="b"/>
                </a:tc>
                <a:tc>
                  <a:txBody>
                    <a:bodyPr/>
                    <a:lstStyle/>
                    <a:p>
                      <a:pPr algn="r" fontAlgn="b"/>
                      <a:r>
                        <a:rPr lang="fr-FR" sz="2800" b="0" i="0" u="none" strike="noStrike" dirty="0" err="1">
                          <a:solidFill>
                            <a:srgbClr val="000000"/>
                          </a:solidFill>
                          <a:effectLst/>
                          <a:latin typeface="Calibri" panose="020F0502020204030204" pitchFamily="34" charset="0"/>
                        </a:rPr>
                        <a:t>Increase</a:t>
                      </a:r>
                      <a:r>
                        <a:rPr lang="fr-FR" sz="2800" b="0" i="0" u="none" strike="noStrike" dirty="0">
                          <a:solidFill>
                            <a:srgbClr val="000000"/>
                          </a:solidFill>
                          <a:effectLst/>
                          <a:latin typeface="Calibri" panose="020F0502020204030204" pitchFamily="34" charset="0"/>
                        </a:rPr>
                        <a:t> in operating </a:t>
                      </a:r>
                      <a:r>
                        <a:rPr lang="fr-FR" sz="2800" b="0" i="0" u="none" strike="noStrike" dirty="0" err="1">
                          <a:solidFill>
                            <a:srgbClr val="000000"/>
                          </a:solidFill>
                          <a:effectLst/>
                          <a:latin typeface="Calibri" panose="020F0502020204030204" pitchFamily="34" charset="0"/>
                        </a:rPr>
                        <a:t>liabilities</a:t>
                      </a:r>
                      <a:endParaRPr lang="en-US" sz="2800" b="0" i="0" u="none" strike="noStrike" dirty="0">
                        <a:solidFill>
                          <a:srgbClr val="000000"/>
                        </a:solidFill>
                        <a:effectLst/>
                        <a:latin typeface="Calibri" panose="020F0502020204030204" pitchFamily="34" charset="0"/>
                      </a:endParaRPr>
                    </a:p>
                  </a:txBody>
                  <a:tcPr marL="4463" marR="4463" marT="4463" marB="0" anchor="ctr"/>
                </a:tc>
                <a:extLst>
                  <a:ext uri="{0D108BD9-81ED-4DB2-BD59-A6C34878D82A}">
                    <a16:rowId xmlns:a16="http://schemas.microsoft.com/office/drawing/2014/main" val="314942409"/>
                  </a:ext>
                </a:extLst>
              </a:tr>
            </a:tbl>
          </a:graphicData>
        </a:graphic>
      </p:graphicFrame>
      <p:sp>
        <p:nvSpPr>
          <p:cNvPr id="7" name="TextBox 6">
            <a:extLst>
              <a:ext uri="{FF2B5EF4-FFF2-40B4-BE49-F238E27FC236}">
                <a16:creationId xmlns:a16="http://schemas.microsoft.com/office/drawing/2014/main" id="{78301A0D-2169-48C1-E039-6E0F0E668AE2}"/>
              </a:ext>
            </a:extLst>
          </p:cNvPr>
          <p:cNvSpPr txBox="1"/>
          <p:nvPr/>
        </p:nvSpPr>
        <p:spPr>
          <a:xfrm>
            <a:off x="177555" y="5166414"/>
            <a:ext cx="11585357" cy="784574"/>
          </a:xfrm>
          <a:prstGeom prst="rect">
            <a:avLst/>
          </a:prstGeom>
          <a:solidFill>
            <a:schemeClr val="accent4">
              <a:lumMod val="40000"/>
              <a:lumOff val="60000"/>
            </a:schemeClr>
          </a:solidFill>
        </p:spPr>
        <p:txBody>
          <a:bodyPr wrap="square" rtlCol="0">
            <a:spAutoFit/>
          </a:bodyPr>
          <a:lstStyle/>
          <a:p>
            <a:r>
              <a:rPr lang="fr-FR" sz="2249" b="1" dirty="0"/>
              <a:t>Cash flow </a:t>
            </a:r>
            <a:r>
              <a:rPr lang="fr-FR" sz="2249" dirty="0"/>
              <a:t>+ Investment in P,P&amp;E + </a:t>
            </a:r>
            <a:r>
              <a:rPr lang="fr-FR" sz="2249" dirty="0" err="1"/>
              <a:t>Increase</a:t>
            </a:r>
            <a:r>
              <a:rPr lang="fr-FR" sz="2249" dirty="0"/>
              <a:t> in inventories</a:t>
            </a:r>
          </a:p>
          <a:p>
            <a:r>
              <a:rPr lang="fr-FR" sz="2249" b="1" dirty="0"/>
              <a:t>=</a:t>
            </a:r>
            <a:r>
              <a:rPr lang="fr-FR" sz="2249" dirty="0"/>
              <a:t> - </a:t>
            </a:r>
            <a:r>
              <a:rPr lang="fr-FR" sz="2249" dirty="0" err="1"/>
              <a:t>Repayment</a:t>
            </a:r>
            <a:r>
              <a:rPr lang="fr-FR" sz="2249" dirty="0"/>
              <a:t> of </a:t>
            </a:r>
            <a:r>
              <a:rPr lang="fr-FR" sz="2249" dirty="0" err="1"/>
              <a:t>debt</a:t>
            </a:r>
            <a:r>
              <a:rPr lang="fr-FR" sz="2249" dirty="0"/>
              <a:t> + </a:t>
            </a:r>
            <a:r>
              <a:rPr lang="fr-FR" sz="2249" dirty="0" err="1"/>
              <a:t>Issuance</a:t>
            </a:r>
            <a:r>
              <a:rPr lang="fr-FR" sz="2249" dirty="0"/>
              <a:t> of </a:t>
            </a:r>
            <a:r>
              <a:rPr lang="fr-FR" sz="2249" dirty="0" err="1"/>
              <a:t>shares</a:t>
            </a:r>
            <a:r>
              <a:rPr lang="fr-FR" sz="2249" dirty="0"/>
              <a:t> + </a:t>
            </a:r>
            <a:r>
              <a:rPr lang="fr-FR" sz="2249" dirty="0" err="1"/>
              <a:t>Increase</a:t>
            </a:r>
            <a:r>
              <a:rPr lang="fr-FR" sz="2249" dirty="0"/>
              <a:t> in </a:t>
            </a:r>
            <a:r>
              <a:rPr lang="fr-FR" sz="2249" dirty="0" err="1"/>
              <a:t>accounts</a:t>
            </a:r>
            <a:r>
              <a:rPr lang="fr-FR" sz="2249" dirty="0"/>
              <a:t> payable + </a:t>
            </a:r>
            <a:r>
              <a:rPr lang="fr-FR" sz="2249" b="1" dirty="0"/>
              <a:t>Net profit</a:t>
            </a:r>
            <a:endParaRPr lang="en-US" sz="2249" dirty="0"/>
          </a:p>
        </p:txBody>
      </p:sp>
    </p:spTree>
    <p:extLst>
      <p:ext uri="{BB962C8B-B14F-4D97-AF65-F5344CB8AC3E}">
        <p14:creationId xmlns:p14="http://schemas.microsoft.com/office/powerpoint/2010/main" val="32163782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91DC0-2F0C-3C5B-AD75-3291BB74A4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A1690A-6071-739C-1394-17D0B55F6419}"/>
              </a:ext>
            </a:extLst>
          </p:cNvPr>
          <p:cNvSpPr>
            <a:spLocks noGrp="1"/>
          </p:cNvSpPr>
          <p:nvPr>
            <p:ph type="title"/>
          </p:nvPr>
        </p:nvSpPr>
        <p:spPr/>
        <p:txBody>
          <a:bodyPr/>
          <a:lstStyle/>
          <a:p>
            <a:r>
              <a:rPr lang="en-US" dirty="0"/>
              <a:t>Exercise 1: answer</a:t>
            </a:r>
          </a:p>
        </p:txBody>
      </p:sp>
      <p:sp>
        <p:nvSpPr>
          <p:cNvPr id="3" name="Content Placeholder 2">
            <a:extLst>
              <a:ext uri="{FF2B5EF4-FFF2-40B4-BE49-F238E27FC236}">
                <a16:creationId xmlns:a16="http://schemas.microsoft.com/office/drawing/2014/main" id="{F97F5F6B-9406-2977-2C05-8F69F0A231BC}"/>
              </a:ext>
            </a:extLst>
          </p:cNvPr>
          <p:cNvSpPr>
            <a:spLocks noGrp="1"/>
          </p:cNvSpPr>
          <p:nvPr>
            <p:ph idx="1"/>
          </p:nvPr>
        </p:nvSpPr>
        <p:spPr>
          <a:xfrm>
            <a:off x="681228" y="1260630"/>
            <a:ext cx="10829544" cy="1091954"/>
          </a:xfrm>
        </p:spPr>
        <p:txBody>
          <a:bodyPr>
            <a:normAutofit/>
          </a:bodyPr>
          <a:lstStyle/>
          <a:p>
            <a:pPr marL="0" indent="0">
              <a:buNone/>
            </a:pPr>
            <a:r>
              <a:rPr lang="fr-FR" sz="2800" dirty="0" err="1"/>
              <a:t>What</a:t>
            </a:r>
            <a:r>
              <a:rPr lang="fr-FR" sz="2800" dirty="0"/>
              <a:t> </a:t>
            </a:r>
            <a:r>
              <a:rPr lang="fr-FR" sz="2800" dirty="0" err="1"/>
              <a:t>is</a:t>
            </a:r>
            <a:r>
              <a:rPr lang="fr-FR" sz="2800" dirty="0"/>
              <a:t> the cash flow (</a:t>
            </a:r>
            <a:r>
              <a:rPr lang="fr-FR" sz="2800" dirty="0" err="1"/>
              <a:t>with</a:t>
            </a:r>
            <a:r>
              <a:rPr lang="fr-FR" sz="2800" dirty="0"/>
              <a:t> indirect </a:t>
            </a:r>
            <a:r>
              <a:rPr lang="fr-FR" sz="2800" dirty="0" err="1"/>
              <a:t>method</a:t>
            </a:r>
            <a:r>
              <a:rPr lang="fr-FR" sz="2800" dirty="0"/>
              <a:t>: change in balance </a:t>
            </a:r>
            <a:r>
              <a:rPr lang="fr-FR" sz="2800" dirty="0" err="1"/>
              <a:t>sheet</a:t>
            </a:r>
            <a:r>
              <a:rPr lang="fr-FR" sz="2800" dirty="0"/>
              <a:t>)?</a:t>
            </a:r>
            <a:endParaRPr lang="en-US" sz="2800" dirty="0"/>
          </a:p>
          <a:p>
            <a:endParaRPr lang="en-US" dirty="0"/>
          </a:p>
        </p:txBody>
      </p:sp>
      <p:sp>
        <p:nvSpPr>
          <p:cNvPr id="4" name="Slide Number Placeholder 3">
            <a:extLst>
              <a:ext uri="{FF2B5EF4-FFF2-40B4-BE49-F238E27FC236}">
                <a16:creationId xmlns:a16="http://schemas.microsoft.com/office/drawing/2014/main" id="{D5C69396-FED6-8273-BC1B-DCE646DBD3AA}"/>
              </a:ext>
            </a:extLst>
          </p:cNvPr>
          <p:cNvSpPr>
            <a:spLocks noGrp="1"/>
          </p:cNvSpPr>
          <p:nvPr>
            <p:ph type="sldNum" sz="quarter" idx="10"/>
          </p:nvPr>
        </p:nvSpPr>
        <p:spPr/>
        <p:txBody>
          <a:bodyPr/>
          <a:lstStyle/>
          <a:p>
            <a:fld id="{421B1A79-1F45-8F4F-AED5-0EE30DCF0380}" type="slidenum">
              <a:rPr lang="fr-FR" smtClean="0"/>
              <a:t>41</a:t>
            </a:fld>
            <a:endParaRPr lang="fr-FR" dirty="0"/>
          </a:p>
        </p:txBody>
      </p:sp>
      <p:graphicFrame>
        <p:nvGraphicFramePr>
          <p:cNvPr id="6" name="Content Placeholder 5">
            <a:extLst>
              <a:ext uri="{FF2B5EF4-FFF2-40B4-BE49-F238E27FC236}">
                <a16:creationId xmlns:a16="http://schemas.microsoft.com/office/drawing/2014/main" id="{6B4F0240-FBF8-C3C3-B6B4-C86596120C8B}"/>
              </a:ext>
            </a:extLst>
          </p:cNvPr>
          <p:cNvGraphicFramePr>
            <a:graphicFrameLocks/>
          </p:cNvGraphicFramePr>
          <p:nvPr>
            <p:extLst>
              <p:ext uri="{D42A27DB-BD31-4B8C-83A1-F6EECF244321}">
                <p14:modId xmlns:p14="http://schemas.microsoft.com/office/powerpoint/2010/main" val="2294071629"/>
              </p:ext>
            </p:extLst>
          </p:nvPr>
        </p:nvGraphicFramePr>
        <p:xfrm>
          <a:off x="314596" y="2119128"/>
          <a:ext cx="11076334" cy="2631510"/>
        </p:xfrm>
        <a:graphic>
          <a:graphicData uri="http://schemas.openxmlformats.org/drawingml/2006/table">
            <a:tbl>
              <a:tblPr>
                <a:tableStyleId>{B301B821-A1FF-4177-AEE7-76D212191A09}</a:tableStyleId>
              </a:tblPr>
              <a:tblGrid>
                <a:gridCol w="4869963">
                  <a:extLst>
                    <a:ext uri="{9D8B030D-6E8A-4147-A177-3AD203B41FA5}">
                      <a16:colId xmlns:a16="http://schemas.microsoft.com/office/drawing/2014/main" val="1555731078"/>
                    </a:ext>
                  </a:extLst>
                </a:gridCol>
                <a:gridCol w="857321">
                  <a:extLst>
                    <a:ext uri="{9D8B030D-6E8A-4147-A177-3AD203B41FA5}">
                      <a16:colId xmlns:a16="http://schemas.microsoft.com/office/drawing/2014/main" val="1682692781"/>
                    </a:ext>
                  </a:extLst>
                </a:gridCol>
                <a:gridCol w="5349050">
                  <a:extLst>
                    <a:ext uri="{9D8B030D-6E8A-4147-A177-3AD203B41FA5}">
                      <a16:colId xmlns:a16="http://schemas.microsoft.com/office/drawing/2014/main" val="3922811676"/>
                    </a:ext>
                  </a:extLst>
                </a:gridCol>
              </a:tblGrid>
              <a:tr h="382139">
                <a:tc>
                  <a:txBody>
                    <a:bodyPr/>
                    <a:lstStyle/>
                    <a:p>
                      <a:pPr algn="l" fontAlgn="b"/>
                      <a:r>
                        <a:rPr lang="en-US" sz="2800" u="none" strike="noStrike" dirty="0">
                          <a:effectLst/>
                        </a:rPr>
                        <a:t>Net profit</a:t>
                      </a:r>
                      <a:endParaRPr lang="en-US" sz="2800" b="0" i="0" u="none" strike="noStrike" dirty="0">
                        <a:solidFill>
                          <a:srgbClr val="000000"/>
                        </a:solidFill>
                        <a:effectLst/>
                        <a:latin typeface="Calibri" panose="020F0502020204030204" pitchFamily="34" charset="0"/>
                      </a:endParaRPr>
                    </a:p>
                  </a:txBody>
                  <a:tcPr marL="4463" marR="4463" marT="4463" marB="0" anchor="b">
                    <a:solidFill>
                      <a:schemeClr val="tx1">
                        <a:lumMod val="10000"/>
                        <a:lumOff val="90000"/>
                      </a:schemeClr>
                    </a:solidFill>
                  </a:tcPr>
                </a:tc>
                <a:tc>
                  <a:txBody>
                    <a:bodyPr/>
                    <a:lstStyle/>
                    <a:p>
                      <a:pPr algn="r" fontAlgn="b"/>
                      <a:r>
                        <a:rPr lang="en-US" sz="2800" u="none" strike="noStrike" dirty="0">
                          <a:effectLst/>
                        </a:rPr>
                        <a:t>200</a:t>
                      </a:r>
                      <a:endParaRPr lang="en-US" sz="2800" b="0" i="0" u="none" strike="noStrike" dirty="0">
                        <a:solidFill>
                          <a:srgbClr val="000000"/>
                        </a:solidFill>
                        <a:effectLst/>
                        <a:latin typeface="Calibri" panose="020F0502020204030204" pitchFamily="34" charset="0"/>
                      </a:endParaRPr>
                    </a:p>
                  </a:txBody>
                  <a:tcPr marL="4463" marR="4463" marT="4463" marB="0" anchor="b">
                    <a:solidFill>
                      <a:schemeClr val="tx1">
                        <a:lumMod val="10000"/>
                        <a:lumOff val="90000"/>
                      </a:schemeClr>
                    </a:solidFill>
                  </a:tcPr>
                </a:tc>
                <a:tc>
                  <a:txBody>
                    <a:bodyPr/>
                    <a:lstStyle/>
                    <a:p>
                      <a:pPr algn="r" fontAlgn="b"/>
                      <a:endParaRPr lang="en-US" sz="2800" b="0" i="0" u="none" strike="noStrike" dirty="0">
                        <a:solidFill>
                          <a:srgbClr val="000000"/>
                        </a:solidFill>
                        <a:effectLst/>
                        <a:latin typeface="Calibri" panose="020F0502020204030204" pitchFamily="34" charset="0"/>
                      </a:endParaRPr>
                    </a:p>
                  </a:txBody>
                  <a:tcPr marL="4463" marR="4463" marT="4463" marB="0" anchor="b">
                    <a:solidFill>
                      <a:schemeClr val="tx1">
                        <a:lumMod val="10000"/>
                        <a:lumOff val="90000"/>
                      </a:schemeClr>
                    </a:solidFill>
                  </a:tcPr>
                </a:tc>
                <a:extLst>
                  <a:ext uri="{0D108BD9-81ED-4DB2-BD59-A6C34878D82A}">
                    <a16:rowId xmlns:a16="http://schemas.microsoft.com/office/drawing/2014/main" val="374100810"/>
                  </a:ext>
                </a:extLst>
              </a:tr>
              <a:tr h="382139">
                <a:tc>
                  <a:txBody>
                    <a:bodyPr/>
                    <a:lstStyle/>
                    <a:p>
                      <a:pPr algn="l" fontAlgn="b"/>
                      <a:r>
                        <a:rPr lang="en-US" sz="2800" u="none" strike="noStrike">
                          <a:effectLst/>
                        </a:rPr>
                        <a:t>Investment in P,P&amp;E</a:t>
                      </a:r>
                      <a:endParaRPr lang="en-US" sz="2800" b="0" i="0" u="none" strike="noStrike">
                        <a:solidFill>
                          <a:srgbClr val="000000"/>
                        </a:solidFill>
                        <a:effectLst/>
                        <a:latin typeface="Calibri" panose="020F0502020204030204" pitchFamily="34" charset="0"/>
                      </a:endParaRPr>
                    </a:p>
                  </a:txBody>
                  <a:tcPr marL="4463" marR="4463" marT="4463" marB="0" anchor="b"/>
                </a:tc>
                <a:tc>
                  <a:txBody>
                    <a:bodyPr/>
                    <a:lstStyle/>
                    <a:p>
                      <a:pPr algn="r" fontAlgn="b"/>
                      <a:r>
                        <a:rPr lang="en-US" sz="2800" u="none" strike="noStrike" dirty="0">
                          <a:effectLst/>
                        </a:rPr>
                        <a:t>80</a:t>
                      </a:r>
                      <a:endParaRPr lang="en-US" sz="2800" b="0" i="0" u="none" strike="noStrike" dirty="0">
                        <a:solidFill>
                          <a:srgbClr val="000000"/>
                        </a:solidFill>
                        <a:effectLst/>
                        <a:latin typeface="Calibri" panose="020F0502020204030204" pitchFamily="34" charset="0"/>
                      </a:endParaRPr>
                    </a:p>
                  </a:txBody>
                  <a:tcPr marL="4463" marR="4463" marT="4463" marB="0" anchor="b"/>
                </a:tc>
                <a:tc>
                  <a:txBody>
                    <a:bodyPr/>
                    <a:lstStyle/>
                    <a:p>
                      <a:pPr algn="r" fontAlgn="b"/>
                      <a:r>
                        <a:rPr lang="fr-FR" sz="2800" b="0" i="0" u="none" strike="noStrike" dirty="0" err="1">
                          <a:solidFill>
                            <a:srgbClr val="000000"/>
                          </a:solidFill>
                          <a:effectLst/>
                          <a:latin typeface="Calibri" panose="020F0502020204030204" pitchFamily="34" charset="0"/>
                        </a:rPr>
                        <a:t>Increase</a:t>
                      </a:r>
                      <a:r>
                        <a:rPr lang="fr-FR" sz="2800" b="0" i="0" u="none" strike="noStrike" dirty="0">
                          <a:solidFill>
                            <a:srgbClr val="000000"/>
                          </a:solidFill>
                          <a:effectLst/>
                          <a:latin typeface="Calibri" panose="020F0502020204030204" pitchFamily="34" charset="0"/>
                        </a:rPr>
                        <a:t> in </a:t>
                      </a:r>
                      <a:r>
                        <a:rPr lang="fr-FR" sz="2800" b="0" i="0" u="none" strike="noStrike" dirty="0" err="1">
                          <a:solidFill>
                            <a:srgbClr val="000000"/>
                          </a:solidFill>
                          <a:effectLst/>
                          <a:latin typeface="Calibri" panose="020F0502020204030204" pitchFamily="34" charset="0"/>
                        </a:rPr>
                        <a:t>noncash</a:t>
                      </a:r>
                      <a:r>
                        <a:rPr lang="fr-FR" sz="2800" b="0" i="0" u="none" strike="noStrike" dirty="0">
                          <a:solidFill>
                            <a:srgbClr val="000000"/>
                          </a:solidFill>
                          <a:effectLst/>
                          <a:latin typeface="Calibri" panose="020F0502020204030204" pitchFamily="34" charset="0"/>
                        </a:rPr>
                        <a:t> assets</a:t>
                      </a:r>
                      <a:endParaRPr lang="en-US" sz="2800" b="0" i="0" u="none" strike="noStrike" dirty="0">
                        <a:solidFill>
                          <a:srgbClr val="000000"/>
                        </a:solidFill>
                        <a:effectLst/>
                        <a:latin typeface="Calibri" panose="020F0502020204030204" pitchFamily="34" charset="0"/>
                      </a:endParaRPr>
                    </a:p>
                  </a:txBody>
                  <a:tcPr marL="4463" marR="4463" marT="4463" marB="0" anchor="b"/>
                </a:tc>
                <a:extLst>
                  <a:ext uri="{0D108BD9-81ED-4DB2-BD59-A6C34878D82A}">
                    <a16:rowId xmlns:a16="http://schemas.microsoft.com/office/drawing/2014/main" val="2877163862"/>
                  </a:ext>
                </a:extLst>
              </a:tr>
              <a:tr h="382139">
                <a:tc>
                  <a:txBody>
                    <a:bodyPr/>
                    <a:lstStyle/>
                    <a:p>
                      <a:pPr algn="l" fontAlgn="b"/>
                      <a:r>
                        <a:rPr lang="en-US" sz="2800" u="none" strike="noStrike" dirty="0">
                          <a:effectLst/>
                        </a:rPr>
                        <a:t>Increase in inventories</a:t>
                      </a:r>
                      <a:endParaRPr lang="en-US" sz="2800" b="0" i="0" u="none" strike="noStrike" dirty="0">
                        <a:solidFill>
                          <a:srgbClr val="000000"/>
                        </a:solidFill>
                        <a:effectLst/>
                        <a:latin typeface="Calibri" panose="020F0502020204030204" pitchFamily="34" charset="0"/>
                      </a:endParaRPr>
                    </a:p>
                  </a:txBody>
                  <a:tcPr marL="4463" marR="4463" marT="4463" marB="0" anchor="b">
                    <a:solidFill>
                      <a:schemeClr val="tx1">
                        <a:lumMod val="10000"/>
                        <a:lumOff val="90000"/>
                      </a:schemeClr>
                    </a:solidFill>
                  </a:tcPr>
                </a:tc>
                <a:tc>
                  <a:txBody>
                    <a:bodyPr/>
                    <a:lstStyle/>
                    <a:p>
                      <a:pPr algn="r" fontAlgn="b"/>
                      <a:r>
                        <a:rPr lang="en-US" sz="2800" u="none" strike="noStrike" dirty="0">
                          <a:effectLst/>
                        </a:rPr>
                        <a:t>10</a:t>
                      </a:r>
                      <a:endParaRPr lang="en-US" sz="2800" b="0" i="0" u="none" strike="noStrike" dirty="0">
                        <a:solidFill>
                          <a:srgbClr val="000000"/>
                        </a:solidFill>
                        <a:effectLst/>
                        <a:latin typeface="Calibri" panose="020F0502020204030204" pitchFamily="34" charset="0"/>
                      </a:endParaRPr>
                    </a:p>
                  </a:txBody>
                  <a:tcPr marL="4463" marR="4463" marT="4463" marB="0" anchor="b">
                    <a:solidFill>
                      <a:schemeClr val="tx1">
                        <a:lumMod val="10000"/>
                        <a:lumOff val="90000"/>
                      </a:schemeClr>
                    </a:solidFill>
                  </a:tcPr>
                </a:tc>
                <a:tc>
                  <a:txBody>
                    <a:bodyPr/>
                    <a:lstStyle/>
                    <a:p>
                      <a:pPr algn="r" fontAlgn="b"/>
                      <a:r>
                        <a:rPr lang="fr-FR" sz="2800" b="0" i="0" u="none" strike="noStrike" dirty="0" err="1">
                          <a:solidFill>
                            <a:srgbClr val="000000"/>
                          </a:solidFill>
                          <a:effectLst/>
                          <a:latin typeface="Calibri" panose="020F0502020204030204" pitchFamily="34" charset="0"/>
                        </a:rPr>
                        <a:t>Increase</a:t>
                      </a:r>
                      <a:r>
                        <a:rPr lang="fr-FR" sz="2800" b="0" i="0" u="none" strike="noStrike" dirty="0">
                          <a:solidFill>
                            <a:srgbClr val="000000"/>
                          </a:solidFill>
                          <a:effectLst/>
                          <a:latin typeface="Calibri" panose="020F0502020204030204" pitchFamily="34" charset="0"/>
                        </a:rPr>
                        <a:t> in </a:t>
                      </a:r>
                      <a:r>
                        <a:rPr lang="fr-FR" sz="2800" b="0" i="0" u="none" strike="noStrike" dirty="0" err="1">
                          <a:solidFill>
                            <a:srgbClr val="000000"/>
                          </a:solidFill>
                          <a:effectLst/>
                          <a:latin typeface="Calibri" panose="020F0502020204030204" pitchFamily="34" charset="0"/>
                        </a:rPr>
                        <a:t>noncash</a:t>
                      </a:r>
                      <a:r>
                        <a:rPr lang="fr-FR" sz="2800" b="0" i="0" u="none" strike="noStrike" dirty="0">
                          <a:solidFill>
                            <a:srgbClr val="000000"/>
                          </a:solidFill>
                          <a:effectLst/>
                          <a:latin typeface="Calibri" panose="020F0502020204030204" pitchFamily="34" charset="0"/>
                        </a:rPr>
                        <a:t> assets</a:t>
                      </a:r>
                      <a:endParaRPr lang="en-US" sz="2800" b="0" i="0" u="none" strike="noStrike" dirty="0">
                        <a:solidFill>
                          <a:srgbClr val="000000"/>
                        </a:solidFill>
                        <a:effectLst/>
                        <a:latin typeface="Calibri" panose="020F0502020204030204" pitchFamily="34" charset="0"/>
                      </a:endParaRPr>
                    </a:p>
                  </a:txBody>
                  <a:tcPr marL="4463" marR="4463" marT="4463" marB="0" anchor="b">
                    <a:solidFill>
                      <a:schemeClr val="tx1">
                        <a:lumMod val="10000"/>
                        <a:lumOff val="90000"/>
                      </a:schemeClr>
                    </a:solidFill>
                  </a:tcPr>
                </a:tc>
                <a:extLst>
                  <a:ext uri="{0D108BD9-81ED-4DB2-BD59-A6C34878D82A}">
                    <a16:rowId xmlns:a16="http://schemas.microsoft.com/office/drawing/2014/main" val="1864690327"/>
                  </a:ext>
                </a:extLst>
              </a:tr>
              <a:tr h="382139">
                <a:tc>
                  <a:txBody>
                    <a:bodyPr/>
                    <a:lstStyle/>
                    <a:p>
                      <a:pPr algn="l" fontAlgn="b"/>
                      <a:r>
                        <a:rPr lang="en-US" sz="2800" u="none" strike="noStrike">
                          <a:effectLst/>
                        </a:rPr>
                        <a:t>Repayment of debt</a:t>
                      </a:r>
                      <a:endParaRPr lang="en-US" sz="2800" b="0" i="0" u="none" strike="noStrike">
                        <a:solidFill>
                          <a:srgbClr val="000000"/>
                        </a:solidFill>
                        <a:effectLst/>
                        <a:latin typeface="Calibri" panose="020F0502020204030204" pitchFamily="34" charset="0"/>
                      </a:endParaRPr>
                    </a:p>
                  </a:txBody>
                  <a:tcPr marL="4463" marR="4463" marT="4463" marB="0" anchor="b"/>
                </a:tc>
                <a:tc>
                  <a:txBody>
                    <a:bodyPr/>
                    <a:lstStyle/>
                    <a:p>
                      <a:pPr algn="r" fontAlgn="b"/>
                      <a:r>
                        <a:rPr lang="en-US" sz="2800" u="none" strike="noStrike" dirty="0">
                          <a:effectLst/>
                        </a:rPr>
                        <a:t>60</a:t>
                      </a:r>
                      <a:endParaRPr lang="en-US" sz="2800" b="0" i="0" u="none" strike="noStrike" dirty="0">
                        <a:solidFill>
                          <a:srgbClr val="000000"/>
                        </a:solidFill>
                        <a:effectLst/>
                        <a:latin typeface="Calibri" panose="020F0502020204030204" pitchFamily="34" charset="0"/>
                      </a:endParaRPr>
                    </a:p>
                  </a:txBody>
                  <a:tcPr marL="4463" marR="4463" marT="4463" marB="0" anchor="b"/>
                </a:tc>
                <a:tc>
                  <a:txBody>
                    <a:bodyPr/>
                    <a:lstStyle/>
                    <a:p>
                      <a:pPr algn="r" fontAlgn="b"/>
                      <a:r>
                        <a:rPr lang="fr-FR" sz="2800" b="0" i="0" u="none" strike="noStrike" dirty="0" err="1">
                          <a:solidFill>
                            <a:srgbClr val="000000"/>
                          </a:solidFill>
                          <a:effectLst/>
                          <a:latin typeface="Calibri" panose="020F0502020204030204" pitchFamily="34" charset="0"/>
                        </a:rPr>
                        <a:t>Decrease</a:t>
                      </a:r>
                      <a:r>
                        <a:rPr lang="fr-FR" sz="2800" b="0" i="0" u="none" strike="noStrike" dirty="0">
                          <a:solidFill>
                            <a:srgbClr val="000000"/>
                          </a:solidFill>
                          <a:effectLst/>
                          <a:latin typeface="Calibri" panose="020F0502020204030204" pitchFamily="34" charset="0"/>
                        </a:rPr>
                        <a:t> in </a:t>
                      </a:r>
                      <a:r>
                        <a:rPr lang="fr-FR" sz="2800" b="0" i="0" u="none" strike="noStrike" dirty="0" err="1">
                          <a:solidFill>
                            <a:srgbClr val="000000"/>
                          </a:solidFill>
                          <a:effectLst/>
                          <a:latin typeface="Calibri" panose="020F0502020204030204" pitchFamily="34" charset="0"/>
                        </a:rPr>
                        <a:t>debt</a:t>
                      </a:r>
                      <a:endParaRPr lang="en-US" sz="2800" b="0" i="0" u="none" strike="noStrike" dirty="0">
                        <a:solidFill>
                          <a:srgbClr val="000000"/>
                        </a:solidFill>
                        <a:effectLst/>
                        <a:latin typeface="Calibri" panose="020F0502020204030204" pitchFamily="34" charset="0"/>
                      </a:endParaRPr>
                    </a:p>
                  </a:txBody>
                  <a:tcPr marL="4463" marR="4463" marT="4463" marB="0" anchor="b"/>
                </a:tc>
                <a:extLst>
                  <a:ext uri="{0D108BD9-81ED-4DB2-BD59-A6C34878D82A}">
                    <a16:rowId xmlns:a16="http://schemas.microsoft.com/office/drawing/2014/main" val="1395014584"/>
                  </a:ext>
                </a:extLst>
              </a:tr>
              <a:tr h="382139">
                <a:tc>
                  <a:txBody>
                    <a:bodyPr/>
                    <a:lstStyle/>
                    <a:p>
                      <a:pPr algn="l" fontAlgn="b"/>
                      <a:r>
                        <a:rPr lang="en-US" sz="2800" u="none" strike="noStrike" dirty="0">
                          <a:effectLst/>
                        </a:rPr>
                        <a:t>Issuance of shares</a:t>
                      </a:r>
                      <a:endParaRPr lang="en-US" sz="2800" b="0" i="0" u="none" strike="noStrike" dirty="0">
                        <a:solidFill>
                          <a:srgbClr val="000000"/>
                        </a:solidFill>
                        <a:effectLst/>
                        <a:latin typeface="Calibri" panose="020F0502020204030204" pitchFamily="34" charset="0"/>
                      </a:endParaRPr>
                    </a:p>
                  </a:txBody>
                  <a:tcPr marL="4463" marR="4463" marT="4463" marB="0" anchor="b">
                    <a:solidFill>
                      <a:schemeClr val="tx1">
                        <a:lumMod val="10000"/>
                        <a:lumOff val="90000"/>
                      </a:schemeClr>
                    </a:solidFill>
                  </a:tcPr>
                </a:tc>
                <a:tc>
                  <a:txBody>
                    <a:bodyPr/>
                    <a:lstStyle/>
                    <a:p>
                      <a:pPr algn="r" fontAlgn="b"/>
                      <a:r>
                        <a:rPr lang="en-US" sz="2800" u="none" strike="noStrike" dirty="0">
                          <a:effectLst/>
                        </a:rPr>
                        <a:t>110</a:t>
                      </a:r>
                      <a:endParaRPr lang="en-US" sz="2800" b="0" i="0" u="none" strike="noStrike" dirty="0">
                        <a:solidFill>
                          <a:srgbClr val="000000"/>
                        </a:solidFill>
                        <a:effectLst/>
                        <a:latin typeface="Calibri" panose="020F0502020204030204" pitchFamily="34" charset="0"/>
                      </a:endParaRPr>
                    </a:p>
                  </a:txBody>
                  <a:tcPr marL="4463" marR="4463" marT="4463" marB="0" anchor="b">
                    <a:solidFill>
                      <a:schemeClr val="tx1">
                        <a:lumMod val="10000"/>
                        <a:lumOff val="90000"/>
                      </a:schemeClr>
                    </a:solidFill>
                  </a:tcPr>
                </a:tc>
                <a:tc>
                  <a:txBody>
                    <a:bodyPr/>
                    <a:lstStyle/>
                    <a:p>
                      <a:pPr algn="r" fontAlgn="b"/>
                      <a:r>
                        <a:rPr lang="fr-FR" sz="2800" b="0" i="0" u="none" strike="noStrike" dirty="0" err="1">
                          <a:solidFill>
                            <a:srgbClr val="000000"/>
                          </a:solidFill>
                          <a:effectLst/>
                          <a:latin typeface="Calibri" panose="020F0502020204030204" pitchFamily="34" charset="0"/>
                        </a:rPr>
                        <a:t>Increase</a:t>
                      </a:r>
                      <a:r>
                        <a:rPr lang="fr-FR" sz="2800" b="0" i="0" u="none" strike="noStrike" dirty="0">
                          <a:solidFill>
                            <a:srgbClr val="000000"/>
                          </a:solidFill>
                          <a:effectLst/>
                          <a:latin typeface="Calibri" panose="020F0502020204030204" pitchFamily="34" charset="0"/>
                        </a:rPr>
                        <a:t> in </a:t>
                      </a:r>
                      <a:r>
                        <a:rPr lang="fr-FR" sz="2800" b="0" i="0" u="none" strike="noStrike" dirty="0" err="1">
                          <a:solidFill>
                            <a:srgbClr val="000000"/>
                          </a:solidFill>
                          <a:effectLst/>
                          <a:latin typeface="Calibri" panose="020F0502020204030204" pitchFamily="34" charset="0"/>
                        </a:rPr>
                        <a:t>contributed</a:t>
                      </a:r>
                      <a:r>
                        <a:rPr lang="fr-FR" sz="2800" b="0" i="0" u="none" strike="noStrike" dirty="0">
                          <a:solidFill>
                            <a:srgbClr val="000000"/>
                          </a:solidFill>
                          <a:effectLst/>
                          <a:latin typeface="Calibri" panose="020F0502020204030204" pitchFamily="34" charset="0"/>
                        </a:rPr>
                        <a:t> capital</a:t>
                      </a:r>
                      <a:endParaRPr lang="en-US" sz="2800" b="0" i="0" u="none" strike="noStrike" dirty="0">
                        <a:solidFill>
                          <a:srgbClr val="000000"/>
                        </a:solidFill>
                        <a:effectLst/>
                        <a:latin typeface="Calibri" panose="020F0502020204030204" pitchFamily="34" charset="0"/>
                      </a:endParaRPr>
                    </a:p>
                  </a:txBody>
                  <a:tcPr marL="4463" marR="4463" marT="4463" marB="0" anchor="b">
                    <a:solidFill>
                      <a:schemeClr val="tx1">
                        <a:lumMod val="10000"/>
                        <a:lumOff val="90000"/>
                      </a:schemeClr>
                    </a:solidFill>
                  </a:tcPr>
                </a:tc>
                <a:extLst>
                  <a:ext uri="{0D108BD9-81ED-4DB2-BD59-A6C34878D82A}">
                    <a16:rowId xmlns:a16="http://schemas.microsoft.com/office/drawing/2014/main" val="3311995271"/>
                  </a:ext>
                </a:extLst>
              </a:tr>
              <a:tr h="475595">
                <a:tc>
                  <a:txBody>
                    <a:bodyPr/>
                    <a:lstStyle/>
                    <a:p>
                      <a:pPr algn="l" fontAlgn="b"/>
                      <a:r>
                        <a:rPr lang="en-US" sz="2800" u="none" strike="noStrike">
                          <a:effectLst/>
                        </a:rPr>
                        <a:t>Increase in accounts payable</a:t>
                      </a:r>
                      <a:endParaRPr lang="en-US" sz="2800" b="0" i="0" u="none" strike="noStrike">
                        <a:solidFill>
                          <a:srgbClr val="000000"/>
                        </a:solidFill>
                        <a:effectLst/>
                        <a:latin typeface="Calibri" panose="020F0502020204030204" pitchFamily="34" charset="0"/>
                      </a:endParaRPr>
                    </a:p>
                  </a:txBody>
                  <a:tcPr marL="4463" marR="4463" marT="4463" marB="0" anchor="b"/>
                </a:tc>
                <a:tc>
                  <a:txBody>
                    <a:bodyPr/>
                    <a:lstStyle/>
                    <a:p>
                      <a:pPr algn="r" fontAlgn="b"/>
                      <a:r>
                        <a:rPr lang="en-US" sz="2800" u="none" strike="noStrike" dirty="0">
                          <a:effectLst/>
                        </a:rPr>
                        <a:t>15</a:t>
                      </a:r>
                      <a:endParaRPr lang="en-US" sz="2800" b="0" i="0" u="none" strike="noStrike" dirty="0">
                        <a:solidFill>
                          <a:srgbClr val="000000"/>
                        </a:solidFill>
                        <a:effectLst/>
                        <a:latin typeface="Calibri" panose="020F0502020204030204" pitchFamily="34" charset="0"/>
                      </a:endParaRPr>
                    </a:p>
                  </a:txBody>
                  <a:tcPr marL="4463" marR="4463" marT="4463" marB="0" anchor="b"/>
                </a:tc>
                <a:tc>
                  <a:txBody>
                    <a:bodyPr/>
                    <a:lstStyle/>
                    <a:p>
                      <a:pPr algn="r" fontAlgn="b"/>
                      <a:r>
                        <a:rPr lang="fr-FR" sz="2800" b="0" i="0" u="none" strike="noStrike" dirty="0" err="1">
                          <a:solidFill>
                            <a:srgbClr val="000000"/>
                          </a:solidFill>
                          <a:effectLst/>
                          <a:latin typeface="Calibri" panose="020F0502020204030204" pitchFamily="34" charset="0"/>
                        </a:rPr>
                        <a:t>Increase</a:t>
                      </a:r>
                      <a:r>
                        <a:rPr lang="fr-FR" sz="2800" b="0" i="0" u="none" strike="noStrike" dirty="0">
                          <a:solidFill>
                            <a:srgbClr val="000000"/>
                          </a:solidFill>
                          <a:effectLst/>
                          <a:latin typeface="Calibri" panose="020F0502020204030204" pitchFamily="34" charset="0"/>
                        </a:rPr>
                        <a:t> in operating </a:t>
                      </a:r>
                      <a:r>
                        <a:rPr lang="fr-FR" sz="2800" b="0" i="0" u="none" strike="noStrike" dirty="0" err="1">
                          <a:solidFill>
                            <a:srgbClr val="000000"/>
                          </a:solidFill>
                          <a:effectLst/>
                          <a:latin typeface="Calibri" panose="020F0502020204030204" pitchFamily="34" charset="0"/>
                        </a:rPr>
                        <a:t>liabilities</a:t>
                      </a:r>
                      <a:endParaRPr lang="en-US" sz="2800" b="0" i="0" u="none" strike="noStrike" dirty="0">
                        <a:solidFill>
                          <a:srgbClr val="000000"/>
                        </a:solidFill>
                        <a:effectLst/>
                        <a:latin typeface="Calibri" panose="020F0502020204030204" pitchFamily="34" charset="0"/>
                      </a:endParaRPr>
                    </a:p>
                  </a:txBody>
                  <a:tcPr marL="4463" marR="4463" marT="4463" marB="0" anchor="b"/>
                </a:tc>
                <a:extLst>
                  <a:ext uri="{0D108BD9-81ED-4DB2-BD59-A6C34878D82A}">
                    <a16:rowId xmlns:a16="http://schemas.microsoft.com/office/drawing/2014/main" val="314942409"/>
                  </a:ext>
                </a:extLst>
              </a:tr>
            </a:tbl>
          </a:graphicData>
        </a:graphic>
      </p:graphicFrame>
      <p:sp>
        <p:nvSpPr>
          <p:cNvPr id="7" name="TextBox 6">
            <a:extLst>
              <a:ext uri="{FF2B5EF4-FFF2-40B4-BE49-F238E27FC236}">
                <a16:creationId xmlns:a16="http://schemas.microsoft.com/office/drawing/2014/main" id="{1F1D6A0D-7A67-BF1A-C88D-0E7A3B5DB075}"/>
              </a:ext>
            </a:extLst>
          </p:cNvPr>
          <p:cNvSpPr txBox="1"/>
          <p:nvPr/>
        </p:nvSpPr>
        <p:spPr>
          <a:xfrm>
            <a:off x="226374" y="4881643"/>
            <a:ext cx="11701942" cy="1130694"/>
          </a:xfrm>
          <a:prstGeom prst="rect">
            <a:avLst/>
          </a:prstGeom>
          <a:solidFill>
            <a:schemeClr val="accent4">
              <a:lumMod val="40000"/>
              <a:lumOff val="60000"/>
            </a:schemeClr>
          </a:solidFill>
        </p:spPr>
        <p:txBody>
          <a:bodyPr wrap="square" rtlCol="0">
            <a:spAutoFit/>
          </a:bodyPr>
          <a:lstStyle/>
          <a:p>
            <a:r>
              <a:rPr lang="fr-FR" sz="2249" b="1" dirty="0"/>
              <a:t>Cash flow</a:t>
            </a:r>
            <a:endParaRPr lang="fr-FR" sz="2249" dirty="0"/>
          </a:p>
          <a:p>
            <a:r>
              <a:rPr lang="fr-FR" sz="2249" b="1" dirty="0"/>
              <a:t>=</a:t>
            </a:r>
            <a:r>
              <a:rPr lang="fr-FR" sz="2249" dirty="0"/>
              <a:t> </a:t>
            </a:r>
            <a:r>
              <a:rPr lang="fr-FR" sz="2249" b="1" dirty="0"/>
              <a:t>Net profit </a:t>
            </a:r>
            <a:r>
              <a:rPr lang="fr-FR" sz="2249" dirty="0"/>
              <a:t>- Investment in P,P&amp;E – </a:t>
            </a:r>
            <a:r>
              <a:rPr lang="fr-FR" sz="2249" dirty="0" err="1"/>
              <a:t>Increase</a:t>
            </a:r>
            <a:r>
              <a:rPr lang="fr-FR" sz="2249" dirty="0"/>
              <a:t> in inventories – </a:t>
            </a:r>
            <a:r>
              <a:rPr lang="fr-FR" sz="2249" dirty="0" err="1"/>
              <a:t>Repayment</a:t>
            </a:r>
            <a:r>
              <a:rPr lang="fr-FR" sz="2249" dirty="0"/>
              <a:t> of </a:t>
            </a:r>
            <a:r>
              <a:rPr lang="fr-FR" sz="2249" dirty="0" err="1"/>
              <a:t>debt</a:t>
            </a:r>
            <a:r>
              <a:rPr lang="fr-FR" sz="2249" dirty="0"/>
              <a:t> + </a:t>
            </a:r>
            <a:r>
              <a:rPr lang="fr-FR" sz="2249" dirty="0" err="1"/>
              <a:t>Issuance</a:t>
            </a:r>
            <a:r>
              <a:rPr lang="fr-FR" sz="2249" dirty="0"/>
              <a:t> of </a:t>
            </a:r>
            <a:r>
              <a:rPr lang="fr-FR" sz="2249" dirty="0" err="1"/>
              <a:t>shares</a:t>
            </a:r>
            <a:r>
              <a:rPr lang="fr-FR" sz="2249" dirty="0"/>
              <a:t> + </a:t>
            </a:r>
            <a:r>
              <a:rPr lang="fr-FR" sz="2249" dirty="0" err="1"/>
              <a:t>Increase</a:t>
            </a:r>
            <a:r>
              <a:rPr lang="fr-FR" sz="2249" dirty="0"/>
              <a:t> in </a:t>
            </a:r>
            <a:r>
              <a:rPr lang="fr-FR" sz="2249" dirty="0" err="1"/>
              <a:t>accounts</a:t>
            </a:r>
            <a:r>
              <a:rPr lang="fr-FR" sz="2249" dirty="0"/>
              <a:t> payable = 200 – 80 – 10 – 60 + 110 + 15 = 175</a:t>
            </a:r>
            <a:endParaRPr lang="en-US" sz="2249" dirty="0"/>
          </a:p>
        </p:txBody>
      </p:sp>
    </p:spTree>
    <p:extLst>
      <p:ext uri="{BB962C8B-B14F-4D97-AF65-F5344CB8AC3E}">
        <p14:creationId xmlns:p14="http://schemas.microsoft.com/office/powerpoint/2010/main" val="18945458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BE276-1386-1922-1A17-A0BB40AD36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F8BD41-758C-2140-7314-51D3C5E8FC40}"/>
              </a:ext>
            </a:extLst>
          </p:cNvPr>
          <p:cNvSpPr>
            <a:spLocks noGrp="1"/>
          </p:cNvSpPr>
          <p:nvPr>
            <p:ph type="title"/>
          </p:nvPr>
        </p:nvSpPr>
        <p:spPr/>
        <p:txBody>
          <a:bodyPr/>
          <a:lstStyle/>
          <a:p>
            <a:r>
              <a:rPr lang="en-US" dirty="0"/>
              <a:t>Exercise 1: answer</a:t>
            </a:r>
          </a:p>
        </p:txBody>
      </p:sp>
      <p:sp>
        <p:nvSpPr>
          <p:cNvPr id="3" name="Content Placeholder 2">
            <a:extLst>
              <a:ext uri="{FF2B5EF4-FFF2-40B4-BE49-F238E27FC236}">
                <a16:creationId xmlns:a16="http://schemas.microsoft.com/office/drawing/2014/main" id="{E32BD242-758D-05CF-C698-B91E0CE535A1}"/>
              </a:ext>
            </a:extLst>
          </p:cNvPr>
          <p:cNvSpPr>
            <a:spLocks noGrp="1"/>
          </p:cNvSpPr>
          <p:nvPr>
            <p:ph idx="1"/>
          </p:nvPr>
        </p:nvSpPr>
        <p:spPr>
          <a:xfrm>
            <a:off x="681228" y="1260630"/>
            <a:ext cx="10829544" cy="1091954"/>
          </a:xfrm>
        </p:spPr>
        <p:txBody>
          <a:bodyPr>
            <a:normAutofit/>
          </a:bodyPr>
          <a:lstStyle/>
          <a:p>
            <a:pPr marL="0" indent="0">
              <a:buNone/>
            </a:pPr>
            <a:r>
              <a:rPr lang="fr-FR" sz="2800" dirty="0" err="1"/>
              <a:t>What</a:t>
            </a:r>
            <a:r>
              <a:rPr lang="fr-FR" sz="2800" dirty="0"/>
              <a:t> </a:t>
            </a:r>
            <a:r>
              <a:rPr lang="fr-FR" sz="2800" dirty="0" err="1"/>
              <a:t>is</a:t>
            </a:r>
            <a:r>
              <a:rPr lang="fr-FR" sz="2800" dirty="0"/>
              <a:t> the cash flow (</a:t>
            </a:r>
            <a:r>
              <a:rPr lang="fr-FR" sz="2800" dirty="0" err="1"/>
              <a:t>with</a:t>
            </a:r>
            <a:r>
              <a:rPr lang="fr-FR" sz="2800" dirty="0"/>
              <a:t> indirect </a:t>
            </a:r>
            <a:r>
              <a:rPr lang="fr-FR" sz="2800" dirty="0" err="1"/>
              <a:t>method</a:t>
            </a:r>
            <a:r>
              <a:rPr lang="fr-FR" sz="2800" dirty="0"/>
              <a:t>: change in balance </a:t>
            </a:r>
            <a:r>
              <a:rPr lang="fr-FR" sz="2800" dirty="0" err="1"/>
              <a:t>sheet</a:t>
            </a:r>
            <a:r>
              <a:rPr lang="fr-FR" sz="2800" dirty="0"/>
              <a:t>)?</a:t>
            </a:r>
            <a:endParaRPr lang="en-US" sz="2800" dirty="0"/>
          </a:p>
          <a:p>
            <a:endParaRPr lang="en-US" dirty="0"/>
          </a:p>
        </p:txBody>
      </p:sp>
      <p:sp>
        <p:nvSpPr>
          <p:cNvPr id="4" name="Slide Number Placeholder 3">
            <a:extLst>
              <a:ext uri="{FF2B5EF4-FFF2-40B4-BE49-F238E27FC236}">
                <a16:creationId xmlns:a16="http://schemas.microsoft.com/office/drawing/2014/main" id="{B9E24450-40B6-8299-6FEE-61773CCB4F4C}"/>
              </a:ext>
            </a:extLst>
          </p:cNvPr>
          <p:cNvSpPr>
            <a:spLocks noGrp="1"/>
          </p:cNvSpPr>
          <p:nvPr>
            <p:ph type="sldNum" sz="quarter" idx="10"/>
          </p:nvPr>
        </p:nvSpPr>
        <p:spPr/>
        <p:txBody>
          <a:bodyPr/>
          <a:lstStyle/>
          <a:p>
            <a:fld id="{421B1A79-1F45-8F4F-AED5-0EE30DCF0380}" type="slidenum">
              <a:rPr lang="fr-FR" smtClean="0"/>
              <a:t>42</a:t>
            </a:fld>
            <a:endParaRPr lang="fr-FR" dirty="0"/>
          </a:p>
        </p:txBody>
      </p:sp>
      <p:graphicFrame>
        <p:nvGraphicFramePr>
          <p:cNvPr id="5" name="Content Placeholder 5">
            <a:extLst>
              <a:ext uri="{FF2B5EF4-FFF2-40B4-BE49-F238E27FC236}">
                <a16:creationId xmlns:a16="http://schemas.microsoft.com/office/drawing/2014/main" id="{8DDCD4DB-0EBB-F29D-D3E0-0F420A5425FF}"/>
              </a:ext>
            </a:extLst>
          </p:cNvPr>
          <p:cNvGraphicFramePr>
            <a:graphicFrameLocks/>
          </p:cNvGraphicFramePr>
          <p:nvPr>
            <p:extLst>
              <p:ext uri="{D42A27DB-BD31-4B8C-83A1-F6EECF244321}">
                <p14:modId xmlns:p14="http://schemas.microsoft.com/office/powerpoint/2010/main" val="3240246242"/>
              </p:ext>
            </p:extLst>
          </p:nvPr>
        </p:nvGraphicFramePr>
        <p:xfrm>
          <a:off x="98179" y="2811887"/>
          <a:ext cx="11888539" cy="1560148"/>
        </p:xfrm>
        <a:graphic>
          <a:graphicData uri="http://schemas.openxmlformats.org/drawingml/2006/table">
            <a:tbl>
              <a:tblPr>
                <a:tableStyleId>{B301B821-A1FF-4177-AEE7-76D212191A09}</a:tableStyleId>
              </a:tblPr>
              <a:tblGrid>
                <a:gridCol w="5248094">
                  <a:extLst>
                    <a:ext uri="{9D8B030D-6E8A-4147-A177-3AD203B41FA5}">
                      <a16:colId xmlns:a16="http://schemas.microsoft.com/office/drawing/2014/main" val="1555731078"/>
                    </a:ext>
                  </a:extLst>
                </a:gridCol>
                <a:gridCol w="1392351">
                  <a:extLst>
                    <a:ext uri="{9D8B030D-6E8A-4147-A177-3AD203B41FA5}">
                      <a16:colId xmlns:a16="http://schemas.microsoft.com/office/drawing/2014/main" val="1682692781"/>
                    </a:ext>
                  </a:extLst>
                </a:gridCol>
                <a:gridCol w="5248094">
                  <a:extLst>
                    <a:ext uri="{9D8B030D-6E8A-4147-A177-3AD203B41FA5}">
                      <a16:colId xmlns:a16="http://schemas.microsoft.com/office/drawing/2014/main" val="3922811676"/>
                    </a:ext>
                  </a:extLst>
                </a:gridCol>
              </a:tblGrid>
              <a:tr h="390037">
                <a:tc>
                  <a:txBody>
                    <a:bodyPr/>
                    <a:lstStyle/>
                    <a:p>
                      <a:pPr algn="l" fontAlgn="b"/>
                      <a:r>
                        <a:rPr lang="en-US" sz="2500" b="0" i="0" u="none" strike="noStrike" dirty="0">
                          <a:solidFill>
                            <a:srgbClr val="000000"/>
                          </a:solidFill>
                          <a:effectLst/>
                          <a:latin typeface="Calibri" panose="020F0502020204030204" pitchFamily="34" charset="0"/>
                        </a:rPr>
                        <a:t>   Change in equity</a:t>
                      </a:r>
                    </a:p>
                  </a:txBody>
                  <a:tcPr marL="4463" marR="4463" marT="4463" marB="0" anchor="b">
                    <a:solidFill>
                      <a:schemeClr val="tx1">
                        <a:lumMod val="10000"/>
                        <a:lumOff val="90000"/>
                      </a:schemeClr>
                    </a:solidFill>
                  </a:tcPr>
                </a:tc>
                <a:tc>
                  <a:txBody>
                    <a:bodyPr/>
                    <a:lstStyle/>
                    <a:p>
                      <a:pPr algn="r" fontAlgn="b"/>
                      <a:r>
                        <a:rPr lang="en-US" sz="2500" b="0" i="0" u="none" strike="noStrike">
                          <a:solidFill>
                            <a:srgbClr val="000000"/>
                          </a:solidFill>
                          <a:effectLst/>
                          <a:latin typeface="Calibri" panose="020F0502020204030204" pitchFamily="34" charset="0"/>
                        </a:rPr>
                        <a:t>310</a:t>
                      </a:r>
                    </a:p>
                  </a:txBody>
                  <a:tcPr marL="4463" marR="4463" marT="4463" marB="0" anchor="b">
                    <a:solidFill>
                      <a:schemeClr val="tx1">
                        <a:lumMod val="10000"/>
                        <a:lumOff val="90000"/>
                      </a:schemeClr>
                    </a:solidFill>
                  </a:tcPr>
                </a:tc>
                <a:tc>
                  <a:txBody>
                    <a:bodyPr/>
                    <a:lstStyle/>
                    <a:p>
                      <a:pPr algn="l" fontAlgn="b"/>
                      <a:r>
                        <a:rPr lang="en-US" sz="2500" b="0" i="0" u="none" strike="noStrike" dirty="0">
                          <a:solidFill>
                            <a:srgbClr val="000000"/>
                          </a:solidFill>
                          <a:effectLst/>
                          <a:latin typeface="Calibri" panose="020F0502020204030204" pitchFamily="34" charset="0"/>
                        </a:rPr>
                        <a:t>  Increase in equity</a:t>
                      </a:r>
                    </a:p>
                  </a:txBody>
                  <a:tcPr marL="4463" marR="4463" marT="4463" marB="0" anchor="b">
                    <a:solidFill>
                      <a:schemeClr val="tx1">
                        <a:lumMod val="10000"/>
                        <a:lumOff val="90000"/>
                      </a:schemeClr>
                    </a:solidFill>
                  </a:tcPr>
                </a:tc>
                <a:extLst>
                  <a:ext uri="{0D108BD9-81ED-4DB2-BD59-A6C34878D82A}">
                    <a16:rowId xmlns:a16="http://schemas.microsoft.com/office/drawing/2014/main" val="374100810"/>
                  </a:ext>
                </a:extLst>
              </a:tr>
              <a:tr h="390037">
                <a:tc>
                  <a:txBody>
                    <a:bodyPr/>
                    <a:lstStyle/>
                    <a:p>
                      <a:pPr algn="l" fontAlgn="b"/>
                      <a:r>
                        <a:rPr lang="en-US" sz="2500" b="0" i="0" u="none" strike="noStrike">
                          <a:solidFill>
                            <a:srgbClr val="000000"/>
                          </a:solidFill>
                          <a:effectLst/>
                          <a:latin typeface="Calibri" panose="020F0502020204030204" pitchFamily="34" charset="0"/>
                        </a:rPr>
                        <a:t>+ Change in liabilities</a:t>
                      </a:r>
                    </a:p>
                  </a:txBody>
                  <a:tcPr marL="4463" marR="4463" marT="4463" marB="0" anchor="b"/>
                </a:tc>
                <a:tc>
                  <a:txBody>
                    <a:bodyPr/>
                    <a:lstStyle/>
                    <a:p>
                      <a:pPr algn="r" fontAlgn="b"/>
                      <a:r>
                        <a:rPr lang="en-US" sz="2500" b="0" i="0" u="none" strike="noStrike" dirty="0">
                          <a:solidFill>
                            <a:srgbClr val="000000"/>
                          </a:solidFill>
                          <a:effectLst/>
                          <a:latin typeface="Calibri" panose="020F0502020204030204" pitchFamily="34" charset="0"/>
                        </a:rPr>
                        <a:t>- 45</a:t>
                      </a:r>
                    </a:p>
                  </a:txBody>
                  <a:tcPr marL="4463" marR="4463" marT="4463" marB="0" anchor="b"/>
                </a:tc>
                <a:tc>
                  <a:txBody>
                    <a:bodyPr/>
                    <a:lstStyle/>
                    <a:p>
                      <a:pPr algn="l" fontAlgn="b"/>
                      <a:r>
                        <a:rPr lang="en-US" sz="2500" b="0" i="0" u="none" strike="noStrike" dirty="0">
                          <a:solidFill>
                            <a:srgbClr val="000000"/>
                          </a:solidFill>
                          <a:effectLst/>
                          <a:latin typeface="Calibri" panose="020F0502020204030204" pitchFamily="34" charset="0"/>
                        </a:rPr>
                        <a:t>  Decrease in liabilities</a:t>
                      </a:r>
                    </a:p>
                  </a:txBody>
                  <a:tcPr marL="4463" marR="4463" marT="4463" marB="0" anchor="b"/>
                </a:tc>
                <a:extLst>
                  <a:ext uri="{0D108BD9-81ED-4DB2-BD59-A6C34878D82A}">
                    <a16:rowId xmlns:a16="http://schemas.microsoft.com/office/drawing/2014/main" val="2877163862"/>
                  </a:ext>
                </a:extLst>
              </a:tr>
              <a:tr h="390037">
                <a:tc>
                  <a:txBody>
                    <a:bodyPr/>
                    <a:lstStyle/>
                    <a:p>
                      <a:pPr algn="l" fontAlgn="b"/>
                      <a:r>
                        <a:rPr lang="en-US" sz="2500" b="0" i="0" u="none" strike="noStrike">
                          <a:solidFill>
                            <a:srgbClr val="000000"/>
                          </a:solidFill>
                          <a:effectLst/>
                          <a:latin typeface="Calibri" panose="020F0502020204030204" pitchFamily="34" charset="0"/>
                        </a:rPr>
                        <a:t>- Change in noncash assets</a:t>
                      </a:r>
                    </a:p>
                  </a:txBody>
                  <a:tcPr marL="4463" marR="4463" marT="4463" marB="0" anchor="b">
                    <a:solidFill>
                      <a:schemeClr val="tx1">
                        <a:lumMod val="10000"/>
                        <a:lumOff val="90000"/>
                      </a:schemeClr>
                    </a:solidFill>
                  </a:tcPr>
                </a:tc>
                <a:tc>
                  <a:txBody>
                    <a:bodyPr/>
                    <a:lstStyle/>
                    <a:p>
                      <a:pPr algn="r" fontAlgn="b"/>
                      <a:r>
                        <a:rPr lang="en-US" sz="2500" b="0" i="0" u="none" strike="noStrike" dirty="0">
                          <a:solidFill>
                            <a:srgbClr val="000000"/>
                          </a:solidFill>
                          <a:effectLst/>
                          <a:latin typeface="Calibri" panose="020F0502020204030204" pitchFamily="34" charset="0"/>
                        </a:rPr>
                        <a:t>- 90</a:t>
                      </a:r>
                    </a:p>
                  </a:txBody>
                  <a:tcPr marL="4463" marR="4463" marT="4463" marB="0" anchor="b">
                    <a:solidFill>
                      <a:schemeClr val="tx1">
                        <a:lumMod val="10000"/>
                        <a:lumOff val="90000"/>
                      </a:schemeClr>
                    </a:solidFill>
                  </a:tcPr>
                </a:tc>
                <a:tc>
                  <a:txBody>
                    <a:bodyPr/>
                    <a:lstStyle/>
                    <a:p>
                      <a:pPr algn="l" fontAlgn="b"/>
                      <a:r>
                        <a:rPr lang="en-US" sz="2500" b="0" i="0" u="none" strike="noStrike" dirty="0">
                          <a:solidFill>
                            <a:srgbClr val="000000"/>
                          </a:solidFill>
                          <a:effectLst/>
                          <a:latin typeface="Calibri" panose="020F0502020204030204" pitchFamily="34" charset="0"/>
                        </a:rPr>
                        <a:t>  Increase in noncash assets</a:t>
                      </a:r>
                    </a:p>
                  </a:txBody>
                  <a:tcPr marL="4463" marR="4463" marT="4463" marB="0" anchor="b">
                    <a:solidFill>
                      <a:schemeClr val="tx1">
                        <a:lumMod val="10000"/>
                        <a:lumOff val="90000"/>
                      </a:schemeClr>
                    </a:solidFill>
                  </a:tcPr>
                </a:tc>
                <a:extLst>
                  <a:ext uri="{0D108BD9-81ED-4DB2-BD59-A6C34878D82A}">
                    <a16:rowId xmlns:a16="http://schemas.microsoft.com/office/drawing/2014/main" val="1864690327"/>
                  </a:ext>
                </a:extLst>
              </a:tr>
              <a:tr h="390037">
                <a:tc>
                  <a:txBody>
                    <a:bodyPr/>
                    <a:lstStyle/>
                    <a:p>
                      <a:pPr algn="l" fontAlgn="b"/>
                      <a:r>
                        <a:rPr lang="en-US" sz="2500" b="0" i="0" u="none" strike="noStrike" dirty="0">
                          <a:solidFill>
                            <a:srgbClr val="000000"/>
                          </a:solidFill>
                          <a:effectLst/>
                          <a:latin typeface="Calibri" panose="020F0502020204030204" pitchFamily="34" charset="0"/>
                        </a:rPr>
                        <a:t>= change in cash (i.e. total cash flow)</a:t>
                      </a:r>
                    </a:p>
                  </a:txBody>
                  <a:tcPr marL="4463" marR="4463" marT="4463" marB="0" anchor="b"/>
                </a:tc>
                <a:tc>
                  <a:txBody>
                    <a:bodyPr/>
                    <a:lstStyle/>
                    <a:p>
                      <a:pPr algn="r" fontAlgn="b"/>
                      <a:r>
                        <a:rPr lang="en-US" sz="2500" b="0" i="0" u="none" strike="noStrike" dirty="0">
                          <a:solidFill>
                            <a:srgbClr val="000000"/>
                          </a:solidFill>
                          <a:effectLst/>
                          <a:latin typeface="Calibri" panose="020F0502020204030204" pitchFamily="34" charset="0"/>
                        </a:rPr>
                        <a:t>175</a:t>
                      </a:r>
                    </a:p>
                  </a:txBody>
                  <a:tcPr marL="4463" marR="4463" marT="4463" marB="0" anchor="b"/>
                </a:tc>
                <a:tc>
                  <a:txBody>
                    <a:bodyPr/>
                    <a:lstStyle/>
                    <a:p>
                      <a:pPr algn="l" fontAlgn="b"/>
                      <a:r>
                        <a:rPr lang="en-US" sz="2500" b="0" i="0" u="none" strike="noStrike" dirty="0">
                          <a:solidFill>
                            <a:srgbClr val="000000"/>
                          </a:solidFill>
                          <a:effectLst/>
                          <a:latin typeface="Calibri" panose="020F0502020204030204" pitchFamily="34" charset="0"/>
                        </a:rPr>
                        <a:t>  Positive cash flow</a:t>
                      </a:r>
                    </a:p>
                  </a:txBody>
                  <a:tcPr marL="4463" marR="4463" marT="4463" marB="0" anchor="b"/>
                </a:tc>
                <a:extLst>
                  <a:ext uri="{0D108BD9-81ED-4DB2-BD59-A6C34878D82A}">
                    <a16:rowId xmlns:a16="http://schemas.microsoft.com/office/drawing/2014/main" val="1395014584"/>
                  </a:ext>
                </a:extLst>
              </a:tr>
            </a:tbl>
          </a:graphicData>
        </a:graphic>
      </p:graphicFrame>
      <p:sp>
        <p:nvSpPr>
          <p:cNvPr id="8" name="TextBox 7">
            <a:extLst>
              <a:ext uri="{FF2B5EF4-FFF2-40B4-BE49-F238E27FC236}">
                <a16:creationId xmlns:a16="http://schemas.microsoft.com/office/drawing/2014/main" id="{D472F2E0-F300-8622-DE73-1973B5354155}"/>
              </a:ext>
            </a:extLst>
          </p:cNvPr>
          <p:cNvSpPr txBox="1"/>
          <p:nvPr/>
        </p:nvSpPr>
        <p:spPr>
          <a:xfrm>
            <a:off x="3525505" y="2122852"/>
            <a:ext cx="5515854" cy="481670"/>
          </a:xfrm>
          <a:prstGeom prst="rect">
            <a:avLst/>
          </a:prstGeom>
          <a:solidFill>
            <a:schemeClr val="accent1">
              <a:lumMod val="10000"/>
              <a:lumOff val="90000"/>
            </a:schemeClr>
          </a:solidFill>
        </p:spPr>
        <p:txBody>
          <a:bodyPr wrap="square" rtlCol="0">
            <a:spAutoFit/>
          </a:bodyPr>
          <a:lstStyle/>
          <a:p>
            <a:pPr algn="ctr"/>
            <a:r>
              <a:rPr lang="fr-FR" sz="2530" dirty="0" err="1"/>
              <a:t>Other</a:t>
            </a:r>
            <a:r>
              <a:rPr lang="fr-FR" sz="2530" dirty="0"/>
              <a:t> </a:t>
            </a:r>
            <a:r>
              <a:rPr lang="fr-FR" sz="2530" dirty="0" err="1"/>
              <a:t>presentation</a:t>
            </a:r>
            <a:r>
              <a:rPr lang="fr-FR" sz="2530" dirty="0"/>
              <a:t> of the </a:t>
            </a:r>
            <a:r>
              <a:rPr lang="fr-FR" sz="2530" dirty="0" err="1"/>
              <a:t>calculation</a:t>
            </a:r>
            <a:endParaRPr lang="en-US" sz="2530" dirty="0"/>
          </a:p>
        </p:txBody>
      </p:sp>
      <p:sp>
        <p:nvSpPr>
          <p:cNvPr id="9" name="TextBox 8">
            <a:extLst>
              <a:ext uri="{FF2B5EF4-FFF2-40B4-BE49-F238E27FC236}">
                <a16:creationId xmlns:a16="http://schemas.microsoft.com/office/drawing/2014/main" id="{43C63F03-834B-74A3-801A-A30B1E55DDEE}"/>
              </a:ext>
            </a:extLst>
          </p:cNvPr>
          <p:cNvSpPr txBox="1"/>
          <p:nvPr/>
        </p:nvSpPr>
        <p:spPr>
          <a:xfrm>
            <a:off x="155813" y="4582226"/>
            <a:ext cx="11752099" cy="1130694"/>
          </a:xfrm>
          <a:prstGeom prst="rect">
            <a:avLst/>
          </a:prstGeom>
          <a:solidFill>
            <a:schemeClr val="accent4">
              <a:lumMod val="40000"/>
              <a:lumOff val="60000"/>
            </a:schemeClr>
          </a:solidFill>
        </p:spPr>
        <p:txBody>
          <a:bodyPr wrap="square" rtlCol="0">
            <a:spAutoFit/>
          </a:bodyPr>
          <a:lstStyle/>
          <a:p>
            <a:r>
              <a:rPr lang="fr-FR" sz="2249" b="1" dirty="0"/>
              <a:t>Change in </a:t>
            </a:r>
            <a:r>
              <a:rPr lang="fr-FR" sz="2249" b="1" dirty="0" err="1"/>
              <a:t>equity</a:t>
            </a:r>
            <a:r>
              <a:rPr lang="fr-FR" sz="2249" b="1" dirty="0"/>
              <a:t> = </a:t>
            </a:r>
            <a:r>
              <a:rPr lang="fr-FR" sz="2249" dirty="0"/>
              <a:t>Net profit + </a:t>
            </a:r>
            <a:r>
              <a:rPr lang="fr-FR" sz="2249" dirty="0" err="1"/>
              <a:t>Issuance</a:t>
            </a:r>
            <a:r>
              <a:rPr lang="fr-FR" sz="2249" dirty="0"/>
              <a:t> of </a:t>
            </a:r>
            <a:r>
              <a:rPr lang="fr-FR" sz="2249" dirty="0" err="1"/>
              <a:t>shares</a:t>
            </a:r>
            <a:r>
              <a:rPr lang="fr-FR" sz="2249" dirty="0"/>
              <a:t>: 200 + 110 = 310</a:t>
            </a:r>
          </a:p>
          <a:p>
            <a:r>
              <a:rPr lang="fr-FR" sz="2249" b="1" dirty="0"/>
              <a:t>Change in </a:t>
            </a:r>
            <a:r>
              <a:rPr lang="fr-FR" sz="2249" b="1" dirty="0" err="1"/>
              <a:t>liabilities</a:t>
            </a:r>
            <a:r>
              <a:rPr lang="fr-FR" sz="2249" b="1" dirty="0"/>
              <a:t> = </a:t>
            </a:r>
            <a:r>
              <a:rPr lang="fr-FR" sz="2249" dirty="0" err="1"/>
              <a:t>Increase</a:t>
            </a:r>
            <a:r>
              <a:rPr lang="fr-FR" sz="2249" dirty="0"/>
              <a:t> in </a:t>
            </a:r>
            <a:r>
              <a:rPr lang="fr-FR" sz="2249" dirty="0" err="1"/>
              <a:t>accounts</a:t>
            </a:r>
            <a:r>
              <a:rPr lang="fr-FR" sz="2249" dirty="0"/>
              <a:t> payable - </a:t>
            </a:r>
            <a:r>
              <a:rPr lang="fr-FR" sz="2249" dirty="0" err="1"/>
              <a:t>Repayment</a:t>
            </a:r>
            <a:r>
              <a:rPr lang="fr-FR" sz="2249" dirty="0"/>
              <a:t> of </a:t>
            </a:r>
            <a:r>
              <a:rPr lang="fr-FR" sz="2249" dirty="0" err="1"/>
              <a:t>debt</a:t>
            </a:r>
            <a:r>
              <a:rPr lang="fr-FR" sz="2249" dirty="0"/>
              <a:t>: 15 – 60 = - 45 </a:t>
            </a:r>
          </a:p>
          <a:p>
            <a:r>
              <a:rPr lang="fr-FR" sz="2249" b="1" dirty="0"/>
              <a:t>Change in </a:t>
            </a:r>
            <a:r>
              <a:rPr lang="fr-FR" sz="2249" b="1" dirty="0" err="1"/>
              <a:t>noncash</a:t>
            </a:r>
            <a:r>
              <a:rPr lang="fr-FR" sz="2249" b="1" dirty="0"/>
              <a:t> assets = </a:t>
            </a:r>
            <a:r>
              <a:rPr lang="fr-FR" sz="2249" dirty="0" err="1"/>
              <a:t>Increase</a:t>
            </a:r>
            <a:r>
              <a:rPr lang="fr-FR" sz="2249" dirty="0"/>
              <a:t> in inventories + Investment in P,P&amp;E: 10 + 80 = 90</a:t>
            </a:r>
          </a:p>
        </p:txBody>
      </p:sp>
    </p:spTree>
    <p:extLst>
      <p:ext uri="{BB962C8B-B14F-4D97-AF65-F5344CB8AC3E}">
        <p14:creationId xmlns:p14="http://schemas.microsoft.com/office/powerpoint/2010/main" val="15027601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623F5-A80E-438A-33E1-963E9462FF7A}"/>
              </a:ext>
            </a:extLst>
          </p:cNvPr>
          <p:cNvSpPr>
            <a:spLocks noGrp="1"/>
          </p:cNvSpPr>
          <p:nvPr>
            <p:ph type="title"/>
          </p:nvPr>
        </p:nvSpPr>
        <p:spPr/>
        <p:txBody>
          <a:bodyPr/>
          <a:lstStyle/>
          <a:p>
            <a:r>
              <a:rPr lang="en-US" dirty="0"/>
              <a:t>Exercise 2</a:t>
            </a:r>
          </a:p>
        </p:txBody>
      </p:sp>
      <p:sp>
        <p:nvSpPr>
          <p:cNvPr id="3" name="Content Placeholder 2">
            <a:extLst>
              <a:ext uri="{FF2B5EF4-FFF2-40B4-BE49-F238E27FC236}">
                <a16:creationId xmlns:a16="http://schemas.microsoft.com/office/drawing/2014/main" id="{9CF6D64A-4D10-4F43-B619-62D34C14BE9E}"/>
              </a:ext>
            </a:extLst>
          </p:cNvPr>
          <p:cNvSpPr>
            <a:spLocks noGrp="1"/>
          </p:cNvSpPr>
          <p:nvPr>
            <p:ph idx="1"/>
          </p:nvPr>
        </p:nvSpPr>
        <p:spPr>
          <a:xfrm>
            <a:off x="681228" y="1133166"/>
            <a:ext cx="10829544" cy="935330"/>
          </a:xfrm>
        </p:spPr>
        <p:txBody>
          <a:bodyPr/>
          <a:lstStyle/>
          <a:p>
            <a:pPr marL="0" indent="0">
              <a:buNone/>
            </a:pPr>
            <a:r>
              <a:rPr lang="fr-FR" sz="2800" dirty="0" err="1"/>
              <a:t>What</a:t>
            </a:r>
            <a:r>
              <a:rPr lang="fr-FR" sz="2800" dirty="0"/>
              <a:t> </a:t>
            </a:r>
            <a:r>
              <a:rPr lang="fr-FR" sz="2800" dirty="0" err="1"/>
              <a:t>is</a:t>
            </a:r>
            <a:r>
              <a:rPr lang="fr-FR" sz="2800" dirty="0"/>
              <a:t> the cash flow (</a:t>
            </a:r>
            <a:r>
              <a:rPr lang="fr-FR" sz="2800" dirty="0" err="1"/>
              <a:t>with</a:t>
            </a:r>
            <a:r>
              <a:rPr lang="fr-FR" sz="2800" dirty="0"/>
              <a:t> indirect </a:t>
            </a:r>
            <a:r>
              <a:rPr lang="fr-FR" sz="2800" dirty="0" err="1"/>
              <a:t>method</a:t>
            </a:r>
            <a:r>
              <a:rPr lang="fr-FR" sz="2800" dirty="0"/>
              <a:t>: change in balance </a:t>
            </a:r>
            <a:r>
              <a:rPr lang="fr-FR" sz="2800" dirty="0" err="1"/>
              <a:t>sheet</a:t>
            </a:r>
            <a:r>
              <a:rPr lang="fr-FR" sz="2800" dirty="0"/>
              <a:t>)?</a:t>
            </a:r>
            <a:endParaRPr lang="en-US" sz="2800" dirty="0"/>
          </a:p>
          <a:p>
            <a:endParaRPr lang="en-US" dirty="0"/>
          </a:p>
        </p:txBody>
      </p:sp>
      <p:sp>
        <p:nvSpPr>
          <p:cNvPr id="4" name="Slide Number Placeholder 3">
            <a:extLst>
              <a:ext uri="{FF2B5EF4-FFF2-40B4-BE49-F238E27FC236}">
                <a16:creationId xmlns:a16="http://schemas.microsoft.com/office/drawing/2014/main" id="{65BD4428-DE13-660B-CB1E-BE21B3129E5E}"/>
              </a:ext>
            </a:extLst>
          </p:cNvPr>
          <p:cNvSpPr>
            <a:spLocks noGrp="1"/>
          </p:cNvSpPr>
          <p:nvPr>
            <p:ph type="sldNum" sz="quarter" idx="10"/>
          </p:nvPr>
        </p:nvSpPr>
        <p:spPr/>
        <p:txBody>
          <a:bodyPr/>
          <a:lstStyle/>
          <a:p>
            <a:fld id="{421B1A79-1F45-8F4F-AED5-0EE30DCF0380}" type="slidenum">
              <a:rPr lang="fr-FR" smtClean="0"/>
              <a:t>43</a:t>
            </a:fld>
            <a:endParaRPr lang="fr-FR"/>
          </a:p>
        </p:txBody>
      </p:sp>
      <p:graphicFrame>
        <p:nvGraphicFramePr>
          <p:cNvPr id="5" name="Content Placeholder 5">
            <a:extLst>
              <a:ext uri="{FF2B5EF4-FFF2-40B4-BE49-F238E27FC236}">
                <a16:creationId xmlns:a16="http://schemas.microsoft.com/office/drawing/2014/main" id="{A2F789B1-4907-6BDE-0441-23D8C44EB25D}"/>
              </a:ext>
            </a:extLst>
          </p:cNvPr>
          <p:cNvGraphicFramePr>
            <a:graphicFrameLocks/>
          </p:cNvGraphicFramePr>
          <p:nvPr>
            <p:extLst>
              <p:ext uri="{D42A27DB-BD31-4B8C-83A1-F6EECF244321}">
                <p14:modId xmlns:p14="http://schemas.microsoft.com/office/powerpoint/2010/main" val="3765943604"/>
              </p:ext>
            </p:extLst>
          </p:nvPr>
        </p:nvGraphicFramePr>
        <p:xfrm>
          <a:off x="2349662" y="2209395"/>
          <a:ext cx="7283069" cy="2730259"/>
        </p:xfrm>
        <a:graphic>
          <a:graphicData uri="http://schemas.openxmlformats.org/drawingml/2006/table">
            <a:tbl>
              <a:tblPr>
                <a:tableStyleId>{B301B821-A1FF-4177-AEE7-76D212191A09}</a:tableStyleId>
              </a:tblPr>
              <a:tblGrid>
                <a:gridCol w="5736222">
                  <a:extLst>
                    <a:ext uri="{9D8B030D-6E8A-4147-A177-3AD203B41FA5}">
                      <a16:colId xmlns:a16="http://schemas.microsoft.com/office/drawing/2014/main" val="1555731078"/>
                    </a:ext>
                  </a:extLst>
                </a:gridCol>
                <a:gridCol w="1546847">
                  <a:extLst>
                    <a:ext uri="{9D8B030D-6E8A-4147-A177-3AD203B41FA5}">
                      <a16:colId xmlns:a16="http://schemas.microsoft.com/office/drawing/2014/main" val="1682692781"/>
                    </a:ext>
                  </a:extLst>
                </a:gridCol>
              </a:tblGrid>
              <a:tr h="390037">
                <a:tc>
                  <a:txBody>
                    <a:bodyPr/>
                    <a:lstStyle/>
                    <a:p>
                      <a:pPr algn="l" fontAlgn="b"/>
                      <a:r>
                        <a:rPr lang="en-US" sz="2500" b="0" i="0" u="none" strike="noStrike">
                          <a:solidFill>
                            <a:srgbClr val="000000"/>
                          </a:solidFill>
                          <a:effectLst/>
                          <a:latin typeface="Calibri" panose="020F0502020204030204" pitchFamily="34" charset="0"/>
                        </a:rPr>
                        <a:t>Net loss</a:t>
                      </a:r>
                    </a:p>
                  </a:txBody>
                  <a:tcPr marL="4463" marR="4463" marT="4463" marB="0" anchor="b">
                    <a:solidFill>
                      <a:schemeClr val="tx1">
                        <a:lumMod val="10000"/>
                        <a:lumOff val="90000"/>
                      </a:schemeClr>
                    </a:solidFill>
                  </a:tcPr>
                </a:tc>
                <a:tc>
                  <a:txBody>
                    <a:bodyPr/>
                    <a:lstStyle/>
                    <a:p>
                      <a:pPr algn="r" fontAlgn="b"/>
                      <a:r>
                        <a:rPr lang="en-US" sz="2500" b="0" i="0" u="none" strike="noStrike">
                          <a:solidFill>
                            <a:srgbClr val="000000"/>
                          </a:solidFill>
                          <a:effectLst/>
                          <a:latin typeface="Calibri" panose="020F0502020204030204" pitchFamily="34" charset="0"/>
                        </a:rPr>
                        <a:t>120</a:t>
                      </a:r>
                    </a:p>
                  </a:txBody>
                  <a:tcPr marL="4463" marR="4463" marT="4463" marB="0" anchor="b">
                    <a:solidFill>
                      <a:schemeClr val="tx1">
                        <a:lumMod val="10000"/>
                        <a:lumOff val="90000"/>
                      </a:schemeClr>
                    </a:solidFill>
                  </a:tcPr>
                </a:tc>
                <a:extLst>
                  <a:ext uri="{0D108BD9-81ED-4DB2-BD59-A6C34878D82A}">
                    <a16:rowId xmlns:a16="http://schemas.microsoft.com/office/drawing/2014/main" val="374100810"/>
                  </a:ext>
                </a:extLst>
              </a:tr>
              <a:tr h="390037">
                <a:tc>
                  <a:txBody>
                    <a:bodyPr/>
                    <a:lstStyle/>
                    <a:p>
                      <a:pPr algn="l" fontAlgn="b"/>
                      <a:r>
                        <a:rPr lang="en-US" sz="2500" b="0" i="0" u="none" strike="noStrike">
                          <a:solidFill>
                            <a:srgbClr val="000000"/>
                          </a:solidFill>
                          <a:effectLst/>
                          <a:latin typeface="Calibri" panose="020F0502020204030204" pitchFamily="34" charset="0"/>
                        </a:rPr>
                        <a:t>Depreciation and amortization expense</a:t>
                      </a:r>
                    </a:p>
                  </a:txBody>
                  <a:tcPr marL="4463" marR="4463" marT="4463" marB="0" anchor="b"/>
                </a:tc>
                <a:tc>
                  <a:txBody>
                    <a:bodyPr/>
                    <a:lstStyle/>
                    <a:p>
                      <a:pPr algn="r" fontAlgn="b"/>
                      <a:r>
                        <a:rPr lang="en-US" sz="2500" b="0" i="0" u="none" strike="noStrike">
                          <a:solidFill>
                            <a:srgbClr val="000000"/>
                          </a:solidFill>
                          <a:effectLst/>
                          <a:latin typeface="Calibri" panose="020F0502020204030204" pitchFamily="34" charset="0"/>
                        </a:rPr>
                        <a:t>25</a:t>
                      </a:r>
                    </a:p>
                  </a:txBody>
                  <a:tcPr marL="4463" marR="4463" marT="4463" marB="0" anchor="b"/>
                </a:tc>
                <a:extLst>
                  <a:ext uri="{0D108BD9-81ED-4DB2-BD59-A6C34878D82A}">
                    <a16:rowId xmlns:a16="http://schemas.microsoft.com/office/drawing/2014/main" val="2877163862"/>
                  </a:ext>
                </a:extLst>
              </a:tr>
              <a:tr h="390037">
                <a:tc>
                  <a:txBody>
                    <a:bodyPr/>
                    <a:lstStyle/>
                    <a:p>
                      <a:pPr algn="l" fontAlgn="b"/>
                      <a:r>
                        <a:rPr lang="en-US" sz="2500" b="0" i="0" u="none" strike="noStrike">
                          <a:solidFill>
                            <a:srgbClr val="000000"/>
                          </a:solidFill>
                          <a:effectLst/>
                          <a:latin typeface="Calibri" panose="020F0502020204030204" pitchFamily="34" charset="0"/>
                        </a:rPr>
                        <a:t>Investment in intangible assets</a:t>
                      </a:r>
                    </a:p>
                  </a:txBody>
                  <a:tcPr marL="4463" marR="4463" marT="4463" marB="0" anchor="b">
                    <a:solidFill>
                      <a:schemeClr val="tx1">
                        <a:lumMod val="10000"/>
                        <a:lumOff val="90000"/>
                      </a:schemeClr>
                    </a:solidFill>
                  </a:tcPr>
                </a:tc>
                <a:tc>
                  <a:txBody>
                    <a:bodyPr/>
                    <a:lstStyle/>
                    <a:p>
                      <a:pPr algn="r" fontAlgn="b"/>
                      <a:r>
                        <a:rPr lang="en-US" sz="2500" b="0" i="0" u="none" strike="noStrike">
                          <a:solidFill>
                            <a:srgbClr val="000000"/>
                          </a:solidFill>
                          <a:effectLst/>
                          <a:latin typeface="Calibri" panose="020F0502020204030204" pitchFamily="34" charset="0"/>
                        </a:rPr>
                        <a:t>60</a:t>
                      </a:r>
                    </a:p>
                  </a:txBody>
                  <a:tcPr marL="4463" marR="4463" marT="4463" marB="0" anchor="b">
                    <a:solidFill>
                      <a:schemeClr val="tx1">
                        <a:lumMod val="10000"/>
                        <a:lumOff val="90000"/>
                      </a:schemeClr>
                    </a:solidFill>
                  </a:tcPr>
                </a:tc>
                <a:extLst>
                  <a:ext uri="{0D108BD9-81ED-4DB2-BD59-A6C34878D82A}">
                    <a16:rowId xmlns:a16="http://schemas.microsoft.com/office/drawing/2014/main" val="1864690327"/>
                  </a:ext>
                </a:extLst>
              </a:tr>
              <a:tr h="390037">
                <a:tc>
                  <a:txBody>
                    <a:bodyPr/>
                    <a:lstStyle/>
                    <a:p>
                      <a:pPr algn="l" fontAlgn="b"/>
                      <a:r>
                        <a:rPr lang="en-US" sz="2500" b="0" i="0" u="none" strike="noStrike">
                          <a:solidFill>
                            <a:srgbClr val="000000"/>
                          </a:solidFill>
                          <a:effectLst/>
                          <a:latin typeface="Calibri" panose="020F0502020204030204" pitchFamily="34" charset="0"/>
                        </a:rPr>
                        <a:t>Decrease in inventories</a:t>
                      </a:r>
                    </a:p>
                  </a:txBody>
                  <a:tcPr marL="4463" marR="4463" marT="4463" marB="0" anchor="b"/>
                </a:tc>
                <a:tc>
                  <a:txBody>
                    <a:bodyPr/>
                    <a:lstStyle/>
                    <a:p>
                      <a:pPr algn="r" fontAlgn="b"/>
                      <a:r>
                        <a:rPr lang="en-US" sz="2500" b="0" i="0" u="none" strike="noStrike">
                          <a:solidFill>
                            <a:srgbClr val="000000"/>
                          </a:solidFill>
                          <a:effectLst/>
                          <a:latin typeface="Calibri" panose="020F0502020204030204" pitchFamily="34" charset="0"/>
                        </a:rPr>
                        <a:t>30</a:t>
                      </a:r>
                    </a:p>
                  </a:txBody>
                  <a:tcPr marL="4463" marR="4463" marT="4463" marB="0" anchor="b"/>
                </a:tc>
                <a:extLst>
                  <a:ext uri="{0D108BD9-81ED-4DB2-BD59-A6C34878D82A}">
                    <a16:rowId xmlns:a16="http://schemas.microsoft.com/office/drawing/2014/main" val="1395014584"/>
                  </a:ext>
                </a:extLst>
              </a:tr>
              <a:tr h="390037">
                <a:tc>
                  <a:txBody>
                    <a:bodyPr/>
                    <a:lstStyle/>
                    <a:p>
                      <a:pPr algn="l" fontAlgn="b"/>
                      <a:r>
                        <a:rPr lang="en-US" sz="2500" b="0" i="0" u="none" strike="noStrike">
                          <a:solidFill>
                            <a:srgbClr val="000000"/>
                          </a:solidFill>
                          <a:effectLst/>
                          <a:latin typeface="Calibri" panose="020F0502020204030204" pitchFamily="34" charset="0"/>
                        </a:rPr>
                        <a:t>New debt</a:t>
                      </a:r>
                    </a:p>
                  </a:txBody>
                  <a:tcPr marL="4463" marR="4463" marT="4463" marB="0" anchor="b">
                    <a:solidFill>
                      <a:schemeClr val="tx1">
                        <a:lumMod val="10000"/>
                        <a:lumOff val="90000"/>
                      </a:schemeClr>
                    </a:solidFill>
                  </a:tcPr>
                </a:tc>
                <a:tc>
                  <a:txBody>
                    <a:bodyPr/>
                    <a:lstStyle/>
                    <a:p>
                      <a:pPr algn="r" fontAlgn="b"/>
                      <a:r>
                        <a:rPr lang="en-US" sz="2500" b="0" i="0" u="none" strike="noStrike">
                          <a:solidFill>
                            <a:srgbClr val="000000"/>
                          </a:solidFill>
                          <a:effectLst/>
                          <a:latin typeface="Calibri" panose="020F0502020204030204" pitchFamily="34" charset="0"/>
                        </a:rPr>
                        <a:t>60</a:t>
                      </a:r>
                    </a:p>
                  </a:txBody>
                  <a:tcPr marL="4463" marR="4463" marT="4463" marB="0" anchor="b">
                    <a:solidFill>
                      <a:schemeClr val="tx1">
                        <a:lumMod val="10000"/>
                        <a:lumOff val="90000"/>
                      </a:schemeClr>
                    </a:solidFill>
                  </a:tcPr>
                </a:tc>
                <a:extLst>
                  <a:ext uri="{0D108BD9-81ED-4DB2-BD59-A6C34878D82A}">
                    <a16:rowId xmlns:a16="http://schemas.microsoft.com/office/drawing/2014/main" val="3311995271"/>
                  </a:ext>
                </a:extLst>
              </a:tr>
              <a:tr h="390037">
                <a:tc>
                  <a:txBody>
                    <a:bodyPr/>
                    <a:lstStyle/>
                    <a:p>
                      <a:pPr algn="l" fontAlgn="b"/>
                      <a:r>
                        <a:rPr lang="en-US" sz="2500" b="0" i="0" u="none" strike="noStrike" dirty="0">
                          <a:solidFill>
                            <a:srgbClr val="000000"/>
                          </a:solidFill>
                          <a:effectLst/>
                          <a:latin typeface="Calibri" panose="020F0502020204030204" pitchFamily="34" charset="0"/>
                        </a:rPr>
                        <a:t>Increase in accrued expenses</a:t>
                      </a:r>
                    </a:p>
                  </a:txBody>
                  <a:tcPr marL="4463" marR="4463" marT="4463" marB="0" anchor="b"/>
                </a:tc>
                <a:tc>
                  <a:txBody>
                    <a:bodyPr/>
                    <a:lstStyle/>
                    <a:p>
                      <a:pPr algn="r" fontAlgn="b"/>
                      <a:r>
                        <a:rPr lang="en-US" sz="2500" b="0" i="0" u="none" strike="noStrike">
                          <a:solidFill>
                            <a:srgbClr val="000000"/>
                          </a:solidFill>
                          <a:effectLst/>
                          <a:latin typeface="Calibri" panose="020F0502020204030204" pitchFamily="34" charset="0"/>
                        </a:rPr>
                        <a:t>50</a:t>
                      </a:r>
                    </a:p>
                  </a:txBody>
                  <a:tcPr marL="4463" marR="4463" marT="4463" marB="0" anchor="b"/>
                </a:tc>
                <a:extLst>
                  <a:ext uri="{0D108BD9-81ED-4DB2-BD59-A6C34878D82A}">
                    <a16:rowId xmlns:a16="http://schemas.microsoft.com/office/drawing/2014/main" val="314942409"/>
                  </a:ext>
                </a:extLst>
              </a:tr>
              <a:tr h="390037">
                <a:tc>
                  <a:txBody>
                    <a:bodyPr/>
                    <a:lstStyle/>
                    <a:p>
                      <a:pPr algn="l" fontAlgn="b"/>
                      <a:r>
                        <a:rPr lang="en-US" sz="2500" b="0" i="0" u="none" strike="noStrike">
                          <a:solidFill>
                            <a:srgbClr val="000000"/>
                          </a:solidFill>
                          <a:effectLst/>
                          <a:latin typeface="Calibri" panose="020F0502020204030204" pitchFamily="34" charset="0"/>
                        </a:rPr>
                        <a:t>Increase in accounts payable</a:t>
                      </a:r>
                    </a:p>
                  </a:txBody>
                  <a:tcPr marL="4463" marR="4463" marT="4463" marB="0" anchor="b">
                    <a:solidFill>
                      <a:schemeClr val="accent1">
                        <a:lumMod val="10000"/>
                        <a:lumOff val="90000"/>
                      </a:schemeClr>
                    </a:solidFill>
                  </a:tcPr>
                </a:tc>
                <a:tc>
                  <a:txBody>
                    <a:bodyPr/>
                    <a:lstStyle/>
                    <a:p>
                      <a:pPr algn="r" fontAlgn="b"/>
                      <a:r>
                        <a:rPr lang="en-US" sz="2500" b="0" i="0" u="none" strike="noStrike" dirty="0">
                          <a:solidFill>
                            <a:srgbClr val="000000"/>
                          </a:solidFill>
                          <a:effectLst/>
                          <a:latin typeface="Calibri" panose="020F0502020204030204" pitchFamily="34" charset="0"/>
                        </a:rPr>
                        <a:t>45</a:t>
                      </a:r>
                    </a:p>
                  </a:txBody>
                  <a:tcPr marL="4463" marR="4463" marT="4463" marB="0" anchor="b">
                    <a:solidFill>
                      <a:schemeClr val="accent1">
                        <a:lumMod val="10000"/>
                        <a:lumOff val="90000"/>
                      </a:schemeClr>
                    </a:solidFill>
                  </a:tcPr>
                </a:tc>
                <a:extLst>
                  <a:ext uri="{0D108BD9-81ED-4DB2-BD59-A6C34878D82A}">
                    <a16:rowId xmlns:a16="http://schemas.microsoft.com/office/drawing/2014/main" val="2869372369"/>
                  </a:ext>
                </a:extLst>
              </a:tr>
            </a:tbl>
          </a:graphicData>
        </a:graphic>
      </p:graphicFrame>
    </p:spTree>
    <p:extLst>
      <p:ext uri="{BB962C8B-B14F-4D97-AF65-F5344CB8AC3E}">
        <p14:creationId xmlns:p14="http://schemas.microsoft.com/office/powerpoint/2010/main" val="39578044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50F0A-91BE-C956-19D5-D7B9B4938E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30332E-07CF-A111-DB6B-3F2F2CCAFBBC}"/>
              </a:ext>
            </a:extLst>
          </p:cNvPr>
          <p:cNvSpPr>
            <a:spLocks noGrp="1"/>
          </p:cNvSpPr>
          <p:nvPr>
            <p:ph type="title"/>
          </p:nvPr>
        </p:nvSpPr>
        <p:spPr/>
        <p:txBody>
          <a:bodyPr/>
          <a:lstStyle/>
          <a:p>
            <a:r>
              <a:rPr lang="en-US" dirty="0"/>
              <a:t>Exercise 2: answer</a:t>
            </a:r>
          </a:p>
        </p:txBody>
      </p:sp>
      <p:sp>
        <p:nvSpPr>
          <p:cNvPr id="3" name="Content Placeholder 2">
            <a:extLst>
              <a:ext uri="{FF2B5EF4-FFF2-40B4-BE49-F238E27FC236}">
                <a16:creationId xmlns:a16="http://schemas.microsoft.com/office/drawing/2014/main" id="{E278B9FD-00E9-E560-74F5-99E8A5BEE4F4}"/>
              </a:ext>
            </a:extLst>
          </p:cNvPr>
          <p:cNvSpPr>
            <a:spLocks noGrp="1"/>
          </p:cNvSpPr>
          <p:nvPr>
            <p:ph idx="1"/>
          </p:nvPr>
        </p:nvSpPr>
        <p:spPr>
          <a:xfrm>
            <a:off x="681228" y="1133166"/>
            <a:ext cx="10829544" cy="935330"/>
          </a:xfrm>
        </p:spPr>
        <p:txBody>
          <a:bodyPr/>
          <a:lstStyle/>
          <a:p>
            <a:pPr marL="0" indent="0">
              <a:buNone/>
            </a:pPr>
            <a:r>
              <a:rPr lang="fr-FR" sz="2800" dirty="0" err="1"/>
              <a:t>What</a:t>
            </a:r>
            <a:r>
              <a:rPr lang="fr-FR" sz="2800" dirty="0"/>
              <a:t> </a:t>
            </a:r>
            <a:r>
              <a:rPr lang="fr-FR" sz="2800" dirty="0" err="1"/>
              <a:t>is</a:t>
            </a:r>
            <a:r>
              <a:rPr lang="fr-FR" sz="2800" dirty="0"/>
              <a:t> the cash flow (</a:t>
            </a:r>
            <a:r>
              <a:rPr lang="fr-FR" sz="2800" dirty="0" err="1"/>
              <a:t>with</a:t>
            </a:r>
            <a:r>
              <a:rPr lang="fr-FR" sz="2800" dirty="0"/>
              <a:t> indirect </a:t>
            </a:r>
            <a:r>
              <a:rPr lang="fr-FR" sz="2800" dirty="0" err="1"/>
              <a:t>method</a:t>
            </a:r>
            <a:r>
              <a:rPr lang="fr-FR" sz="2800" dirty="0"/>
              <a:t>: change in balance </a:t>
            </a:r>
            <a:r>
              <a:rPr lang="fr-FR" sz="2800" dirty="0" err="1"/>
              <a:t>sheet</a:t>
            </a:r>
            <a:r>
              <a:rPr lang="fr-FR" sz="2800" dirty="0"/>
              <a:t>)?</a:t>
            </a:r>
            <a:endParaRPr lang="en-US" sz="2800" dirty="0"/>
          </a:p>
          <a:p>
            <a:endParaRPr lang="en-US" dirty="0"/>
          </a:p>
        </p:txBody>
      </p:sp>
      <p:sp>
        <p:nvSpPr>
          <p:cNvPr id="4" name="Slide Number Placeholder 3">
            <a:extLst>
              <a:ext uri="{FF2B5EF4-FFF2-40B4-BE49-F238E27FC236}">
                <a16:creationId xmlns:a16="http://schemas.microsoft.com/office/drawing/2014/main" id="{3739B8DA-7663-3EF0-F3EB-4350A907724F}"/>
              </a:ext>
            </a:extLst>
          </p:cNvPr>
          <p:cNvSpPr>
            <a:spLocks noGrp="1"/>
          </p:cNvSpPr>
          <p:nvPr>
            <p:ph type="sldNum" sz="quarter" idx="10"/>
          </p:nvPr>
        </p:nvSpPr>
        <p:spPr/>
        <p:txBody>
          <a:bodyPr/>
          <a:lstStyle/>
          <a:p>
            <a:fld id="{421B1A79-1F45-8F4F-AED5-0EE30DCF0380}" type="slidenum">
              <a:rPr lang="fr-FR" smtClean="0"/>
              <a:t>44</a:t>
            </a:fld>
            <a:endParaRPr lang="fr-FR"/>
          </a:p>
        </p:txBody>
      </p:sp>
      <p:graphicFrame>
        <p:nvGraphicFramePr>
          <p:cNvPr id="6" name="Content Placeholder 5">
            <a:extLst>
              <a:ext uri="{FF2B5EF4-FFF2-40B4-BE49-F238E27FC236}">
                <a16:creationId xmlns:a16="http://schemas.microsoft.com/office/drawing/2014/main" id="{4F377623-3FD7-E058-1092-7C133F4B2741}"/>
              </a:ext>
            </a:extLst>
          </p:cNvPr>
          <p:cNvGraphicFramePr>
            <a:graphicFrameLocks/>
          </p:cNvGraphicFramePr>
          <p:nvPr>
            <p:extLst>
              <p:ext uri="{D42A27DB-BD31-4B8C-83A1-F6EECF244321}">
                <p14:modId xmlns:p14="http://schemas.microsoft.com/office/powerpoint/2010/main" val="2328764269"/>
              </p:ext>
            </p:extLst>
          </p:nvPr>
        </p:nvGraphicFramePr>
        <p:xfrm>
          <a:off x="205283" y="2061282"/>
          <a:ext cx="11674330" cy="2730259"/>
        </p:xfrm>
        <a:graphic>
          <a:graphicData uri="http://schemas.openxmlformats.org/drawingml/2006/table">
            <a:tbl>
              <a:tblPr>
                <a:tableStyleId>{B301B821-A1FF-4177-AEE7-76D212191A09}</a:tableStyleId>
              </a:tblPr>
              <a:tblGrid>
                <a:gridCol w="5462302">
                  <a:extLst>
                    <a:ext uri="{9D8B030D-6E8A-4147-A177-3AD203B41FA5}">
                      <a16:colId xmlns:a16="http://schemas.microsoft.com/office/drawing/2014/main" val="1555731078"/>
                    </a:ext>
                  </a:extLst>
                </a:gridCol>
                <a:gridCol w="1178143">
                  <a:extLst>
                    <a:ext uri="{9D8B030D-6E8A-4147-A177-3AD203B41FA5}">
                      <a16:colId xmlns:a16="http://schemas.microsoft.com/office/drawing/2014/main" val="1682692781"/>
                    </a:ext>
                  </a:extLst>
                </a:gridCol>
                <a:gridCol w="5033885">
                  <a:extLst>
                    <a:ext uri="{9D8B030D-6E8A-4147-A177-3AD203B41FA5}">
                      <a16:colId xmlns:a16="http://schemas.microsoft.com/office/drawing/2014/main" val="335701415"/>
                    </a:ext>
                  </a:extLst>
                </a:gridCol>
              </a:tblGrid>
              <a:tr h="390037">
                <a:tc>
                  <a:txBody>
                    <a:bodyPr/>
                    <a:lstStyle/>
                    <a:p>
                      <a:pPr algn="l" fontAlgn="b"/>
                      <a:r>
                        <a:rPr lang="en-US" sz="2500" b="0" i="0" u="none" strike="noStrike">
                          <a:solidFill>
                            <a:srgbClr val="000000"/>
                          </a:solidFill>
                          <a:effectLst/>
                          <a:latin typeface="Calibri" panose="020F0502020204030204" pitchFamily="34" charset="0"/>
                        </a:rPr>
                        <a:t>Net loss</a:t>
                      </a:r>
                    </a:p>
                  </a:txBody>
                  <a:tcPr marL="4463" marR="4463" marT="4463" marB="0" anchor="b">
                    <a:solidFill>
                      <a:schemeClr val="tx1">
                        <a:lumMod val="10000"/>
                        <a:lumOff val="90000"/>
                      </a:schemeClr>
                    </a:solidFill>
                  </a:tcPr>
                </a:tc>
                <a:tc>
                  <a:txBody>
                    <a:bodyPr/>
                    <a:lstStyle/>
                    <a:p>
                      <a:pPr algn="r" fontAlgn="b"/>
                      <a:r>
                        <a:rPr lang="en-US" sz="2500" b="0" i="0" u="none" strike="noStrike" dirty="0">
                          <a:solidFill>
                            <a:srgbClr val="000000"/>
                          </a:solidFill>
                          <a:effectLst/>
                          <a:latin typeface="Calibri" panose="020F0502020204030204" pitchFamily="34" charset="0"/>
                        </a:rPr>
                        <a:t>120</a:t>
                      </a:r>
                    </a:p>
                  </a:txBody>
                  <a:tcPr marL="4463" marR="4463" marT="4463" marB="0" anchor="b">
                    <a:solidFill>
                      <a:schemeClr val="tx1">
                        <a:lumMod val="10000"/>
                        <a:lumOff val="90000"/>
                      </a:schemeClr>
                    </a:solidFill>
                  </a:tcPr>
                </a:tc>
                <a:tc>
                  <a:txBody>
                    <a:bodyPr/>
                    <a:lstStyle/>
                    <a:p>
                      <a:pPr algn="r" fontAlgn="b"/>
                      <a:endParaRPr lang="en-US" sz="2500" b="0" i="0" u="none" strike="noStrike" dirty="0">
                        <a:solidFill>
                          <a:srgbClr val="000000"/>
                        </a:solidFill>
                        <a:effectLst/>
                        <a:latin typeface="Calibri" panose="020F0502020204030204" pitchFamily="34" charset="0"/>
                      </a:endParaRPr>
                    </a:p>
                  </a:txBody>
                  <a:tcPr marL="4463" marR="4463" marT="4463" marB="0" anchor="b">
                    <a:solidFill>
                      <a:schemeClr val="tx1">
                        <a:lumMod val="10000"/>
                        <a:lumOff val="90000"/>
                      </a:schemeClr>
                    </a:solidFill>
                  </a:tcPr>
                </a:tc>
                <a:extLst>
                  <a:ext uri="{0D108BD9-81ED-4DB2-BD59-A6C34878D82A}">
                    <a16:rowId xmlns:a16="http://schemas.microsoft.com/office/drawing/2014/main" val="374100810"/>
                  </a:ext>
                </a:extLst>
              </a:tr>
              <a:tr h="390037">
                <a:tc>
                  <a:txBody>
                    <a:bodyPr/>
                    <a:lstStyle/>
                    <a:p>
                      <a:pPr algn="l" fontAlgn="b"/>
                      <a:r>
                        <a:rPr lang="en-US" sz="2500" b="0" i="0" u="none" strike="noStrike">
                          <a:solidFill>
                            <a:srgbClr val="000000"/>
                          </a:solidFill>
                          <a:effectLst/>
                          <a:latin typeface="Calibri" panose="020F0502020204030204" pitchFamily="34" charset="0"/>
                        </a:rPr>
                        <a:t>Depreciation and amortization expense</a:t>
                      </a:r>
                    </a:p>
                  </a:txBody>
                  <a:tcPr marL="4463" marR="4463" marT="4463" marB="0" anchor="b"/>
                </a:tc>
                <a:tc>
                  <a:txBody>
                    <a:bodyPr/>
                    <a:lstStyle/>
                    <a:p>
                      <a:pPr algn="r" fontAlgn="b"/>
                      <a:r>
                        <a:rPr lang="en-US" sz="2500" b="0" i="0" u="none" strike="noStrike">
                          <a:solidFill>
                            <a:srgbClr val="000000"/>
                          </a:solidFill>
                          <a:effectLst/>
                          <a:latin typeface="Calibri" panose="020F0502020204030204" pitchFamily="34" charset="0"/>
                        </a:rPr>
                        <a:t>25</a:t>
                      </a:r>
                    </a:p>
                  </a:txBody>
                  <a:tcPr marL="4463" marR="4463" marT="4463" marB="0" anchor="b"/>
                </a:tc>
                <a:tc>
                  <a:txBody>
                    <a:bodyPr/>
                    <a:lstStyle/>
                    <a:p>
                      <a:pPr algn="r" fontAlgn="b"/>
                      <a:r>
                        <a:rPr lang="fr-FR" sz="2500" b="0" i="0" u="none" strike="noStrike" dirty="0" err="1">
                          <a:solidFill>
                            <a:srgbClr val="000000"/>
                          </a:solidFill>
                          <a:effectLst/>
                          <a:latin typeface="Calibri" panose="020F0502020204030204" pitchFamily="34" charset="0"/>
                        </a:rPr>
                        <a:t>Decrease</a:t>
                      </a:r>
                      <a:r>
                        <a:rPr lang="fr-FR" sz="2500" b="0" i="0" u="none" strike="noStrike" dirty="0">
                          <a:solidFill>
                            <a:srgbClr val="000000"/>
                          </a:solidFill>
                          <a:effectLst/>
                          <a:latin typeface="Calibri" panose="020F0502020204030204" pitchFamily="34" charset="0"/>
                        </a:rPr>
                        <a:t> in </a:t>
                      </a:r>
                      <a:r>
                        <a:rPr lang="fr-FR" sz="2500" b="0" i="0" u="none" strike="noStrike" dirty="0" err="1">
                          <a:solidFill>
                            <a:srgbClr val="000000"/>
                          </a:solidFill>
                          <a:effectLst/>
                          <a:latin typeface="Calibri" panose="020F0502020204030204" pitchFamily="34" charset="0"/>
                        </a:rPr>
                        <a:t>noncash</a:t>
                      </a:r>
                      <a:r>
                        <a:rPr lang="fr-FR" sz="2500" b="0" i="0" u="none" strike="noStrike" dirty="0">
                          <a:solidFill>
                            <a:srgbClr val="000000"/>
                          </a:solidFill>
                          <a:effectLst/>
                          <a:latin typeface="Calibri" panose="020F0502020204030204" pitchFamily="34" charset="0"/>
                        </a:rPr>
                        <a:t> assets</a:t>
                      </a:r>
                      <a:endParaRPr lang="en-US" sz="2500" b="0" i="0" u="none" strike="noStrike" dirty="0">
                        <a:solidFill>
                          <a:srgbClr val="000000"/>
                        </a:solidFill>
                        <a:effectLst/>
                        <a:latin typeface="Calibri" panose="020F0502020204030204" pitchFamily="34" charset="0"/>
                      </a:endParaRPr>
                    </a:p>
                  </a:txBody>
                  <a:tcPr marL="4463" marR="4463" marT="4463" marB="0" anchor="b"/>
                </a:tc>
                <a:extLst>
                  <a:ext uri="{0D108BD9-81ED-4DB2-BD59-A6C34878D82A}">
                    <a16:rowId xmlns:a16="http://schemas.microsoft.com/office/drawing/2014/main" val="2877163862"/>
                  </a:ext>
                </a:extLst>
              </a:tr>
              <a:tr h="390037">
                <a:tc>
                  <a:txBody>
                    <a:bodyPr/>
                    <a:lstStyle/>
                    <a:p>
                      <a:pPr algn="l" fontAlgn="b"/>
                      <a:r>
                        <a:rPr lang="en-US" sz="2500" b="0" i="0" u="none" strike="noStrike" dirty="0">
                          <a:solidFill>
                            <a:srgbClr val="000000"/>
                          </a:solidFill>
                          <a:effectLst/>
                          <a:latin typeface="Calibri" panose="020F0502020204030204" pitchFamily="34" charset="0"/>
                        </a:rPr>
                        <a:t>Investment in intangible assets</a:t>
                      </a:r>
                    </a:p>
                  </a:txBody>
                  <a:tcPr marL="4463" marR="4463" marT="4463" marB="0" anchor="b">
                    <a:solidFill>
                      <a:schemeClr val="tx1">
                        <a:lumMod val="10000"/>
                        <a:lumOff val="90000"/>
                      </a:schemeClr>
                    </a:solidFill>
                  </a:tcPr>
                </a:tc>
                <a:tc>
                  <a:txBody>
                    <a:bodyPr/>
                    <a:lstStyle/>
                    <a:p>
                      <a:pPr algn="r" fontAlgn="b"/>
                      <a:r>
                        <a:rPr lang="en-US" sz="2500" b="0" i="0" u="none" strike="noStrike" dirty="0">
                          <a:solidFill>
                            <a:srgbClr val="000000"/>
                          </a:solidFill>
                          <a:effectLst/>
                          <a:latin typeface="Calibri" panose="020F0502020204030204" pitchFamily="34" charset="0"/>
                        </a:rPr>
                        <a:t>60</a:t>
                      </a:r>
                    </a:p>
                  </a:txBody>
                  <a:tcPr marL="4463" marR="4463" marT="4463" marB="0" anchor="b">
                    <a:solidFill>
                      <a:schemeClr val="tx1">
                        <a:lumMod val="10000"/>
                        <a:lumOff val="90000"/>
                      </a:schemeClr>
                    </a:solidFill>
                  </a:tcPr>
                </a:tc>
                <a:tc>
                  <a:txBody>
                    <a:bodyPr/>
                    <a:lstStyle/>
                    <a:p>
                      <a:pPr algn="r" fontAlgn="b"/>
                      <a:r>
                        <a:rPr lang="fr-FR" sz="2500" b="0" i="0" u="none" strike="noStrike" dirty="0" err="1">
                          <a:solidFill>
                            <a:srgbClr val="000000"/>
                          </a:solidFill>
                          <a:effectLst/>
                          <a:latin typeface="Calibri" panose="020F0502020204030204" pitchFamily="34" charset="0"/>
                        </a:rPr>
                        <a:t>Increase</a:t>
                      </a:r>
                      <a:r>
                        <a:rPr lang="fr-FR" sz="2500" b="0" i="0" u="none" strike="noStrike" dirty="0">
                          <a:solidFill>
                            <a:srgbClr val="000000"/>
                          </a:solidFill>
                          <a:effectLst/>
                          <a:latin typeface="Calibri" panose="020F0502020204030204" pitchFamily="34" charset="0"/>
                        </a:rPr>
                        <a:t> in </a:t>
                      </a:r>
                      <a:r>
                        <a:rPr lang="fr-FR" sz="2500" b="0" i="0" u="none" strike="noStrike" dirty="0" err="1">
                          <a:solidFill>
                            <a:srgbClr val="000000"/>
                          </a:solidFill>
                          <a:effectLst/>
                          <a:latin typeface="Calibri" panose="020F0502020204030204" pitchFamily="34" charset="0"/>
                        </a:rPr>
                        <a:t>noncash</a:t>
                      </a:r>
                      <a:r>
                        <a:rPr lang="fr-FR" sz="2500" b="0" i="0" u="none" strike="noStrike" dirty="0">
                          <a:solidFill>
                            <a:srgbClr val="000000"/>
                          </a:solidFill>
                          <a:effectLst/>
                          <a:latin typeface="Calibri" panose="020F0502020204030204" pitchFamily="34" charset="0"/>
                        </a:rPr>
                        <a:t> assets</a:t>
                      </a:r>
                      <a:endParaRPr lang="en-US" sz="2500" b="0" i="0" u="none" strike="noStrike" dirty="0">
                        <a:solidFill>
                          <a:srgbClr val="000000"/>
                        </a:solidFill>
                        <a:effectLst/>
                        <a:latin typeface="Calibri" panose="020F0502020204030204" pitchFamily="34" charset="0"/>
                      </a:endParaRPr>
                    </a:p>
                  </a:txBody>
                  <a:tcPr marL="4463" marR="4463" marT="4463" marB="0" anchor="b">
                    <a:solidFill>
                      <a:schemeClr val="tx1">
                        <a:lumMod val="10000"/>
                        <a:lumOff val="90000"/>
                      </a:schemeClr>
                    </a:solidFill>
                  </a:tcPr>
                </a:tc>
                <a:extLst>
                  <a:ext uri="{0D108BD9-81ED-4DB2-BD59-A6C34878D82A}">
                    <a16:rowId xmlns:a16="http://schemas.microsoft.com/office/drawing/2014/main" val="1864690327"/>
                  </a:ext>
                </a:extLst>
              </a:tr>
              <a:tr h="390037">
                <a:tc>
                  <a:txBody>
                    <a:bodyPr/>
                    <a:lstStyle/>
                    <a:p>
                      <a:pPr algn="l" fontAlgn="b"/>
                      <a:r>
                        <a:rPr lang="en-US" sz="2500" b="0" i="0" u="none" strike="noStrike">
                          <a:solidFill>
                            <a:srgbClr val="000000"/>
                          </a:solidFill>
                          <a:effectLst/>
                          <a:latin typeface="Calibri" panose="020F0502020204030204" pitchFamily="34" charset="0"/>
                        </a:rPr>
                        <a:t>Decrease in inventories</a:t>
                      </a:r>
                    </a:p>
                  </a:txBody>
                  <a:tcPr marL="4463" marR="4463" marT="4463" marB="0" anchor="b"/>
                </a:tc>
                <a:tc>
                  <a:txBody>
                    <a:bodyPr/>
                    <a:lstStyle/>
                    <a:p>
                      <a:pPr algn="r" fontAlgn="b"/>
                      <a:r>
                        <a:rPr lang="en-US" sz="2500" b="0" i="0" u="none" strike="noStrike" dirty="0">
                          <a:solidFill>
                            <a:srgbClr val="000000"/>
                          </a:solidFill>
                          <a:effectLst/>
                          <a:latin typeface="Calibri" panose="020F0502020204030204" pitchFamily="34" charset="0"/>
                        </a:rPr>
                        <a:t>30</a:t>
                      </a:r>
                    </a:p>
                  </a:txBody>
                  <a:tcPr marL="4463" marR="4463" marT="4463" marB="0" anchor="b"/>
                </a:tc>
                <a:tc>
                  <a:txBody>
                    <a:bodyPr/>
                    <a:lstStyle/>
                    <a:p>
                      <a:pPr algn="r" fontAlgn="b"/>
                      <a:r>
                        <a:rPr lang="fr-FR" sz="2500" b="0" i="0" u="none" strike="noStrike" dirty="0" err="1">
                          <a:solidFill>
                            <a:srgbClr val="000000"/>
                          </a:solidFill>
                          <a:effectLst/>
                          <a:latin typeface="Calibri" panose="020F0502020204030204" pitchFamily="34" charset="0"/>
                        </a:rPr>
                        <a:t>Decrease</a:t>
                      </a:r>
                      <a:r>
                        <a:rPr lang="fr-FR" sz="2500" b="0" i="0" u="none" strike="noStrike" dirty="0">
                          <a:solidFill>
                            <a:srgbClr val="000000"/>
                          </a:solidFill>
                          <a:effectLst/>
                          <a:latin typeface="Calibri" panose="020F0502020204030204" pitchFamily="34" charset="0"/>
                        </a:rPr>
                        <a:t> in </a:t>
                      </a:r>
                      <a:r>
                        <a:rPr lang="fr-FR" sz="2500" b="0" i="0" u="none" strike="noStrike" dirty="0" err="1">
                          <a:solidFill>
                            <a:srgbClr val="000000"/>
                          </a:solidFill>
                          <a:effectLst/>
                          <a:latin typeface="Calibri" panose="020F0502020204030204" pitchFamily="34" charset="0"/>
                        </a:rPr>
                        <a:t>noncash</a:t>
                      </a:r>
                      <a:r>
                        <a:rPr lang="fr-FR" sz="2500" b="0" i="0" u="none" strike="noStrike" dirty="0">
                          <a:solidFill>
                            <a:srgbClr val="000000"/>
                          </a:solidFill>
                          <a:effectLst/>
                          <a:latin typeface="Calibri" panose="020F0502020204030204" pitchFamily="34" charset="0"/>
                        </a:rPr>
                        <a:t> assets</a:t>
                      </a:r>
                      <a:endParaRPr lang="en-US" sz="2500" b="0" i="0" u="none" strike="noStrike" dirty="0">
                        <a:solidFill>
                          <a:srgbClr val="000000"/>
                        </a:solidFill>
                        <a:effectLst/>
                        <a:latin typeface="Calibri" panose="020F0502020204030204" pitchFamily="34" charset="0"/>
                      </a:endParaRPr>
                    </a:p>
                  </a:txBody>
                  <a:tcPr marL="4463" marR="4463" marT="4463" marB="0" anchor="b"/>
                </a:tc>
                <a:extLst>
                  <a:ext uri="{0D108BD9-81ED-4DB2-BD59-A6C34878D82A}">
                    <a16:rowId xmlns:a16="http://schemas.microsoft.com/office/drawing/2014/main" val="1395014584"/>
                  </a:ext>
                </a:extLst>
              </a:tr>
              <a:tr h="390037">
                <a:tc>
                  <a:txBody>
                    <a:bodyPr/>
                    <a:lstStyle/>
                    <a:p>
                      <a:pPr algn="l" fontAlgn="b"/>
                      <a:r>
                        <a:rPr lang="en-US" sz="2500" b="0" i="0" u="none" strike="noStrike">
                          <a:solidFill>
                            <a:srgbClr val="000000"/>
                          </a:solidFill>
                          <a:effectLst/>
                          <a:latin typeface="Calibri" panose="020F0502020204030204" pitchFamily="34" charset="0"/>
                        </a:rPr>
                        <a:t>New debt</a:t>
                      </a:r>
                    </a:p>
                  </a:txBody>
                  <a:tcPr marL="4463" marR="4463" marT="4463" marB="0" anchor="b">
                    <a:solidFill>
                      <a:schemeClr val="tx1">
                        <a:lumMod val="10000"/>
                        <a:lumOff val="90000"/>
                      </a:schemeClr>
                    </a:solidFill>
                  </a:tcPr>
                </a:tc>
                <a:tc>
                  <a:txBody>
                    <a:bodyPr/>
                    <a:lstStyle/>
                    <a:p>
                      <a:pPr algn="r" fontAlgn="b"/>
                      <a:r>
                        <a:rPr lang="en-US" sz="2500" b="0" i="0" u="none" strike="noStrike" dirty="0">
                          <a:solidFill>
                            <a:srgbClr val="000000"/>
                          </a:solidFill>
                          <a:effectLst/>
                          <a:latin typeface="Calibri" panose="020F0502020204030204" pitchFamily="34" charset="0"/>
                        </a:rPr>
                        <a:t>60</a:t>
                      </a:r>
                    </a:p>
                  </a:txBody>
                  <a:tcPr marL="4463" marR="4463" marT="4463" marB="0" anchor="b">
                    <a:solidFill>
                      <a:schemeClr val="tx1">
                        <a:lumMod val="10000"/>
                        <a:lumOff val="90000"/>
                      </a:schemeClr>
                    </a:solidFill>
                  </a:tcPr>
                </a:tc>
                <a:tc>
                  <a:txBody>
                    <a:bodyPr/>
                    <a:lstStyle/>
                    <a:p>
                      <a:pPr algn="r" fontAlgn="b"/>
                      <a:r>
                        <a:rPr lang="fr-FR" sz="2500" b="0" i="0" u="none" strike="noStrike" dirty="0" err="1">
                          <a:solidFill>
                            <a:srgbClr val="000000"/>
                          </a:solidFill>
                          <a:effectLst/>
                          <a:latin typeface="Calibri" panose="020F0502020204030204" pitchFamily="34" charset="0"/>
                        </a:rPr>
                        <a:t>Increase</a:t>
                      </a:r>
                      <a:r>
                        <a:rPr lang="fr-FR" sz="2500" b="0" i="0" u="none" strike="noStrike" dirty="0">
                          <a:solidFill>
                            <a:srgbClr val="000000"/>
                          </a:solidFill>
                          <a:effectLst/>
                          <a:latin typeface="Calibri" panose="020F0502020204030204" pitchFamily="34" charset="0"/>
                        </a:rPr>
                        <a:t> in </a:t>
                      </a:r>
                      <a:r>
                        <a:rPr lang="fr-FR" sz="2500" b="0" i="0" u="none" strike="noStrike" dirty="0" err="1">
                          <a:solidFill>
                            <a:srgbClr val="000000"/>
                          </a:solidFill>
                          <a:effectLst/>
                          <a:latin typeface="Calibri" panose="020F0502020204030204" pitchFamily="34" charset="0"/>
                        </a:rPr>
                        <a:t>debt</a:t>
                      </a:r>
                      <a:endParaRPr lang="en-US" sz="2500" b="0" i="0" u="none" strike="noStrike" dirty="0">
                        <a:solidFill>
                          <a:srgbClr val="000000"/>
                        </a:solidFill>
                        <a:effectLst/>
                        <a:latin typeface="Calibri" panose="020F0502020204030204" pitchFamily="34" charset="0"/>
                      </a:endParaRPr>
                    </a:p>
                  </a:txBody>
                  <a:tcPr marL="4463" marR="4463" marT="4463" marB="0" anchor="b">
                    <a:solidFill>
                      <a:schemeClr val="tx1">
                        <a:lumMod val="10000"/>
                        <a:lumOff val="90000"/>
                      </a:schemeClr>
                    </a:solidFill>
                  </a:tcPr>
                </a:tc>
                <a:extLst>
                  <a:ext uri="{0D108BD9-81ED-4DB2-BD59-A6C34878D82A}">
                    <a16:rowId xmlns:a16="http://schemas.microsoft.com/office/drawing/2014/main" val="3311995271"/>
                  </a:ext>
                </a:extLst>
              </a:tr>
              <a:tr h="390037">
                <a:tc>
                  <a:txBody>
                    <a:bodyPr/>
                    <a:lstStyle/>
                    <a:p>
                      <a:pPr algn="l" fontAlgn="b"/>
                      <a:r>
                        <a:rPr lang="en-US" sz="2500" b="0" i="0" u="none" strike="noStrike">
                          <a:solidFill>
                            <a:srgbClr val="000000"/>
                          </a:solidFill>
                          <a:effectLst/>
                          <a:latin typeface="Calibri" panose="020F0502020204030204" pitchFamily="34" charset="0"/>
                        </a:rPr>
                        <a:t>Increase in accrued expenses</a:t>
                      </a:r>
                    </a:p>
                  </a:txBody>
                  <a:tcPr marL="4463" marR="4463" marT="4463" marB="0" anchor="b"/>
                </a:tc>
                <a:tc>
                  <a:txBody>
                    <a:bodyPr/>
                    <a:lstStyle/>
                    <a:p>
                      <a:pPr algn="r" fontAlgn="b"/>
                      <a:r>
                        <a:rPr lang="en-US" sz="2500" b="0" i="0" u="none" strike="noStrike" dirty="0">
                          <a:solidFill>
                            <a:srgbClr val="000000"/>
                          </a:solidFill>
                          <a:effectLst/>
                          <a:latin typeface="Calibri" panose="020F0502020204030204" pitchFamily="34" charset="0"/>
                        </a:rPr>
                        <a:t>50</a:t>
                      </a:r>
                    </a:p>
                  </a:txBody>
                  <a:tcPr marL="4463" marR="4463" marT="4463" marB="0" anchor="b"/>
                </a:tc>
                <a:tc>
                  <a:txBody>
                    <a:bodyPr/>
                    <a:lstStyle/>
                    <a:p>
                      <a:pPr algn="r" fontAlgn="b"/>
                      <a:r>
                        <a:rPr lang="fr-FR" sz="2500" b="0" i="0" u="none" strike="noStrike" dirty="0" err="1">
                          <a:solidFill>
                            <a:srgbClr val="000000"/>
                          </a:solidFill>
                          <a:effectLst/>
                          <a:latin typeface="Calibri" panose="020F0502020204030204" pitchFamily="34" charset="0"/>
                        </a:rPr>
                        <a:t>Increase</a:t>
                      </a:r>
                      <a:r>
                        <a:rPr lang="fr-FR" sz="2500" b="0" i="0" u="none" strike="noStrike" dirty="0">
                          <a:solidFill>
                            <a:srgbClr val="000000"/>
                          </a:solidFill>
                          <a:effectLst/>
                          <a:latin typeface="Calibri" panose="020F0502020204030204" pitchFamily="34" charset="0"/>
                        </a:rPr>
                        <a:t> in operating </a:t>
                      </a:r>
                      <a:r>
                        <a:rPr lang="fr-FR" sz="2500" b="0" i="0" u="none" strike="noStrike" dirty="0" err="1">
                          <a:solidFill>
                            <a:srgbClr val="000000"/>
                          </a:solidFill>
                          <a:effectLst/>
                          <a:latin typeface="Calibri" panose="020F0502020204030204" pitchFamily="34" charset="0"/>
                        </a:rPr>
                        <a:t>liabilities</a:t>
                      </a:r>
                      <a:endParaRPr lang="en-US" sz="2500" b="0" i="0" u="none" strike="noStrike" dirty="0">
                        <a:solidFill>
                          <a:srgbClr val="000000"/>
                        </a:solidFill>
                        <a:effectLst/>
                        <a:latin typeface="Calibri" panose="020F0502020204030204" pitchFamily="34" charset="0"/>
                      </a:endParaRPr>
                    </a:p>
                  </a:txBody>
                  <a:tcPr marL="4463" marR="4463" marT="4463" marB="0" anchor="b"/>
                </a:tc>
                <a:extLst>
                  <a:ext uri="{0D108BD9-81ED-4DB2-BD59-A6C34878D82A}">
                    <a16:rowId xmlns:a16="http://schemas.microsoft.com/office/drawing/2014/main" val="314942409"/>
                  </a:ext>
                </a:extLst>
              </a:tr>
              <a:tr h="390037">
                <a:tc>
                  <a:txBody>
                    <a:bodyPr/>
                    <a:lstStyle/>
                    <a:p>
                      <a:pPr algn="l" fontAlgn="b"/>
                      <a:r>
                        <a:rPr lang="en-US" sz="2500" b="0" i="0" u="none" strike="noStrike">
                          <a:solidFill>
                            <a:srgbClr val="000000"/>
                          </a:solidFill>
                          <a:effectLst/>
                          <a:latin typeface="Calibri" panose="020F0502020204030204" pitchFamily="34" charset="0"/>
                        </a:rPr>
                        <a:t>Increase in accounts payable</a:t>
                      </a:r>
                    </a:p>
                  </a:txBody>
                  <a:tcPr marL="4463" marR="4463" marT="4463" marB="0" anchor="b">
                    <a:solidFill>
                      <a:schemeClr val="accent1">
                        <a:lumMod val="10000"/>
                        <a:lumOff val="90000"/>
                      </a:schemeClr>
                    </a:solidFill>
                  </a:tcPr>
                </a:tc>
                <a:tc>
                  <a:txBody>
                    <a:bodyPr/>
                    <a:lstStyle/>
                    <a:p>
                      <a:pPr algn="r" fontAlgn="b"/>
                      <a:r>
                        <a:rPr lang="en-US" sz="2500" b="0" i="0" u="none" strike="noStrike" dirty="0">
                          <a:solidFill>
                            <a:srgbClr val="000000"/>
                          </a:solidFill>
                          <a:effectLst/>
                          <a:latin typeface="Calibri" panose="020F0502020204030204" pitchFamily="34" charset="0"/>
                        </a:rPr>
                        <a:t>45</a:t>
                      </a:r>
                    </a:p>
                  </a:txBody>
                  <a:tcPr marL="4463" marR="4463" marT="4463" marB="0" anchor="b">
                    <a:solidFill>
                      <a:schemeClr val="accent1">
                        <a:lumMod val="10000"/>
                        <a:lumOff val="90000"/>
                      </a:schemeClr>
                    </a:solidFill>
                  </a:tcPr>
                </a:tc>
                <a:tc>
                  <a:txBody>
                    <a:bodyPr/>
                    <a:lstStyle/>
                    <a:p>
                      <a:pPr algn="r" fontAlgn="b"/>
                      <a:r>
                        <a:rPr lang="fr-FR" sz="2500" b="0" i="0" u="none" strike="noStrike" dirty="0" err="1">
                          <a:solidFill>
                            <a:srgbClr val="000000"/>
                          </a:solidFill>
                          <a:effectLst/>
                          <a:latin typeface="Calibri" panose="020F0502020204030204" pitchFamily="34" charset="0"/>
                        </a:rPr>
                        <a:t>Increase</a:t>
                      </a:r>
                      <a:r>
                        <a:rPr lang="fr-FR" sz="2500" b="0" i="0" u="none" strike="noStrike" dirty="0">
                          <a:solidFill>
                            <a:srgbClr val="000000"/>
                          </a:solidFill>
                          <a:effectLst/>
                          <a:latin typeface="Calibri" panose="020F0502020204030204" pitchFamily="34" charset="0"/>
                        </a:rPr>
                        <a:t> in operating </a:t>
                      </a:r>
                      <a:r>
                        <a:rPr lang="fr-FR" sz="2500" b="0" i="0" u="none" strike="noStrike" dirty="0" err="1">
                          <a:solidFill>
                            <a:srgbClr val="000000"/>
                          </a:solidFill>
                          <a:effectLst/>
                          <a:latin typeface="Calibri" panose="020F0502020204030204" pitchFamily="34" charset="0"/>
                        </a:rPr>
                        <a:t>liabilities</a:t>
                      </a:r>
                      <a:endParaRPr lang="en-US" sz="2500" b="0" i="0" u="none" strike="noStrike" dirty="0">
                        <a:solidFill>
                          <a:srgbClr val="000000"/>
                        </a:solidFill>
                        <a:effectLst/>
                        <a:latin typeface="Calibri" panose="020F0502020204030204" pitchFamily="34" charset="0"/>
                      </a:endParaRPr>
                    </a:p>
                  </a:txBody>
                  <a:tcPr marL="4463" marR="4463" marT="4463" marB="0" anchor="b">
                    <a:solidFill>
                      <a:schemeClr val="accent1">
                        <a:lumMod val="10000"/>
                        <a:lumOff val="90000"/>
                      </a:schemeClr>
                    </a:solidFill>
                  </a:tcPr>
                </a:tc>
                <a:extLst>
                  <a:ext uri="{0D108BD9-81ED-4DB2-BD59-A6C34878D82A}">
                    <a16:rowId xmlns:a16="http://schemas.microsoft.com/office/drawing/2014/main" val="2869372369"/>
                  </a:ext>
                </a:extLst>
              </a:tr>
            </a:tbl>
          </a:graphicData>
        </a:graphic>
      </p:graphicFrame>
      <p:sp>
        <p:nvSpPr>
          <p:cNvPr id="7" name="TextBox 6">
            <a:extLst>
              <a:ext uri="{FF2B5EF4-FFF2-40B4-BE49-F238E27FC236}">
                <a16:creationId xmlns:a16="http://schemas.microsoft.com/office/drawing/2014/main" id="{FACB9E58-6C6C-1934-4EE2-E30CDDBCF8D3}"/>
              </a:ext>
            </a:extLst>
          </p:cNvPr>
          <p:cNvSpPr txBox="1"/>
          <p:nvPr/>
        </p:nvSpPr>
        <p:spPr>
          <a:xfrm>
            <a:off x="79899" y="4974686"/>
            <a:ext cx="11848417" cy="738664"/>
          </a:xfrm>
          <a:prstGeom prst="rect">
            <a:avLst/>
          </a:prstGeom>
          <a:solidFill>
            <a:schemeClr val="accent4">
              <a:lumMod val="40000"/>
              <a:lumOff val="60000"/>
            </a:schemeClr>
          </a:solidFill>
        </p:spPr>
        <p:txBody>
          <a:bodyPr wrap="square" rtlCol="0">
            <a:spAutoFit/>
          </a:bodyPr>
          <a:lstStyle/>
          <a:p>
            <a:r>
              <a:rPr lang="fr-FR" sz="2100" b="1" dirty="0"/>
              <a:t>Cash flow</a:t>
            </a:r>
            <a:r>
              <a:rPr lang="fr-FR" sz="2100" dirty="0"/>
              <a:t> – D&amp;A </a:t>
            </a:r>
            <a:r>
              <a:rPr lang="fr-FR" sz="2100" dirty="0" err="1"/>
              <a:t>expense</a:t>
            </a:r>
            <a:r>
              <a:rPr lang="fr-FR" sz="2100" dirty="0"/>
              <a:t> + Investment in intangible assets – </a:t>
            </a:r>
            <a:r>
              <a:rPr lang="fr-FR" sz="2100" dirty="0" err="1"/>
              <a:t>Decrease</a:t>
            </a:r>
            <a:r>
              <a:rPr lang="fr-FR" sz="2100" dirty="0"/>
              <a:t> in inventories </a:t>
            </a:r>
          </a:p>
          <a:p>
            <a:r>
              <a:rPr lang="fr-FR" sz="2100" b="1" dirty="0"/>
              <a:t>=</a:t>
            </a:r>
            <a:r>
              <a:rPr lang="fr-FR" sz="2100" dirty="0"/>
              <a:t> </a:t>
            </a:r>
            <a:r>
              <a:rPr lang="fr-FR" sz="2100" dirty="0" err="1"/>
              <a:t>Increase</a:t>
            </a:r>
            <a:r>
              <a:rPr lang="fr-FR" sz="2100" dirty="0"/>
              <a:t> in </a:t>
            </a:r>
            <a:r>
              <a:rPr lang="fr-FR" sz="2100" dirty="0" err="1"/>
              <a:t>accounts</a:t>
            </a:r>
            <a:r>
              <a:rPr lang="fr-FR" sz="2100" dirty="0"/>
              <a:t> payable + </a:t>
            </a:r>
            <a:r>
              <a:rPr lang="fr-FR" sz="2100" dirty="0" err="1"/>
              <a:t>Increase</a:t>
            </a:r>
            <a:r>
              <a:rPr lang="fr-FR" sz="2100" dirty="0"/>
              <a:t> in </a:t>
            </a:r>
            <a:r>
              <a:rPr lang="fr-FR" sz="2100" dirty="0" err="1"/>
              <a:t>accrued</a:t>
            </a:r>
            <a:r>
              <a:rPr lang="fr-FR" sz="2100" dirty="0"/>
              <a:t> </a:t>
            </a:r>
            <a:r>
              <a:rPr lang="fr-FR" sz="2100" dirty="0" err="1"/>
              <a:t>expenses</a:t>
            </a:r>
            <a:r>
              <a:rPr lang="fr-FR" sz="2100" dirty="0"/>
              <a:t> + New </a:t>
            </a:r>
            <a:r>
              <a:rPr lang="fr-FR" sz="2100" dirty="0" err="1"/>
              <a:t>debt</a:t>
            </a:r>
            <a:r>
              <a:rPr lang="fr-FR" sz="2100" dirty="0"/>
              <a:t> + </a:t>
            </a:r>
            <a:r>
              <a:rPr lang="fr-FR" sz="2100" b="1" dirty="0"/>
              <a:t>Net profit/(</a:t>
            </a:r>
            <a:r>
              <a:rPr lang="fr-FR" sz="2100" b="1" dirty="0" err="1"/>
              <a:t>loss</a:t>
            </a:r>
            <a:r>
              <a:rPr lang="fr-FR" sz="2100" b="1" dirty="0"/>
              <a:t>)</a:t>
            </a:r>
            <a:endParaRPr lang="en-US" sz="2100" dirty="0"/>
          </a:p>
        </p:txBody>
      </p:sp>
    </p:spTree>
    <p:extLst>
      <p:ext uri="{BB962C8B-B14F-4D97-AF65-F5344CB8AC3E}">
        <p14:creationId xmlns:p14="http://schemas.microsoft.com/office/powerpoint/2010/main" val="1581301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4D235-A5E0-5262-B2F9-48E2573C47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B7992F-05B7-1280-4455-092722B94659}"/>
              </a:ext>
            </a:extLst>
          </p:cNvPr>
          <p:cNvSpPr>
            <a:spLocks noGrp="1"/>
          </p:cNvSpPr>
          <p:nvPr>
            <p:ph type="title"/>
          </p:nvPr>
        </p:nvSpPr>
        <p:spPr/>
        <p:txBody>
          <a:bodyPr/>
          <a:lstStyle/>
          <a:p>
            <a:r>
              <a:rPr lang="en-US" dirty="0"/>
              <a:t>Exercise 2: answer</a:t>
            </a:r>
          </a:p>
        </p:txBody>
      </p:sp>
      <p:sp>
        <p:nvSpPr>
          <p:cNvPr id="3" name="Content Placeholder 2">
            <a:extLst>
              <a:ext uri="{FF2B5EF4-FFF2-40B4-BE49-F238E27FC236}">
                <a16:creationId xmlns:a16="http://schemas.microsoft.com/office/drawing/2014/main" id="{37CE9469-093C-CAC6-8360-70BB07E367EF}"/>
              </a:ext>
            </a:extLst>
          </p:cNvPr>
          <p:cNvSpPr>
            <a:spLocks noGrp="1"/>
          </p:cNvSpPr>
          <p:nvPr>
            <p:ph idx="1"/>
          </p:nvPr>
        </p:nvSpPr>
        <p:spPr>
          <a:xfrm>
            <a:off x="681228" y="1133166"/>
            <a:ext cx="10829544" cy="935330"/>
          </a:xfrm>
        </p:spPr>
        <p:txBody>
          <a:bodyPr/>
          <a:lstStyle/>
          <a:p>
            <a:pPr marL="0" indent="0">
              <a:buNone/>
            </a:pPr>
            <a:r>
              <a:rPr lang="fr-FR" sz="2800" dirty="0" err="1"/>
              <a:t>What</a:t>
            </a:r>
            <a:r>
              <a:rPr lang="fr-FR" sz="2800" dirty="0"/>
              <a:t> </a:t>
            </a:r>
            <a:r>
              <a:rPr lang="fr-FR" sz="2800" dirty="0" err="1"/>
              <a:t>is</a:t>
            </a:r>
            <a:r>
              <a:rPr lang="fr-FR" sz="2800" dirty="0"/>
              <a:t> the cash flow (</a:t>
            </a:r>
            <a:r>
              <a:rPr lang="fr-FR" sz="2800" dirty="0" err="1"/>
              <a:t>with</a:t>
            </a:r>
            <a:r>
              <a:rPr lang="fr-FR" sz="2800" dirty="0"/>
              <a:t> indirect </a:t>
            </a:r>
            <a:r>
              <a:rPr lang="fr-FR" sz="2800" dirty="0" err="1"/>
              <a:t>method</a:t>
            </a:r>
            <a:r>
              <a:rPr lang="fr-FR" sz="2800" dirty="0"/>
              <a:t>: change in balance </a:t>
            </a:r>
            <a:r>
              <a:rPr lang="fr-FR" sz="2800" dirty="0" err="1"/>
              <a:t>sheet</a:t>
            </a:r>
            <a:r>
              <a:rPr lang="fr-FR" sz="2800" dirty="0"/>
              <a:t>)?</a:t>
            </a:r>
            <a:endParaRPr lang="en-US" sz="2800" dirty="0"/>
          </a:p>
          <a:p>
            <a:endParaRPr lang="en-US" dirty="0"/>
          </a:p>
        </p:txBody>
      </p:sp>
      <p:sp>
        <p:nvSpPr>
          <p:cNvPr id="4" name="Slide Number Placeholder 3">
            <a:extLst>
              <a:ext uri="{FF2B5EF4-FFF2-40B4-BE49-F238E27FC236}">
                <a16:creationId xmlns:a16="http://schemas.microsoft.com/office/drawing/2014/main" id="{DB5093F1-16BE-A73D-76A1-F9A497A6CB20}"/>
              </a:ext>
            </a:extLst>
          </p:cNvPr>
          <p:cNvSpPr>
            <a:spLocks noGrp="1"/>
          </p:cNvSpPr>
          <p:nvPr>
            <p:ph type="sldNum" sz="quarter" idx="10"/>
          </p:nvPr>
        </p:nvSpPr>
        <p:spPr/>
        <p:txBody>
          <a:bodyPr/>
          <a:lstStyle/>
          <a:p>
            <a:fld id="{421B1A79-1F45-8F4F-AED5-0EE30DCF0380}" type="slidenum">
              <a:rPr lang="fr-FR" smtClean="0"/>
              <a:t>45</a:t>
            </a:fld>
            <a:endParaRPr lang="fr-FR"/>
          </a:p>
        </p:txBody>
      </p:sp>
      <p:graphicFrame>
        <p:nvGraphicFramePr>
          <p:cNvPr id="6" name="Content Placeholder 5">
            <a:extLst>
              <a:ext uri="{FF2B5EF4-FFF2-40B4-BE49-F238E27FC236}">
                <a16:creationId xmlns:a16="http://schemas.microsoft.com/office/drawing/2014/main" id="{2F0A3160-85B0-23CD-FE28-51F566C4FAC6}"/>
              </a:ext>
            </a:extLst>
          </p:cNvPr>
          <p:cNvGraphicFramePr>
            <a:graphicFrameLocks/>
          </p:cNvGraphicFramePr>
          <p:nvPr/>
        </p:nvGraphicFramePr>
        <p:xfrm>
          <a:off x="205283" y="2061282"/>
          <a:ext cx="11674330" cy="2730259"/>
        </p:xfrm>
        <a:graphic>
          <a:graphicData uri="http://schemas.openxmlformats.org/drawingml/2006/table">
            <a:tbl>
              <a:tblPr>
                <a:tableStyleId>{B301B821-A1FF-4177-AEE7-76D212191A09}</a:tableStyleId>
              </a:tblPr>
              <a:tblGrid>
                <a:gridCol w="5462302">
                  <a:extLst>
                    <a:ext uri="{9D8B030D-6E8A-4147-A177-3AD203B41FA5}">
                      <a16:colId xmlns:a16="http://schemas.microsoft.com/office/drawing/2014/main" val="1555731078"/>
                    </a:ext>
                  </a:extLst>
                </a:gridCol>
                <a:gridCol w="1178143">
                  <a:extLst>
                    <a:ext uri="{9D8B030D-6E8A-4147-A177-3AD203B41FA5}">
                      <a16:colId xmlns:a16="http://schemas.microsoft.com/office/drawing/2014/main" val="1682692781"/>
                    </a:ext>
                  </a:extLst>
                </a:gridCol>
                <a:gridCol w="5033885">
                  <a:extLst>
                    <a:ext uri="{9D8B030D-6E8A-4147-A177-3AD203B41FA5}">
                      <a16:colId xmlns:a16="http://schemas.microsoft.com/office/drawing/2014/main" val="335701415"/>
                    </a:ext>
                  </a:extLst>
                </a:gridCol>
              </a:tblGrid>
              <a:tr h="390037">
                <a:tc>
                  <a:txBody>
                    <a:bodyPr/>
                    <a:lstStyle/>
                    <a:p>
                      <a:pPr algn="l" fontAlgn="b"/>
                      <a:r>
                        <a:rPr lang="en-US" sz="2500" b="0" i="0" u="none" strike="noStrike">
                          <a:solidFill>
                            <a:srgbClr val="000000"/>
                          </a:solidFill>
                          <a:effectLst/>
                          <a:latin typeface="Calibri" panose="020F0502020204030204" pitchFamily="34" charset="0"/>
                        </a:rPr>
                        <a:t>Net loss</a:t>
                      </a:r>
                    </a:p>
                  </a:txBody>
                  <a:tcPr marL="4463" marR="4463" marT="4463" marB="0" anchor="b">
                    <a:solidFill>
                      <a:schemeClr val="tx1">
                        <a:lumMod val="10000"/>
                        <a:lumOff val="90000"/>
                      </a:schemeClr>
                    </a:solidFill>
                  </a:tcPr>
                </a:tc>
                <a:tc>
                  <a:txBody>
                    <a:bodyPr/>
                    <a:lstStyle/>
                    <a:p>
                      <a:pPr algn="r" fontAlgn="b"/>
                      <a:r>
                        <a:rPr lang="en-US" sz="2500" b="0" i="0" u="none" strike="noStrike" dirty="0">
                          <a:solidFill>
                            <a:srgbClr val="000000"/>
                          </a:solidFill>
                          <a:effectLst/>
                          <a:latin typeface="Calibri" panose="020F0502020204030204" pitchFamily="34" charset="0"/>
                        </a:rPr>
                        <a:t>120</a:t>
                      </a:r>
                    </a:p>
                  </a:txBody>
                  <a:tcPr marL="4463" marR="4463" marT="4463" marB="0" anchor="b">
                    <a:solidFill>
                      <a:schemeClr val="tx1">
                        <a:lumMod val="10000"/>
                        <a:lumOff val="90000"/>
                      </a:schemeClr>
                    </a:solidFill>
                  </a:tcPr>
                </a:tc>
                <a:tc>
                  <a:txBody>
                    <a:bodyPr/>
                    <a:lstStyle/>
                    <a:p>
                      <a:pPr algn="r" fontAlgn="b"/>
                      <a:endParaRPr lang="en-US" sz="2500" b="0" i="0" u="none" strike="noStrike" dirty="0">
                        <a:solidFill>
                          <a:srgbClr val="000000"/>
                        </a:solidFill>
                        <a:effectLst/>
                        <a:latin typeface="Calibri" panose="020F0502020204030204" pitchFamily="34" charset="0"/>
                      </a:endParaRPr>
                    </a:p>
                  </a:txBody>
                  <a:tcPr marL="4463" marR="4463" marT="4463" marB="0" anchor="b">
                    <a:solidFill>
                      <a:schemeClr val="tx1">
                        <a:lumMod val="10000"/>
                        <a:lumOff val="90000"/>
                      </a:schemeClr>
                    </a:solidFill>
                  </a:tcPr>
                </a:tc>
                <a:extLst>
                  <a:ext uri="{0D108BD9-81ED-4DB2-BD59-A6C34878D82A}">
                    <a16:rowId xmlns:a16="http://schemas.microsoft.com/office/drawing/2014/main" val="374100810"/>
                  </a:ext>
                </a:extLst>
              </a:tr>
              <a:tr h="390037">
                <a:tc>
                  <a:txBody>
                    <a:bodyPr/>
                    <a:lstStyle/>
                    <a:p>
                      <a:pPr algn="l" fontAlgn="b"/>
                      <a:r>
                        <a:rPr lang="en-US" sz="2500" b="0" i="0" u="none" strike="noStrike">
                          <a:solidFill>
                            <a:srgbClr val="000000"/>
                          </a:solidFill>
                          <a:effectLst/>
                          <a:latin typeface="Calibri" panose="020F0502020204030204" pitchFamily="34" charset="0"/>
                        </a:rPr>
                        <a:t>Depreciation and amortization expense</a:t>
                      </a:r>
                    </a:p>
                  </a:txBody>
                  <a:tcPr marL="4463" marR="4463" marT="4463" marB="0" anchor="b"/>
                </a:tc>
                <a:tc>
                  <a:txBody>
                    <a:bodyPr/>
                    <a:lstStyle/>
                    <a:p>
                      <a:pPr algn="r" fontAlgn="b"/>
                      <a:r>
                        <a:rPr lang="en-US" sz="2500" b="0" i="0" u="none" strike="noStrike">
                          <a:solidFill>
                            <a:srgbClr val="000000"/>
                          </a:solidFill>
                          <a:effectLst/>
                          <a:latin typeface="Calibri" panose="020F0502020204030204" pitchFamily="34" charset="0"/>
                        </a:rPr>
                        <a:t>25</a:t>
                      </a:r>
                    </a:p>
                  </a:txBody>
                  <a:tcPr marL="4463" marR="4463" marT="4463" marB="0" anchor="b"/>
                </a:tc>
                <a:tc>
                  <a:txBody>
                    <a:bodyPr/>
                    <a:lstStyle/>
                    <a:p>
                      <a:pPr algn="r" fontAlgn="b"/>
                      <a:r>
                        <a:rPr lang="fr-FR" sz="2500" b="0" i="0" u="none" strike="noStrike" dirty="0" err="1">
                          <a:solidFill>
                            <a:srgbClr val="000000"/>
                          </a:solidFill>
                          <a:effectLst/>
                          <a:latin typeface="Calibri" panose="020F0502020204030204" pitchFamily="34" charset="0"/>
                        </a:rPr>
                        <a:t>Decrease</a:t>
                      </a:r>
                      <a:r>
                        <a:rPr lang="fr-FR" sz="2500" b="0" i="0" u="none" strike="noStrike" dirty="0">
                          <a:solidFill>
                            <a:srgbClr val="000000"/>
                          </a:solidFill>
                          <a:effectLst/>
                          <a:latin typeface="Calibri" panose="020F0502020204030204" pitchFamily="34" charset="0"/>
                        </a:rPr>
                        <a:t> in </a:t>
                      </a:r>
                      <a:r>
                        <a:rPr lang="fr-FR" sz="2500" b="0" i="0" u="none" strike="noStrike" dirty="0" err="1">
                          <a:solidFill>
                            <a:srgbClr val="000000"/>
                          </a:solidFill>
                          <a:effectLst/>
                          <a:latin typeface="Calibri" panose="020F0502020204030204" pitchFamily="34" charset="0"/>
                        </a:rPr>
                        <a:t>noncash</a:t>
                      </a:r>
                      <a:r>
                        <a:rPr lang="fr-FR" sz="2500" b="0" i="0" u="none" strike="noStrike" dirty="0">
                          <a:solidFill>
                            <a:srgbClr val="000000"/>
                          </a:solidFill>
                          <a:effectLst/>
                          <a:latin typeface="Calibri" panose="020F0502020204030204" pitchFamily="34" charset="0"/>
                        </a:rPr>
                        <a:t> assets</a:t>
                      </a:r>
                      <a:endParaRPr lang="en-US" sz="2500" b="0" i="0" u="none" strike="noStrike" dirty="0">
                        <a:solidFill>
                          <a:srgbClr val="000000"/>
                        </a:solidFill>
                        <a:effectLst/>
                        <a:latin typeface="Calibri" panose="020F0502020204030204" pitchFamily="34" charset="0"/>
                      </a:endParaRPr>
                    </a:p>
                  </a:txBody>
                  <a:tcPr marL="4463" marR="4463" marT="4463" marB="0" anchor="b"/>
                </a:tc>
                <a:extLst>
                  <a:ext uri="{0D108BD9-81ED-4DB2-BD59-A6C34878D82A}">
                    <a16:rowId xmlns:a16="http://schemas.microsoft.com/office/drawing/2014/main" val="2877163862"/>
                  </a:ext>
                </a:extLst>
              </a:tr>
              <a:tr h="390037">
                <a:tc>
                  <a:txBody>
                    <a:bodyPr/>
                    <a:lstStyle/>
                    <a:p>
                      <a:pPr algn="l" fontAlgn="b"/>
                      <a:r>
                        <a:rPr lang="en-US" sz="2500" b="0" i="0" u="none" strike="noStrike" dirty="0">
                          <a:solidFill>
                            <a:srgbClr val="000000"/>
                          </a:solidFill>
                          <a:effectLst/>
                          <a:latin typeface="Calibri" panose="020F0502020204030204" pitchFamily="34" charset="0"/>
                        </a:rPr>
                        <a:t>Investment in intangible assets</a:t>
                      </a:r>
                    </a:p>
                  </a:txBody>
                  <a:tcPr marL="4463" marR="4463" marT="4463" marB="0" anchor="b">
                    <a:solidFill>
                      <a:schemeClr val="tx1">
                        <a:lumMod val="10000"/>
                        <a:lumOff val="90000"/>
                      </a:schemeClr>
                    </a:solidFill>
                  </a:tcPr>
                </a:tc>
                <a:tc>
                  <a:txBody>
                    <a:bodyPr/>
                    <a:lstStyle/>
                    <a:p>
                      <a:pPr algn="r" fontAlgn="b"/>
                      <a:r>
                        <a:rPr lang="en-US" sz="2500" b="0" i="0" u="none" strike="noStrike" dirty="0">
                          <a:solidFill>
                            <a:srgbClr val="000000"/>
                          </a:solidFill>
                          <a:effectLst/>
                          <a:latin typeface="Calibri" panose="020F0502020204030204" pitchFamily="34" charset="0"/>
                        </a:rPr>
                        <a:t>60</a:t>
                      </a:r>
                    </a:p>
                  </a:txBody>
                  <a:tcPr marL="4463" marR="4463" marT="4463" marB="0" anchor="b">
                    <a:solidFill>
                      <a:schemeClr val="tx1">
                        <a:lumMod val="10000"/>
                        <a:lumOff val="90000"/>
                      </a:schemeClr>
                    </a:solidFill>
                  </a:tcPr>
                </a:tc>
                <a:tc>
                  <a:txBody>
                    <a:bodyPr/>
                    <a:lstStyle/>
                    <a:p>
                      <a:pPr algn="r" fontAlgn="b"/>
                      <a:r>
                        <a:rPr lang="fr-FR" sz="2500" b="0" i="0" u="none" strike="noStrike" dirty="0" err="1">
                          <a:solidFill>
                            <a:srgbClr val="000000"/>
                          </a:solidFill>
                          <a:effectLst/>
                          <a:latin typeface="Calibri" panose="020F0502020204030204" pitchFamily="34" charset="0"/>
                        </a:rPr>
                        <a:t>Increase</a:t>
                      </a:r>
                      <a:r>
                        <a:rPr lang="fr-FR" sz="2500" b="0" i="0" u="none" strike="noStrike" dirty="0">
                          <a:solidFill>
                            <a:srgbClr val="000000"/>
                          </a:solidFill>
                          <a:effectLst/>
                          <a:latin typeface="Calibri" panose="020F0502020204030204" pitchFamily="34" charset="0"/>
                        </a:rPr>
                        <a:t> in </a:t>
                      </a:r>
                      <a:r>
                        <a:rPr lang="fr-FR" sz="2500" b="0" i="0" u="none" strike="noStrike" dirty="0" err="1">
                          <a:solidFill>
                            <a:srgbClr val="000000"/>
                          </a:solidFill>
                          <a:effectLst/>
                          <a:latin typeface="Calibri" panose="020F0502020204030204" pitchFamily="34" charset="0"/>
                        </a:rPr>
                        <a:t>noncash</a:t>
                      </a:r>
                      <a:r>
                        <a:rPr lang="fr-FR" sz="2500" b="0" i="0" u="none" strike="noStrike" dirty="0">
                          <a:solidFill>
                            <a:srgbClr val="000000"/>
                          </a:solidFill>
                          <a:effectLst/>
                          <a:latin typeface="Calibri" panose="020F0502020204030204" pitchFamily="34" charset="0"/>
                        </a:rPr>
                        <a:t> assets</a:t>
                      </a:r>
                      <a:endParaRPr lang="en-US" sz="2500" b="0" i="0" u="none" strike="noStrike" dirty="0">
                        <a:solidFill>
                          <a:srgbClr val="000000"/>
                        </a:solidFill>
                        <a:effectLst/>
                        <a:latin typeface="Calibri" panose="020F0502020204030204" pitchFamily="34" charset="0"/>
                      </a:endParaRPr>
                    </a:p>
                  </a:txBody>
                  <a:tcPr marL="4463" marR="4463" marT="4463" marB="0" anchor="b">
                    <a:solidFill>
                      <a:schemeClr val="tx1">
                        <a:lumMod val="10000"/>
                        <a:lumOff val="90000"/>
                      </a:schemeClr>
                    </a:solidFill>
                  </a:tcPr>
                </a:tc>
                <a:extLst>
                  <a:ext uri="{0D108BD9-81ED-4DB2-BD59-A6C34878D82A}">
                    <a16:rowId xmlns:a16="http://schemas.microsoft.com/office/drawing/2014/main" val="1864690327"/>
                  </a:ext>
                </a:extLst>
              </a:tr>
              <a:tr h="390037">
                <a:tc>
                  <a:txBody>
                    <a:bodyPr/>
                    <a:lstStyle/>
                    <a:p>
                      <a:pPr algn="l" fontAlgn="b"/>
                      <a:r>
                        <a:rPr lang="en-US" sz="2500" b="0" i="0" u="none" strike="noStrike">
                          <a:solidFill>
                            <a:srgbClr val="000000"/>
                          </a:solidFill>
                          <a:effectLst/>
                          <a:latin typeface="Calibri" panose="020F0502020204030204" pitchFamily="34" charset="0"/>
                        </a:rPr>
                        <a:t>Decrease in inventories</a:t>
                      </a:r>
                    </a:p>
                  </a:txBody>
                  <a:tcPr marL="4463" marR="4463" marT="4463" marB="0" anchor="b"/>
                </a:tc>
                <a:tc>
                  <a:txBody>
                    <a:bodyPr/>
                    <a:lstStyle/>
                    <a:p>
                      <a:pPr algn="r" fontAlgn="b"/>
                      <a:r>
                        <a:rPr lang="en-US" sz="2500" b="0" i="0" u="none" strike="noStrike" dirty="0">
                          <a:solidFill>
                            <a:srgbClr val="000000"/>
                          </a:solidFill>
                          <a:effectLst/>
                          <a:latin typeface="Calibri" panose="020F0502020204030204" pitchFamily="34" charset="0"/>
                        </a:rPr>
                        <a:t>30</a:t>
                      </a:r>
                    </a:p>
                  </a:txBody>
                  <a:tcPr marL="4463" marR="4463" marT="4463" marB="0" anchor="b"/>
                </a:tc>
                <a:tc>
                  <a:txBody>
                    <a:bodyPr/>
                    <a:lstStyle/>
                    <a:p>
                      <a:pPr algn="r" fontAlgn="b"/>
                      <a:r>
                        <a:rPr lang="fr-FR" sz="2500" b="0" i="0" u="none" strike="noStrike" dirty="0" err="1">
                          <a:solidFill>
                            <a:srgbClr val="000000"/>
                          </a:solidFill>
                          <a:effectLst/>
                          <a:latin typeface="Calibri" panose="020F0502020204030204" pitchFamily="34" charset="0"/>
                        </a:rPr>
                        <a:t>Decrease</a:t>
                      </a:r>
                      <a:r>
                        <a:rPr lang="fr-FR" sz="2500" b="0" i="0" u="none" strike="noStrike" dirty="0">
                          <a:solidFill>
                            <a:srgbClr val="000000"/>
                          </a:solidFill>
                          <a:effectLst/>
                          <a:latin typeface="Calibri" panose="020F0502020204030204" pitchFamily="34" charset="0"/>
                        </a:rPr>
                        <a:t> in </a:t>
                      </a:r>
                      <a:r>
                        <a:rPr lang="fr-FR" sz="2500" b="0" i="0" u="none" strike="noStrike" dirty="0" err="1">
                          <a:solidFill>
                            <a:srgbClr val="000000"/>
                          </a:solidFill>
                          <a:effectLst/>
                          <a:latin typeface="Calibri" panose="020F0502020204030204" pitchFamily="34" charset="0"/>
                        </a:rPr>
                        <a:t>noncash</a:t>
                      </a:r>
                      <a:r>
                        <a:rPr lang="fr-FR" sz="2500" b="0" i="0" u="none" strike="noStrike" dirty="0">
                          <a:solidFill>
                            <a:srgbClr val="000000"/>
                          </a:solidFill>
                          <a:effectLst/>
                          <a:latin typeface="Calibri" panose="020F0502020204030204" pitchFamily="34" charset="0"/>
                        </a:rPr>
                        <a:t> assets</a:t>
                      </a:r>
                      <a:endParaRPr lang="en-US" sz="2500" b="0" i="0" u="none" strike="noStrike" dirty="0">
                        <a:solidFill>
                          <a:srgbClr val="000000"/>
                        </a:solidFill>
                        <a:effectLst/>
                        <a:latin typeface="Calibri" panose="020F0502020204030204" pitchFamily="34" charset="0"/>
                      </a:endParaRPr>
                    </a:p>
                  </a:txBody>
                  <a:tcPr marL="4463" marR="4463" marT="4463" marB="0" anchor="b"/>
                </a:tc>
                <a:extLst>
                  <a:ext uri="{0D108BD9-81ED-4DB2-BD59-A6C34878D82A}">
                    <a16:rowId xmlns:a16="http://schemas.microsoft.com/office/drawing/2014/main" val="1395014584"/>
                  </a:ext>
                </a:extLst>
              </a:tr>
              <a:tr h="390037">
                <a:tc>
                  <a:txBody>
                    <a:bodyPr/>
                    <a:lstStyle/>
                    <a:p>
                      <a:pPr algn="l" fontAlgn="b"/>
                      <a:r>
                        <a:rPr lang="en-US" sz="2500" b="0" i="0" u="none" strike="noStrike">
                          <a:solidFill>
                            <a:srgbClr val="000000"/>
                          </a:solidFill>
                          <a:effectLst/>
                          <a:latin typeface="Calibri" panose="020F0502020204030204" pitchFamily="34" charset="0"/>
                        </a:rPr>
                        <a:t>New debt</a:t>
                      </a:r>
                    </a:p>
                  </a:txBody>
                  <a:tcPr marL="4463" marR="4463" marT="4463" marB="0" anchor="b">
                    <a:solidFill>
                      <a:schemeClr val="tx1">
                        <a:lumMod val="10000"/>
                        <a:lumOff val="90000"/>
                      </a:schemeClr>
                    </a:solidFill>
                  </a:tcPr>
                </a:tc>
                <a:tc>
                  <a:txBody>
                    <a:bodyPr/>
                    <a:lstStyle/>
                    <a:p>
                      <a:pPr algn="r" fontAlgn="b"/>
                      <a:r>
                        <a:rPr lang="en-US" sz="2500" b="0" i="0" u="none" strike="noStrike" dirty="0">
                          <a:solidFill>
                            <a:srgbClr val="000000"/>
                          </a:solidFill>
                          <a:effectLst/>
                          <a:latin typeface="Calibri" panose="020F0502020204030204" pitchFamily="34" charset="0"/>
                        </a:rPr>
                        <a:t>60</a:t>
                      </a:r>
                    </a:p>
                  </a:txBody>
                  <a:tcPr marL="4463" marR="4463" marT="4463" marB="0" anchor="b">
                    <a:solidFill>
                      <a:schemeClr val="tx1">
                        <a:lumMod val="10000"/>
                        <a:lumOff val="90000"/>
                      </a:schemeClr>
                    </a:solidFill>
                  </a:tcPr>
                </a:tc>
                <a:tc>
                  <a:txBody>
                    <a:bodyPr/>
                    <a:lstStyle/>
                    <a:p>
                      <a:pPr algn="r" fontAlgn="b"/>
                      <a:r>
                        <a:rPr lang="fr-FR" sz="2500" b="0" i="0" u="none" strike="noStrike" dirty="0" err="1">
                          <a:solidFill>
                            <a:srgbClr val="000000"/>
                          </a:solidFill>
                          <a:effectLst/>
                          <a:latin typeface="Calibri" panose="020F0502020204030204" pitchFamily="34" charset="0"/>
                        </a:rPr>
                        <a:t>Increase</a:t>
                      </a:r>
                      <a:r>
                        <a:rPr lang="fr-FR" sz="2500" b="0" i="0" u="none" strike="noStrike" dirty="0">
                          <a:solidFill>
                            <a:srgbClr val="000000"/>
                          </a:solidFill>
                          <a:effectLst/>
                          <a:latin typeface="Calibri" panose="020F0502020204030204" pitchFamily="34" charset="0"/>
                        </a:rPr>
                        <a:t> in </a:t>
                      </a:r>
                      <a:r>
                        <a:rPr lang="fr-FR" sz="2500" b="0" i="0" u="none" strike="noStrike" dirty="0" err="1">
                          <a:solidFill>
                            <a:srgbClr val="000000"/>
                          </a:solidFill>
                          <a:effectLst/>
                          <a:latin typeface="Calibri" panose="020F0502020204030204" pitchFamily="34" charset="0"/>
                        </a:rPr>
                        <a:t>debt</a:t>
                      </a:r>
                      <a:endParaRPr lang="en-US" sz="2500" b="0" i="0" u="none" strike="noStrike" dirty="0">
                        <a:solidFill>
                          <a:srgbClr val="000000"/>
                        </a:solidFill>
                        <a:effectLst/>
                        <a:latin typeface="Calibri" panose="020F0502020204030204" pitchFamily="34" charset="0"/>
                      </a:endParaRPr>
                    </a:p>
                  </a:txBody>
                  <a:tcPr marL="4463" marR="4463" marT="4463" marB="0" anchor="b">
                    <a:solidFill>
                      <a:schemeClr val="tx1">
                        <a:lumMod val="10000"/>
                        <a:lumOff val="90000"/>
                      </a:schemeClr>
                    </a:solidFill>
                  </a:tcPr>
                </a:tc>
                <a:extLst>
                  <a:ext uri="{0D108BD9-81ED-4DB2-BD59-A6C34878D82A}">
                    <a16:rowId xmlns:a16="http://schemas.microsoft.com/office/drawing/2014/main" val="3311995271"/>
                  </a:ext>
                </a:extLst>
              </a:tr>
              <a:tr h="390037">
                <a:tc>
                  <a:txBody>
                    <a:bodyPr/>
                    <a:lstStyle/>
                    <a:p>
                      <a:pPr algn="l" fontAlgn="b"/>
                      <a:r>
                        <a:rPr lang="en-US" sz="2500" b="0" i="0" u="none" strike="noStrike">
                          <a:solidFill>
                            <a:srgbClr val="000000"/>
                          </a:solidFill>
                          <a:effectLst/>
                          <a:latin typeface="Calibri" panose="020F0502020204030204" pitchFamily="34" charset="0"/>
                        </a:rPr>
                        <a:t>Increase in accrued expenses</a:t>
                      </a:r>
                    </a:p>
                  </a:txBody>
                  <a:tcPr marL="4463" marR="4463" marT="4463" marB="0" anchor="b"/>
                </a:tc>
                <a:tc>
                  <a:txBody>
                    <a:bodyPr/>
                    <a:lstStyle/>
                    <a:p>
                      <a:pPr algn="r" fontAlgn="b"/>
                      <a:r>
                        <a:rPr lang="en-US" sz="2500" b="0" i="0" u="none" strike="noStrike" dirty="0">
                          <a:solidFill>
                            <a:srgbClr val="000000"/>
                          </a:solidFill>
                          <a:effectLst/>
                          <a:latin typeface="Calibri" panose="020F0502020204030204" pitchFamily="34" charset="0"/>
                        </a:rPr>
                        <a:t>50</a:t>
                      </a:r>
                    </a:p>
                  </a:txBody>
                  <a:tcPr marL="4463" marR="4463" marT="4463" marB="0" anchor="b"/>
                </a:tc>
                <a:tc>
                  <a:txBody>
                    <a:bodyPr/>
                    <a:lstStyle/>
                    <a:p>
                      <a:pPr algn="r" fontAlgn="b"/>
                      <a:r>
                        <a:rPr lang="fr-FR" sz="2500" b="0" i="0" u="none" strike="noStrike" dirty="0" err="1">
                          <a:solidFill>
                            <a:srgbClr val="000000"/>
                          </a:solidFill>
                          <a:effectLst/>
                          <a:latin typeface="Calibri" panose="020F0502020204030204" pitchFamily="34" charset="0"/>
                        </a:rPr>
                        <a:t>Increase</a:t>
                      </a:r>
                      <a:r>
                        <a:rPr lang="fr-FR" sz="2500" b="0" i="0" u="none" strike="noStrike" dirty="0">
                          <a:solidFill>
                            <a:srgbClr val="000000"/>
                          </a:solidFill>
                          <a:effectLst/>
                          <a:latin typeface="Calibri" panose="020F0502020204030204" pitchFamily="34" charset="0"/>
                        </a:rPr>
                        <a:t> in operating </a:t>
                      </a:r>
                      <a:r>
                        <a:rPr lang="fr-FR" sz="2500" b="0" i="0" u="none" strike="noStrike" dirty="0" err="1">
                          <a:solidFill>
                            <a:srgbClr val="000000"/>
                          </a:solidFill>
                          <a:effectLst/>
                          <a:latin typeface="Calibri" panose="020F0502020204030204" pitchFamily="34" charset="0"/>
                        </a:rPr>
                        <a:t>liabilities</a:t>
                      </a:r>
                      <a:endParaRPr lang="en-US" sz="2500" b="0" i="0" u="none" strike="noStrike" dirty="0">
                        <a:solidFill>
                          <a:srgbClr val="000000"/>
                        </a:solidFill>
                        <a:effectLst/>
                        <a:latin typeface="Calibri" panose="020F0502020204030204" pitchFamily="34" charset="0"/>
                      </a:endParaRPr>
                    </a:p>
                  </a:txBody>
                  <a:tcPr marL="4463" marR="4463" marT="4463" marB="0" anchor="b"/>
                </a:tc>
                <a:extLst>
                  <a:ext uri="{0D108BD9-81ED-4DB2-BD59-A6C34878D82A}">
                    <a16:rowId xmlns:a16="http://schemas.microsoft.com/office/drawing/2014/main" val="314942409"/>
                  </a:ext>
                </a:extLst>
              </a:tr>
              <a:tr h="390037">
                <a:tc>
                  <a:txBody>
                    <a:bodyPr/>
                    <a:lstStyle/>
                    <a:p>
                      <a:pPr algn="l" fontAlgn="b"/>
                      <a:r>
                        <a:rPr lang="en-US" sz="2500" b="0" i="0" u="none" strike="noStrike">
                          <a:solidFill>
                            <a:srgbClr val="000000"/>
                          </a:solidFill>
                          <a:effectLst/>
                          <a:latin typeface="Calibri" panose="020F0502020204030204" pitchFamily="34" charset="0"/>
                        </a:rPr>
                        <a:t>Increase in accounts payable</a:t>
                      </a:r>
                    </a:p>
                  </a:txBody>
                  <a:tcPr marL="4463" marR="4463" marT="4463" marB="0" anchor="b">
                    <a:solidFill>
                      <a:schemeClr val="accent1">
                        <a:lumMod val="10000"/>
                        <a:lumOff val="90000"/>
                      </a:schemeClr>
                    </a:solidFill>
                  </a:tcPr>
                </a:tc>
                <a:tc>
                  <a:txBody>
                    <a:bodyPr/>
                    <a:lstStyle/>
                    <a:p>
                      <a:pPr algn="r" fontAlgn="b"/>
                      <a:r>
                        <a:rPr lang="en-US" sz="2500" b="0" i="0" u="none" strike="noStrike" dirty="0">
                          <a:solidFill>
                            <a:srgbClr val="000000"/>
                          </a:solidFill>
                          <a:effectLst/>
                          <a:latin typeface="Calibri" panose="020F0502020204030204" pitchFamily="34" charset="0"/>
                        </a:rPr>
                        <a:t>45</a:t>
                      </a:r>
                    </a:p>
                  </a:txBody>
                  <a:tcPr marL="4463" marR="4463" marT="4463" marB="0" anchor="b">
                    <a:solidFill>
                      <a:schemeClr val="accent1">
                        <a:lumMod val="10000"/>
                        <a:lumOff val="90000"/>
                      </a:schemeClr>
                    </a:solidFill>
                  </a:tcPr>
                </a:tc>
                <a:tc>
                  <a:txBody>
                    <a:bodyPr/>
                    <a:lstStyle/>
                    <a:p>
                      <a:pPr algn="r" fontAlgn="b"/>
                      <a:r>
                        <a:rPr lang="fr-FR" sz="2500" b="0" i="0" u="none" strike="noStrike" dirty="0" err="1">
                          <a:solidFill>
                            <a:srgbClr val="000000"/>
                          </a:solidFill>
                          <a:effectLst/>
                          <a:latin typeface="Calibri" panose="020F0502020204030204" pitchFamily="34" charset="0"/>
                        </a:rPr>
                        <a:t>Increase</a:t>
                      </a:r>
                      <a:r>
                        <a:rPr lang="fr-FR" sz="2500" b="0" i="0" u="none" strike="noStrike" dirty="0">
                          <a:solidFill>
                            <a:srgbClr val="000000"/>
                          </a:solidFill>
                          <a:effectLst/>
                          <a:latin typeface="Calibri" panose="020F0502020204030204" pitchFamily="34" charset="0"/>
                        </a:rPr>
                        <a:t> in operating </a:t>
                      </a:r>
                      <a:r>
                        <a:rPr lang="fr-FR" sz="2500" b="0" i="0" u="none" strike="noStrike" dirty="0" err="1">
                          <a:solidFill>
                            <a:srgbClr val="000000"/>
                          </a:solidFill>
                          <a:effectLst/>
                          <a:latin typeface="Calibri" panose="020F0502020204030204" pitchFamily="34" charset="0"/>
                        </a:rPr>
                        <a:t>liabilities</a:t>
                      </a:r>
                      <a:endParaRPr lang="en-US" sz="2500" b="0" i="0" u="none" strike="noStrike" dirty="0">
                        <a:solidFill>
                          <a:srgbClr val="000000"/>
                        </a:solidFill>
                        <a:effectLst/>
                        <a:latin typeface="Calibri" panose="020F0502020204030204" pitchFamily="34" charset="0"/>
                      </a:endParaRPr>
                    </a:p>
                  </a:txBody>
                  <a:tcPr marL="4463" marR="4463" marT="4463" marB="0" anchor="b">
                    <a:solidFill>
                      <a:schemeClr val="accent1">
                        <a:lumMod val="10000"/>
                        <a:lumOff val="90000"/>
                      </a:schemeClr>
                    </a:solidFill>
                  </a:tcPr>
                </a:tc>
                <a:extLst>
                  <a:ext uri="{0D108BD9-81ED-4DB2-BD59-A6C34878D82A}">
                    <a16:rowId xmlns:a16="http://schemas.microsoft.com/office/drawing/2014/main" val="2869372369"/>
                  </a:ext>
                </a:extLst>
              </a:tr>
            </a:tbl>
          </a:graphicData>
        </a:graphic>
      </p:graphicFrame>
      <p:sp>
        <p:nvSpPr>
          <p:cNvPr id="5" name="TextBox 4">
            <a:extLst>
              <a:ext uri="{FF2B5EF4-FFF2-40B4-BE49-F238E27FC236}">
                <a16:creationId xmlns:a16="http://schemas.microsoft.com/office/drawing/2014/main" id="{7427BD5A-945F-3D55-3CF3-3D7472E3219B}"/>
              </a:ext>
            </a:extLst>
          </p:cNvPr>
          <p:cNvSpPr txBox="1"/>
          <p:nvPr/>
        </p:nvSpPr>
        <p:spPr>
          <a:xfrm>
            <a:off x="66582" y="4905278"/>
            <a:ext cx="12058835" cy="1384995"/>
          </a:xfrm>
          <a:prstGeom prst="rect">
            <a:avLst/>
          </a:prstGeom>
          <a:solidFill>
            <a:schemeClr val="accent4">
              <a:lumMod val="40000"/>
              <a:lumOff val="60000"/>
            </a:schemeClr>
          </a:solidFill>
        </p:spPr>
        <p:txBody>
          <a:bodyPr wrap="square" rtlCol="0">
            <a:spAutoFit/>
          </a:bodyPr>
          <a:lstStyle/>
          <a:p>
            <a:r>
              <a:rPr lang="fr-FR" sz="2100" b="1" dirty="0"/>
              <a:t>Cash flow</a:t>
            </a:r>
            <a:endParaRPr lang="fr-FR" sz="2100" dirty="0"/>
          </a:p>
          <a:p>
            <a:r>
              <a:rPr lang="fr-FR" sz="2100" b="1" dirty="0"/>
              <a:t>=</a:t>
            </a:r>
            <a:r>
              <a:rPr lang="fr-FR" sz="2100" dirty="0"/>
              <a:t> </a:t>
            </a:r>
            <a:r>
              <a:rPr lang="fr-FR" sz="2100" dirty="0" err="1"/>
              <a:t>Increase</a:t>
            </a:r>
            <a:r>
              <a:rPr lang="fr-FR" sz="2100" dirty="0"/>
              <a:t> in </a:t>
            </a:r>
            <a:r>
              <a:rPr lang="fr-FR" sz="2100" dirty="0" err="1"/>
              <a:t>accounts</a:t>
            </a:r>
            <a:r>
              <a:rPr lang="fr-FR" sz="2100" dirty="0"/>
              <a:t> payable + </a:t>
            </a:r>
            <a:r>
              <a:rPr lang="fr-FR" sz="2100" dirty="0" err="1"/>
              <a:t>Increase</a:t>
            </a:r>
            <a:r>
              <a:rPr lang="fr-FR" sz="2100" dirty="0"/>
              <a:t> in </a:t>
            </a:r>
            <a:r>
              <a:rPr lang="fr-FR" sz="2100" dirty="0" err="1"/>
              <a:t>accrued</a:t>
            </a:r>
            <a:r>
              <a:rPr lang="fr-FR" sz="2100" dirty="0"/>
              <a:t> </a:t>
            </a:r>
            <a:r>
              <a:rPr lang="fr-FR" sz="2100" dirty="0" err="1"/>
              <a:t>expenses</a:t>
            </a:r>
            <a:r>
              <a:rPr lang="fr-FR" sz="2100" dirty="0"/>
              <a:t> + New </a:t>
            </a:r>
            <a:r>
              <a:rPr lang="fr-FR" sz="2100" dirty="0" err="1"/>
              <a:t>debt</a:t>
            </a:r>
            <a:r>
              <a:rPr lang="fr-FR" sz="2100" dirty="0"/>
              <a:t> + </a:t>
            </a:r>
            <a:r>
              <a:rPr lang="fr-FR" sz="2100" b="1" dirty="0"/>
              <a:t>Net profit/(</a:t>
            </a:r>
            <a:r>
              <a:rPr lang="fr-FR" sz="2100" b="1" dirty="0" err="1"/>
              <a:t>loss</a:t>
            </a:r>
            <a:r>
              <a:rPr lang="fr-FR" sz="2100" b="1" dirty="0"/>
              <a:t>)</a:t>
            </a:r>
          </a:p>
          <a:p>
            <a:r>
              <a:rPr lang="fr-FR" sz="2100" dirty="0"/>
              <a:t>+ D&amp;A </a:t>
            </a:r>
            <a:r>
              <a:rPr lang="fr-FR" sz="2100" dirty="0" err="1"/>
              <a:t>expense</a:t>
            </a:r>
            <a:r>
              <a:rPr lang="fr-FR" sz="2100" dirty="0"/>
              <a:t> – Investment in intangible assets + </a:t>
            </a:r>
            <a:r>
              <a:rPr lang="fr-FR" sz="2100" dirty="0" err="1"/>
              <a:t>Decrease</a:t>
            </a:r>
            <a:r>
              <a:rPr lang="fr-FR" sz="2100" dirty="0"/>
              <a:t> in inventories</a:t>
            </a:r>
          </a:p>
          <a:p>
            <a:r>
              <a:rPr lang="fr-FR" sz="2100" dirty="0"/>
              <a:t>= 45 + 50 + 60 – 120 + 25 – 60 + 30 = 30</a:t>
            </a:r>
            <a:endParaRPr lang="en-US" sz="2100" dirty="0"/>
          </a:p>
        </p:txBody>
      </p:sp>
    </p:spTree>
    <p:extLst>
      <p:ext uri="{BB962C8B-B14F-4D97-AF65-F5344CB8AC3E}">
        <p14:creationId xmlns:p14="http://schemas.microsoft.com/office/powerpoint/2010/main" val="31185803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EA732-A3F7-A143-96A9-B749C8D585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046C56-8A2E-4F7D-A59A-E4ECA2D40868}"/>
              </a:ext>
            </a:extLst>
          </p:cNvPr>
          <p:cNvSpPr>
            <a:spLocks noGrp="1"/>
          </p:cNvSpPr>
          <p:nvPr>
            <p:ph type="title"/>
          </p:nvPr>
        </p:nvSpPr>
        <p:spPr/>
        <p:txBody>
          <a:bodyPr/>
          <a:lstStyle/>
          <a:p>
            <a:r>
              <a:rPr lang="en-US" dirty="0"/>
              <a:t>Exercise 2: answer</a:t>
            </a:r>
          </a:p>
        </p:txBody>
      </p:sp>
      <p:sp>
        <p:nvSpPr>
          <p:cNvPr id="3" name="Content Placeholder 2">
            <a:extLst>
              <a:ext uri="{FF2B5EF4-FFF2-40B4-BE49-F238E27FC236}">
                <a16:creationId xmlns:a16="http://schemas.microsoft.com/office/drawing/2014/main" id="{56DE92DC-1ED8-ABEE-6692-D3807E52EEFD}"/>
              </a:ext>
            </a:extLst>
          </p:cNvPr>
          <p:cNvSpPr>
            <a:spLocks noGrp="1"/>
          </p:cNvSpPr>
          <p:nvPr>
            <p:ph idx="1"/>
          </p:nvPr>
        </p:nvSpPr>
        <p:spPr>
          <a:xfrm>
            <a:off x="681228" y="1133166"/>
            <a:ext cx="10829544" cy="935330"/>
          </a:xfrm>
        </p:spPr>
        <p:txBody>
          <a:bodyPr/>
          <a:lstStyle/>
          <a:p>
            <a:pPr marL="0" indent="0">
              <a:buNone/>
            </a:pPr>
            <a:r>
              <a:rPr lang="fr-FR" sz="2800" dirty="0" err="1"/>
              <a:t>What</a:t>
            </a:r>
            <a:r>
              <a:rPr lang="fr-FR" sz="2800" dirty="0"/>
              <a:t> </a:t>
            </a:r>
            <a:r>
              <a:rPr lang="fr-FR" sz="2800" dirty="0" err="1"/>
              <a:t>is</a:t>
            </a:r>
            <a:r>
              <a:rPr lang="fr-FR" sz="2800" dirty="0"/>
              <a:t> the cash flow (</a:t>
            </a:r>
            <a:r>
              <a:rPr lang="fr-FR" sz="2800" dirty="0" err="1"/>
              <a:t>with</a:t>
            </a:r>
            <a:r>
              <a:rPr lang="fr-FR" sz="2800" dirty="0"/>
              <a:t> indirect </a:t>
            </a:r>
            <a:r>
              <a:rPr lang="fr-FR" sz="2800" dirty="0" err="1"/>
              <a:t>method</a:t>
            </a:r>
            <a:r>
              <a:rPr lang="fr-FR" sz="2800" dirty="0"/>
              <a:t>: change in balance </a:t>
            </a:r>
            <a:r>
              <a:rPr lang="fr-FR" sz="2800" dirty="0" err="1"/>
              <a:t>sheet</a:t>
            </a:r>
            <a:r>
              <a:rPr lang="fr-FR" sz="2800" dirty="0"/>
              <a:t>)?</a:t>
            </a:r>
            <a:endParaRPr lang="en-US" sz="2800" dirty="0"/>
          </a:p>
          <a:p>
            <a:endParaRPr lang="en-US" dirty="0"/>
          </a:p>
        </p:txBody>
      </p:sp>
      <p:sp>
        <p:nvSpPr>
          <p:cNvPr id="4" name="Slide Number Placeholder 3">
            <a:extLst>
              <a:ext uri="{FF2B5EF4-FFF2-40B4-BE49-F238E27FC236}">
                <a16:creationId xmlns:a16="http://schemas.microsoft.com/office/drawing/2014/main" id="{1BB98B04-72D6-FDF0-FF46-FB257377DCDE}"/>
              </a:ext>
            </a:extLst>
          </p:cNvPr>
          <p:cNvSpPr>
            <a:spLocks noGrp="1"/>
          </p:cNvSpPr>
          <p:nvPr>
            <p:ph type="sldNum" sz="quarter" idx="10"/>
          </p:nvPr>
        </p:nvSpPr>
        <p:spPr/>
        <p:txBody>
          <a:bodyPr/>
          <a:lstStyle/>
          <a:p>
            <a:fld id="{421B1A79-1F45-8F4F-AED5-0EE30DCF0380}" type="slidenum">
              <a:rPr lang="fr-FR" smtClean="0"/>
              <a:t>46</a:t>
            </a:fld>
            <a:endParaRPr lang="fr-FR"/>
          </a:p>
        </p:txBody>
      </p:sp>
      <p:graphicFrame>
        <p:nvGraphicFramePr>
          <p:cNvPr id="7" name="Content Placeholder 5">
            <a:extLst>
              <a:ext uri="{FF2B5EF4-FFF2-40B4-BE49-F238E27FC236}">
                <a16:creationId xmlns:a16="http://schemas.microsoft.com/office/drawing/2014/main" id="{1923C85C-354B-AE1C-E1EC-896FB8EDB043}"/>
              </a:ext>
            </a:extLst>
          </p:cNvPr>
          <p:cNvGraphicFramePr>
            <a:graphicFrameLocks/>
          </p:cNvGraphicFramePr>
          <p:nvPr>
            <p:extLst>
              <p:ext uri="{D42A27DB-BD31-4B8C-83A1-F6EECF244321}">
                <p14:modId xmlns:p14="http://schemas.microsoft.com/office/powerpoint/2010/main" val="1692053172"/>
              </p:ext>
            </p:extLst>
          </p:nvPr>
        </p:nvGraphicFramePr>
        <p:xfrm>
          <a:off x="98179" y="2439026"/>
          <a:ext cx="11888540" cy="1560148"/>
        </p:xfrm>
        <a:graphic>
          <a:graphicData uri="http://schemas.openxmlformats.org/drawingml/2006/table">
            <a:tbl>
              <a:tblPr>
                <a:tableStyleId>{B301B821-A1FF-4177-AEE7-76D212191A09}</a:tableStyleId>
              </a:tblPr>
              <a:tblGrid>
                <a:gridCol w="5248094">
                  <a:extLst>
                    <a:ext uri="{9D8B030D-6E8A-4147-A177-3AD203B41FA5}">
                      <a16:colId xmlns:a16="http://schemas.microsoft.com/office/drawing/2014/main" val="1555731078"/>
                    </a:ext>
                  </a:extLst>
                </a:gridCol>
                <a:gridCol w="1874319">
                  <a:extLst>
                    <a:ext uri="{9D8B030D-6E8A-4147-A177-3AD203B41FA5}">
                      <a16:colId xmlns:a16="http://schemas.microsoft.com/office/drawing/2014/main" val="1682692781"/>
                    </a:ext>
                  </a:extLst>
                </a:gridCol>
                <a:gridCol w="4766127">
                  <a:extLst>
                    <a:ext uri="{9D8B030D-6E8A-4147-A177-3AD203B41FA5}">
                      <a16:colId xmlns:a16="http://schemas.microsoft.com/office/drawing/2014/main" val="3922811676"/>
                    </a:ext>
                  </a:extLst>
                </a:gridCol>
              </a:tblGrid>
              <a:tr h="390037">
                <a:tc>
                  <a:txBody>
                    <a:bodyPr/>
                    <a:lstStyle/>
                    <a:p>
                      <a:pPr algn="l" fontAlgn="b"/>
                      <a:r>
                        <a:rPr lang="en-US" sz="2500" b="0" i="0" u="none" strike="noStrike" dirty="0">
                          <a:solidFill>
                            <a:srgbClr val="000000"/>
                          </a:solidFill>
                          <a:effectLst/>
                          <a:latin typeface="Calibri" panose="020F0502020204030204" pitchFamily="34" charset="0"/>
                        </a:rPr>
                        <a:t>   Change in equity</a:t>
                      </a:r>
                    </a:p>
                  </a:txBody>
                  <a:tcPr marL="4463" marR="4463" marT="4463" marB="0" anchor="b">
                    <a:solidFill>
                      <a:schemeClr val="tx1">
                        <a:lumMod val="10000"/>
                        <a:lumOff val="90000"/>
                      </a:schemeClr>
                    </a:solidFill>
                  </a:tcPr>
                </a:tc>
                <a:tc>
                  <a:txBody>
                    <a:bodyPr/>
                    <a:lstStyle/>
                    <a:p>
                      <a:pPr algn="r" fontAlgn="b"/>
                      <a:r>
                        <a:rPr lang="en-US" sz="2500" b="0" i="0" u="none" strike="noStrike" dirty="0">
                          <a:solidFill>
                            <a:srgbClr val="000000"/>
                          </a:solidFill>
                          <a:effectLst/>
                          <a:latin typeface="Calibri" panose="020F0502020204030204" pitchFamily="34" charset="0"/>
                        </a:rPr>
                        <a:t>- 120</a:t>
                      </a:r>
                    </a:p>
                  </a:txBody>
                  <a:tcPr marL="4463" marR="4463" marT="4463" marB="0" anchor="b">
                    <a:solidFill>
                      <a:schemeClr val="tx1">
                        <a:lumMod val="10000"/>
                        <a:lumOff val="90000"/>
                      </a:schemeClr>
                    </a:solidFill>
                  </a:tcPr>
                </a:tc>
                <a:tc>
                  <a:txBody>
                    <a:bodyPr/>
                    <a:lstStyle/>
                    <a:p>
                      <a:pPr algn="l" fontAlgn="b"/>
                      <a:r>
                        <a:rPr lang="en-US" sz="2500" b="0" i="0" u="none" strike="noStrike" dirty="0">
                          <a:solidFill>
                            <a:srgbClr val="000000"/>
                          </a:solidFill>
                          <a:effectLst/>
                          <a:latin typeface="Calibri" panose="020F0502020204030204" pitchFamily="34" charset="0"/>
                        </a:rPr>
                        <a:t>  Decrease in equity</a:t>
                      </a:r>
                    </a:p>
                  </a:txBody>
                  <a:tcPr marL="4463" marR="4463" marT="4463" marB="0" anchor="b">
                    <a:solidFill>
                      <a:schemeClr val="tx1">
                        <a:lumMod val="10000"/>
                        <a:lumOff val="90000"/>
                      </a:schemeClr>
                    </a:solidFill>
                  </a:tcPr>
                </a:tc>
                <a:extLst>
                  <a:ext uri="{0D108BD9-81ED-4DB2-BD59-A6C34878D82A}">
                    <a16:rowId xmlns:a16="http://schemas.microsoft.com/office/drawing/2014/main" val="374100810"/>
                  </a:ext>
                </a:extLst>
              </a:tr>
              <a:tr h="390037">
                <a:tc>
                  <a:txBody>
                    <a:bodyPr/>
                    <a:lstStyle/>
                    <a:p>
                      <a:pPr algn="l" fontAlgn="b"/>
                      <a:r>
                        <a:rPr lang="en-US" sz="2500" b="0" i="0" u="none" strike="noStrike">
                          <a:solidFill>
                            <a:srgbClr val="000000"/>
                          </a:solidFill>
                          <a:effectLst/>
                          <a:latin typeface="Calibri" panose="020F0502020204030204" pitchFamily="34" charset="0"/>
                        </a:rPr>
                        <a:t>+ Change in liabilities</a:t>
                      </a:r>
                    </a:p>
                  </a:txBody>
                  <a:tcPr marL="4463" marR="4463" marT="4463" marB="0" anchor="b"/>
                </a:tc>
                <a:tc>
                  <a:txBody>
                    <a:bodyPr/>
                    <a:lstStyle/>
                    <a:p>
                      <a:pPr algn="r" fontAlgn="b"/>
                      <a:r>
                        <a:rPr lang="en-US" sz="2500" b="0" i="0" u="none" strike="noStrike" dirty="0">
                          <a:solidFill>
                            <a:srgbClr val="000000"/>
                          </a:solidFill>
                          <a:effectLst/>
                          <a:latin typeface="Calibri" panose="020F0502020204030204" pitchFamily="34" charset="0"/>
                        </a:rPr>
                        <a:t>155</a:t>
                      </a:r>
                    </a:p>
                  </a:txBody>
                  <a:tcPr marL="4463" marR="4463" marT="4463" marB="0" anchor="b"/>
                </a:tc>
                <a:tc>
                  <a:txBody>
                    <a:bodyPr/>
                    <a:lstStyle/>
                    <a:p>
                      <a:pPr algn="l" fontAlgn="b"/>
                      <a:r>
                        <a:rPr lang="en-US" sz="2500" b="0" i="0" u="none" strike="noStrike" dirty="0">
                          <a:solidFill>
                            <a:srgbClr val="000000"/>
                          </a:solidFill>
                          <a:effectLst/>
                          <a:latin typeface="Calibri" panose="020F0502020204030204" pitchFamily="34" charset="0"/>
                        </a:rPr>
                        <a:t>  Increase in </a:t>
                      </a:r>
                      <a:r>
                        <a:rPr lang="en-US" sz="2500" b="0" i="0" u="none" strike="noStrike" dirty="0" err="1">
                          <a:solidFill>
                            <a:srgbClr val="000000"/>
                          </a:solidFill>
                          <a:effectLst/>
                          <a:latin typeface="Calibri" panose="020F0502020204030204" pitchFamily="34" charset="0"/>
                        </a:rPr>
                        <a:t>liabiliites</a:t>
                      </a:r>
                      <a:endParaRPr lang="en-US" sz="2500" b="0" i="0" u="none" strike="noStrike" dirty="0">
                        <a:solidFill>
                          <a:srgbClr val="000000"/>
                        </a:solidFill>
                        <a:effectLst/>
                        <a:latin typeface="Calibri" panose="020F0502020204030204" pitchFamily="34" charset="0"/>
                      </a:endParaRPr>
                    </a:p>
                  </a:txBody>
                  <a:tcPr marL="4463" marR="4463" marT="4463" marB="0" anchor="b"/>
                </a:tc>
                <a:extLst>
                  <a:ext uri="{0D108BD9-81ED-4DB2-BD59-A6C34878D82A}">
                    <a16:rowId xmlns:a16="http://schemas.microsoft.com/office/drawing/2014/main" val="2877163862"/>
                  </a:ext>
                </a:extLst>
              </a:tr>
              <a:tr h="390037">
                <a:tc>
                  <a:txBody>
                    <a:bodyPr/>
                    <a:lstStyle/>
                    <a:p>
                      <a:pPr algn="l" fontAlgn="b"/>
                      <a:r>
                        <a:rPr lang="en-US" sz="2500" b="0" i="0" u="none" strike="noStrike">
                          <a:solidFill>
                            <a:srgbClr val="000000"/>
                          </a:solidFill>
                          <a:effectLst/>
                          <a:latin typeface="Calibri" panose="020F0502020204030204" pitchFamily="34" charset="0"/>
                        </a:rPr>
                        <a:t>- Change in noncash assets</a:t>
                      </a:r>
                    </a:p>
                  </a:txBody>
                  <a:tcPr marL="4463" marR="4463" marT="4463" marB="0" anchor="b">
                    <a:solidFill>
                      <a:schemeClr val="tx1">
                        <a:lumMod val="10000"/>
                        <a:lumOff val="90000"/>
                      </a:schemeClr>
                    </a:solidFill>
                  </a:tcPr>
                </a:tc>
                <a:tc>
                  <a:txBody>
                    <a:bodyPr/>
                    <a:lstStyle/>
                    <a:p>
                      <a:pPr algn="r" fontAlgn="b"/>
                      <a:r>
                        <a:rPr lang="en-US" sz="2500" b="0" i="0" u="none" strike="noStrike" dirty="0">
                          <a:solidFill>
                            <a:srgbClr val="000000"/>
                          </a:solidFill>
                          <a:effectLst/>
                          <a:latin typeface="Calibri" panose="020F0502020204030204" pitchFamily="34" charset="0"/>
                        </a:rPr>
                        <a:t>- 5</a:t>
                      </a:r>
                    </a:p>
                  </a:txBody>
                  <a:tcPr marL="4463" marR="4463" marT="4463" marB="0" anchor="b">
                    <a:solidFill>
                      <a:schemeClr val="tx1">
                        <a:lumMod val="10000"/>
                        <a:lumOff val="90000"/>
                      </a:schemeClr>
                    </a:solidFill>
                  </a:tcPr>
                </a:tc>
                <a:tc>
                  <a:txBody>
                    <a:bodyPr/>
                    <a:lstStyle/>
                    <a:p>
                      <a:pPr algn="l" fontAlgn="b"/>
                      <a:r>
                        <a:rPr lang="en-US" sz="2500" b="0" i="0" u="none" strike="noStrike" dirty="0">
                          <a:solidFill>
                            <a:srgbClr val="000000"/>
                          </a:solidFill>
                          <a:effectLst/>
                          <a:latin typeface="Calibri" panose="020F0502020204030204" pitchFamily="34" charset="0"/>
                        </a:rPr>
                        <a:t>  Increase in noncash assets</a:t>
                      </a:r>
                    </a:p>
                  </a:txBody>
                  <a:tcPr marL="4463" marR="4463" marT="4463" marB="0" anchor="b">
                    <a:solidFill>
                      <a:schemeClr val="tx1">
                        <a:lumMod val="10000"/>
                        <a:lumOff val="90000"/>
                      </a:schemeClr>
                    </a:solidFill>
                  </a:tcPr>
                </a:tc>
                <a:extLst>
                  <a:ext uri="{0D108BD9-81ED-4DB2-BD59-A6C34878D82A}">
                    <a16:rowId xmlns:a16="http://schemas.microsoft.com/office/drawing/2014/main" val="1864690327"/>
                  </a:ext>
                </a:extLst>
              </a:tr>
              <a:tr h="390037">
                <a:tc>
                  <a:txBody>
                    <a:bodyPr/>
                    <a:lstStyle/>
                    <a:p>
                      <a:pPr algn="l" fontAlgn="b"/>
                      <a:r>
                        <a:rPr lang="en-US" sz="2500" b="0" i="0" u="none" strike="noStrike" dirty="0">
                          <a:solidFill>
                            <a:srgbClr val="000000"/>
                          </a:solidFill>
                          <a:effectLst/>
                          <a:latin typeface="Calibri" panose="020F0502020204030204" pitchFamily="34" charset="0"/>
                        </a:rPr>
                        <a:t>= change in cash (i.e. total cash flow)</a:t>
                      </a:r>
                    </a:p>
                  </a:txBody>
                  <a:tcPr marL="4463" marR="4463" marT="4463" marB="0" anchor="b"/>
                </a:tc>
                <a:tc>
                  <a:txBody>
                    <a:bodyPr/>
                    <a:lstStyle/>
                    <a:p>
                      <a:pPr algn="r" fontAlgn="b"/>
                      <a:r>
                        <a:rPr lang="en-US" sz="2500" b="0" i="0" u="none" strike="noStrike" dirty="0">
                          <a:solidFill>
                            <a:srgbClr val="000000"/>
                          </a:solidFill>
                          <a:effectLst/>
                          <a:latin typeface="Calibri" panose="020F0502020204030204" pitchFamily="34" charset="0"/>
                        </a:rPr>
                        <a:t>30</a:t>
                      </a:r>
                    </a:p>
                  </a:txBody>
                  <a:tcPr marL="4463" marR="4463" marT="4463" marB="0" anchor="b"/>
                </a:tc>
                <a:tc>
                  <a:txBody>
                    <a:bodyPr/>
                    <a:lstStyle/>
                    <a:p>
                      <a:pPr algn="l" fontAlgn="b"/>
                      <a:r>
                        <a:rPr lang="en-US" sz="2500" b="0" i="0" u="none" strike="noStrike" dirty="0">
                          <a:solidFill>
                            <a:srgbClr val="000000"/>
                          </a:solidFill>
                          <a:effectLst/>
                          <a:latin typeface="Calibri" panose="020F0502020204030204" pitchFamily="34" charset="0"/>
                        </a:rPr>
                        <a:t>  Positive cash flow</a:t>
                      </a:r>
                    </a:p>
                  </a:txBody>
                  <a:tcPr marL="4463" marR="4463" marT="4463" marB="0" anchor="b"/>
                </a:tc>
                <a:extLst>
                  <a:ext uri="{0D108BD9-81ED-4DB2-BD59-A6C34878D82A}">
                    <a16:rowId xmlns:a16="http://schemas.microsoft.com/office/drawing/2014/main" val="1395014584"/>
                  </a:ext>
                </a:extLst>
              </a:tr>
            </a:tbl>
          </a:graphicData>
        </a:graphic>
      </p:graphicFrame>
      <p:sp>
        <p:nvSpPr>
          <p:cNvPr id="8" name="TextBox 7">
            <a:extLst>
              <a:ext uri="{FF2B5EF4-FFF2-40B4-BE49-F238E27FC236}">
                <a16:creationId xmlns:a16="http://schemas.microsoft.com/office/drawing/2014/main" id="{E0650B5D-252E-11AC-5D0F-3172EF39DFE0}"/>
              </a:ext>
            </a:extLst>
          </p:cNvPr>
          <p:cNvSpPr txBox="1"/>
          <p:nvPr/>
        </p:nvSpPr>
        <p:spPr>
          <a:xfrm>
            <a:off x="793648" y="4366777"/>
            <a:ext cx="10966906" cy="1822935"/>
          </a:xfrm>
          <a:prstGeom prst="rect">
            <a:avLst/>
          </a:prstGeom>
          <a:solidFill>
            <a:schemeClr val="accent4">
              <a:lumMod val="40000"/>
              <a:lumOff val="60000"/>
            </a:schemeClr>
          </a:solidFill>
        </p:spPr>
        <p:txBody>
          <a:bodyPr wrap="square" rtlCol="0">
            <a:spAutoFit/>
          </a:bodyPr>
          <a:lstStyle/>
          <a:p>
            <a:r>
              <a:rPr lang="fr-FR" sz="2249" b="1" dirty="0"/>
              <a:t>Change in </a:t>
            </a:r>
            <a:r>
              <a:rPr lang="fr-FR" sz="2249" b="1" dirty="0" err="1"/>
              <a:t>equity</a:t>
            </a:r>
            <a:r>
              <a:rPr lang="fr-FR" sz="2249" b="1" dirty="0"/>
              <a:t> = </a:t>
            </a:r>
            <a:r>
              <a:rPr lang="fr-FR" sz="2249" dirty="0"/>
              <a:t>Net profit/(</a:t>
            </a:r>
            <a:r>
              <a:rPr lang="fr-FR" sz="2249" dirty="0" err="1"/>
              <a:t>loss</a:t>
            </a:r>
            <a:r>
              <a:rPr lang="fr-FR" sz="2249" dirty="0"/>
              <a:t>): -120</a:t>
            </a:r>
          </a:p>
          <a:p>
            <a:r>
              <a:rPr lang="fr-FR" sz="2249" b="1" dirty="0"/>
              <a:t>Change in </a:t>
            </a:r>
            <a:r>
              <a:rPr lang="fr-FR" sz="2249" b="1" dirty="0" err="1"/>
              <a:t>liabilities</a:t>
            </a:r>
            <a:r>
              <a:rPr lang="fr-FR" sz="2249" b="1" dirty="0"/>
              <a:t> = </a:t>
            </a:r>
            <a:r>
              <a:rPr lang="fr-FR" sz="2249" dirty="0" err="1"/>
              <a:t>Increase</a:t>
            </a:r>
            <a:r>
              <a:rPr lang="fr-FR" sz="2249" dirty="0"/>
              <a:t> in </a:t>
            </a:r>
            <a:r>
              <a:rPr lang="fr-FR" sz="2249" dirty="0" err="1"/>
              <a:t>accounts</a:t>
            </a:r>
            <a:r>
              <a:rPr lang="fr-FR" sz="2249" dirty="0"/>
              <a:t> payable + </a:t>
            </a:r>
            <a:r>
              <a:rPr lang="fr-FR" sz="2249" dirty="0" err="1"/>
              <a:t>Increase</a:t>
            </a:r>
            <a:r>
              <a:rPr lang="fr-FR" sz="2249" dirty="0"/>
              <a:t> in </a:t>
            </a:r>
            <a:r>
              <a:rPr lang="fr-FR" sz="2249" dirty="0" err="1"/>
              <a:t>accrued</a:t>
            </a:r>
            <a:r>
              <a:rPr lang="fr-FR" sz="2249" dirty="0"/>
              <a:t> </a:t>
            </a:r>
            <a:r>
              <a:rPr lang="fr-FR" sz="2249" dirty="0" err="1"/>
              <a:t>expenses</a:t>
            </a:r>
            <a:r>
              <a:rPr lang="fr-FR" sz="2249" dirty="0"/>
              <a:t> + New </a:t>
            </a:r>
            <a:r>
              <a:rPr lang="fr-FR" sz="2249" dirty="0" err="1"/>
              <a:t>debt</a:t>
            </a:r>
            <a:r>
              <a:rPr lang="fr-FR" sz="2249" dirty="0"/>
              <a:t> : 45 + 50 + 60 = 155 </a:t>
            </a:r>
          </a:p>
          <a:p>
            <a:r>
              <a:rPr lang="fr-FR" sz="2249" b="1" dirty="0"/>
              <a:t>Change in </a:t>
            </a:r>
            <a:r>
              <a:rPr lang="fr-FR" sz="2249" b="1" dirty="0" err="1"/>
              <a:t>noncash</a:t>
            </a:r>
            <a:r>
              <a:rPr lang="fr-FR" sz="2249" b="1" dirty="0"/>
              <a:t> assets = </a:t>
            </a:r>
            <a:r>
              <a:rPr lang="fr-FR" sz="2249" dirty="0"/>
              <a:t>– D&amp;A </a:t>
            </a:r>
            <a:r>
              <a:rPr lang="fr-FR" sz="2249" dirty="0" err="1"/>
              <a:t>expense</a:t>
            </a:r>
            <a:r>
              <a:rPr lang="fr-FR" sz="2249" dirty="0"/>
              <a:t> + Investment in intangible assets – </a:t>
            </a:r>
            <a:r>
              <a:rPr lang="fr-FR" sz="2249" dirty="0" err="1"/>
              <a:t>Decrease</a:t>
            </a:r>
            <a:r>
              <a:rPr lang="fr-FR" sz="2249" dirty="0"/>
              <a:t> in inventories: -25 + 60 – 30 = 5</a:t>
            </a:r>
          </a:p>
        </p:txBody>
      </p:sp>
      <p:sp>
        <p:nvSpPr>
          <p:cNvPr id="9" name="TextBox 8">
            <a:extLst>
              <a:ext uri="{FF2B5EF4-FFF2-40B4-BE49-F238E27FC236}">
                <a16:creationId xmlns:a16="http://schemas.microsoft.com/office/drawing/2014/main" id="{037F1F98-2367-E211-CF3E-77B899E6CDE7}"/>
              </a:ext>
            </a:extLst>
          </p:cNvPr>
          <p:cNvSpPr txBox="1"/>
          <p:nvPr/>
        </p:nvSpPr>
        <p:spPr>
          <a:xfrm>
            <a:off x="3525505" y="1749991"/>
            <a:ext cx="5515854" cy="481670"/>
          </a:xfrm>
          <a:prstGeom prst="rect">
            <a:avLst/>
          </a:prstGeom>
          <a:solidFill>
            <a:schemeClr val="accent1">
              <a:lumMod val="10000"/>
              <a:lumOff val="90000"/>
            </a:schemeClr>
          </a:solidFill>
        </p:spPr>
        <p:txBody>
          <a:bodyPr wrap="square" rtlCol="0">
            <a:spAutoFit/>
          </a:bodyPr>
          <a:lstStyle/>
          <a:p>
            <a:pPr algn="ctr"/>
            <a:r>
              <a:rPr lang="fr-FR" sz="2530" dirty="0" err="1"/>
              <a:t>Other</a:t>
            </a:r>
            <a:r>
              <a:rPr lang="fr-FR" sz="2530" dirty="0"/>
              <a:t> </a:t>
            </a:r>
            <a:r>
              <a:rPr lang="fr-FR" sz="2530" dirty="0" err="1"/>
              <a:t>presentation</a:t>
            </a:r>
            <a:r>
              <a:rPr lang="fr-FR" sz="2530" dirty="0"/>
              <a:t> of the </a:t>
            </a:r>
            <a:r>
              <a:rPr lang="fr-FR" sz="2530" dirty="0" err="1"/>
              <a:t>calculation</a:t>
            </a:r>
            <a:endParaRPr lang="en-US" sz="2530" dirty="0"/>
          </a:p>
        </p:txBody>
      </p:sp>
    </p:spTree>
    <p:extLst>
      <p:ext uri="{BB962C8B-B14F-4D97-AF65-F5344CB8AC3E}">
        <p14:creationId xmlns:p14="http://schemas.microsoft.com/office/powerpoint/2010/main" val="34594001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38969-3A1A-AE2A-57EF-DEB979BAAE5A}"/>
              </a:ext>
            </a:extLst>
          </p:cNvPr>
          <p:cNvSpPr>
            <a:spLocks noGrp="1"/>
          </p:cNvSpPr>
          <p:nvPr>
            <p:ph type="ctrTitle"/>
          </p:nvPr>
        </p:nvSpPr>
        <p:spPr/>
        <p:txBody>
          <a:bodyPr/>
          <a:lstStyle/>
          <a:p>
            <a:r>
              <a:rPr lang="en-US" dirty="0"/>
              <a:t>Transactions and impacts on balance sheet: examples</a:t>
            </a:r>
          </a:p>
        </p:txBody>
      </p:sp>
      <p:sp>
        <p:nvSpPr>
          <p:cNvPr id="3" name="Subtitle 2">
            <a:extLst>
              <a:ext uri="{FF2B5EF4-FFF2-40B4-BE49-F238E27FC236}">
                <a16:creationId xmlns:a16="http://schemas.microsoft.com/office/drawing/2014/main" id="{66ABF4D9-0684-EE3B-2561-D1C3898C3EAA}"/>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3052798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42EF0-10FE-DF0A-FED8-6CD047751E0F}"/>
              </a:ext>
            </a:extLst>
          </p:cNvPr>
          <p:cNvSpPr>
            <a:spLocks noGrp="1"/>
          </p:cNvSpPr>
          <p:nvPr>
            <p:ph type="title"/>
          </p:nvPr>
        </p:nvSpPr>
        <p:spPr>
          <a:xfrm>
            <a:off x="656844" y="487045"/>
            <a:ext cx="10829544" cy="631541"/>
          </a:xfrm>
        </p:spPr>
        <p:txBody>
          <a:bodyPr/>
          <a:lstStyle/>
          <a:p>
            <a:r>
              <a:rPr lang="en-US" dirty="0"/>
              <a:t>5 categories directly visible in the balance sheet</a:t>
            </a:r>
          </a:p>
        </p:txBody>
      </p:sp>
      <p:sp>
        <p:nvSpPr>
          <p:cNvPr id="4" name="Slide Number Placeholder 3">
            <a:extLst>
              <a:ext uri="{FF2B5EF4-FFF2-40B4-BE49-F238E27FC236}">
                <a16:creationId xmlns:a16="http://schemas.microsoft.com/office/drawing/2014/main" id="{2EFFE8D2-C5B6-E4EA-6966-9B70F742A708}"/>
              </a:ext>
            </a:extLst>
          </p:cNvPr>
          <p:cNvSpPr>
            <a:spLocks noGrp="1"/>
          </p:cNvSpPr>
          <p:nvPr>
            <p:ph type="sldNum" sz="quarter" idx="10"/>
          </p:nvPr>
        </p:nvSpPr>
        <p:spPr/>
        <p:txBody>
          <a:bodyPr/>
          <a:lstStyle/>
          <a:p>
            <a:fld id="{421B1A79-1F45-8F4F-AED5-0EE30DCF0380}" type="slidenum">
              <a:rPr lang="fr-FR" smtClean="0"/>
              <a:t>48</a:t>
            </a:fld>
            <a:endParaRPr lang="fr-FR"/>
          </a:p>
        </p:txBody>
      </p:sp>
      <p:sp>
        <p:nvSpPr>
          <p:cNvPr id="5" name="Subtitle 3">
            <a:extLst>
              <a:ext uri="{FF2B5EF4-FFF2-40B4-BE49-F238E27FC236}">
                <a16:creationId xmlns:a16="http://schemas.microsoft.com/office/drawing/2014/main" id="{1614B744-90FA-9649-1D70-48867712F291}"/>
              </a:ext>
            </a:extLst>
          </p:cNvPr>
          <p:cNvSpPr txBox="1">
            <a:spLocks/>
          </p:cNvSpPr>
          <p:nvPr/>
        </p:nvSpPr>
        <p:spPr>
          <a:xfrm>
            <a:off x="487030" y="978013"/>
            <a:ext cx="11270759" cy="96884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400" b="1" kern="1200">
                <a:solidFill>
                  <a:schemeClr val="tx1"/>
                </a:solidFill>
                <a:latin typeface="Arial Nova"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i="1" kern="1200">
                <a:solidFill>
                  <a:schemeClr val="tx1"/>
                </a:solidFill>
                <a:latin typeface="Arial Nova Cond" panose="020B0506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i="1" kern="1200">
                <a:solidFill>
                  <a:srgbClr val="22398E"/>
                </a:solidFill>
                <a:latin typeface="Arial Nova Cond" panose="020B0506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Balance sheet classification: 5 categories (CA + NCA = CL + NCL + E) impose to distinguish long-term and short-term</a:t>
            </a:r>
            <a:endParaRPr lang="en-US" dirty="0"/>
          </a:p>
        </p:txBody>
      </p:sp>
      <p:sp>
        <p:nvSpPr>
          <p:cNvPr id="6" name="TextBox 5">
            <a:extLst>
              <a:ext uri="{FF2B5EF4-FFF2-40B4-BE49-F238E27FC236}">
                <a16:creationId xmlns:a16="http://schemas.microsoft.com/office/drawing/2014/main" id="{F9C7C09A-34CA-9C88-7D9C-4AE7F838D658}"/>
              </a:ext>
            </a:extLst>
          </p:cNvPr>
          <p:cNvSpPr txBox="1"/>
          <p:nvPr/>
        </p:nvSpPr>
        <p:spPr>
          <a:xfrm>
            <a:off x="338248" y="5461264"/>
            <a:ext cx="11515581" cy="1199944"/>
          </a:xfrm>
          <a:prstGeom prst="rect">
            <a:avLst/>
          </a:prstGeom>
          <a:solidFill>
            <a:schemeClr val="bg1">
              <a:lumMod val="95000"/>
            </a:schemeClr>
          </a:solidFill>
        </p:spPr>
        <p:txBody>
          <a:bodyPr wrap="square" rtlCol="0">
            <a:spAutoFit/>
          </a:bodyPr>
          <a:lstStyle/>
          <a:p>
            <a:r>
              <a:rPr lang="en-US" sz="2399" dirty="0"/>
              <a:t>In the balance sheet, short-term (or current) is less than one year and long-term (or non-current) is more than one year (if the operating cycle of the company lasts less than one year). </a:t>
            </a:r>
          </a:p>
        </p:txBody>
      </p:sp>
      <p:grpSp>
        <p:nvGrpSpPr>
          <p:cNvPr id="7" name="Group 6">
            <a:extLst>
              <a:ext uri="{FF2B5EF4-FFF2-40B4-BE49-F238E27FC236}">
                <a16:creationId xmlns:a16="http://schemas.microsoft.com/office/drawing/2014/main" id="{3A90E4DE-71F6-F438-CF57-3567A8888FE2}"/>
              </a:ext>
            </a:extLst>
          </p:cNvPr>
          <p:cNvGrpSpPr/>
          <p:nvPr/>
        </p:nvGrpSpPr>
        <p:grpSpPr>
          <a:xfrm>
            <a:off x="626064" y="2008888"/>
            <a:ext cx="10939874" cy="3212387"/>
            <a:chOff x="35496" y="1347614"/>
            <a:chExt cx="8208912" cy="2410467"/>
          </a:xfrm>
        </p:grpSpPr>
        <p:sp>
          <p:nvSpPr>
            <p:cNvPr id="8" name="TextBox 7">
              <a:extLst>
                <a:ext uri="{FF2B5EF4-FFF2-40B4-BE49-F238E27FC236}">
                  <a16:creationId xmlns:a16="http://schemas.microsoft.com/office/drawing/2014/main" id="{1F3021E4-7477-9DE0-3817-CDCDB036B086}"/>
                </a:ext>
              </a:extLst>
            </p:cNvPr>
            <p:cNvSpPr txBox="1"/>
            <p:nvPr/>
          </p:nvSpPr>
          <p:spPr>
            <a:xfrm>
              <a:off x="611560" y="1347614"/>
              <a:ext cx="1440160" cy="807827"/>
            </a:xfrm>
            <a:prstGeom prst="rect">
              <a:avLst/>
            </a:prstGeom>
            <a:noFill/>
          </p:spPr>
          <p:txBody>
            <a:bodyPr wrap="square" rtlCol="0">
              <a:spAutoFit/>
            </a:bodyPr>
            <a:lstStyle/>
            <a:p>
              <a:pPr algn="ctr"/>
              <a:r>
                <a:rPr lang="en-US" sz="3198" dirty="0"/>
                <a:t>Assets (A)</a:t>
              </a:r>
            </a:p>
          </p:txBody>
        </p:sp>
        <p:sp>
          <p:nvSpPr>
            <p:cNvPr id="9" name="TextBox 8">
              <a:extLst>
                <a:ext uri="{FF2B5EF4-FFF2-40B4-BE49-F238E27FC236}">
                  <a16:creationId xmlns:a16="http://schemas.microsoft.com/office/drawing/2014/main" id="{9311A9D6-6CD5-D00E-383B-CE76FB5474E9}"/>
                </a:ext>
              </a:extLst>
            </p:cNvPr>
            <p:cNvSpPr txBox="1"/>
            <p:nvPr/>
          </p:nvSpPr>
          <p:spPr>
            <a:xfrm>
              <a:off x="2123728" y="1347614"/>
              <a:ext cx="1296144" cy="438555"/>
            </a:xfrm>
            <a:prstGeom prst="rect">
              <a:avLst/>
            </a:prstGeom>
            <a:noFill/>
          </p:spPr>
          <p:txBody>
            <a:bodyPr wrap="square" rtlCol="0">
              <a:spAutoFit/>
            </a:bodyPr>
            <a:lstStyle/>
            <a:p>
              <a:pPr algn="ctr"/>
              <a:r>
                <a:rPr lang="en-US" sz="3198" dirty="0"/>
                <a:t>=</a:t>
              </a:r>
            </a:p>
          </p:txBody>
        </p:sp>
        <p:sp>
          <p:nvSpPr>
            <p:cNvPr id="10" name="TextBox 9">
              <a:extLst>
                <a:ext uri="{FF2B5EF4-FFF2-40B4-BE49-F238E27FC236}">
                  <a16:creationId xmlns:a16="http://schemas.microsoft.com/office/drawing/2014/main" id="{6F339105-5841-DF7D-520F-28FE047F7AA9}"/>
                </a:ext>
              </a:extLst>
            </p:cNvPr>
            <p:cNvSpPr txBox="1"/>
            <p:nvPr/>
          </p:nvSpPr>
          <p:spPr>
            <a:xfrm>
              <a:off x="6804248" y="1347614"/>
              <a:ext cx="1440160" cy="807827"/>
            </a:xfrm>
            <a:prstGeom prst="rect">
              <a:avLst/>
            </a:prstGeom>
            <a:noFill/>
          </p:spPr>
          <p:txBody>
            <a:bodyPr wrap="square" rtlCol="0">
              <a:spAutoFit/>
            </a:bodyPr>
            <a:lstStyle/>
            <a:p>
              <a:pPr algn="ctr"/>
              <a:r>
                <a:rPr lang="en-US" sz="3198" dirty="0"/>
                <a:t>Equity (E)</a:t>
              </a:r>
            </a:p>
          </p:txBody>
        </p:sp>
        <p:sp>
          <p:nvSpPr>
            <p:cNvPr id="11" name="TextBox 10">
              <a:extLst>
                <a:ext uri="{FF2B5EF4-FFF2-40B4-BE49-F238E27FC236}">
                  <a16:creationId xmlns:a16="http://schemas.microsoft.com/office/drawing/2014/main" id="{86700533-B37B-213D-D530-A5B6E06CAE0C}"/>
                </a:ext>
              </a:extLst>
            </p:cNvPr>
            <p:cNvSpPr txBox="1"/>
            <p:nvPr/>
          </p:nvSpPr>
          <p:spPr>
            <a:xfrm>
              <a:off x="3491880" y="1347614"/>
              <a:ext cx="1800200" cy="807827"/>
            </a:xfrm>
            <a:prstGeom prst="rect">
              <a:avLst/>
            </a:prstGeom>
            <a:noFill/>
          </p:spPr>
          <p:txBody>
            <a:bodyPr wrap="square" rtlCol="0">
              <a:spAutoFit/>
            </a:bodyPr>
            <a:lstStyle/>
            <a:p>
              <a:pPr algn="ctr"/>
              <a:r>
                <a:rPr lang="en-US" sz="3198" dirty="0"/>
                <a:t>Liabilities (L)</a:t>
              </a:r>
            </a:p>
          </p:txBody>
        </p:sp>
        <p:sp>
          <p:nvSpPr>
            <p:cNvPr id="12" name="TextBox 11">
              <a:extLst>
                <a:ext uri="{FF2B5EF4-FFF2-40B4-BE49-F238E27FC236}">
                  <a16:creationId xmlns:a16="http://schemas.microsoft.com/office/drawing/2014/main" id="{3A44E799-93BC-9BAA-9FE6-94C9E68E593E}"/>
                </a:ext>
              </a:extLst>
            </p:cNvPr>
            <p:cNvSpPr txBox="1"/>
            <p:nvPr/>
          </p:nvSpPr>
          <p:spPr>
            <a:xfrm>
              <a:off x="5364088" y="1347614"/>
              <a:ext cx="1296144" cy="438555"/>
            </a:xfrm>
            <a:prstGeom prst="rect">
              <a:avLst/>
            </a:prstGeom>
            <a:noFill/>
          </p:spPr>
          <p:txBody>
            <a:bodyPr wrap="square" rtlCol="0">
              <a:spAutoFit/>
            </a:bodyPr>
            <a:lstStyle/>
            <a:p>
              <a:pPr algn="ctr"/>
              <a:r>
                <a:rPr lang="en-US" sz="3198" dirty="0"/>
                <a:t>+</a:t>
              </a:r>
            </a:p>
          </p:txBody>
        </p:sp>
        <p:sp>
          <p:nvSpPr>
            <p:cNvPr id="13" name="TextBox 12">
              <a:extLst>
                <a:ext uri="{FF2B5EF4-FFF2-40B4-BE49-F238E27FC236}">
                  <a16:creationId xmlns:a16="http://schemas.microsoft.com/office/drawing/2014/main" id="{12F9737D-8FFE-A8AB-89D1-D6ADFD10DA47}"/>
                </a:ext>
              </a:extLst>
            </p:cNvPr>
            <p:cNvSpPr txBox="1"/>
            <p:nvPr/>
          </p:nvSpPr>
          <p:spPr>
            <a:xfrm>
              <a:off x="35496" y="2211710"/>
              <a:ext cx="1374888" cy="1177099"/>
            </a:xfrm>
            <a:prstGeom prst="rect">
              <a:avLst/>
            </a:prstGeom>
            <a:noFill/>
          </p:spPr>
          <p:txBody>
            <a:bodyPr wrap="square" rtlCol="0">
              <a:spAutoFit/>
            </a:bodyPr>
            <a:lstStyle/>
            <a:p>
              <a:pPr algn="ctr"/>
              <a:r>
                <a:rPr lang="en-US" sz="3198" dirty="0"/>
                <a:t>Current Assets (CA)</a:t>
              </a:r>
            </a:p>
          </p:txBody>
        </p:sp>
        <p:sp>
          <p:nvSpPr>
            <p:cNvPr id="14" name="Arrow: Down 13">
              <a:extLst>
                <a:ext uri="{FF2B5EF4-FFF2-40B4-BE49-F238E27FC236}">
                  <a16:creationId xmlns:a16="http://schemas.microsoft.com/office/drawing/2014/main" id="{15BB9006-CA83-C18A-5D6A-F2EDCC71B7EA}"/>
                </a:ext>
              </a:extLst>
            </p:cNvPr>
            <p:cNvSpPr/>
            <p:nvPr/>
          </p:nvSpPr>
          <p:spPr>
            <a:xfrm rot="12735684">
              <a:off x="818120" y="1881287"/>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15" name="Arrow: Down 14">
              <a:extLst>
                <a:ext uri="{FF2B5EF4-FFF2-40B4-BE49-F238E27FC236}">
                  <a16:creationId xmlns:a16="http://schemas.microsoft.com/office/drawing/2014/main" id="{43C60E8B-AEE1-6652-C4B7-9839C9E2FB0C}"/>
                </a:ext>
              </a:extLst>
            </p:cNvPr>
            <p:cNvSpPr/>
            <p:nvPr/>
          </p:nvSpPr>
          <p:spPr>
            <a:xfrm rot="8684022">
              <a:off x="1568911" y="1882988"/>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16" name="TextBox 15">
              <a:extLst>
                <a:ext uri="{FF2B5EF4-FFF2-40B4-BE49-F238E27FC236}">
                  <a16:creationId xmlns:a16="http://schemas.microsoft.com/office/drawing/2014/main" id="{6C116FDC-98EC-7E91-199A-93414E9BAB49}"/>
                </a:ext>
              </a:extLst>
            </p:cNvPr>
            <p:cNvSpPr txBox="1"/>
            <p:nvPr/>
          </p:nvSpPr>
          <p:spPr>
            <a:xfrm>
              <a:off x="1403648" y="2211710"/>
              <a:ext cx="1584176" cy="1546370"/>
            </a:xfrm>
            <a:prstGeom prst="rect">
              <a:avLst/>
            </a:prstGeom>
            <a:noFill/>
          </p:spPr>
          <p:txBody>
            <a:bodyPr wrap="square" rtlCol="0">
              <a:spAutoFit/>
            </a:bodyPr>
            <a:lstStyle/>
            <a:p>
              <a:pPr algn="ctr"/>
              <a:r>
                <a:rPr lang="en-US" sz="3198" dirty="0"/>
                <a:t>Non-Current Assets (NCA)</a:t>
              </a:r>
            </a:p>
          </p:txBody>
        </p:sp>
        <p:sp>
          <p:nvSpPr>
            <p:cNvPr id="17" name="TextBox 16">
              <a:extLst>
                <a:ext uri="{FF2B5EF4-FFF2-40B4-BE49-F238E27FC236}">
                  <a16:creationId xmlns:a16="http://schemas.microsoft.com/office/drawing/2014/main" id="{B6E3E078-38CC-C1C8-CC7D-0934F9A3E2CE}"/>
                </a:ext>
              </a:extLst>
            </p:cNvPr>
            <p:cNvSpPr txBox="1"/>
            <p:nvPr/>
          </p:nvSpPr>
          <p:spPr>
            <a:xfrm>
              <a:off x="3081079" y="2211710"/>
              <a:ext cx="1425649" cy="1177099"/>
            </a:xfrm>
            <a:prstGeom prst="rect">
              <a:avLst/>
            </a:prstGeom>
            <a:noFill/>
          </p:spPr>
          <p:txBody>
            <a:bodyPr wrap="square" rtlCol="0">
              <a:spAutoFit/>
            </a:bodyPr>
            <a:lstStyle/>
            <a:p>
              <a:pPr algn="ctr"/>
              <a:r>
                <a:rPr lang="en-US" sz="3198" dirty="0"/>
                <a:t>Current Liabilities (CL)</a:t>
              </a:r>
            </a:p>
          </p:txBody>
        </p:sp>
        <p:sp>
          <p:nvSpPr>
            <p:cNvPr id="18" name="Arrow: Down 17">
              <a:extLst>
                <a:ext uri="{FF2B5EF4-FFF2-40B4-BE49-F238E27FC236}">
                  <a16:creationId xmlns:a16="http://schemas.microsoft.com/office/drawing/2014/main" id="{8538C831-958E-BE67-90B5-D1B5D7CA793A}"/>
                </a:ext>
              </a:extLst>
            </p:cNvPr>
            <p:cNvSpPr/>
            <p:nvPr/>
          </p:nvSpPr>
          <p:spPr>
            <a:xfrm rot="12735684">
              <a:off x="3914464" y="1904025"/>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19" name="Arrow: Down 18">
              <a:extLst>
                <a:ext uri="{FF2B5EF4-FFF2-40B4-BE49-F238E27FC236}">
                  <a16:creationId xmlns:a16="http://schemas.microsoft.com/office/drawing/2014/main" id="{D03F7B78-D20B-E8CE-0793-6BF1A4B39A12}"/>
                </a:ext>
              </a:extLst>
            </p:cNvPr>
            <p:cNvSpPr/>
            <p:nvPr/>
          </p:nvSpPr>
          <p:spPr>
            <a:xfrm rot="8684022">
              <a:off x="4572000" y="1905726"/>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20" name="TextBox 19">
              <a:extLst>
                <a:ext uri="{FF2B5EF4-FFF2-40B4-BE49-F238E27FC236}">
                  <a16:creationId xmlns:a16="http://schemas.microsoft.com/office/drawing/2014/main" id="{C690FFED-8FE7-104C-68E4-9B672BD66C49}"/>
                </a:ext>
              </a:extLst>
            </p:cNvPr>
            <p:cNvSpPr txBox="1"/>
            <p:nvPr/>
          </p:nvSpPr>
          <p:spPr>
            <a:xfrm>
              <a:off x="4499992" y="2211710"/>
              <a:ext cx="1584176" cy="1546371"/>
            </a:xfrm>
            <a:prstGeom prst="rect">
              <a:avLst/>
            </a:prstGeom>
            <a:noFill/>
          </p:spPr>
          <p:txBody>
            <a:bodyPr wrap="square" rtlCol="0">
              <a:spAutoFit/>
            </a:bodyPr>
            <a:lstStyle/>
            <a:p>
              <a:pPr algn="ctr"/>
              <a:r>
                <a:rPr lang="en-US" sz="3198" dirty="0"/>
                <a:t>Non-Current Liabilities (NCL)</a:t>
              </a:r>
            </a:p>
          </p:txBody>
        </p:sp>
      </p:grpSp>
    </p:spTree>
    <p:extLst>
      <p:ext uri="{BB962C8B-B14F-4D97-AF65-F5344CB8AC3E}">
        <p14:creationId xmlns:p14="http://schemas.microsoft.com/office/powerpoint/2010/main" val="1240465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4AF4C-08B3-B072-7048-9906BCA822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137C96-B74E-5D98-73E3-42F211D279D5}"/>
              </a:ext>
            </a:extLst>
          </p:cNvPr>
          <p:cNvSpPr>
            <a:spLocks noGrp="1"/>
          </p:cNvSpPr>
          <p:nvPr>
            <p:ph type="title"/>
          </p:nvPr>
        </p:nvSpPr>
        <p:spPr>
          <a:xfrm>
            <a:off x="656844" y="487045"/>
            <a:ext cx="10829544" cy="631541"/>
          </a:xfrm>
        </p:spPr>
        <p:txBody>
          <a:bodyPr/>
          <a:lstStyle/>
          <a:p>
            <a:r>
              <a:rPr lang="en-US" dirty="0"/>
              <a:t>5 categories directly visible in the balance sheet</a:t>
            </a:r>
          </a:p>
        </p:txBody>
      </p:sp>
      <p:sp>
        <p:nvSpPr>
          <p:cNvPr id="4" name="Slide Number Placeholder 3">
            <a:extLst>
              <a:ext uri="{FF2B5EF4-FFF2-40B4-BE49-F238E27FC236}">
                <a16:creationId xmlns:a16="http://schemas.microsoft.com/office/drawing/2014/main" id="{B927C475-EF4D-CDDD-17CB-F7251745A71A}"/>
              </a:ext>
            </a:extLst>
          </p:cNvPr>
          <p:cNvSpPr>
            <a:spLocks noGrp="1"/>
          </p:cNvSpPr>
          <p:nvPr>
            <p:ph type="sldNum" sz="quarter" idx="10"/>
          </p:nvPr>
        </p:nvSpPr>
        <p:spPr/>
        <p:txBody>
          <a:bodyPr/>
          <a:lstStyle/>
          <a:p>
            <a:fld id="{421B1A79-1F45-8F4F-AED5-0EE30DCF0380}" type="slidenum">
              <a:rPr lang="fr-FR" smtClean="0"/>
              <a:t>49</a:t>
            </a:fld>
            <a:endParaRPr lang="fr-FR"/>
          </a:p>
        </p:txBody>
      </p:sp>
      <p:sp>
        <p:nvSpPr>
          <p:cNvPr id="5" name="Subtitle 3">
            <a:extLst>
              <a:ext uri="{FF2B5EF4-FFF2-40B4-BE49-F238E27FC236}">
                <a16:creationId xmlns:a16="http://schemas.microsoft.com/office/drawing/2014/main" id="{4AEBA69C-1A78-5831-4E07-679A5A9019D4}"/>
              </a:ext>
            </a:extLst>
          </p:cNvPr>
          <p:cNvSpPr txBox="1">
            <a:spLocks/>
          </p:cNvSpPr>
          <p:nvPr/>
        </p:nvSpPr>
        <p:spPr>
          <a:xfrm>
            <a:off x="487030" y="978013"/>
            <a:ext cx="11270759" cy="96884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400" b="1" kern="1200">
                <a:solidFill>
                  <a:schemeClr val="tx1"/>
                </a:solidFill>
                <a:latin typeface="Arial Nova"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i="1" kern="1200">
                <a:solidFill>
                  <a:schemeClr val="tx1"/>
                </a:solidFill>
                <a:latin typeface="Arial Nova Cond" panose="020B0506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i="1" kern="1200">
                <a:solidFill>
                  <a:srgbClr val="22398E"/>
                </a:solidFill>
                <a:latin typeface="Arial Nova Cond" panose="020B0506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Balance sheet classification: 5 categories (CA + NCA = CL + NCL + E) impose to distinguish long-term and short-term</a:t>
            </a:r>
            <a:endParaRPr lang="en-US" dirty="0"/>
          </a:p>
        </p:txBody>
      </p:sp>
      <p:grpSp>
        <p:nvGrpSpPr>
          <p:cNvPr id="7" name="Group 6">
            <a:extLst>
              <a:ext uri="{FF2B5EF4-FFF2-40B4-BE49-F238E27FC236}">
                <a16:creationId xmlns:a16="http://schemas.microsoft.com/office/drawing/2014/main" id="{4440F1D8-815E-3788-7C77-BEF4F8D4538B}"/>
              </a:ext>
            </a:extLst>
          </p:cNvPr>
          <p:cNvGrpSpPr/>
          <p:nvPr/>
        </p:nvGrpSpPr>
        <p:grpSpPr>
          <a:xfrm>
            <a:off x="626064" y="2008888"/>
            <a:ext cx="10939874" cy="3212387"/>
            <a:chOff x="35496" y="1347614"/>
            <a:chExt cx="8208912" cy="2410467"/>
          </a:xfrm>
        </p:grpSpPr>
        <p:sp>
          <p:nvSpPr>
            <p:cNvPr id="8" name="TextBox 7">
              <a:extLst>
                <a:ext uri="{FF2B5EF4-FFF2-40B4-BE49-F238E27FC236}">
                  <a16:creationId xmlns:a16="http://schemas.microsoft.com/office/drawing/2014/main" id="{D5CED891-C961-28CC-C7A5-FFDBB760C1A1}"/>
                </a:ext>
              </a:extLst>
            </p:cNvPr>
            <p:cNvSpPr txBox="1"/>
            <p:nvPr/>
          </p:nvSpPr>
          <p:spPr>
            <a:xfrm>
              <a:off x="611560" y="1347614"/>
              <a:ext cx="1440160" cy="807827"/>
            </a:xfrm>
            <a:prstGeom prst="rect">
              <a:avLst/>
            </a:prstGeom>
            <a:noFill/>
          </p:spPr>
          <p:txBody>
            <a:bodyPr wrap="square" rtlCol="0">
              <a:spAutoFit/>
            </a:bodyPr>
            <a:lstStyle/>
            <a:p>
              <a:pPr algn="ctr"/>
              <a:r>
                <a:rPr lang="en-US" sz="3198" dirty="0"/>
                <a:t>Assets (A)</a:t>
              </a:r>
            </a:p>
          </p:txBody>
        </p:sp>
        <p:sp>
          <p:nvSpPr>
            <p:cNvPr id="9" name="TextBox 8">
              <a:extLst>
                <a:ext uri="{FF2B5EF4-FFF2-40B4-BE49-F238E27FC236}">
                  <a16:creationId xmlns:a16="http://schemas.microsoft.com/office/drawing/2014/main" id="{F8134BF8-872C-259C-6911-55AE2CD3A848}"/>
                </a:ext>
              </a:extLst>
            </p:cNvPr>
            <p:cNvSpPr txBox="1"/>
            <p:nvPr/>
          </p:nvSpPr>
          <p:spPr>
            <a:xfrm>
              <a:off x="2123728" y="1347614"/>
              <a:ext cx="1296144" cy="438555"/>
            </a:xfrm>
            <a:prstGeom prst="rect">
              <a:avLst/>
            </a:prstGeom>
            <a:noFill/>
          </p:spPr>
          <p:txBody>
            <a:bodyPr wrap="square" rtlCol="0">
              <a:spAutoFit/>
            </a:bodyPr>
            <a:lstStyle/>
            <a:p>
              <a:pPr algn="ctr"/>
              <a:r>
                <a:rPr lang="en-US" sz="3198" dirty="0"/>
                <a:t>=</a:t>
              </a:r>
            </a:p>
          </p:txBody>
        </p:sp>
        <p:sp>
          <p:nvSpPr>
            <p:cNvPr id="10" name="TextBox 9">
              <a:extLst>
                <a:ext uri="{FF2B5EF4-FFF2-40B4-BE49-F238E27FC236}">
                  <a16:creationId xmlns:a16="http://schemas.microsoft.com/office/drawing/2014/main" id="{28173CC0-041C-DF03-C6FD-97FF894B3AA6}"/>
                </a:ext>
              </a:extLst>
            </p:cNvPr>
            <p:cNvSpPr txBox="1"/>
            <p:nvPr/>
          </p:nvSpPr>
          <p:spPr>
            <a:xfrm>
              <a:off x="6804248" y="1347614"/>
              <a:ext cx="1440160" cy="807827"/>
            </a:xfrm>
            <a:prstGeom prst="rect">
              <a:avLst/>
            </a:prstGeom>
            <a:noFill/>
          </p:spPr>
          <p:txBody>
            <a:bodyPr wrap="square" rtlCol="0">
              <a:spAutoFit/>
            </a:bodyPr>
            <a:lstStyle/>
            <a:p>
              <a:pPr algn="ctr"/>
              <a:r>
                <a:rPr lang="en-US" sz="3198" dirty="0"/>
                <a:t>Equity (E)</a:t>
              </a:r>
            </a:p>
          </p:txBody>
        </p:sp>
        <p:sp>
          <p:nvSpPr>
            <p:cNvPr id="11" name="TextBox 10">
              <a:extLst>
                <a:ext uri="{FF2B5EF4-FFF2-40B4-BE49-F238E27FC236}">
                  <a16:creationId xmlns:a16="http://schemas.microsoft.com/office/drawing/2014/main" id="{4258326F-A57A-C9A0-5C3B-211D7E4D2024}"/>
                </a:ext>
              </a:extLst>
            </p:cNvPr>
            <p:cNvSpPr txBox="1"/>
            <p:nvPr/>
          </p:nvSpPr>
          <p:spPr>
            <a:xfrm>
              <a:off x="3491880" y="1347614"/>
              <a:ext cx="1800200" cy="807827"/>
            </a:xfrm>
            <a:prstGeom prst="rect">
              <a:avLst/>
            </a:prstGeom>
            <a:noFill/>
          </p:spPr>
          <p:txBody>
            <a:bodyPr wrap="square" rtlCol="0">
              <a:spAutoFit/>
            </a:bodyPr>
            <a:lstStyle/>
            <a:p>
              <a:pPr algn="ctr"/>
              <a:r>
                <a:rPr lang="en-US" sz="3198" dirty="0"/>
                <a:t>Liabilities (L)</a:t>
              </a:r>
            </a:p>
          </p:txBody>
        </p:sp>
        <p:sp>
          <p:nvSpPr>
            <p:cNvPr id="12" name="TextBox 11">
              <a:extLst>
                <a:ext uri="{FF2B5EF4-FFF2-40B4-BE49-F238E27FC236}">
                  <a16:creationId xmlns:a16="http://schemas.microsoft.com/office/drawing/2014/main" id="{DEE36437-F78E-B71D-944B-D1DEE46B870E}"/>
                </a:ext>
              </a:extLst>
            </p:cNvPr>
            <p:cNvSpPr txBox="1"/>
            <p:nvPr/>
          </p:nvSpPr>
          <p:spPr>
            <a:xfrm>
              <a:off x="5364088" y="1347614"/>
              <a:ext cx="1296144" cy="438555"/>
            </a:xfrm>
            <a:prstGeom prst="rect">
              <a:avLst/>
            </a:prstGeom>
            <a:noFill/>
          </p:spPr>
          <p:txBody>
            <a:bodyPr wrap="square" rtlCol="0">
              <a:spAutoFit/>
            </a:bodyPr>
            <a:lstStyle/>
            <a:p>
              <a:pPr algn="ctr"/>
              <a:r>
                <a:rPr lang="en-US" sz="3198" dirty="0"/>
                <a:t>+</a:t>
              </a:r>
            </a:p>
          </p:txBody>
        </p:sp>
        <p:sp>
          <p:nvSpPr>
            <p:cNvPr id="13" name="TextBox 12">
              <a:extLst>
                <a:ext uri="{FF2B5EF4-FFF2-40B4-BE49-F238E27FC236}">
                  <a16:creationId xmlns:a16="http://schemas.microsoft.com/office/drawing/2014/main" id="{F4A7833B-6750-963B-5355-8052741261EF}"/>
                </a:ext>
              </a:extLst>
            </p:cNvPr>
            <p:cNvSpPr txBox="1"/>
            <p:nvPr/>
          </p:nvSpPr>
          <p:spPr>
            <a:xfrm>
              <a:off x="35496" y="2211710"/>
              <a:ext cx="1374888" cy="1177099"/>
            </a:xfrm>
            <a:prstGeom prst="rect">
              <a:avLst/>
            </a:prstGeom>
            <a:noFill/>
          </p:spPr>
          <p:txBody>
            <a:bodyPr wrap="square" rtlCol="0">
              <a:spAutoFit/>
            </a:bodyPr>
            <a:lstStyle/>
            <a:p>
              <a:pPr algn="ctr"/>
              <a:r>
                <a:rPr lang="en-US" sz="3198" dirty="0"/>
                <a:t>Current Assets (CA)</a:t>
              </a:r>
            </a:p>
          </p:txBody>
        </p:sp>
        <p:sp>
          <p:nvSpPr>
            <p:cNvPr id="14" name="Arrow: Down 13">
              <a:extLst>
                <a:ext uri="{FF2B5EF4-FFF2-40B4-BE49-F238E27FC236}">
                  <a16:creationId xmlns:a16="http://schemas.microsoft.com/office/drawing/2014/main" id="{48D8A9D4-C10A-E841-E0F2-72F0632F31A6}"/>
                </a:ext>
              </a:extLst>
            </p:cNvPr>
            <p:cNvSpPr/>
            <p:nvPr/>
          </p:nvSpPr>
          <p:spPr>
            <a:xfrm rot="12735684">
              <a:off x="818120" y="1881287"/>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15" name="Arrow: Down 14">
              <a:extLst>
                <a:ext uri="{FF2B5EF4-FFF2-40B4-BE49-F238E27FC236}">
                  <a16:creationId xmlns:a16="http://schemas.microsoft.com/office/drawing/2014/main" id="{07316083-F06F-7604-C327-C1596370FB75}"/>
                </a:ext>
              </a:extLst>
            </p:cNvPr>
            <p:cNvSpPr/>
            <p:nvPr/>
          </p:nvSpPr>
          <p:spPr>
            <a:xfrm rot="8684022">
              <a:off x="1568911" y="1882988"/>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16" name="TextBox 15">
              <a:extLst>
                <a:ext uri="{FF2B5EF4-FFF2-40B4-BE49-F238E27FC236}">
                  <a16:creationId xmlns:a16="http://schemas.microsoft.com/office/drawing/2014/main" id="{D8ABF953-B776-DAF8-BD88-DF6A2285C9EF}"/>
                </a:ext>
              </a:extLst>
            </p:cNvPr>
            <p:cNvSpPr txBox="1"/>
            <p:nvPr/>
          </p:nvSpPr>
          <p:spPr>
            <a:xfrm>
              <a:off x="1403648" y="2211710"/>
              <a:ext cx="1584176" cy="1546370"/>
            </a:xfrm>
            <a:prstGeom prst="rect">
              <a:avLst/>
            </a:prstGeom>
            <a:noFill/>
          </p:spPr>
          <p:txBody>
            <a:bodyPr wrap="square" rtlCol="0">
              <a:spAutoFit/>
            </a:bodyPr>
            <a:lstStyle/>
            <a:p>
              <a:pPr algn="ctr"/>
              <a:r>
                <a:rPr lang="en-US" sz="3198" dirty="0"/>
                <a:t>Non-Current Assets (NCA)</a:t>
              </a:r>
            </a:p>
          </p:txBody>
        </p:sp>
        <p:sp>
          <p:nvSpPr>
            <p:cNvPr id="17" name="TextBox 16">
              <a:extLst>
                <a:ext uri="{FF2B5EF4-FFF2-40B4-BE49-F238E27FC236}">
                  <a16:creationId xmlns:a16="http://schemas.microsoft.com/office/drawing/2014/main" id="{944C35C9-68E2-884B-AA7F-0E206F97D063}"/>
                </a:ext>
              </a:extLst>
            </p:cNvPr>
            <p:cNvSpPr txBox="1"/>
            <p:nvPr/>
          </p:nvSpPr>
          <p:spPr>
            <a:xfrm>
              <a:off x="3081079" y="2211710"/>
              <a:ext cx="1425649" cy="1177099"/>
            </a:xfrm>
            <a:prstGeom prst="rect">
              <a:avLst/>
            </a:prstGeom>
            <a:noFill/>
          </p:spPr>
          <p:txBody>
            <a:bodyPr wrap="square" rtlCol="0">
              <a:spAutoFit/>
            </a:bodyPr>
            <a:lstStyle/>
            <a:p>
              <a:pPr algn="ctr"/>
              <a:r>
                <a:rPr lang="en-US" sz="3198" dirty="0"/>
                <a:t>Current Liabilities (CL)</a:t>
              </a:r>
            </a:p>
          </p:txBody>
        </p:sp>
        <p:sp>
          <p:nvSpPr>
            <p:cNvPr id="18" name="Arrow: Down 17">
              <a:extLst>
                <a:ext uri="{FF2B5EF4-FFF2-40B4-BE49-F238E27FC236}">
                  <a16:creationId xmlns:a16="http://schemas.microsoft.com/office/drawing/2014/main" id="{05365425-AC94-3EB8-8370-4EADAA2CDAD4}"/>
                </a:ext>
              </a:extLst>
            </p:cNvPr>
            <p:cNvSpPr/>
            <p:nvPr/>
          </p:nvSpPr>
          <p:spPr>
            <a:xfrm rot="12735684">
              <a:off x="3914464" y="1904025"/>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19" name="Arrow: Down 18">
              <a:extLst>
                <a:ext uri="{FF2B5EF4-FFF2-40B4-BE49-F238E27FC236}">
                  <a16:creationId xmlns:a16="http://schemas.microsoft.com/office/drawing/2014/main" id="{0F52965F-81AE-1021-997D-CC531E3E67A2}"/>
                </a:ext>
              </a:extLst>
            </p:cNvPr>
            <p:cNvSpPr/>
            <p:nvPr/>
          </p:nvSpPr>
          <p:spPr>
            <a:xfrm rot="8684022">
              <a:off x="4572000" y="1905726"/>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20" name="TextBox 19">
              <a:extLst>
                <a:ext uri="{FF2B5EF4-FFF2-40B4-BE49-F238E27FC236}">
                  <a16:creationId xmlns:a16="http://schemas.microsoft.com/office/drawing/2014/main" id="{25678659-7F26-E871-EB3A-064494DAC876}"/>
                </a:ext>
              </a:extLst>
            </p:cNvPr>
            <p:cNvSpPr txBox="1"/>
            <p:nvPr/>
          </p:nvSpPr>
          <p:spPr>
            <a:xfrm>
              <a:off x="4499992" y="2211710"/>
              <a:ext cx="1584176" cy="1546371"/>
            </a:xfrm>
            <a:prstGeom prst="rect">
              <a:avLst/>
            </a:prstGeom>
            <a:noFill/>
          </p:spPr>
          <p:txBody>
            <a:bodyPr wrap="square" rtlCol="0">
              <a:spAutoFit/>
            </a:bodyPr>
            <a:lstStyle/>
            <a:p>
              <a:pPr algn="ctr"/>
              <a:r>
                <a:rPr lang="en-US" sz="3198" dirty="0"/>
                <a:t>Non-Current Liabilities (NCL)</a:t>
              </a:r>
            </a:p>
          </p:txBody>
        </p:sp>
      </p:grpSp>
      <p:sp>
        <p:nvSpPr>
          <p:cNvPr id="3" name="Arrow: Down 2">
            <a:extLst>
              <a:ext uri="{FF2B5EF4-FFF2-40B4-BE49-F238E27FC236}">
                <a16:creationId xmlns:a16="http://schemas.microsoft.com/office/drawing/2014/main" id="{C622C775-A06A-9E4F-64C2-A2C0043468B4}"/>
              </a:ext>
            </a:extLst>
          </p:cNvPr>
          <p:cNvSpPr/>
          <p:nvPr/>
        </p:nvSpPr>
        <p:spPr>
          <a:xfrm rot="6884153">
            <a:off x="5323428" y="3912845"/>
            <a:ext cx="297294" cy="27154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21" name="Arrow: Right 20">
            <a:extLst>
              <a:ext uri="{FF2B5EF4-FFF2-40B4-BE49-F238E27FC236}">
                <a16:creationId xmlns:a16="http://schemas.microsoft.com/office/drawing/2014/main" id="{978A16A3-C391-0720-DA4B-FF7AE4BAD32F}"/>
              </a:ext>
            </a:extLst>
          </p:cNvPr>
          <p:cNvSpPr/>
          <p:nvPr/>
        </p:nvSpPr>
        <p:spPr>
          <a:xfrm rot="16200000">
            <a:off x="7332513" y="5337259"/>
            <a:ext cx="523891" cy="26585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22" name="Arrow: Down 21">
            <a:extLst>
              <a:ext uri="{FF2B5EF4-FFF2-40B4-BE49-F238E27FC236}">
                <a16:creationId xmlns:a16="http://schemas.microsoft.com/office/drawing/2014/main" id="{23D2A201-BF81-20C1-19EC-8A6180F122EA}"/>
              </a:ext>
            </a:extLst>
          </p:cNvPr>
          <p:cNvSpPr/>
          <p:nvPr/>
        </p:nvSpPr>
        <p:spPr>
          <a:xfrm rot="12689771">
            <a:off x="9204240" y="2768746"/>
            <a:ext cx="291989" cy="3264146"/>
          </a:xfrm>
          <a:prstGeom prst="downArrow">
            <a:avLst/>
          </a:prstGeom>
          <a:solidFill>
            <a:schemeClr val="accent6">
              <a:lumMod val="20000"/>
              <a:lumOff val="8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23" name="TextBox 22">
            <a:extLst>
              <a:ext uri="{FF2B5EF4-FFF2-40B4-BE49-F238E27FC236}">
                <a16:creationId xmlns:a16="http://schemas.microsoft.com/office/drawing/2014/main" id="{581651E0-8617-D35A-D871-D36A52CA5FBA}"/>
              </a:ext>
            </a:extLst>
          </p:cNvPr>
          <p:cNvSpPr txBox="1"/>
          <p:nvPr/>
        </p:nvSpPr>
        <p:spPr>
          <a:xfrm>
            <a:off x="6287928" y="5916715"/>
            <a:ext cx="2974878" cy="830740"/>
          </a:xfrm>
          <a:prstGeom prst="rect">
            <a:avLst/>
          </a:prstGeom>
          <a:solidFill>
            <a:schemeClr val="bg1"/>
          </a:solidFill>
        </p:spPr>
        <p:txBody>
          <a:bodyPr wrap="square" rtlCol="0">
            <a:spAutoFit/>
          </a:bodyPr>
          <a:lstStyle/>
          <a:p>
            <a:pPr algn="ctr"/>
            <a:r>
              <a:rPr lang="fr-FR" sz="2399" dirty="0"/>
              <a:t>Long-</a:t>
            </a:r>
            <a:r>
              <a:rPr lang="fr-FR" sz="2399" dirty="0" err="1"/>
              <a:t>term</a:t>
            </a:r>
            <a:r>
              <a:rPr lang="fr-FR" sz="2399" dirty="0"/>
              <a:t> </a:t>
            </a:r>
          </a:p>
          <a:p>
            <a:pPr algn="ctr"/>
            <a:r>
              <a:rPr lang="fr-FR" sz="2399" dirty="0"/>
              <a:t>(more than 1 year)</a:t>
            </a:r>
          </a:p>
        </p:txBody>
      </p:sp>
      <p:sp>
        <p:nvSpPr>
          <p:cNvPr id="24" name="TextBox 23">
            <a:extLst>
              <a:ext uri="{FF2B5EF4-FFF2-40B4-BE49-F238E27FC236}">
                <a16:creationId xmlns:a16="http://schemas.microsoft.com/office/drawing/2014/main" id="{88377FDA-5D19-7387-9E08-7D58BD42F749}"/>
              </a:ext>
            </a:extLst>
          </p:cNvPr>
          <p:cNvSpPr txBox="1"/>
          <p:nvPr/>
        </p:nvSpPr>
        <p:spPr>
          <a:xfrm>
            <a:off x="1489737" y="5924060"/>
            <a:ext cx="2974878" cy="830740"/>
          </a:xfrm>
          <a:prstGeom prst="rect">
            <a:avLst/>
          </a:prstGeom>
          <a:solidFill>
            <a:schemeClr val="bg1"/>
          </a:solidFill>
        </p:spPr>
        <p:txBody>
          <a:bodyPr wrap="square" rtlCol="0">
            <a:spAutoFit/>
          </a:bodyPr>
          <a:lstStyle/>
          <a:p>
            <a:pPr algn="ctr"/>
            <a:r>
              <a:rPr lang="fr-FR" sz="2399" dirty="0"/>
              <a:t>Short-</a:t>
            </a:r>
            <a:r>
              <a:rPr lang="fr-FR" sz="2399" dirty="0" err="1"/>
              <a:t>term</a:t>
            </a:r>
            <a:r>
              <a:rPr lang="fr-FR" sz="2399" dirty="0"/>
              <a:t> </a:t>
            </a:r>
          </a:p>
          <a:p>
            <a:pPr algn="ctr"/>
            <a:r>
              <a:rPr lang="fr-FR" sz="2399" dirty="0"/>
              <a:t>(less than 1 year)</a:t>
            </a:r>
          </a:p>
        </p:txBody>
      </p:sp>
      <p:sp>
        <p:nvSpPr>
          <p:cNvPr id="25" name="Arrow: Right 24">
            <a:extLst>
              <a:ext uri="{FF2B5EF4-FFF2-40B4-BE49-F238E27FC236}">
                <a16:creationId xmlns:a16="http://schemas.microsoft.com/office/drawing/2014/main" id="{72969D82-63CB-3EC4-49AF-CC1FB712FAAB}"/>
              </a:ext>
            </a:extLst>
          </p:cNvPr>
          <p:cNvSpPr/>
          <p:nvPr/>
        </p:nvSpPr>
        <p:spPr>
          <a:xfrm rot="14855288">
            <a:off x="1440943" y="5175846"/>
            <a:ext cx="1200618" cy="287892"/>
          </a:xfrm>
          <a:prstGeom prst="rightArrow">
            <a:avLst/>
          </a:prstGeom>
          <a:solidFill>
            <a:schemeClr val="accent3">
              <a:lumMod val="40000"/>
              <a:lumOff val="6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26" name="Arrow: Right 25">
            <a:extLst>
              <a:ext uri="{FF2B5EF4-FFF2-40B4-BE49-F238E27FC236}">
                <a16:creationId xmlns:a16="http://schemas.microsoft.com/office/drawing/2014/main" id="{63FB16A4-F7AB-1EBA-32D8-ED5961319533}"/>
              </a:ext>
            </a:extLst>
          </p:cNvPr>
          <p:cNvSpPr/>
          <p:nvPr/>
        </p:nvSpPr>
        <p:spPr>
          <a:xfrm rot="19451129">
            <a:off x="3737717" y="5160881"/>
            <a:ext cx="1876276" cy="287892"/>
          </a:xfrm>
          <a:prstGeom prst="rightArrow">
            <a:avLst/>
          </a:prstGeom>
          <a:solidFill>
            <a:schemeClr val="accent3">
              <a:lumMod val="40000"/>
              <a:lumOff val="6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Tree>
    <p:extLst>
      <p:ext uri="{BB962C8B-B14F-4D97-AF65-F5344CB8AC3E}">
        <p14:creationId xmlns:p14="http://schemas.microsoft.com/office/powerpoint/2010/main" val="27554240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DC848-13CE-E958-A98F-B35C086A9C23}"/>
              </a:ext>
            </a:extLst>
          </p:cNvPr>
          <p:cNvSpPr>
            <a:spLocks noGrp="1"/>
          </p:cNvSpPr>
          <p:nvPr>
            <p:ph type="title"/>
          </p:nvPr>
        </p:nvSpPr>
        <p:spPr/>
        <p:txBody>
          <a:bodyPr/>
          <a:lstStyle/>
          <a:p>
            <a:r>
              <a:rPr lang="en-US" sz="2800" dirty="0"/>
              <a:t>What is the effect on the balance sheet of new long-term debt including a short-term portion?</a:t>
            </a:r>
            <a:endParaRPr lang="en-US" dirty="0"/>
          </a:p>
        </p:txBody>
      </p:sp>
      <p:sp>
        <p:nvSpPr>
          <p:cNvPr id="4" name="Slide Number Placeholder 3">
            <a:extLst>
              <a:ext uri="{FF2B5EF4-FFF2-40B4-BE49-F238E27FC236}">
                <a16:creationId xmlns:a16="http://schemas.microsoft.com/office/drawing/2014/main" id="{D4A9C61B-6453-7B9A-D86B-826524833CDC}"/>
              </a:ext>
            </a:extLst>
          </p:cNvPr>
          <p:cNvSpPr>
            <a:spLocks noGrp="1"/>
          </p:cNvSpPr>
          <p:nvPr>
            <p:ph type="sldNum" sz="quarter" idx="10"/>
          </p:nvPr>
        </p:nvSpPr>
        <p:spPr/>
        <p:txBody>
          <a:bodyPr/>
          <a:lstStyle/>
          <a:p>
            <a:fld id="{421B1A79-1F45-8F4F-AED5-0EE30DCF0380}" type="slidenum">
              <a:rPr lang="fr-FR" smtClean="0"/>
              <a:t>50</a:t>
            </a:fld>
            <a:endParaRPr lang="fr-FR"/>
          </a:p>
        </p:txBody>
      </p:sp>
      <p:graphicFrame>
        <p:nvGraphicFramePr>
          <p:cNvPr id="5" name="Table 6">
            <a:extLst>
              <a:ext uri="{FF2B5EF4-FFF2-40B4-BE49-F238E27FC236}">
                <a16:creationId xmlns:a16="http://schemas.microsoft.com/office/drawing/2014/main" id="{0E626112-0B9D-BA59-328E-1870CBF4A150}"/>
              </a:ext>
            </a:extLst>
          </p:cNvPr>
          <p:cNvGraphicFramePr>
            <a:graphicFrameLocks/>
          </p:cNvGraphicFramePr>
          <p:nvPr/>
        </p:nvGraphicFramePr>
        <p:xfrm>
          <a:off x="475273" y="1766657"/>
          <a:ext cx="11618550" cy="2591916"/>
        </p:xfrm>
        <a:graphic>
          <a:graphicData uri="http://schemas.openxmlformats.org/drawingml/2006/table">
            <a:tbl>
              <a:tblPr firstRow="1" bandRow="1">
                <a:tableStyleId>{5C22544A-7EE6-4342-B048-85BDC9FD1C3A}</a:tableStyleId>
              </a:tblPr>
              <a:tblGrid>
                <a:gridCol w="1936425">
                  <a:extLst>
                    <a:ext uri="{9D8B030D-6E8A-4147-A177-3AD203B41FA5}">
                      <a16:colId xmlns:a16="http://schemas.microsoft.com/office/drawing/2014/main" val="2031488337"/>
                    </a:ext>
                  </a:extLst>
                </a:gridCol>
                <a:gridCol w="1936425">
                  <a:extLst>
                    <a:ext uri="{9D8B030D-6E8A-4147-A177-3AD203B41FA5}">
                      <a16:colId xmlns:a16="http://schemas.microsoft.com/office/drawing/2014/main" val="526378758"/>
                    </a:ext>
                  </a:extLst>
                </a:gridCol>
                <a:gridCol w="1936425">
                  <a:extLst>
                    <a:ext uri="{9D8B030D-6E8A-4147-A177-3AD203B41FA5}">
                      <a16:colId xmlns:a16="http://schemas.microsoft.com/office/drawing/2014/main" val="325362427"/>
                    </a:ext>
                  </a:extLst>
                </a:gridCol>
                <a:gridCol w="1936425">
                  <a:extLst>
                    <a:ext uri="{9D8B030D-6E8A-4147-A177-3AD203B41FA5}">
                      <a16:colId xmlns:a16="http://schemas.microsoft.com/office/drawing/2014/main" val="1990001942"/>
                    </a:ext>
                  </a:extLst>
                </a:gridCol>
                <a:gridCol w="1936425">
                  <a:extLst>
                    <a:ext uri="{9D8B030D-6E8A-4147-A177-3AD203B41FA5}">
                      <a16:colId xmlns:a16="http://schemas.microsoft.com/office/drawing/2014/main" val="3344489120"/>
                    </a:ext>
                  </a:extLst>
                </a:gridCol>
                <a:gridCol w="1936425">
                  <a:extLst>
                    <a:ext uri="{9D8B030D-6E8A-4147-A177-3AD203B41FA5}">
                      <a16:colId xmlns:a16="http://schemas.microsoft.com/office/drawing/2014/main" val="3436964488"/>
                    </a:ext>
                  </a:extLst>
                </a:gridCol>
              </a:tblGrid>
              <a:tr h="406995">
                <a:tc rowSpan="2">
                  <a:txBody>
                    <a:bodyPr/>
                    <a:lstStyle/>
                    <a:p>
                      <a:pPr algn="ctr"/>
                      <a:r>
                        <a:rPr lang="en-US" sz="2200" dirty="0"/>
                        <a:t>Non-current assets (NCA)</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assets (CA)</a:t>
                      </a:r>
                    </a:p>
                  </a:txBody>
                  <a:tcPr marL="64262" marR="64262" marT="32131" marB="32131" anchor="ctr">
                    <a:lnB w="12700" cap="flat" cmpd="sng" algn="ctr">
                      <a:solidFill>
                        <a:schemeClr val="tx1"/>
                      </a:solidFill>
                      <a:prstDash val="solid"/>
                      <a:round/>
                      <a:headEnd type="none" w="med" len="med"/>
                      <a:tailEnd type="none" w="med" len="med"/>
                    </a:lnB>
                  </a:tcPr>
                </a:tc>
                <a:tc gridSpan="2">
                  <a:txBody>
                    <a:bodyPr/>
                    <a:lstStyle/>
                    <a:p>
                      <a:pPr algn="ctr"/>
                      <a:r>
                        <a:rPr lang="en-US" sz="2200" dirty="0"/>
                        <a:t>Equity</a:t>
                      </a:r>
                    </a:p>
                  </a:txBody>
                  <a:tcPr marL="64262" marR="64262" marT="32131" marB="32131" anchor="ctr"/>
                </a:tc>
                <a:tc hMerge="1">
                  <a:txBody>
                    <a:bodyPr/>
                    <a:lstStyle/>
                    <a:p>
                      <a:endParaRPr lang="en-US" dirty="0"/>
                    </a:p>
                  </a:txBody>
                  <a:tcPr/>
                </a:tc>
                <a:tc rowSpan="2">
                  <a:txBody>
                    <a:bodyPr/>
                    <a:lstStyle/>
                    <a:p>
                      <a:pPr algn="ctr"/>
                      <a:r>
                        <a:rPr lang="en-US" sz="2200" dirty="0"/>
                        <a:t>Non-current liabilities (NCL)</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liabilities (CL)</a:t>
                      </a:r>
                    </a:p>
                  </a:txBody>
                  <a:tcPr marL="64262" marR="64262" marT="32131" marB="32131"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8874"/>
                  </a:ext>
                </a:extLst>
              </a:tr>
              <a:tr h="1435193">
                <a:tc vMerge="1">
                  <a:txBody>
                    <a:bodyPr/>
                    <a:lstStyle/>
                    <a:p>
                      <a:endParaRPr lang="en-US" sz="3200" dirty="0"/>
                    </a:p>
                  </a:txBody>
                  <a:tcPr/>
                </a:tc>
                <a:tc vMerge="1">
                  <a:txBody>
                    <a:bodyPr/>
                    <a:lstStyle/>
                    <a:p>
                      <a:endParaRPr lang="en-US" sz="3200" dirty="0"/>
                    </a:p>
                  </a:txBody>
                  <a:tcPr/>
                </a:tc>
                <a:tc>
                  <a:txBody>
                    <a:bodyPr/>
                    <a:lstStyle/>
                    <a:p>
                      <a:pPr algn="ctr"/>
                      <a:r>
                        <a:rPr lang="en-US" sz="2200" dirty="0"/>
                        <a:t>Share capital and additional paid-in capital</a:t>
                      </a:r>
                    </a:p>
                  </a:txBody>
                  <a:tcPr marL="64262" marR="64262" marT="32131" marB="32131" anchor="ctr">
                    <a:lnB w="12700" cap="flat" cmpd="sng" algn="ctr">
                      <a:solidFill>
                        <a:schemeClr val="tx1"/>
                      </a:solidFill>
                      <a:prstDash val="solid"/>
                      <a:round/>
                      <a:headEnd type="none" w="med" len="med"/>
                      <a:tailEnd type="none" w="med" len="med"/>
                    </a:lnB>
                  </a:tcPr>
                </a:tc>
                <a:tc>
                  <a:txBody>
                    <a:bodyPr/>
                    <a:lstStyle/>
                    <a:p>
                      <a:pPr algn="ctr"/>
                      <a:r>
                        <a:rPr lang="en-US" sz="2200" dirty="0"/>
                        <a:t>Retained earnings and other reserves</a:t>
                      </a:r>
                    </a:p>
                  </a:txBody>
                  <a:tcPr marL="64262" marR="64262" marT="32131" marB="32131" anchor="ctr">
                    <a:lnB w="12700" cap="flat" cmpd="sng" algn="ctr">
                      <a:solidFill>
                        <a:schemeClr val="tx1"/>
                      </a:solidFill>
                      <a:prstDash val="solid"/>
                      <a:round/>
                      <a:headEnd type="none" w="med" len="med"/>
                      <a:tailEnd type="none" w="med" len="med"/>
                    </a:lnB>
                  </a:tcPr>
                </a:tc>
                <a:tc vMerge="1">
                  <a:txBody>
                    <a:bodyPr/>
                    <a:lstStyle/>
                    <a:p>
                      <a:endParaRPr lang="en-US" sz="3200" dirty="0"/>
                    </a:p>
                  </a:txBody>
                  <a:tcPr/>
                </a:tc>
                <a:tc vMerge="1">
                  <a:txBody>
                    <a:bodyPr/>
                    <a:lstStyle/>
                    <a:p>
                      <a:endParaRPr lang="en-US" sz="3200" dirty="0"/>
                    </a:p>
                  </a:txBody>
                  <a:tcPr/>
                </a:tc>
                <a:extLst>
                  <a:ext uri="{0D108BD9-81ED-4DB2-BD59-A6C34878D82A}">
                    <a16:rowId xmlns:a16="http://schemas.microsoft.com/office/drawing/2014/main" val="853442960"/>
                  </a:ext>
                </a:extLst>
              </a:tr>
              <a:tr h="749728">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25328"/>
                  </a:ext>
                </a:extLst>
              </a:tr>
            </a:tbl>
          </a:graphicData>
        </a:graphic>
      </p:graphicFrame>
    </p:spTree>
    <p:extLst>
      <p:ext uri="{BB962C8B-B14F-4D97-AF65-F5344CB8AC3E}">
        <p14:creationId xmlns:p14="http://schemas.microsoft.com/office/powerpoint/2010/main" val="20858531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CCDDF-CFF1-4048-966A-850FB97B19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456207-355C-C626-EB56-90C91A504CD8}"/>
              </a:ext>
            </a:extLst>
          </p:cNvPr>
          <p:cNvSpPr>
            <a:spLocks noGrp="1"/>
          </p:cNvSpPr>
          <p:nvPr>
            <p:ph type="title"/>
          </p:nvPr>
        </p:nvSpPr>
        <p:spPr/>
        <p:txBody>
          <a:bodyPr/>
          <a:lstStyle/>
          <a:p>
            <a:r>
              <a:rPr lang="en-US" sz="2800" dirty="0"/>
              <a:t>What is the effect on the balance sheet of new long-term debt including a short-term portion?</a:t>
            </a:r>
            <a:endParaRPr lang="en-US" dirty="0"/>
          </a:p>
        </p:txBody>
      </p:sp>
      <p:sp>
        <p:nvSpPr>
          <p:cNvPr id="4" name="Slide Number Placeholder 3">
            <a:extLst>
              <a:ext uri="{FF2B5EF4-FFF2-40B4-BE49-F238E27FC236}">
                <a16:creationId xmlns:a16="http://schemas.microsoft.com/office/drawing/2014/main" id="{C4E72974-E22B-100B-B906-2F5A4C50434A}"/>
              </a:ext>
            </a:extLst>
          </p:cNvPr>
          <p:cNvSpPr>
            <a:spLocks noGrp="1"/>
          </p:cNvSpPr>
          <p:nvPr>
            <p:ph type="sldNum" sz="quarter" idx="10"/>
          </p:nvPr>
        </p:nvSpPr>
        <p:spPr/>
        <p:txBody>
          <a:bodyPr/>
          <a:lstStyle/>
          <a:p>
            <a:fld id="{421B1A79-1F45-8F4F-AED5-0EE30DCF0380}" type="slidenum">
              <a:rPr lang="fr-FR" smtClean="0"/>
              <a:t>51</a:t>
            </a:fld>
            <a:endParaRPr lang="fr-FR"/>
          </a:p>
        </p:txBody>
      </p:sp>
      <p:graphicFrame>
        <p:nvGraphicFramePr>
          <p:cNvPr id="5" name="Table 6">
            <a:extLst>
              <a:ext uri="{FF2B5EF4-FFF2-40B4-BE49-F238E27FC236}">
                <a16:creationId xmlns:a16="http://schemas.microsoft.com/office/drawing/2014/main" id="{0397F55E-3F6A-22B4-4C9B-C32276EBDF8A}"/>
              </a:ext>
            </a:extLst>
          </p:cNvPr>
          <p:cNvGraphicFramePr>
            <a:graphicFrameLocks/>
          </p:cNvGraphicFramePr>
          <p:nvPr>
            <p:extLst>
              <p:ext uri="{D42A27DB-BD31-4B8C-83A1-F6EECF244321}">
                <p14:modId xmlns:p14="http://schemas.microsoft.com/office/powerpoint/2010/main" val="47162561"/>
              </p:ext>
            </p:extLst>
          </p:nvPr>
        </p:nvGraphicFramePr>
        <p:xfrm>
          <a:off x="475273" y="1766657"/>
          <a:ext cx="11618550" cy="3247570"/>
        </p:xfrm>
        <a:graphic>
          <a:graphicData uri="http://schemas.openxmlformats.org/drawingml/2006/table">
            <a:tbl>
              <a:tblPr firstRow="1" bandRow="1">
                <a:tableStyleId>{5C22544A-7EE6-4342-B048-85BDC9FD1C3A}</a:tableStyleId>
              </a:tblPr>
              <a:tblGrid>
                <a:gridCol w="1936425">
                  <a:extLst>
                    <a:ext uri="{9D8B030D-6E8A-4147-A177-3AD203B41FA5}">
                      <a16:colId xmlns:a16="http://schemas.microsoft.com/office/drawing/2014/main" val="2031488337"/>
                    </a:ext>
                  </a:extLst>
                </a:gridCol>
                <a:gridCol w="1936425">
                  <a:extLst>
                    <a:ext uri="{9D8B030D-6E8A-4147-A177-3AD203B41FA5}">
                      <a16:colId xmlns:a16="http://schemas.microsoft.com/office/drawing/2014/main" val="526378758"/>
                    </a:ext>
                  </a:extLst>
                </a:gridCol>
                <a:gridCol w="1936425">
                  <a:extLst>
                    <a:ext uri="{9D8B030D-6E8A-4147-A177-3AD203B41FA5}">
                      <a16:colId xmlns:a16="http://schemas.microsoft.com/office/drawing/2014/main" val="325362427"/>
                    </a:ext>
                  </a:extLst>
                </a:gridCol>
                <a:gridCol w="1936425">
                  <a:extLst>
                    <a:ext uri="{9D8B030D-6E8A-4147-A177-3AD203B41FA5}">
                      <a16:colId xmlns:a16="http://schemas.microsoft.com/office/drawing/2014/main" val="1990001942"/>
                    </a:ext>
                  </a:extLst>
                </a:gridCol>
                <a:gridCol w="1936425">
                  <a:extLst>
                    <a:ext uri="{9D8B030D-6E8A-4147-A177-3AD203B41FA5}">
                      <a16:colId xmlns:a16="http://schemas.microsoft.com/office/drawing/2014/main" val="3344489120"/>
                    </a:ext>
                  </a:extLst>
                </a:gridCol>
                <a:gridCol w="1936425">
                  <a:extLst>
                    <a:ext uri="{9D8B030D-6E8A-4147-A177-3AD203B41FA5}">
                      <a16:colId xmlns:a16="http://schemas.microsoft.com/office/drawing/2014/main" val="3436964488"/>
                    </a:ext>
                  </a:extLst>
                </a:gridCol>
              </a:tblGrid>
              <a:tr h="406995">
                <a:tc rowSpan="2">
                  <a:txBody>
                    <a:bodyPr/>
                    <a:lstStyle/>
                    <a:p>
                      <a:pPr algn="ctr"/>
                      <a:r>
                        <a:rPr lang="en-US" sz="2200" dirty="0"/>
                        <a:t>Non-current assets (NCA)</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assets (CA)</a:t>
                      </a:r>
                    </a:p>
                  </a:txBody>
                  <a:tcPr marL="64262" marR="64262" marT="32131" marB="32131" anchor="ctr">
                    <a:lnB w="12700" cap="flat" cmpd="sng" algn="ctr">
                      <a:solidFill>
                        <a:schemeClr val="tx1"/>
                      </a:solidFill>
                      <a:prstDash val="solid"/>
                      <a:round/>
                      <a:headEnd type="none" w="med" len="med"/>
                      <a:tailEnd type="none" w="med" len="med"/>
                    </a:lnB>
                  </a:tcPr>
                </a:tc>
                <a:tc gridSpan="2">
                  <a:txBody>
                    <a:bodyPr/>
                    <a:lstStyle/>
                    <a:p>
                      <a:pPr algn="ctr"/>
                      <a:r>
                        <a:rPr lang="en-US" sz="2200" dirty="0"/>
                        <a:t>Equity</a:t>
                      </a:r>
                    </a:p>
                  </a:txBody>
                  <a:tcPr marL="64262" marR="64262" marT="32131" marB="32131" anchor="ctr"/>
                </a:tc>
                <a:tc hMerge="1">
                  <a:txBody>
                    <a:bodyPr/>
                    <a:lstStyle/>
                    <a:p>
                      <a:endParaRPr lang="en-US" dirty="0"/>
                    </a:p>
                  </a:txBody>
                  <a:tcPr/>
                </a:tc>
                <a:tc rowSpan="2">
                  <a:txBody>
                    <a:bodyPr/>
                    <a:lstStyle/>
                    <a:p>
                      <a:pPr algn="ctr"/>
                      <a:r>
                        <a:rPr lang="en-US" sz="2200" dirty="0"/>
                        <a:t>Non-current liabilities (NCL)</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liabilities (CL)</a:t>
                      </a:r>
                    </a:p>
                  </a:txBody>
                  <a:tcPr marL="64262" marR="64262" marT="32131" marB="32131"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8874"/>
                  </a:ext>
                </a:extLst>
              </a:tr>
              <a:tr h="1435193">
                <a:tc vMerge="1">
                  <a:txBody>
                    <a:bodyPr/>
                    <a:lstStyle/>
                    <a:p>
                      <a:endParaRPr lang="en-US" sz="3200" dirty="0"/>
                    </a:p>
                  </a:txBody>
                  <a:tcPr/>
                </a:tc>
                <a:tc vMerge="1">
                  <a:txBody>
                    <a:bodyPr/>
                    <a:lstStyle/>
                    <a:p>
                      <a:endParaRPr lang="en-US" sz="3200" dirty="0"/>
                    </a:p>
                  </a:txBody>
                  <a:tcPr/>
                </a:tc>
                <a:tc>
                  <a:txBody>
                    <a:bodyPr/>
                    <a:lstStyle/>
                    <a:p>
                      <a:pPr algn="ctr"/>
                      <a:r>
                        <a:rPr lang="en-US" sz="2200" dirty="0"/>
                        <a:t>Share capital and additional paid-in capital</a:t>
                      </a:r>
                    </a:p>
                  </a:txBody>
                  <a:tcPr marL="64262" marR="64262" marT="32131" marB="32131" anchor="ctr">
                    <a:lnB w="12700" cap="flat" cmpd="sng" algn="ctr">
                      <a:solidFill>
                        <a:schemeClr val="tx1"/>
                      </a:solidFill>
                      <a:prstDash val="solid"/>
                      <a:round/>
                      <a:headEnd type="none" w="med" len="med"/>
                      <a:tailEnd type="none" w="med" len="med"/>
                    </a:lnB>
                  </a:tcPr>
                </a:tc>
                <a:tc>
                  <a:txBody>
                    <a:bodyPr/>
                    <a:lstStyle/>
                    <a:p>
                      <a:pPr algn="ctr"/>
                      <a:r>
                        <a:rPr lang="en-US" sz="2200" dirty="0"/>
                        <a:t>Retained earnings and other reserves</a:t>
                      </a:r>
                    </a:p>
                  </a:txBody>
                  <a:tcPr marL="64262" marR="64262" marT="32131" marB="32131" anchor="ctr">
                    <a:lnB w="12700" cap="flat" cmpd="sng" algn="ctr">
                      <a:solidFill>
                        <a:schemeClr val="tx1"/>
                      </a:solidFill>
                      <a:prstDash val="solid"/>
                      <a:round/>
                      <a:headEnd type="none" w="med" len="med"/>
                      <a:tailEnd type="none" w="med" len="med"/>
                    </a:lnB>
                  </a:tcPr>
                </a:tc>
                <a:tc vMerge="1">
                  <a:txBody>
                    <a:bodyPr/>
                    <a:lstStyle/>
                    <a:p>
                      <a:endParaRPr lang="en-US" sz="3200" dirty="0"/>
                    </a:p>
                  </a:txBody>
                  <a:tcPr/>
                </a:tc>
                <a:tc vMerge="1">
                  <a:txBody>
                    <a:bodyPr/>
                    <a:lstStyle/>
                    <a:p>
                      <a:endParaRPr lang="en-US" sz="3200" dirty="0"/>
                    </a:p>
                  </a:txBody>
                  <a:tcPr/>
                </a:tc>
                <a:extLst>
                  <a:ext uri="{0D108BD9-81ED-4DB2-BD59-A6C34878D82A}">
                    <a16:rowId xmlns:a16="http://schemas.microsoft.com/office/drawing/2014/main" val="853442960"/>
                  </a:ext>
                </a:extLst>
              </a:tr>
              <a:tr h="749728">
                <a:tc>
                  <a:txBody>
                    <a:bodyPr/>
                    <a:lstStyle/>
                    <a:p>
                      <a:pPr algn="ctr"/>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dirty="0"/>
                        <a:t>Cash </a:t>
                      </a:r>
                    </a:p>
                    <a:p>
                      <a:pPr algn="ctr"/>
                      <a:r>
                        <a:rPr lang="en-US" sz="2200" dirty="0"/>
                        <a:t>(increase)</a:t>
                      </a:r>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dirty="0"/>
                        <a:t>Non-current portion of long-term debt (increase)</a:t>
                      </a:r>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200" dirty="0"/>
                        <a:t>Current portion of long-term debt (increase)</a:t>
                      </a:r>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25328"/>
                  </a:ext>
                </a:extLst>
              </a:tr>
            </a:tbl>
          </a:graphicData>
        </a:graphic>
      </p:graphicFrame>
    </p:spTree>
    <p:extLst>
      <p:ext uri="{BB962C8B-B14F-4D97-AF65-F5344CB8AC3E}">
        <p14:creationId xmlns:p14="http://schemas.microsoft.com/office/powerpoint/2010/main" val="25080536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00F9E9-DDEA-4600-A580-A2D05502EF2B}"/>
              </a:ext>
            </a:extLst>
          </p:cNvPr>
          <p:cNvSpPr>
            <a:spLocks noGrp="1"/>
          </p:cNvSpPr>
          <p:nvPr>
            <p:ph type="title"/>
          </p:nvPr>
        </p:nvSpPr>
        <p:spPr/>
        <p:txBody>
          <a:bodyPr/>
          <a:lstStyle/>
          <a:p>
            <a:r>
              <a:rPr lang="en-US" sz="3092" dirty="0"/>
              <a:t>What is the effect on the balance sheet of the repayment of a short-term debt?</a:t>
            </a:r>
          </a:p>
        </p:txBody>
      </p:sp>
      <p:graphicFrame>
        <p:nvGraphicFramePr>
          <p:cNvPr id="6" name="Table 6">
            <a:extLst>
              <a:ext uri="{FF2B5EF4-FFF2-40B4-BE49-F238E27FC236}">
                <a16:creationId xmlns:a16="http://schemas.microsoft.com/office/drawing/2014/main" id="{1FD6A07A-361C-4125-BBCE-5A6A8BC1B965}"/>
              </a:ext>
            </a:extLst>
          </p:cNvPr>
          <p:cNvGraphicFramePr>
            <a:graphicFrameLocks noGrp="1"/>
          </p:cNvGraphicFramePr>
          <p:nvPr>
            <p:ph idx="1"/>
            <p:extLst>
              <p:ext uri="{D42A27DB-BD31-4B8C-83A1-F6EECF244321}">
                <p14:modId xmlns:p14="http://schemas.microsoft.com/office/powerpoint/2010/main" val="1302432361"/>
              </p:ext>
            </p:extLst>
          </p:nvPr>
        </p:nvGraphicFramePr>
        <p:xfrm>
          <a:off x="681038" y="1825625"/>
          <a:ext cx="10829922" cy="2897385"/>
        </p:xfrm>
        <a:graphic>
          <a:graphicData uri="http://schemas.openxmlformats.org/drawingml/2006/table">
            <a:tbl>
              <a:tblPr firstRow="1" bandRow="1">
                <a:tableStyleId>{5C22544A-7EE6-4342-B048-85BDC9FD1C3A}</a:tableStyleId>
              </a:tblPr>
              <a:tblGrid>
                <a:gridCol w="1804987">
                  <a:extLst>
                    <a:ext uri="{9D8B030D-6E8A-4147-A177-3AD203B41FA5}">
                      <a16:colId xmlns:a16="http://schemas.microsoft.com/office/drawing/2014/main" val="2031488337"/>
                    </a:ext>
                  </a:extLst>
                </a:gridCol>
                <a:gridCol w="1804987">
                  <a:extLst>
                    <a:ext uri="{9D8B030D-6E8A-4147-A177-3AD203B41FA5}">
                      <a16:colId xmlns:a16="http://schemas.microsoft.com/office/drawing/2014/main" val="526378758"/>
                    </a:ext>
                  </a:extLst>
                </a:gridCol>
                <a:gridCol w="1804987">
                  <a:extLst>
                    <a:ext uri="{9D8B030D-6E8A-4147-A177-3AD203B41FA5}">
                      <a16:colId xmlns:a16="http://schemas.microsoft.com/office/drawing/2014/main" val="325362427"/>
                    </a:ext>
                  </a:extLst>
                </a:gridCol>
                <a:gridCol w="1804987">
                  <a:extLst>
                    <a:ext uri="{9D8B030D-6E8A-4147-A177-3AD203B41FA5}">
                      <a16:colId xmlns:a16="http://schemas.microsoft.com/office/drawing/2014/main" val="1990001942"/>
                    </a:ext>
                  </a:extLst>
                </a:gridCol>
                <a:gridCol w="1804987">
                  <a:extLst>
                    <a:ext uri="{9D8B030D-6E8A-4147-A177-3AD203B41FA5}">
                      <a16:colId xmlns:a16="http://schemas.microsoft.com/office/drawing/2014/main" val="3344489120"/>
                    </a:ext>
                  </a:extLst>
                </a:gridCol>
                <a:gridCol w="1804987">
                  <a:extLst>
                    <a:ext uri="{9D8B030D-6E8A-4147-A177-3AD203B41FA5}">
                      <a16:colId xmlns:a16="http://schemas.microsoft.com/office/drawing/2014/main" val="3436964488"/>
                    </a:ext>
                  </a:extLst>
                </a:gridCol>
              </a:tblGrid>
              <a:tr h="406995">
                <a:tc rowSpan="2">
                  <a:txBody>
                    <a:bodyPr/>
                    <a:lstStyle/>
                    <a:p>
                      <a:pPr algn="ctr"/>
                      <a:r>
                        <a:rPr lang="en-US" sz="2200" dirty="0"/>
                        <a:t>Non-current assets (NCA)</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assets (CA)</a:t>
                      </a:r>
                    </a:p>
                  </a:txBody>
                  <a:tcPr marL="64262" marR="64262" marT="32131" marB="32131" anchor="ctr">
                    <a:lnB w="12700" cap="flat" cmpd="sng" algn="ctr">
                      <a:solidFill>
                        <a:schemeClr val="tx1"/>
                      </a:solidFill>
                      <a:prstDash val="solid"/>
                      <a:round/>
                      <a:headEnd type="none" w="med" len="med"/>
                      <a:tailEnd type="none" w="med" len="med"/>
                    </a:lnB>
                  </a:tcPr>
                </a:tc>
                <a:tc gridSpan="2">
                  <a:txBody>
                    <a:bodyPr/>
                    <a:lstStyle/>
                    <a:p>
                      <a:pPr algn="ctr"/>
                      <a:r>
                        <a:rPr lang="en-US" sz="2200" dirty="0"/>
                        <a:t>Equity</a:t>
                      </a:r>
                    </a:p>
                  </a:txBody>
                  <a:tcPr marL="64262" marR="64262" marT="32131" marB="32131" anchor="ctr"/>
                </a:tc>
                <a:tc hMerge="1">
                  <a:txBody>
                    <a:bodyPr/>
                    <a:lstStyle/>
                    <a:p>
                      <a:endParaRPr lang="en-US" dirty="0"/>
                    </a:p>
                  </a:txBody>
                  <a:tcPr/>
                </a:tc>
                <a:tc rowSpan="2">
                  <a:txBody>
                    <a:bodyPr/>
                    <a:lstStyle/>
                    <a:p>
                      <a:pPr algn="ctr"/>
                      <a:r>
                        <a:rPr lang="en-US" sz="2200" dirty="0"/>
                        <a:t>Non-current liabilities (NCL)</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liabilities (CL)</a:t>
                      </a:r>
                    </a:p>
                  </a:txBody>
                  <a:tcPr marL="64262" marR="64262" marT="32131" marB="32131"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8874"/>
                  </a:ext>
                </a:extLst>
              </a:tr>
              <a:tr h="1435193">
                <a:tc vMerge="1">
                  <a:txBody>
                    <a:bodyPr/>
                    <a:lstStyle/>
                    <a:p>
                      <a:endParaRPr lang="en-US" sz="3200" dirty="0"/>
                    </a:p>
                  </a:txBody>
                  <a:tcPr/>
                </a:tc>
                <a:tc vMerge="1">
                  <a:txBody>
                    <a:bodyPr/>
                    <a:lstStyle/>
                    <a:p>
                      <a:endParaRPr lang="en-US" sz="3200" dirty="0"/>
                    </a:p>
                  </a:txBody>
                  <a:tcPr/>
                </a:tc>
                <a:tc>
                  <a:txBody>
                    <a:bodyPr/>
                    <a:lstStyle/>
                    <a:p>
                      <a:pPr algn="ctr"/>
                      <a:r>
                        <a:rPr lang="en-US" sz="2200" dirty="0"/>
                        <a:t>Share capital and additional paid-in capital</a:t>
                      </a:r>
                    </a:p>
                  </a:txBody>
                  <a:tcPr marL="64262" marR="64262" marT="32131" marB="32131" anchor="ctr">
                    <a:lnB w="12700" cap="flat" cmpd="sng" algn="ctr">
                      <a:solidFill>
                        <a:schemeClr val="tx1"/>
                      </a:solidFill>
                      <a:prstDash val="solid"/>
                      <a:round/>
                      <a:headEnd type="none" w="med" len="med"/>
                      <a:tailEnd type="none" w="med" len="med"/>
                    </a:lnB>
                  </a:tcPr>
                </a:tc>
                <a:tc>
                  <a:txBody>
                    <a:bodyPr/>
                    <a:lstStyle/>
                    <a:p>
                      <a:pPr algn="ctr"/>
                      <a:r>
                        <a:rPr lang="en-US" sz="2200" dirty="0"/>
                        <a:t>Retained earnings and other reserves</a:t>
                      </a:r>
                    </a:p>
                  </a:txBody>
                  <a:tcPr marL="64262" marR="64262" marT="32131" marB="32131" anchor="ctr">
                    <a:lnB w="12700" cap="flat" cmpd="sng" algn="ctr">
                      <a:solidFill>
                        <a:schemeClr val="tx1"/>
                      </a:solidFill>
                      <a:prstDash val="solid"/>
                      <a:round/>
                      <a:headEnd type="none" w="med" len="med"/>
                      <a:tailEnd type="none" w="med" len="med"/>
                    </a:lnB>
                  </a:tcPr>
                </a:tc>
                <a:tc vMerge="1">
                  <a:txBody>
                    <a:bodyPr/>
                    <a:lstStyle/>
                    <a:p>
                      <a:endParaRPr lang="en-US" sz="3200" dirty="0"/>
                    </a:p>
                  </a:txBody>
                  <a:tcPr/>
                </a:tc>
                <a:tc vMerge="1">
                  <a:txBody>
                    <a:bodyPr/>
                    <a:lstStyle/>
                    <a:p>
                      <a:endParaRPr lang="en-US" sz="3200" dirty="0"/>
                    </a:p>
                  </a:txBody>
                  <a:tcPr/>
                </a:tc>
                <a:extLst>
                  <a:ext uri="{0D108BD9-81ED-4DB2-BD59-A6C34878D82A}">
                    <a16:rowId xmlns:a16="http://schemas.microsoft.com/office/drawing/2014/main" val="853442960"/>
                  </a:ext>
                </a:extLst>
              </a:tr>
              <a:tr h="749728">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25328"/>
                  </a:ext>
                </a:extLst>
              </a:tr>
            </a:tbl>
          </a:graphicData>
        </a:graphic>
      </p:graphicFrame>
      <p:sp>
        <p:nvSpPr>
          <p:cNvPr id="5" name="Slide Number Placeholder 4">
            <a:extLst>
              <a:ext uri="{FF2B5EF4-FFF2-40B4-BE49-F238E27FC236}">
                <a16:creationId xmlns:a16="http://schemas.microsoft.com/office/drawing/2014/main" id="{F394A257-6480-44D9-BDFA-3790757012DC}"/>
              </a:ext>
            </a:extLst>
          </p:cNvPr>
          <p:cNvSpPr>
            <a:spLocks noGrp="1"/>
          </p:cNvSpPr>
          <p:nvPr>
            <p:ph type="sldNum" sz="quarter" idx="10"/>
          </p:nvPr>
        </p:nvSpPr>
        <p:spPr/>
        <p:txBody>
          <a:bodyPr/>
          <a:lstStyle/>
          <a:p>
            <a:fld id="{307C7597-8D70-4701-8085-9524B0B5C72B}" type="slidenum">
              <a:rPr lang="fr-FR" smtClean="0"/>
              <a:pPr/>
              <a:t>52</a:t>
            </a:fld>
            <a:endParaRPr lang="fr-FR" dirty="0"/>
          </a:p>
        </p:txBody>
      </p:sp>
    </p:spTree>
    <p:extLst>
      <p:ext uri="{BB962C8B-B14F-4D97-AF65-F5344CB8AC3E}">
        <p14:creationId xmlns:p14="http://schemas.microsoft.com/office/powerpoint/2010/main" val="15726706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00F9E9-DDEA-4600-A580-A2D05502EF2B}"/>
              </a:ext>
            </a:extLst>
          </p:cNvPr>
          <p:cNvSpPr>
            <a:spLocks noGrp="1"/>
          </p:cNvSpPr>
          <p:nvPr>
            <p:ph type="title"/>
          </p:nvPr>
        </p:nvSpPr>
        <p:spPr/>
        <p:txBody>
          <a:bodyPr/>
          <a:lstStyle/>
          <a:p>
            <a:r>
              <a:rPr lang="en-US" sz="3092" dirty="0"/>
              <a:t>What is the effect on the balance sheet of the repayment of a short-term debt?</a:t>
            </a:r>
          </a:p>
        </p:txBody>
      </p:sp>
      <p:graphicFrame>
        <p:nvGraphicFramePr>
          <p:cNvPr id="6" name="Table 6">
            <a:extLst>
              <a:ext uri="{FF2B5EF4-FFF2-40B4-BE49-F238E27FC236}">
                <a16:creationId xmlns:a16="http://schemas.microsoft.com/office/drawing/2014/main" id="{1FD6A07A-361C-4125-BBCE-5A6A8BC1B965}"/>
              </a:ext>
            </a:extLst>
          </p:cNvPr>
          <p:cNvGraphicFramePr>
            <a:graphicFrameLocks noGrp="1"/>
          </p:cNvGraphicFramePr>
          <p:nvPr>
            <p:ph idx="1"/>
            <p:extLst>
              <p:ext uri="{D42A27DB-BD31-4B8C-83A1-F6EECF244321}">
                <p14:modId xmlns:p14="http://schemas.microsoft.com/office/powerpoint/2010/main" val="1840108787"/>
              </p:ext>
            </p:extLst>
          </p:nvPr>
        </p:nvGraphicFramePr>
        <p:xfrm>
          <a:off x="681038" y="1825625"/>
          <a:ext cx="10829922" cy="3240117"/>
        </p:xfrm>
        <a:graphic>
          <a:graphicData uri="http://schemas.openxmlformats.org/drawingml/2006/table">
            <a:tbl>
              <a:tblPr firstRow="1" bandRow="1">
                <a:tableStyleId>{5C22544A-7EE6-4342-B048-85BDC9FD1C3A}</a:tableStyleId>
              </a:tblPr>
              <a:tblGrid>
                <a:gridCol w="1804987">
                  <a:extLst>
                    <a:ext uri="{9D8B030D-6E8A-4147-A177-3AD203B41FA5}">
                      <a16:colId xmlns:a16="http://schemas.microsoft.com/office/drawing/2014/main" val="2031488337"/>
                    </a:ext>
                  </a:extLst>
                </a:gridCol>
                <a:gridCol w="1804987">
                  <a:extLst>
                    <a:ext uri="{9D8B030D-6E8A-4147-A177-3AD203B41FA5}">
                      <a16:colId xmlns:a16="http://schemas.microsoft.com/office/drawing/2014/main" val="526378758"/>
                    </a:ext>
                  </a:extLst>
                </a:gridCol>
                <a:gridCol w="1804987">
                  <a:extLst>
                    <a:ext uri="{9D8B030D-6E8A-4147-A177-3AD203B41FA5}">
                      <a16:colId xmlns:a16="http://schemas.microsoft.com/office/drawing/2014/main" val="325362427"/>
                    </a:ext>
                  </a:extLst>
                </a:gridCol>
                <a:gridCol w="1804987">
                  <a:extLst>
                    <a:ext uri="{9D8B030D-6E8A-4147-A177-3AD203B41FA5}">
                      <a16:colId xmlns:a16="http://schemas.microsoft.com/office/drawing/2014/main" val="1990001942"/>
                    </a:ext>
                  </a:extLst>
                </a:gridCol>
                <a:gridCol w="1804987">
                  <a:extLst>
                    <a:ext uri="{9D8B030D-6E8A-4147-A177-3AD203B41FA5}">
                      <a16:colId xmlns:a16="http://schemas.microsoft.com/office/drawing/2014/main" val="3344489120"/>
                    </a:ext>
                  </a:extLst>
                </a:gridCol>
                <a:gridCol w="1804987">
                  <a:extLst>
                    <a:ext uri="{9D8B030D-6E8A-4147-A177-3AD203B41FA5}">
                      <a16:colId xmlns:a16="http://schemas.microsoft.com/office/drawing/2014/main" val="3436964488"/>
                    </a:ext>
                  </a:extLst>
                </a:gridCol>
              </a:tblGrid>
              <a:tr h="406995">
                <a:tc rowSpan="2">
                  <a:txBody>
                    <a:bodyPr/>
                    <a:lstStyle/>
                    <a:p>
                      <a:pPr algn="ctr"/>
                      <a:r>
                        <a:rPr lang="en-US" sz="2200" dirty="0"/>
                        <a:t>Non-current assets (NCA)</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assets (CA)</a:t>
                      </a:r>
                    </a:p>
                  </a:txBody>
                  <a:tcPr marL="64262" marR="64262" marT="32131" marB="32131" anchor="ctr">
                    <a:lnB w="12700" cap="flat" cmpd="sng" algn="ctr">
                      <a:solidFill>
                        <a:schemeClr val="tx1"/>
                      </a:solidFill>
                      <a:prstDash val="solid"/>
                      <a:round/>
                      <a:headEnd type="none" w="med" len="med"/>
                      <a:tailEnd type="none" w="med" len="med"/>
                    </a:lnB>
                  </a:tcPr>
                </a:tc>
                <a:tc gridSpan="2">
                  <a:txBody>
                    <a:bodyPr/>
                    <a:lstStyle/>
                    <a:p>
                      <a:pPr algn="ctr"/>
                      <a:r>
                        <a:rPr lang="en-US" sz="2200" dirty="0"/>
                        <a:t>Equity</a:t>
                      </a:r>
                    </a:p>
                  </a:txBody>
                  <a:tcPr marL="64262" marR="64262" marT="32131" marB="32131" anchor="ctr"/>
                </a:tc>
                <a:tc hMerge="1">
                  <a:txBody>
                    <a:bodyPr/>
                    <a:lstStyle/>
                    <a:p>
                      <a:endParaRPr lang="en-US" dirty="0"/>
                    </a:p>
                  </a:txBody>
                  <a:tcPr/>
                </a:tc>
                <a:tc rowSpan="2">
                  <a:txBody>
                    <a:bodyPr/>
                    <a:lstStyle/>
                    <a:p>
                      <a:pPr algn="ctr"/>
                      <a:r>
                        <a:rPr lang="en-US" sz="2200" dirty="0"/>
                        <a:t>Non-current liabilities (NCL)</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liabilities (CL)</a:t>
                      </a:r>
                    </a:p>
                  </a:txBody>
                  <a:tcPr marL="64262" marR="64262" marT="32131" marB="32131"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8874"/>
                  </a:ext>
                </a:extLst>
              </a:tr>
              <a:tr h="1435193">
                <a:tc vMerge="1">
                  <a:txBody>
                    <a:bodyPr/>
                    <a:lstStyle/>
                    <a:p>
                      <a:endParaRPr lang="en-US" sz="3200" dirty="0"/>
                    </a:p>
                  </a:txBody>
                  <a:tcPr/>
                </a:tc>
                <a:tc vMerge="1">
                  <a:txBody>
                    <a:bodyPr/>
                    <a:lstStyle/>
                    <a:p>
                      <a:endParaRPr lang="en-US" sz="3200" dirty="0"/>
                    </a:p>
                  </a:txBody>
                  <a:tcPr/>
                </a:tc>
                <a:tc>
                  <a:txBody>
                    <a:bodyPr/>
                    <a:lstStyle/>
                    <a:p>
                      <a:pPr algn="ctr"/>
                      <a:r>
                        <a:rPr lang="en-US" sz="2200" dirty="0"/>
                        <a:t>Share capital and additional paid-in capital</a:t>
                      </a:r>
                    </a:p>
                  </a:txBody>
                  <a:tcPr marL="64262" marR="64262" marT="32131" marB="32131" anchor="ctr">
                    <a:lnB w="12700" cap="flat" cmpd="sng" algn="ctr">
                      <a:solidFill>
                        <a:schemeClr val="tx1"/>
                      </a:solidFill>
                      <a:prstDash val="solid"/>
                      <a:round/>
                      <a:headEnd type="none" w="med" len="med"/>
                      <a:tailEnd type="none" w="med" len="med"/>
                    </a:lnB>
                  </a:tcPr>
                </a:tc>
                <a:tc>
                  <a:txBody>
                    <a:bodyPr/>
                    <a:lstStyle/>
                    <a:p>
                      <a:pPr algn="ctr"/>
                      <a:r>
                        <a:rPr lang="en-US" sz="2200" dirty="0"/>
                        <a:t>Retained earnings and other reserves</a:t>
                      </a:r>
                    </a:p>
                  </a:txBody>
                  <a:tcPr marL="64262" marR="64262" marT="32131" marB="32131" anchor="ctr">
                    <a:lnB w="12700" cap="flat" cmpd="sng" algn="ctr">
                      <a:solidFill>
                        <a:schemeClr val="tx1"/>
                      </a:solidFill>
                      <a:prstDash val="solid"/>
                      <a:round/>
                      <a:headEnd type="none" w="med" len="med"/>
                      <a:tailEnd type="none" w="med" len="med"/>
                    </a:lnB>
                  </a:tcPr>
                </a:tc>
                <a:tc vMerge="1">
                  <a:txBody>
                    <a:bodyPr/>
                    <a:lstStyle/>
                    <a:p>
                      <a:endParaRPr lang="en-US" sz="3200" dirty="0"/>
                    </a:p>
                  </a:txBody>
                  <a:tcPr/>
                </a:tc>
                <a:tc vMerge="1">
                  <a:txBody>
                    <a:bodyPr/>
                    <a:lstStyle/>
                    <a:p>
                      <a:endParaRPr lang="en-US" sz="3200" dirty="0"/>
                    </a:p>
                  </a:txBody>
                  <a:tcPr/>
                </a:tc>
                <a:extLst>
                  <a:ext uri="{0D108BD9-81ED-4DB2-BD59-A6C34878D82A}">
                    <a16:rowId xmlns:a16="http://schemas.microsoft.com/office/drawing/2014/main" val="853442960"/>
                  </a:ext>
                </a:extLst>
              </a:tr>
              <a:tr h="1092460">
                <a:tc>
                  <a:txBody>
                    <a:bodyPr/>
                    <a:lstStyle/>
                    <a:p>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dirty="0"/>
                        <a:t>Cash (decrease)</a:t>
                      </a:r>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dirty="0"/>
                        <a:t>Short-term debt (decrease)</a:t>
                      </a:r>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25328"/>
                  </a:ext>
                </a:extLst>
              </a:tr>
            </a:tbl>
          </a:graphicData>
        </a:graphic>
      </p:graphicFrame>
      <p:sp>
        <p:nvSpPr>
          <p:cNvPr id="5" name="Slide Number Placeholder 4">
            <a:extLst>
              <a:ext uri="{FF2B5EF4-FFF2-40B4-BE49-F238E27FC236}">
                <a16:creationId xmlns:a16="http://schemas.microsoft.com/office/drawing/2014/main" id="{F394A257-6480-44D9-BDFA-3790757012DC}"/>
              </a:ext>
            </a:extLst>
          </p:cNvPr>
          <p:cNvSpPr>
            <a:spLocks noGrp="1"/>
          </p:cNvSpPr>
          <p:nvPr>
            <p:ph type="sldNum" sz="quarter" idx="10"/>
          </p:nvPr>
        </p:nvSpPr>
        <p:spPr/>
        <p:txBody>
          <a:bodyPr/>
          <a:lstStyle/>
          <a:p>
            <a:fld id="{307C7597-8D70-4701-8085-9524B0B5C72B}" type="slidenum">
              <a:rPr lang="fr-FR" smtClean="0"/>
              <a:pPr/>
              <a:t>53</a:t>
            </a:fld>
            <a:endParaRPr lang="fr-FR" dirty="0"/>
          </a:p>
        </p:txBody>
      </p:sp>
      <p:sp>
        <p:nvSpPr>
          <p:cNvPr id="2" name="TextBox 1"/>
          <p:cNvSpPr txBox="1"/>
          <p:nvPr/>
        </p:nvSpPr>
        <p:spPr>
          <a:xfrm>
            <a:off x="1367161" y="5345993"/>
            <a:ext cx="9762725" cy="568169"/>
          </a:xfrm>
          <a:prstGeom prst="rect">
            <a:avLst/>
          </a:prstGeom>
          <a:noFill/>
        </p:spPr>
        <p:txBody>
          <a:bodyPr wrap="square" rtlCol="0">
            <a:spAutoFit/>
          </a:bodyPr>
          <a:lstStyle/>
          <a:p>
            <a:pPr algn="ctr"/>
            <a:r>
              <a:rPr lang="fr-FR" sz="3092" dirty="0"/>
              <a:t>Net </a:t>
            </a:r>
            <a:r>
              <a:rPr lang="fr-FR" sz="3092" dirty="0" err="1"/>
              <a:t>assets</a:t>
            </a:r>
            <a:r>
              <a:rPr lang="fr-FR" sz="3092" dirty="0"/>
              <a:t> = </a:t>
            </a:r>
            <a:r>
              <a:rPr lang="fr-FR" sz="3092" dirty="0" err="1"/>
              <a:t>Assets</a:t>
            </a:r>
            <a:r>
              <a:rPr lang="fr-FR" sz="3092" dirty="0"/>
              <a:t> at net value – </a:t>
            </a:r>
            <a:r>
              <a:rPr lang="fr-FR" sz="3092" dirty="0" err="1"/>
              <a:t>Liabilities</a:t>
            </a:r>
            <a:r>
              <a:rPr lang="fr-FR" sz="3092" dirty="0"/>
              <a:t> = </a:t>
            </a:r>
            <a:r>
              <a:rPr lang="fr-FR" sz="3092" dirty="0" err="1"/>
              <a:t>Equity</a:t>
            </a:r>
            <a:endParaRPr lang="fr-FR" sz="3092" dirty="0"/>
          </a:p>
        </p:txBody>
      </p:sp>
    </p:spTree>
    <p:extLst>
      <p:ext uri="{BB962C8B-B14F-4D97-AF65-F5344CB8AC3E}">
        <p14:creationId xmlns:p14="http://schemas.microsoft.com/office/powerpoint/2010/main" val="36686938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00F9E9-DDEA-4600-A580-A2D05502EF2B}"/>
              </a:ext>
            </a:extLst>
          </p:cNvPr>
          <p:cNvSpPr>
            <a:spLocks noGrp="1"/>
          </p:cNvSpPr>
          <p:nvPr>
            <p:ph type="title"/>
          </p:nvPr>
        </p:nvSpPr>
        <p:spPr/>
        <p:txBody>
          <a:bodyPr/>
          <a:lstStyle/>
          <a:p>
            <a:r>
              <a:rPr lang="en-US" sz="3092" dirty="0"/>
              <a:t>What is the effect on the balance sheet of the repayment of the short-term portion of a long-term debt with annual repayment?</a:t>
            </a:r>
          </a:p>
        </p:txBody>
      </p:sp>
      <p:graphicFrame>
        <p:nvGraphicFramePr>
          <p:cNvPr id="6" name="Table 6">
            <a:extLst>
              <a:ext uri="{FF2B5EF4-FFF2-40B4-BE49-F238E27FC236}">
                <a16:creationId xmlns:a16="http://schemas.microsoft.com/office/drawing/2014/main" id="{1FD6A07A-361C-4125-BBCE-5A6A8BC1B965}"/>
              </a:ext>
            </a:extLst>
          </p:cNvPr>
          <p:cNvGraphicFramePr>
            <a:graphicFrameLocks noGrp="1"/>
          </p:cNvGraphicFramePr>
          <p:nvPr>
            <p:ph idx="1"/>
            <p:extLst>
              <p:ext uri="{D42A27DB-BD31-4B8C-83A1-F6EECF244321}">
                <p14:modId xmlns:p14="http://schemas.microsoft.com/office/powerpoint/2010/main" val="1308455151"/>
              </p:ext>
            </p:extLst>
          </p:nvPr>
        </p:nvGraphicFramePr>
        <p:xfrm>
          <a:off x="681038" y="1825625"/>
          <a:ext cx="10829922" cy="2554652"/>
        </p:xfrm>
        <a:graphic>
          <a:graphicData uri="http://schemas.openxmlformats.org/drawingml/2006/table">
            <a:tbl>
              <a:tblPr firstRow="1" bandRow="1">
                <a:tableStyleId>{5C22544A-7EE6-4342-B048-85BDC9FD1C3A}</a:tableStyleId>
              </a:tblPr>
              <a:tblGrid>
                <a:gridCol w="1804987">
                  <a:extLst>
                    <a:ext uri="{9D8B030D-6E8A-4147-A177-3AD203B41FA5}">
                      <a16:colId xmlns:a16="http://schemas.microsoft.com/office/drawing/2014/main" val="2031488337"/>
                    </a:ext>
                  </a:extLst>
                </a:gridCol>
                <a:gridCol w="1804987">
                  <a:extLst>
                    <a:ext uri="{9D8B030D-6E8A-4147-A177-3AD203B41FA5}">
                      <a16:colId xmlns:a16="http://schemas.microsoft.com/office/drawing/2014/main" val="526378758"/>
                    </a:ext>
                  </a:extLst>
                </a:gridCol>
                <a:gridCol w="1804987">
                  <a:extLst>
                    <a:ext uri="{9D8B030D-6E8A-4147-A177-3AD203B41FA5}">
                      <a16:colId xmlns:a16="http://schemas.microsoft.com/office/drawing/2014/main" val="325362427"/>
                    </a:ext>
                  </a:extLst>
                </a:gridCol>
                <a:gridCol w="1804987">
                  <a:extLst>
                    <a:ext uri="{9D8B030D-6E8A-4147-A177-3AD203B41FA5}">
                      <a16:colId xmlns:a16="http://schemas.microsoft.com/office/drawing/2014/main" val="1990001942"/>
                    </a:ext>
                  </a:extLst>
                </a:gridCol>
                <a:gridCol w="1804987">
                  <a:extLst>
                    <a:ext uri="{9D8B030D-6E8A-4147-A177-3AD203B41FA5}">
                      <a16:colId xmlns:a16="http://schemas.microsoft.com/office/drawing/2014/main" val="3344489120"/>
                    </a:ext>
                  </a:extLst>
                </a:gridCol>
                <a:gridCol w="1804987">
                  <a:extLst>
                    <a:ext uri="{9D8B030D-6E8A-4147-A177-3AD203B41FA5}">
                      <a16:colId xmlns:a16="http://schemas.microsoft.com/office/drawing/2014/main" val="3436964488"/>
                    </a:ext>
                  </a:extLst>
                </a:gridCol>
              </a:tblGrid>
              <a:tr h="406995">
                <a:tc rowSpan="2">
                  <a:txBody>
                    <a:bodyPr/>
                    <a:lstStyle/>
                    <a:p>
                      <a:pPr algn="ctr"/>
                      <a:r>
                        <a:rPr lang="en-US" sz="2200" dirty="0"/>
                        <a:t>Non-current assets (NCA)</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assets (CA)</a:t>
                      </a:r>
                    </a:p>
                  </a:txBody>
                  <a:tcPr marL="64262" marR="64262" marT="32131" marB="32131" anchor="ctr">
                    <a:lnB w="12700" cap="flat" cmpd="sng" algn="ctr">
                      <a:solidFill>
                        <a:schemeClr val="tx1"/>
                      </a:solidFill>
                      <a:prstDash val="solid"/>
                      <a:round/>
                      <a:headEnd type="none" w="med" len="med"/>
                      <a:tailEnd type="none" w="med" len="med"/>
                    </a:lnB>
                  </a:tcPr>
                </a:tc>
                <a:tc gridSpan="2">
                  <a:txBody>
                    <a:bodyPr/>
                    <a:lstStyle/>
                    <a:p>
                      <a:pPr algn="ctr"/>
                      <a:r>
                        <a:rPr lang="en-US" sz="2200" dirty="0"/>
                        <a:t>Equity</a:t>
                      </a:r>
                    </a:p>
                  </a:txBody>
                  <a:tcPr marL="64262" marR="64262" marT="32131" marB="32131" anchor="ctr"/>
                </a:tc>
                <a:tc hMerge="1">
                  <a:txBody>
                    <a:bodyPr/>
                    <a:lstStyle/>
                    <a:p>
                      <a:endParaRPr lang="en-US" dirty="0"/>
                    </a:p>
                  </a:txBody>
                  <a:tcPr/>
                </a:tc>
                <a:tc rowSpan="2">
                  <a:txBody>
                    <a:bodyPr/>
                    <a:lstStyle/>
                    <a:p>
                      <a:pPr algn="ctr"/>
                      <a:r>
                        <a:rPr lang="en-US" sz="2200" dirty="0"/>
                        <a:t>Non-current liabilities (NCL)</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liabilities (CL)</a:t>
                      </a:r>
                    </a:p>
                  </a:txBody>
                  <a:tcPr marL="64262" marR="64262" marT="32131" marB="32131"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8874"/>
                  </a:ext>
                </a:extLst>
              </a:tr>
              <a:tr h="1435193">
                <a:tc vMerge="1">
                  <a:txBody>
                    <a:bodyPr/>
                    <a:lstStyle/>
                    <a:p>
                      <a:endParaRPr lang="en-US" sz="3200" dirty="0"/>
                    </a:p>
                  </a:txBody>
                  <a:tcPr/>
                </a:tc>
                <a:tc vMerge="1">
                  <a:txBody>
                    <a:bodyPr/>
                    <a:lstStyle/>
                    <a:p>
                      <a:endParaRPr lang="en-US" sz="3200" dirty="0"/>
                    </a:p>
                  </a:txBody>
                  <a:tcPr/>
                </a:tc>
                <a:tc>
                  <a:txBody>
                    <a:bodyPr/>
                    <a:lstStyle/>
                    <a:p>
                      <a:pPr algn="ctr"/>
                      <a:r>
                        <a:rPr lang="en-US" sz="2200" dirty="0"/>
                        <a:t>Share capital and additional paid-in capital</a:t>
                      </a:r>
                    </a:p>
                  </a:txBody>
                  <a:tcPr marL="64262" marR="64262" marT="32131" marB="32131" anchor="ctr">
                    <a:lnB w="12700" cap="flat" cmpd="sng" algn="ctr">
                      <a:solidFill>
                        <a:schemeClr val="tx1"/>
                      </a:solidFill>
                      <a:prstDash val="solid"/>
                      <a:round/>
                      <a:headEnd type="none" w="med" len="med"/>
                      <a:tailEnd type="none" w="med" len="med"/>
                    </a:lnB>
                  </a:tcPr>
                </a:tc>
                <a:tc>
                  <a:txBody>
                    <a:bodyPr/>
                    <a:lstStyle/>
                    <a:p>
                      <a:pPr algn="ctr"/>
                      <a:r>
                        <a:rPr lang="en-US" sz="2200" dirty="0"/>
                        <a:t>Retained earnings and other reserves</a:t>
                      </a:r>
                    </a:p>
                  </a:txBody>
                  <a:tcPr marL="64262" marR="64262" marT="32131" marB="32131" anchor="ctr">
                    <a:lnB w="12700" cap="flat" cmpd="sng" algn="ctr">
                      <a:solidFill>
                        <a:schemeClr val="tx1"/>
                      </a:solidFill>
                      <a:prstDash val="solid"/>
                      <a:round/>
                      <a:headEnd type="none" w="med" len="med"/>
                      <a:tailEnd type="none" w="med" len="med"/>
                    </a:lnB>
                  </a:tcPr>
                </a:tc>
                <a:tc vMerge="1">
                  <a:txBody>
                    <a:bodyPr/>
                    <a:lstStyle/>
                    <a:p>
                      <a:endParaRPr lang="en-US" sz="3200" dirty="0"/>
                    </a:p>
                  </a:txBody>
                  <a:tcPr/>
                </a:tc>
                <a:tc vMerge="1">
                  <a:txBody>
                    <a:bodyPr/>
                    <a:lstStyle/>
                    <a:p>
                      <a:endParaRPr lang="en-US" sz="3200" dirty="0"/>
                    </a:p>
                  </a:txBody>
                  <a:tcPr/>
                </a:tc>
                <a:extLst>
                  <a:ext uri="{0D108BD9-81ED-4DB2-BD59-A6C34878D82A}">
                    <a16:rowId xmlns:a16="http://schemas.microsoft.com/office/drawing/2014/main" val="853442960"/>
                  </a:ext>
                </a:extLst>
              </a:tr>
              <a:tr h="406995">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25328"/>
                  </a:ext>
                </a:extLst>
              </a:tr>
            </a:tbl>
          </a:graphicData>
        </a:graphic>
      </p:graphicFrame>
      <p:sp>
        <p:nvSpPr>
          <p:cNvPr id="5" name="Slide Number Placeholder 4">
            <a:extLst>
              <a:ext uri="{FF2B5EF4-FFF2-40B4-BE49-F238E27FC236}">
                <a16:creationId xmlns:a16="http://schemas.microsoft.com/office/drawing/2014/main" id="{F394A257-6480-44D9-BDFA-3790757012DC}"/>
              </a:ext>
            </a:extLst>
          </p:cNvPr>
          <p:cNvSpPr>
            <a:spLocks noGrp="1"/>
          </p:cNvSpPr>
          <p:nvPr>
            <p:ph type="sldNum" sz="quarter" idx="10"/>
          </p:nvPr>
        </p:nvSpPr>
        <p:spPr/>
        <p:txBody>
          <a:bodyPr/>
          <a:lstStyle/>
          <a:p>
            <a:fld id="{307C7597-8D70-4701-8085-9524B0B5C72B}" type="slidenum">
              <a:rPr lang="fr-FR" smtClean="0"/>
              <a:pPr/>
              <a:t>54</a:t>
            </a:fld>
            <a:endParaRPr lang="fr-FR" dirty="0"/>
          </a:p>
        </p:txBody>
      </p:sp>
    </p:spTree>
    <p:extLst>
      <p:ext uri="{BB962C8B-B14F-4D97-AF65-F5344CB8AC3E}">
        <p14:creationId xmlns:p14="http://schemas.microsoft.com/office/powerpoint/2010/main" val="2626729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00F9E9-DDEA-4600-A580-A2D05502EF2B}"/>
              </a:ext>
            </a:extLst>
          </p:cNvPr>
          <p:cNvSpPr>
            <a:spLocks noGrp="1"/>
          </p:cNvSpPr>
          <p:nvPr>
            <p:ph type="title"/>
          </p:nvPr>
        </p:nvSpPr>
        <p:spPr/>
        <p:txBody>
          <a:bodyPr/>
          <a:lstStyle/>
          <a:p>
            <a:r>
              <a:rPr lang="en-US" sz="3092" dirty="0"/>
              <a:t>What is the effect on the balance sheet of the repayment of the short-term portion of a long-term debt with annual repayment?</a:t>
            </a:r>
          </a:p>
        </p:txBody>
      </p:sp>
      <p:graphicFrame>
        <p:nvGraphicFramePr>
          <p:cNvPr id="6" name="Table 6">
            <a:extLst>
              <a:ext uri="{FF2B5EF4-FFF2-40B4-BE49-F238E27FC236}">
                <a16:creationId xmlns:a16="http://schemas.microsoft.com/office/drawing/2014/main" id="{1FD6A07A-361C-4125-BBCE-5A6A8BC1B965}"/>
              </a:ext>
            </a:extLst>
          </p:cNvPr>
          <p:cNvGraphicFramePr>
            <a:graphicFrameLocks noGrp="1"/>
          </p:cNvGraphicFramePr>
          <p:nvPr>
            <p:ph idx="1"/>
            <p:extLst>
              <p:ext uri="{D42A27DB-BD31-4B8C-83A1-F6EECF244321}">
                <p14:modId xmlns:p14="http://schemas.microsoft.com/office/powerpoint/2010/main" val="4063126816"/>
              </p:ext>
            </p:extLst>
          </p:nvPr>
        </p:nvGraphicFramePr>
        <p:xfrm>
          <a:off x="244344" y="1606857"/>
          <a:ext cx="11703312" cy="4616064"/>
        </p:xfrm>
        <a:graphic>
          <a:graphicData uri="http://schemas.openxmlformats.org/drawingml/2006/table">
            <a:tbl>
              <a:tblPr firstRow="1" bandRow="1">
                <a:tableStyleId>{5C22544A-7EE6-4342-B048-85BDC9FD1C3A}</a:tableStyleId>
              </a:tblPr>
              <a:tblGrid>
                <a:gridCol w="1950552">
                  <a:extLst>
                    <a:ext uri="{9D8B030D-6E8A-4147-A177-3AD203B41FA5}">
                      <a16:colId xmlns:a16="http://schemas.microsoft.com/office/drawing/2014/main" val="2031488337"/>
                    </a:ext>
                  </a:extLst>
                </a:gridCol>
                <a:gridCol w="1950552">
                  <a:extLst>
                    <a:ext uri="{9D8B030D-6E8A-4147-A177-3AD203B41FA5}">
                      <a16:colId xmlns:a16="http://schemas.microsoft.com/office/drawing/2014/main" val="526378758"/>
                    </a:ext>
                  </a:extLst>
                </a:gridCol>
                <a:gridCol w="1950552">
                  <a:extLst>
                    <a:ext uri="{9D8B030D-6E8A-4147-A177-3AD203B41FA5}">
                      <a16:colId xmlns:a16="http://schemas.microsoft.com/office/drawing/2014/main" val="325362427"/>
                    </a:ext>
                  </a:extLst>
                </a:gridCol>
                <a:gridCol w="1950552">
                  <a:extLst>
                    <a:ext uri="{9D8B030D-6E8A-4147-A177-3AD203B41FA5}">
                      <a16:colId xmlns:a16="http://schemas.microsoft.com/office/drawing/2014/main" val="1990001942"/>
                    </a:ext>
                  </a:extLst>
                </a:gridCol>
                <a:gridCol w="1950552">
                  <a:extLst>
                    <a:ext uri="{9D8B030D-6E8A-4147-A177-3AD203B41FA5}">
                      <a16:colId xmlns:a16="http://schemas.microsoft.com/office/drawing/2014/main" val="3344489120"/>
                    </a:ext>
                  </a:extLst>
                </a:gridCol>
                <a:gridCol w="1950552">
                  <a:extLst>
                    <a:ext uri="{9D8B030D-6E8A-4147-A177-3AD203B41FA5}">
                      <a16:colId xmlns:a16="http://schemas.microsoft.com/office/drawing/2014/main" val="3436964488"/>
                    </a:ext>
                  </a:extLst>
                </a:gridCol>
              </a:tblGrid>
              <a:tr h="343837">
                <a:tc rowSpan="2">
                  <a:txBody>
                    <a:bodyPr/>
                    <a:lstStyle/>
                    <a:p>
                      <a:pPr algn="ctr"/>
                      <a:r>
                        <a:rPr lang="en-US" sz="2200" dirty="0"/>
                        <a:t>Non-current assets (NCA)</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assets (CA)</a:t>
                      </a:r>
                    </a:p>
                  </a:txBody>
                  <a:tcPr marL="64262" marR="64262" marT="32131" marB="32131" anchor="ctr">
                    <a:lnB w="12700" cap="flat" cmpd="sng" algn="ctr">
                      <a:solidFill>
                        <a:schemeClr val="tx1"/>
                      </a:solidFill>
                      <a:prstDash val="solid"/>
                      <a:round/>
                      <a:headEnd type="none" w="med" len="med"/>
                      <a:tailEnd type="none" w="med" len="med"/>
                    </a:lnB>
                  </a:tcPr>
                </a:tc>
                <a:tc gridSpan="2">
                  <a:txBody>
                    <a:bodyPr/>
                    <a:lstStyle/>
                    <a:p>
                      <a:pPr algn="ctr"/>
                      <a:r>
                        <a:rPr lang="en-US" sz="2200" dirty="0"/>
                        <a:t>Equity</a:t>
                      </a:r>
                    </a:p>
                  </a:txBody>
                  <a:tcPr marL="64262" marR="64262" marT="32131" marB="32131" anchor="ctr"/>
                </a:tc>
                <a:tc hMerge="1">
                  <a:txBody>
                    <a:bodyPr/>
                    <a:lstStyle/>
                    <a:p>
                      <a:endParaRPr lang="en-US" dirty="0"/>
                    </a:p>
                  </a:txBody>
                  <a:tcPr/>
                </a:tc>
                <a:tc rowSpan="2">
                  <a:txBody>
                    <a:bodyPr/>
                    <a:lstStyle/>
                    <a:p>
                      <a:pPr algn="ctr"/>
                      <a:r>
                        <a:rPr lang="en-US" sz="2200" dirty="0"/>
                        <a:t>Non-current liabilities (NCL)</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liabilities (CL)</a:t>
                      </a:r>
                    </a:p>
                  </a:txBody>
                  <a:tcPr marL="64262" marR="64262" marT="32131" marB="32131"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8874"/>
                  </a:ext>
                </a:extLst>
              </a:tr>
              <a:tr h="1212476">
                <a:tc vMerge="1">
                  <a:txBody>
                    <a:bodyPr/>
                    <a:lstStyle/>
                    <a:p>
                      <a:endParaRPr lang="en-US" sz="3200" dirty="0"/>
                    </a:p>
                  </a:txBody>
                  <a:tcPr/>
                </a:tc>
                <a:tc vMerge="1">
                  <a:txBody>
                    <a:bodyPr/>
                    <a:lstStyle/>
                    <a:p>
                      <a:endParaRPr lang="en-US" sz="3200" dirty="0"/>
                    </a:p>
                  </a:txBody>
                  <a:tcPr/>
                </a:tc>
                <a:tc>
                  <a:txBody>
                    <a:bodyPr/>
                    <a:lstStyle/>
                    <a:p>
                      <a:pPr algn="ctr"/>
                      <a:r>
                        <a:rPr lang="en-US" sz="2200" dirty="0"/>
                        <a:t>Share capital and additional paid-in capital</a:t>
                      </a:r>
                    </a:p>
                  </a:txBody>
                  <a:tcPr marL="64262" marR="64262" marT="32131" marB="32131" anchor="ctr">
                    <a:lnB w="12700" cap="flat" cmpd="sng" algn="ctr">
                      <a:solidFill>
                        <a:schemeClr val="tx1"/>
                      </a:solidFill>
                      <a:prstDash val="solid"/>
                      <a:round/>
                      <a:headEnd type="none" w="med" len="med"/>
                      <a:tailEnd type="none" w="med" len="med"/>
                    </a:lnB>
                  </a:tcPr>
                </a:tc>
                <a:tc>
                  <a:txBody>
                    <a:bodyPr/>
                    <a:lstStyle/>
                    <a:p>
                      <a:pPr algn="ctr"/>
                      <a:r>
                        <a:rPr lang="en-US" sz="2200" dirty="0"/>
                        <a:t>Retained earnings and other reserves</a:t>
                      </a:r>
                    </a:p>
                  </a:txBody>
                  <a:tcPr marL="64262" marR="64262" marT="32131" marB="32131" anchor="ctr">
                    <a:lnB w="12700" cap="flat" cmpd="sng" algn="ctr">
                      <a:solidFill>
                        <a:schemeClr val="tx1"/>
                      </a:solidFill>
                      <a:prstDash val="solid"/>
                      <a:round/>
                      <a:headEnd type="none" w="med" len="med"/>
                      <a:tailEnd type="none" w="med" len="med"/>
                    </a:lnB>
                  </a:tcPr>
                </a:tc>
                <a:tc vMerge="1">
                  <a:txBody>
                    <a:bodyPr/>
                    <a:lstStyle/>
                    <a:p>
                      <a:endParaRPr lang="en-US" sz="3200" dirty="0"/>
                    </a:p>
                  </a:txBody>
                  <a:tcPr/>
                </a:tc>
                <a:tc vMerge="1">
                  <a:txBody>
                    <a:bodyPr/>
                    <a:lstStyle/>
                    <a:p>
                      <a:endParaRPr lang="en-US" sz="3200" dirty="0"/>
                    </a:p>
                  </a:txBody>
                  <a:tcPr/>
                </a:tc>
                <a:extLst>
                  <a:ext uri="{0D108BD9-81ED-4DB2-BD59-A6C34878D82A}">
                    <a16:rowId xmlns:a16="http://schemas.microsoft.com/office/drawing/2014/main" val="853442960"/>
                  </a:ext>
                </a:extLst>
              </a:tr>
              <a:tr h="1502023">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dirty="0"/>
                        <a:t>Cash (decrease)</a:t>
                      </a:r>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dirty="0"/>
                        <a:t>Current portion of long-term debt (decrease)</a:t>
                      </a:r>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25328"/>
                  </a:ext>
                </a:extLst>
              </a:tr>
              <a:tr h="1502023">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200" dirty="0"/>
                        <a:t>Non-current portion of long-term debt (decrease)</a:t>
                      </a:r>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200" dirty="0"/>
                        <a:t>Current portion of long-term debt (increase)</a:t>
                      </a:r>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0844341"/>
                  </a:ext>
                </a:extLst>
              </a:tr>
            </a:tbl>
          </a:graphicData>
        </a:graphic>
      </p:graphicFrame>
      <p:sp>
        <p:nvSpPr>
          <p:cNvPr id="5" name="Slide Number Placeholder 4">
            <a:extLst>
              <a:ext uri="{FF2B5EF4-FFF2-40B4-BE49-F238E27FC236}">
                <a16:creationId xmlns:a16="http://schemas.microsoft.com/office/drawing/2014/main" id="{F394A257-6480-44D9-BDFA-3790757012DC}"/>
              </a:ext>
            </a:extLst>
          </p:cNvPr>
          <p:cNvSpPr>
            <a:spLocks noGrp="1"/>
          </p:cNvSpPr>
          <p:nvPr>
            <p:ph type="sldNum" sz="quarter" idx="10"/>
          </p:nvPr>
        </p:nvSpPr>
        <p:spPr/>
        <p:txBody>
          <a:bodyPr/>
          <a:lstStyle/>
          <a:p>
            <a:fld id="{307C7597-8D70-4701-8085-9524B0B5C72B}" type="slidenum">
              <a:rPr lang="fr-FR" smtClean="0"/>
              <a:pPr/>
              <a:t>55</a:t>
            </a:fld>
            <a:endParaRPr lang="fr-FR" dirty="0"/>
          </a:p>
        </p:txBody>
      </p:sp>
    </p:spTree>
    <p:extLst>
      <p:ext uri="{BB962C8B-B14F-4D97-AF65-F5344CB8AC3E}">
        <p14:creationId xmlns:p14="http://schemas.microsoft.com/office/powerpoint/2010/main" val="29278365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00F9E9-DDEA-4600-A580-A2D05502EF2B}"/>
              </a:ext>
            </a:extLst>
          </p:cNvPr>
          <p:cNvSpPr>
            <a:spLocks noGrp="1"/>
          </p:cNvSpPr>
          <p:nvPr>
            <p:ph type="title"/>
          </p:nvPr>
        </p:nvSpPr>
        <p:spPr/>
        <p:txBody>
          <a:bodyPr/>
          <a:lstStyle/>
          <a:p>
            <a:r>
              <a:rPr lang="en-US" sz="3092" dirty="0"/>
              <a:t>What is the effect on the balance sheet of the decision to distribute dividends in the coming months?</a:t>
            </a:r>
          </a:p>
        </p:txBody>
      </p:sp>
      <p:graphicFrame>
        <p:nvGraphicFramePr>
          <p:cNvPr id="6" name="Table 6">
            <a:extLst>
              <a:ext uri="{FF2B5EF4-FFF2-40B4-BE49-F238E27FC236}">
                <a16:creationId xmlns:a16="http://schemas.microsoft.com/office/drawing/2014/main" id="{1FD6A07A-361C-4125-BBCE-5A6A8BC1B965}"/>
              </a:ext>
            </a:extLst>
          </p:cNvPr>
          <p:cNvGraphicFramePr>
            <a:graphicFrameLocks noGrp="1"/>
          </p:cNvGraphicFramePr>
          <p:nvPr>
            <p:ph idx="1"/>
            <p:extLst>
              <p:ext uri="{D42A27DB-BD31-4B8C-83A1-F6EECF244321}">
                <p14:modId xmlns:p14="http://schemas.microsoft.com/office/powerpoint/2010/main" val="738075497"/>
              </p:ext>
            </p:extLst>
          </p:nvPr>
        </p:nvGraphicFramePr>
        <p:xfrm>
          <a:off x="681038" y="1825625"/>
          <a:ext cx="10829922" cy="2897385"/>
        </p:xfrm>
        <a:graphic>
          <a:graphicData uri="http://schemas.openxmlformats.org/drawingml/2006/table">
            <a:tbl>
              <a:tblPr firstRow="1" bandRow="1">
                <a:tableStyleId>{5C22544A-7EE6-4342-B048-85BDC9FD1C3A}</a:tableStyleId>
              </a:tblPr>
              <a:tblGrid>
                <a:gridCol w="1804987">
                  <a:extLst>
                    <a:ext uri="{9D8B030D-6E8A-4147-A177-3AD203B41FA5}">
                      <a16:colId xmlns:a16="http://schemas.microsoft.com/office/drawing/2014/main" val="2031488337"/>
                    </a:ext>
                  </a:extLst>
                </a:gridCol>
                <a:gridCol w="1804987">
                  <a:extLst>
                    <a:ext uri="{9D8B030D-6E8A-4147-A177-3AD203B41FA5}">
                      <a16:colId xmlns:a16="http://schemas.microsoft.com/office/drawing/2014/main" val="526378758"/>
                    </a:ext>
                  </a:extLst>
                </a:gridCol>
                <a:gridCol w="1804987">
                  <a:extLst>
                    <a:ext uri="{9D8B030D-6E8A-4147-A177-3AD203B41FA5}">
                      <a16:colId xmlns:a16="http://schemas.microsoft.com/office/drawing/2014/main" val="325362427"/>
                    </a:ext>
                  </a:extLst>
                </a:gridCol>
                <a:gridCol w="1804987">
                  <a:extLst>
                    <a:ext uri="{9D8B030D-6E8A-4147-A177-3AD203B41FA5}">
                      <a16:colId xmlns:a16="http://schemas.microsoft.com/office/drawing/2014/main" val="1990001942"/>
                    </a:ext>
                  </a:extLst>
                </a:gridCol>
                <a:gridCol w="1804987">
                  <a:extLst>
                    <a:ext uri="{9D8B030D-6E8A-4147-A177-3AD203B41FA5}">
                      <a16:colId xmlns:a16="http://schemas.microsoft.com/office/drawing/2014/main" val="3344489120"/>
                    </a:ext>
                  </a:extLst>
                </a:gridCol>
                <a:gridCol w="1804987">
                  <a:extLst>
                    <a:ext uri="{9D8B030D-6E8A-4147-A177-3AD203B41FA5}">
                      <a16:colId xmlns:a16="http://schemas.microsoft.com/office/drawing/2014/main" val="3436964488"/>
                    </a:ext>
                  </a:extLst>
                </a:gridCol>
              </a:tblGrid>
              <a:tr h="406995">
                <a:tc rowSpan="2">
                  <a:txBody>
                    <a:bodyPr/>
                    <a:lstStyle/>
                    <a:p>
                      <a:pPr algn="ctr"/>
                      <a:r>
                        <a:rPr lang="en-US" sz="2200" dirty="0"/>
                        <a:t>Non-current assets (NCA)</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assets (CA)</a:t>
                      </a:r>
                    </a:p>
                  </a:txBody>
                  <a:tcPr marL="64262" marR="64262" marT="32131" marB="32131" anchor="ctr">
                    <a:lnB w="12700" cap="flat" cmpd="sng" algn="ctr">
                      <a:solidFill>
                        <a:schemeClr val="tx1"/>
                      </a:solidFill>
                      <a:prstDash val="solid"/>
                      <a:round/>
                      <a:headEnd type="none" w="med" len="med"/>
                      <a:tailEnd type="none" w="med" len="med"/>
                    </a:lnB>
                  </a:tcPr>
                </a:tc>
                <a:tc gridSpan="2">
                  <a:txBody>
                    <a:bodyPr/>
                    <a:lstStyle/>
                    <a:p>
                      <a:pPr algn="ctr"/>
                      <a:r>
                        <a:rPr lang="en-US" sz="2200" dirty="0"/>
                        <a:t>Equity</a:t>
                      </a:r>
                    </a:p>
                  </a:txBody>
                  <a:tcPr marL="64262" marR="64262" marT="32131" marB="32131" anchor="ctr"/>
                </a:tc>
                <a:tc hMerge="1">
                  <a:txBody>
                    <a:bodyPr/>
                    <a:lstStyle/>
                    <a:p>
                      <a:endParaRPr lang="en-US" dirty="0"/>
                    </a:p>
                  </a:txBody>
                  <a:tcPr/>
                </a:tc>
                <a:tc rowSpan="2">
                  <a:txBody>
                    <a:bodyPr/>
                    <a:lstStyle/>
                    <a:p>
                      <a:pPr algn="ctr"/>
                      <a:r>
                        <a:rPr lang="en-US" sz="2200" dirty="0"/>
                        <a:t>Non-current liabilities (NCL)</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liabilities (CL)</a:t>
                      </a:r>
                    </a:p>
                  </a:txBody>
                  <a:tcPr marL="64262" marR="64262" marT="32131" marB="32131"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8874"/>
                  </a:ext>
                </a:extLst>
              </a:tr>
              <a:tr h="1435193">
                <a:tc vMerge="1">
                  <a:txBody>
                    <a:bodyPr/>
                    <a:lstStyle/>
                    <a:p>
                      <a:endParaRPr lang="en-US" sz="3200" dirty="0"/>
                    </a:p>
                  </a:txBody>
                  <a:tcPr/>
                </a:tc>
                <a:tc vMerge="1">
                  <a:txBody>
                    <a:bodyPr/>
                    <a:lstStyle/>
                    <a:p>
                      <a:endParaRPr lang="en-US" sz="3200" dirty="0"/>
                    </a:p>
                  </a:txBody>
                  <a:tcPr/>
                </a:tc>
                <a:tc>
                  <a:txBody>
                    <a:bodyPr/>
                    <a:lstStyle/>
                    <a:p>
                      <a:pPr algn="ctr"/>
                      <a:r>
                        <a:rPr lang="en-US" sz="2200" dirty="0"/>
                        <a:t>Share capital and additional paid-in capital</a:t>
                      </a:r>
                    </a:p>
                  </a:txBody>
                  <a:tcPr marL="64262" marR="64262" marT="32131" marB="32131" anchor="ctr">
                    <a:lnB w="12700" cap="flat" cmpd="sng" algn="ctr">
                      <a:solidFill>
                        <a:schemeClr val="tx1"/>
                      </a:solidFill>
                      <a:prstDash val="solid"/>
                      <a:round/>
                      <a:headEnd type="none" w="med" len="med"/>
                      <a:tailEnd type="none" w="med" len="med"/>
                    </a:lnB>
                  </a:tcPr>
                </a:tc>
                <a:tc>
                  <a:txBody>
                    <a:bodyPr/>
                    <a:lstStyle/>
                    <a:p>
                      <a:pPr algn="ctr"/>
                      <a:r>
                        <a:rPr lang="en-US" sz="2200" dirty="0"/>
                        <a:t>Retained earnings and other reserves</a:t>
                      </a:r>
                    </a:p>
                  </a:txBody>
                  <a:tcPr marL="64262" marR="64262" marT="32131" marB="32131" anchor="ctr">
                    <a:lnB w="12700" cap="flat" cmpd="sng" algn="ctr">
                      <a:solidFill>
                        <a:schemeClr val="tx1"/>
                      </a:solidFill>
                      <a:prstDash val="solid"/>
                      <a:round/>
                      <a:headEnd type="none" w="med" len="med"/>
                      <a:tailEnd type="none" w="med" len="med"/>
                    </a:lnB>
                  </a:tcPr>
                </a:tc>
                <a:tc vMerge="1">
                  <a:txBody>
                    <a:bodyPr/>
                    <a:lstStyle/>
                    <a:p>
                      <a:endParaRPr lang="en-US" sz="3200" dirty="0"/>
                    </a:p>
                  </a:txBody>
                  <a:tcPr/>
                </a:tc>
                <a:tc vMerge="1">
                  <a:txBody>
                    <a:bodyPr/>
                    <a:lstStyle/>
                    <a:p>
                      <a:endParaRPr lang="en-US" sz="3200" dirty="0"/>
                    </a:p>
                  </a:txBody>
                  <a:tcPr/>
                </a:tc>
                <a:extLst>
                  <a:ext uri="{0D108BD9-81ED-4DB2-BD59-A6C34878D82A}">
                    <a16:rowId xmlns:a16="http://schemas.microsoft.com/office/drawing/2014/main" val="853442960"/>
                  </a:ext>
                </a:extLst>
              </a:tr>
              <a:tr h="749728">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25328"/>
                  </a:ext>
                </a:extLst>
              </a:tr>
            </a:tbl>
          </a:graphicData>
        </a:graphic>
      </p:graphicFrame>
      <p:sp>
        <p:nvSpPr>
          <p:cNvPr id="5" name="Slide Number Placeholder 4">
            <a:extLst>
              <a:ext uri="{FF2B5EF4-FFF2-40B4-BE49-F238E27FC236}">
                <a16:creationId xmlns:a16="http://schemas.microsoft.com/office/drawing/2014/main" id="{F394A257-6480-44D9-BDFA-3790757012DC}"/>
              </a:ext>
            </a:extLst>
          </p:cNvPr>
          <p:cNvSpPr>
            <a:spLocks noGrp="1"/>
          </p:cNvSpPr>
          <p:nvPr>
            <p:ph type="sldNum" sz="quarter" idx="10"/>
          </p:nvPr>
        </p:nvSpPr>
        <p:spPr/>
        <p:txBody>
          <a:bodyPr/>
          <a:lstStyle/>
          <a:p>
            <a:fld id="{307C7597-8D70-4701-8085-9524B0B5C72B}" type="slidenum">
              <a:rPr lang="fr-FR" smtClean="0"/>
              <a:pPr/>
              <a:t>56</a:t>
            </a:fld>
            <a:endParaRPr lang="fr-FR" dirty="0"/>
          </a:p>
        </p:txBody>
      </p:sp>
      <p:sp>
        <p:nvSpPr>
          <p:cNvPr id="2" name="TextBox 1"/>
          <p:cNvSpPr txBox="1"/>
          <p:nvPr/>
        </p:nvSpPr>
        <p:spPr>
          <a:xfrm>
            <a:off x="2668674" y="4731127"/>
            <a:ext cx="8247004" cy="1649682"/>
          </a:xfrm>
          <a:prstGeom prst="rect">
            <a:avLst/>
          </a:prstGeom>
          <a:noFill/>
        </p:spPr>
        <p:txBody>
          <a:bodyPr wrap="square" rtlCol="0">
            <a:spAutoFit/>
          </a:bodyPr>
          <a:lstStyle/>
          <a:p>
            <a:r>
              <a:rPr lang="fr-FR" sz="2530" dirty="0" err="1"/>
              <a:t>Pay-out</a:t>
            </a:r>
            <a:r>
              <a:rPr lang="fr-FR" sz="2530" dirty="0"/>
              <a:t> ratio = Cash </a:t>
            </a:r>
            <a:r>
              <a:rPr lang="fr-FR" sz="2530" dirty="0" err="1"/>
              <a:t>dividend</a:t>
            </a:r>
            <a:r>
              <a:rPr lang="fr-FR" sz="2530" dirty="0"/>
              <a:t> / Net profit</a:t>
            </a:r>
          </a:p>
          <a:p>
            <a:r>
              <a:rPr lang="fr-FR" sz="2530" dirty="0" err="1"/>
              <a:t>Pay-out</a:t>
            </a:r>
            <a:r>
              <a:rPr lang="fr-FR" sz="2530" dirty="0"/>
              <a:t> ratio </a:t>
            </a:r>
            <a:r>
              <a:rPr lang="fr-FR" sz="2530" dirty="0" err="1"/>
              <a:t>is</a:t>
            </a:r>
            <a:r>
              <a:rPr lang="fr-FR" sz="2530" dirty="0"/>
              <a:t> high: </a:t>
            </a:r>
            <a:r>
              <a:rPr lang="fr-FR" sz="2530" dirty="0" err="1"/>
              <a:t>maturity</a:t>
            </a:r>
            <a:r>
              <a:rPr lang="fr-FR" sz="2530" dirty="0"/>
              <a:t> stage</a:t>
            </a:r>
          </a:p>
          <a:p>
            <a:r>
              <a:rPr lang="fr-FR" sz="2530" dirty="0" err="1"/>
              <a:t>Pay-out</a:t>
            </a:r>
            <a:r>
              <a:rPr lang="fr-FR" sz="2530" dirty="0"/>
              <a:t> ratio </a:t>
            </a:r>
            <a:r>
              <a:rPr lang="fr-FR" sz="2530" dirty="0" err="1"/>
              <a:t>is</a:t>
            </a:r>
            <a:r>
              <a:rPr lang="fr-FR" sz="2530" dirty="0"/>
              <a:t> </a:t>
            </a:r>
            <a:r>
              <a:rPr lang="fr-FR" sz="2530" dirty="0" err="1"/>
              <a:t>low</a:t>
            </a:r>
            <a:r>
              <a:rPr lang="fr-FR" sz="2530" dirty="0"/>
              <a:t> (or </a:t>
            </a:r>
            <a:r>
              <a:rPr lang="fr-FR" sz="2530" dirty="0" err="1"/>
              <a:t>nil</a:t>
            </a:r>
            <a:r>
              <a:rPr lang="fr-FR" sz="2530" dirty="0"/>
              <a:t>): </a:t>
            </a:r>
            <a:r>
              <a:rPr lang="fr-FR" sz="2530" dirty="0" err="1"/>
              <a:t>growth</a:t>
            </a:r>
            <a:r>
              <a:rPr lang="fr-FR" sz="2530" dirty="0"/>
              <a:t> (or </a:t>
            </a:r>
            <a:r>
              <a:rPr lang="fr-FR" sz="2530" dirty="0" err="1"/>
              <a:t>accelerated</a:t>
            </a:r>
            <a:r>
              <a:rPr lang="fr-FR" sz="2530" dirty="0"/>
              <a:t>) stage</a:t>
            </a:r>
          </a:p>
        </p:txBody>
      </p:sp>
    </p:spTree>
    <p:extLst>
      <p:ext uri="{BB962C8B-B14F-4D97-AF65-F5344CB8AC3E}">
        <p14:creationId xmlns:p14="http://schemas.microsoft.com/office/powerpoint/2010/main" val="10656786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00F9E9-DDEA-4600-A580-A2D05502EF2B}"/>
              </a:ext>
            </a:extLst>
          </p:cNvPr>
          <p:cNvSpPr>
            <a:spLocks noGrp="1"/>
          </p:cNvSpPr>
          <p:nvPr>
            <p:ph type="title"/>
          </p:nvPr>
        </p:nvSpPr>
        <p:spPr/>
        <p:txBody>
          <a:bodyPr/>
          <a:lstStyle/>
          <a:p>
            <a:r>
              <a:rPr lang="en-US" sz="3092" dirty="0"/>
              <a:t>What is the effect on the balance sheet of the decision to distribute dividends in the coming months?</a:t>
            </a:r>
          </a:p>
        </p:txBody>
      </p:sp>
      <p:graphicFrame>
        <p:nvGraphicFramePr>
          <p:cNvPr id="6" name="Table 6">
            <a:extLst>
              <a:ext uri="{FF2B5EF4-FFF2-40B4-BE49-F238E27FC236}">
                <a16:creationId xmlns:a16="http://schemas.microsoft.com/office/drawing/2014/main" id="{1FD6A07A-361C-4125-BBCE-5A6A8BC1B965}"/>
              </a:ext>
            </a:extLst>
          </p:cNvPr>
          <p:cNvGraphicFramePr>
            <a:graphicFrameLocks noGrp="1"/>
          </p:cNvGraphicFramePr>
          <p:nvPr>
            <p:ph idx="1"/>
            <p:extLst>
              <p:ext uri="{D42A27DB-BD31-4B8C-83A1-F6EECF244321}">
                <p14:modId xmlns:p14="http://schemas.microsoft.com/office/powerpoint/2010/main" val="911922843"/>
              </p:ext>
            </p:extLst>
          </p:nvPr>
        </p:nvGraphicFramePr>
        <p:xfrm>
          <a:off x="681038" y="1825625"/>
          <a:ext cx="10829922" cy="3553039"/>
        </p:xfrm>
        <a:graphic>
          <a:graphicData uri="http://schemas.openxmlformats.org/drawingml/2006/table">
            <a:tbl>
              <a:tblPr firstRow="1" bandRow="1">
                <a:tableStyleId>{5C22544A-7EE6-4342-B048-85BDC9FD1C3A}</a:tableStyleId>
              </a:tblPr>
              <a:tblGrid>
                <a:gridCol w="1804987">
                  <a:extLst>
                    <a:ext uri="{9D8B030D-6E8A-4147-A177-3AD203B41FA5}">
                      <a16:colId xmlns:a16="http://schemas.microsoft.com/office/drawing/2014/main" val="2031488337"/>
                    </a:ext>
                  </a:extLst>
                </a:gridCol>
                <a:gridCol w="1804987">
                  <a:extLst>
                    <a:ext uri="{9D8B030D-6E8A-4147-A177-3AD203B41FA5}">
                      <a16:colId xmlns:a16="http://schemas.microsoft.com/office/drawing/2014/main" val="526378758"/>
                    </a:ext>
                  </a:extLst>
                </a:gridCol>
                <a:gridCol w="1804987">
                  <a:extLst>
                    <a:ext uri="{9D8B030D-6E8A-4147-A177-3AD203B41FA5}">
                      <a16:colId xmlns:a16="http://schemas.microsoft.com/office/drawing/2014/main" val="325362427"/>
                    </a:ext>
                  </a:extLst>
                </a:gridCol>
                <a:gridCol w="1804987">
                  <a:extLst>
                    <a:ext uri="{9D8B030D-6E8A-4147-A177-3AD203B41FA5}">
                      <a16:colId xmlns:a16="http://schemas.microsoft.com/office/drawing/2014/main" val="1990001942"/>
                    </a:ext>
                  </a:extLst>
                </a:gridCol>
                <a:gridCol w="1804987">
                  <a:extLst>
                    <a:ext uri="{9D8B030D-6E8A-4147-A177-3AD203B41FA5}">
                      <a16:colId xmlns:a16="http://schemas.microsoft.com/office/drawing/2014/main" val="3344489120"/>
                    </a:ext>
                  </a:extLst>
                </a:gridCol>
                <a:gridCol w="1804987">
                  <a:extLst>
                    <a:ext uri="{9D8B030D-6E8A-4147-A177-3AD203B41FA5}">
                      <a16:colId xmlns:a16="http://schemas.microsoft.com/office/drawing/2014/main" val="3436964488"/>
                    </a:ext>
                  </a:extLst>
                </a:gridCol>
              </a:tblGrid>
              <a:tr h="406995">
                <a:tc rowSpan="2">
                  <a:txBody>
                    <a:bodyPr/>
                    <a:lstStyle/>
                    <a:p>
                      <a:pPr algn="ctr"/>
                      <a:r>
                        <a:rPr lang="en-US" sz="2200" dirty="0"/>
                        <a:t>Non-current assets (NCA)</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assets (CA)</a:t>
                      </a:r>
                    </a:p>
                  </a:txBody>
                  <a:tcPr marL="64262" marR="64262" marT="32131" marB="32131" anchor="ctr">
                    <a:lnB w="12700" cap="flat" cmpd="sng" algn="ctr">
                      <a:solidFill>
                        <a:schemeClr val="tx1"/>
                      </a:solidFill>
                      <a:prstDash val="solid"/>
                      <a:round/>
                      <a:headEnd type="none" w="med" len="med"/>
                      <a:tailEnd type="none" w="med" len="med"/>
                    </a:lnB>
                  </a:tcPr>
                </a:tc>
                <a:tc gridSpan="2">
                  <a:txBody>
                    <a:bodyPr/>
                    <a:lstStyle/>
                    <a:p>
                      <a:pPr algn="ctr"/>
                      <a:r>
                        <a:rPr lang="en-US" sz="2200" dirty="0"/>
                        <a:t>Equity</a:t>
                      </a:r>
                    </a:p>
                  </a:txBody>
                  <a:tcPr marL="64262" marR="64262" marT="32131" marB="32131" anchor="ctr"/>
                </a:tc>
                <a:tc hMerge="1">
                  <a:txBody>
                    <a:bodyPr/>
                    <a:lstStyle/>
                    <a:p>
                      <a:endParaRPr lang="en-US" dirty="0"/>
                    </a:p>
                  </a:txBody>
                  <a:tcPr/>
                </a:tc>
                <a:tc rowSpan="2">
                  <a:txBody>
                    <a:bodyPr/>
                    <a:lstStyle/>
                    <a:p>
                      <a:pPr algn="ctr"/>
                      <a:r>
                        <a:rPr lang="en-US" sz="2200" dirty="0"/>
                        <a:t>Non-current liabilities (NCL)</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liabilities (CL)</a:t>
                      </a:r>
                    </a:p>
                  </a:txBody>
                  <a:tcPr marL="64262" marR="64262" marT="32131" marB="32131"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8874"/>
                  </a:ext>
                </a:extLst>
              </a:tr>
              <a:tr h="1435193">
                <a:tc vMerge="1">
                  <a:txBody>
                    <a:bodyPr/>
                    <a:lstStyle/>
                    <a:p>
                      <a:endParaRPr lang="en-US" sz="3200" dirty="0"/>
                    </a:p>
                  </a:txBody>
                  <a:tcPr/>
                </a:tc>
                <a:tc vMerge="1">
                  <a:txBody>
                    <a:bodyPr/>
                    <a:lstStyle/>
                    <a:p>
                      <a:endParaRPr lang="en-US" sz="3200" dirty="0"/>
                    </a:p>
                  </a:txBody>
                  <a:tcPr/>
                </a:tc>
                <a:tc>
                  <a:txBody>
                    <a:bodyPr/>
                    <a:lstStyle/>
                    <a:p>
                      <a:pPr algn="ctr"/>
                      <a:r>
                        <a:rPr lang="en-US" sz="2200" dirty="0"/>
                        <a:t>Share capital and additional paid-in capital</a:t>
                      </a:r>
                    </a:p>
                  </a:txBody>
                  <a:tcPr marL="64262" marR="64262" marT="32131" marB="32131" anchor="ctr">
                    <a:lnB w="12700" cap="flat" cmpd="sng" algn="ctr">
                      <a:solidFill>
                        <a:schemeClr val="tx1"/>
                      </a:solidFill>
                      <a:prstDash val="solid"/>
                      <a:round/>
                      <a:headEnd type="none" w="med" len="med"/>
                      <a:tailEnd type="none" w="med" len="med"/>
                    </a:lnB>
                  </a:tcPr>
                </a:tc>
                <a:tc>
                  <a:txBody>
                    <a:bodyPr/>
                    <a:lstStyle/>
                    <a:p>
                      <a:pPr algn="ctr"/>
                      <a:r>
                        <a:rPr lang="en-US" sz="2200" dirty="0"/>
                        <a:t>Retained earnings and other reserves</a:t>
                      </a:r>
                    </a:p>
                  </a:txBody>
                  <a:tcPr marL="64262" marR="64262" marT="32131" marB="32131" anchor="ctr">
                    <a:lnB w="12700" cap="flat" cmpd="sng" algn="ctr">
                      <a:solidFill>
                        <a:schemeClr val="tx1"/>
                      </a:solidFill>
                      <a:prstDash val="solid"/>
                      <a:round/>
                      <a:headEnd type="none" w="med" len="med"/>
                      <a:tailEnd type="none" w="med" len="med"/>
                    </a:lnB>
                  </a:tcPr>
                </a:tc>
                <a:tc vMerge="1">
                  <a:txBody>
                    <a:bodyPr/>
                    <a:lstStyle/>
                    <a:p>
                      <a:endParaRPr lang="en-US" sz="3200" dirty="0"/>
                    </a:p>
                  </a:txBody>
                  <a:tcPr/>
                </a:tc>
                <a:tc vMerge="1">
                  <a:txBody>
                    <a:bodyPr/>
                    <a:lstStyle/>
                    <a:p>
                      <a:endParaRPr lang="en-US" sz="3200" dirty="0"/>
                    </a:p>
                  </a:txBody>
                  <a:tcPr/>
                </a:tc>
                <a:extLst>
                  <a:ext uri="{0D108BD9-81ED-4DB2-BD59-A6C34878D82A}">
                    <a16:rowId xmlns:a16="http://schemas.microsoft.com/office/drawing/2014/main" val="853442960"/>
                  </a:ext>
                </a:extLst>
              </a:tr>
              <a:tr h="1092460">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dirty="0"/>
                        <a:t>Dividends to be distributed (decrease)</a:t>
                      </a:r>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200" dirty="0"/>
                        <a:t>Dividends payable (increase)</a:t>
                      </a:r>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25328"/>
                  </a:ext>
                </a:extLst>
              </a:tr>
            </a:tbl>
          </a:graphicData>
        </a:graphic>
      </p:graphicFrame>
      <p:sp>
        <p:nvSpPr>
          <p:cNvPr id="5" name="Slide Number Placeholder 4">
            <a:extLst>
              <a:ext uri="{FF2B5EF4-FFF2-40B4-BE49-F238E27FC236}">
                <a16:creationId xmlns:a16="http://schemas.microsoft.com/office/drawing/2014/main" id="{F394A257-6480-44D9-BDFA-3790757012DC}"/>
              </a:ext>
            </a:extLst>
          </p:cNvPr>
          <p:cNvSpPr>
            <a:spLocks noGrp="1"/>
          </p:cNvSpPr>
          <p:nvPr>
            <p:ph type="sldNum" sz="quarter" idx="10"/>
          </p:nvPr>
        </p:nvSpPr>
        <p:spPr/>
        <p:txBody>
          <a:bodyPr/>
          <a:lstStyle/>
          <a:p>
            <a:fld id="{307C7597-8D70-4701-8085-9524B0B5C72B}" type="slidenum">
              <a:rPr lang="fr-FR" smtClean="0"/>
              <a:pPr/>
              <a:t>57</a:t>
            </a:fld>
            <a:endParaRPr lang="fr-FR" dirty="0"/>
          </a:p>
        </p:txBody>
      </p:sp>
    </p:spTree>
    <p:extLst>
      <p:ext uri="{BB962C8B-B14F-4D97-AF65-F5344CB8AC3E}">
        <p14:creationId xmlns:p14="http://schemas.microsoft.com/office/powerpoint/2010/main" val="10724286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00F9E9-DDEA-4600-A580-A2D05502EF2B}"/>
              </a:ext>
            </a:extLst>
          </p:cNvPr>
          <p:cNvSpPr>
            <a:spLocks noGrp="1"/>
          </p:cNvSpPr>
          <p:nvPr>
            <p:ph type="title"/>
          </p:nvPr>
        </p:nvSpPr>
        <p:spPr/>
        <p:txBody>
          <a:bodyPr/>
          <a:lstStyle/>
          <a:p>
            <a:r>
              <a:rPr lang="en-US" sz="3092" dirty="0"/>
              <a:t>What is the effect on the balance sheet of the payment of dividends due?</a:t>
            </a:r>
          </a:p>
        </p:txBody>
      </p:sp>
      <p:graphicFrame>
        <p:nvGraphicFramePr>
          <p:cNvPr id="6" name="Table 6">
            <a:extLst>
              <a:ext uri="{FF2B5EF4-FFF2-40B4-BE49-F238E27FC236}">
                <a16:creationId xmlns:a16="http://schemas.microsoft.com/office/drawing/2014/main" id="{1FD6A07A-361C-4125-BBCE-5A6A8BC1B965}"/>
              </a:ext>
            </a:extLst>
          </p:cNvPr>
          <p:cNvGraphicFramePr>
            <a:graphicFrameLocks noGrp="1"/>
          </p:cNvGraphicFramePr>
          <p:nvPr>
            <p:ph idx="1"/>
            <p:extLst>
              <p:ext uri="{D42A27DB-BD31-4B8C-83A1-F6EECF244321}">
                <p14:modId xmlns:p14="http://schemas.microsoft.com/office/powerpoint/2010/main" val="1221235932"/>
              </p:ext>
            </p:extLst>
          </p:nvPr>
        </p:nvGraphicFramePr>
        <p:xfrm>
          <a:off x="681038" y="1825625"/>
          <a:ext cx="10829922" cy="2897385"/>
        </p:xfrm>
        <a:graphic>
          <a:graphicData uri="http://schemas.openxmlformats.org/drawingml/2006/table">
            <a:tbl>
              <a:tblPr firstRow="1" bandRow="1">
                <a:tableStyleId>{5C22544A-7EE6-4342-B048-85BDC9FD1C3A}</a:tableStyleId>
              </a:tblPr>
              <a:tblGrid>
                <a:gridCol w="1804987">
                  <a:extLst>
                    <a:ext uri="{9D8B030D-6E8A-4147-A177-3AD203B41FA5}">
                      <a16:colId xmlns:a16="http://schemas.microsoft.com/office/drawing/2014/main" val="2031488337"/>
                    </a:ext>
                  </a:extLst>
                </a:gridCol>
                <a:gridCol w="1804987">
                  <a:extLst>
                    <a:ext uri="{9D8B030D-6E8A-4147-A177-3AD203B41FA5}">
                      <a16:colId xmlns:a16="http://schemas.microsoft.com/office/drawing/2014/main" val="526378758"/>
                    </a:ext>
                  </a:extLst>
                </a:gridCol>
                <a:gridCol w="1804987">
                  <a:extLst>
                    <a:ext uri="{9D8B030D-6E8A-4147-A177-3AD203B41FA5}">
                      <a16:colId xmlns:a16="http://schemas.microsoft.com/office/drawing/2014/main" val="325362427"/>
                    </a:ext>
                  </a:extLst>
                </a:gridCol>
                <a:gridCol w="1804987">
                  <a:extLst>
                    <a:ext uri="{9D8B030D-6E8A-4147-A177-3AD203B41FA5}">
                      <a16:colId xmlns:a16="http://schemas.microsoft.com/office/drawing/2014/main" val="1990001942"/>
                    </a:ext>
                  </a:extLst>
                </a:gridCol>
                <a:gridCol w="1804987">
                  <a:extLst>
                    <a:ext uri="{9D8B030D-6E8A-4147-A177-3AD203B41FA5}">
                      <a16:colId xmlns:a16="http://schemas.microsoft.com/office/drawing/2014/main" val="3344489120"/>
                    </a:ext>
                  </a:extLst>
                </a:gridCol>
                <a:gridCol w="1804987">
                  <a:extLst>
                    <a:ext uri="{9D8B030D-6E8A-4147-A177-3AD203B41FA5}">
                      <a16:colId xmlns:a16="http://schemas.microsoft.com/office/drawing/2014/main" val="3436964488"/>
                    </a:ext>
                  </a:extLst>
                </a:gridCol>
              </a:tblGrid>
              <a:tr h="406995">
                <a:tc rowSpan="2">
                  <a:txBody>
                    <a:bodyPr/>
                    <a:lstStyle/>
                    <a:p>
                      <a:pPr algn="ctr"/>
                      <a:r>
                        <a:rPr lang="en-US" sz="2200" dirty="0"/>
                        <a:t>Non-current assets (NCA)</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assets (CA)</a:t>
                      </a:r>
                    </a:p>
                  </a:txBody>
                  <a:tcPr marL="64262" marR="64262" marT="32131" marB="32131" anchor="ctr">
                    <a:lnB w="12700" cap="flat" cmpd="sng" algn="ctr">
                      <a:solidFill>
                        <a:schemeClr val="tx1"/>
                      </a:solidFill>
                      <a:prstDash val="solid"/>
                      <a:round/>
                      <a:headEnd type="none" w="med" len="med"/>
                      <a:tailEnd type="none" w="med" len="med"/>
                    </a:lnB>
                  </a:tcPr>
                </a:tc>
                <a:tc gridSpan="2">
                  <a:txBody>
                    <a:bodyPr/>
                    <a:lstStyle/>
                    <a:p>
                      <a:pPr algn="ctr"/>
                      <a:r>
                        <a:rPr lang="en-US" sz="2200" dirty="0"/>
                        <a:t>Equity</a:t>
                      </a:r>
                    </a:p>
                  </a:txBody>
                  <a:tcPr marL="64262" marR="64262" marT="32131" marB="32131" anchor="ctr"/>
                </a:tc>
                <a:tc hMerge="1">
                  <a:txBody>
                    <a:bodyPr/>
                    <a:lstStyle/>
                    <a:p>
                      <a:endParaRPr lang="en-US" dirty="0"/>
                    </a:p>
                  </a:txBody>
                  <a:tcPr/>
                </a:tc>
                <a:tc rowSpan="2">
                  <a:txBody>
                    <a:bodyPr/>
                    <a:lstStyle/>
                    <a:p>
                      <a:pPr algn="ctr"/>
                      <a:r>
                        <a:rPr lang="en-US" sz="2200" dirty="0"/>
                        <a:t>Non-current liabilities (NCL)</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liabilities (CL)</a:t>
                      </a:r>
                    </a:p>
                  </a:txBody>
                  <a:tcPr marL="64262" marR="64262" marT="32131" marB="32131"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8874"/>
                  </a:ext>
                </a:extLst>
              </a:tr>
              <a:tr h="1435193">
                <a:tc vMerge="1">
                  <a:txBody>
                    <a:bodyPr/>
                    <a:lstStyle/>
                    <a:p>
                      <a:endParaRPr lang="en-US" sz="3200" dirty="0"/>
                    </a:p>
                  </a:txBody>
                  <a:tcPr/>
                </a:tc>
                <a:tc vMerge="1">
                  <a:txBody>
                    <a:bodyPr/>
                    <a:lstStyle/>
                    <a:p>
                      <a:endParaRPr lang="en-US" sz="3200" dirty="0"/>
                    </a:p>
                  </a:txBody>
                  <a:tcPr/>
                </a:tc>
                <a:tc>
                  <a:txBody>
                    <a:bodyPr/>
                    <a:lstStyle/>
                    <a:p>
                      <a:pPr algn="ctr"/>
                      <a:r>
                        <a:rPr lang="en-US" sz="2200" dirty="0"/>
                        <a:t>Share capital and additional paid-in capital</a:t>
                      </a:r>
                    </a:p>
                  </a:txBody>
                  <a:tcPr marL="64262" marR="64262" marT="32131" marB="32131" anchor="ctr">
                    <a:lnB w="12700" cap="flat" cmpd="sng" algn="ctr">
                      <a:solidFill>
                        <a:schemeClr val="tx1"/>
                      </a:solidFill>
                      <a:prstDash val="solid"/>
                      <a:round/>
                      <a:headEnd type="none" w="med" len="med"/>
                      <a:tailEnd type="none" w="med" len="med"/>
                    </a:lnB>
                  </a:tcPr>
                </a:tc>
                <a:tc>
                  <a:txBody>
                    <a:bodyPr/>
                    <a:lstStyle/>
                    <a:p>
                      <a:pPr algn="ctr"/>
                      <a:r>
                        <a:rPr lang="en-US" sz="2200" dirty="0"/>
                        <a:t>Retained earnings and other reserves</a:t>
                      </a:r>
                    </a:p>
                  </a:txBody>
                  <a:tcPr marL="64262" marR="64262" marT="32131" marB="32131" anchor="ctr">
                    <a:lnB w="12700" cap="flat" cmpd="sng" algn="ctr">
                      <a:solidFill>
                        <a:schemeClr val="tx1"/>
                      </a:solidFill>
                      <a:prstDash val="solid"/>
                      <a:round/>
                      <a:headEnd type="none" w="med" len="med"/>
                      <a:tailEnd type="none" w="med" len="med"/>
                    </a:lnB>
                  </a:tcPr>
                </a:tc>
                <a:tc vMerge="1">
                  <a:txBody>
                    <a:bodyPr/>
                    <a:lstStyle/>
                    <a:p>
                      <a:endParaRPr lang="en-US" sz="3200" dirty="0"/>
                    </a:p>
                  </a:txBody>
                  <a:tcPr/>
                </a:tc>
                <a:tc vMerge="1">
                  <a:txBody>
                    <a:bodyPr/>
                    <a:lstStyle/>
                    <a:p>
                      <a:endParaRPr lang="en-US" sz="3200" dirty="0"/>
                    </a:p>
                  </a:txBody>
                  <a:tcPr/>
                </a:tc>
                <a:extLst>
                  <a:ext uri="{0D108BD9-81ED-4DB2-BD59-A6C34878D82A}">
                    <a16:rowId xmlns:a16="http://schemas.microsoft.com/office/drawing/2014/main" val="853442960"/>
                  </a:ext>
                </a:extLst>
              </a:tr>
              <a:tr h="749728">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25328"/>
                  </a:ext>
                </a:extLst>
              </a:tr>
            </a:tbl>
          </a:graphicData>
        </a:graphic>
      </p:graphicFrame>
      <p:sp>
        <p:nvSpPr>
          <p:cNvPr id="5" name="Slide Number Placeholder 4">
            <a:extLst>
              <a:ext uri="{FF2B5EF4-FFF2-40B4-BE49-F238E27FC236}">
                <a16:creationId xmlns:a16="http://schemas.microsoft.com/office/drawing/2014/main" id="{F394A257-6480-44D9-BDFA-3790757012DC}"/>
              </a:ext>
            </a:extLst>
          </p:cNvPr>
          <p:cNvSpPr>
            <a:spLocks noGrp="1"/>
          </p:cNvSpPr>
          <p:nvPr>
            <p:ph type="sldNum" sz="quarter" idx="10"/>
          </p:nvPr>
        </p:nvSpPr>
        <p:spPr/>
        <p:txBody>
          <a:bodyPr/>
          <a:lstStyle/>
          <a:p>
            <a:fld id="{307C7597-8D70-4701-8085-9524B0B5C72B}" type="slidenum">
              <a:rPr lang="fr-FR" smtClean="0"/>
              <a:pPr/>
              <a:t>58</a:t>
            </a:fld>
            <a:endParaRPr lang="fr-FR" dirty="0"/>
          </a:p>
        </p:txBody>
      </p:sp>
    </p:spTree>
    <p:extLst>
      <p:ext uri="{BB962C8B-B14F-4D97-AF65-F5344CB8AC3E}">
        <p14:creationId xmlns:p14="http://schemas.microsoft.com/office/powerpoint/2010/main" val="322910831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00F9E9-DDEA-4600-A580-A2D05502EF2B}"/>
              </a:ext>
            </a:extLst>
          </p:cNvPr>
          <p:cNvSpPr>
            <a:spLocks noGrp="1"/>
          </p:cNvSpPr>
          <p:nvPr>
            <p:ph type="title"/>
          </p:nvPr>
        </p:nvSpPr>
        <p:spPr/>
        <p:txBody>
          <a:bodyPr/>
          <a:lstStyle/>
          <a:p>
            <a:r>
              <a:rPr lang="en-US" sz="3092" dirty="0"/>
              <a:t>What is the effect on the balance sheet of the payment of dividends due?</a:t>
            </a:r>
          </a:p>
        </p:txBody>
      </p:sp>
      <p:graphicFrame>
        <p:nvGraphicFramePr>
          <p:cNvPr id="6" name="Table 6">
            <a:extLst>
              <a:ext uri="{FF2B5EF4-FFF2-40B4-BE49-F238E27FC236}">
                <a16:creationId xmlns:a16="http://schemas.microsoft.com/office/drawing/2014/main" id="{1FD6A07A-361C-4125-BBCE-5A6A8BC1B965}"/>
              </a:ext>
            </a:extLst>
          </p:cNvPr>
          <p:cNvGraphicFramePr>
            <a:graphicFrameLocks noGrp="1"/>
          </p:cNvGraphicFramePr>
          <p:nvPr>
            <p:ph idx="1"/>
            <p:extLst>
              <p:ext uri="{D42A27DB-BD31-4B8C-83A1-F6EECF244321}">
                <p14:modId xmlns:p14="http://schemas.microsoft.com/office/powerpoint/2010/main" val="247358507"/>
              </p:ext>
            </p:extLst>
          </p:nvPr>
        </p:nvGraphicFramePr>
        <p:xfrm>
          <a:off x="681038" y="1825625"/>
          <a:ext cx="10829922" cy="3240117"/>
        </p:xfrm>
        <a:graphic>
          <a:graphicData uri="http://schemas.openxmlformats.org/drawingml/2006/table">
            <a:tbl>
              <a:tblPr firstRow="1" bandRow="1">
                <a:tableStyleId>{5C22544A-7EE6-4342-B048-85BDC9FD1C3A}</a:tableStyleId>
              </a:tblPr>
              <a:tblGrid>
                <a:gridCol w="1804987">
                  <a:extLst>
                    <a:ext uri="{9D8B030D-6E8A-4147-A177-3AD203B41FA5}">
                      <a16:colId xmlns:a16="http://schemas.microsoft.com/office/drawing/2014/main" val="2031488337"/>
                    </a:ext>
                  </a:extLst>
                </a:gridCol>
                <a:gridCol w="1804987">
                  <a:extLst>
                    <a:ext uri="{9D8B030D-6E8A-4147-A177-3AD203B41FA5}">
                      <a16:colId xmlns:a16="http://schemas.microsoft.com/office/drawing/2014/main" val="526378758"/>
                    </a:ext>
                  </a:extLst>
                </a:gridCol>
                <a:gridCol w="1804987">
                  <a:extLst>
                    <a:ext uri="{9D8B030D-6E8A-4147-A177-3AD203B41FA5}">
                      <a16:colId xmlns:a16="http://schemas.microsoft.com/office/drawing/2014/main" val="325362427"/>
                    </a:ext>
                  </a:extLst>
                </a:gridCol>
                <a:gridCol w="1804987">
                  <a:extLst>
                    <a:ext uri="{9D8B030D-6E8A-4147-A177-3AD203B41FA5}">
                      <a16:colId xmlns:a16="http://schemas.microsoft.com/office/drawing/2014/main" val="1990001942"/>
                    </a:ext>
                  </a:extLst>
                </a:gridCol>
                <a:gridCol w="1804987">
                  <a:extLst>
                    <a:ext uri="{9D8B030D-6E8A-4147-A177-3AD203B41FA5}">
                      <a16:colId xmlns:a16="http://schemas.microsoft.com/office/drawing/2014/main" val="3344489120"/>
                    </a:ext>
                  </a:extLst>
                </a:gridCol>
                <a:gridCol w="1804987">
                  <a:extLst>
                    <a:ext uri="{9D8B030D-6E8A-4147-A177-3AD203B41FA5}">
                      <a16:colId xmlns:a16="http://schemas.microsoft.com/office/drawing/2014/main" val="3436964488"/>
                    </a:ext>
                  </a:extLst>
                </a:gridCol>
              </a:tblGrid>
              <a:tr h="406995">
                <a:tc rowSpan="2">
                  <a:txBody>
                    <a:bodyPr/>
                    <a:lstStyle/>
                    <a:p>
                      <a:pPr algn="ctr"/>
                      <a:r>
                        <a:rPr lang="en-US" sz="2200" dirty="0"/>
                        <a:t>Non-current assets (NCA)</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assets (CA)</a:t>
                      </a:r>
                    </a:p>
                  </a:txBody>
                  <a:tcPr marL="64262" marR="64262" marT="32131" marB="32131" anchor="ctr">
                    <a:lnB w="12700" cap="flat" cmpd="sng" algn="ctr">
                      <a:solidFill>
                        <a:schemeClr val="tx1"/>
                      </a:solidFill>
                      <a:prstDash val="solid"/>
                      <a:round/>
                      <a:headEnd type="none" w="med" len="med"/>
                      <a:tailEnd type="none" w="med" len="med"/>
                    </a:lnB>
                  </a:tcPr>
                </a:tc>
                <a:tc gridSpan="2">
                  <a:txBody>
                    <a:bodyPr/>
                    <a:lstStyle/>
                    <a:p>
                      <a:pPr algn="ctr"/>
                      <a:r>
                        <a:rPr lang="en-US" sz="2200" dirty="0"/>
                        <a:t>Equity</a:t>
                      </a:r>
                    </a:p>
                  </a:txBody>
                  <a:tcPr marL="64262" marR="64262" marT="32131" marB="32131" anchor="ctr"/>
                </a:tc>
                <a:tc hMerge="1">
                  <a:txBody>
                    <a:bodyPr/>
                    <a:lstStyle/>
                    <a:p>
                      <a:endParaRPr lang="en-US" dirty="0"/>
                    </a:p>
                  </a:txBody>
                  <a:tcPr/>
                </a:tc>
                <a:tc rowSpan="2">
                  <a:txBody>
                    <a:bodyPr/>
                    <a:lstStyle/>
                    <a:p>
                      <a:pPr algn="ctr"/>
                      <a:r>
                        <a:rPr lang="en-US" sz="2200" dirty="0"/>
                        <a:t>Non-current liabilities (NCL)</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liabilities (CL)</a:t>
                      </a:r>
                    </a:p>
                  </a:txBody>
                  <a:tcPr marL="64262" marR="64262" marT="32131" marB="32131"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8874"/>
                  </a:ext>
                </a:extLst>
              </a:tr>
              <a:tr h="1435193">
                <a:tc vMerge="1">
                  <a:txBody>
                    <a:bodyPr/>
                    <a:lstStyle/>
                    <a:p>
                      <a:endParaRPr lang="en-US" sz="3200" dirty="0"/>
                    </a:p>
                  </a:txBody>
                  <a:tcPr/>
                </a:tc>
                <a:tc vMerge="1">
                  <a:txBody>
                    <a:bodyPr/>
                    <a:lstStyle/>
                    <a:p>
                      <a:endParaRPr lang="en-US" sz="3200" dirty="0"/>
                    </a:p>
                  </a:txBody>
                  <a:tcPr/>
                </a:tc>
                <a:tc>
                  <a:txBody>
                    <a:bodyPr/>
                    <a:lstStyle/>
                    <a:p>
                      <a:pPr algn="ctr"/>
                      <a:r>
                        <a:rPr lang="en-US" sz="2200" dirty="0"/>
                        <a:t>Share capital and additional paid-in capital</a:t>
                      </a:r>
                    </a:p>
                  </a:txBody>
                  <a:tcPr marL="64262" marR="64262" marT="32131" marB="32131" anchor="ctr">
                    <a:lnB w="12700" cap="flat" cmpd="sng" algn="ctr">
                      <a:solidFill>
                        <a:schemeClr val="tx1"/>
                      </a:solidFill>
                      <a:prstDash val="solid"/>
                      <a:round/>
                      <a:headEnd type="none" w="med" len="med"/>
                      <a:tailEnd type="none" w="med" len="med"/>
                    </a:lnB>
                  </a:tcPr>
                </a:tc>
                <a:tc>
                  <a:txBody>
                    <a:bodyPr/>
                    <a:lstStyle/>
                    <a:p>
                      <a:pPr algn="ctr"/>
                      <a:r>
                        <a:rPr lang="en-US" sz="2200" dirty="0"/>
                        <a:t>Retained earnings and other reserves</a:t>
                      </a:r>
                    </a:p>
                  </a:txBody>
                  <a:tcPr marL="64262" marR="64262" marT="32131" marB="32131" anchor="ctr">
                    <a:lnB w="12700" cap="flat" cmpd="sng" algn="ctr">
                      <a:solidFill>
                        <a:schemeClr val="tx1"/>
                      </a:solidFill>
                      <a:prstDash val="solid"/>
                      <a:round/>
                      <a:headEnd type="none" w="med" len="med"/>
                      <a:tailEnd type="none" w="med" len="med"/>
                    </a:lnB>
                  </a:tcPr>
                </a:tc>
                <a:tc vMerge="1">
                  <a:txBody>
                    <a:bodyPr/>
                    <a:lstStyle/>
                    <a:p>
                      <a:endParaRPr lang="en-US" sz="3200" dirty="0"/>
                    </a:p>
                  </a:txBody>
                  <a:tcPr/>
                </a:tc>
                <a:tc vMerge="1">
                  <a:txBody>
                    <a:bodyPr/>
                    <a:lstStyle/>
                    <a:p>
                      <a:endParaRPr lang="en-US" sz="3200" dirty="0"/>
                    </a:p>
                  </a:txBody>
                  <a:tcPr/>
                </a:tc>
                <a:extLst>
                  <a:ext uri="{0D108BD9-81ED-4DB2-BD59-A6C34878D82A}">
                    <a16:rowId xmlns:a16="http://schemas.microsoft.com/office/drawing/2014/main" val="853442960"/>
                  </a:ext>
                </a:extLst>
              </a:tr>
              <a:tr h="1092460">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dirty="0"/>
                        <a:t>Cash (decrease)</a:t>
                      </a:r>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200" dirty="0"/>
                        <a:t>Dividends payable (decrease)</a:t>
                      </a:r>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25328"/>
                  </a:ext>
                </a:extLst>
              </a:tr>
            </a:tbl>
          </a:graphicData>
        </a:graphic>
      </p:graphicFrame>
      <p:sp>
        <p:nvSpPr>
          <p:cNvPr id="5" name="Slide Number Placeholder 4">
            <a:extLst>
              <a:ext uri="{FF2B5EF4-FFF2-40B4-BE49-F238E27FC236}">
                <a16:creationId xmlns:a16="http://schemas.microsoft.com/office/drawing/2014/main" id="{F394A257-6480-44D9-BDFA-3790757012DC}"/>
              </a:ext>
            </a:extLst>
          </p:cNvPr>
          <p:cNvSpPr>
            <a:spLocks noGrp="1"/>
          </p:cNvSpPr>
          <p:nvPr>
            <p:ph type="sldNum" sz="quarter" idx="10"/>
          </p:nvPr>
        </p:nvSpPr>
        <p:spPr/>
        <p:txBody>
          <a:bodyPr/>
          <a:lstStyle/>
          <a:p>
            <a:fld id="{307C7597-8D70-4701-8085-9524B0B5C72B}" type="slidenum">
              <a:rPr lang="fr-FR" smtClean="0"/>
              <a:pPr/>
              <a:t>59</a:t>
            </a:fld>
            <a:endParaRPr lang="fr-FR" dirty="0"/>
          </a:p>
        </p:txBody>
      </p:sp>
    </p:spTree>
    <p:extLst>
      <p:ext uri="{BB962C8B-B14F-4D97-AF65-F5344CB8AC3E}">
        <p14:creationId xmlns:p14="http://schemas.microsoft.com/office/powerpoint/2010/main" val="28605785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00F9E9-DDEA-4600-A580-A2D05502EF2B}"/>
              </a:ext>
            </a:extLst>
          </p:cNvPr>
          <p:cNvSpPr>
            <a:spLocks noGrp="1"/>
          </p:cNvSpPr>
          <p:nvPr>
            <p:ph type="title"/>
          </p:nvPr>
        </p:nvSpPr>
        <p:spPr/>
        <p:txBody>
          <a:bodyPr/>
          <a:lstStyle/>
          <a:p>
            <a:r>
              <a:rPr lang="en-US" sz="3092" dirty="0"/>
              <a:t>What is the effect on the balance sheet of the purchase of raw materials on credit?</a:t>
            </a:r>
          </a:p>
        </p:txBody>
      </p:sp>
      <p:graphicFrame>
        <p:nvGraphicFramePr>
          <p:cNvPr id="6" name="Table 6">
            <a:extLst>
              <a:ext uri="{FF2B5EF4-FFF2-40B4-BE49-F238E27FC236}">
                <a16:creationId xmlns:a16="http://schemas.microsoft.com/office/drawing/2014/main" id="{1FD6A07A-361C-4125-BBCE-5A6A8BC1B965}"/>
              </a:ext>
            </a:extLst>
          </p:cNvPr>
          <p:cNvGraphicFramePr>
            <a:graphicFrameLocks noGrp="1"/>
          </p:cNvGraphicFramePr>
          <p:nvPr>
            <p:ph idx="1"/>
            <p:extLst>
              <p:ext uri="{D42A27DB-BD31-4B8C-83A1-F6EECF244321}">
                <p14:modId xmlns:p14="http://schemas.microsoft.com/office/powerpoint/2010/main" val="3605084379"/>
              </p:ext>
            </p:extLst>
          </p:nvPr>
        </p:nvGraphicFramePr>
        <p:xfrm>
          <a:off x="681038" y="1825625"/>
          <a:ext cx="10829922" cy="2897385"/>
        </p:xfrm>
        <a:graphic>
          <a:graphicData uri="http://schemas.openxmlformats.org/drawingml/2006/table">
            <a:tbl>
              <a:tblPr firstRow="1" bandRow="1">
                <a:tableStyleId>{5C22544A-7EE6-4342-B048-85BDC9FD1C3A}</a:tableStyleId>
              </a:tblPr>
              <a:tblGrid>
                <a:gridCol w="1804987">
                  <a:extLst>
                    <a:ext uri="{9D8B030D-6E8A-4147-A177-3AD203B41FA5}">
                      <a16:colId xmlns:a16="http://schemas.microsoft.com/office/drawing/2014/main" val="2031488337"/>
                    </a:ext>
                  </a:extLst>
                </a:gridCol>
                <a:gridCol w="1804987">
                  <a:extLst>
                    <a:ext uri="{9D8B030D-6E8A-4147-A177-3AD203B41FA5}">
                      <a16:colId xmlns:a16="http://schemas.microsoft.com/office/drawing/2014/main" val="526378758"/>
                    </a:ext>
                  </a:extLst>
                </a:gridCol>
                <a:gridCol w="1804987">
                  <a:extLst>
                    <a:ext uri="{9D8B030D-6E8A-4147-A177-3AD203B41FA5}">
                      <a16:colId xmlns:a16="http://schemas.microsoft.com/office/drawing/2014/main" val="325362427"/>
                    </a:ext>
                  </a:extLst>
                </a:gridCol>
                <a:gridCol w="1804987">
                  <a:extLst>
                    <a:ext uri="{9D8B030D-6E8A-4147-A177-3AD203B41FA5}">
                      <a16:colId xmlns:a16="http://schemas.microsoft.com/office/drawing/2014/main" val="1990001942"/>
                    </a:ext>
                  </a:extLst>
                </a:gridCol>
                <a:gridCol w="1804987">
                  <a:extLst>
                    <a:ext uri="{9D8B030D-6E8A-4147-A177-3AD203B41FA5}">
                      <a16:colId xmlns:a16="http://schemas.microsoft.com/office/drawing/2014/main" val="3344489120"/>
                    </a:ext>
                  </a:extLst>
                </a:gridCol>
                <a:gridCol w="1804987">
                  <a:extLst>
                    <a:ext uri="{9D8B030D-6E8A-4147-A177-3AD203B41FA5}">
                      <a16:colId xmlns:a16="http://schemas.microsoft.com/office/drawing/2014/main" val="3436964488"/>
                    </a:ext>
                  </a:extLst>
                </a:gridCol>
              </a:tblGrid>
              <a:tr h="406995">
                <a:tc rowSpan="2">
                  <a:txBody>
                    <a:bodyPr/>
                    <a:lstStyle/>
                    <a:p>
                      <a:pPr algn="ctr"/>
                      <a:r>
                        <a:rPr lang="en-US" sz="2200" dirty="0"/>
                        <a:t>Non-current assets (NCA)</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assets (CA)</a:t>
                      </a:r>
                    </a:p>
                  </a:txBody>
                  <a:tcPr marL="64262" marR="64262" marT="32131" marB="32131" anchor="ctr">
                    <a:lnB w="12700" cap="flat" cmpd="sng" algn="ctr">
                      <a:solidFill>
                        <a:schemeClr val="tx1"/>
                      </a:solidFill>
                      <a:prstDash val="solid"/>
                      <a:round/>
                      <a:headEnd type="none" w="med" len="med"/>
                      <a:tailEnd type="none" w="med" len="med"/>
                    </a:lnB>
                  </a:tcPr>
                </a:tc>
                <a:tc gridSpan="2">
                  <a:txBody>
                    <a:bodyPr/>
                    <a:lstStyle/>
                    <a:p>
                      <a:pPr algn="ctr"/>
                      <a:r>
                        <a:rPr lang="en-US" sz="2200" dirty="0"/>
                        <a:t>Equity</a:t>
                      </a:r>
                    </a:p>
                  </a:txBody>
                  <a:tcPr marL="64262" marR="64262" marT="32131" marB="32131" anchor="ctr"/>
                </a:tc>
                <a:tc hMerge="1">
                  <a:txBody>
                    <a:bodyPr/>
                    <a:lstStyle/>
                    <a:p>
                      <a:endParaRPr lang="en-US" dirty="0"/>
                    </a:p>
                  </a:txBody>
                  <a:tcPr/>
                </a:tc>
                <a:tc rowSpan="2">
                  <a:txBody>
                    <a:bodyPr/>
                    <a:lstStyle/>
                    <a:p>
                      <a:pPr algn="ctr"/>
                      <a:r>
                        <a:rPr lang="en-US" sz="2200" dirty="0"/>
                        <a:t>Non-current liabilities (NCL)</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liabilities (CL)</a:t>
                      </a:r>
                    </a:p>
                  </a:txBody>
                  <a:tcPr marL="64262" marR="64262" marT="32131" marB="32131"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8874"/>
                  </a:ext>
                </a:extLst>
              </a:tr>
              <a:tr h="1435193">
                <a:tc vMerge="1">
                  <a:txBody>
                    <a:bodyPr/>
                    <a:lstStyle/>
                    <a:p>
                      <a:endParaRPr lang="en-US" sz="3200" dirty="0"/>
                    </a:p>
                  </a:txBody>
                  <a:tcPr/>
                </a:tc>
                <a:tc vMerge="1">
                  <a:txBody>
                    <a:bodyPr/>
                    <a:lstStyle/>
                    <a:p>
                      <a:endParaRPr lang="en-US" sz="3200" dirty="0"/>
                    </a:p>
                  </a:txBody>
                  <a:tcPr/>
                </a:tc>
                <a:tc>
                  <a:txBody>
                    <a:bodyPr/>
                    <a:lstStyle/>
                    <a:p>
                      <a:pPr algn="ctr"/>
                      <a:r>
                        <a:rPr lang="en-US" sz="2200" dirty="0"/>
                        <a:t>Share capital and additional paid-in capital</a:t>
                      </a:r>
                    </a:p>
                  </a:txBody>
                  <a:tcPr marL="64262" marR="64262" marT="32131" marB="32131" anchor="ctr">
                    <a:lnB w="12700" cap="flat" cmpd="sng" algn="ctr">
                      <a:solidFill>
                        <a:schemeClr val="tx1"/>
                      </a:solidFill>
                      <a:prstDash val="solid"/>
                      <a:round/>
                      <a:headEnd type="none" w="med" len="med"/>
                      <a:tailEnd type="none" w="med" len="med"/>
                    </a:lnB>
                  </a:tcPr>
                </a:tc>
                <a:tc>
                  <a:txBody>
                    <a:bodyPr/>
                    <a:lstStyle/>
                    <a:p>
                      <a:pPr algn="ctr"/>
                      <a:r>
                        <a:rPr lang="en-US" sz="2200" dirty="0"/>
                        <a:t>Retained earnings and other reserves</a:t>
                      </a:r>
                    </a:p>
                  </a:txBody>
                  <a:tcPr marL="64262" marR="64262" marT="32131" marB="32131" anchor="ctr">
                    <a:lnB w="12700" cap="flat" cmpd="sng" algn="ctr">
                      <a:solidFill>
                        <a:schemeClr val="tx1"/>
                      </a:solidFill>
                      <a:prstDash val="solid"/>
                      <a:round/>
                      <a:headEnd type="none" w="med" len="med"/>
                      <a:tailEnd type="none" w="med" len="med"/>
                    </a:lnB>
                  </a:tcPr>
                </a:tc>
                <a:tc vMerge="1">
                  <a:txBody>
                    <a:bodyPr/>
                    <a:lstStyle/>
                    <a:p>
                      <a:endParaRPr lang="en-US" sz="3200" dirty="0"/>
                    </a:p>
                  </a:txBody>
                  <a:tcPr/>
                </a:tc>
                <a:tc vMerge="1">
                  <a:txBody>
                    <a:bodyPr/>
                    <a:lstStyle/>
                    <a:p>
                      <a:endParaRPr lang="en-US" sz="3200" dirty="0"/>
                    </a:p>
                  </a:txBody>
                  <a:tcPr/>
                </a:tc>
                <a:extLst>
                  <a:ext uri="{0D108BD9-81ED-4DB2-BD59-A6C34878D82A}">
                    <a16:rowId xmlns:a16="http://schemas.microsoft.com/office/drawing/2014/main" val="853442960"/>
                  </a:ext>
                </a:extLst>
              </a:tr>
              <a:tr h="749728">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25328"/>
                  </a:ext>
                </a:extLst>
              </a:tr>
            </a:tbl>
          </a:graphicData>
        </a:graphic>
      </p:graphicFrame>
      <p:sp>
        <p:nvSpPr>
          <p:cNvPr id="5" name="Slide Number Placeholder 4">
            <a:extLst>
              <a:ext uri="{FF2B5EF4-FFF2-40B4-BE49-F238E27FC236}">
                <a16:creationId xmlns:a16="http://schemas.microsoft.com/office/drawing/2014/main" id="{F394A257-6480-44D9-BDFA-3790757012DC}"/>
              </a:ext>
            </a:extLst>
          </p:cNvPr>
          <p:cNvSpPr>
            <a:spLocks noGrp="1"/>
          </p:cNvSpPr>
          <p:nvPr>
            <p:ph type="sldNum" sz="quarter" idx="10"/>
          </p:nvPr>
        </p:nvSpPr>
        <p:spPr/>
        <p:txBody>
          <a:bodyPr/>
          <a:lstStyle/>
          <a:p>
            <a:fld id="{307C7597-8D70-4701-8085-9524B0B5C72B}" type="slidenum">
              <a:rPr lang="fr-FR" smtClean="0"/>
              <a:pPr/>
              <a:t>60</a:t>
            </a:fld>
            <a:endParaRPr lang="fr-FR" dirty="0"/>
          </a:p>
        </p:txBody>
      </p:sp>
    </p:spTree>
    <p:extLst>
      <p:ext uri="{BB962C8B-B14F-4D97-AF65-F5344CB8AC3E}">
        <p14:creationId xmlns:p14="http://schemas.microsoft.com/office/powerpoint/2010/main" val="7383498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00F9E9-DDEA-4600-A580-A2D05502EF2B}"/>
              </a:ext>
            </a:extLst>
          </p:cNvPr>
          <p:cNvSpPr>
            <a:spLocks noGrp="1"/>
          </p:cNvSpPr>
          <p:nvPr>
            <p:ph type="title"/>
          </p:nvPr>
        </p:nvSpPr>
        <p:spPr/>
        <p:txBody>
          <a:bodyPr/>
          <a:lstStyle/>
          <a:p>
            <a:r>
              <a:rPr lang="en-US" sz="3092" dirty="0"/>
              <a:t>What is the effect on the balance sheet of the purchase of raw materials on credit?</a:t>
            </a:r>
          </a:p>
        </p:txBody>
      </p:sp>
      <p:graphicFrame>
        <p:nvGraphicFramePr>
          <p:cNvPr id="6" name="Table 6">
            <a:extLst>
              <a:ext uri="{FF2B5EF4-FFF2-40B4-BE49-F238E27FC236}">
                <a16:creationId xmlns:a16="http://schemas.microsoft.com/office/drawing/2014/main" id="{1FD6A07A-361C-4125-BBCE-5A6A8BC1B965}"/>
              </a:ext>
            </a:extLst>
          </p:cNvPr>
          <p:cNvGraphicFramePr>
            <a:graphicFrameLocks noGrp="1"/>
          </p:cNvGraphicFramePr>
          <p:nvPr>
            <p:ph idx="1"/>
            <p:extLst>
              <p:ext uri="{D42A27DB-BD31-4B8C-83A1-F6EECF244321}">
                <p14:modId xmlns:p14="http://schemas.microsoft.com/office/powerpoint/2010/main" val="858442752"/>
              </p:ext>
            </p:extLst>
          </p:nvPr>
        </p:nvGraphicFramePr>
        <p:xfrm>
          <a:off x="681038" y="1399494"/>
          <a:ext cx="10829922" cy="3240117"/>
        </p:xfrm>
        <a:graphic>
          <a:graphicData uri="http://schemas.openxmlformats.org/drawingml/2006/table">
            <a:tbl>
              <a:tblPr firstRow="1" bandRow="1">
                <a:tableStyleId>{5C22544A-7EE6-4342-B048-85BDC9FD1C3A}</a:tableStyleId>
              </a:tblPr>
              <a:tblGrid>
                <a:gridCol w="1804987">
                  <a:extLst>
                    <a:ext uri="{9D8B030D-6E8A-4147-A177-3AD203B41FA5}">
                      <a16:colId xmlns:a16="http://schemas.microsoft.com/office/drawing/2014/main" val="2031488337"/>
                    </a:ext>
                  </a:extLst>
                </a:gridCol>
                <a:gridCol w="1804987">
                  <a:extLst>
                    <a:ext uri="{9D8B030D-6E8A-4147-A177-3AD203B41FA5}">
                      <a16:colId xmlns:a16="http://schemas.microsoft.com/office/drawing/2014/main" val="526378758"/>
                    </a:ext>
                  </a:extLst>
                </a:gridCol>
                <a:gridCol w="1804987">
                  <a:extLst>
                    <a:ext uri="{9D8B030D-6E8A-4147-A177-3AD203B41FA5}">
                      <a16:colId xmlns:a16="http://schemas.microsoft.com/office/drawing/2014/main" val="325362427"/>
                    </a:ext>
                  </a:extLst>
                </a:gridCol>
                <a:gridCol w="1804987">
                  <a:extLst>
                    <a:ext uri="{9D8B030D-6E8A-4147-A177-3AD203B41FA5}">
                      <a16:colId xmlns:a16="http://schemas.microsoft.com/office/drawing/2014/main" val="1990001942"/>
                    </a:ext>
                  </a:extLst>
                </a:gridCol>
                <a:gridCol w="1804987">
                  <a:extLst>
                    <a:ext uri="{9D8B030D-6E8A-4147-A177-3AD203B41FA5}">
                      <a16:colId xmlns:a16="http://schemas.microsoft.com/office/drawing/2014/main" val="3344489120"/>
                    </a:ext>
                  </a:extLst>
                </a:gridCol>
                <a:gridCol w="1804987">
                  <a:extLst>
                    <a:ext uri="{9D8B030D-6E8A-4147-A177-3AD203B41FA5}">
                      <a16:colId xmlns:a16="http://schemas.microsoft.com/office/drawing/2014/main" val="3436964488"/>
                    </a:ext>
                  </a:extLst>
                </a:gridCol>
              </a:tblGrid>
              <a:tr h="406995">
                <a:tc rowSpan="2">
                  <a:txBody>
                    <a:bodyPr/>
                    <a:lstStyle/>
                    <a:p>
                      <a:pPr algn="ctr"/>
                      <a:r>
                        <a:rPr lang="en-US" sz="2200" dirty="0"/>
                        <a:t>Non-current assets (NCA)</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assets (CA)</a:t>
                      </a:r>
                    </a:p>
                  </a:txBody>
                  <a:tcPr marL="64262" marR="64262" marT="32131" marB="32131" anchor="ctr">
                    <a:lnB w="12700" cap="flat" cmpd="sng" algn="ctr">
                      <a:solidFill>
                        <a:schemeClr val="tx1"/>
                      </a:solidFill>
                      <a:prstDash val="solid"/>
                      <a:round/>
                      <a:headEnd type="none" w="med" len="med"/>
                      <a:tailEnd type="none" w="med" len="med"/>
                    </a:lnB>
                  </a:tcPr>
                </a:tc>
                <a:tc gridSpan="2">
                  <a:txBody>
                    <a:bodyPr/>
                    <a:lstStyle/>
                    <a:p>
                      <a:pPr algn="ctr"/>
                      <a:r>
                        <a:rPr lang="en-US" sz="2200" dirty="0"/>
                        <a:t>Equity</a:t>
                      </a:r>
                    </a:p>
                  </a:txBody>
                  <a:tcPr marL="64262" marR="64262" marT="32131" marB="32131" anchor="ctr"/>
                </a:tc>
                <a:tc hMerge="1">
                  <a:txBody>
                    <a:bodyPr/>
                    <a:lstStyle/>
                    <a:p>
                      <a:endParaRPr lang="en-US" dirty="0"/>
                    </a:p>
                  </a:txBody>
                  <a:tcPr/>
                </a:tc>
                <a:tc rowSpan="2">
                  <a:txBody>
                    <a:bodyPr/>
                    <a:lstStyle/>
                    <a:p>
                      <a:pPr algn="ctr"/>
                      <a:r>
                        <a:rPr lang="en-US" sz="2200" dirty="0"/>
                        <a:t>Non-current liabilities (NCL)</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liabilities (CL)</a:t>
                      </a:r>
                    </a:p>
                  </a:txBody>
                  <a:tcPr marL="64262" marR="64262" marT="32131" marB="32131"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8874"/>
                  </a:ext>
                </a:extLst>
              </a:tr>
              <a:tr h="1435193">
                <a:tc vMerge="1">
                  <a:txBody>
                    <a:bodyPr/>
                    <a:lstStyle/>
                    <a:p>
                      <a:endParaRPr lang="en-US" sz="3200" dirty="0"/>
                    </a:p>
                  </a:txBody>
                  <a:tcPr/>
                </a:tc>
                <a:tc vMerge="1">
                  <a:txBody>
                    <a:bodyPr/>
                    <a:lstStyle/>
                    <a:p>
                      <a:endParaRPr lang="en-US" sz="3200" dirty="0"/>
                    </a:p>
                  </a:txBody>
                  <a:tcPr/>
                </a:tc>
                <a:tc>
                  <a:txBody>
                    <a:bodyPr/>
                    <a:lstStyle/>
                    <a:p>
                      <a:pPr algn="ctr"/>
                      <a:r>
                        <a:rPr lang="en-US" sz="2200" dirty="0"/>
                        <a:t>Share capital and additional paid-in capital</a:t>
                      </a:r>
                    </a:p>
                  </a:txBody>
                  <a:tcPr marL="64262" marR="64262" marT="32131" marB="32131" anchor="ctr">
                    <a:lnB w="12700" cap="flat" cmpd="sng" algn="ctr">
                      <a:solidFill>
                        <a:schemeClr val="tx1"/>
                      </a:solidFill>
                      <a:prstDash val="solid"/>
                      <a:round/>
                      <a:headEnd type="none" w="med" len="med"/>
                      <a:tailEnd type="none" w="med" len="med"/>
                    </a:lnB>
                  </a:tcPr>
                </a:tc>
                <a:tc>
                  <a:txBody>
                    <a:bodyPr/>
                    <a:lstStyle/>
                    <a:p>
                      <a:pPr algn="ctr"/>
                      <a:r>
                        <a:rPr lang="en-US" sz="2200" dirty="0"/>
                        <a:t>Retained earnings and other reserves</a:t>
                      </a:r>
                    </a:p>
                  </a:txBody>
                  <a:tcPr marL="64262" marR="64262" marT="32131" marB="32131" anchor="ctr">
                    <a:lnB w="12700" cap="flat" cmpd="sng" algn="ctr">
                      <a:solidFill>
                        <a:schemeClr val="tx1"/>
                      </a:solidFill>
                      <a:prstDash val="solid"/>
                      <a:round/>
                      <a:headEnd type="none" w="med" len="med"/>
                      <a:tailEnd type="none" w="med" len="med"/>
                    </a:lnB>
                  </a:tcPr>
                </a:tc>
                <a:tc vMerge="1">
                  <a:txBody>
                    <a:bodyPr/>
                    <a:lstStyle/>
                    <a:p>
                      <a:endParaRPr lang="en-US" sz="3200" dirty="0"/>
                    </a:p>
                  </a:txBody>
                  <a:tcPr/>
                </a:tc>
                <a:tc vMerge="1">
                  <a:txBody>
                    <a:bodyPr/>
                    <a:lstStyle/>
                    <a:p>
                      <a:endParaRPr lang="en-US" sz="3200" dirty="0"/>
                    </a:p>
                  </a:txBody>
                  <a:tcPr/>
                </a:tc>
                <a:extLst>
                  <a:ext uri="{0D108BD9-81ED-4DB2-BD59-A6C34878D82A}">
                    <a16:rowId xmlns:a16="http://schemas.microsoft.com/office/drawing/2014/main" val="853442960"/>
                  </a:ext>
                </a:extLst>
              </a:tr>
              <a:tr h="1092460">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dirty="0"/>
                        <a:t>Raw material inventory (increase)</a:t>
                      </a:r>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dirty="0"/>
                        <a:t>Accounts payable (increase)</a:t>
                      </a:r>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25328"/>
                  </a:ext>
                </a:extLst>
              </a:tr>
            </a:tbl>
          </a:graphicData>
        </a:graphic>
      </p:graphicFrame>
      <p:sp>
        <p:nvSpPr>
          <p:cNvPr id="5" name="Slide Number Placeholder 4">
            <a:extLst>
              <a:ext uri="{FF2B5EF4-FFF2-40B4-BE49-F238E27FC236}">
                <a16:creationId xmlns:a16="http://schemas.microsoft.com/office/drawing/2014/main" id="{F394A257-6480-44D9-BDFA-3790757012DC}"/>
              </a:ext>
            </a:extLst>
          </p:cNvPr>
          <p:cNvSpPr>
            <a:spLocks noGrp="1"/>
          </p:cNvSpPr>
          <p:nvPr>
            <p:ph type="sldNum" sz="quarter" idx="10"/>
          </p:nvPr>
        </p:nvSpPr>
        <p:spPr/>
        <p:txBody>
          <a:bodyPr/>
          <a:lstStyle/>
          <a:p>
            <a:fld id="{307C7597-8D70-4701-8085-9524B0B5C72B}" type="slidenum">
              <a:rPr lang="fr-FR" smtClean="0"/>
              <a:pPr/>
              <a:t>61</a:t>
            </a:fld>
            <a:endParaRPr lang="fr-FR" dirty="0"/>
          </a:p>
        </p:txBody>
      </p:sp>
      <p:sp>
        <p:nvSpPr>
          <p:cNvPr id="7" name="TextBox 6"/>
          <p:cNvSpPr txBox="1"/>
          <p:nvPr/>
        </p:nvSpPr>
        <p:spPr>
          <a:xfrm>
            <a:off x="510142" y="4703537"/>
            <a:ext cx="11190944" cy="1519840"/>
          </a:xfrm>
          <a:prstGeom prst="rect">
            <a:avLst/>
          </a:prstGeom>
          <a:noFill/>
        </p:spPr>
        <p:txBody>
          <a:bodyPr wrap="square" rtlCol="0">
            <a:spAutoFit/>
          </a:bodyPr>
          <a:lstStyle/>
          <a:p>
            <a:pPr algn="ctr"/>
            <a:r>
              <a:rPr lang="fr-FR" sz="3092" dirty="0"/>
              <a:t>Net </a:t>
            </a:r>
            <a:r>
              <a:rPr lang="fr-FR" sz="3092" dirty="0" err="1"/>
              <a:t>assets</a:t>
            </a:r>
            <a:r>
              <a:rPr lang="fr-FR" sz="3092" dirty="0"/>
              <a:t> = </a:t>
            </a:r>
            <a:r>
              <a:rPr lang="fr-FR" sz="3092" dirty="0" err="1"/>
              <a:t>Assets</a:t>
            </a:r>
            <a:r>
              <a:rPr lang="fr-FR" sz="3092" dirty="0"/>
              <a:t> at net value – </a:t>
            </a:r>
            <a:r>
              <a:rPr lang="fr-FR" sz="3092" dirty="0" err="1"/>
              <a:t>Liabilities</a:t>
            </a:r>
            <a:r>
              <a:rPr lang="fr-FR" sz="3092" dirty="0"/>
              <a:t> = </a:t>
            </a:r>
            <a:r>
              <a:rPr lang="fr-FR" sz="3092" dirty="0" err="1"/>
              <a:t>Equity</a:t>
            </a:r>
            <a:endParaRPr lang="fr-FR" sz="3092" dirty="0"/>
          </a:p>
          <a:p>
            <a:pPr algn="ctr"/>
            <a:r>
              <a:rPr lang="fr-FR" sz="3092" dirty="0" err="1"/>
              <a:t>Same</a:t>
            </a:r>
            <a:r>
              <a:rPr lang="fr-FR" sz="3092" dirty="0"/>
              <a:t> </a:t>
            </a:r>
            <a:r>
              <a:rPr lang="fr-FR" sz="3092" dirty="0" err="1"/>
              <a:t>effect</a:t>
            </a:r>
            <a:r>
              <a:rPr lang="fr-FR" sz="3092" dirty="0"/>
              <a:t> on net </a:t>
            </a:r>
            <a:r>
              <a:rPr lang="fr-FR" sz="3092" dirty="0" err="1"/>
              <a:t>assets</a:t>
            </a:r>
            <a:r>
              <a:rPr lang="fr-FR" sz="3092" dirty="0"/>
              <a:t>: a cash </a:t>
            </a:r>
            <a:r>
              <a:rPr lang="fr-FR" sz="3092" dirty="0" err="1"/>
              <a:t>purchase</a:t>
            </a:r>
            <a:r>
              <a:rPr lang="fr-FR" sz="3092" dirty="0"/>
              <a:t> (</a:t>
            </a:r>
            <a:r>
              <a:rPr lang="fr-FR" sz="3092" dirty="0" err="1"/>
              <a:t>increase</a:t>
            </a:r>
            <a:r>
              <a:rPr lang="fr-FR" sz="3092" dirty="0"/>
              <a:t> in </a:t>
            </a:r>
            <a:r>
              <a:rPr lang="fr-FR" sz="3092" dirty="0" err="1"/>
              <a:t>inventory</a:t>
            </a:r>
            <a:r>
              <a:rPr lang="fr-FR" sz="3092" dirty="0"/>
              <a:t> and </a:t>
            </a:r>
            <a:r>
              <a:rPr lang="fr-FR" sz="3092" dirty="0" err="1"/>
              <a:t>decrease</a:t>
            </a:r>
            <a:r>
              <a:rPr lang="fr-FR" sz="3092" dirty="0"/>
              <a:t> in cash) or a </a:t>
            </a:r>
            <a:r>
              <a:rPr lang="fr-FR" sz="3092" dirty="0" err="1"/>
              <a:t>credit</a:t>
            </a:r>
            <a:r>
              <a:rPr lang="fr-FR" sz="3092" dirty="0"/>
              <a:t> </a:t>
            </a:r>
            <a:r>
              <a:rPr lang="fr-FR" sz="3092" dirty="0" err="1"/>
              <a:t>purchase</a:t>
            </a:r>
            <a:endParaRPr lang="fr-FR" sz="3092" dirty="0"/>
          </a:p>
        </p:txBody>
      </p:sp>
    </p:spTree>
    <p:extLst>
      <p:ext uri="{BB962C8B-B14F-4D97-AF65-F5344CB8AC3E}">
        <p14:creationId xmlns:p14="http://schemas.microsoft.com/office/powerpoint/2010/main" val="387629326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00F9E9-DDEA-4600-A580-A2D05502EF2B}"/>
              </a:ext>
            </a:extLst>
          </p:cNvPr>
          <p:cNvSpPr>
            <a:spLocks noGrp="1"/>
          </p:cNvSpPr>
          <p:nvPr>
            <p:ph type="title"/>
          </p:nvPr>
        </p:nvSpPr>
        <p:spPr/>
        <p:txBody>
          <a:bodyPr/>
          <a:lstStyle/>
          <a:p>
            <a:r>
              <a:rPr lang="en-US" sz="3092" dirty="0"/>
              <a:t>What is the effect on the balance sheet of the purchase of property, plant and equipment (i.e. tangible fixed assets) on credit?</a:t>
            </a:r>
          </a:p>
        </p:txBody>
      </p:sp>
      <p:graphicFrame>
        <p:nvGraphicFramePr>
          <p:cNvPr id="6" name="Table 6">
            <a:extLst>
              <a:ext uri="{FF2B5EF4-FFF2-40B4-BE49-F238E27FC236}">
                <a16:creationId xmlns:a16="http://schemas.microsoft.com/office/drawing/2014/main" id="{1FD6A07A-361C-4125-BBCE-5A6A8BC1B965}"/>
              </a:ext>
            </a:extLst>
          </p:cNvPr>
          <p:cNvGraphicFramePr>
            <a:graphicFrameLocks noGrp="1"/>
          </p:cNvGraphicFramePr>
          <p:nvPr>
            <p:ph idx="1"/>
            <p:extLst>
              <p:ext uri="{D42A27DB-BD31-4B8C-83A1-F6EECF244321}">
                <p14:modId xmlns:p14="http://schemas.microsoft.com/office/powerpoint/2010/main" val="957847844"/>
              </p:ext>
            </p:extLst>
          </p:nvPr>
        </p:nvGraphicFramePr>
        <p:xfrm>
          <a:off x="681038" y="1825625"/>
          <a:ext cx="10829922" cy="2897385"/>
        </p:xfrm>
        <a:graphic>
          <a:graphicData uri="http://schemas.openxmlformats.org/drawingml/2006/table">
            <a:tbl>
              <a:tblPr firstRow="1" bandRow="1">
                <a:tableStyleId>{5C22544A-7EE6-4342-B048-85BDC9FD1C3A}</a:tableStyleId>
              </a:tblPr>
              <a:tblGrid>
                <a:gridCol w="1804987">
                  <a:extLst>
                    <a:ext uri="{9D8B030D-6E8A-4147-A177-3AD203B41FA5}">
                      <a16:colId xmlns:a16="http://schemas.microsoft.com/office/drawing/2014/main" val="2031488337"/>
                    </a:ext>
                  </a:extLst>
                </a:gridCol>
                <a:gridCol w="1804987">
                  <a:extLst>
                    <a:ext uri="{9D8B030D-6E8A-4147-A177-3AD203B41FA5}">
                      <a16:colId xmlns:a16="http://schemas.microsoft.com/office/drawing/2014/main" val="526378758"/>
                    </a:ext>
                  </a:extLst>
                </a:gridCol>
                <a:gridCol w="1804987">
                  <a:extLst>
                    <a:ext uri="{9D8B030D-6E8A-4147-A177-3AD203B41FA5}">
                      <a16:colId xmlns:a16="http://schemas.microsoft.com/office/drawing/2014/main" val="325362427"/>
                    </a:ext>
                  </a:extLst>
                </a:gridCol>
                <a:gridCol w="1804987">
                  <a:extLst>
                    <a:ext uri="{9D8B030D-6E8A-4147-A177-3AD203B41FA5}">
                      <a16:colId xmlns:a16="http://schemas.microsoft.com/office/drawing/2014/main" val="1990001942"/>
                    </a:ext>
                  </a:extLst>
                </a:gridCol>
                <a:gridCol w="1804987">
                  <a:extLst>
                    <a:ext uri="{9D8B030D-6E8A-4147-A177-3AD203B41FA5}">
                      <a16:colId xmlns:a16="http://schemas.microsoft.com/office/drawing/2014/main" val="3344489120"/>
                    </a:ext>
                  </a:extLst>
                </a:gridCol>
                <a:gridCol w="1804987">
                  <a:extLst>
                    <a:ext uri="{9D8B030D-6E8A-4147-A177-3AD203B41FA5}">
                      <a16:colId xmlns:a16="http://schemas.microsoft.com/office/drawing/2014/main" val="3436964488"/>
                    </a:ext>
                  </a:extLst>
                </a:gridCol>
              </a:tblGrid>
              <a:tr h="406995">
                <a:tc rowSpan="2">
                  <a:txBody>
                    <a:bodyPr/>
                    <a:lstStyle/>
                    <a:p>
                      <a:pPr algn="ctr"/>
                      <a:r>
                        <a:rPr lang="en-US" sz="2200" dirty="0"/>
                        <a:t>Non-current assets (NCA)</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assets (CA)</a:t>
                      </a:r>
                    </a:p>
                  </a:txBody>
                  <a:tcPr marL="64262" marR="64262" marT="32131" marB="32131" anchor="ctr">
                    <a:lnB w="12700" cap="flat" cmpd="sng" algn="ctr">
                      <a:solidFill>
                        <a:schemeClr val="tx1"/>
                      </a:solidFill>
                      <a:prstDash val="solid"/>
                      <a:round/>
                      <a:headEnd type="none" w="med" len="med"/>
                      <a:tailEnd type="none" w="med" len="med"/>
                    </a:lnB>
                  </a:tcPr>
                </a:tc>
                <a:tc gridSpan="2">
                  <a:txBody>
                    <a:bodyPr/>
                    <a:lstStyle/>
                    <a:p>
                      <a:pPr algn="ctr"/>
                      <a:r>
                        <a:rPr lang="en-US" sz="2200" dirty="0"/>
                        <a:t>Equity</a:t>
                      </a:r>
                    </a:p>
                  </a:txBody>
                  <a:tcPr marL="64262" marR="64262" marT="32131" marB="32131" anchor="ctr"/>
                </a:tc>
                <a:tc hMerge="1">
                  <a:txBody>
                    <a:bodyPr/>
                    <a:lstStyle/>
                    <a:p>
                      <a:endParaRPr lang="en-US" dirty="0"/>
                    </a:p>
                  </a:txBody>
                  <a:tcPr/>
                </a:tc>
                <a:tc rowSpan="2">
                  <a:txBody>
                    <a:bodyPr/>
                    <a:lstStyle/>
                    <a:p>
                      <a:pPr algn="ctr"/>
                      <a:r>
                        <a:rPr lang="en-US" sz="2200" dirty="0"/>
                        <a:t>Non-current liabilities (NCL)</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liabilities (CL)</a:t>
                      </a:r>
                    </a:p>
                  </a:txBody>
                  <a:tcPr marL="64262" marR="64262" marT="32131" marB="32131"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8874"/>
                  </a:ext>
                </a:extLst>
              </a:tr>
              <a:tr h="1435193">
                <a:tc vMerge="1">
                  <a:txBody>
                    <a:bodyPr/>
                    <a:lstStyle/>
                    <a:p>
                      <a:endParaRPr lang="en-US" sz="3200" dirty="0"/>
                    </a:p>
                  </a:txBody>
                  <a:tcPr/>
                </a:tc>
                <a:tc vMerge="1">
                  <a:txBody>
                    <a:bodyPr/>
                    <a:lstStyle/>
                    <a:p>
                      <a:endParaRPr lang="en-US" sz="3200" dirty="0"/>
                    </a:p>
                  </a:txBody>
                  <a:tcPr/>
                </a:tc>
                <a:tc>
                  <a:txBody>
                    <a:bodyPr/>
                    <a:lstStyle/>
                    <a:p>
                      <a:pPr algn="ctr"/>
                      <a:r>
                        <a:rPr lang="en-US" sz="2200" dirty="0"/>
                        <a:t>Share capital and additional paid-in capital</a:t>
                      </a:r>
                    </a:p>
                  </a:txBody>
                  <a:tcPr marL="64262" marR="64262" marT="32131" marB="32131" anchor="ctr">
                    <a:lnB w="12700" cap="flat" cmpd="sng" algn="ctr">
                      <a:solidFill>
                        <a:schemeClr val="tx1"/>
                      </a:solidFill>
                      <a:prstDash val="solid"/>
                      <a:round/>
                      <a:headEnd type="none" w="med" len="med"/>
                      <a:tailEnd type="none" w="med" len="med"/>
                    </a:lnB>
                  </a:tcPr>
                </a:tc>
                <a:tc>
                  <a:txBody>
                    <a:bodyPr/>
                    <a:lstStyle/>
                    <a:p>
                      <a:pPr algn="ctr"/>
                      <a:r>
                        <a:rPr lang="en-US" sz="2200" dirty="0"/>
                        <a:t>Retained earnings and other reserves</a:t>
                      </a:r>
                    </a:p>
                  </a:txBody>
                  <a:tcPr marL="64262" marR="64262" marT="32131" marB="32131" anchor="ctr">
                    <a:lnB w="12700" cap="flat" cmpd="sng" algn="ctr">
                      <a:solidFill>
                        <a:schemeClr val="tx1"/>
                      </a:solidFill>
                      <a:prstDash val="solid"/>
                      <a:round/>
                      <a:headEnd type="none" w="med" len="med"/>
                      <a:tailEnd type="none" w="med" len="med"/>
                    </a:lnB>
                  </a:tcPr>
                </a:tc>
                <a:tc vMerge="1">
                  <a:txBody>
                    <a:bodyPr/>
                    <a:lstStyle/>
                    <a:p>
                      <a:endParaRPr lang="en-US" sz="3200" dirty="0"/>
                    </a:p>
                  </a:txBody>
                  <a:tcPr/>
                </a:tc>
                <a:tc vMerge="1">
                  <a:txBody>
                    <a:bodyPr/>
                    <a:lstStyle/>
                    <a:p>
                      <a:endParaRPr lang="en-US" sz="3200" dirty="0"/>
                    </a:p>
                  </a:txBody>
                  <a:tcPr/>
                </a:tc>
                <a:extLst>
                  <a:ext uri="{0D108BD9-81ED-4DB2-BD59-A6C34878D82A}">
                    <a16:rowId xmlns:a16="http://schemas.microsoft.com/office/drawing/2014/main" val="853442960"/>
                  </a:ext>
                </a:extLst>
              </a:tr>
              <a:tr h="749728">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25328"/>
                  </a:ext>
                </a:extLst>
              </a:tr>
            </a:tbl>
          </a:graphicData>
        </a:graphic>
      </p:graphicFrame>
      <p:sp>
        <p:nvSpPr>
          <p:cNvPr id="5" name="Slide Number Placeholder 4">
            <a:extLst>
              <a:ext uri="{FF2B5EF4-FFF2-40B4-BE49-F238E27FC236}">
                <a16:creationId xmlns:a16="http://schemas.microsoft.com/office/drawing/2014/main" id="{F394A257-6480-44D9-BDFA-3790757012DC}"/>
              </a:ext>
            </a:extLst>
          </p:cNvPr>
          <p:cNvSpPr>
            <a:spLocks noGrp="1"/>
          </p:cNvSpPr>
          <p:nvPr>
            <p:ph type="sldNum" sz="quarter" idx="10"/>
          </p:nvPr>
        </p:nvSpPr>
        <p:spPr/>
        <p:txBody>
          <a:bodyPr/>
          <a:lstStyle/>
          <a:p>
            <a:fld id="{307C7597-8D70-4701-8085-9524B0B5C72B}" type="slidenum">
              <a:rPr lang="fr-FR" smtClean="0"/>
              <a:pPr/>
              <a:t>62</a:t>
            </a:fld>
            <a:endParaRPr lang="fr-FR" dirty="0"/>
          </a:p>
        </p:txBody>
      </p:sp>
    </p:spTree>
    <p:extLst>
      <p:ext uri="{BB962C8B-B14F-4D97-AF65-F5344CB8AC3E}">
        <p14:creationId xmlns:p14="http://schemas.microsoft.com/office/powerpoint/2010/main" val="108883552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00F9E9-DDEA-4600-A580-A2D05502EF2B}"/>
              </a:ext>
            </a:extLst>
          </p:cNvPr>
          <p:cNvSpPr>
            <a:spLocks noGrp="1"/>
          </p:cNvSpPr>
          <p:nvPr>
            <p:ph type="title"/>
          </p:nvPr>
        </p:nvSpPr>
        <p:spPr/>
        <p:txBody>
          <a:bodyPr/>
          <a:lstStyle/>
          <a:p>
            <a:r>
              <a:rPr lang="en-US" sz="3092" dirty="0"/>
              <a:t>What is the effect on the balance sheet of the purchase of property, plant and equipment (i.e. tangible fixed assets) on short-term credit?</a:t>
            </a:r>
          </a:p>
        </p:txBody>
      </p:sp>
      <p:graphicFrame>
        <p:nvGraphicFramePr>
          <p:cNvPr id="6" name="Table 6">
            <a:extLst>
              <a:ext uri="{FF2B5EF4-FFF2-40B4-BE49-F238E27FC236}">
                <a16:creationId xmlns:a16="http://schemas.microsoft.com/office/drawing/2014/main" id="{1FD6A07A-361C-4125-BBCE-5A6A8BC1B965}"/>
              </a:ext>
            </a:extLst>
          </p:cNvPr>
          <p:cNvGraphicFramePr>
            <a:graphicFrameLocks noGrp="1"/>
          </p:cNvGraphicFramePr>
          <p:nvPr>
            <p:ph idx="1"/>
            <p:extLst>
              <p:ext uri="{D42A27DB-BD31-4B8C-83A1-F6EECF244321}">
                <p14:modId xmlns:p14="http://schemas.microsoft.com/office/powerpoint/2010/main" val="1689654622"/>
              </p:ext>
            </p:extLst>
          </p:nvPr>
        </p:nvGraphicFramePr>
        <p:xfrm>
          <a:off x="681038" y="1825625"/>
          <a:ext cx="10829922" cy="4611048"/>
        </p:xfrm>
        <a:graphic>
          <a:graphicData uri="http://schemas.openxmlformats.org/drawingml/2006/table">
            <a:tbl>
              <a:tblPr firstRow="1" bandRow="1">
                <a:tableStyleId>{5C22544A-7EE6-4342-B048-85BDC9FD1C3A}</a:tableStyleId>
              </a:tblPr>
              <a:tblGrid>
                <a:gridCol w="1804987">
                  <a:extLst>
                    <a:ext uri="{9D8B030D-6E8A-4147-A177-3AD203B41FA5}">
                      <a16:colId xmlns:a16="http://schemas.microsoft.com/office/drawing/2014/main" val="2031488337"/>
                    </a:ext>
                  </a:extLst>
                </a:gridCol>
                <a:gridCol w="1804987">
                  <a:extLst>
                    <a:ext uri="{9D8B030D-6E8A-4147-A177-3AD203B41FA5}">
                      <a16:colId xmlns:a16="http://schemas.microsoft.com/office/drawing/2014/main" val="526378758"/>
                    </a:ext>
                  </a:extLst>
                </a:gridCol>
                <a:gridCol w="1804987">
                  <a:extLst>
                    <a:ext uri="{9D8B030D-6E8A-4147-A177-3AD203B41FA5}">
                      <a16:colId xmlns:a16="http://schemas.microsoft.com/office/drawing/2014/main" val="325362427"/>
                    </a:ext>
                  </a:extLst>
                </a:gridCol>
                <a:gridCol w="1804987">
                  <a:extLst>
                    <a:ext uri="{9D8B030D-6E8A-4147-A177-3AD203B41FA5}">
                      <a16:colId xmlns:a16="http://schemas.microsoft.com/office/drawing/2014/main" val="1990001942"/>
                    </a:ext>
                  </a:extLst>
                </a:gridCol>
                <a:gridCol w="1804987">
                  <a:extLst>
                    <a:ext uri="{9D8B030D-6E8A-4147-A177-3AD203B41FA5}">
                      <a16:colId xmlns:a16="http://schemas.microsoft.com/office/drawing/2014/main" val="3344489120"/>
                    </a:ext>
                  </a:extLst>
                </a:gridCol>
                <a:gridCol w="1804987">
                  <a:extLst>
                    <a:ext uri="{9D8B030D-6E8A-4147-A177-3AD203B41FA5}">
                      <a16:colId xmlns:a16="http://schemas.microsoft.com/office/drawing/2014/main" val="3436964488"/>
                    </a:ext>
                  </a:extLst>
                </a:gridCol>
              </a:tblGrid>
              <a:tr h="406995">
                <a:tc rowSpan="2">
                  <a:txBody>
                    <a:bodyPr/>
                    <a:lstStyle/>
                    <a:p>
                      <a:pPr algn="ctr"/>
                      <a:r>
                        <a:rPr lang="en-US" sz="2200" dirty="0"/>
                        <a:t>Non-current assets (NCA)</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assets (CA)</a:t>
                      </a:r>
                    </a:p>
                  </a:txBody>
                  <a:tcPr marL="64262" marR="64262" marT="32131" marB="32131" anchor="ctr">
                    <a:lnB w="12700" cap="flat" cmpd="sng" algn="ctr">
                      <a:solidFill>
                        <a:schemeClr val="tx1"/>
                      </a:solidFill>
                      <a:prstDash val="solid"/>
                      <a:round/>
                      <a:headEnd type="none" w="med" len="med"/>
                      <a:tailEnd type="none" w="med" len="med"/>
                    </a:lnB>
                  </a:tcPr>
                </a:tc>
                <a:tc gridSpan="2">
                  <a:txBody>
                    <a:bodyPr/>
                    <a:lstStyle/>
                    <a:p>
                      <a:pPr algn="ctr"/>
                      <a:r>
                        <a:rPr lang="en-US" sz="2200" dirty="0"/>
                        <a:t>Equity</a:t>
                      </a:r>
                    </a:p>
                  </a:txBody>
                  <a:tcPr marL="64262" marR="64262" marT="32131" marB="32131" anchor="ctr"/>
                </a:tc>
                <a:tc hMerge="1">
                  <a:txBody>
                    <a:bodyPr/>
                    <a:lstStyle/>
                    <a:p>
                      <a:endParaRPr lang="en-US" dirty="0"/>
                    </a:p>
                  </a:txBody>
                  <a:tcPr/>
                </a:tc>
                <a:tc rowSpan="2">
                  <a:txBody>
                    <a:bodyPr/>
                    <a:lstStyle/>
                    <a:p>
                      <a:pPr algn="ctr"/>
                      <a:r>
                        <a:rPr lang="en-US" sz="2200" dirty="0"/>
                        <a:t>Non-current liabilities (NCL)</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liabilities (CL)</a:t>
                      </a:r>
                    </a:p>
                  </a:txBody>
                  <a:tcPr marL="64262" marR="64262" marT="32131" marB="32131"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8874"/>
                  </a:ext>
                </a:extLst>
              </a:tr>
              <a:tr h="1435193">
                <a:tc vMerge="1">
                  <a:txBody>
                    <a:bodyPr/>
                    <a:lstStyle/>
                    <a:p>
                      <a:endParaRPr lang="en-US" sz="3200" dirty="0"/>
                    </a:p>
                  </a:txBody>
                  <a:tcPr/>
                </a:tc>
                <a:tc vMerge="1">
                  <a:txBody>
                    <a:bodyPr/>
                    <a:lstStyle/>
                    <a:p>
                      <a:endParaRPr lang="en-US" sz="3200" dirty="0"/>
                    </a:p>
                  </a:txBody>
                  <a:tcPr/>
                </a:tc>
                <a:tc>
                  <a:txBody>
                    <a:bodyPr/>
                    <a:lstStyle/>
                    <a:p>
                      <a:pPr algn="ctr"/>
                      <a:r>
                        <a:rPr lang="en-US" sz="2200" dirty="0"/>
                        <a:t>Share capital and additional paid-in capital</a:t>
                      </a:r>
                    </a:p>
                  </a:txBody>
                  <a:tcPr marL="64262" marR="64262" marT="32131" marB="32131" anchor="ctr">
                    <a:lnB w="12700" cap="flat" cmpd="sng" algn="ctr">
                      <a:solidFill>
                        <a:schemeClr val="tx1"/>
                      </a:solidFill>
                      <a:prstDash val="solid"/>
                      <a:round/>
                      <a:headEnd type="none" w="med" len="med"/>
                      <a:tailEnd type="none" w="med" len="med"/>
                    </a:lnB>
                  </a:tcPr>
                </a:tc>
                <a:tc>
                  <a:txBody>
                    <a:bodyPr/>
                    <a:lstStyle/>
                    <a:p>
                      <a:pPr algn="ctr"/>
                      <a:r>
                        <a:rPr lang="en-US" sz="2200" dirty="0"/>
                        <a:t>Retained earnings and other reserves</a:t>
                      </a:r>
                    </a:p>
                  </a:txBody>
                  <a:tcPr marL="64262" marR="64262" marT="32131" marB="32131" anchor="ctr">
                    <a:lnB w="12700" cap="flat" cmpd="sng" algn="ctr">
                      <a:solidFill>
                        <a:schemeClr val="tx1"/>
                      </a:solidFill>
                      <a:prstDash val="solid"/>
                      <a:round/>
                      <a:headEnd type="none" w="med" len="med"/>
                      <a:tailEnd type="none" w="med" len="med"/>
                    </a:lnB>
                  </a:tcPr>
                </a:tc>
                <a:tc vMerge="1">
                  <a:txBody>
                    <a:bodyPr/>
                    <a:lstStyle/>
                    <a:p>
                      <a:endParaRPr lang="en-US" sz="3200" dirty="0"/>
                    </a:p>
                  </a:txBody>
                  <a:tcPr/>
                </a:tc>
                <a:tc vMerge="1">
                  <a:txBody>
                    <a:bodyPr/>
                    <a:lstStyle/>
                    <a:p>
                      <a:endParaRPr lang="en-US" sz="3200" dirty="0"/>
                    </a:p>
                  </a:txBody>
                  <a:tcPr/>
                </a:tc>
                <a:extLst>
                  <a:ext uri="{0D108BD9-81ED-4DB2-BD59-A6C34878D82A}">
                    <a16:rowId xmlns:a16="http://schemas.microsoft.com/office/drawing/2014/main" val="853442960"/>
                  </a:ext>
                </a:extLst>
              </a:tr>
              <a:tr h="2463391">
                <a:tc>
                  <a:txBody>
                    <a:bodyPr/>
                    <a:lstStyle/>
                    <a:p>
                      <a:pPr algn="ctr"/>
                      <a:r>
                        <a:rPr lang="en-US" sz="2200" dirty="0"/>
                        <a:t>Property, Plant and Equipment (P,P&amp;E) or tangible fixed assets (increase)</a:t>
                      </a:r>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dirty="0"/>
                        <a:t>Accounts payable (suppliers of P,P&amp;E) (increase)</a:t>
                      </a:r>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25328"/>
                  </a:ext>
                </a:extLst>
              </a:tr>
            </a:tbl>
          </a:graphicData>
        </a:graphic>
      </p:graphicFrame>
      <p:sp>
        <p:nvSpPr>
          <p:cNvPr id="5" name="Slide Number Placeholder 4">
            <a:extLst>
              <a:ext uri="{FF2B5EF4-FFF2-40B4-BE49-F238E27FC236}">
                <a16:creationId xmlns:a16="http://schemas.microsoft.com/office/drawing/2014/main" id="{F394A257-6480-44D9-BDFA-3790757012DC}"/>
              </a:ext>
            </a:extLst>
          </p:cNvPr>
          <p:cNvSpPr>
            <a:spLocks noGrp="1"/>
          </p:cNvSpPr>
          <p:nvPr>
            <p:ph type="sldNum" sz="quarter" idx="10"/>
          </p:nvPr>
        </p:nvSpPr>
        <p:spPr/>
        <p:txBody>
          <a:bodyPr/>
          <a:lstStyle/>
          <a:p>
            <a:fld id="{307C7597-8D70-4701-8085-9524B0B5C72B}" type="slidenum">
              <a:rPr lang="fr-FR" smtClean="0"/>
              <a:pPr/>
              <a:t>63</a:t>
            </a:fld>
            <a:endParaRPr lang="fr-FR" dirty="0"/>
          </a:p>
        </p:txBody>
      </p:sp>
    </p:spTree>
    <p:extLst>
      <p:ext uri="{BB962C8B-B14F-4D97-AF65-F5344CB8AC3E}">
        <p14:creationId xmlns:p14="http://schemas.microsoft.com/office/powerpoint/2010/main" val="152420421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00F9E9-DDEA-4600-A580-A2D05502EF2B}"/>
              </a:ext>
            </a:extLst>
          </p:cNvPr>
          <p:cNvSpPr>
            <a:spLocks noGrp="1"/>
          </p:cNvSpPr>
          <p:nvPr>
            <p:ph type="title"/>
          </p:nvPr>
        </p:nvSpPr>
        <p:spPr/>
        <p:txBody>
          <a:bodyPr/>
          <a:lstStyle/>
          <a:p>
            <a:r>
              <a:rPr lang="en-US" sz="3092" dirty="0"/>
              <a:t>What is the effect on the balance sheet of a research and development expenditure capitalized?</a:t>
            </a:r>
          </a:p>
        </p:txBody>
      </p:sp>
      <p:graphicFrame>
        <p:nvGraphicFramePr>
          <p:cNvPr id="6" name="Table 6">
            <a:extLst>
              <a:ext uri="{FF2B5EF4-FFF2-40B4-BE49-F238E27FC236}">
                <a16:creationId xmlns:a16="http://schemas.microsoft.com/office/drawing/2014/main" id="{1FD6A07A-361C-4125-BBCE-5A6A8BC1B965}"/>
              </a:ext>
            </a:extLst>
          </p:cNvPr>
          <p:cNvGraphicFramePr>
            <a:graphicFrameLocks noGrp="1"/>
          </p:cNvGraphicFramePr>
          <p:nvPr>
            <p:ph idx="1"/>
            <p:extLst>
              <p:ext uri="{D42A27DB-BD31-4B8C-83A1-F6EECF244321}">
                <p14:modId xmlns:p14="http://schemas.microsoft.com/office/powerpoint/2010/main" val="121545091"/>
              </p:ext>
            </p:extLst>
          </p:nvPr>
        </p:nvGraphicFramePr>
        <p:xfrm>
          <a:off x="681038" y="1825625"/>
          <a:ext cx="10829922" cy="2897385"/>
        </p:xfrm>
        <a:graphic>
          <a:graphicData uri="http://schemas.openxmlformats.org/drawingml/2006/table">
            <a:tbl>
              <a:tblPr firstRow="1" bandRow="1">
                <a:tableStyleId>{5C22544A-7EE6-4342-B048-85BDC9FD1C3A}</a:tableStyleId>
              </a:tblPr>
              <a:tblGrid>
                <a:gridCol w="1804987">
                  <a:extLst>
                    <a:ext uri="{9D8B030D-6E8A-4147-A177-3AD203B41FA5}">
                      <a16:colId xmlns:a16="http://schemas.microsoft.com/office/drawing/2014/main" val="2031488337"/>
                    </a:ext>
                  </a:extLst>
                </a:gridCol>
                <a:gridCol w="1804987">
                  <a:extLst>
                    <a:ext uri="{9D8B030D-6E8A-4147-A177-3AD203B41FA5}">
                      <a16:colId xmlns:a16="http://schemas.microsoft.com/office/drawing/2014/main" val="526378758"/>
                    </a:ext>
                  </a:extLst>
                </a:gridCol>
                <a:gridCol w="1804987">
                  <a:extLst>
                    <a:ext uri="{9D8B030D-6E8A-4147-A177-3AD203B41FA5}">
                      <a16:colId xmlns:a16="http://schemas.microsoft.com/office/drawing/2014/main" val="325362427"/>
                    </a:ext>
                  </a:extLst>
                </a:gridCol>
                <a:gridCol w="1804987">
                  <a:extLst>
                    <a:ext uri="{9D8B030D-6E8A-4147-A177-3AD203B41FA5}">
                      <a16:colId xmlns:a16="http://schemas.microsoft.com/office/drawing/2014/main" val="1990001942"/>
                    </a:ext>
                  </a:extLst>
                </a:gridCol>
                <a:gridCol w="1804987">
                  <a:extLst>
                    <a:ext uri="{9D8B030D-6E8A-4147-A177-3AD203B41FA5}">
                      <a16:colId xmlns:a16="http://schemas.microsoft.com/office/drawing/2014/main" val="3344489120"/>
                    </a:ext>
                  </a:extLst>
                </a:gridCol>
                <a:gridCol w="1804987">
                  <a:extLst>
                    <a:ext uri="{9D8B030D-6E8A-4147-A177-3AD203B41FA5}">
                      <a16:colId xmlns:a16="http://schemas.microsoft.com/office/drawing/2014/main" val="3436964488"/>
                    </a:ext>
                  </a:extLst>
                </a:gridCol>
              </a:tblGrid>
              <a:tr h="406995">
                <a:tc rowSpan="2">
                  <a:txBody>
                    <a:bodyPr/>
                    <a:lstStyle/>
                    <a:p>
                      <a:pPr algn="ctr"/>
                      <a:r>
                        <a:rPr lang="en-US" sz="2200" dirty="0"/>
                        <a:t>Non-current assets (NCA)</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assets (CA)</a:t>
                      </a:r>
                    </a:p>
                  </a:txBody>
                  <a:tcPr marL="64262" marR="64262" marT="32131" marB="32131" anchor="ctr">
                    <a:lnB w="12700" cap="flat" cmpd="sng" algn="ctr">
                      <a:solidFill>
                        <a:schemeClr val="tx1"/>
                      </a:solidFill>
                      <a:prstDash val="solid"/>
                      <a:round/>
                      <a:headEnd type="none" w="med" len="med"/>
                      <a:tailEnd type="none" w="med" len="med"/>
                    </a:lnB>
                  </a:tcPr>
                </a:tc>
                <a:tc gridSpan="2">
                  <a:txBody>
                    <a:bodyPr/>
                    <a:lstStyle/>
                    <a:p>
                      <a:pPr algn="ctr"/>
                      <a:r>
                        <a:rPr lang="en-US" sz="2200" dirty="0"/>
                        <a:t>Equity</a:t>
                      </a:r>
                    </a:p>
                  </a:txBody>
                  <a:tcPr marL="64262" marR="64262" marT="32131" marB="32131" anchor="ctr"/>
                </a:tc>
                <a:tc hMerge="1">
                  <a:txBody>
                    <a:bodyPr/>
                    <a:lstStyle/>
                    <a:p>
                      <a:endParaRPr lang="en-US" dirty="0"/>
                    </a:p>
                  </a:txBody>
                  <a:tcPr/>
                </a:tc>
                <a:tc rowSpan="2">
                  <a:txBody>
                    <a:bodyPr/>
                    <a:lstStyle/>
                    <a:p>
                      <a:pPr algn="ctr"/>
                      <a:r>
                        <a:rPr lang="en-US" sz="2200" dirty="0"/>
                        <a:t>Non-current liabilities (NCL)</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liabilities (CL)</a:t>
                      </a:r>
                    </a:p>
                  </a:txBody>
                  <a:tcPr marL="64262" marR="64262" marT="32131" marB="32131"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8874"/>
                  </a:ext>
                </a:extLst>
              </a:tr>
              <a:tr h="1435193">
                <a:tc vMerge="1">
                  <a:txBody>
                    <a:bodyPr/>
                    <a:lstStyle/>
                    <a:p>
                      <a:endParaRPr lang="en-US" sz="3200" dirty="0"/>
                    </a:p>
                  </a:txBody>
                  <a:tcPr/>
                </a:tc>
                <a:tc vMerge="1">
                  <a:txBody>
                    <a:bodyPr/>
                    <a:lstStyle/>
                    <a:p>
                      <a:endParaRPr lang="en-US" sz="3200" dirty="0"/>
                    </a:p>
                  </a:txBody>
                  <a:tcPr/>
                </a:tc>
                <a:tc>
                  <a:txBody>
                    <a:bodyPr/>
                    <a:lstStyle/>
                    <a:p>
                      <a:pPr algn="ctr"/>
                      <a:r>
                        <a:rPr lang="en-US" sz="2200" dirty="0"/>
                        <a:t>Share capital and additional paid-in capital</a:t>
                      </a:r>
                    </a:p>
                  </a:txBody>
                  <a:tcPr marL="64262" marR="64262" marT="32131" marB="32131" anchor="ctr">
                    <a:lnB w="12700" cap="flat" cmpd="sng" algn="ctr">
                      <a:solidFill>
                        <a:schemeClr val="tx1"/>
                      </a:solidFill>
                      <a:prstDash val="solid"/>
                      <a:round/>
                      <a:headEnd type="none" w="med" len="med"/>
                      <a:tailEnd type="none" w="med" len="med"/>
                    </a:lnB>
                  </a:tcPr>
                </a:tc>
                <a:tc>
                  <a:txBody>
                    <a:bodyPr/>
                    <a:lstStyle/>
                    <a:p>
                      <a:pPr algn="ctr"/>
                      <a:r>
                        <a:rPr lang="en-US" sz="2200" dirty="0"/>
                        <a:t>Retained earnings and other reserves</a:t>
                      </a:r>
                    </a:p>
                  </a:txBody>
                  <a:tcPr marL="64262" marR="64262" marT="32131" marB="32131" anchor="ctr">
                    <a:lnB w="12700" cap="flat" cmpd="sng" algn="ctr">
                      <a:solidFill>
                        <a:schemeClr val="tx1"/>
                      </a:solidFill>
                      <a:prstDash val="solid"/>
                      <a:round/>
                      <a:headEnd type="none" w="med" len="med"/>
                      <a:tailEnd type="none" w="med" len="med"/>
                    </a:lnB>
                  </a:tcPr>
                </a:tc>
                <a:tc vMerge="1">
                  <a:txBody>
                    <a:bodyPr/>
                    <a:lstStyle/>
                    <a:p>
                      <a:endParaRPr lang="en-US" sz="3200" dirty="0"/>
                    </a:p>
                  </a:txBody>
                  <a:tcPr/>
                </a:tc>
                <a:tc vMerge="1">
                  <a:txBody>
                    <a:bodyPr/>
                    <a:lstStyle/>
                    <a:p>
                      <a:endParaRPr lang="en-US" sz="3200" dirty="0"/>
                    </a:p>
                  </a:txBody>
                  <a:tcPr/>
                </a:tc>
                <a:extLst>
                  <a:ext uri="{0D108BD9-81ED-4DB2-BD59-A6C34878D82A}">
                    <a16:rowId xmlns:a16="http://schemas.microsoft.com/office/drawing/2014/main" val="853442960"/>
                  </a:ext>
                </a:extLst>
              </a:tr>
              <a:tr h="749728">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25328"/>
                  </a:ext>
                </a:extLst>
              </a:tr>
            </a:tbl>
          </a:graphicData>
        </a:graphic>
      </p:graphicFrame>
      <p:sp>
        <p:nvSpPr>
          <p:cNvPr id="5" name="Slide Number Placeholder 4">
            <a:extLst>
              <a:ext uri="{FF2B5EF4-FFF2-40B4-BE49-F238E27FC236}">
                <a16:creationId xmlns:a16="http://schemas.microsoft.com/office/drawing/2014/main" id="{F394A257-6480-44D9-BDFA-3790757012DC}"/>
              </a:ext>
            </a:extLst>
          </p:cNvPr>
          <p:cNvSpPr>
            <a:spLocks noGrp="1"/>
          </p:cNvSpPr>
          <p:nvPr>
            <p:ph type="sldNum" sz="quarter" idx="10"/>
          </p:nvPr>
        </p:nvSpPr>
        <p:spPr/>
        <p:txBody>
          <a:bodyPr/>
          <a:lstStyle/>
          <a:p>
            <a:fld id="{307C7597-8D70-4701-8085-9524B0B5C72B}" type="slidenum">
              <a:rPr lang="fr-FR" smtClean="0"/>
              <a:pPr/>
              <a:t>64</a:t>
            </a:fld>
            <a:endParaRPr lang="fr-FR" dirty="0"/>
          </a:p>
        </p:txBody>
      </p:sp>
    </p:spTree>
    <p:extLst>
      <p:ext uri="{BB962C8B-B14F-4D97-AF65-F5344CB8AC3E}">
        <p14:creationId xmlns:p14="http://schemas.microsoft.com/office/powerpoint/2010/main" val="362608517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00F9E9-DDEA-4600-A580-A2D05502EF2B}"/>
              </a:ext>
            </a:extLst>
          </p:cNvPr>
          <p:cNvSpPr>
            <a:spLocks noGrp="1"/>
          </p:cNvSpPr>
          <p:nvPr>
            <p:ph type="title"/>
          </p:nvPr>
        </p:nvSpPr>
        <p:spPr/>
        <p:txBody>
          <a:bodyPr/>
          <a:lstStyle/>
          <a:p>
            <a:r>
              <a:rPr lang="en-US" sz="3092" dirty="0"/>
              <a:t>What is the effect on the balance sheet of a research and </a:t>
            </a:r>
            <a:r>
              <a:rPr lang="en-US" sz="3092" u="sng" dirty="0"/>
              <a:t>development</a:t>
            </a:r>
            <a:r>
              <a:rPr lang="en-US" sz="3092" dirty="0"/>
              <a:t> expenditure capitalized (during the same period than the spending)?</a:t>
            </a:r>
          </a:p>
        </p:txBody>
      </p:sp>
      <p:graphicFrame>
        <p:nvGraphicFramePr>
          <p:cNvPr id="6" name="Table 6">
            <a:extLst>
              <a:ext uri="{FF2B5EF4-FFF2-40B4-BE49-F238E27FC236}">
                <a16:creationId xmlns:a16="http://schemas.microsoft.com/office/drawing/2014/main" id="{1FD6A07A-361C-4125-BBCE-5A6A8BC1B965}"/>
              </a:ext>
            </a:extLst>
          </p:cNvPr>
          <p:cNvGraphicFramePr>
            <a:graphicFrameLocks noGrp="1"/>
          </p:cNvGraphicFramePr>
          <p:nvPr>
            <p:ph idx="1"/>
            <p:extLst>
              <p:ext uri="{D42A27DB-BD31-4B8C-83A1-F6EECF244321}">
                <p14:modId xmlns:p14="http://schemas.microsoft.com/office/powerpoint/2010/main" val="1658360548"/>
              </p:ext>
            </p:extLst>
          </p:nvPr>
        </p:nvGraphicFramePr>
        <p:xfrm>
          <a:off x="681038" y="1612560"/>
          <a:ext cx="10829922" cy="3240117"/>
        </p:xfrm>
        <a:graphic>
          <a:graphicData uri="http://schemas.openxmlformats.org/drawingml/2006/table">
            <a:tbl>
              <a:tblPr firstRow="1" bandRow="1">
                <a:tableStyleId>{5C22544A-7EE6-4342-B048-85BDC9FD1C3A}</a:tableStyleId>
              </a:tblPr>
              <a:tblGrid>
                <a:gridCol w="1804987">
                  <a:extLst>
                    <a:ext uri="{9D8B030D-6E8A-4147-A177-3AD203B41FA5}">
                      <a16:colId xmlns:a16="http://schemas.microsoft.com/office/drawing/2014/main" val="2031488337"/>
                    </a:ext>
                  </a:extLst>
                </a:gridCol>
                <a:gridCol w="1804987">
                  <a:extLst>
                    <a:ext uri="{9D8B030D-6E8A-4147-A177-3AD203B41FA5}">
                      <a16:colId xmlns:a16="http://schemas.microsoft.com/office/drawing/2014/main" val="526378758"/>
                    </a:ext>
                  </a:extLst>
                </a:gridCol>
                <a:gridCol w="1804987">
                  <a:extLst>
                    <a:ext uri="{9D8B030D-6E8A-4147-A177-3AD203B41FA5}">
                      <a16:colId xmlns:a16="http://schemas.microsoft.com/office/drawing/2014/main" val="325362427"/>
                    </a:ext>
                  </a:extLst>
                </a:gridCol>
                <a:gridCol w="1804987">
                  <a:extLst>
                    <a:ext uri="{9D8B030D-6E8A-4147-A177-3AD203B41FA5}">
                      <a16:colId xmlns:a16="http://schemas.microsoft.com/office/drawing/2014/main" val="1990001942"/>
                    </a:ext>
                  </a:extLst>
                </a:gridCol>
                <a:gridCol w="1804987">
                  <a:extLst>
                    <a:ext uri="{9D8B030D-6E8A-4147-A177-3AD203B41FA5}">
                      <a16:colId xmlns:a16="http://schemas.microsoft.com/office/drawing/2014/main" val="3344489120"/>
                    </a:ext>
                  </a:extLst>
                </a:gridCol>
                <a:gridCol w="1804987">
                  <a:extLst>
                    <a:ext uri="{9D8B030D-6E8A-4147-A177-3AD203B41FA5}">
                      <a16:colId xmlns:a16="http://schemas.microsoft.com/office/drawing/2014/main" val="3436964488"/>
                    </a:ext>
                  </a:extLst>
                </a:gridCol>
              </a:tblGrid>
              <a:tr h="406995">
                <a:tc rowSpan="2">
                  <a:txBody>
                    <a:bodyPr/>
                    <a:lstStyle/>
                    <a:p>
                      <a:pPr algn="ctr"/>
                      <a:r>
                        <a:rPr lang="en-US" sz="2200" dirty="0"/>
                        <a:t>Non-current assets (NCA)</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assets (CA)</a:t>
                      </a:r>
                    </a:p>
                  </a:txBody>
                  <a:tcPr marL="64262" marR="64262" marT="32131" marB="32131" anchor="ctr">
                    <a:lnB w="12700" cap="flat" cmpd="sng" algn="ctr">
                      <a:solidFill>
                        <a:schemeClr val="tx1"/>
                      </a:solidFill>
                      <a:prstDash val="solid"/>
                      <a:round/>
                      <a:headEnd type="none" w="med" len="med"/>
                      <a:tailEnd type="none" w="med" len="med"/>
                    </a:lnB>
                  </a:tcPr>
                </a:tc>
                <a:tc gridSpan="2">
                  <a:txBody>
                    <a:bodyPr/>
                    <a:lstStyle/>
                    <a:p>
                      <a:pPr algn="ctr"/>
                      <a:r>
                        <a:rPr lang="en-US" sz="2200" dirty="0"/>
                        <a:t>Equity</a:t>
                      </a:r>
                    </a:p>
                  </a:txBody>
                  <a:tcPr marL="64262" marR="64262" marT="32131" marB="32131" anchor="ctr"/>
                </a:tc>
                <a:tc hMerge="1">
                  <a:txBody>
                    <a:bodyPr/>
                    <a:lstStyle/>
                    <a:p>
                      <a:endParaRPr lang="en-US" dirty="0"/>
                    </a:p>
                  </a:txBody>
                  <a:tcPr/>
                </a:tc>
                <a:tc rowSpan="2">
                  <a:txBody>
                    <a:bodyPr/>
                    <a:lstStyle/>
                    <a:p>
                      <a:pPr algn="ctr"/>
                      <a:r>
                        <a:rPr lang="en-US" sz="2200" dirty="0"/>
                        <a:t>Non-current liabilities (NCL)</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liabilities (CL)</a:t>
                      </a:r>
                    </a:p>
                  </a:txBody>
                  <a:tcPr marL="64262" marR="64262" marT="32131" marB="32131"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8874"/>
                  </a:ext>
                </a:extLst>
              </a:tr>
              <a:tr h="1435193">
                <a:tc vMerge="1">
                  <a:txBody>
                    <a:bodyPr/>
                    <a:lstStyle/>
                    <a:p>
                      <a:endParaRPr lang="en-US" sz="3200" dirty="0"/>
                    </a:p>
                  </a:txBody>
                  <a:tcPr/>
                </a:tc>
                <a:tc vMerge="1">
                  <a:txBody>
                    <a:bodyPr/>
                    <a:lstStyle/>
                    <a:p>
                      <a:endParaRPr lang="en-US" sz="3200" dirty="0"/>
                    </a:p>
                  </a:txBody>
                  <a:tcPr/>
                </a:tc>
                <a:tc>
                  <a:txBody>
                    <a:bodyPr/>
                    <a:lstStyle/>
                    <a:p>
                      <a:pPr algn="ctr"/>
                      <a:r>
                        <a:rPr lang="en-US" sz="2200" dirty="0"/>
                        <a:t>Share capital and additional paid-in capital</a:t>
                      </a:r>
                    </a:p>
                  </a:txBody>
                  <a:tcPr marL="64262" marR="64262" marT="32131" marB="32131" anchor="ctr">
                    <a:lnB w="12700" cap="flat" cmpd="sng" algn="ctr">
                      <a:solidFill>
                        <a:schemeClr val="tx1"/>
                      </a:solidFill>
                      <a:prstDash val="solid"/>
                      <a:round/>
                      <a:headEnd type="none" w="med" len="med"/>
                      <a:tailEnd type="none" w="med" len="med"/>
                    </a:lnB>
                  </a:tcPr>
                </a:tc>
                <a:tc>
                  <a:txBody>
                    <a:bodyPr/>
                    <a:lstStyle/>
                    <a:p>
                      <a:pPr algn="ctr"/>
                      <a:r>
                        <a:rPr lang="en-US" sz="2200" dirty="0"/>
                        <a:t>Retained earnings and other reserves</a:t>
                      </a:r>
                    </a:p>
                  </a:txBody>
                  <a:tcPr marL="64262" marR="64262" marT="32131" marB="32131" anchor="ctr">
                    <a:lnB w="12700" cap="flat" cmpd="sng" algn="ctr">
                      <a:solidFill>
                        <a:schemeClr val="tx1"/>
                      </a:solidFill>
                      <a:prstDash val="solid"/>
                      <a:round/>
                      <a:headEnd type="none" w="med" len="med"/>
                      <a:tailEnd type="none" w="med" len="med"/>
                    </a:lnB>
                  </a:tcPr>
                </a:tc>
                <a:tc vMerge="1">
                  <a:txBody>
                    <a:bodyPr/>
                    <a:lstStyle/>
                    <a:p>
                      <a:endParaRPr lang="en-US" sz="3200" dirty="0"/>
                    </a:p>
                  </a:txBody>
                  <a:tcPr/>
                </a:tc>
                <a:tc vMerge="1">
                  <a:txBody>
                    <a:bodyPr/>
                    <a:lstStyle/>
                    <a:p>
                      <a:endParaRPr lang="en-US" sz="3200" dirty="0"/>
                    </a:p>
                  </a:txBody>
                  <a:tcPr/>
                </a:tc>
                <a:extLst>
                  <a:ext uri="{0D108BD9-81ED-4DB2-BD59-A6C34878D82A}">
                    <a16:rowId xmlns:a16="http://schemas.microsoft.com/office/drawing/2014/main" val="853442960"/>
                  </a:ext>
                </a:extLst>
              </a:tr>
              <a:tr h="1092460">
                <a:tc>
                  <a:txBody>
                    <a:bodyPr/>
                    <a:lstStyle/>
                    <a:p>
                      <a:pPr algn="ctr"/>
                      <a:r>
                        <a:rPr lang="en-US" sz="2200" dirty="0"/>
                        <a:t>Intangible (fixed) assets (increase)</a:t>
                      </a:r>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dirty="0"/>
                        <a:t>Cash (decrease)</a:t>
                      </a:r>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25328"/>
                  </a:ext>
                </a:extLst>
              </a:tr>
            </a:tbl>
          </a:graphicData>
        </a:graphic>
      </p:graphicFrame>
      <p:sp>
        <p:nvSpPr>
          <p:cNvPr id="5" name="Slide Number Placeholder 4">
            <a:extLst>
              <a:ext uri="{FF2B5EF4-FFF2-40B4-BE49-F238E27FC236}">
                <a16:creationId xmlns:a16="http://schemas.microsoft.com/office/drawing/2014/main" id="{F394A257-6480-44D9-BDFA-3790757012DC}"/>
              </a:ext>
            </a:extLst>
          </p:cNvPr>
          <p:cNvSpPr>
            <a:spLocks noGrp="1"/>
          </p:cNvSpPr>
          <p:nvPr>
            <p:ph type="sldNum" sz="quarter" idx="10"/>
          </p:nvPr>
        </p:nvSpPr>
        <p:spPr/>
        <p:txBody>
          <a:bodyPr/>
          <a:lstStyle/>
          <a:p>
            <a:fld id="{307C7597-8D70-4701-8085-9524B0B5C72B}" type="slidenum">
              <a:rPr lang="fr-FR" smtClean="0"/>
              <a:pPr/>
              <a:t>65</a:t>
            </a:fld>
            <a:endParaRPr lang="fr-FR" dirty="0"/>
          </a:p>
        </p:txBody>
      </p:sp>
      <p:sp>
        <p:nvSpPr>
          <p:cNvPr id="2" name="TextBox 1"/>
          <p:cNvSpPr txBox="1"/>
          <p:nvPr/>
        </p:nvSpPr>
        <p:spPr>
          <a:xfrm>
            <a:off x="44627" y="4963109"/>
            <a:ext cx="12102747" cy="1822935"/>
          </a:xfrm>
          <a:prstGeom prst="rect">
            <a:avLst/>
          </a:prstGeom>
          <a:solidFill>
            <a:schemeClr val="bg1"/>
          </a:solidFill>
        </p:spPr>
        <p:txBody>
          <a:bodyPr wrap="square" rtlCol="0">
            <a:spAutoFit/>
          </a:bodyPr>
          <a:lstStyle/>
          <a:p>
            <a:r>
              <a:rPr lang="fr-FR" sz="2249" dirty="0"/>
              <a:t>Matching </a:t>
            </a:r>
            <a:r>
              <a:rPr lang="fr-FR" sz="2249" dirty="0" err="1"/>
              <a:t>principle</a:t>
            </a:r>
            <a:r>
              <a:rPr lang="fr-FR" sz="2249" dirty="0"/>
              <a:t>: record </a:t>
            </a:r>
            <a:r>
              <a:rPr lang="fr-FR" sz="2249" dirty="0" err="1"/>
              <a:t>expenses</a:t>
            </a:r>
            <a:r>
              <a:rPr lang="fr-FR" sz="2249" dirty="0"/>
              <a:t> </a:t>
            </a:r>
            <a:r>
              <a:rPr lang="fr-FR" sz="2249" dirty="0" err="1"/>
              <a:t>when</a:t>
            </a:r>
            <a:r>
              <a:rPr lang="fr-FR" sz="2249" dirty="0"/>
              <a:t> </a:t>
            </a:r>
            <a:r>
              <a:rPr lang="fr-FR" sz="2249" dirty="0" err="1"/>
              <a:t>they</a:t>
            </a:r>
            <a:r>
              <a:rPr lang="fr-FR" sz="2249" dirty="0"/>
              <a:t> are </a:t>
            </a:r>
            <a:r>
              <a:rPr lang="fr-FR" sz="2249" dirty="0" err="1"/>
              <a:t>related</a:t>
            </a:r>
            <a:r>
              <a:rPr lang="fr-FR" sz="2249" dirty="0"/>
              <a:t> to revenue</a:t>
            </a:r>
          </a:p>
          <a:p>
            <a:r>
              <a:rPr lang="fr-FR" sz="2249" dirty="0"/>
              <a:t>Conservative </a:t>
            </a:r>
            <a:r>
              <a:rPr lang="fr-FR" sz="2249" dirty="0" err="1"/>
              <a:t>principle</a:t>
            </a:r>
            <a:r>
              <a:rPr lang="fr-FR" sz="2249" dirty="0"/>
              <a:t>: </a:t>
            </a:r>
            <a:r>
              <a:rPr lang="fr-FR" sz="2249" dirty="0" err="1"/>
              <a:t>we</a:t>
            </a:r>
            <a:r>
              <a:rPr lang="fr-FR" sz="2249" dirty="0"/>
              <a:t> </a:t>
            </a:r>
            <a:r>
              <a:rPr lang="fr-FR" sz="2249" dirty="0" err="1"/>
              <a:t>prefer</a:t>
            </a:r>
            <a:r>
              <a:rPr lang="fr-FR" sz="2249" dirty="0"/>
              <a:t> to have </a:t>
            </a:r>
            <a:r>
              <a:rPr lang="fr-FR" sz="2249" dirty="0" err="1"/>
              <a:t>too</a:t>
            </a:r>
            <a:r>
              <a:rPr lang="fr-FR" sz="2249" dirty="0"/>
              <a:t> </a:t>
            </a:r>
            <a:r>
              <a:rPr lang="fr-FR" sz="2249" dirty="0" err="1"/>
              <a:t>much</a:t>
            </a:r>
            <a:r>
              <a:rPr lang="fr-FR" sz="2249" dirty="0"/>
              <a:t> </a:t>
            </a:r>
            <a:r>
              <a:rPr lang="fr-FR" sz="2249" dirty="0" err="1"/>
              <a:t>expenses</a:t>
            </a:r>
            <a:r>
              <a:rPr lang="fr-FR" sz="2249" dirty="0"/>
              <a:t> </a:t>
            </a:r>
            <a:r>
              <a:rPr lang="fr-FR" sz="2249" dirty="0" err="1"/>
              <a:t>than</a:t>
            </a:r>
            <a:r>
              <a:rPr lang="fr-FR" sz="2249" dirty="0"/>
              <a:t> </a:t>
            </a:r>
            <a:r>
              <a:rPr lang="fr-FR" sz="2249" dirty="0" err="1"/>
              <a:t>too</a:t>
            </a:r>
            <a:r>
              <a:rPr lang="fr-FR" sz="2249" dirty="0"/>
              <a:t> </a:t>
            </a:r>
            <a:r>
              <a:rPr lang="fr-FR" sz="2249" dirty="0" err="1"/>
              <a:t>much</a:t>
            </a:r>
            <a:r>
              <a:rPr lang="fr-FR" sz="2249" dirty="0"/>
              <a:t> </a:t>
            </a:r>
            <a:r>
              <a:rPr lang="fr-FR" sz="2249" dirty="0" err="1"/>
              <a:t>investments</a:t>
            </a:r>
            <a:r>
              <a:rPr lang="fr-FR" sz="2249" dirty="0"/>
              <a:t> (i.e. </a:t>
            </a:r>
            <a:r>
              <a:rPr lang="fr-FR" sz="2249" dirty="0" err="1"/>
              <a:t>amounts</a:t>
            </a:r>
            <a:r>
              <a:rPr lang="fr-FR" sz="2249" dirty="0"/>
              <a:t> </a:t>
            </a:r>
            <a:r>
              <a:rPr lang="fr-FR" sz="2249" dirty="0" err="1"/>
              <a:t>capitalized</a:t>
            </a:r>
            <a:r>
              <a:rPr lang="fr-FR" sz="2249" dirty="0"/>
              <a:t>) (</a:t>
            </a:r>
            <a:r>
              <a:rPr lang="fr-FR" sz="2249" dirty="0" err="1"/>
              <a:t>we</a:t>
            </a:r>
            <a:r>
              <a:rPr lang="fr-FR" sz="2249" dirty="0"/>
              <a:t> are not sure about the </a:t>
            </a:r>
            <a:r>
              <a:rPr lang="fr-FR" sz="2249" dirty="0" err="1"/>
              <a:t>effect</a:t>
            </a:r>
            <a:r>
              <a:rPr lang="fr-FR" sz="2249" dirty="0"/>
              <a:t> of the </a:t>
            </a:r>
            <a:r>
              <a:rPr lang="fr-FR" sz="2249" dirty="0" err="1"/>
              <a:t>expenditure</a:t>
            </a:r>
            <a:r>
              <a:rPr lang="fr-FR" sz="2249" dirty="0"/>
              <a:t> on the long-</a:t>
            </a:r>
            <a:r>
              <a:rPr lang="fr-FR" sz="2249" dirty="0" err="1"/>
              <a:t>term</a:t>
            </a:r>
            <a:r>
              <a:rPr lang="fr-FR" sz="2249" dirty="0"/>
              <a:t>)</a:t>
            </a:r>
          </a:p>
          <a:p>
            <a:r>
              <a:rPr lang="fr-FR" sz="2249" dirty="0" err="1"/>
              <a:t>Expenditure</a:t>
            </a:r>
            <a:r>
              <a:rPr lang="fr-FR" sz="2249" dirty="0"/>
              <a:t> in training, in marketing, in </a:t>
            </a:r>
            <a:r>
              <a:rPr lang="fr-FR" sz="2249" dirty="0" err="1"/>
              <a:t>research</a:t>
            </a:r>
            <a:r>
              <a:rPr lang="fr-FR" sz="2249" dirty="0"/>
              <a:t> = </a:t>
            </a:r>
            <a:r>
              <a:rPr lang="fr-FR" sz="2249" dirty="0" err="1"/>
              <a:t>directly</a:t>
            </a:r>
            <a:r>
              <a:rPr lang="fr-FR" sz="2249" dirty="0"/>
              <a:t> </a:t>
            </a:r>
            <a:r>
              <a:rPr lang="fr-FR" sz="2249" dirty="0" err="1"/>
              <a:t>expense</a:t>
            </a:r>
            <a:r>
              <a:rPr lang="fr-FR" sz="2249" dirty="0"/>
              <a:t> </a:t>
            </a:r>
            <a:r>
              <a:rPr lang="fr-FR" sz="2249" dirty="0" err="1"/>
              <a:t>during</a:t>
            </a:r>
            <a:r>
              <a:rPr lang="fr-FR" sz="2249" dirty="0"/>
              <a:t> the </a:t>
            </a:r>
            <a:r>
              <a:rPr lang="fr-FR" sz="2249" dirty="0" err="1"/>
              <a:t>period</a:t>
            </a:r>
            <a:r>
              <a:rPr lang="fr-FR" sz="2249" dirty="0"/>
              <a:t> (i.e. not </a:t>
            </a:r>
            <a:r>
              <a:rPr lang="fr-FR" sz="2249" dirty="0" err="1"/>
              <a:t>capitalized</a:t>
            </a:r>
            <a:r>
              <a:rPr lang="fr-FR" sz="2249" dirty="0"/>
              <a:t>)</a:t>
            </a:r>
          </a:p>
        </p:txBody>
      </p:sp>
    </p:spTree>
    <p:extLst>
      <p:ext uri="{BB962C8B-B14F-4D97-AF65-F5344CB8AC3E}">
        <p14:creationId xmlns:p14="http://schemas.microsoft.com/office/powerpoint/2010/main" val="422196827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00F9E9-DDEA-4600-A580-A2D05502EF2B}"/>
              </a:ext>
            </a:extLst>
          </p:cNvPr>
          <p:cNvSpPr>
            <a:spLocks noGrp="1"/>
          </p:cNvSpPr>
          <p:nvPr>
            <p:ph type="title"/>
          </p:nvPr>
        </p:nvSpPr>
        <p:spPr/>
        <p:txBody>
          <a:bodyPr/>
          <a:lstStyle/>
          <a:p>
            <a:r>
              <a:rPr lang="en-US" sz="3092" dirty="0"/>
              <a:t>What is the effect on the balance sheet of the amortization of an intangible (fixed) asset?</a:t>
            </a:r>
          </a:p>
        </p:txBody>
      </p:sp>
      <p:graphicFrame>
        <p:nvGraphicFramePr>
          <p:cNvPr id="6" name="Table 6">
            <a:extLst>
              <a:ext uri="{FF2B5EF4-FFF2-40B4-BE49-F238E27FC236}">
                <a16:creationId xmlns:a16="http://schemas.microsoft.com/office/drawing/2014/main" id="{1FD6A07A-361C-4125-BBCE-5A6A8BC1B965}"/>
              </a:ext>
            </a:extLst>
          </p:cNvPr>
          <p:cNvGraphicFramePr>
            <a:graphicFrameLocks noGrp="1"/>
          </p:cNvGraphicFramePr>
          <p:nvPr>
            <p:ph idx="1"/>
            <p:extLst>
              <p:ext uri="{D42A27DB-BD31-4B8C-83A1-F6EECF244321}">
                <p14:modId xmlns:p14="http://schemas.microsoft.com/office/powerpoint/2010/main" val="1706353173"/>
              </p:ext>
            </p:extLst>
          </p:nvPr>
        </p:nvGraphicFramePr>
        <p:xfrm>
          <a:off x="681038" y="1825625"/>
          <a:ext cx="10829922" cy="2897385"/>
        </p:xfrm>
        <a:graphic>
          <a:graphicData uri="http://schemas.openxmlformats.org/drawingml/2006/table">
            <a:tbl>
              <a:tblPr firstRow="1" bandRow="1">
                <a:tableStyleId>{5C22544A-7EE6-4342-B048-85BDC9FD1C3A}</a:tableStyleId>
              </a:tblPr>
              <a:tblGrid>
                <a:gridCol w="1804987">
                  <a:extLst>
                    <a:ext uri="{9D8B030D-6E8A-4147-A177-3AD203B41FA5}">
                      <a16:colId xmlns:a16="http://schemas.microsoft.com/office/drawing/2014/main" val="2031488337"/>
                    </a:ext>
                  </a:extLst>
                </a:gridCol>
                <a:gridCol w="1804987">
                  <a:extLst>
                    <a:ext uri="{9D8B030D-6E8A-4147-A177-3AD203B41FA5}">
                      <a16:colId xmlns:a16="http://schemas.microsoft.com/office/drawing/2014/main" val="526378758"/>
                    </a:ext>
                  </a:extLst>
                </a:gridCol>
                <a:gridCol w="1804987">
                  <a:extLst>
                    <a:ext uri="{9D8B030D-6E8A-4147-A177-3AD203B41FA5}">
                      <a16:colId xmlns:a16="http://schemas.microsoft.com/office/drawing/2014/main" val="325362427"/>
                    </a:ext>
                  </a:extLst>
                </a:gridCol>
                <a:gridCol w="1804987">
                  <a:extLst>
                    <a:ext uri="{9D8B030D-6E8A-4147-A177-3AD203B41FA5}">
                      <a16:colId xmlns:a16="http://schemas.microsoft.com/office/drawing/2014/main" val="1990001942"/>
                    </a:ext>
                  </a:extLst>
                </a:gridCol>
                <a:gridCol w="1804987">
                  <a:extLst>
                    <a:ext uri="{9D8B030D-6E8A-4147-A177-3AD203B41FA5}">
                      <a16:colId xmlns:a16="http://schemas.microsoft.com/office/drawing/2014/main" val="3344489120"/>
                    </a:ext>
                  </a:extLst>
                </a:gridCol>
                <a:gridCol w="1804987">
                  <a:extLst>
                    <a:ext uri="{9D8B030D-6E8A-4147-A177-3AD203B41FA5}">
                      <a16:colId xmlns:a16="http://schemas.microsoft.com/office/drawing/2014/main" val="3436964488"/>
                    </a:ext>
                  </a:extLst>
                </a:gridCol>
              </a:tblGrid>
              <a:tr h="406995">
                <a:tc rowSpan="2">
                  <a:txBody>
                    <a:bodyPr/>
                    <a:lstStyle/>
                    <a:p>
                      <a:pPr algn="ctr"/>
                      <a:r>
                        <a:rPr lang="en-US" sz="2200" dirty="0"/>
                        <a:t>Non-current assets (NCA)</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assets (CA)</a:t>
                      </a:r>
                    </a:p>
                  </a:txBody>
                  <a:tcPr marL="64262" marR="64262" marT="32131" marB="32131" anchor="ctr">
                    <a:lnB w="12700" cap="flat" cmpd="sng" algn="ctr">
                      <a:solidFill>
                        <a:schemeClr val="tx1"/>
                      </a:solidFill>
                      <a:prstDash val="solid"/>
                      <a:round/>
                      <a:headEnd type="none" w="med" len="med"/>
                      <a:tailEnd type="none" w="med" len="med"/>
                    </a:lnB>
                  </a:tcPr>
                </a:tc>
                <a:tc gridSpan="2">
                  <a:txBody>
                    <a:bodyPr/>
                    <a:lstStyle/>
                    <a:p>
                      <a:pPr algn="ctr"/>
                      <a:r>
                        <a:rPr lang="en-US" sz="2200" dirty="0"/>
                        <a:t>Equity</a:t>
                      </a:r>
                    </a:p>
                  </a:txBody>
                  <a:tcPr marL="64262" marR="64262" marT="32131" marB="32131" anchor="ctr"/>
                </a:tc>
                <a:tc hMerge="1">
                  <a:txBody>
                    <a:bodyPr/>
                    <a:lstStyle/>
                    <a:p>
                      <a:endParaRPr lang="en-US" dirty="0"/>
                    </a:p>
                  </a:txBody>
                  <a:tcPr/>
                </a:tc>
                <a:tc rowSpan="2">
                  <a:txBody>
                    <a:bodyPr/>
                    <a:lstStyle/>
                    <a:p>
                      <a:pPr algn="ctr"/>
                      <a:r>
                        <a:rPr lang="en-US" sz="2200" dirty="0"/>
                        <a:t>Non-current liabilities (NCL)</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liabilities (CL)</a:t>
                      </a:r>
                    </a:p>
                  </a:txBody>
                  <a:tcPr marL="64262" marR="64262" marT="32131" marB="32131"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8874"/>
                  </a:ext>
                </a:extLst>
              </a:tr>
              <a:tr h="1435193">
                <a:tc vMerge="1">
                  <a:txBody>
                    <a:bodyPr/>
                    <a:lstStyle/>
                    <a:p>
                      <a:endParaRPr lang="en-US" sz="3200" dirty="0"/>
                    </a:p>
                  </a:txBody>
                  <a:tcPr/>
                </a:tc>
                <a:tc vMerge="1">
                  <a:txBody>
                    <a:bodyPr/>
                    <a:lstStyle/>
                    <a:p>
                      <a:endParaRPr lang="en-US" sz="3200" dirty="0"/>
                    </a:p>
                  </a:txBody>
                  <a:tcPr/>
                </a:tc>
                <a:tc>
                  <a:txBody>
                    <a:bodyPr/>
                    <a:lstStyle/>
                    <a:p>
                      <a:pPr algn="ctr"/>
                      <a:r>
                        <a:rPr lang="en-US" sz="2200" dirty="0"/>
                        <a:t>Share capital and additional paid-in capital</a:t>
                      </a:r>
                    </a:p>
                  </a:txBody>
                  <a:tcPr marL="64262" marR="64262" marT="32131" marB="32131" anchor="ctr">
                    <a:lnB w="12700" cap="flat" cmpd="sng" algn="ctr">
                      <a:solidFill>
                        <a:schemeClr val="tx1"/>
                      </a:solidFill>
                      <a:prstDash val="solid"/>
                      <a:round/>
                      <a:headEnd type="none" w="med" len="med"/>
                      <a:tailEnd type="none" w="med" len="med"/>
                    </a:lnB>
                  </a:tcPr>
                </a:tc>
                <a:tc>
                  <a:txBody>
                    <a:bodyPr/>
                    <a:lstStyle/>
                    <a:p>
                      <a:pPr algn="ctr"/>
                      <a:r>
                        <a:rPr lang="en-US" sz="2200" dirty="0"/>
                        <a:t>Retained earnings and other reserves</a:t>
                      </a:r>
                    </a:p>
                  </a:txBody>
                  <a:tcPr marL="64262" marR="64262" marT="32131" marB="32131" anchor="ctr">
                    <a:lnB w="12700" cap="flat" cmpd="sng" algn="ctr">
                      <a:solidFill>
                        <a:schemeClr val="tx1"/>
                      </a:solidFill>
                      <a:prstDash val="solid"/>
                      <a:round/>
                      <a:headEnd type="none" w="med" len="med"/>
                      <a:tailEnd type="none" w="med" len="med"/>
                    </a:lnB>
                  </a:tcPr>
                </a:tc>
                <a:tc vMerge="1">
                  <a:txBody>
                    <a:bodyPr/>
                    <a:lstStyle/>
                    <a:p>
                      <a:endParaRPr lang="en-US" sz="3200" dirty="0"/>
                    </a:p>
                  </a:txBody>
                  <a:tcPr/>
                </a:tc>
                <a:tc vMerge="1">
                  <a:txBody>
                    <a:bodyPr/>
                    <a:lstStyle/>
                    <a:p>
                      <a:endParaRPr lang="en-US" sz="3200" dirty="0"/>
                    </a:p>
                  </a:txBody>
                  <a:tcPr/>
                </a:tc>
                <a:extLst>
                  <a:ext uri="{0D108BD9-81ED-4DB2-BD59-A6C34878D82A}">
                    <a16:rowId xmlns:a16="http://schemas.microsoft.com/office/drawing/2014/main" val="853442960"/>
                  </a:ext>
                </a:extLst>
              </a:tr>
              <a:tr h="749728">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25328"/>
                  </a:ext>
                </a:extLst>
              </a:tr>
            </a:tbl>
          </a:graphicData>
        </a:graphic>
      </p:graphicFrame>
      <p:sp>
        <p:nvSpPr>
          <p:cNvPr id="5" name="Slide Number Placeholder 4">
            <a:extLst>
              <a:ext uri="{FF2B5EF4-FFF2-40B4-BE49-F238E27FC236}">
                <a16:creationId xmlns:a16="http://schemas.microsoft.com/office/drawing/2014/main" id="{F394A257-6480-44D9-BDFA-3790757012DC}"/>
              </a:ext>
            </a:extLst>
          </p:cNvPr>
          <p:cNvSpPr>
            <a:spLocks noGrp="1"/>
          </p:cNvSpPr>
          <p:nvPr>
            <p:ph type="sldNum" sz="quarter" idx="10"/>
          </p:nvPr>
        </p:nvSpPr>
        <p:spPr/>
        <p:txBody>
          <a:bodyPr/>
          <a:lstStyle/>
          <a:p>
            <a:fld id="{307C7597-8D70-4701-8085-9524B0B5C72B}" type="slidenum">
              <a:rPr lang="fr-FR" smtClean="0"/>
              <a:pPr/>
              <a:t>66</a:t>
            </a:fld>
            <a:endParaRPr lang="fr-FR" dirty="0"/>
          </a:p>
        </p:txBody>
      </p:sp>
    </p:spTree>
    <p:extLst>
      <p:ext uri="{BB962C8B-B14F-4D97-AF65-F5344CB8AC3E}">
        <p14:creationId xmlns:p14="http://schemas.microsoft.com/office/powerpoint/2010/main" val="232522728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00F9E9-DDEA-4600-A580-A2D05502EF2B}"/>
              </a:ext>
            </a:extLst>
          </p:cNvPr>
          <p:cNvSpPr>
            <a:spLocks noGrp="1"/>
          </p:cNvSpPr>
          <p:nvPr>
            <p:ph type="title"/>
          </p:nvPr>
        </p:nvSpPr>
        <p:spPr/>
        <p:txBody>
          <a:bodyPr/>
          <a:lstStyle/>
          <a:p>
            <a:r>
              <a:rPr lang="en-US" sz="3092" dirty="0"/>
              <a:t>What is the effect on the balance sheet of the amortization of an intangible (fixed) asset?</a:t>
            </a:r>
          </a:p>
        </p:txBody>
      </p:sp>
      <p:graphicFrame>
        <p:nvGraphicFramePr>
          <p:cNvPr id="6" name="Table 6">
            <a:extLst>
              <a:ext uri="{FF2B5EF4-FFF2-40B4-BE49-F238E27FC236}">
                <a16:creationId xmlns:a16="http://schemas.microsoft.com/office/drawing/2014/main" id="{1FD6A07A-361C-4125-BBCE-5A6A8BC1B965}"/>
              </a:ext>
            </a:extLst>
          </p:cNvPr>
          <p:cNvGraphicFramePr>
            <a:graphicFrameLocks noGrp="1"/>
          </p:cNvGraphicFramePr>
          <p:nvPr>
            <p:ph idx="1"/>
            <p:extLst>
              <p:ext uri="{D42A27DB-BD31-4B8C-83A1-F6EECF244321}">
                <p14:modId xmlns:p14="http://schemas.microsoft.com/office/powerpoint/2010/main" val="2127988925"/>
              </p:ext>
            </p:extLst>
          </p:nvPr>
        </p:nvGraphicFramePr>
        <p:xfrm>
          <a:off x="681038" y="1266330"/>
          <a:ext cx="11403858" cy="3962846"/>
        </p:xfrm>
        <a:graphic>
          <a:graphicData uri="http://schemas.openxmlformats.org/drawingml/2006/table">
            <a:tbl>
              <a:tblPr firstRow="1" bandRow="1">
                <a:tableStyleId>{5C22544A-7EE6-4342-B048-85BDC9FD1C3A}</a:tableStyleId>
              </a:tblPr>
              <a:tblGrid>
                <a:gridCol w="1900643">
                  <a:extLst>
                    <a:ext uri="{9D8B030D-6E8A-4147-A177-3AD203B41FA5}">
                      <a16:colId xmlns:a16="http://schemas.microsoft.com/office/drawing/2014/main" val="2031488337"/>
                    </a:ext>
                  </a:extLst>
                </a:gridCol>
                <a:gridCol w="1900643">
                  <a:extLst>
                    <a:ext uri="{9D8B030D-6E8A-4147-A177-3AD203B41FA5}">
                      <a16:colId xmlns:a16="http://schemas.microsoft.com/office/drawing/2014/main" val="526378758"/>
                    </a:ext>
                  </a:extLst>
                </a:gridCol>
                <a:gridCol w="1900643">
                  <a:extLst>
                    <a:ext uri="{9D8B030D-6E8A-4147-A177-3AD203B41FA5}">
                      <a16:colId xmlns:a16="http://schemas.microsoft.com/office/drawing/2014/main" val="325362427"/>
                    </a:ext>
                  </a:extLst>
                </a:gridCol>
                <a:gridCol w="1900643">
                  <a:extLst>
                    <a:ext uri="{9D8B030D-6E8A-4147-A177-3AD203B41FA5}">
                      <a16:colId xmlns:a16="http://schemas.microsoft.com/office/drawing/2014/main" val="1990001942"/>
                    </a:ext>
                  </a:extLst>
                </a:gridCol>
                <a:gridCol w="1900643">
                  <a:extLst>
                    <a:ext uri="{9D8B030D-6E8A-4147-A177-3AD203B41FA5}">
                      <a16:colId xmlns:a16="http://schemas.microsoft.com/office/drawing/2014/main" val="3344489120"/>
                    </a:ext>
                  </a:extLst>
                </a:gridCol>
                <a:gridCol w="1900643">
                  <a:extLst>
                    <a:ext uri="{9D8B030D-6E8A-4147-A177-3AD203B41FA5}">
                      <a16:colId xmlns:a16="http://schemas.microsoft.com/office/drawing/2014/main" val="3436964488"/>
                    </a:ext>
                  </a:extLst>
                </a:gridCol>
              </a:tblGrid>
              <a:tr h="406995">
                <a:tc rowSpan="2">
                  <a:txBody>
                    <a:bodyPr/>
                    <a:lstStyle/>
                    <a:p>
                      <a:pPr algn="ctr"/>
                      <a:r>
                        <a:rPr lang="en-US" sz="2200" dirty="0"/>
                        <a:t>Non-current assets (NCA)</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assets (CA)</a:t>
                      </a:r>
                    </a:p>
                  </a:txBody>
                  <a:tcPr marL="64262" marR="64262" marT="32131" marB="32131" anchor="ctr">
                    <a:lnB w="12700" cap="flat" cmpd="sng" algn="ctr">
                      <a:solidFill>
                        <a:schemeClr val="tx1"/>
                      </a:solidFill>
                      <a:prstDash val="solid"/>
                      <a:round/>
                      <a:headEnd type="none" w="med" len="med"/>
                      <a:tailEnd type="none" w="med" len="med"/>
                    </a:lnB>
                  </a:tcPr>
                </a:tc>
                <a:tc gridSpan="2">
                  <a:txBody>
                    <a:bodyPr/>
                    <a:lstStyle/>
                    <a:p>
                      <a:pPr algn="ctr"/>
                      <a:r>
                        <a:rPr lang="en-US" sz="2200" dirty="0"/>
                        <a:t>Equity</a:t>
                      </a:r>
                    </a:p>
                  </a:txBody>
                  <a:tcPr marL="64262" marR="64262" marT="32131" marB="32131" anchor="ctr"/>
                </a:tc>
                <a:tc hMerge="1">
                  <a:txBody>
                    <a:bodyPr/>
                    <a:lstStyle/>
                    <a:p>
                      <a:endParaRPr lang="en-US" dirty="0"/>
                    </a:p>
                  </a:txBody>
                  <a:tcPr/>
                </a:tc>
                <a:tc rowSpan="2">
                  <a:txBody>
                    <a:bodyPr/>
                    <a:lstStyle/>
                    <a:p>
                      <a:pPr algn="ctr"/>
                      <a:r>
                        <a:rPr lang="en-US" sz="2200" dirty="0"/>
                        <a:t>Non-current liabilities (NCL)</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liabilities (CL)</a:t>
                      </a:r>
                    </a:p>
                  </a:txBody>
                  <a:tcPr marL="64262" marR="64262" marT="32131" marB="32131"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8874"/>
                  </a:ext>
                </a:extLst>
              </a:tr>
              <a:tr h="1435193">
                <a:tc vMerge="1">
                  <a:txBody>
                    <a:bodyPr/>
                    <a:lstStyle/>
                    <a:p>
                      <a:endParaRPr lang="en-US" sz="3200" dirty="0"/>
                    </a:p>
                  </a:txBody>
                  <a:tcPr/>
                </a:tc>
                <a:tc vMerge="1">
                  <a:txBody>
                    <a:bodyPr/>
                    <a:lstStyle/>
                    <a:p>
                      <a:endParaRPr lang="en-US" sz="3200" dirty="0"/>
                    </a:p>
                  </a:txBody>
                  <a:tcPr/>
                </a:tc>
                <a:tc>
                  <a:txBody>
                    <a:bodyPr/>
                    <a:lstStyle/>
                    <a:p>
                      <a:pPr algn="ctr"/>
                      <a:r>
                        <a:rPr lang="en-US" sz="2200" dirty="0"/>
                        <a:t>Share capital and additional paid-in capital</a:t>
                      </a:r>
                    </a:p>
                  </a:txBody>
                  <a:tcPr marL="64262" marR="64262" marT="32131" marB="32131" anchor="ctr">
                    <a:lnB w="12700" cap="flat" cmpd="sng" algn="ctr">
                      <a:solidFill>
                        <a:schemeClr val="tx1"/>
                      </a:solidFill>
                      <a:prstDash val="solid"/>
                      <a:round/>
                      <a:headEnd type="none" w="med" len="med"/>
                      <a:tailEnd type="none" w="med" len="med"/>
                    </a:lnB>
                  </a:tcPr>
                </a:tc>
                <a:tc>
                  <a:txBody>
                    <a:bodyPr/>
                    <a:lstStyle/>
                    <a:p>
                      <a:pPr algn="ctr"/>
                      <a:r>
                        <a:rPr lang="en-US" sz="2200" dirty="0"/>
                        <a:t>Retained earnings and other reserves</a:t>
                      </a:r>
                    </a:p>
                  </a:txBody>
                  <a:tcPr marL="64262" marR="64262" marT="32131" marB="32131" anchor="ctr">
                    <a:lnB w="12700" cap="flat" cmpd="sng" algn="ctr">
                      <a:solidFill>
                        <a:schemeClr val="tx1"/>
                      </a:solidFill>
                      <a:prstDash val="solid"/>
                      <a:round/>
                      <a:headEnd type="none" w="med" len="med"/>
                      <a:tailEnd type="none" w="med" len="med"/>
                    </a:lnB>
                  </a:tcPr>
                </a:tc>
                <a:tc vMerge="1">
                  <a:txBody>
                    <a:bodyPr/>
                    <a:lstStyle/>
                    <a:p>
                      <a:endParaRPr lang="en-US" sz="3200" dirty="0"/>
                    </a:p>
                  </a:txBody>
                  <a:tcPr/>
                </a:tc>
                <a:tc vMerge="1">
                  <a:txBody>
                    <a:bodyPr/>
                    <a:lstStyle/>
                    <a:p>
                      <a:endParaRPr lang="en-US" sz="3200" dirty="0"/>
                    </a:p>
                  </a:txBody>
                  <a:tcPr/>
                </a:tc>
                <a:extLst>
                  <a:ext uri="{0D108BD9-81ED-4DB2-BD59-A6C34878D82A}">
                    <a16:rowId xmlns:a16="http://schemas.microsoft.com/office/drawing/2014/main" val="853442960"/>
                  </a:ext>
                </a:extLst>
              </a:tr>
              <a:tr h="2120658">
                <a:tc>
                  <a:txBody>
                    <a:bodyPr/>
                    <a:lstStyle/>
                    <a:p>
                      <a:r>
                        <a:rPr lang="en-US" sz="2200" dirty="0"/>
                        <a:t>Intangible (fixed) assets at net value (decrease)</a:t>
                      </a:r>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dirty="0"/>
                        <a:t>Amortization expense (P&amp;L)</a:t>
                      </a:r>
                    </a:p>
                    <a:p>
                      <a:pPr algn="ctr"/>
                      <a:r>
                        <a:rPr lang="en-US" sz="2200" dirty="0"/>
                        <a:t>(decrease in retained earnings)</a:t>
                      </a:r>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25328"/>
                  </a:ext>
                </a:extLst>
              </a:tr>
            </a:tbl>
          </a:graphicData>
        </a:graphic>
      </p:graphicFrame>
      <p:sp>
        <p:nvSpPr>
          <p:cNvPr id="5" name="Slide Number Placeholder 4">
            <a:extLst>
              <a:ext uri="{FF2B5EF4-FFF2-40B4-BE49-F238E27FC236}">
                <a16:creationId xmlns:a16="http://schemas.microsoft.com/office/drawing/2014/main" id="{F394A257-6480-44D9-BDFA-3790757012DC}"/>
              </a:ext>
            </a:extLst>
          </p:cNvPr>
          <p:cNvSpPr>
            <a:spLocks noGrp="1"/>
          </p:cNvSpPr>
          <p:nvPr>
            <p:ph type="sldNum" sz="quarter" idx="10"/>
          </p:nvPr>
        </p:nvSpPr>
        <p:spPr/>
        <p:txBody>
          <a:bodyPr/>
          <a:lstStyle/>
          <a:p>
            <a:fld id="{307C7597-8D70-4701-8085-9524B0B5C72B}" type="slidenum">
              <a:rPr lang="fr-FR" smtClean="0"/>
              <a:pPr/>
              <a:t>67</a:t>
            </a:fld>
            <a:endParaRPr lang="fr-FR" dirty="0"/>
          </a:p>
        </p:txBody>
      </p:sp>
      <p:sp>
        <p:nvSpPr>
          <p:cNvPr id="2" name="TextBox 1">
            <a:extLst>
              <a:ext uri="{FF2B5EF4-FFF2-40B4-BE49-F238E27FC236}">
                <a16:creationId xmlns:a16="http://schemas.microsoft.com/office/drawing/2014/main" id="{4AE299BB-39E3-4E67-84AF-04D6EAB5128B}"/>
              </a:ext>
            </a:extLst>
          </p:cNvPr>
          <p:cNvSpPr txBox="1"/>
          <p:nvPr/>
        </p:nvSpPr>
        <p:spPr>
          <a:xfrm>
            <a:off x="312386" y="5356871"/>
            <a:ext cx="11772510" cy="1130694"/>
          </a:xfrm>
          <a:prstGeom prst="rect">
            <a:avLst/>
          </a:prstGeom>
          <a:solidFill>
            <a:schemeClr val="bg1">
              <a:lumMod val="90000"/>
            </a:schemeClr>
          </a:solidFill>
        </p:spPr>
        <p:txBody>
          <a:bodyPr wrap="square" rtlCol="0">
            <a:spAutoFit/>
          </a:bodyPr>
          <a:lstStyle/>
          <a:p>
            <a:r>
              <a:rPr lang="en-US" sz="2249" dirty="0"/>
              <a:t>Intangible (fixed) assets at net value </a:t>
            </a:r>
          </a:p>
          <a:p>
            <a:r>
              <a:rPr lang="en-US" sz="2249" dirty="0"/>
              <a:t>= Intangible (fixed) assets at gross value (i.e. at cost) – Accumulated amortization and accumulated impairment losses (asset contra accounts)</a:t>
            </a:r>
          </a:p>
        </p:txBody>
      </p:sp>
    </p:spTree>
    <p:extLst>
      <p:ext uri="{BB962C8B-B14F-4D97-AF65-F5344CB8AC3E}">
        <p14:creationId xmlns:p14="http://schemas.microsoft.com/office/powerpoint/2010/main" val="33767369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00F9E9-DDEA-4600-A580-A2D05502EF2B}"/>
              </a:ext>
            </a:extLst>
          </p:cNvPr>
          <p:cNvSpPr>
            <a:spLocks noGrp="1"/>
          </p:cNvSpPr>
          <p:nvPr>
            <p:ph type="title"/>
          </p:nvPr>
        </p:nvSpPr>
        <p:spPr/>
        <p:txBody>
          <a:bodyPr/>
          <a:lstStyle/>
          <a:p>
            <a:r>
              <a:rPr lang="en-US" sz="3092" dirty="0"/>
              <a:t>What is the effect on the balance sheet of the depreciation of a tangible (fixed) asset?</a:t>
            </a:r>
          </a:p>
        </p:txBody>
      </p:sp>
      <p:graphicFrame>
        <p:nvGraphicFramePr>
          <p:cNvPr id="6" name="Table 6">
            <a:extLst>
              <a:ext uri="{FF2B5EF4-FFF2-40B4-BE49-F238E27FC236}">
                <a16:creationId xmlns:a16="http://schemas.microsoft.com/office/drawing/2014/main" id="{1FD6A07A-361C-4125-BBCE-5A6A8BC1B965}"/>
              </a:ext>
            </a:extLst>
          </p:cNvPr>
          <p:cNvGraphicFramePr>
            <a:graphicFrameLocks noGrp="1"/>
          </p:cNvGraphicFramePr>
          <p:nvPr>
            <p:ph idx="1"/>
            <p:extLst>
              <p:ext uri="{D42A27DB-BD31-4B8C-83A1-F6EECF244321}">
                <p14:modId xmlns:p14="http://schemas.microsoft.com/office/powerpoint/2010/main" val="3988769279"/>
              </p:ext>
            </p:extLst>
          </p:nvPr>
        </p:nvGraphicFramePr>
        <p:xfrm>
          <a:off x="681038" y="1825625"/>
          <a:ext cx="10829922" cy="2897385"/>
        </p:xfrm>
        <a:graphic>
          <a:graphicData uri="http://schemas.openxmlformats.org/drawingml/2006/table">
            <a:tbl>
              <a:tblPr firstRow="1" bandRow="1">
                <a:tableStyleId>{5C22544A-7EE6-4342-B048-85BDC9FD1C3A}</a:tableStyleId>
              </a:tblPr>
              <a:tblGrid>
                <a:gridCol w="1804987">
                  <a:extLst>
                    <a:ext uri="{9D8B030D-6E8A-4147-A177-3AD203B41FA5}">
                      <a16:colId xmlns:a16="http://schemas.microsoft.com/office/drawing/2014/main" val="2031488337"/>
                    </a:ext>
                  </a:extLst>
                </a:gridCol>
                <a:gridCol w="1804987">
                  <a:extLst>
                    <a:ext uri="{9D8B030D-6E8A-4147-A177-3AD203B41FA5}">
                      <a16:colId xmlns:a16="http://schemas.microsoft.com/office/drawing/2014/main" val="526378758"/>
                    </a:ext>
                  </a:extLst>
                </a:gridCol>
                <a:gridCol w="1804987">
                  <a:extLst>
                    <a:ext uri="{9D8B030D-6E8A-4147-A177-3AD203B41FA5}">
                      <a16:colId xmlns:a16="http://schemas.microsoft.com/office/drawing/2014/main" val="325362427"/>
                    </a:ext>
                  </a:extLst>
                </a:gridCol>
                <a:gridCol w="1804987">
                  <a:extLst>
                    <a:ext uri="{9D8B030D-6E8A-4147-A177-3AD203B41FA5}">
                      <a16:colId xmlns:a16="http://schemas.microsoft.com/office/drawing/2014/main" val="1990001942"/>
                    </a:ext>
                  </a:extLst>
                </a:gridCol>
                <a:gridCol w="1804987">
                  <a:extLst>
                    <a:ext uri="{9D8B030D-6E8A-4147-A177-3AD203B41FA5}">
                      <a16:colId xmlns:a16="http://schemas.microsoft.com/office/drawing/2014/main" val="3344489120"/>
                    </a:ext>
                  </a:extLst>
                </a:gridCol>
                <a:gridCol w="1804987">
                  <a:extLst>
                    <a:ext uri="{9D8B030D-6E8A-4147-A177-3AD203B41FA5}">
                      <a16:colId xmlns:a16="http://schemas.microsoft.com/office/drawing/2014/main" val="3436964488"/>
                    </a:ext>
                  </a:extLst>
                </a:gridCol>
              </a:tblGrid>
              <a:tr h="406995">
                <a:tc rowSpan="2">
                  <a:txBody>
                    <a:bodyPr/>
                    <a:lstStyle/>
                    <a:p>
                      <a:pPr algn="ctr"/>
                      <a:r>
                        <a:rPr lang="en-US" sz="2200" dirty="0"/>
                        <a:t>Non-current assets (NCA)</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assets (CA)</a:t>
                      </a:r>
                    </a:p>
                  </a:txBody>
                  <a:tcPr marL="64262" marR="64262" marT="32131" marB="32131" anchor="ctr">
                    <a:lnB w="12700" cap="flat" cmpd="sng" algn="ctr">
                      <a:solidFill>
                        <a:schemeClr val="tx1"/>
                      </a:solidFill>
                      <a:prstDash val="solid"/>
                      <a:round/>
                      <a:headEnd type="none" w="med" len="med"/>
                      <a:tailEnd type="none" w="med" len="med"/>
                    </a:lnB>
                  </a:tcPr>
                </a:tc>
                <a:tc gridSpan="2">
                  <a:txBody>
                    <a:bodyPr/>
                    <a:lstStyle/>
                    <a:p>
                      <a:pPr algn="ctr"/>
                      <a:r>
                        <a:rPr lang="en-US" sz="2200" dirty="0"/>
                        <a:t>Equity</a:t>
                      </a:r>
                    </a:p>
                  </a:txBody>
                  <a:tcPr marL="64262" marR="64262" marT="32131" marB="32131" anchor="ctr"/>
                </a:tc>
                <a:tc hMerge="1">
                  <a:txBody>
                    <a:bodyPr/>
                    <a:lstStyle/>
                    <a:p>
                      <a:endParaRPr lang="en-US" dirty="0"/>
                    </a:p>
                  </a:txBody>
                  <a:tcPr/>
                </a:tc>
                <a:tc rowSpan="2">
                  <a:txBody>
                    <a:bodyPr/>
                    <a:lstStyle/>
                    <a:p>
                      <a:pPr algn="ctr"/>
                      <a:r>
                        <a:rPr lang="en-US" sz="2200" dirty="0"/>
                        <a:t>Non-current liabilities (NCL)</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liabilities (CL)</a:t>
                      </a:r>
                    </a:p>
                  </a:txBody>
                  <a:tcPr marL="64262" marR="64262" marT="32131" marB="32131"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8874"/>
                  </a:ext>
                </a:extLst>
              </a:tr>
              <a:tr h="1435193">
                <a:tc vMerge="1">
                  <a:txBody>
                    <a:bodyPr/>
                    <a:lstStyle/>
                    <a:p>
                      <a:endParaRPr lang="en-US" sz="3200" dirty="0"/>
                    </a:p>
                  </a:txBody>
                  <a:tcPr/>
                </a:tc>
                <a:tc vMerge="1">
                  <a:txBody>
                    <a:bodyPr/>
                    <a:lstStyle/>
                    <a:p>
                      <a:endParaRPr lang="en-US" sz="3200" dirty="0"/>
                    </a:p>
                  </a:txBody>
                  <a:tcPr/>
                </a:tc>
                <a:tc>
                  <a:txBody>
                    <a:bodyPr/>
                    <a:lstStyle/>
                    <a:p>
                      <a:pPr algn="ctr"/>
                      <a:r>
                        <a:rPr lang="en-US" sz="2200" dirty="0"/>
                        <a:t>Share capital and additional paid-in capital</a:t>
                      </a:r>
                    </a:p>
                  </a:txBody>
                  <a:tcPr marL="64262" marR="64262" marT="32131" marB="32131" anchor="ctr">
                    <a:lnB w="12700" cap="flat" cmpd="sng" algn="ctr">
                      <a:solidFill>
                        <a:schemeClr val="tx1"/>
                      </a:solidFill>
                      <a:prstDash val="solid"/>
                      <a:round/>
                      <a:headEnd type="none" w="med" len="med"/>
                      <a:tailEnd type="none" w="med" len="med"/>
                    </a:lnB>
                  </a:tcPr>
                </a:tc>
                <a:tc>
                  <a:txBody>
                    <a:bodyPr/>
                    <a:lstStyle/>
                    <a:p>
                      <a:pPr algn="ctr"/>
                      <a:r>
                        <a:rPr lang="en-US" sz="2200" dirty="0"/>
                        <a:t>Retained earnings and other reserves</a:t>
                      </a:r>
                    </a:p>
                  </a:txBody>
                  <a:tcPr marL="64262" marR="64262" marT="32131" marB="32131" anchor="ctr">
                    <a:lnB w="12700" cap="flat" cmpd="sng" algn="ctr">
                      <a:solidFill>
                        <a:schemeClr val="tx1"/>
                      </a:solidFill>
                      <a:prstDash val="solid"/>
                      <a:round/>
                      <a:headEnd type="none" w="med" len="med"/>
                      <a:tailEnd type="none" w="med" len="med"/>
                    </a:lnB>
                  </a:tcPr>
                </a:tc>
                <a:tc vMerge="1">
                  <a:txBody>
                    <a:bodyPr/>
                    <a:lstStyle/>
                    <a:p>
                      <a:endParaRPr lang="en-US" sz="3200" dirty="0"/>
                    </a:p>
                  </a:txBody>
                  <a:tcPr/>
                </a:tc>
                <a:tc vMerge="1">
                  <a:txBody>
                    <a:bodyPr/>
                    <a:lstStyle/>
                    <a:p>
                      <a:endParaRPr lang="en-US" sz="3200" dirty="0"/>
                    </a:p>
                  </a:txBody>
                  <a:tcPr/>
                </a:tc>
                <a:extLst>
                  <a:ext uri="{0D108BD9-81ED-4DB2-BD59-A6C34878D82A}">
                    <a16:rowId xmlns:a16="http://schemas.microsoft.com/office/drawing/2014/main" val="853442960"/>
                  </a:ext>
                </a:extLst>
              </a:tr>
              <a:tr h="749728">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25328"/>
                  </a:ext>
                </a:extLst>
              </a:tr>
            </a:tbl>
          </a:graphicData>
        </a:graphic>
      </p:graphicFrame>
      <p:sp>
        <p:nvSpPr>
          <p:cNvPr id="5" name="Slide Number Placeholder 4">
            <a:extLst>
              <a:ext uri="{FF2B5EF4-FFF2-40B4-BE49-F238E27FC236}">
                <a16:creationId xmlns:a16="http://schemas.microsoft.com/office/drawing/2014/main" id="{F394A257-6480-44D9-BDFA-3790757012DC}"/>
              </a:ext>
            </a:extLst>
          </p:cNvPr>
          <p:cNvSpPr>
            <a:spLocks noGrp="1"/>
          </p:cNvSpPr>
          <p:nvPr>
            <p:ph type="sldNum" sz="quarter" idx="10"/>
          </p:nvPr>
        </p:nvSpPr>
        <p:spPr/>
        <p:txBody>
          <a:bodyPr/>
          <a:lstStyle/>
          <a:p>
            <a:fld id="{307C7597-8D70-4701-8085-9524B0B5C72B}" type="slidenum">
              <a:rPr lang="fr-FR" smtClean="0"/>
              <a:pPr/>
              <a:t>68</a:t>
            </a:fld>
            <a:endParaRPr lang="fr-FR" dirty="0"/>
          </a:p>
        </p:txBody>
      </p:sp>
    </p:spTree>
    <p:extLst>
      <p:ext uri="{BB962C8B-B14F-4D97-AF65-F5344CB8AC3E}">
        <p14:creationId xmlns:p14="http://schemas.microsoft.com/office/powerpoint/2010/main" val="298331740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6657F-6A6A-5381-1AE2-D57B474D0B0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CA157A6-3F99-4FC0-C9D6-9CC1DE986193}"/>
              </a:ext>
            </a:extLst>
          </p:cNvPr>
          <p:cNvSpPr>
            <a:spLocks noGrp="1"/>
          </p:cNvSpPr>
          <p:nvPr>
            <p:ph type="title"/>
          </p:nvPr>
        </p:nvSpPr>
        <p:spPr/>
        <p:txBody>
          <a:bodyPr/>
          <a:lstStyle/>
          <a:p>
            <a:r>
              <a:rPr lang="en-US" sz="3092" dirty="0"/>
              <a:t>What is the effect on the balance sheet of the depreciation of a tangible (fixed) asset?</a:t>
            </a:r>
          </a:p>
        </p:txBody>
      </p:sp>
      <p:graphicFrame>
        <p:nvGraphicFramePr>
          <p:cNvPr id="6" name="Table 6">
            <a:extLst>
              <a:ext uri="{FF2B5EF4-FFF2-40B4-BE49-F238E27FC236}">
                <a16:creationId xmlns:a16="http://schemas.microsoft.com/office/drawing/2014/main" id="{F2F07ECF-CDAF-6829-856E-6F9EC9FA4FFB}"/>
              </a:ext>
            </a:extLst>
          </p:cNvPr>
          <p:cNvGraphicFramePr>
            <a:graphicFrameLocks noGrp="1"/>
          </p:cNvGraphicFramePr>
          <p:nvPr>
            <p:ph idx="1"/>
          </p:nvPr>
        </p:nvGraphicFramePr>
        <p:xfrm>
          <a:off x="681038" y="1825625"/>
          <a:ext cx="10829922" cy="4953781"/>
        </p:xfrm>
        <a:graphic>
          <a:graphicData uri="http://schemas.openxmlformats.org/drawingml/2006/table">
            <a:tbl>
              <a:tblPr firstRow="1" bandRow="1">
                <a:tableStyleId>{5C22544A-7EE6-4342-B048-85BDC9FD1C3A}</a:tableStyleId>
              </a:tblPr>
              <a:tblGrid>
                <a:gridCol w="1804987">
                  <a:extLst>
                    <a:ext uri="{9D8B030D-6E8A-4147-A177-3AD203B41FA5}">
                      <a16:colId xmlns:a16="http://schemas.microsoft.com/office/drawing/2014/main" val="2031488337"/>
                    </a:ext>
                  </a:extLst>
                </a:gridCol>
                <a:gridCol w="1804987">
                  <a:extLst>
                    <a:ext uri="{9D8B030D-6E8A-4147-A177-3AD203B41FA5}">
                      <a16:colId xmlns:a16="http://schemas.microsoft.com/office/drawing/2014/main" val="526378758"/>
                    </a:ext>
                  </a:extLst>
                </a:gridCol>
                <a:gridCol w="1804987">
                  <a:extLst>
                    <a:ext uri="{9D8B030D-6E8A-4147-A177-3AD203B41FA5}">
                      <a16:colId xmlns:a16="http://schemas.microsoft.com/office/drawing/2014/main" val="325362427"/>
                    </a:ext>
                  </a:extLst>
                </a:gridCol>
                <a:gridCol w="1804987">
                  <a:extLst>
                    <a:ext uri="{9D8B030D-6E8A-4147-A177-3AD203B41FA5}">
                      <a16:colId xmlns:a16="http://schemas.microsoft.com/office/drawing/2014/main" val="1990001942"/>
                    </a:ext>
                  </a:extLst>
                </a:gridCol>
                <a:gridCol w="1804987">
                  <a:extLst>
                    <a:ext uri="{9D8B030D-6E8A-4147-A177-3AD203B41FA5}">
                      <a16:colId xmlns:a16="http://schemas.microsoft.com/office/drawing/2014/main" val="3344489120"/>
                    </a:ext>
                  </a:extLst>
                </a:gridCol>
                <a:gridCol w="1804987">
                  <a:extLst>
                    <a:ext uri="{9D8B030D-6E8A-4147-A177-3AD203B41FA5}">
                      <a16:colId xmlns:a16="http://schemas.microsoft.com/office/drawing/2014/main" val="3436964488"/>
                    </a:ext>
                  </a:extLst>
                </a:gridCol>
              </a:tblGrid>
              <a:tr h="406995">
                <a:tc rowSpan="2">
                  <a:txBody>
                    <a:bodyPr/>
                    <a:lstStyle/>
                    <a:p>
                      <a:pPr algn="ctr"/>
                      <a:r>
                        <a:rPr lang="en-US" sz="2200" dirty="0"/>
                        <a:t>Non-current assets (NCA)</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assets (CA)</a:t>
                      </a:r>
                    </a:p>
                  </a:txBody>
                  <a:tcPr marL="64262" marR="64262" marT="32131" marB="32131" anchor="ctr">
                    <a:lnB w="12700" cap="flat" cmpd="sng" algn="ctr">
                      <a:solidFill>
                        <a:schemeClr val="tx1"/>
                      </a:solidFill>
                      <a:prstDash val="solid"/>
                      <a:round/>
                      <a:headEnd type="none" w="med" len="med"/>
                      <a:tailEnd type="none" w="med" len="med"/>
                    </a:lnB>
                  </a:tcPr>
                </a:tc>
                <a:tc gridSpan="2">
                  <a:txBody>
                    <a:bodyPr/>
                    <a:lstStyle/>
                    <a:p>
                      <a:pPr algn="ctr"/>
                      <a:r>
                        <a:rPr lang="en-US" sz="2200" dirty="0"/>
                        <a:t>Equity</a:t>
                      </a:r>
                    </a:p>
                  </a:txBody>
                  <a:tcPr marL="64262" marR="64262" marT="32131" marB="32131" anchor="ctr"/>
                </a:tc>
                <a:tc hMerge="1">
                  <a:txBody>
                    <a:bodyPr/>
                    <a:lstStyle/>
                    <a:p>
                      <a:endParaRPr lang="en-US" dirty="0"/>
                    </a:p>
                  </a:txBody>
                  <a:tcPr/>
                </a:tc>
                <a:tc rowSpan="2">
                  <a:txBody>
                    <a:bodyPr/>
                    <a:lstStyle/>
                    <a:p>
                      <a:pPr algn="ctr"/>
                      <a:r>
                        <a:rPr lang="en-US" sz="2200" dirty="0"/>
                        <a:t>Non-current liabilities (NCL)</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liabilities (CL)</a:t>
                      </a:r>
                    </a:p>
                  </a:txBody>
                  <a:tcPr marL="64262" marR="64262" marT="32131" marB="32131"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8874"/>
                  </a:ext>
                </a:extLst>
              </a:tr>
              <a:tr h="1435193">
                <a:tc vMerge="1">
                  <a:txBody>
                    <a:bodyPr/>
                    <a:lstStyle/>
                    <a:p>
                      <a:endParaRPr lang="en-US" sz="3200" dirty="0"/>
                    </a:p>
                  </a:txBody>
                  <a:tcPr/>
                </a:tc>
                <a:tc vMerge="1">
                  <a:txBody>
                    <a:bodyPr/>
                    <a:lstStyle/>
                    <a:p>
                      <a:endParaRPr lang="en-US" sz="3200" dirty="0"/>
                    </a:p>
                  </a:txBody>
                  <a:tcPr/>
                </a:tc>
                <a:tc>
                  <a:txBody>
                    <a:bodyPr/>
                    <a:lstStyle/>
                    <a:p>
                      <a:pPr algn="ctr"/>
                      <a:r>
                        <a:rPr lang="en-US" sz="2200" dirty="0"/>
                        <a:t>Share capital and additional paid-in capital</a:t>
                      </a:r>
                    </a:p>
                  </a:txBody>
                  <a:tcPr marL="64262" marR="64262" marT="32131" marB="32131" anchor="ctr">
                    <a:lnB w="12700" cap="flat" cmpd="sng" algn="ctr">
                      <a:solidFill>
                        <a:schemeClr val="tx1"/>
                      </a:solidFill>
                      <a:prstDash val="solid"/>
                      <a:round/>
                      <a:headEnd type="none" w="med" len="med"/>
                      <a:tailEnd type="none" w="med" len="med"/>
                    </a:lnB>
                  </a:tcPr>
                </a:tc>
                <a:tc>
                  <a:txBody>
                    <a:bodyPr/>
                    <a:lstStyle/>
                    <a:p>
                      <a:pPr algn="ctr"/>
                      <a:r>
                        <a:rPr lang="en-US" sz="2200" dirty="0"/>
                        <a:t>Retained earnings and other reserves</a:t>
                      </a:r>
                    </a:p>
                  </a:txBody>
                  <a:tcPr marL="64262" marR="64262" marT="32131" marB="32131" anchor="ctr">
                    <a:lnB w="12700" cap="flat" cmpd="sng" algn="ctr">
                      <a:solidFill>
                        <a:schemeClr val="tx1"/>
                      </a:solidFill>
                      <a:prstDash val="solid"/>
                      <a:round/>
                      <a:headEnd type="none" w="med" len="med"/>
                      <a:tailEnd type="none" w="med" len="med"/>
                    </a:lnB>
                  </a:tcPr>
                </a:tc>
                <a:tc vMerge="1">
                  <a:txBody>
                    <a:bodyPr/>
                    <a:lstStyle/>
                    <a:p>
                      <a:endParaRPr lang="en-US" sz="3200" dirty="0"/>
                    </a:p>
                  </a:txBody>
                  <a:tcPr/>
                </a:tc>
                <a:tc vMerge="1">
                  <a:txBody>
                    <a:bodyPr/>
                    <a:lstStyle/>
                    <a:p>
                      <a:endParaRPr lang="en-US" sz="3200" dirty="0"/>
                    </a:p>
                  </a:txBody>
                  <a:tcPr/>
                </a:tc>
                <a:extLst>
                  <a:ext uri="{0D108BD9-81ED-4DB2-BD59-A6C34878D82A}">
                    <a16:rowId xmlns:a16="http://schemas.microsoft.com/office/drawing/2014/main" val="853442960"/>
                  </a:ext>
                </a:extLst>
              </a:tr>
              <a:tr h="2806124">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200" dirty="0"/>
                        <a:t>Property, Plant and Equipment (P,P&amp;E) (or tangible fixed assets) at net value (decrease)</a:t>
                      </a:r>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dirty="0"/>
                        <a:t>Depreciation expense (P&amp;L)</a:t>
                      </a:r>
                    </a:p>
                    <a:p>
                      <a:pPr algn="ctr"/>
                      <a:r>
                        <a:rPr lang="en-US" sz="2200" dirty="0"/>
                        <a:t>(decrease in retained earnings)</a:t>
                      </a:r>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25328"/>
                  </a:ext>
                </a:extLst>
              </a:tr>
            </a:tbl>
          </a:graphicData>
        </a:graphic>
      </p:graphicFrame>
      <p:sp>
        <p:nvSpPr>
          <p:cNvPr id="5" name="Slide Number Placeholder 4">
            <a:extLst>
              <a:ext uri="{FF2B5EF4-FFF2-40B4-BE49-F238E27FC236}">
                <a16:creationId xmlns:a16="http://schemas.microsoft.com/office/drawing/2014/main" id="{FA4B42A5-FC1D-C14C-9E56-632826A62A49}"/>
              </a:ext>
            </a:extLst>
          </p:cNvPr>
          <p:cNvSpPr>
            <a:spLocks noGrp="1"/>
          </p:cNvSpPr>
          <p:nvPr>
            <p:ph type="sldNum" sz="quarter" idx="10"/>
          </p:nvPr>
        </p:nvSpPr>
        <p:spPr/>
        <p:txBody>
          <a:bodyPr/>
          <a:lstStyle/>
          <a:p>
            <a:fld id="{307C7597-8D70-4701-8085-9524B0B5C72B}" type="slidenum">
              <a:rPr lang="fr-FR" smtClean="0"/>
              <a:pPr/>
              <a:t>69</a:t>
            </a:fld>
            <a:endParaRPr lang="fr-FR" dirty="0"/>
          </a:p>
        </p:txBody>
      </p:sp>
    </p:spTree>
    <p:extLst>
      <p:ext uri="{BB962C8B-B14F-4D97-AF65-F5344CB8AC3E}">
        <p14:creationId xmlns:p14="http://schemas.microsoft.com/office/powerpoint/2010/main" val="161815980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00F9E9-DDEA-4600-A580-A2D05502EF2B}"/>
              </a:ext>
            </a:extLst>
          </p:cNvPr>
          <p:cNvSpPr>
            <a:spLocks noGrp="1"/>
          </p:cNvSpPr>
          <p:nvPr>
            <p:ph type="title"/>
          </p:nvPr>
        </p:nvSpPr>
        <p:spPr/>
        <p:txBody>
          <a:bodyPr/>
          <a:lstStyle/>
          <a:p>
            <a:r>
              <a:rPr lang="en-US" sz="3092" dirty="0"/>
              <a:t>What is the effect on the balance sheet of the depreciation of a tangible (fixed) asset?</a:t>
            </a:r>
          </a:p>
        </p:txBody>
      </p:sp>
      <p:graphicFrame>
        <p:nvGraphicFramePr>
          <p:cNvPr id="6" name="Table 6">
            <a:extLst>
              <a:ext uri="{FF2B5EF4-FFF2-40B4-BE49-F238E27FC236}">
                <a16:creationId xmlns:a16="http://schemas.microsoft.com/office/drawing/2014/main" id="{1FD6A07A-361C-4125-BBCE-5A6A8BC1B965}"/>
              </a:ext>
            </a:extLst>
          </p:cNvPr>
          <p:cNvGraphicFramePr>
            <a:graphicFrameLocks noGrp="1"/>
          </p:cNvGraphicFramePr>
          <p:nvPr>
            <p:ph idx="1"/>
            <p:extLst>
              <p:ext uri="{D42A27DB-BD31-4B8C-83A1-F6EECF244321}">
                <p14:modId xmlns:p14="http://schemas.microsoft.com/office/powerpoint/2010/main" val="2890029774"/>
              </p:ext>
            </p:extLst>
          </p:nvPr>
        </p:nvGraphicFramePr>
        <p:xfrm>
          <a:off x="681038" y="1825625"/>
          <a:ext cx="10829922" cy="4953781"/>
        </p:xfrm>
        <a:graphic>
          <a:graphicData uri="http://schemas.openxmlformats.org/drawingml/2006/table">
            <a:tbl>
              <a:tblPr firstRow="1" bandRow="1">
                <a:tableStyleId>{5C22544A-7EE6-4342-B048-85BDC9FD1C3A}</a:tableStyleId>
              </a:tblPr>
              <a:tblGrid>
                <a:gridCol w="1804987">
                  <a:extLst>
                    <a:ext uri="{9D8B030D-6E8A-4147-A177-3AD203B41FA5}">
                      <a16:colId xmlns:a16="http://schemas.microsoft.com/office/drawing/2014/main" val="2031488337"/>
                    </a:ext>
                  </a:extLst>
                </a:gridCol>
                <a:gridCol w="1804987">
                  <a:extLst>
                    <a:ext uri="{9D8B030D-6E8A-4147-A177-3AD203B41FA5}">
                      <a16:colId xmlns:a16="http://schemas.microsoft.com/office/drawing/2014/main" val="526378758"/>
                    </a:ext>
                  </a:extLst>
                </a:gridCol>
                <a:gridCol w="1804987">
                  <a:extLst>
                    <a:ext uri="{9D8B030D-6E8A-4147-A177-3AD203B41FA5}">
                      <a16:colId xmlns:a16="http://schemas.microsoft.com/office/drawing/2014/main" val="325362427"/>
                    </a:ext>
                  </a:extLst>
                </a:gridCol>
                <a:gridCol w="1804987">
                  <a:extLst>
                    <a:ext uri="{9D8B030D-6E8A-4147-A177-3AD203B41FA5}">
                      <a16:colId xmlns:a16="http://schemas.microsoft.com/office/drawing/2014/main" val="1990001942"/>
                    </a:ext>
                  </a:extLst>
                </a:gridCol>
                <a:gridCol w="1804987">
                  <a:extLst>
                    <a:ext uri="{9D8B030D-6E8A-4147-A177-3AD203B41FA5}">
                      <a16:colId xmlns:a16="http://schemas.microsoft.com/office/drawing/2014/main" val="3344489120"/>
                    </a:ext>
                  </a:extLst>
                </a:gridCol>
                <a:gridCol w="1804987">
                  <a:extLst>
                    <a:ext uri="{9D8B030D-6E8A-4147-A177-3AD203B41FA5}">
                      <a16:colId xmlns:a16="http://schemas.microsoft.com/office/drawing/2014/main" val="3436964488"/>
                    </a:ext>
                  </a:extLst>
                </a:gridCol>
              </a:tblGrid>
              <a:tr h="406995">
                <a:tc rowSpan="2">
                  <a:txBody>
                    <a:bodyPr/>
                    <a:lstStyle/>
                    <a:p>
                      <a:pPr algn="ctr"/>
                      <a:r>
                        <a:rPr lang="en-US" sz="2200" dirty="0"/>
                        <a:t>Non-current assets (NCA)</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assets (CA)</a:t>
                      </a:r>
                    </a:p>
                  </a:txBody>
                  <a:tcPr marL="64262" marR="64262" marT="32131" marB="32131" anchor="ctr">
                    <a:lnB w="12700" cap="flat" cmpd="sng" algn="ctr">
                      <a:solidFill>
                        <a:schemeClr val="tx1"/>
                      </a:solidFill>
                      <a:prstDash val="solid"/>
                      <a:round/>
                      <a:headEnd type="none" w="med" len="med"/>
                      <a:tailEnd type="none" w="med" len="med"/>
                    </a:lnB>
                  </a:tcPr>
                </a:tc>
                <a:tc gridSpan="2">
                  <a:txBody>
                    <a:bodyPr/>
                    <a:lstStyle/>
                    <a:p>
                      <a:pPr algn="ctr"/>
                      <a:r>
                        <a:rPr lang="en-US" sz="2200" dirty="0"/>
                        <a:t>Equity</a:t>
                      </a:r>
                    </a:p>
                  </a:txBody>
                  <a:tcPr marL="64262" marR="64262" marT="32131" marB="32131" anchor="ctr"/>
                </a:tc>
                <a:tc hMerge="1">
                  <a:txBody>
                    <a:bodyPr/>
                    <a:lstStyle/>
                    <a:p>
                      <a:endParaRPr lang="en-US" dirty="0"/>
                    </a:p>
                  </a:txBody>
                  <a:tcPr/>
                </a:tc>
                <a:tc rowSpan="2">
                  <a:txBody>
                    <a:bodyPr/>
                    <a:lstStyle/>
                    <a:p>
                      <a:pPr algn="ctr"/>
                      <a:r>
                        <a:rPr lang="en-US" sz="2200" dirty="0"/>
                        <a:t>Non-current liabilities (NCL)</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liabilities (CL)</a:t>
                      </a:r>
                    </a:p>
                  </a:txBody>
                  <a:tcPr marL="64262" marR="64262" marT="32131" marB="32131"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8874"/>
                  </a:ext>
                </a:extLst>
              </a:tr>
              <a:tr h="1435193">
                <a:tc vMerge="1">
                  <a:txBody>
                    <a:bodyPr/>
                    <a:lstStyle/>
                    <a:p>
                      <a:endParaRPr lang="en-US" sz="3200" dirty="0"/>
                    </a:p>
                  </a:txBody>
                  <a:tcPr/>
                </a:tc>
                <a:tc vMerge="1">
                  <a:txBody>
                    <a:bodyPr/>
                    <a:lstStyle/>
                    <a:p>
                      <a:endParaRPr lang="en-US" sz="3200" dirty="0"/>
                    </a:p>
                  </a:txBody>
                  <a:tcPr/>
                </a:tc>
                <a:tc>
                  <a:txBody>
                    <a:bodyPr/>
                    <a:lstStyle/>
                    <a:p>
                      <a:pPr algn="ctr"/>
                      <a:r>
                        <a:rPr lang="en-US" sz="2200" dirty="0"/>
                        <a:t>Share capital and additional paid-in capital</a:t>
                      </a:r>
                    </a:p>
                  </a:txBody>
                  <a:tcPr marL="64262" marR="64262" marT="32131" marB="32131" anchor="ctr">
                    <a:lnB w="12700" cap="flat" cmpd="sng" algn="ctr">
                      <a:solidFill>
                        <a:schemeClr val="tx1"/>
                      </a:solidFill>
                      <a:prstDash val="solid"/>
                      <a:round/>
                      <a:headEnd type="none" w="med" len="med"/>
                      <a:tailEnd type="none" w="med" len="med"/>
                    </a:lnB>
                  </a:tcPr>
                </a:tc>
                <a:tc>
                  <a:txBody>
                    <a:bodyPr/>
                    <a:lstStyle/>
                    <a:p>
                      <a:pPr algn="ctr"/>
                      <a:r>
                        <a:rPr lang="en-US" sz="2200" dirty="0"/>
                        <a:t>Retained earnings and other reserves</a:t>
                      </a:r>
                    </a:p>
                  </a:txBody>
                  <a:tcPr marL="64262" marR="64262" marT="32131" marB="32131" anchor="ctr">
                    <a:lnB w="12700" cap="flat" cmpd="sng" algn="ctr">
                      <a:solidFill>
                        <a:schemeClr val="tx1"/>
                      </a:solidFill>
                      <a:prstDash val="solid"/>
                      <a:round/>
                      <a:headEnd type="none" w="med" len="med"/>
                      <a:tailEnd type="none" w="med" len="med"/>
                    </a:lnB>
                  </a:tcPr>
                </a:tc>
                <a:tc vMerge="1">
                  <a:txBody>
                    <a:bodyPr/>
                    <a:lstStyle/>
                    <a:p>
                      <a:endParaRPr lang="en-US" sz="3200" dirty="0"/>
                    </a:p>
                  </a:txBody>
                  <a:tcPr/>
                </a:tc>
                <a:tc vMerge="1">
                  <a:txBody>
                    <a:bodyPr/>
                    <a:lstStyle/>
                    <a:p>
                      <a:endParaRPr lang="en-US" sz="3200" dirty="0"/>
                    </a:p>
                  </a:txBody>
                  <a:tcPr/>
                </a:tc>
                <a:extLst>
                  <a:ext uri="{0D108BD9-81ED-4DB2-BD59-A6C34878D82A}">
                    <a16:rowId xmlns:a16="http://schemas.microsoft.com/office/drawing/2014/main" val="853442960"/>
                  </a:ext>
                </a:extLst>
              </a:tr>
              <a:tr h="2806124">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200" dirty="0"/>
                        <a:t>Property, Plant and Equipment (P,P&amp;E) (or tangible fixed assets) at net value (decrease)</a:t>
                      </a:r>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dirty="0"/>
                        <a:t>Depreciation expense (P&amp;L)</a:t>
                      </a:r>
                    </a:p>
                    <a:p>
                      <a:pPr algn="ctr"/>
                      <a:r>
                        <a:rPr lang="en-US" sz="2200" dirty="0"/>
                        <a:t>(decrease in retained earnings)</a:t>
                      </a:r>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25328"/>
                  </a:ext>
                </a:extLst>
              </a:tr>
            </a:tbl>
          </a:graphicData>
        </a:graphic>
      </p:graphicFrame>
      <p:sp>
        <p:nvSpPr>
          <p:cNvPr id="5" name="Slide Number Placeholder 4">
            <a:extLst>
              <a:ext uri="{FF2B5EF4-FFF2-40B4-BE49-F238E27FC236}">
                <a16:creationId xmlns:a16="http://schemas.microsoft.com/office/drawing/2014/main" id="{F394A257-6480-44D9-BDFA-3790757012DC}"/>
              </a:ext>
            </a:extLst>
          </p:cNvPr>
          <p:cNvSpPr>
            <a:spLocks noGrp="1"/>
          </p:cNvSpPr>
          <p:nvPr>
            <p:ph type="sldNum" sz="quarter" idx="10"/>
          </p:nvPr>
        </p:nvSpPr>
        <p:spPr/>
        <p:txBody>
          <a:bodyPr/>
          <a:lstStyle/>
          <a:p>
            <a:fld id="{307C7597-8D70-4701-8085-9524B0B5C72B}" type="slidenum">
              <a:rPr lang="fr-FR" smtClean="0"/>
              <a:pPr/>
              <a:t>70</a:t>
            </a:fld>
            <a:endParaRPr lang="fr-FR" dirty="0"/>
          </a:p>
        </p:txBody>
      </p:sp>
      <p:sp>
        <p:nvSpPr>
          <p:cNvPr id="7" name="TextBox 6">
            <a:extLst>
              <a:ext uri="{FF2B5EF4-FFF2-40B4-BE49-F238E27FC236}">
                <a16:creationId xmlns:a16="http://schemas.microsoft.com/office/drawing/2014/main" id="{BA5C6F51-E450-439B-92F9-4BC9650371DF}"/>
              </a:ext>
            </a:extLst>
          </p:cNvPr>
          <p:cNvSpPr txBox="1"/>
          <p:nvPr/>
        </p:nvSpPr>
        <p:spPr>
          <a:xfrm>
            <a:off x="209745" y="5731735"/>
            <a:ext cx="11772510" cy="1130694"/>
          </a:xfrm>
          <a:prstGeom prst="rect">
            <a:avLst/>
          </a:prstGeom>
          <a:solidFill>
            <a:schemeClr val="bg1">
              <a:lumMod val="90000"/>
            </a:schemeClr>
          </a:solidFill>
        </p:spPr>
        <p:txBody>
          <a:bodyPr wrap="square" rtlCol="0">
            <a:spAutoFit/>
          </a:bodyPr>
          <a:lstStyle/>
          <a:p>
            <a:r>
              <a:rPr lang="en-US" sz="2249" dirty="0"/>
              <a:t>Tangible (fixed) assets (or P,P&amp;E) at net value </a:t>
            </a:r>
          </a:p>
          <a:p>
            <a:r>
              <a:rPr lang="en-US" sz="2249" dirty="0"/>
              <a:t>= Tangible (fixed) assets at gross value (i.e. at cost) – Accumulated depreciation and accumulated impairment losses (asset contra accounts)</a:t>
            </a:r>
          </a:p>
        </p:txBody>
      </p:sp>
    </p:spTree>
    <p:extLst>
      <p:ext uri="{BB962C8B-B14F-4D97-AF65-F5344CB8AC3E}">
        <p14:creationId xmlns:p14="http://schemas.microsoft.com/office/powerpoint/2010/main" val="78362318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00F9E9-DDEA-4600-A580-A2D05502EF2B}"/>
              </a:ext>
            </a:extLst>
          </p:cNvPr>
          <p:cNvSpPr>
            <a:spLocks noGrp="1"/>
          </p:cNvSpPr>
          <p:nvPr>
            <p:ph type="title"/>
          </p:nvPr>
        </p:nvSpPr>
        <p:spPr/>
        <p:txBody>
          <a:bodyPr/>
          <a:lstStyle/>
          <a:p>
            <a:r>
              <a:rPr lang="en-US" sz="3092" dirty="0"/>
              <a:t>What is the effect on the balance sheet of the recording of interest expense not already paid for a debt?</a:t>
            </a:r>
          </a:p>
        </p:txBody>
      </p:sp>
      <p:graphicFrame>
        <p:nvGraphicFramePr>
          <p:cNvPr id="6" name="Table 6">
            <a:extLst>
              <a:ext uri="{FF2B5EF4-FFF2-40B4-BE49-F238E27FC236}">
                <a16:creationId xmlns:a16="http://schemas.microsoft.com/office/drawing/2014/main" id="{1FD6A07A-361C-4125-BBCE-5A6A8BC1B965}"/>
              </a:ext>
            </a:extLst>
          </p:cNvPr>
          <p:cNvGraphicFramePr>
            <a:graphicFrameLocks noGrp="1"/>
          </p:cNvGraphicFramePr>
          <p:nvPr>
            <p:ph idx="1"/>
            <p:extLst>
              <p:ext uri="{D42A27DB-BD31-4B8C-83A1-F6EECF244321}">
                <p14:modId xmlns:p14="http://schemas.microsoft.com/office/powerpoint/2010/main" val="2509408950"/>
              </p:ext>
            </p:extLst>
          </p:nvPr>
        </p:nvGraphicFramePr>
        <p:xfrm>
          <a:off x="681038" y="1825625"/>
          <a:ext cx="10829922" cy="2897385"/>
        </p:xfrm>
        <a:graphic>
          <a:graphicData uri="http://schemas.openxmlformats.org/drawingml/2006/table">
            <a:tbl>
              <a:tblPr firstRow="1" bandRow="1">
                <a:tableStyleId>{5C22544A-7EE6-4342-B048-85BDC9FD1C3A}</a:tableStyleId>
              </a:tblPr>
              <a:tblGrid>
                <a:gridCol w="1804987">
                  <a:extLst>
                    <a:ext uri="{9D8B030D-6E8A-4147-A177-3AD203B41FA5}">
                      <a16:colId xmlns:a16="http://schemas.microsoft.com/office/drawing/2014/main" val="2031488337"/>
                    </a:ext>
                  </a:extLst>
                </a:gridCol>
                <a:gridCol w="1804987">
                  <a:extLst>
                    <a:ext uri="{9D8B030D-6E8A-4147-A177-3AD203B41FA5}">
                      <a16:colId xmlns:a16="http://schemas.microsoft.com/office/drawing/2014/main" val="526378758"/>
                    </a:ext>
                  </a:extLst>
                </a:gridCol>
                <a:gridCol w="1804987">
                  <a:extLst>
                    <a:ext uri="{9D8B030D-6E8A-4147-A177-3AD203B41FA5}">
                      <a16:colId xmlns:a16="http://schemas.microsoft.com/office/drawing/2014/main" val="325362427"/>
                    </a:ext>
                  </a:extLst>
                </a:gridCol>
                <a:gridCol w="1804987">
                  <a:extLst>
                    <a:ext uri="{9D8B030D-6E8A-4147-A177-3AD203B41FA5}">
                      <a16:colId xmlns:a16="http://schemas.microsoft.com/office/drawing/2014/main" val="1990001942"/>
                    </a:ext>
                  </a:extLst>
                </a:gridCol>
                <a:gridCol w="1804987">
                  <a:extLst>
                    <a:ext uri="{9D8B030D-6E8A-4147-A177-3AD203B41FA5}">
                      <a16:colId xmlns:a16="http://schemas.microsoft.com/office/drawing/2014/main" val="3344489120"/>
                    </a:ext>
                  </a:extLst>
                </a:gridCol>
                <a:gridCol w="1804987">
                  <a:extLst>
                    <a:ext uri="{9D8B030D-6E8A-4147-A177-3AD203B41FA5}">
                      <a16:colId xmlns:a16="http://schemas.microsoft.com/office/drawing/2014/main" val="3436964488"/>
                    </a:ext>
                  </a:extLst>
                </a:gridCol>
              </a:tblGrid>
              <a:tr h="406995">
                <a:tc rowSpan="2">
                  <a:txBody>
                    <a:bodyPr/>
                    <a:lstStyle/>
                    <a:p>
                      <a:pPr algn="ctr"/>
                      <a:r>
                        <a:rPr lang="en-US" sz="2200" dirty="0"/>
                        <a:t>Non-current assets (NCA)</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assets (CA)</a:t>
                      </a:r>
                    </a:p>
                  </a:txBody>
                  <a:tcPr marL="64262" marR="64262" marT="32131" marB="32131" anchor="ctr">
                    <a:lnB w="12700" cap="flat" cmpd="sng" algn="ctr">
                      <a:solidFill>
                        <a:schemeClr val="tx1"/>
                      </a:solidFill>
                      <a:prstDash val="solid"/>
                      <a:round/>
                      <a:headEnd type="none" w="med" len="med"/>
                      <a:tailEnd type="none" w="med" len="med"/>
                    </a:lnB>
                  </a:tcPr>
                </a:tc>
                <a:tc gridSpan="2">
                  <a:txBody>
                    <a:bodyPr/>
                    <a:lstStyle/>
                    <a:p>
                      <a:pPr algn="ctr"/>
                      <a:r>
                        <a:rPr lang="en-US" sz="2200" dirty="0"/>
                        <a:t>Equity</a:t>
                      </a:r>
                    </a:p>
                  </a:txBody>
                  <a:tcPr marL="64262" marR="64262" marT="32131" marB="32131" anchor="ctr"/>
                </a:tc>
                <a:tc hMerge="1">
                  <a:txBody>
                    <a:bodyPr/>
                    <a:lstStyle/>
                    <a:p>
                      <a:endParaRPr lang="en-US" dirty="0"/>
                    </a:p>
                  </a:txBody>
                  <a:tcPr/>
                </a:tc>
                <a:tc rowSpan="2">
                  <a:txBody>
                    <a:bodyPr/>
                    <a:lstStyle/>
                    <a:p>
                      <a:pPr algn="ctr"/>
                      <a:r>
                        <a:rPr lang="en-US" sz="2200" dirty="0"/>
                        <a:t>Non-current liabilities (NCL)</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liabilities (CL)</a:t>
                      </a:r>
                    </a:p>
                  </a:txBody>
                  <a:tcPr marL="64262" marR="64262" marT="32131" marB="32131"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8874"/>
                  </a:ext>
                </a:extLst>
              </a:tr>
              <a:tr h="1435193">
                <a:tc vMerge="1">
                  <a:txBody>
                    <a:bodyPr/>
                    <a:lstStyle/>
                    <a:p>
                      <a:endParaRPr lang="en-US" sz="3200" dirty="0"/>
                    </a:p>
                  </a:txBody>
                  <a:tcPr/>
                </a:tc>
                <a:tc vMerge="1">
                  <a:txBody>
                    <a:bodyPr/>
                    <a:lstStyle/>
                    <a:p>
                      <a:endParaRPr lang="en-US" sz="3200" dirty="0"/>
                    </a:p>
                  </a:txBody>
                  <a:tcPr/>
                </a:tc>
                <a:tc>
                  <a:txBody>
                    <a:bodyPr/>
                    <a:lstStyle/>
                    <a:p>
                      <a:pPr algn="ctr"/>
                      <a:r>
                        <a:rPr lang="en-US" sz="2200" dirty="0"/>
                        <a:t>Share capital and additional paid-in capital</a:t>
                      </a:r>
                    </a:p>
                  </a:txBody>
                  <a:tcPr marL="64262" marR="64262" marT="32131" marB="32131" anchor="ctr">
                    <a:lnB w="12700" cap="flat" cmpd="sng" algn="ctr">
                      <a:solidFill>
                        <a:schemeClr val="tx1"/>
                      </a:solidFill>
                      <a:prstDash val="solid"/>
                      <a:round/>
                      <a:headEnd type="none" w="med" len="med"/>
                      <a:tailEnd type="none" w="med" len="med"/>
                    </a:lnB>
                  </a:tcPr>
                </a:tc>
                <a:tc>
                  <a:txBody>
                    <a:bodyPr/>
                    <a:lstStyle/>
                    <a:p>
                      <a:pPr algn="ctr"/>
                      <a:r>
                        <a:rPr lang="en-US" sz="2200" dirty="0"/>
                        <a:t>Retained earnings and other reserves</a:t>
                      </a:r>
                    </a:p>
                  </a:txBody>
                  <a:tcPr marL="64262" marR="64262" marT="32131" marB="32131" anchor="ctr">
                    <a:lnB w="12700" cap="flat" cmpd="sng" algn="ctr">
                      <a:solidFill>
                        <a:schemeClr val="tx1"/>
                      </a:solidFill>
                      <a:prstDash val="solid"/>
                      <a:round/>
                      <a:headEnd type="none" w="med" len="med"/>
                      <a:tailEnd type="none" w="med" len="med"/>
                    </a:lnB>
                  </a:tcPr>
                </a:tc>
                <a:tc vMerge="1">
                  <a:txBody>
                    <a:bodyPr/>
                    <a:lstStyle/>
                    <a:p>
                      <a:endParaRPr lang="en-US" sz="3200" dirty="0"/>
                    </a:p>
                  </a:txBody>
                  <a:tcPr/>
                </a:tc>
                <a:tc vMerge="1">
                  <a:txBody>
                    <a:bodyPr/>
                    <a:lstStyle/>
                    <a:p>
                      <a:endParaRPr lang="en-US" sz="3200" dirty="0"/>
                    </a:p>
                  </a:txBody>
                  <a:tcPr/>
                </a:tc>
                <a:extLst>
                  <a:ext uri="{0D108BD9-81ED-4DB2-BD59-A6C34878D82A}">
                    <a16:rowId xmlns:a16="http://schemas.microsoft.com/office/drawing/2014/main" val="853442960"/>
                  </a:ext>
                </a:extLst>
              </a:tr>
              <a:tr h="749728">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25328"/>
                  </a:ext>
                </a:extLst>
              </a:tr>
            </a:tbl>
          </a:graphicData>
        </a:graphic>
      </p:graphicFrame>
      <p:sp>
        <p:nvSpPr>
          <p:cNvPr id="5" name="Slide Number Placeholder 4">
            <a:extLst>
              <a:ext uri="{FF2B5EF4-FFF2-40B4-BE49-F238E27FC236}">
                <a16:creationId xmlns:a16="http://schemas.microsoft.com/office/drawing/2014/main" id="{F394A257-6480-44D9-BDFA-3790757012DC}"/>
              </a:ext>
            </a:extLst>
          </p:cNvPr>
          <p:cNvSpPr>
            <a:spLocks noGrp="1"/>
          </p:cNvSpPr>
          <p:nvPr>
            <p:ph type="sldNum" sz="quarter" idx="10"/>
          </p:nvPr>
        </p:nvSpPr>
        <p:spPr/>
        <p:txBody>
          <a:bodyPr/>
          <a:lstStyle/>
          <a:p>
            <a:fld id="{307C7597-8D70-4701-8085-9524B0B5C72B}" type="slidenum">
              <a:rPr lang="fr-FR" smtClean="0"/>
              <a:pPr/>
              <a:t>71</a:t>
            </a:fld>
            <a:endParaRPr lang="fr-FR" dirty="0"/>
          </a:p>
        </p:txBody>
      </p:sp>
    </p:spTree>
    <p:extLst>
      <p:ext uri="{BB962C8B-B14F-4D97-AF65-F5344CB8AC3E}">
        <p14:creationId xmlns:p14="http://schemas.microsoft.com/office/powerpoint/2010/main" val="402215169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00F9E9-DDEA-4600-A580-A2D05502EF2B}"/>
              </a:ext>
            </a:extLst>
          </p:cNvPr>
          <p:cNvSpPr>
            <a:spLocks noGrp="1"/>
          </p:cNvSpPr>
          <p:nvPr>
            <p:ph type="title"/>
          </p:nvPr>
        </p:nvSpPr>
        <p:spPr/>
        <p:txBody>
          <a:bodyPr/>
          <a:lstStyle/>
          <a:p>
            <a:r>
              <a:rPr lang="en-US" sz="3092" dirty="0"/>
              <a:t>What is the effect on the balance sheet of the recording of interest expense not already paid for a debt?</a:t>
            </a:r>
          </a:p>
        </p:txBody>
      </p:sp>
      <p:graphicFrame>
        <p:nvGraphicFramePr>
          <p:cNvPr id="6" name="Table 6">
            <a:extLst>
              <a:ext uri="{FF2B5EF4-FFF2-40B4-BE49-F238E27FC236}">
                <a16:creationId xmlns:a16="http://schemas.microsoft.com/office/drawing/2014/main" id="{1FD6A07A-361C-4125-BBCE-5A6A8BC1B965}"/>
              </a:ext>
            </a:extLst>
          </p:cNvPr>
          <p:cNvGraphicFramePr>
            <a:graphicFrameLocks noGrp="1"/>
          </p:cNvGraphicFramePr>
          <p:nvPr>
            <p:ph idx="1"/>
            <p:extLst>
              <p:ext uri="{D42A27DB-BD31-4B8C-83A1-F6EECF244321}">
                <p14:modId xmlns:p14="http://schemas.microsoft.com/office/powerpoint/2010/main" val="2511693898"/>
              </p:ext>
            </p:extLst>
          </p:nvPr>
        </p:nvGraphicFramePr>
        <p:xfrm>
          <a:off x="681038" y="1825625"/>
          <a:ext cx="10829922" cy="3925583"/>
        </p:xfrm>
        <a:graphic>
          <a:graphicData uri="http://schemas.openxmlformats.org/drawingml/2006/table">
            <a:tbl>
              <a:tblPr firstRow="1" bandRow="1">
                <a:tableStyleId>{5C22544A-7EE6-4342-B048-85BDC9FD1C3A}</a:tableStyleId>
              </a:tblPr>
              <a:tblGrid>
                <a:gridCol w="1804987">
                  <a:extLst>
                    <a:ext uri="{9D8B030D-6E8A-4147-A177-3AD203B41FA5}">
                      <a16:colId xmlns:a16="http://schemas.microsoft.com/office/drawing/2014/main" val="2031488337"/>
                    </a:ext>
                  </a:extLst>
                </a:gridCol>
                <a:gridCol w="1804987">
                  <a:extLst>
                    <a:ext uri="{9D8B030D-6E8A-4147-A177-3AD203B41FA5}">
                      <a16:colId xmlns:a16="http://schemas.microsoft.com/office/drawing/2014/main" val="526378758"/>
                    </a:ext>
                  </a:extLst>
                </a:gridCol>
                <a:gridCol w="1804987">
                  <a:extLst>
                    <a:ext uri="{9D8B030D-6E8A-4147-A177-3AD203B41FA5}">
                      <a16:colId xmlns:a16="http://schemas.microsoft.com/office/drawing/2014/main" val="325362427"/>
                    </a:ext>
                  </a:extLst>
                </a:gridCol>
                <a:gridCol w="1804987">
                  <a:extLst>
                    <a:ext uri="{9D8B030D-6E8A-4147-A177-3AD203B41FA5}">
                      <a16:colId xmlns:a16="http://schemas.microsoft.com/office/drawing/2014/main" val="1990001942"/>
                    </a:ext>
                  </a:extLst>
                </a:gridCol>
                <a:gridCol w="1804987">
                  <a:extLst>
                    <a:ext uri="{9D8B030D-6E8A-4147-A177-3AD203B41FA5}">
                      <a16:colId xmlns:a16="http://schemas.microsoft.com/office/drawing/2014/main" val="3344489120"/>
                    </a:ext>
                  </a:extLst>
                </a:gridCol>
                <a:gridCol w="1804987">
                  <a:extLst>
                    <a:ext uri="{9D8B030D-6E8A-4147-A177-3AD203B41FA5}">
                      <a16:colId xmlns:a16="http://schemas.microsoft.com/office/drawing/2014/main" val="3436964488"/>
                    </a:ext>
                  </a:extLst>
                </a:gridCol>
              </a:tblGrid>
              <a:tr h="406995">
                <a:tc rowSpan="2">
                  <a:txBody>
                    <a:bodyPr/>
                    <a:lstStyle/>
                    <a:p>
                      <a:pPr algn="ctr"/>
                      <a:r>
                        <a:rPr lang="en-US" sz="2200" dirty="0"/>
                        <a:t>Non-current assets (NCA)</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assets (CA)</a:t>
                      </a:r>
                    </a:p>
                  </a:txBody>
                  <a:tcPr marL="64262" marR="64262" marT="32131" marB="32131" anchor="ctr">
                    <a:lnB w="12700" cap="flat" cmpd="sng" algn="ctr">
                      <a:solidFill>
                        <a:schemeClr val="tx1"/>
                      </a:solidFill>
                      <a:prstDash val="solid"/>
                      <a:round/>
                      <a:headEnd type="none" w="med" len="med"/>
                      <a:tailEnd type="none" w="med" len="med"/>
                    </a:lnB>
                  </a:tcPr>
                </a:tc>
                <a:tc gridSpan="2">
                  <a:txBody>
                    <a:bodyPr/>
                    <a:lstStyle/>
                    <a:p>
                      <a:pPr algn="ctr"/>
                      <a:r>
                        <a:rPr lang="en-US" sz="2200" dirty="0"/>
                        <a:t>Equity</a:t>
                      </a:r>
                    </a:p>
                  </a:txBody>
                  <a:tcPr marL="64262" marR="64262" marT="32131" marB="32131" anchor="ctr"/>
                </a:tc>
                <a:tc hMerge="1">
                  <a:txBody>
                    <a:bodyPr/>
                    <a:lstStyle/>
                    <a:p>
                      <a:endParaRPr lang="en-US" dirty="0"/>
                    </a:p>
                  </a:txBody>
                  <a:tcPr/>
                </a:tc>
                <a:tc rowSpan="2">
                  <a:txBody>
                    <a:bodyPr/>
                    <a:lstStyle/>
                    <a:p>
                      <a:pPr algn="ctr"/>
                      <a:r>
                        <a:rPr lang="en-US" sz="2200" dirty="0"/>
                        <a:t>Non-current liabilities (NCL)</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liabilities (CL)</a:t>
                      </a:r>
                    </a:p>
                  </a:txBody>
                  <a:tcPr marL="64262" marR="64262" marT="32131" marB="32131"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8874"/>
                  </a:ext>
                </a:extLst>
              </a:tr>
              <a:tr h="1435193">
                <a:tc vMerge="1">
                  <a:txBody>
                    <a:bodyPr/>
                    <a:lstStyle/>
                    <a:p>
                      <a:endParaRPr lang="en-US" sz="3200" dirty="0"/>
                    </a:p>
                  </a:txBody>
                  <a:tcPr/>
                </a:tc>
                <a:tc vMerge="1">
                  <a:txBody>
                    <a:bodyPr/>
                    <a:lstStyle/>
                    <a:p>
                      <a:endParaRPr lang="en-US" sz="3200" dirty="0"/>
                    </a:p>
                  </a:txBody>
                  <a:tcPr/>
                </a:tc>
                <a:tc>
                  <a:txBody>
                    <a:bodyPr/>
                    <a:lstStyle/>
                    <a:p>
                      <a:pPr algn="ctr"/>
                      <a:r>
                        <a:rPr lang="en-US" sz="2200" dirty="0"/>
                        <a:t>Share capital and additional paid-in capital</a:t>
                      </a:r>
                    </a:p>
                  </a:txBody>
                  <a:tcPr marL="64262" marR="64262" marT="32131" marB="32131" anchor="ctr">
                    <a:lnB w="12700" cap="flat" cmpd="sng" algn="ctr">
                      <a:solidFill>
                        <a:schemeClr val="tx1"/>
                      </a:solidFill>
                      <a:prstDash val="solid"/>
                      <a:round/>
                      <a:headEnd type="none" w="med" len="med"/>
                      <a:tailEnd type="none" w="med" len="med"/>
                    </a:lnB>
                  </a:tcPr>
                </a:tc>
                <a:tc>
                  <a:txBody>
                    <a:bodyPr/>
                    <a:lstStyle/>
                    <a:p>
                      <a:pPr algn="ctr"/>
                      <a:r>
                        <a:rPr lang="en-US" sz="2200" dirty="0"/>
                        <a:t>Retained earnings and other reserves</a:t>
                      </a:r>
                    </a:p>
                  </a:txBody>
                  <a:tcPr marL="64262" marR="64262" marT="32131" marB="32131" anchor="ctr">
                    <a:lnB w="12700" cap="flat" cmpd="sng" algn="ctr">
                      <a:solidFill>
                        <a:schemeClr val="tx1"/>
                      </a:solidFill>
                      <a:prstDash val="solid"/>
                      <a:round/>
                      <a:headEnd type="none" w="med" len="med"/>
                      <a:tailEnd type="none" w="med" len="med"/>
                    </a:lnB>
                  </a:tcPr>
                </a:tc>
                <a:tc vMerge="1">
                  <a:txBody>
                    <a:bodyPr/>
                    <a:lstStyle/>
                    <a:p>
                      <a:endParaRPr lang="en-US" sz="3200" dirty="0"/>
                    </a:p>
                  </a:txBody>
                  <a:tcPr/>
                </a:tc>
                <a:tc vMerge="1">
                  <a:txBody>
                    <a:bodyPr/>
                    <a:lstStyle/>
                    <a:p>
                      <a:endParaRPr lang="en-US" sz="3200" dirty="0"/>
                    </a:p>
                  </a:txBody>
                  <a:tcPr/>
                </a:tc>
                <a:extLst>
                  <a:ext uri="{0D108BD9-81ED-4DB2-BD59-A6C34878D82A}">
                    <a16:rowId xmlns:a16="http://schemas.microsoft.com/office/drawing/2014/main" val="853442960"/>
                  </a:ext>
                </a:extLst>
              </a:tr>
              <a:tr h="1777926">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dirty="0"/>
                        <a:t>Interest expense (decrease in retained earnings)</a:t>
                      </a:r>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dirty="0"/>
                        <a:t>Accrued interest payable (increase)</a:t>
                      </a:r>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25328"/>
                  </a:ext>
                </a:extLst>
              </a:tr>
            </a:tbl>
          </a:graphicData>
        </a:graphic>
      </p:graphicFrame>
      <p:sp>
        <p:nvSpPr>
          <p:cNvPr id="5" name="Slide Number Placeholder 4">
            <a:extLst>
              <a:ext uri="{FF2B5EF4-FFF2-40B4-BE49-F238E27FC236}">
                <a16:creationId xmlns:a16="http://schemas.microsoft.com/office/drawing/2014/main" id="{F394A257-6480-44D9-BDFA-3790757012DC}"/>
              </a:ext>
            </a:extLst>
          </p:cNvPr>
          <p:cNvSpPr>
            <a:spLocks noGrp="1"/>
          </p:cNvSpPr>
          <p:nvPr>
            <p:ph type="sldNum" sz="quarter" idx="10"/>
          </p:nvPr>
        </p:nvSpPr>
        <p:spPr/>
        <p:txBody>
          <a:bodyPr/>
          <a:lstStyle/>
          <a:p>
            <a:fld id="{307C7597-8D70-4701-8085-9524B0B5C72B}" type="slidenum">
              <a:rPr lang="fr-FR" smtClean="0"/>
              <a:pPr/>
              <a:t>72</a:t>
            </a:fld>
            <a:endParaRPr lang="fr-FR" dirty="0"/>
          </a:p>
        </p:txBody>
      </p:sp>
    </p:spTree>
    <p:extLst>
      <p:ext uri="{BB962C8B-B14F-4D97-AF65-F5344CB8AC3E}">
        <p14:creationId xmlns:p14="http://schemas.microsoft.com/office/powerpoint/2010/main" val="196475435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00F9E9-DDEA-4600-A580-A2D05502EF2B}"/>
              </a:ext>
            </a:extLst>
          </p:cNvPr>
          <p:cNvSpPr>
            <a:spLocks noGrp="1"/>
          </p:cNvSpPr>
          <p:nvPr>
            <p:ph type="title"/>
          </p:nvPr>
        </p:nvSpPr>
        <p:spPr/>
        <p:txBody>
          <a:bodyPr/>
          <a:lstStyle/>
          <a:p>
            <a:r>
              <a:rPr lang="en-US" sz="3092" dirty="0"/>
              <a:t>What is the effect on the balance sheet of the payment of interest already due but not paid?</a:t>
            </a:r>
          </a:p>
        </p:txBody>
      </p:sp>
      <p:graphicFrame>
        <p:nvGraphicFramePr>
          <p:cNvPr id="6" name="Table 6">
            <a:extLst>
              <a:ext uri="{FF2B5EF4-FFF2-40B4-BE49-F238E27FC236}">
                <a16:creationId xmlns:a16="http://schemas.microsoft.com/office/drawing/2014/main" id="{1FD6A07A-361C-4125-BBCE-5A6A8BC1B965}"/>
              </a:ext>
            </a:extLst>
          </p:cNvPr>
          <p:cNvGraphicFramePr>
            <a:graphicFrameLocks noGrp="1"/>
          </p:cNvGraphicFramePr>
          <p:nvPr>
            <p:ph idx="1"/>
            <p:extLst>
              <p:ext uri="{D42A27DB-BD31-4B8C-83A1-F6EECF244321}">
                <p14:modId xmlns:p14="http://schemas.microsoft.com/office/powerpoint/2010/main" val="2619883323"/>
              </p:ext>
            </p:extLst>
          </p:nvPr>
        </p:nvGraphicFramePr>
        <p:xfrm>
          <a:off x="681038" y="1825625"/>
          <a:ext cx="10829922" cy="2897385"/>
        </p:xfrm>
        <a:graphic>
          <a:graphicData uri="http://schemas.openxmlformats.org/drawingml/2006/table">
            <a:tbl>
              <a:tblPr firstRow="1" bandRow="1">
                <a:tableStyleId>{5C22544A-7EE6-4342-B048-85BDC9FD1C3A}</a:tableStyleId>
              </a:tblPr>
              <a:tblGrid>
                <a:gridCol w="1804987">
                  <a:extLst>
                    <a:ext uri="{9D8B030D-6E8A-4147-A177-3AD203B41FA5}">
                      <a16:colId xmlns:a16="http://schemas.microsoft.com/office/drawing/2014/main" val="2031488337"/>
                    </a:ext>
                  </a:extLst>
                </a:gridCol>
                <a:gridCol w="1804987">
                  <a:extLst>
                    <a:ext uri="{9D8B030D-6E8A-4147-A177-3AD203B41FA5}">
                      <a16:colId xmlns:a16="http://schemas.microsoft.com/office/drawing/2014/main" val="526378758"/>
                    </a:ext>
                  </a:extLst>
                </a:gridCol>
                <a:gridCol w="1804987">
                  <a:extLst>
                    <a:ext uri="{9D8B030D-6E8A-4147-A177-3AD203B41FA5}">
                      <a16:colId xmlns:a16="http://schemas.microsoft.com/office/drawing/2014/main" val="325362427"/>
                    </a:ext>
                  </a:extLst>
                </a:gridCol>
                <a:gridCol w="1804987">
                  <a:extLst>
                    <a:ext uri="{9D8B030D-6E8A-4147-A177-3AD203B41FA5}">
                      <a16:colId xmlns:a16="http://schemas.microsoft.com/office/drawing/2014/main" val="1990001942"/>
                    </a:ext>
                  </a:extLst>
                </a:gridCol>
                <a:gridCol w="1804987">
                  <a:extLst>
                    <a:ext uri="{9D8B030D-6E8A-4147-A177-3AD203B41FA5}">
                      <a16:colId xmlns:a16="http://schemas.microsoft.com/office/drawing/2014/main" val="3344489120"/>
                    </a:ext>
                  </a:extLst>
                </a:gridCol>
                <a:gridCol w="1804987">
                  <a:extLst>
                    <a:ext uri="{9D8B030D-6E8A-4147-A177-3AD203B41FA5}">
                      <a16:colId xmlns:a16="http://schemas.microsoft.com/office/drawing/2014/main" val="3436964488"/>
                    </a:ext>
                  </a:extLst>
                </a:gridCol>
              </a:tblGrid>
              <a:tr h="406995">
                <a:tc rowSpan="2">
                  <a:txBody>
                    <a:bodyPr/>
                    <a:lstStyle/>
                    <a:p>
                      <a:pPr algn="ctr"/>
                      <a:r>
                        <a:rPr lang="en-US" sz="2200" dirty="0"/>
                        <a:t>Non-current assets (NCA)</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assets (CA)</a:t>
                      </a:r>
                    </a:p>
                  </a:txBody>
                  <a:tcPr marL="64262" marR="64262" marT="32131" marB="32131" anchor="ctr">
                    <a:lnB w="12700" cap="flat" cmpd="sng" algn="ctr">
                      <a:solidFill>
                        <a:schemeClr val="tx1"/>
                      </a:solidFill>
                      <a:prstDash val="solid"/>
                      <a:round/>
                      <a:headEnd type="none" w="med" len="med"/>
                      <a:tailEnd type="none" w="med" len="med"/>
                    </a:lnB>
                  </a:tcPr>
                </a:tc>
                <a:tc gridSpan="2">
                  <a:txBody>
                    <a:bodyPr/>
                    <a:lstStyle/>
                    <a:p>
                      <a:pPr algn="ctr"/>
                      <a:r>
                        <a:rPr lang="en-US" sz="2200" dirty="0"/>
                        <a:t>Equity</a:t>
                      </a:r>
                    </a:p>
                  </a:txBody>
                  <a:tcPr marL="64262" marR="64262" marT="32131" marB="32131" anchor="ctr"/>
                </a:tc>
                <a:tc hMerge="1">
                  <a:txBody>
                    <a:bodyPr/>
                    <a:lstStyle/>
                    <a:p>
                      <a:endParaRPr lang="en-US" dirty="0"/>
                    </a:p>
                  </a:txBody>
                  <a:tcPr/>
                </a:tc>
                <a:tc rowSpan="2">
                  <a:txBody>
                    <a:bodyPr/>
                    <a:lstStyle/>
                    <a:p>
                      <a:pPr algn="ctr"/>
                      <a:r>
                        <a:rPr lang="en-US" sz="2200" dirty="0"/>
                        <a:t>Non-current liabilities (NCL)</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liabilities (CL)</a:t>
                      </a:r>
                    </a:p>
                  </a:txBody>
                  <a:tcPr marL="64262" marR="64262" marT="32131" marB="32131"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8874"/>
                  </a:ext>
                </a:extLst>
              </a:tr>
              <a:tr h="1435193">
                <a:tc vMerge="1">
                  <a:txBody>
                    <a:bodyPr/>
                    <a:lstStyle/>
                    <a:p>
                      <a:endParaRPr lang="en-US" sz="3200" dirty="0"/>
                    </a:p>
                  </a:txBody>
                  <a:tcPr/>
                </a:tc>
                <a:tc vMerge="1">
                  <a:txBody>
                    <a:bodyPr/>
                    <a:lstStyle/>
                    <a:p>
                      <a:endParaRPr lang="en-US" sz="3200" dirty="0"/>
                    </a:p>
                  </a:txBody>
                  <a:tcPr/>
                </a:tc>
                <a:tc>
                  <a:txBody>
                    <a:bodyPr/>
                    <a:lstStyle/>
                    <a:p>
                      <a:pPr algn="ctr"/>
                      <a:r>
                        <a:rPr lang="en-US" sz="2200" dirty="0"/>
                        <a:t>Share capital and additional paid-in capital</a:t>
                      </a:r>
                    </a:p>
                  </a:txBody>
                  <a:tcPr marL="64262" marR="64262" marT="32131" marB="32131" anchor="ctr">
                    <a:lnB w="12700" cap="flat" cmpd="sng" algn="ctr">
                      <a:solidFill>
                        <a:schemeClr val="tx1"/>
                      </a:solidFill>
                      <a:prstDash val="solid"/>
                      <a:round/>
                      <a:headEnd type="none" w="med" len="med"/>
                      <a:tailEnd type="none" w="med" len="med"/>
                    </a:lnB>
                  </a:tcPr>
                </a:tc>
                <a:tc>
                  <a:txBody>
                    <a:bodyPr/>
                    <a:lstStyle/>
                    <a:p>
                      <a:pPr algn="ctr"/>
                      <a:r>
                        <a:rPr lang="en-US" sz="2200" dirty="0"/>
                        <a:t>Retained earnings and other reserves</a:t>
                      </a:r>
                    </a:p>
                  </a:txBody>
                  <a:tcPr marL="64262" marR="64262" marT="32131" marB="32131" anchor="ctr">
                    <a:lnB w="12700" cap="flat" cmpd="sng" algn="ctr">
                      <a:solidFill>
                        <a:schemeClr val="tx1"/>
                      </a:solidFill>
                      <a:prstDash val="solid"/>
                      <a:round/>
                      <a:headEnd type="none" w="med" len="med"/>
                      <a:tailEnd type="none" w="med" len="med"/>
                    </a:lnB>
                  </a:tcPr>
                </a:tc>
                <a:tc vMerge="1">
                  <a:txBody>
                    <a:bodyPr/>
                    <a:lstStyle/>
                    <a:p>
                      <a:endParaRPr lang="en-US" sz="3200" dirty="0"/>
                    </a:p>
                  </a:txBody>
                  <a:tcPr/>
                </a:tc>
                <a:tc vMerge="1">
                  <a:txBody>
                    <a:bodyPr/>
                    <a:lstStyle/>
                    <a:p>
                      <a:endParaRPr lang="en-US" sz="3200" dirty="0"/>
                    </a:p>
                  </a:txBody>
                  <a:tcPr/>
                </a:tc>
                <a:extLst>
                  <a:ext uri="{0D108BD9-81ED-4DB2-BD59-A6C34878D82A}">
                    <a16:rowId xmlns:a16="http://schemas.microsoft.com/office/drawing/2014/main" val="853442960"/>
                  </a:ext>
                </a:extLst>
              </a:tr>
              <a:tr h="749728">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25328"/>
                  </a:ext>
                </a:extLst>
              </a:tr>
            </a:tbl>
          </a:graphicData>
        </a:graphic>
      </p:graphicFrame>
      <p:sp>
        <p:nvSpPr>
          <p:cNvPr id="5" name="Slide Number Placeholder 4">
            <a:extLst>
              <a:ext uri="{FF2B5EF4-FFF2-40B4-BE49-F238E27FC236}">
                <a16:creationId xmlns:a16="http://schemas.microsoft.com/office/drawing/2014/main" id="{F394A257-6480-44D9-BDFA-3790757012DC}"/>
              </a:ext>
            </a:extLst>
          </p:cNvPr>
          <p:cNvSpPr>
            <a:spLocks noGrp="1"/>
          </p:cNvSpPr>
          <p:nvPr>
            <p:ph type="sldNum" sz="quarter" idx="10"/>
          </p:nvPr>
        </p:nvSpPr>
        <p:spPr/>
        <p:txBody>
          <a:bodyPr/>
          <a:lstStyle/>
          <a:p>
            <a:fld id="{307C7597-8D70-4701-8085-9524B0B5C72B}" type="slidenum">
              <a:rPr lang="fr-FR" smtClean="0"/>
              <a:pPr/>
              <a:t>73</a:t>
            </a:fld>
            <a:endParaRPr lang="fr-FR" dirty="0"/>
          </a:p>
        </p:txBody>
      </p:sp>
    </p:spTree>
    <p:extLst>
      <p:ext uri="{BB962C8B-B14F-4D97-AF65-F5344CB8AC3E}">
        <p14:creationId xmlns:p14="http://schemas.microsoft.com/office/powerpoint/2010/main" val="218253540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00F9E9-DDEA-4600-A580-A2D05502EF2B}"/>
              </a:ext>
            </a:extLst>
          </p:cNvPr>
          <p:cNvSpPr>
            <a:spLocks noGrp="1"/>
          </p:cNvSpPr>
          <p:nvPr>
            <p:ph type="title"/>
          </p:nvPr>
        </p:nvSpPr>
        <p:spPr/>
        <p:txBody>
          <a:bodyPr/>
          <a:lstStyle/>
          <a:p>
            <a:r>
              <a:rPr lang="en-US" sz="3092" dirty="0"/>
              <a:t>What is the effect on the balance sheet of the payment of interest already due not paid?</a:t>
            </a:r>
          </a:p>
        </p:txBody>
      </p:sp>
      <p:graphicFrame>
        <p:nvGraphicFramePr>
          <p:cNvPr id="6" name="Table 6">
            <a:extLst>
              <a:ext uri="{FF2B5EF4-FFF2-40B4-BE49-F238E27FC236}">
                <a16:creationId xmlns:a16="http://schemas.microsoft.com/office/drawing/2014/main" id="{1FD6A07A-361C-4125-BBCE-5A6A8BC1B965}"/>
              </a:ext>
            </a:extLst>
          </p:cNvPr>
          <p:cNvGraphicFramePr>
            <a:graphicFrameLocks noGrp="1"/>
          </p:cNvGraphicFramePr>
          <p:nvPr>
            <p:ph idx="1"/>
            <p:extLst>
              <p:ext uri="{D42A27DB-BD31-4B8C-83A1-F6EECF244321}">
                <p14:modId xmlns:p14="http://schemas.microsoft.com/office/powerpoint/2010/main" val="1170297754"/>
              </p:ext>
            </p:extLst>
          </p:nvPr>
        </p:nvGraphicFramePr>
        <p:xfrm>
          <a:off x="681038" y="1825625"/>
          <a:ext cx="10829922" cy="3582850"/>
        </p:xfrm>
        <a:graphic>
          <a:graphicData uri="http://schemas.openxmlformats.org/drawingml/2006/table">
            <a:tbl>
              <a:tblPr firstRow="1" bandRow="1">
                <a:tableStyleId>{5C22544A-7EE6-4342-B048-85BDC9FD1C3A}</a:tableStyleId>
              </a:tblPr>
              <a:tblGrid>
                <a:gridCol w="1804987">
                  <a:extLst>
                    <a:ext uri="{9D8B030D-6E8A-4147-A177-3AD203B41FA5}">
                      <a16:colId xmlns:a16="http://schemas.microsoft.com/office/drawing/2014/main" val="2031488337"/>
                    </a:ext>
                  </a:extLst>
                </a:gridCol>
                <a:gridCol w="1804987">
                  <a:extLst>
                    <a:ext uri="{9D8B030D-6E8A-4147-A177-3AD203B41FA5}">
                      <a16:colId xmlns:a16="http://schemas.microsoft.com/office/drawing/2014/main" val="526378758"/>
                    </a:ext>
                  </a:extLst>
                </a:gridCol>
                <a:gridCol w="1804987">
                  <a:extLst>
                    <a:ext uri="{9D8B030D-6E8A-4147-A177-3AD203B41FA5}">
                      <a16:colId xmlns:a16="http://schemas.microsoft.com/office/drawing/2014/main" val="325362427"/>
                    </a:ext>
                  </a:extLst>
                </a:gridCol>
                <a:gridCol w="1804987">
                  <a:extLst>
                    <a:ext uri="{9D8B030D-6E8A-4147-A177-3AD203B41FA5}">
                      <a16:colId xmlns:a16="http://schemas.microsoft.com/office/drawing/2014/main" val="1990001942"/>
                    </a:ext>
                  </a:extLst>
                </a:gridCol>
                <a:gridCol w="1804987">
                  <a:extLst>
                    <a:ext uri="{9D8B030D-6E8A-4147-A177-3AD203B41FA5}">
                      <a16:colId xmlns:a16="http://schemas.microsoft.com/office/drawing/2014/main" val="3344489120"/>
                    </a:ext>
                  </a:extLst>
                </a:gridCol>
                <a:gridCol w="1804987">
                  <a:extLst>
                    <a:ext uri="{9D8B030D-6E8A-4147-A177-3AD203B41FA5}">
                      <a16:colId xmlns:a16="http://schemas.microsoft.com/office/drawing/2014/main" val="3436964488"/>
                    </a:ext>
                  </a:extLst>
                </a:gridCol>
              </a:tblGrid>
              <a:tr h="406995">
                <a:tc rowSpan="2">
                  <a:txBody>
                    <a:bodyPr/>
                    <a:lstStyle/>
                    <a:p>
                      <a:pPr algn="ctr"/>
                      <a:r>
                        <a:rPr lang="en-US" sz="2200" dirty="0"/>
                        <a:t>Non-current assets (NCA)</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assets (CA)</a:t>
                      </a:r>
                    </a:p>
                  </a:txBody>
                  <a:tcPr marL="64262" marR="64262" marT="32131" marB="32131" anchor="ctr">
                    <a:lnB w="12700" cap="flat" cmpd="sng" algn="ctr">
                      <a:solidFill>
                        <a:schemeClr val="tx1"/>
                      </a:solidFill>
                      <a:prstDash val="solid"/>
                      <a:round/>
                      <a:headEnd type="none" w="med" len="med"/>
                      <a:tailEnd type="none" w="med" len="med"/>
                    </a:lnB>
                  </a:tcPr>
                </a:tc>
                <a:tc gridSpan="2">
                  <a:txBody>
                    <a:bodyPr/>
                    <a:lstStyle/>
                    <a:p>
                      <a:pPr algn="ctr"/>
                      <a:r>
                        <a:rPr lang="en-US" sz="2200" dirty="0"/>
                        <a:t>Equity</a:t>
                      </a:r>
                    </a:p>
                  </a:txBody>
                  <a:tcPr marL="64262" marR="64262" marT="32131" marB="32131" anchor="ctr"/>
                </a:tc>
                <a:tc hMerge="1">
                  <a:txBody>
                    <a:bodyPr/>
                    <a:lstStyle/>
                    <a:p>
                      <a:endParaRPr lang="en-US" dirty="0"/>
                    </a:p>
                  </a:txBody>
                  <a:tcPr/>
                </a:tc>
                <a:tc rowSpan="2">
                  <a:txBody>
                    <a:bodyPr/>
                    <a:lstStyle/>
                    <a:p>
                      <a:pPr algn="ctr"/>
                      <a:r>
                        <a:rPr lang="en-US" sz="2200" dirty="0"/>
                        <a:t>Non-current liabilities (NCL)</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liabilities (CL)</a:t>
                      </a:r>
                    </a:p>
                  </a:txBody>
                  <a:tcPr marL="64262" marR="64262" marT="32131" marB="32131"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8874"/>
                  </a:ext>
                </a:extLst>
              </a:tr>
              <a:tr h="1435193">
                <a:tc vMerge="1">
                  <a:txBody>
                    <a:bodyPr/>
                    <a:lstStyle/>
                    <a:p>
                      <a:endParaRPr lang="en-US" sz="3200" dirty="0"/>
                    </a:p>
                  </a:txBody>
                  <a:tcPr/>
                </a:tc>
                <a:tc vMerge="1">
                  <a:txBody>
                    <a:bodyPr/>
                    <a:lstStyle/>
                    <a:p>
                      <a:endParaRPr lang="en-US" sz="3200" dirty="0"/>
                    </a:p>
                  </a:txBody>
                  <a:tcPr/>
                </a:tc>
                <a:tc>
                  <a:txBody>
                    <a:bodyPr/>
                    <a:lstStyle/>
                    <a:p>
                      <a:pPr algn="ctr"/>
                      <a:r>
                        <a:rPr lang="en-US" sz="2200" dirty="0"/>
                        <a:t>Share capital and additional paid-in capital</a:t>
                      </a:r>
                    </a:p>
                  </a:txBody>
                  <a:tcPr marL="64262" marR="64262" marT="32131" marB="32131" anchor="ctr">
                    <a:lnB w="12700" cap="flat" cmpd="sng" algn="ctr">
                      <a:solidFill>
                        <a:schemeClr val="tx1"/>
                      </a:solidFill>
                      <a:prstDash val="solid"/>
                      <a:round/>
                      <a:headEnd type="none" w="med" len="med"/>
                      <a:tailEnd type="none" w="med" len="med"/>
                    </a:lnB>
                  </a:tcPr>
                </a:tc>
                <a:tc>
                  <a:txBody>
                    <a:bodyPr/>
                    <a:lstStyle/>
                    <a:p>
                      <a:pPr algn="ctr"/>
                      <a:r>
                        <a:rPr lang="en-US" sz="2200" dirty="0"/>
                        <a:t>Retained earnings and other reserves</a:t>
                      </a:r>
                    </a:p>
                  </a:txBody>
                  <a:tcPr marL="64262" marR="64262" marT="32131" marB="32131" anchor="ctr">
                    <a:lnB w="12700" cap="flat" cmpd="sng" algn="ctr">
                      <a:solidFill>
                        <a:schemeClr val="tx1"/>
                      </a:solidFill>
                      <a:prstDash val="solid"/>
                      <a:round/>
                      <a:headEnd type="none" w="med" len="med"/>
                      <a:tailEnd type="none" w="med" len="med"/>
                    </a:lnB>
                  </a:tcPr>
                </a:tc>
                <a:tc vMerge="1">
                  <a:txBody>
                    <a:bodyPr/>
                    <a:lstStyle/>
                    <a:p>
                      <a:endParaRPr lang="en-US" sz="3200" dirty="0"/>
                    </a:p>
                  </a:txBody>
                  <a:tcPr/>
                </a:tc>
                <a:tc vMerge="1">
                  <a:txBody>
                    <a:bodyPr/>
                    <a:lstStyle/>
                    <a:p>
                      <a:endParaRPr lang="en-US" sz="3200" dirty="0"/>
                    </a:p>
                  </a:txBody>
                  <a:tcPr/>
                </a:tc>
                <a:extLst>
                  <a:ext uri="{0D108BD9-81ED-4DB2-BD59-A6C34878D82A}">
                    <a16:rowId xmlns:a16="http://schemas.microsoft.com/office/drawing/2014/main" val="853442960"/>
                  </a:ext>
                </a:extLst>
              </a:tr>
              <a:tr h="1435193">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dirty="0"/>
                        <a:t>Cash (decrease)</a:t>
                      </a:r>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dirty="0"/>
                        <a:t>Accrued interest payable (decrease)</a:t>
                      </a:r>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25328"/>
                  </a:ext>
                </a:extLst>
              </a:tr>
            </a:tbl>
          </a:graphicData>
        </a:graphic>
      </p:graphicFrame>
      <p:sp>
        <p:nvSpPr>
          <p:cNvPr id="5" name="Slide Number Placeholder 4">
            <a:extLst>
              <a:ext uri="{FF2B5EF4-FFF2-40B4-BE49-F238E27FC236}">
                <a16:creationId xmlns:a16="http://schemas.microsoft.com/office/drawing/2014/main" id="{F394A257-6480-44D9-BDFA-3790757012DC}"/>
              </a:ext>
            </a:extLst>
          </p:cNvPr>
          <p:cNvSpPr>
            <a:spLocks noGrp="1"/>
          </p:cNvSpPr>
          <p:nvPr>
            <p:ph type="sldNum" sz="quarter" idx="10"/>
          </p:nvPr>
        </p:nvSpPr>
        <p:spPr/>
        <p:txBody>
          <a:bodyPr/>
          <a:lstStyle/>
          <a:p>
            <a:fld id="{307C7597-8D70-4701-8085-9524B0B5C72B}" type="slidenum">
              <a:rPr lang="fr-FR" smtClean="0"/>
              <a:pPr/>
              <a:t>74</a:t>
            </a:fld>
            <a:endParaRPr lang="fr-FR" dirty="0"/>
          </a:p>
        </p:txBody>
      </p:sp>
    </p:spTree>
    <p:extLst>
      <p:ext uri="{BB962C8B-B14F-4D97-AF65-F5344CB8AC3E}">
        <p14:creationId xmlns:p14="http://schemas.microsoft.com/office/powerpoint/2010/main" val="80770791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00F9E9-DDEA-4600-A580-A2D05502EF2B}"/>
              </a:ext>
            </a:extLst>
          </p:cNvPr>
          <p:cNvSpPr>
            <a:spLocks noGrp="1"/>
          </p:cNvSpPr>
          <p:nvPr>
            <p:ph type="title"/>
          </p:nvPr>
        </p:nvSpPr>
        <p:spPr/>
        <p:txBody>
          <a:bodyPr/>
          <a:lstStyle/>
          <a:p>
            <a:r>
              <a:rPr lang="en-US" sz="3092" dirty="0"/>
              <a:t>What is the effect on the balance sheet of the payment of a quarterly subscription by a customer (used later)?</a:t>
            </a:r>
          </a:p>
        </p:txBody>
      </p:sp>
      <p:graphicFrame>
        <p:nvGraphicFramePr>
          <p:cNvPr id="6" name="Table 6">
            <a:extLst>
              <a:ext uri="{FF2B5EF4-FFF2-40B4-BE49-F238E27FC236}">
                <a16:creationId xmlns:a16="http://schemas.microsoft.com/office/drawing/2014/main" id="{1FD6A07A-361C-4125-BBCE-5A6A8BC1B965}"/>
              </a:ext>
            </a:extLst>
          </p:cNvPr>
          <p:cNvGraphicFramePr>
            <a:graphicFrameLocks noGrp="1"/>
          </p:cNvGraphicFramePr>
          <p:nvPr>
            <p:ph idx="1"/>
            <p:extLst>
              <p:ext uri="{D42A27DB-BD31-4B8C-83A1-F6EECF244321}">
                <p14:modId xmlns:p14="http://schemas.microsoft.com/office/powerpoint/2010/main" val="208922232"/>
              </p:ext>
            </p:extLst>
          </p:nvPr>
        </p:nvGraphicFramePr>
        <p:xfrm>
          <a:off x="681038" y="1825625"/>
          <a:ext cx="10829922" cy="2897385"/>
        </p:xfrm>
        <a:graphic>
          <a:graphicData uri="http://schemas.openxmlformats.org/drawingml/2006/table">
            <a:tbl>
              <a:tblPr firstRow="1" bandRow="1">
                <a:tableStyleId>{5C22544A-7EE6-4342-B048-85BDC9FD1C3A}</a:tableStyleId>
              </a:tblPr>
              <a:tblGrid>
                <a:gridCol w="1804987">
                  <a:extLst>
                    <a:ext uri="{9D8B030D-6E8A-4147-A177-3AD203B41FA5}">
                      <a16:colId xmlns:a16="http://schemas.microsoft.com/office/drawing/2014/main" val="2031488337"/>
                    </a:ext>
                  </a:extLst>
                </a:gridCol>
                <a:gridCol w="1804987">
                  <a:extLst>
                    <a:ext uri="{9D8B030D-6E8A-4147-A177-3AD203B41FA5}">
                      <a16:colId xmlns:a16="http://schemas.microsoft.com/office/drawing/2014/main" val="526378758"/>
                    </a:ext>
                  </a:extLst>
                </a:gridCol>
                <a:gridCol w="1804987">
                  <a:extLst>
                    <a:ext uri="{9D8B030D-6E8A-4147-A177-3AD203B41FA5}">
                      <a16:colId xmlns:a16="http://schemas.microsoft.com/office/drawing/2014/main" val="325362427"/>
                    </a:ext>
                  </a:extLst>
                </a:gridCol>
                <a:gridCol w="1804987">
                  <a:extLst>
                    <a:ext uri="{9D8B030D-6E8A-4147-A177-3AD203B41FA5}">
                      <a16:colId xmlns:a16="http://schemas.microsoft.com/office/drawing/2014/main" val="1990001942"/>
                    </a:ext>
                  </a:extLst>
                </a:gridCol>
                <a:gridCol w="1804987">
                  <a:extLst>
                    <a:ext uri="{9D8B030D-6E8A-4147-A177-3AD203B41FA5}">
                      <a16:colId xmlns:a16="http://schemas.microsoft.com/office/drawing/2014/main" val="3344489120"/>
                    </a:ext>
                  </a:extLst>
                </a:gridCol>
                <a:gridCol w="1804987">
                  <a:extLst>
                    <a:ext uri="{9D8B030D-6E8A-4147-A177-3AD203B41FA5}">
                      <a16:colId xmlns:a16="http://schemas.microsoft.com/office/drawing/2014/main" val="3436964488"/>
                    </a:ext>
                  </a:extLst>
                </a:gridCol>
              </a:tblGrid>
              <a:tr h="406995">
                <a:tc rowSpan="2">
                  <a:txBody>
                    <a:bodyPr/>
                    <a:lstStyle/>
                    <a:p>
                      <a:pPr algn="ctr"/>
                      <a:r>
                        <a:rPr lang="en-US" sz="2200" dirty="0"/>
                        <a:t>Non-current assets (NCA)</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assets (CA)</a:t>
                      </a:r>
                    </a:p>
                  </a:txBody>
                  <a:tcPr marL="64262" marR="64262" marT="32131" marB="32131" anchor="ctr">
                    <a:lnB w="12700" cap="flat" cmpd="sng" algn="ctr">
                      <a:solidFill>
                        <a:schemeClr val="tx1"/>
                      </a:solidFill>
                      <a:prstDash val="solid"/>
                      <a:round/>
                      <a:headEnd type="none" w="med" len="med"/>
                      <a:tailEnd type="none" w="med" len="med"/>
                    </a:lnB>
                  </a:tcPr>
                </a:tc>
                <a:tc gridSpan="2">
                  <a:txBody>
                    <a:bodyPr/>
                    <a:lstStyle/>
                    <a:p>
                      <a:pPr algn="ctr"/>
                      <a:r>
                        <a:rPr lang="en-US" sz="2200" dirty="0"/>
                        <a:t>Equity</a:t>
                      </a:r>
                    </a:p>
                  </a:txBody>
                  <a:tcPr marL="64262" marR="64262" marT="32131" marB="32131" anchor="ctr"/>
                </a:tc>
                <a:tc hMerge="1">
                  <a:txBody>
                    <a:bodyPr/>
                    <a:lstStyle/>
                    <a:p>
                      <a:endParaRPr lang="en-US" dirty="0"/>
                    </a:p>
                  </a:txBody>
                  <a:tcPr/>
                </a:tc>
                <a:tc rowSpan="2">
                  <a:txBody>
                    <a:bodyPr/>
                    <a:lstStyle/>
                    <a:p>
                      <a:pPr algn="ctr"/>
                      <a:r>
                        <a:rPr lang="en-US" sz="2200" dirty="0"/>
                        <a:t>Non-current liabilities (NCL)</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liabilities (CL)</a:t>
                      </a:r>
                    </a:p>
                  </a:txBody>
                  <a:tcPr marL="64262" marR="64262" marT="32131" marB="32131"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8874"/>
                  </a:ext>
                </a:extLst>
              </a:tr>
              <a:tr h="1435193">
                <a:tc vMerge="1">
                  <a:txBody>
                    <a:bodyPr/>
                    <a:lstStyle/>
                    <a:p>
                      <a:endParaRPr lang="en-US" sz="3200" dirty="0"/>
                    </a:p>
                  </a:txBody>
                  <a:tcPr/>
                </a:tc>
                <a:tc vMerge="1">
                  <a:txBody>
                    <a:bodyPr/>
                    <a:lstStyle/>
                    <a:p>
                      <a:endParaRPr lang="en-US" sz="3200" dirty="0"/>
                    </a:p>
                  </a:txBody>
                  <a:tcPr/>
                </a:tc>
                <a:tc>
                  <a:txBody>
                    <a:bodyPr/>
                    <a:lstStyle/>
                    <a:p>
                      <a:pPr algn="ctr"/>
                      <a:r>
                        <a:rPr lang="en-US" sz="2200" dirty="0"/>
                        <a:t>Share capital and additional paid-in capital</a:t>
                      </a:r>
                    </a:p>
                  </a:txBody>
                  <a:tcPr marL="64262" marR="64262" marT="32131" marB="32131" anchor="ctr">
                    <a:lnB w="12700" cap="flat" cmpd="sng" algn="ctr">
                      <a:solidFill>
                        <a:schemeClr val="tx1"/>
                      </a:solidFill>
                      <a:prstDash val="solid"/>
                      <a:round/>
                      <a:headEnd type="none" w="med" len="med"/>
                      <a:tailEnd type="none" w="med" len="med"/>
                    </a:lnB>
                  </a:tcPr>
                </a:tc>
                <a:tc>
                  <a:txBody>
                    <a:bodyPr/>
                    <a:lstStyle/>
                    <a:p>
                      <a:pPr algn="ctr"/>
                      <a:r>
                        <a:rPr lang="en-US" sz="2200" dirty="0"/>
                        <a:t>Retained earnings and other reserves</a:t>
                      </a:r>
                    </a:p>
                  </a:txBody>
                  <a:tcPr marL="64262" marR="64262" marT="32131" marB="32131" anchor="ctr">
                    <a:lnB w="12700" cap="flat" cmpd="sng" algn="ctr">
                      <a:solidFill>
                        <a:schemeClr val="tx1"/>
                      </a:solidFill>
                      <a:prstDash val="solid"/>
                      <a:round/>
                      <a:headEnd type="none" w="med" len="med"/>
                      <a:tailEnd type="none" w="med" len="med"/>
                    </a:lnB>
                  </a:tcPr>
                </a:tc>
                <a:tc vMerge="1">
                  <a:txBody>
                    <a:bodyPr/>
                    <a:lstStyle/>
                    <a:p>
                      <a:endParaRPr lang="en-US" sz="3200" dirty="0"/>
                    </a:p>
                  </a:txBody>
                  <a:tcPr/>
                </a:tc>
                <a:tc vMerge="1">
                  <a:txBody>
                    <a:bodyPr/>
                    <a:lstStyle/>
                    <a:p>
                      <a:endParaRPr lang="en-US" sz="3200" dirty="0"/>
                    </a:p>
                  </a:txBody>
                  <a:tcPr/>
                </a:tc>
                <a:extLst>
                  <a:ext uri="{0D108BD9-81ED-4DB2-BD59-A6C34878D82A}">
                    <a16:rowId xmlns:a16="http://schemas.microsoft.com/office/drawing/2014/main" val="853442960"/>
                  </a:ext>
                </a:extLst>
              </a:tr>
              <a:tr h="749728">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25328"/>
                  </a:ext>
                </a:extLst>
              </a:tr>
            </a:tbl>
          </a:graphicData>
        </a:graphic>
      </p:graphicFrame>
      <p:sp>
        <p:nvSpPr>
          <p:cNvPr id="5" name="Slide Number Placeholder 4">
            <a:extLst>
              <a:ext uri="{FF2B5EF4-FFF2-40B4-BE49-F238E27FC236}">
                <a16:creationId xmlns:a16="http://schemas.microsoft.com/office/drawing/2014/main" id="{F394A257-6480-44D9-BDFA-3790757012DC}"/>
              </a:ext>
            </a:extLst>
          </p:cNvPr>
          <p:cNvSpPr>
            <a:spLocks noGrp="1"/>
          </p:cNvSpPr>
          <p:nvPr>
            <p:ph type="sldNum" sz="quarter" idx="10"/>
          </p:nvPr>
        </p:nvSpPr>
        <p:spPr/>
        <p:txBody>
          <a:bodyPr/>
          <a:lstStyle/>
          <a:p>
            <a:fld id="{307C7597-8D70-4701-8085-9524B0B5C72B}" type="slidenum">
              <a:rPr lang="fr-FR" smtClean="0"/>
              <a:pPr/>
              <a:t>75</a:t>
            </a:fld>
            <a:endParaRPr lang="fr-FR" dirty="0"/>
          </a:p>
        </p:txBody>
      </p:sp>
    </p:spTree>
    <p:extLst>
      <p:ext uri="{BB962C8B-B14F-4D97-AF65-F5344CB8AC3E}">
        <p14:creationId xmlns:p14="http://schemas.microsoft.com/office/powerpoint/2010/main" val="96315579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00F9E9-DDEA-4600-A580-A2D05502EF2B}"/>
              </a:ext>
            </a:extLst>
          </p:cNvPr>
          <p:cNvSpPr>
            <a:spLocks noGrp="1"/>
          </p:cNvSpPr>
          <p:nvPr>
            <p:ph type="title"/>
          </p:nvPr>
        </p:nvSpPr>
        <p:spPr/>
        <p:txBody>
          <a:bodyPr/>
          <a:lstStyle/>
          <a:p>
            <a:r>
              <a:rPr lang="en-US" sz="3092" dirty="0"/>
              <a:t>What is the effect on the balance sheet of the payment of a quarterly subscription by a customer (used later)?</a:t>
            </a:r>
          </a:p>
        </p:txBody>
      </p:sp>
      <p:graphicFrame>
        <p:nvGraphicFramePr>
          <p:cNvPr id="6" name="Table 6">
            <a:extLst>
              <a:ext uri="{FF2B5EF4-FFF2-40B4-BE49-F238E27FC236}">
                <a16:creationId xmlns:a16="http://schemas.microsoft.com/office/drawing/2014/main" id="{1FD6A07A-361C-4125-BBCE-5A6A8BC1B965}"/>
              </a:ext>
            </a:extLst>
          </p:cNvPr>
          <p:cNvGraphicFramePr>
            <a:graphicFrameLocks noGrp="1"/>
          </p:cNvGraphicFramePr>
          <p:nvPr>
            <p:ph idx="1"/>
            <p:extLst>
              <p:ext uri="{D42A27DB-BD31-4B8C-83A1-F6EECF244321}">
                <p14:modId xmlns:p14="http://schemas.microsoft.com/office/powerpoint/2010/main" val="270252674"/>
              </p:ext>
            </p:extLst>
          </p:nvPr>
        </p:nvGraphicFramePr>
        <p:xfrm>
          <a:off x="681038" y="1825625"/>
          <a:ext cx="10829922" cy="3582850"/>
        </p:xfrm>
        <a:graphic>
          <a:graphicData uri="http://schemas.openxmlformats.org/drawingml/2006/table">
            <a:tbl>
              <a:tblPr firstRow="1" bandRow="1">
                <a:tableStyleId>{5C22544A-7EE6-4342-B048-85BDC9FD1C3A}</a:tableStyleId>
              </a:tblPr>
              <a:tblGrid>
                <a:gridCol w="1804987">
                  <a:extLst>
                    <a:ext uri="{9D8B030D-6E8A-4147-A177-3AD203B41FA5}">
                      <a16:colId xmlns:a16="http://schemas.microsoft.com/office/drawing/2014/main" val="2031488337"/>
                    </a:ext>
                  </a:extLst>
                </a:gridCol>
                <a:gridCol w="1804987">
                  <a:extLst>
                    <a:ext uri="{9D8B030D-6E8A-4147-A177-3AD203B41FA5}">
                      <a16:colId xmlns:a16="http://schemas.microsoft.com/office/drawing/2014/main" val="526378758"/>
                    </a:ext>
                  </a:extLst>
                </a:gridCol>
                <a:gridCol w="1804987">
                  <a:extLst>
                    <a:ext uri="{9D8B030D-6E8A-4147-A177-3AD203B41FA5}">
                      <a16:colId xmlns:a16="http://schemas.microsoft.com/office/drawing/2014/main" val="325362427"/>
                    </a:ext>
                  </a:extLst>
                </a:gridCol>
                <a:gridCol w="1804987">
                  <a:extLst>
                    <a:ext uri="{9D8B030D-6E8A-4147-A177-3AD203B41FA5}">
                      <a16:colId xmlns:a16="http://schemas.microsoft.com/office/drawing/2014/main" val="1990001942"/>
                    </a:ext>
                  </a:extLst>
                </a:gridCol>
                <a:gridCol w="1804987">
                  <a:extLst>
                    <a:ext uri="{9D8B030D-6E8A-4147-A177-3AD203B41FA5}">
                      <a16:colId xmlns:a16="http://schemas.microsoft.com/office/drawing/2014/main" val="3344489120"/>
                    </a:ext>
                  </a:extLst>
                </a:gridCol>
                <a:gridCol w="1804987">
                  <a:extLst>
                    <a:ext uri="{9D8B030D-6E8A-4147-A177-3AD203B41FA5}">
                      <a16:colId xmlns:a16="http://schemas.microsoft.com/office/drawing/2014/main" val="3436964488"/>
                    </a:ext>
                  </a:extLst>
                </a:gridCol>
              </a:tblGrid>
              <a:tr h="406995">
                <a:tc rowSpan="2">
                  <a:txBody>
                    <a:bodyPr/>
                    <a:lstStyle/>
                    <a:p>
                      <a:pPr algn="ctr"/>
                      <a:r>
                        <a:rPr lang="en-US" sz="2200" dirty="0"/>
                        <a:t>Non-current assets (NCA)</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assets (CA)</a:t>
                      </a:r>
                    </a:p>
                  </a:txBody>
                  <a:tcPr marL="64262" marR="64262" marT="32131" marB="32131" anchor="ctr">
                    <a:lnB w="12700" cap="flat" cmpd="sng" algn="ctr">
                      <a:solidFill>
                        <a:schemeClr val="tx1"/>
                      </a:solidFill>
                      <a:prstDash val="solid"/>
                      <a:round/>
                      <a:headEnd type="none" w="med" len="med"/>
                      <a:tailEnd type="none" w="med" len="med"/>
                    </a:lnB>
                  </a:tcPr>
                </a:tc>
                <a:tc gridSpan="2">
                  <a:txBody>
                    <a:bodyPr/>
                    <a:lstStyle/>
                    <a:p>
                      <a:pPr algn="ctr"/>
                      <a:r>
                        <a:rPr lang="en-US" sz="2200" dirty="0"/>
                        <a:t>Equity</a:t>
                      </a:r>
                    </a:p>
                  </a:txBody>
                  <a:tcPr marL="64262" marR="64262" marT="32131" marB="32131" anchor="ctr"/>
                </a:tc>
                <a:tc hMerge="1">
                  <a:txBody>
                    <a:bodyPr/>
                    <a:lstStyle/>
                    <a:p>
                      <a:endParaRPr lang="en-US" dirty="0"/>
                    </a:p>
                  </a:txBody>
                  <a:tcPr/>
                </a:tc>
                <a:tc rowSpan="2">
                  <a:txBody>
                    <a:bodyPr/>
                    <a:lstStyle/>
                    <a:p>
                      <a:pPr algn="ctr"/>
                      <a:r>
                        <a:rPr lang="en-US" sz="2200" dirty="0"/>
                        <a:t>Non-current liabilities (NCL)</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liabilities (CL)</a:t>
                      </a:r>
                    </a:p>
                  </a:txBody>
                  <a:tcPr marL="64262" marR="64262" marT="32131" marB="32131"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8874"/>
                  </a:ext>
                </a:extLst>
              </a:tr>
              <a:tr h="1435193">
                <a:tc vMerge="1">
                  <a:txBody>
                    <a:bodyPr/>
                    <a:lstStyle/>
                    <a:p>
                      <a:endParaRPr lang="en-US" sz="3200" dirty="0"/>
                    </a:p>
                  </a:txBody>
                  <a:tcPr/>
                </a:tc>
                <a:tc vMerge="1">
                  <a:txBody>
                    <a:bodyPr/>
                    <a:lstStyle/>
                    <a:p>
                      <a:endParaRPr lang="en-US" sz="3200" dirty="0"/>
                    </a:p>
                  </a:txBody>
                  <a:tcPr/>
                </a:tc>
                <a:tc>
                  <a:txBody>
                    <a:bodyPr/>
                    <a:lstStyle/>
                    <a:p>
                      <a:pPr algn="ctr"/>
                      <a:r>
                        <a:rPr lang="en-US" sz="2200" dirty="0"/>
                        <a:t>Share capital and additional paid-in capital</a:t>
                      </a:r>
                    </a:p>
                  </a:txBody>
                  <a:tcPr marL="64262" marR="64262" marT="32131" marB="32131" anchor="ctr">
                    <a:lnB w="12700" cap="flat" cmpd="sng" algn="ctr">
                      <a:solidFill>
                        <a:schemeClr val="tx1"/>
                      </a:solidFill>
                      <a:prstDash val="solid"/>
                      <a:round/>
                      <a:headEnd type="none" w="med" len="med"/>
                      <a:tailEnd type="none" w="med" len="med"/>
                    </a:lnB>
                  </a:tcPr>
                </a:tc>
                <a:tc>
                  <a:txBody>
                    <a:bodyPr/>
                    <a:lstStyle/>
                    <a:p>
                      <a:pPr algn="ctr"/>
                      <a:r>
                        <a:rPr lang="en-US" sz="2200" dirty="0"/>
                        <a:t>Retained earnings and other reserves</a:t>
                      </a:r>
                    </a:p>
                  </a:txBody>
                  <a:tcPr marL="64262" marR="64262" marT="32131" marB="32131" anchor="ctr">
                    <a:lnB w="12700" cap="flat" cmpd="sng" algn="ctr">
                      <a:solidFill>
                        <a:schemeClr val="tx1"/>
                      </a:solidFill>
                      <a:prstDash val="solid"/>
                      <a:round/>
                      <a:headEnd type="none" w="med" len="med"/>
                      <a:tailEnd type="none" w="med" len="med"/>
                    </a:lnB>
                  </a:tcPr>
                </a:tc>
                <a:tc vMerge="1">
                  <a:txBody>
                    <a:bodyPr/>
                    <a:lstStyle/>
                    <a:p>
                      <a:endParaRPr lang="en-US" sz="3200" dirty="0"/>
                    </a:p>
                  </a:txBody>
                  <a:tcPr/>
                </a:tc>
                <a:tc vMerge="1">
                  <a:txBody>
                    <a:bodyPr/>
                    <a:lstStyle/>
                    <a:p>
                      <a:endParaRPr lang="en-US" sz="3200" dirty="0"/>
                    </a:p>
                  </a:txBody>
                  <a:tcPr/>
                </a:tc>
                <a:extLst>
                  <a:ext uri="{0D108BD9-81ED-4DB2-BD59-A6C34878D82A}">
                    <a16:rowId xmlns:a16="http://schemas.microsoft.com/office/drawing/2014/main" val="853442960"/>
                  </a:ext>
                </a:extLst>
              </a:tr>
              <a:tr h="1435193">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dirty="0"/>
                        <a:t>Cash </a:t>
                      </a:r>
                    </a:p>
                    <a:p>
                      <a:pPr algn="ctr"/>
                      <a:r>
                        <a:rPr lang="en-US" sz="2200" dirty="0"/>
                        <a:t>(increase)</a:t>
                      </a:r>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dirty="0"/>
                        <a:t>Unearned (or deferred) revenue (increase)</a:t>
                      </a:r>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25328"/>
                  </a:ext>
                </a:extLst>
              </a:tr>
            </a:tbl>
          </a:graphicData>
        </a:graphic>
      </p:graphicFrame>
      <p:sp>
        <p:nvSpPr>
          <p:cNvPr id="5" name="Slide Number Placeholder 4">
            <a:extLst>
              <a:ext uri="{FF2B5EF4-FFF2-40B4-BE49-F238E27FC236}">
                <a16:creationId xmlns:a16="http://schemas.microsoft.com/office/drawing/2014/main" id="{F394A257-6480-44D9-BDFA-3790757012DC}"/>
              </a:ext>
            </a:extLst>
          </p:cNvPr>
          <p:cNvSpPr>
            <a:spLocks noGrp="1"/>
          </p:cNvSpPr>
          <p:nvPr>
            <p:ph type="sldNum" sz="quarter" idx="10"/>
          </p:nvPr>
        </p:nvSpPr>
        <p:spPr/>
        <p:txBody>
          <a:bodyPr/>
          <a:lstStyle/>
          <a:p>
            <a:fld id="{307C7597-8D70-4701-8085-9524B0B5C72B}" type="slidenum">
              <a:rPr lang="fr-FR" smtClean="0"/>
              <a:pPr/>
              <a:t>76</a:t>
            </a:fld>
            <a:endParaRPr lang="fr-FR" dirty="0"/>
          </a:p>
        </p:txBody>
      </p:sp>
    </p:spTree>
    <p:extLst>
      <p:ext uri="{BB962C8B-B14F-4D97-AF65-F5344CB8AC3E}">
        <p14:creationId xmlns:p14="http://schemas.microsoft.com/office/powerpoint/2010/main" val="341566232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00F9E9-DDEA-4600-A580-A2D05502EF2B}"/>
              </a:ext>
            </a:extLst>
          </p:cNvPr>
          <p:cNvSpPr>
            <a:spLocks noGrp="1"/>
          </p:cNvSpPr>
          <p:nvPr>
            <p:ph type="title"/>
          </p:nvPr>
        </p:nvSpPr>
        <p:spPr/>
        <p:txBody>
          <a:bodyPr/>
          <a:lstStyle/>
          <a:p>
            <a:r>
              <a:rPr lang="en-US" sz="3092" dirty="0"/>
              <a:t>What is the effect on the balance sheet of the usage of a quarterly subscription by a customer (already paid)?</a:t>
            </a:r>
          </a:p>
        </p:txBody>
      </p:sp>
      <p:graphicFrame>
        <p:nvGraphicFramePr>
          <p:cNvPr id="6" name="Table 6">
            <a:extLst>
              <a:ext uri="{FF2B5EF4-FFF2-40B4-BE49-F238E27FC236}">
                <a16:creationId xmlns:a16="http://schemas.microsoft.com/office/drawing/2014/main" id="{1FD6A07A-361C-4125-BBCE-5A6A8BC1B965}"/>
              </a:ext>
            </a:extLst>
          </p:cNvPr>
          <p:cNvGraphicFramePr>
            <a:graphicFrameLocks noGrp="1"/>
          </p:cNvGraphicFramePr>
          <p:nvPr>
            <p:ph idx="1"/>
            <p:extLst>
              <p:ext uri="{D42A27DB-BD31-4B8C-83A1-F6EECF244321}">
                <p14:modId xmlns:p14="http://schemas.microsoft.com/office/powerpoint/2010/main" val="2197546477"/>
              </p:ext>
            </p:extLst>
          </p:nvPr>
        </p:nvGraphicFramePr>
        <p:xfrm>
          <a:off x="681038" y="1825625"/>
          <a:ext cx="10829922" cy="2897385"/>
        </p:xfrm>
        <a:graphic>
          <a:graphicData uri="http://schemas.openxmlformats.org/drawingml/2006/table">
            <a:tbl>
              <a:tblPr firstRow="1" bandRow="1">
                <a:tableStyleId>{5C22544A-7EE6-4342-B048-85BDC9FD1C3A}</a:tableStyleId>
              </a:tblPr>
              <a:tblGrid>
                <a:gridCol w="1804987">
                  <a:extLst>
                    <a:ext uri="{9D8B030D-6E8A-4147-A177-3AD203B41FA5}">
                      <a16:colId xmlns:a16="http://schemas.microsoft.com/office/drawing/2014/main" val="2031488337"/>
                    </a:ext>
                  </a:extLst>
                </a:gridCol>
                <a:gridCol w="1804987">
                  <a:extLst>
                    <a:ext uri="{9D8B030D-6E8A-4147-A177-3AD203B41FA5}">
                      <a16:colId xmlns:a16="http://schemas.microsoft.com/office/drawing/2014/main" val="526378758"/>
                    </a:ext>
                  </a:extLst>
                </a:gridCol>
                <a:gridCol w="1804987">
                  <a:extLst>
                    <a:ext uri="{9D8B030D-6E8A-4147-A177-3AD203B41FA5}">
                      <a16:colId xmlns:a16="http://schemas.microsoft.com/office/drawing/2014/main" val="325362427"/>
                    </a:ext>
                  </a:extLst>
                </a:gridCol>
                <a:gridCol w="1804987">
                  <a:extLst>
                    <a:ext uri="{9D8B030D-6E8A-4147-A177-3AD203B41FA5}">
                      <a16:colId xmlns:a16="http://schemas.microsoft.com/office/drawing/2014/main" val="1990001942"/>
                    </a:ext>
                  </a:extLst>
                </a:gridCol>
                <a:gridCol w="1804987">
                  <a:extLst>
                    <a:ext uri="{9D8B030D-6E8A-4147-A177-3AD203B41FA5}">
                      <a16:colId xmlns:a16="http://schemas.microsoft.com/office/drawing/2014/main" val="3344489120"/>
                    </a:ext>
                  </a:extLst>
                </a:gridCol>
                <a:gridCol w="1804987">
                  <a:extLst>
                    <a:ext uri="{9D8B030D-6E8A-4147-A177-3AD203B41FA5}">
                      <a16:colId xmlns:a16="http://schemas.microsoft.com/office/drawing/2014/main" val="3436964488"/>
                    </a:ext>
                  </a:extLst>
                </a:gridCol>
              </a:tblGrid>
              <a:tr h="406995">
                <a:tc rowSpan="2">
                  <a:txBody>
                    <a:bodyPr/>
                    <a:lstStyle/>
                    <a:p>
                      <a:pPr algn="ctr"/>
                      <a:r>
                        <a:rPr lang="en-US" sz="2200" dirty="0"/>
                        <a:t>Non-current assets (NCA)</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assets (CA)</a:t>
                      </a:r>
                    </a:p>
                  </a:txBody>
                  <a:tcPr marL="64262" marR="64262" marT="32131" marB="32131" anchor="ctr">
                    <a:lnB w="12700" cap="flat" cmpd="sng" algn="ctr">
                      <a:solidFill>
                        <a:schemeClr val="tx1"/>
                      </a:solidFill>
                      <a:prstDash val="solid"/>
                      <a:round/>
                      <a:headEnd type="none" w="med" len="med"/>
                      <a:tailEnd type="none" w="med" len="med"/>
                    </a:lnB>
                  </a:tcPr>
                </a:tc>
                <a:tc gridSpan="2">
                  <a:txBody>
                    <a:bodyPr/>
                    <a:lstStyle/>
                    <a:p>
                      <a:pPr algn="ctr"/>
                      <a:r>
                        <a:rPr lang="en-US" sz="2200" dirty="0"/>
                        <a:t>Equity</a:t>
                      </a:r>
                    </a:p>
                  </a:txBody>
                  <a:tcPr marL="64262" marR="64262" marT="32131" marB="32131" anchor="ctr"/>
                </a:tc>
                <a:tc hMerge="1">
                  <a:txBody>
                    <a:bodyPr/>
                    <a:lstStyle/>
                    <a:p>
                      <a:endParaRPr lang="en-US" dirty="0"/>
                    </a:p>
                  </a:txBody>
                  <a:tcPr/>
                </a:tc>
                <a:tc rowSpan="2">
                  <a:txBody>
                    <a:bodyPr/>
                    <a:lstStyle/>
                    <a:p>
                      <a:pPr algn="ctr"/>
                      <a:r>
                        <a:rPr lang="en-US" sz="2200" dirty="0"/>
                        <a:t>Non-current liabilities (NCL)</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liabilities (CL)</a:t>
                      </a:r>
                    </a:p>
                  </a:txBody>
                  <a:tcPr marL="64262" marR="64262" marT="32131" marB="32131"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8874"/>
                  </a:ext>
                </a:extLst>
              </a:tr>
              <a:tr h="1435193">
                <a:tc vMerge="1">
                  <a:txBody>
                    <a:bodyPr/>
                    <a:lstStyle/>
                    <a:p>
                      <a:endParaRPr lang="en-US" sz="3200" dirty="0"/>
                    </a:p>
                  </a:txBody>
                  <a:tcPr/>
                </a:tc>
                <a:tc vMerge="1">
                  <a:txBody>
                    <a:bodyPr/>
                    <a:lstStyle/>
                    <a:p>
                      <a:endParaRPr lang="en-US" sz="3200" dirty="0"/>
                    </a:p>
                  </a:txBody>
                  <a:tcPr/>
                </a:tc>
                <a:tc>
                  <a:txBody>
                    <a:bodyPr/>
                    <a:lstStyle/>
                    <a:p>
                      <a:pPr algn="ctr"/>
                      <a:r>
                        <a:rPr lang="en-US" sz="2200" dirty="0"/>
                        <a:t>Share capital and additional paid-in capital</a:t>
                      </a:r>
                    </a:p>
                  </a:txBody>
                  <a:tcPr marL="64262" marR="64262" marT="32131" marB="32131" anchor="ctr">
                    <a:lnB w="12700" cap="flat" cmpd="sng" algn="ctr">
                      <a:solidFill>
                        <a:schemeClr val="tx1"/>
                      </a:solidFill>
                      <a:prstDash val="solid"/>
                      <a:round/>
                      <a:headEnd type="none" w="med" len="med"/>
                      <a:tailEnd type="none" w="med" len="med"/>
                    </a:lnB>
                  </a:tcPr>
                </a:tc>
                <a:tc>
                  <a:txBody>
                    <a:bodyPr/>
                    <a:lstStyle/>
                    <a:p>
                      <a:pPr algn="ctr"/>
                      <a:r>
                        <a:rPr lang="en-US" sz="2200" dirty="0"/>
                        <a:t>Retained earnings and other reserves</a:t>
                      </a:r>
                    </a:p>
                  </a:txBody>
                  <a:tcPr marL="64262" marR="64262" marT="32131" marB="32131" anchor="ctr">
                    <a:lnB w="12700" cap="flat" cmpd="sng" algn="ctr">
                      <a:solidFill>
                        <a:schemeClr val="tx1"/>
                      </a:solidFill>
                      <a:prstDash val="solid"/>
                      <a:round/>
                      <a:headEnd type="none" w="med" len="med"/>
                      <a:tailEnd type="none" w="med" len="med"/>
                    </a:lnB>
                  </a:tcPr>
                </a:tc>
                <a:tc vMerge="1">
                  <a:txBody>
                    <a:bodyPr/>
                    <a:lstStyle/>
                    <a:p>
                      <a:endParaRPr lang="en-US" sz="3200" dirty="0"/>
                    </a:p>
                  </a:txBody>
                  <a:tcPr/>
                </a:tc>
                <a:tc vMerge="1">
                  <a:txBody>
                    <a:bodyPr/>
                    <a:lstStyle/>
                    <a:p>
                      <a:endParaRPr lang="en-US" sz="3200" dirty="0"/>
                    </a:p>
                  </a:txBody>
                  <a:tcPr/>
                </a:tc>
                <a:extLst>
                  <a:ext uri="{0D108BD9-81ED-4DB2-BD59-A6C34878D82A}">
                    <a16:rowId xmlns:a16="http://schemas.microsoft.com/office/drawing/2014/main" val="853442960"/>
                  </a:ext>
                </a:extLst>
              </a:tr>
              <a:tr h="749728">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25328"/>
                  </a:ext>
                </a:extLst>
              </a:tr>
            </a:tbl>
          </a:graphicData>
        </a:graphic>
      </p:graphicFrame>
      <p:sp>
        <p:nvSpPr>
          <p:cNvPr id="5" name="Slide Number Placeholder 4">
            <a:extLst>
              <a:ext uri="{FF2B5EF4-FFF2-40B4-BE49-F238E27FC236}">
                <a16:creationId xmlns:a16="http://schemas.microsoft.com/office/drawing/2014/main" id="{F394A257-6480-44D9-BDFA-3790757012DC}"/>
              </a:ext>
            </a:extLst>
          </p:cNvPr>
          <p:cNvSpPr>
            <a:spLocks noGrp="1"/>
          </p:cNvSpPr>
          <p:nvPr>
            <p:ph type="sldNum" sz="quarter" idx="10"/>
          </p:nvPr>
        </p:nvSpPr>
        <p:spPr/>
        <p:txBody>
          <a:bodyPr/>
          <a:lstStyle/>
          <a:p>
            <a:fld id="{307C7597-8D70-4701-8085-9524B0B5C72B}" type="slidenum">
              <a:rPr lang="fr-FR" smtClean="0"/>
              <a:pPr/>
              <a:t>77</a:t>
            </a:fld>
            <a:endParaRPr lang="fr-FR" dirty="0"/>
          </a:p>
        </p:txBody>
      </p:sp>
    </p:spTree>
    <p:extLst>
      <p:ext uri="{BB962C8B-B14F-4D97-AF65-F5344CB8AC3E}">
        <p14:creationId xmlns:p14="http://schemas.microsoft.com/office/powerpoint/2010/main" val="302380920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00F9E9-DDEA-4600-A580-A2D05502EF2B}"/>
              </a:ext>
            </a:extLst>
          </p:cNvPr>
          <p:cNvSpPr>
            <a:spLocks noGrp="1"/>
          </p:cNvSpPr>
          <p:nvPr>
            <p:ph type="title"/>
          </p:nvPr>
        </p:nvSpPr>
        <p:spPr/>
        <p:txBody>
          <a:bodyPr/>
          <a:lstStyle/>
          <a:p>
            <a:r>
              <a:rPr lang="en-US" sz="3092" dirty="0"/>
              <a:t>What is the effect on the balance sheet of the usage of a quarterly subscription by a customer (already paid)?</a:t>
            </a:r>
          </a:p>
        </p:txBody>
      </p:sp>
      <p:graphicFrame>
        <p:nvGraphicFramePr>
          <p:cNvPr id="6" name="Table 6">
            <a:extLst>
              <a:ext uri="{FF2B5EF4-FFF2-40B4-BE49-F238E27FC236}">
                <a16:creationId xmlns:a16="http://schemas.microsoft.com/office/drawing/2014/main" id="{1FD6A07A-361C-4125-BBCE-5A6A8BC1B965}"/>
              </a:ext>
            </a:extLst>
          </p:cNvPr>
          <p:cNvGraphicFramePr>
            <a:graphicFrameLocks noGrp="1"/>
          </p:cNvGraphicFramePr>
          <p:nvPr>
            <p:ph idx="1"/>
            <p:extLst>
              <p:ext uri="{D42A27DB-BD31-4B8C-83A1-F6EECF244321}">
                <p14:modId xmlns:p14="http://schemas.microsoft.com/office/powerpoint/2010/main" val="2113343589"/>
              </p:ext>
            </p:extLst>
          </p:nvPr>
        </p:nvGraphicFramePr>
        <p:xfrm>
          <a:off x="681038" y="1825625"/>
          <a:ext cx="10829922" cy="3582850"/>
        </p:xfrm>
        <a:graphic>
          <a:graphicData uri="http://schemas.openxmlformats.org/drawingml/2006/table">
            <a:tbl>
              <a:tblPr firstRow="1" bandRow="1">
                <a:tableStyleId>{5C22544A-7EE6-4342-B048-85BDC9FD1C3A}</a:tableStyleId>
              </a:tblPr>
              <a:tblGrid>
                <a:gridCol w="1804987">
                  <a:extLst>
                    <a:ext uri="{9D8B030D-6E8A-4147-A177-3AD203B41FA5}">
                      <a16:colId xmlns:a16="http://schemas.microsoft.com/office/drawing/2014/main" val="2031488337"/>
                    </a:ext>
                  </a:extLst>
                </a:gridCol>
                <a:gridCol w="1804987">
                  <a:extLst>
                    <a:ext uri="{9D8B030D-6E8A-4147-A177-3AD203B41FA5}">
                      <a16:colId xmlns:a16="http://schemas.microsoft.com/office/drawing/2014/main" val="526378758"/>
                    </a:ext>
                  </a:extLst>
                </a:gridCol>
                <a:gridCol w="1804987">
                  <a:extLst>
                    <a:ext uri="{9D8B030D-6E8A-4147-A177-3AD203B41FA5}">
                      <a16:colId xmlns:a16="http://schemas.microsoft.com/office/drawing/2014/main" val="325362427"/>
                    </a:ext>
                  </a:extLst>
                </a:gridCol>
                <a:gridCol w="1804987">
                  <a:extLst>
                    <a:ext uri="{9D8B030D-6E8A-4147-A177-3AD203B41FA5}">
                      <a16:colId xmlns:a16="http://schemas.microsoft.com/office/drawing/2014/main" val="1990001942"/>
                    </a:ext>
                  </a:extLst>
                </a:gridCol>
                <a:gridCol w="1804987">
                  <a:extLst>
                    <a:ext uri="{9D8B030D-6E8A-4147-A177-3AD203B41FA5}">
                      <a16:colId xmlns:a16="http://schemas.microsoft.com/office/drawing/2014/main" val="3344489120"/>
                    </a:ext>
                  </a:extLst>
                </a:gridCol>
                <a:gridCol w="1804987">
                  <a:extLst>
                    <a:ext uri="{9D8B030D-6E8A-4147-A177-3AD203B41FA5}">
                      <a16:colId xmlns:a16="http://schemas.microsoft.com/office/drawing/2014/main" val="3436964488"/>
                    </a:ext>
                  </a:extLst>
                </a:gridCol>
              </a:tblGrid>
              <a:tr h="406995">
                <a:tc rowSpan="2">
                  <a:txBody>
                    <a:bodyPr/>
                    <a:lstStyle/>
                    <a:p>
                      <a:pPr algn="ctr"/>
                      <a:r>
                        <a:rPr lang="en-US" sz="2200" dirty="0"/>
                        <a:t>Non-current assets (NCA)</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assets (CA)</a:t>
                      </a:r>
                    </a:p>
                  </a:txBody>
                  <a:tcPr marL="64262" marR="64262" marT="32131" marB="32131" anchor="ctr">
                    <a:lnB w="12700" cap="flat" cmpd="sng" algn="ctr">
                      <a:solidFill>
                        <a:schemeClr val="tx1"/>
                      </a:solidFill>
                      <a:prstDash val="solid"/>
                      <a:round/>
                      <a:headEnd type="none" w="med" len="med"/>
                      <a:tailEnd type="none" w="med" len="med"/>
                    </a:lnB>
                  </a:tcPr>
                </a:tc>
                <a:tc gridSpan="2">
                  <a:txBody>
                    <a:bodyPr/>
                    <a:lstStyle/>
                    <a:p>
                      <a:pPr algn="ctr"/>
                      <a:r>
                        <a:rPr lang="en-US" sz="2200" dirty="0"/>
                        <a:t>Equity</a:t>
                      </a:r>
                    </a:p>
                  </a:txBody>
                  <a:tcPr marL="64262" marR="64262" marT="32131" marB="32131" anchor="ctr"/>
                </a:tc>
                <a:tc hMerge="1">
                  <a:txBody>
                    <a:bodyPr/>
                    <a:lstStyle/>
                    <a:p>
                      <a:endParaRPr lang="en-US" dirty="0"/>
                    </a:p>
                  </a:txBody>
                  <a:tcPr/>
                </a:tc>
                <a:tc rowSpan="2">
                  <a:txBody>
                    <a:bodyPr/>
                    <a:lstStyle/>
                    <a:p>
                      <a:pPr algn="ctr"/>
                      <a:r>
                        <a:rPr lang="en-US" sz="2200" dirty="0"/>
                        <a:t>Non-current liabilities (NCL)</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liabilities (CL)</a:t>
                      </a:r>
                    </a:p>
                  </a:txBody>
                  <a:tcPr marL="64262" marR="64262" marT="32131" marB="32131"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8874"/>
                  </a:ext>
                </a:extLst>
              </a:tr>
              <a:tr h="1435193">
                <a:tc vMerge="1">
                  <a:txBody>
                    <a:bodyPr/>
                    <a:lstStyle/>
                    <a:p>
                      <a:endParaRPr lang="en-US" sz="3200" dirty="0"/>
                    </a:p>
                  </a:txBody>
                  <a:tcPr/>
                </a:tc>
                <a:tc vMerge="1">
                  <a:txBody>
                    <a:bodyPr/>
                    <a:lstStyle/>
                    <a:p>
                      <a:endParaRPr lang="en-US" sz="3200" dirty="0"/>
                    </a:p>
                  </a:txBody>
                  <a:tcPr/>
                </a:tc>
                <a:tc>
                  <a:txBody>
                    <a:bodyPr/>
                    <a:lstStyle/>
                    <a:p>
                      <a:pPr algn="ctr"/>
                      <a:r>
                        <a:rPr lang="en-US" sz="2200" dirty="0"/>
                        <a:t>Share capital and additional paid-in capital</a:t>
                      </a:r>
                    </a:p>
                  </a:txBody>
                  <a:tcPr marL="64262" marR="64262" marT="32131" marB="32131" anchor="ctr">
                    <a:lnB w="12700" cap="flat" cmpd="sng" algn="ctr">
                      <a:solidFill>
                        <a:schemeClr val="tx1"/>
                      </a:solidFill>
                      <a:prstDash val="solid"/>
                      <a:round/>
                      <a:headEnd type="none" w="med" len="med"/>
                      <a:tailEnd type="none" w="med" len="med"/>
                    </a:lnB>
                  </a:tcPr>
                </a:tc>
                <a:tc>
                  <a:txBody>
                    <a:bodyPr/>
                    <a:lstStyle/>
                    <a:p>
                      <a:pPr algn="ctr"/>
                      <a:r>
                        <a:rPr lang="en-US" sz="2200" dirty="0"/>
                        <a:t>Retained earnings and other reserves</a:t>
                      </a:r>
                    </a:p>
                  </a:txBody>
                  <a:tcPr marL="64262" marR="64262" marT="32131" marB="32131" anchor="ctr">
                    <a:lnB w="12700" cap="flat" cmpd="sng" algn="ctr">
                      <a:solidFill>
                        <a:schemeClr val="tx1"/>
                      </a:solidFill>
                      <a:prstDash val="solid"/>
                      <a:round/>
                      <a:headEnd type="none" w="med" len="med"/>
                      <a:tailEnd type="none" w="med" len="med"/>
                    </a:lnB>
                  </a:tcPr>
                </a:tc>
                <a:tc vMerge="1">
                  <a:txBody>
                    <a:bodyPr/>
                    <a:lstStyle/>
                    <a:p>
                      <a:endParaRPr lang="en-US" sz="3200" dirty="0"/>
                    </a:p>
                  </a:txBody>
                  <a:tcPr/>
                </a:tc>
                <a:tc vMerge="1">
                  <a:txBody>
                    <a:bodyPr/>
                    <a:lstStyle/>
                    <a:p>
                      <a:endParaRPr lang="en-US" sz="3200" dirty="0"/>
                    </a:p>
                  </a:txBody>
                  <a:tcPr/>
                </a:tc>
                <a:extLst>
                  <a:ext uri="{0D108BD9-81ED-4DB2-BD59-A6C34878D82A}">
                    <a16:rowId xmlns:a16="http://schemas.microsoft.com/office/drawing/2014/main" val="853442960"/>
                  </a:ext>
                </a:extLst>
              </a:tr>
              <a:tr h="1435193">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dirty="0"/>
                        <a:t>Revenue (increase)</a:t>
                      </a:r>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200" dirty="0"/>
                        <a:t>Unearned (or deferred) revenue (decrease)</a:t>
                      </a:r>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25328"/>
                  </a:ext>
                </a:extLst>
              </a:tr>
            </a:tbl>
          </a:graphicData>
        </a:graphic>
      </p:graphicFrame>
      <p:sp>
        <p:nvSpPr>
          <p:cNvPr id="5" name="Slide Number Placeholder 4">
            <a:extLst>
              <a:ext uri="{FF2B5EF4-FFF2-40B4-BE49-F238E27FC236}">
                <a16:creationId xmlns:a16="http://schemas.microsoft.com/office/drawing/2014/main" id="{F394A257-6480-44D9-BDFA-3790757012DC}"/>
              </a:ext>
            </a:extLst>
          </p:cNvPr>
          <p:cNvSpPr>
            <a:spLocks noGrp="1"/>
          </p:cNvSpPr>
          <p:nvPr>
            <p:ph type="sldNum" sz="quarter" idx="10"/>
          </p:nvPr>
        </p:nvSpPr>
        <p:spPr/>
        <p:txBody>
          <a:bodyPr/>
          <a:lstStyle/>
          <a:p>
            <a:fld id="{307C7597-8D70-4701-8085-9524B0B5C72B}" type="slidenum">
              <a:rPr lang="fr-FR" smtClean="0"/>
              <a:pPr/>
              <a:t>78</a:t>
            </a:fld>
            <a:endParaRPr lang="fr-FR" dirty="0"/>
          </a:p>
        </p:txBody>
      </p:sp>
      <p:sp>
        <p:nvSpPr>
          <p:cNvPr id="7" name="TextBox 6">
            <a:extLst>
              <a:ext uri="{FF2B5EF4-FFF2-40B4-BE49-F238E27FC236}">
                <a16:creationId xmlns:a16="http://schemas.microsoft.com/office/drawing/2014/main" id="{7F0A2DC8-E69C-47D2-98F2-8A7DADD53368}"/>
              </a:ext>
            </a:extLst>
          </p:cNvPr>
          <p:cNvSpPr txBox="1"/>
          <p:nvPr/>
        </p:nvSpPr>
        <p:spPr>
          <a:xfrm>
            <a:off x="365939" y="5228346"/>
            <a:ext cx="11460123" cy="1260345"/>
          </a:xfrm>
          <a:prstGeom prst="rect">
            <a:avLst/>
          </a:prstGeom>
          <a:noFill/>
        </p:spPr>
        <p:txBody>
          <a:bodyPr wrap="square" rtlCol="0">
            <a:spAutoFit/>
          </a:bodyPr>
          <a:lstStyle/>
          <a:p>
            <a:r>
              <a:rPr lang="fr-FR" sz="2530" dirty="0"/>
              <a:t>Revenue = Revenue </a:t>
            </a:r>
            <a:r>
              <a:rPr lang="fr-FR" sz="2530" dirty="0" err="1"/>
              <a:t>from</a:t>
            </a:r>
            <a:r>
              <a:rPr lang="fr-FR" sz="2530" dirty="0"/>
              <a:t> sale of </a:t>
            </a:r>
            <a:r>
              <a:rPr lang="fr-FR" sz="2530" dirty="0" err="1"/>
              <a:t>goods</a:t>
            </a:r>
            <a:r>
              <a:rPr lang="fr-FR" sz="2530" dirty="0"/>
              <a:t> (</a:t>
            </a:r>
            <a:r>
              <a:rPr lang="fr-FR" sz="2530" dirty="0" err="1"/>
              <a:t>recorded</a:t>
            </a:r>
            <a:r>
              <a:rPr lang="fr-FR" sz="2530" dirty="0"/>
              <a:t> </a:t>
            </a:r>
            <a:r>
              <a:rPr lang="fr-FR" sz="2530" dirty="0" err="1"/>
              <a:t>when</a:t>
            </a:r>
            <a:r>
              <a:rPr lang="fr-FR" sz="2530" dirty="0"/>
              <a:t> the </a:t>
            </a:r>
            <a:r>
              <a:rPr lang="fr-FR" sz="2530" dirty="0" err="1"/>
              <a:t>goods</a:t>
            </a:r>
            <a:r>
              <a:rPr lang="fr-FR" sz="2530" dirty="0"/>
              <a:t> are </a:t>
            </a:r>
            <a:r>
              <a:rPr lang="fr-FR" sz="2530" dirty="0" err="1"/>
              <a:t>delivered</a:t>
            </a:r>
            <a:r>
              <a:rPr lang="fr-FR" sz="2530" dirty="0"/>
              <a:t>)</a:t>
            </a:r>
          </a:p>
          <a:p>
            <a:r>
              <a:rPr lang="fr-FR" sz="2530" dirty="0"/>
              <a:t>+ Revenue </a:t>
            </a:r>
            <a:r>
              <a:rPr lang="fr-FR" sz="2530" dirty="0" err="1"/>
              <a:t>from</a:t>
            </a:r>
            <a:r>
              <a:rPr lang="fr-FR" sz="2530" dirty="0"/>
              <a:t> sale of services (</a:t>
            </a:r>
            <a:r>
              <a:rPr lang="fr-FR" sz="2530" dirty="0" err="1"/>
              <a:t>recorded</a:t>
            </a:r>
            <a:r>
              <a:rPr lang="fr-FR" sz="2530" dirty="0"/>
              <a:t> </a:t>
            </a:r>
            <a:r>
              <a:rPr lang="fr-FR" sz="2530" dirty="0" err="1"/>
              <a:t>when</a:t>
            </a:r>
            <a:r>
              <a:rPr lang="fr-FR" sz="2530" dirty="0"/>
              <a:t> the service </a:t>
            </a:r>
            <a:r>
              <a:rPr lang="fr-FR" sz="2530" dirty="0" err="1"/>
              <a:t>is</a:t>
            </a:r>
            <a:r>
              <a:rPr lang="fr-FR" sz="2530" dirty="0"/>
              <a:t> </a:t>
            </a:r>
            <a:r>
              <a:rPr lang="fr-FR" sz="2530" dirty="0" err="1"/>
              <a:t>rendered</a:t>
            </a:r>
            <a:r>
              <a:rPr lang="fr-FR" sz="2530" dirty="0"/>
              <a:t>)</a:t>
            </a:r>
          </a:p>
        </p:txBody>
      </p:sp>
    </p:spTree>
    <p:extLst>
      <p:ext uri="{BB962C8B-B14F-4D97-AF65-F5344CB8AC3E}">
        <p14:creationId xmlns:p14="http://schemas.microsoft.com/office/powerpoint/2010/main" val="34415204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DA045CB-F19E-E9A3-C5F8-A4F89A46A622}"/>
              </a:ext>
            </a:extLst>
          </p:cNvPr>
          <p:cNvSpPr>
            <a:spLocks noGrp="1"/>
          </p:cNvSpPr>
          <p:nvPr>
            <p:ph type="title"/>
          </p:nvPr>
        </p:nvSpPr>
        <p:spPr/>
        <p:txBody>
          <a:bodyPr/>
          <a:lstStyle/>
          <a:p>
            <a:r>
              <a:rPr lang="en-US" dirty="0"/>
              <a:t>Revenue recognition</a:t>
            </a:r>
          </a:p>
        </p:txBody>
      </p:sp>
      <p:pic>
        <p:nvPicPr>
          <p:cNvPr id="11" name="Content Placeholder 10" descr="A screenshot of a document&#10;&#10;Description automatically generated">
            <a:extLst>
              <a:ext uri="{FF2B5EF4-FFF2-40B4-BE49-F238E27FC236}">
                <a16:creationId xmlns:a16="http://schemas.microsoft.com/office/drawing/2014/main" id="{FDF918CF-B658-E9A7-D573-C3F5675D6D2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56443" y="813003"/>
            <a:ext cx="8540317" cy="5403057"/>
          </a:xfrm>
        </p:spPr>
      </p:pic>
      <p:sp>
        <p:nvSpPr>
          <p:cNvPr id="5" name="Slide Number Placeholder 4">
            <a:extLst>
              <a:ext uri="{FF2B5EF4-FFF2-40B4-BE49-F238E27FC236}">
                <a16:creationId xmlns:a16="http://schemas.microsoft.com/office/drawing/2014/main" id="{21FFFAA7-6EF2-C401-9617-B7ED8A63C45B}"/>
              </a:ext>
            </a:extLst>
          </p:cNvPr>
          <p:cNvSpPr>
            <a:spLocks noGrp="1"/>
          </p:cNvSpPr>
          <p:nvPr>
            <p:ph type="sldNum" sz="quarter" idx="10"/>
          </p:nvPr>
        </p:nvSpPr>
        <p:spPr/>
        <p:txBody>
          <a:bodyPr/>
          <a:lstStyle/>
          <a:p>
            <a:fld id="{307C7597-8D70-4701-8085-9524B0B5C72B}" type="slidenum">
              <a:rPr lang="fr-FR" smtClean="0"/>
              <a:pPr/>
              <a:t>79</a:t>
            </a:fld>
            <a:endParaRPr lang="fr-FR" dirty="0"/>
          </a:p>
        </p:txBody>
      </p:sp>
      <p:sp>
        <p:nvSpPr>
          <p:cNvPr id="4" name="Subtitle 3">
            <a:extLst>
              <a:ext uri="{FF2B5EF4-FFF2-40B4-BE49-F238E27FC236}">
                <a16:creationId xmlns:a16="http://schemas.microsoft.com/office/drawing/2014/main" id="{C27CBF90-B690-4322-55FA-101412C5D2A8}"/>
              </a:ext>
            </a:extLst>
          </p:cNvPr>
          <p:cNvSpPr>
            <a:spLocks noGrp="1"/>
          </p:cNvSpPr>
          <p:nvPr>
            <p:ph type="subTitle" idx="4294967295"/>
          </p:nvPr>
        </p:nvSpPr>
        <p:spPr>
          <a:xfrm>
            <a:off x="7208669" y="155575"/>
            <a:ext cx="4983332" cy="944563"/>
          </a:xfrm>
        </p:spPr>
        <p:txBody>
          <a:bodyPr>
            <a:normAutofit/>
          </a:bodyPr>
          <a:lstStyle/>
          <a:p>
            <a:pPr marL="0" indent="0">
              <a:buNone/>
            </a:pPr>
            <a:r>
              <a:rPr lang="en-US" dirty="0"/>
              <a:t>ANTA Sports, annual report 2022</a:t>
            </a:r>
          </a:p>
        </p:txBody>
      </p:sp>
      <p:sp>
        <p:nvSpPr>
          <p:cNvPr id="2" name="Rectangle: Rounded Corners 1">
            <a:extLst>
              <a:ext uri="{FF2B5EF4-FFF2-40B4-BE49-F238E27FC236}">
                <a16:creationId xmlns:a16="http://schemas.microsoft.com/office/drawing/2014/main" id="{29BED054-D371-6928-B107-AC95E9B59F79}"/>
              </a:ext>
            </a:extLst>
          </p:cNvPr>
          <p:cNvSpPr/>
          <p:nvPr/>
        </p:nvSpPr>
        <p:spPr>
          <a:xfrm>
            <a:off x="1459882" y="2904360"/>
            <a:ext cx="8250747" cy="481968"/>
          </a:xfrm>
          <a:prstGeom prst="round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65"/>
          </a:p>
        </p:txBody>
      </p:sp>
    </p:spTree>
    <p:extLst>
      <p:ext uri="{BB962C8B-B14F-4D97-AF65-F5344CB8AC3E}">
        <p14:creationId xmlns:p14="http://schemas.microsoft.com/office/powerpoint/2010/main" val="325082397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F804F-7D78-EC6B-DE62-B172A926F7C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5281A57-27B9-9512-7E95-5EE30D35B220}"/>
              </a:ext>
            </a:extLst>
          </p:cNvPr>
          <p:cNvSpPr>
            <a:spLocks noGrp="1"/>
          </p:cNvSpPr>
          <p:nvPr>
            <p:ph type="title"/>
          </p:nvPr>
        </p:nvSpPr>
        <p:spPr/>
        <p:txBody>
          <a:bodyPr/>
          <a:lstStyle/>
          <a:p>
            <a:r>
              <a:rPr lang="en-US" dirty="0"/>
              <a:t>Revenue recognition</a:t>
            </a:r>
          </a:p>
        </p:txBody>
      </p:sp>
      <p:sp>
        <p:nvSpPr>
          <p:cNvPr id="5" name="Slide Number Placeholder 4">
            <a:extLst>
              <a:ext uri="{FF2B5EF4-FFF2-40B4-BE49-F238E27FC236}">
                <a16:creationId xmlns:a16="http://schemas.microsoft.com/office/drawing/2014/main" id="{BABD3BC5-96AB-C16A-FF69-6DBBDB149ACA}"/>
              </a:ext>
            </a:extLst>
          </p:cNvPr>
          <p:cNvSpPr>
            <a:spLocks noGrp="1"/>
          </p:cNvSpPr>
          <p:nvPr>
            <p:ph type="sldNum" sz="quarter" idx="10"/>
          </p:nvPr>
        </p:nvSpPr>
        <p:spPr/>
        <p:txBody>
          <a:bodyPr/>
          <a:lstStyle/>
          <a:p>
            <a:fld id="{307C7597-8D70-4701-8085-9524B0B5C72B}" type="slidenum">
              <a:rPr lang="fr-FR" smtClean="0"/>
              <a:pPr/>
              <a:t>80</a:t>
            </a:fld>
            <a:endParaRPr lang="fr-FR" dirty="0"/>
          </a:p>
        </p:txBody>
      </p:sp>
      <p:sp>
        <p:nvSpPr>
          <p:cNvPr id="4" name="Subtitle 3">
            <a:extLst>
              <a:ext uri="{FF2B5EF4-FFF2-40B4-BE49-F238E27FC236}">
                <a16:creationId xmlns:a16="http://schemas.microsoft.com/office/drawing/2014/main" id="{74E4009A-93C5-E4E6-CDA0-EDFE3267F757}"/>
              </a:ext>
            </a:extLst>
          </p:cNvPr>
          <p:cNvSpPr>
            <a:spLocks noGrp="1"/>
          </p:cNvSpPr>
          <p:nvPr>
            <p:ph type="subTitle" idx="4294967295"/>
          </p:nvPr>
        </p:nvSpPr>
        <p:spPr>
          <a:xfrm>
            <a:off x="7838983" y="155576"/>
            <a:ext cx="4353017" cy="465862"/>
          </a:xfrm>
        </p:spPr>
        <p:txBody>
          <a:bodyPr>
            <a:normAutofit/>
          </a:bodyPr>
          <a:lstStyle/>
          <a:p>
            <a:pPr marL="0" indent="0">
              <a:buNone/>
            </a:pPr>
            <a:r>
              <a:rPr lang="en-US" dirty="0"/>
              <a:t>Alibaba, annual report 2025</a:t>
            </a:r>
          </a:p>
        </p:txBody>
      </p:sp>
      <p:pic>
        <p:nvPicPr>
          <p:cNvPr id="9" name="Picture 8">
            <a:extLst>
              <a:ext uri="{FF2B5EF4-FFF2-40B4-BE49-F238E27FC236}">
                <a16:creationId xmlns:a16="http://schemas.microsoft.com/office/drawing/2014/main" id="{64511935-4EA7-9AE7-88A1-F63987A8A51F}"/>
              </a:ext>
            </a:extLst>
          </p:cNvPr>
          <p:cNvPicPr>
            <a:picLocks noChangeAspect="1"/>
          </p:cNvPicPr>
          <p:nvPr/>
        </p:nvPicPr>
        <p:blipFill>
          <a:blip r:embed="rId2"/>
          <a:stretch>
            <a:fillRect/>
          </a:stretch>
        </p:blipFill>
        <p:spPr>
          <a:xfrm>
            <a:off x="705613" y="1165108"/>
            <a:ext cx="9918170" cy="4959086"/>
          </a:xfrm>
          <a:prstGeom prst="rect">
            <a:avLst/>
          </a:prstGeom>
        </p:spPr>
      </p:pic>
    </p:spTree>
    <p:extLst>
      <p:ext uri="{BB962C8B-B14F-4D97-AF65-F5344CB8AC3E}">
        <p14:creationId xmlns:p14="http://schemas.microsoft.com/office/powerpoint/2010/main" val="371445188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2D55716-9EB3-30BC-C03D-C317D88C2DA9}"/>
              </a:ext>
            </a:extLst>
          </p:cNvPr>
          <p:cNvSpPr>
            <a:spLocks noGrp="1"/>
          </p:cNvSpPr>
          <p:nvPr>
            <p:ph type="title"/>
          </p:nvPr>
        </p:nvSpPr>
        <p:spPr/>
        <p:txBody>
          <a:bodyPr/>
          <a:lstStyle/>
          <a:p>
            <a:r>
              <a:rPr lang="en-US" dirty="0"/>
              <a:t>Revenue recognition and balance sheet</a:t>
            </a:r>
          </a:p>
        </p:txBody>
      </p:sp>
      <p:sp>
        <p:nvSpPr>
          <p:cNvPr id="2" name="Content Placeholder 1">
            <a:extLst>
              <a:ext uri="{FF2B5EF4-FFF2-40B4-BE49-F238E27FC236}">
                <a16:creationId xmlns:a16="http://schemas.microsoft.com/office/drawing/2014/main" id="{5C1B9C5A-D539-6959-9CEE-9B672C14D106}"/>
              </a:ext>
            </a:extLst>
          </p:cNvPr>
          <p:cNvSpPr>
            <a:spLocks noGrp="1"/>
          </p:cNvSpPr>
          <p:nvPr>
            <p:ph idx="1"/>
          </p:nvPr>
        </p:nvSpPr>
        <p:spPr>
          <a:xfrm>
            <a:off x="299487" y="1461639"/>
            <a:ext cx="11392403" cy="4584053"/>
          </a:xfrm>
        </p:spPr>
        <p:txBody>
          <a:bodyPr>
            <a:normAutofit/>
          </a:bodyPr>
          <a:lstStyle/>
          <a:p>
            <a:r>
              <a:rPr lang="en-US" dirty="0"/>
              <a:t>A company is selling quarterly subscriptions for the access to a website.</a:t>
            </a:r>
          </a:p>
          <a:p>
            <a:r>
              <a:rPr lang="en-US" dirty="0"/>
              <a:t>This website provides financial information, financial analyses and valuation models of companies.</a:t>
            </a:r>
          </a:p>
          <a:p>
            <a:r>
              <a:rPr lang="en-US" dirty="0"/>
              <a:t>This company starts its activity at the beginning of February 2026 and sells 10,000 quarterly subscriptions at the beginning of February 2026 (and customers start to use these subscriptions at the beginning of February 2026).</a:t>
            </a:r>
          </a:p>
          <a:p>
            <a:r>
              <a:rPr lang="en-US" dirty="0"/>
              <a:t>The selling price of one quarterly subscription is €45.</a:t>
            </a:r>
          </a:p>
          <a:p>
            <a:r>
              <a:rPr lang="en-US" dirty="0"/>
              <a:t>What is the effect of these quarterly subscriptions on the balance sheet at the end of February 2026, at the end of March 2026 and at the end of April 2026?</a:t>
            </a:r>
          </a:p>
        </p:txBody>
      </p:sp>
      <p:sp>
        <p:nvSpPr>
          <p:cNvPr id="5" name="Slide Number Placeholder 4">
            <a:extLst>
              <a:ext uri="{FF2B5EF4-FFF2-40B4-BE49-F238E27FC236}">
                <a16:creationId xmlns:a16="http://schemas.microsoft.com/office/drawing/2014/main" id="{35166EB6-0031-3BBD-0A65-35D631FFF7DA}"/>
              </a:ext>
            </a:extLst>
          </p:cNvPr>
          <p:cNvSpPr>
            <a:spLocks noGrp="1"/>
          </p:cNvSpPr>
          <p:nvPr>
            <p:ph type="sldNum" sz="quarter" idx="10"/>
          </p:nvPr>
        </p:nvSpPr>
        <p:spPr/>
        <p:txBody>
          <a:bodyPr/>
          <a:lstStyle/>
          <a:p>
            <a:fld id="{307C7597-8D70-4701-8085-9524B0B5C72B}" type="slidenum">
              <a:rPr lang="fr-FR" smtClean="0"/>
              <a:pPr/>
              <a:t>81</a:t>
            </a:fld>
            <a:endParaRPr lang="fr-FR" dirty="0"/>
          </a:p>
        </p:txBody>
      </p:sp>
    </p:spTree>
    <p:extLst>
      <p:ext uri="{BB962C8B-B14F-4D97-AF65-F5344CB8AC3E}">
        <p14:creationId xmlns:p14="http://schemas.microsoft.com/office/powerpoint/2010/main" val="27299801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0B8AA-7537-1E37-E224-1943C432423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7AD85CB-BDC9-DCB9-B738-6210C86F919A}"/>
              </a:ext>
            </a:extLst>
          </p:cNvPr>
          <p:cNvSpPr>
            <a:spLocks noGrp="1"/>
          </p:cNvSpPr>
          <p:nvPr>
            <p:ph type="title"/>
          </p:nvPr>
        </p:nvSpPr>
        <p:spPr/>
        <p:txBody>
          <a:bodyPr>
            <a:normAutofit/>
          </a:bodyPr>
          <a:lstStyle/>
          <a:p>
            <a:r>
              <a:rPr lang="en-US" sz="3092" dirty="0"/>
              <a:t>What is the effect on the balance sheet quarterly subscriptions paid at the beginning and used for one month (Balance sheet as of February 28, 2026)?</a:t>
            </a:r>
          </a:p>
        </p:txBody>
      </p:sp>
      <p:graphicFrame>
        <p:nvGraphicFramePr>
          <p:cNvPr id="6" name="Table 6">
            <a:extLst>
              <a:ext uri="{FF2B5EF4-FFF2-40B4-BE49-F238E27FC236}">
                <a16:creationId xmlns:a16="http://schemas.microsoft.com/office/drawing/2014/main" id="{AFAD54A3-0366-6585-C3EA-9D65025B9AA6}"/>
              </a:ext>
            </a:extLst>
          </p:cNvPr>
          <p:cNvGraphicFramePr>
            <a:graphicFrameLocks noGrp="1"/>
          </p:cNvGraphicFramePr>
          <p:nvPr>
            <p:ph idx="1"/>
            <p:extLst>
              <p:ext uri="{D42A27DB-BD31-4B8C-83A1-F6EECF244321}">
                <p14:modId xmlns:p14="http://schemas.microsoft.com/office/powerpoint/2010/main" val="2102298102"/>
              </p:ext>
            </p:extLst>
          </p:nvPr>
        </p:nvGraphicFramePr>
        <p:xfrm>
          <a:off x="681038" y="1825625"/>
          <a:ext cx="10829922" cy="2897385"/>
        </p:xfrm>
        <a:graphic>
          <a:graphicData uri="http://schemas.openxmlformats.org/drawingml/2006/table">
            <a:tbl>
              <a:tblPr firstRow="1" bandRow="1">
                <a:tableStyleId>{5C22544A-7EE6-4342-B048-85BDC9FD1C3A}</a:tableStyleId>
              </a:tblPr>
              <a:tblGrid>
                <a:gridCol w="1804987">
                  <a:extLst>
                    <a:ext uri="{9D8B030D-6E8A-4147-A177-3AD203B41FA5}">
                      <a16:colId xmlns:a16="http://schemas.microsoft.com/office/drawing/2014/main" val="2031488337"/>
                    </a:ext>
                  </a:extLst>
                </a:gridCol>
                <a:gridCol w="1804987">
                  <a:extLst>
                    <a:ext uri="{9D8B030D-6E8A-4147-A177-3AD203B41FA5}">
                      <a16:colId xmlns:a16="http://schemas.microsoft.com/office/drawing/2014/main" val="526378758"/>
                    </a:ext>
                  </a:extLst>
                </a:gridCol>
                <a:gridCol w="1804987">
                  <a:extLst>
                    <a:ext uri="{9D8B030D-6E8A-4147-A177-3AD203B41FA5}">
                      <a16:colId xmlns:a16="http://schemas.microsoft.com/office/drawing/2014/main" val="325362427"/>
                    </a:ext>
                  </a:extLst>
                </a:gridCol>
                <a:gridCol w="1804987">
                  <a:extLst>
                    <a:ext uri="{9D8B030D-6E8A-4147-A177-3AD203B41FA5}">
                      <a16:colId xmlns:a16="http://schemas.microsoft.com/office/drawing/2014/main" val="1990001942"/>
                    </a:ext>
                  </a:extLst>
                </a:gridCol>
                <a:gridCol w="1804987">
                  <a:extLst>
                    <a:ext uri="{9D8B030D-6E8A-4147-A177-3AD203B41FA5}">
                      <a16:colId xmlns:a16="http://schemas.microsoft.com/office/drawing/2014/main" val="3344489120"/>
                    </a:ext>
                  </a:extLst>
                </a:gridCol>
                <a:gridCol w="1804987">
                  <a:extLst>
                    <a:ext uri="{9D8B030D-6E8A-4147-A177-3AD203B41FA5}">
                      <a16:colId xmlns:a16="http://schemas.microsoft.com/office/drawing/2014/main" val="3436964488"/>
                    </a:ext>
                  </a:extLst>
                </a:gridCol>
              </a:tblGrid>
              <a:tr h="406995">
                <a:tc rowSpan="2">
                  <a:txBody>
                    <a:bodyPr/>
                    <a:lstStyle/>
                    <a:p>
                      <a:pPr algn="ctr"/>
                      <a:r>
                        <a:rPr lang="en-US" sz="2200" dirty="0"/>
                        <a:t>Non-current assets (NCA)</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assets (CA)</a:t>
                      </a:r>
                    </a:p>
                  </a:txBody>
                  <a:tcPr marL="64262" marR="64262" marT="32131" marB="32131" anchor="ctr">
                    <a:lnB w="12700" cap="flat" cmpd="sng" algn="ctr">
                      <a:solidFill>
                        <a:schemeClr val="tx1"/>
                      </a:solidFill>
                      <a:prstDash val="solid"/>
                      <a:round/>
                      <a:headEnd type="none" w="med" len="med"/>
                      <a:tailEnd type="none" w="med" len="med"/>
                    </a:lnB>
                  </a:tcPr>
                </a:tc>
                <a:tc gridSpan="2">
                  <a:txBody>
                    <a:bodyPr/>
                    <a:lstStyle/>
                    <a:p>
                      <a:pPr algn="ctr"/>
                      <a:r>
                        <a:rPr lang="en-US" sz="2200" dirty="0"/>
                        <a:t>Equity</a:t>
                      </a:r>
                    </a:p>
                  </a:txBody>
                  <a:tcPr marL="64262" marR="64262" marT="32131" marB="32131" anchor="ctr"/>
                </a:tc>
                <a:tc hMerge="1">
                  <a:txBody>
                    <a:bodyPr/>
                    <a:lstStyle/>
                    <a:p>
                      <a:endParaRPr lang="en-US" dirty="0"/>
                    </a:p>
                  </a:txBody>
                  <a:tcPr/>
                </a:tc>
                <a:tc rowSpan="2">
                  <a:txBody>
                    <a:bodyPr/>
                    <a:lstStyle/>
                    <a:p>
                      <a:pPr algn="ctr"/>
                      <a:r>
                        <a:rPr lang="en-US" sz="2200" dirty="0"/>
                        <a:t>Non-current liabilities (NCL)</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liabilities (CL)</a:t>
                      </a:r>
                    </a:p>
                  </a:txBody>
                  <a:tcPr marL="64262" marR="64262" marT="32131" marB="32131"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8874"/>
                  </a:ext>
                </a:extLst>
              </a:tr>
              <a:tr h="1435193">
                <a:tc vMerge="1">
                  <a:txBody>
                    <a:bodyPr/>
                    <a:lstStyle/>
                    <a:p>
                      <a:endParaRPr lang="en-US" sz="3200" dirty="0"/>
                    </a:p>
                  </a:txBody>
                  <a:tcPr/>
                </a:tc>
                <a:tc vMerge="1">
                  <a:txBody>
                    <a:bodyPr/>
                    <a:lstStyle/>
                    <a:p>
                      <a:endParaRPr lang="en-US" sz="3200" dirty="0"/>
                    </a:p>
                  </a:txBody>
                  <a:tcPr/>
                </a:tc>
                <a:tc>
                  <a:txBody>
                    <a:bodyPr/>
                    <a:lstStyle/>
                    <a:p>
                      <a:pPr algn="ctr"/>
                      <a:r>
                        <a:rPr lang="en-US" sz="2200" dirty="0"/>
                        <a:t>Share capital and additional paid-in capital</a:t>
                      </a:r>
                    </a:p>
                  </a:txBody>
                  <a:tcPr marL="64262" marR="64262" marT="32131" marB="32131" anchor="ctr">
                    <a:lnB w="12700" cap="flat" cmpd="sng" algn="ctr">
                      <a:solidFill>
                        <a:schemeClr val="tx1"/>
                      </a:solidFill>
                      <a:prstDash val="solid"/>
                      <a:round/>
                      <a:headEnd type="none" w="med" len="med"/>
                      <a:tailEnd type="none" w="med" len="med"/>
                    </a:lnB>
                  </a:tcPr>
                </a:tc>
                <a:tc>
                  <a:txBody>
                    <a:bodyPr/>
                    <a:lstStyle/>
                    <a:p>
                      <a:pPr algn="ctr"/>
                      <a:r>
                        <a:rPr lang="en-US" sz="2200" dirty="0"/>
                        <a:t>Retained earnings and other reserves</a:t>
                      </a:r>
                    </a:p>
                  </a:txBody>
                  <a:tcPr marL="64262" marR="64262" marT="32131" marB="32131" anchor="ctr">
                    <a:lnB w="12700" cap="flat" cmpd="sng" algn="ctr">
                      <a:solidFill>
                        <a:schemeClr val="tx1"/>
                      </a:solidFill>
                      <a:prstDash val="solid"/>
                      <a:round/>
                      <a:headEnd type="none" w="med" len="med"/>
                      <a:tailEnd type="none" w="med" len="med"/>
                    </a:lnB>
                  </a:tcPr>
                </a:tc>
                <a:tc vMerge="1">
                  <a:txBody>
                    <a:bodyPr/>
                    <a:lstStyle/>
                    <a:p>
                      <a:endParaRPr lang="en-US" sz="3200" dirty="0"/>
                    </a:p>
                  </a:txBody>
                  <a:tcPr/>
                </a:tc>
                <a:tc vMerge="1">
                  <a:txBody>
                    <a:bodyPr/>
                    <a:lstStyle/>
                    <a:p>
                      <a:endParaRPr lang="en-US" sz="3200" dirty="0"/>
                    </a:p>
                  </a:txBody>
                  <a:tcPr/>
                </a:tc>
                <a:extLst>
                  <a:ext uri="{0D108BD9-81ED-4DB2-BD59-A6C34878D82A}">
                    <a16:rowId xmlns:a16="http://schemas.microsoft.com/office/drawing/2014/main" val="853442960"/>
                  </a:ext>
                </a:extLst>
              </a:tr>
              <a:tr h="749728">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sz="2200" dirty="0"/>
                    </a:p>
                    <a:p>
                      <a:pPr algn="ctr"/>
                      <a:endParaRPr lang="fr-FR"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25328"/>
                  </a:ext>
                </a:extLst>
              </a:tr>
            </a:tbl>
          </a:graphicData>
        </a:graphic>
      </p:graphicFrame>
      <p:sp>
        <p:nvSpPr>
          <p:cNvPr id="5" name="Slide Number Placeholder 4">
            <a:extLst>
              <a:ext uri="{FF2B5EF4-FFF2-40B4-BE49-F238E27FC236}">
                <a16:creationId xmlns:a16="http://schemas.microsoft.com/office/drawing/2014/main" id="{D0B4F7B8-4DE6-9865-0B75-ABDA830050F0}"/>
              </a:ext>
            </a:extLst>
          </p:cNvPr>
          <p:cNvSpPr>
            <a:spLocks noGrp="1"/>
          </p:cNvSpPr>
          <p:nvPr>
            <p:ph type="sldNum" sz="quarter" idx="10"/>
          </p:nvPr>
        </p:nvSpPr>
        <p:spPr/>
        <p:txBody>
          <a:bodyPr/>
          <a:lstStyle/>
          <a:p>
            <a:fld id="{307C7597-8D70-4701-8085-9524B0B5C72B}" type="slidenum">
              <a:rPr lang="fr-FR" smtClean="0"/>
              <a:pPr/>
              <a:t>82</a:t>
            </a:fld>
            <a:endParaRPr lang="fr-FR" dirty="0"/>
          </a:p>
        </p:txBody>
      </p:sp>
      <p:sp>
        <p:nvSpPr>
          <p:cNvPr id="7" name="TextBox 6">
            <a:extLst>
              <a:ext uri="{FF2B5EF4-FFF2-40B4-BE49-F238E27FC236}">
                <a16:creationId xmlns:a16="http://schemas.microsoft.com/office/drawing/2014/main" id="{5848F3FC-B483-C856-5B42-8323FA4C438B}"/>
              </a:ext>
            </a:extLst>
          </p:cNvPr>
          <p:cNvSpPr txBox="1"/>
          <p:nvPr/>
        </p:nvSpPr>
        <p:spPr>
          <a:xfrm>
            <a:off x="197263" y="4882086"/>
            <a:ext cx="11920756" cy="871008"/>
          </a:xfrm>
          <a:prstGeom prst="rect">
            <a:avLst/>
          </a:prstGeom>
          <a:noFill/>
        </p:spPr>
        <p:txBody>
          <a:bodyPr wrap="square" rtlCol="0">
            <a:spAutoFit/>
          </a:bodyPr>
          <a:lstStyle/>
          <a:p>
            <a:r>
              <a:rPr lang="fr-FR" sz="2530" dirty="0"/>
              <a:t>Revenue = Revenue </a:t>
            </a:r>
            <a:r>
              <a:rPr lang="fr-FR" sz="2530" dirty="0" err="1"/>
              <a:t>from</a:t>
            </a:r>
            <a:r>
              <a:rPr lang="fr-FR" sz="2530" dirty="0"/>
              <a:t> sale of </a:t>
            </a:r>
            <a:r>
              <a:rPr lang="fr-FR" sz="2530" dirty="0" err="1"/>
              <a:t>goods</a:t>
            </a:r>
            <a:r>
              <a:rPr lang="fr-FR" sz="2530" dirty="0"/>
              <a:t> (</a:t>
            </a:r>
            <a:r>
              <a:rPr lang="fr-FR" sz="2530" dirty="0" err="1"/>
              <a:t>recorded</a:t>
            </a:r>
            <a:r>
              <a:rPr lang="fr-FR" sz="2530" dirty="0"/>
              <a:t> </a:t>
            </a:r>
            <a:r>
              <a:rPr lang="fr-FR" sz="2530" dirty="0" err="1"/>
              <a:t>when</a:t>
            </a:r>
            <a:r>
              <a:rPr lang="fr-FR" sz="2530" dirty="0"/>
              <a:t> the </a:t>
            </a:r>
            <a:r>
              <a:rPr lang="fr-FR" sz="2530" dirty="0" err="1"/>
              <a:t>goods</a:t>
            </a:r>
            <a:r>
              <a:rPr lang="fr-FR" sz="2530" dirty="0"/>
              <a:t> are </a:t>
            </a:r>
            <a:r>
              <a:rPr lang="fr-FR" sz="2530" dirty="0" err="1"/>
              <a:t>delivered</a:t>
            </a:r>
            <a:r>
              <a:rPr lang="fr-FR" sz="2530" dirty="0"/>
              <a:t>)</a:t>
            </a:r>
          </a:p>
          <a:p>
            <a:r>
              <a:rPr lang="fr-FR" sz="2530" dirty="0"/>
              <a:t>+ Revenue </a:t>
            </a:r>
            <a:r>
              <a:rPr lang="fr-FR" sz="2530" dirty="0" err="1"/>
              <a:t>from</a:t>
            </a:r>
            <a:r>
              <a:rPr lang="fr-FR" sz="2530" dirty="0"/>
              <a:t> sale of services (</a:t>
            </a:r>
            <a:r>
              <a:rPr lang="fr-FR" sz="2530" dirty="0" err="1"/>
              <a:t>recorded</a:t>
            </a:r>
            <a:r>
              <a:rPr lang="fr-FR" sz="2530" dirty="0"/>
              <a:t> </a:t>
            </a:r>
            <a:r>
              <a:rPr lang="fr-FR" sz="2530" dirty="0" err="1"/>
              <a:t>when</a:t>
            </a:r>
            <a:r>
              <a:rPr lang="fr-FR" sz="2530" dirty="0"/>
              <a:t> the service </a:t>
            </a:r>
            <a:r>
              <a:rPr lang="fr-FR" sz="2530" dirty="0" err="1"/>
              <a:t>is</a:t>
            </a:r>
            <a:r>
              <a:rPr lang="fr-FR" sz="2530" dirty="0"/>
              <a:t> </a:t>
            </a:r>
            <a:r>
              <a:rPr lang="fr-FR" sz="2530" dirty="0" err="1"/>
              <a:t>rendered</a:t>
            </a:r>
            <a:r>
              <a:rPr lang="fr-FR" sz="2530" dirty="0"/>
              <a:t>)</a:t>
            </a:r>
          </a:p>
        </p:txBody>
      </p:sp>
    </p:spTree>
    <p:extLst>
      <p:ext uri="{BB962C8B-B14F-4D97-AF65-F5344CB8AC3E}">
        <p14:creationId xmlns:p14="http://schemas.microsoft.com/office/powerpoint/2010/main" val="25609535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9BA5B-8104-03FE-D904-E70900B3AC2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0AB0D9B-BC67-B78C-C9E2-F14AA523578D}"/>
              </a:ext>
            </a:extLst>
          </p:cNvPr>
          <p:cNvSpPr>
            <a:spLocks noGrp="1"/>
          </p:cNvSpPr>
          <p:nvPr>
            <p:ph type="title"/>
          </p:nvPr>
        </p:nvSpPr>
        <p:spPr/>
        <p:txBody>
          <a:bodyPr>
            <a:normAutofit/>
          </a:bodyPr>
          <a:lstStyle/>
          <a:p>
            <a:r>
              <a:rPr lang="en-US" sz="3092" dirty="0"/>
              <a:t>What is the effect on the balance sheet quarterly subscriptions paid at the beginning and used for one month (Balance sheet as of February 28, 2026)?</a:t>
            </a:r>
          </a:p>
        </p:txBody>
      </p:sp>
      <p:graphicFrame>
        <p:nvGraphicFramePr>
          <p:cNvPr id="6" name="Table 6">
            <a:extLst>
              <a:ext uri="{FF2B5EF4-FFF2-40B4-BE49-F238E27FC236}">
                <a16:creationId xmlns:a16="http://schemas.microsoft.com/office/drawing/2014/main" id="{1C5FAE54-2FF4-413D-C8D1-B87D03A5957C}"/>
              </a:ext>
            </a:extLst>
          </p:cNvPr>
          <p:cNvGraphicFramePr>
            <a:graphicFrameLocks noGrp="1"/>
          </p:cNvGraphicFramePr>
          <p:nvPr>
            <p:ph idx="1"/>
            <p:extLst>
              <p:ext uri="{D42A27DB-BD31-4B8C-83A1-F6EECF244321}">
                <p14:modId xmlns:p14="http://schemas.microsoft.com/office/powerpoint/2010/main" val="2307724172"/>
              </p:ext>
            </p:extLst>
          </p:nvPr>
        </p:nvGraphicFramePr>
        <p:xfrm>
          <a:off x="681038" y="1825625"/>
          <a:ext cx="10829922" cy="4268315"/>
        </p:xfrm>
        <a:graphic>
          <a:graphicData uri="http://schemas.openxmlformats.org/drawingml/2006/table">
            <a:tbl>
              <a:tblPr firstRow="1" bandRow="1">
                <a:tableStyleId>{5C22544A-7EE6-4342-B048-85BDC9FD1C3A}</a:tableStyleId>
              </a:tblPr>
              <a:tblGrid>
                <a:gridCol w="1804987">
                  <a:extLst>
                    <a:ext uri="{9D8B030D-6E8A-4147-A177-3AD203B41FA5}">
                      <a16:colId xmlns:a16="http://schemas.microsoft.com/office/drawing/2014/main" val="2031488337"/>
                    </a:ext>
                  </a:extLst>
                </a:gridCol>
                <a:gridCol w="1804987">
                  <a:extLst>
                    <a:ext uri="{9D8B030D-6E8A-4147-A177-3AD203B41FA5}">
                      <a16:colId xmlns:a16="http://schemas.microsoft.com/office/drawing/2014/main" val="526378758"/>
                    </a:ext>
                  </a:extLst>
                </a:gridCol>
                <a:gridCol w="1804987">
                  <a:extLst>
                    <a:ext uri="{9D8B030D-6E8A-4147-A177-3AD203B41FA5}">
                      <a16:colId xmlns:a16="http://schemas.microsoft.com/office/drawing/2014/main" val="325362427"/>
                    </a:ext>
                  </a:extLst>
                </a:gridCol>
                <a:gridCol w="1804987">
                  <a:extLst>
                    <a:ext uri="{9D8B030D-6E8A-4147-A177-3AD203B41FA5}">
                      <a16:colId xmlns:a16="http://schemas.microsoft.com/office/drawing/2014/main" val="1990001942"/>
                    </a:ext>
                  </a:extLst>
                </a:gridCol>
                <a:gridCol w="1804987">
                  <a:extLst>
                    <a:ext uri="{9D8B030D-6E8A-4147-A177-3AD203B41FA5}">
                      <a16:colId xmlns:a16="http://schemas.microsoft.com/office/drawing/2014/main" val="3344489120"/>
                    </a:ext>
                  </a:extLst>
                </a:gridCol>
                <a:gridCol w="1804987">
                  <a:extLst>
                    <a:ext uri="{9D8B030D-6E8A-4147-A177-3AD203B41FA5}">
                      <a16:colId xmlns:a16="http://schemas.microsoft.com/office/drawing/2014/main" val="3436964488"/>
                    </a:ext>
                  </a:extLst>
                </a:gridCol>
              </a:tblGrid>
              <a:tr h="406995">
                <a:tc rowSpan="2">
                  <a:txBody>
                    <a:bodyPr/>
                    <a:lstStyle/>
                    <a:p>
                      <a:pPr algn="ctr"/>
                      <a:r>
                        <a:rPr lang="en-US" sz="2200" dirty="0"/>
                        <a:t>Non-current assets (NCA)</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assets (CA)</a:t>
                      </a:r>
                    </a:p>
                  </a:txBody>
                  <a:tcPr marL="64262" marR="64262" marT="32131" marB="32131" anchor="ctr">
                    <a:lnB w="12700" cap="flat" cmpd="sng" algn="ctr">
                      <a:solidFill>
                        <a:schemeClr val="tx1"/>
                      </a:solidFill>
                      <a:prstDash val="solid"/>
                      <a:round/>
                      <a:headEnd type="none" w="med" len="med"/>
                      <a:tailEnd type="none" w="med" len="med"/>
                    </a:lnB>
                  </a:tcPr>
                </a:tc>
                <a:tc gridSpan="2">
                  <a:txBody>
                    <a:bodyPr/>
                    <a:lstStyle/>
                    <a:p>
                      <a:pPr algn="ctr"/>
                      <a:r>
                        <a:rPr lang="en-US" sz="2200" dirty="0"/>
                        <a:t>Equity</a:t>
                      </a:r>
                    </a:p>
                  </a:txBody>
                  <a:tcPr marL="64262" marR="64262" marT="32131" marB="32131" anchor="ctr"/>
                </a:tc>
                <a:tc hMerge="1">
                  <a:txBody>
                    <a:bodyPr/>
                    <a:lstStyle/>
                    <a:p>
                      <a:endParaRPr lang="en-US" dirty="0"/>
                    </a:p>
                  </a:txBody>
                  <a:tcPr/>
                </a:tc>
                <a:tc rowSpan="2">
                  <a:txBody>
                    <a:bodyPr/>
                    <a:lstStyle/>
                    <a:p>
                      <a:pPr algn="ctr"/>
                      <a:r>
                        <a:rPr lang="en-US" sz="2200" dirty="0"/>
                        <a:t>Non-current liabilities (NCL)</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liabilities (CL)</a:t>
                      </a:r>
                    </a:p>
                  </a:txBody>
                  <a:tcPr marL="64262" marR="64262" marT="32131" marB="32131"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8874"/>
                  </a:ext>
                </a:extLst>
              </a:tr>
              <a:tr h="1435193">
                <a:tc vMerge="1">
                  <a:txBody>
                    <a:bodyPr/>
                    <a:lstStyle/>
                    <a:p>
                      <a:endParaRPr lang="en-US" sz="3200" dirty="0"/>
                    </a:p>
                  </a:txBody>
                  <a:tcPr/>
                </a:tc>
                <a:tc vMerge="1">
                  <a:txBody>
                    <a:bodyPr/>
                    <a:lstStyle/>
                    <a:p>
                      <a:endParaRPr lang="en-US" sz="3200" dirty="0"/>
                    </a:p>
                  </a:txBody>
                  <a:tcPr/>
                </a:tc>
                <a:tc>
                  <a:txBody>
                    <a:bodyPr/>
                    <a:lstStyle/>
                    <a:p>
                      <a:pPr algn="ctr"/>
                      <a:r>
                        <a:rPr lang="en-US" sz="2200" dirty="0"/>
                        <a:t>Share capital and additional paid-in capital</a:t>
                      </a:r>
                    </a:p>
                  </a:txBody>
                  <a:tcPr marL="64262" marR="64262" marT="32131" marB="32131" anchor="ctr">
                    <a:lnB w="12700" cap="flat" cmpd="sng" algn="ctr">
                      <a:solidFill>
                        <a:schemeClr val="tx1"/>
                      </a:solidFill>
                      <a:prstDash val="solid"/>
                      <a:round/>
                      <a:headEnd type="none" w="med" len="med"/>
                      <a:tailEnd type="none" w="med" len="med"/>
                    </a:lnB>
                  </a:tcPr>
                </a:tc>
                <a:tc>
                  <a:txBody>
                    <a:bodyPr/>
                    <a:lstStyle/>
                    <a:p>
                      <a:pPr algn="ctr"/>
                      <a:r>
                        <a:rPr lang="en-US" sz="2200" dirty="0"/>
                        <a:t>Retained earnings and other reserves</a:t>
                      </a:r>
                    </a:p>
                  </a:txBody>
                  <a:tcPr marL="64262" marR="64262" marT="32131" marB="32131" anchor="ctr">
                    <a:lnB w="12700" cap="flat" cmpd="sng" algn="ctr">
                      <a:solidFill>
                        <a:schemeClr val="tx1"/>
                      </a:solidFill>
                      <a:prstDash val="solid"/>
                      <a:round/>
                      <a:headEnd type="none" w="med" len="med"/>
                      <a:tailEnd type="none" w="med" len="med"/>
                    </a:lnB>
                  </a:tcPr>
                </a:tc>
                <a:tc vMerge="1">
                  <a:txBody>
                    <a:bodyPr/>
                    <a:lstStyle/>
                    <a:p>
                      <a:endParaRPr lang="en-US" sz="3200" dirty="0"/>
                    </a:p>
                  </a:txBody>
                  <a:tcPr/>
                </a:tc>
                <a:tc vMerge="1">
                  <a:txBody>
                    <a:bodyPr/>
                    <a:lstStyle/>
                    <a:p>
                      <a:endParaRPr lang="en-US" sz="3200" dirty="0"/>
                    </a:p>
                  </a:txBody>
                  <a:tcPr/>
                </a:tc>
                <a:extLst>
                  <a:ext uri="{0D108BD9-81ED-4DB2-BD59-A6C34878D82A}">
                    <a16:rowId xmlns:a16="http://schemas.microsoft.com/office/drawing/2014/main" val="853442960"/>
                  </a:ext>
                </a:extLst>
              </a:tr>
              <a:tr h="2120658">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2200" dirty="0"/>
                        <a:t>Cash:</a:t>
                      </a:r>
                    </a:p>
                    <a:p>
                      <a:pPr algn="ctr"/>
                      <a:r>
                        <a:rPr lang="fr-FR" sz="2200" dirty="0"/>
                        <a:t>€450,000</a:t>
                      </a: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dirty="0"/>
                        <a:t>Revenue: 10,000 x 45 / 3 = €150,000</a:t>
                      </a:r>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200" dirty="0"/>
                        <a:t>Unearned (or deferred) revenue: 10,000 x 45 x 2/3 = €300,000</a:t>
                      </a:r>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25328"/>
                  </a:ext>
                </a:extLst>
              </a:tr>
            </a:tbl>
          </a:graphicData>
        </a:graphic>
      </p:graphicFrame>
      <p:sp>
        <p:nvSpPr>
          <p:cNvPr id="5" name="Slide Number Placeholder 4">
            <a:extLst>
              <a:ext uri="{FF2B5EF4-FFF2-40B4-BE49-F238E27FC236}">
                <a16:creationId xmlns:a16="http://schemas.microsoft.com/office/drawing/2014/main" id="{41A9D8CE-093F-7861-61D5-FE6E2A80D074}"/>
              </a:ext>
            </a:extLst>
          </p:cNvPr>
          <p:cNvSpPr>
            <a:spLocks noGrp="1"/>
          </p:cNvSpPr>
          <p:nvPr>
            <p:ph type="sldNum" sz="quarter" idx="10"/>
          </p:nvPr>
        </p:nvSpPr>
        <p:spPr/>
        <p:txBody>
          <a:bodyPr/>
          <a:lstStyle/>
          <a:p>
            <a:fld id="{307C7597-8D70-4701-8085-9524B0B5C72B}" type="slidenum">
              <a:rPr lang="fr-FR" smtClean="0"/>
              <a:pPr/>
              <a:t>83</a:t>
            </a:fld>
            <a:endParaRPr lang="fr-FR" dirty="0"/>
          </a:p>
        </p:txBody>
      </p:sp>
    </p:spTree>
    <p:extLst>
      <p:ext uri="{BB962C8B-B14F-4D97-AF65-F5344CB8AC3E}">
        <p14:creationId xmlns:p14="http://schemas.microsoft.com/office/powerpoint/2010/main" val="307285280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40BFA-1734-A026-CF7B-0D47BCB1E71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23B60DA-4553-9407-26DF-3D14E4A7E85D}"/>
              </a:ext>
            </a:extLst>
          </p:cNvPr>
          <p:cNvSpPr>
            <a:spLocks noGrp="1"/>
          </p:cNvSpPr>
          <p:nvPr>
            <p:ph type="title"/>
          </p:nvPr>
        </p:nvSpPr>
        <p:spPr/>
        <p:txBody>
          <a:bodyPr>
            <a:normAutofit/>
          </a:bodyPr>
          <a:lstStyle/>
          <a:p>
            <a:r>
              <a:rPr lang="en-US" sz="3092" dirty="0"/>
              <a:t>What is the effect on the balance sheet quarterly subscriptions paid at the beginning and used for two months (Balance sheet as of March 31, 2026)?</a:t>
            </a:r>
          </a:p>
        </p:txBody>
      </p:sp>
      <p:graphicFrame>
        <p:nvGraphicFramePr>
          <p:cNvPr id="6" name="Table 6">
            <a:extLst>
              <a:ext uri="{FF2B5EF4-FFF2-40B4-BE49-F238E27FC236}">
                <a16:creationId xmlns:a16="http://schemas.microsoft.com/office/drawing/2014/main" id="{91ED5AC2-7657-AF0F-11D1-4DB553C8A6B0}"/>
              </a:ext>
            </a:extLst>
          </p:cNvPr>
          <p:cNvGraphicFramePr>
            <a:graphicFrameLocks noGrp="1"/>
          </p:cNvGraphicFramePr>
          <p:nvPr>
            <p:ph idx="1"/>
            <p:extLst>
              <p:ext uri="{D42A27DB-BD31-4B8C-83A1-F6EECF244321}">
                <p14:modId xmlns:p14="http://schemas.microsoft.com/office/powerpoint/2010/main" val="2304709376"/>
              </p:ext>
            </p:extLst>
          </p:nvPr>
        </p:nvGraphicFramePr>
        <p:xfrm>
          <a:off x="681038" y="1825625"/>
          <a:ext cx="10829922" cy="4268315"/>
        </p:xfrm>
        <a:graphic>
          <a:graphicData uri="http://schemas.openxmlformats.org/drawingml/2006/table">
            <a:tbl>
              <a:tblPr firstRow="1" bandRow="1">
                <a:tableStyleId>{5C22544A-7EE6-4342-B048-85BDC9FD1C3A}</a:tableStyleId>
              </a:tblPr>
              <a:tblGrid>
                <a:gridCol w="1804987">
                  <a:extLst>
                    <a:ext uri="{9D8B030D-6E8A-4147-A177-3AD203B41FA5}">
                      <a16:colId xmlns:a16="http://schemas.microsoft.com/office/drawing/2014/main" val="2031488337"/>
                    </a:ext>
                  </a:extLst>
                </a:gridCol>
                <a:gridCol w="1804987">
                  <a:extLst>
                    <a:ext uri="{9D8B030D-6E8A-4147-A177-3AD203B41FA5}">
                      <a16:colId xmlns:a16="http://schemas.microsoft.com/office/drawing/2014/main" val="526378758"/>
                    </a:ext>
                  </a:extLst>
                </a:gridCol>
                <a:gridCol w="1804987">
                  <a:extLst>
                    <a:ext uri="{9D8B030D-6E8A-4147-A177-3AD203B41FA5}">
                      <a16:colId xmlns:a16="http://schemas.microsoft.com/office/drawing/2014/main" val="325362427"/>
                    </a:ext>
                  </a:extLst>
                </a:gridCol>
                <a:gridCol w="1804987">
                  <a:extLst>
                    <a:ext uri="{9D8B030D-6E8A-4147-A177-3AD203B41FA5}">
                      <a16:colId xmlns:a16="http://schemas.microsoft.com/office/drawing/2014/main" val="1990001942"/>
                    </a:ext>
                  </a:extLst>
                </a:gridCol>
                <a:gridCol w="1804987">
                  <a:extLst>
                    <a:ext uri="{9D8B030D-6E8A-4147-A177-3AD203B41FA5}">
                      <a16:colId xmlns:a16="http://schemas.microsoft.com/office/drawing/2014/main" val="3344489120"/>
                    </a:ext>
                  </a:extLst>
                </a:gridCol>
                <a:gridCol w="1804987">
                  <a:extLst>
                    <a:ext uri="{9D8B030D-6E8A-4147-A177-3AD203B41FA5}">
                      <a16:colId xmlns:a16="http://schemas.microsoft.com/office/drawing/2014/main" val="3436964488"/>
                    </a:ext>
                  </a:extLst>
                </a:gridCol>
              </a:tblGrid>
              <a:tr h="406995">
                <a:tc rowSpan="2">
                  <a:txBody>
                    <a:bodyPr/>
                    <a:lstStyle/>
                    <a:p>
                      <a:pPr algn="ctr"/>
                      <a:r>
                        <a:rPr lang="en-US" sz="2200" dirty="0"/>
                        <a:t>Non-current assets (NCA)</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assets (CA)</a:t>
                      </a:r>
                    </a:p>
                  </a:txBody>
                  <a:tcPr marL="64262" marR="64262" marT="32131" marB="32131" anchor="ctr">
                    <a:lnB w="12700" cap="flat" cmpd="sng" algn="ctr">
                      <a:solidFill>
                        <a:schemeClr val="tx1"/>
                      </a:solidFill>
                      <a:prstDash val="solid"/>
                      <a:round/>
                      <a:headEnd type="none" w="med" len="med"/>
                      <a:tailEnd type="none" w="med" len="med"/>
                    </a:lnB>
                  </a:tcPr>
                </a:tc>
                <a:tc gridSpan="2">
                  <a:txBody>
                    <a:bodyPr/>
                    <a:lstStyle/>
                    <a:p>
                      <a:pPr algn="ctr"/>
                      <a:r>
                        <a:rPr lang="en-US" sz="2200" dirty="0"/>
                        <a:t>Equity</a:t>
                      </a:r>
                    </a:p>
                  </a:txBody>
                  <a:tcPr marL="64262" marR="64262" marT="32131" marB="32131" anchor="ctr"/>
                </a:tc>
                <a:tc hMerge="1">
                  <a:txBody>
                    <a:bodyPr/>
                    <a:lstStyle/>
                    <a:p>
                      <a:endParaRPr lang="en-US" dirty="0"/>
                    </a:p>
                  </a:txBody>
                  <a:tcPr/>
                </a:tc>
                <a:tc rowSpan="2">
                  <a:txBody>
                    <a:bodyPr/>
                    <a:lstStyle/>
                    <a:p>
                      <a:pPr algn="ctr"/>
                      <a:r>
                        <a:rPr lang="en-US" sz="2200" dirty="0"/>
                        <a:t>Non-current liabilities (NCL)</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liabilities (CL)</a:t>
                      </a:r>
                    </a:p>
                  </a:txBody>
                  <a:tcPr marL="64262" marR="64262" marT="32131" marB="32131"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8874"/>
                  </a:ext>
                </a:extLst>
              </a:tr>
              <a:tr h="1435193">
                <a:tc vMerge="1">
                  <a:txBody>
                    <a:bodyPr/>
                    <a:lstStyle/>
                    <a:p>
                      <a:endParaRPr lang="en-US" sz="3200" dirty="0"/>
                    </a:p>
                  </a:txBody>
                  <a:tcPr/>
                </a:tc>
                <a:tc vMerge="1">
                  <a:txBody>
                    <a:bodyPr/>
                    <a:lstStyle/>
                    <a:p>
                      <a:endParaRPr lang="en-US" sz="3200" dirty="0"/>
                    </a:p>
                  </a:txBody>
                  <a:tcPr/>
                </a:tc>
                <a:tc>
                  <a:txBody>
                    <a:bodyPr/>
                    <a:lstStyle/>
                    <a:p>
                      <a:pPr algn="ctr"/>
                      <a:r>
                        <a:rPr lang="en-US" sz="2200" dirty="0"/>
                        <a:t>Share capital and additional paid-in capital</a:t>
                      </a:r>
                    </a:p>
                  </a:txBody>
                  <a:tcPr marL="64262" marR="64262" marT="32131" marB="32131" anchor="ctr">
                    <a:lnB w="12700" cap="flat" cmpd="sng" algn="ctr">
                      <a:solidFill>
                        <a:schemeClr val="tx1"/>
                      </a:solidFill>
                      <a:prstDash val="solid"/>
                      <a:round/>
                      <a:headEnd type="none" w="med" len="med"/>
                      <a:tailEnd type="none" w="med" len="med"/>
                    </a:lnB>
                  </a:tcPr>
                </a:tc>
                <a:tc>
                  <a:txBody>
                    <a:bodyPr/>
                    <a:lstStyle/>
                    <a:p>
                      <a:pPr algn="ctr"/>
                      <a:r>
                        <a:rPr lang="en-US" sz="2200" dirty="0"/>
                        <a:t>Retained earnings and other reserves</a:t>
                      </a:r>
                    </a:p>
                  </a:txBody>
                  <a:tcPr marL="64262" marR="64262" marT="32131" marB="32131" anchor="ctr">
                    <a:lnB w="12700" cap="flat" cmpd="sng" algn="ctr">
                      <a:solidFill>
                        <a:schemeClr val="tx1"/>
                      </a:solidFill>
                      <a:prstDash val="solid"/>
                      <a:round/>
                      <a:headEnd type="none" w="med" len="med"/>
                      <a:tailEnd type="none" w="med" len="med"/>
                    </a:lnB>
                  </a:tcPr>
                </a:tc>
                <a:tc vMerge="1">
                  <a:txBody>
                    <a:bodyPr/>
                    <a:lstStyle/>
                    <a:p>
                      <a:endParaRPr lang="en-US" sz="3200" dirty="0"/>
                    </a:p>
                  </a:txBody>
                  <a:tcPr/>
                </a:tc>
                <a:tc vMerge="1">
                  <a:txBody>
                    <a:bodyPr/>
                    <a:lstStyle/>
                    <a:p>
                      <a:endParaRPr lang="en-US" sz="3200" dirty="0"/>
                    </a:p>
                  </a:txBody>
                  <a:tcPr/>
                </a:tc>
                <a:extLst>
                  <a:ext uri="{0D108BD9-81ED-4DB2-BD59-A6C34878D82A}">
                    <a16:rowId xmlns:a16="http://schemas.microsoft.com/office/drawing/2014/main" val="853442960"/>
                  </a:ext>
                </a:extLst>
              </a:tr>
              <a:tr h="2120658">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2200" dirty="0"/>
                        <a:t>Cash:</a:t>
                      </a:r>
                    </a:p>
                    <a:p>
                      <a:pPr algn="ctr"/>
                      <a:r>
                        <a:rPr lang="fr-FR" sz="2200" dirty="0"/>
                        <a:t>€450,000</a:t>
                      </a:r>
                      <a:endParaRPr lang="en-US" sz="2200" dirty="0"/>
                    </a:p>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dirty="0"/>
                        <a:t>Revenue: 10,000 x 45 x (1/3 + 1/3) </a:t>
                      </a:r>
                    </a:p>
                    <a:p>
                      <a:pPr algn="ctr"/>
                      <a:r>
                        <a:rPr lang="en-US" sz="2200" dirty="0"/>
                        <a:t>= €300,000</a:t>
                      </a:r>
                    </a:p>
                    <a:p>
                      <a:pPr algn="ctr"/>
                      <a:r>
                        <a:rPr lang="en-US" sz="2200" dirty="0"/>
                        <a:t>(revenue for 2 months)</a:t>
                      </a:r>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200" dirty="0"/>
                        <a:t>Unearned (or deferred) revenue: 10,000 x 45 x (2/3 – 1/3) = €150,000</a:t>
                      </a:r>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25328"/>
                  </a:ext>
                </a:extLst>
              </a:tr>
            </a:tbl>
          </a:graphicData>
        </a:graphic>
      </p:graphicFrame>
      <p:sp>
        <p:nvSpPr>
          <p:cNvPr id="5" name="Slide Number Placeholder 4">
            <a:extLst>
              <a:ext uri="{FF2B5EF4-FFF2-40B4-BE49-F238E27FC236}">
                <a16:creationId xmlns:a16="http://schemas.microsoft.com/office/drawing/2014/main" id="{14D9AB28-56A3-F624-8465-CCADD08F6DE5}"/>
              </a:ext>
            </a:extLst>
          </p:cNvPr>
          <p:cNvSpPr>
            <a:spLocks noGrp="1"/>
          </p:cNvSpPr>
          <p:nvPr>
            <p:ph type="sldNum" sz="quarter" idx="10"/>
          </p:nvPr>
        </p:nvSpPr>
        <p:spPr/>
        <p:txBody>
          <a:bodyPr/>
          <a:lstStyle/>
          <a:p>
            <a:fld id="{307C7597-8D70-4701-8085-9524B0B5C72B}" type="slidenum">
              <a:rPr lang="fr-FR" smtClean="0"/>
              <a:pPr/>
              <a:t>84</a:t>
            </a:fld>
            <a:endParaRPr lang="fr-FR" dirty="0"/>
          </a:p>
        </p:txBody>
      </p:sp>
    </p:spTree>
    <p:extLst>
      <p:ext uri="{BB962C8B-B14F-4D97-AF65-F5344CB8AC3E}">
        <p14:creationId xmlns:p14="http://schemas.microsoft.com/office/powerpoint/2010/main" val="318779599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D4BDB-0B90-8B88-2F6C-E680F5AF30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CFAE97B-A249-50C5-0E0C-1B443945FBC6}"/>
              </a:ext>
            </a:extLst>
          </p:cNvPr>
          <p:cNvSpPr>
            <a:spLocks noGrp="1"/>
          </p:cNvSpPr>
          <p:nvPr>
            <p:ph type="title"/>
          </p:nvPr>
        </p:nvSpPr>
        <p:spPr/>
        <p:txBody>
          <a:bodyPr>
            <a:normAutofit/>
          </a:bodyPr>
          <a:lstStyle/>
          <a:p>
            <a:r>
              <a:rPr lang="en-US" sz="3092" dirty="0"/>
              <a:t>What is the effect on the balance sheet quarterly subscriptions paid at the beginning and used for two months (Balance sheet as of April 30, 2026)?</a:t>
            </a:r>
          </a:p>
        </p:txBody>
      </p:sp>
      <p:graphicFrame>
        <p:nvGraphicFramePr>
          <p:cNvPr id="6" name="Table 6">
            <a:extLst>
              <a:ext uri="{FF2B5EF4-FFF2-40B4-BE49-F238E27FC236}">
                <a16:creationId xmlns:a16="http://schemas.microsoft.com/office/drawing/2014/main" id="{5760D858-D465-B0EE-97D3-F02425C18979}"/>
              </a:ext>
            </a:extLst>
          </p:cNvPr>
          <p:cNvGraphicFramePr>
            <a:graphicFrameLocks noGrp="1"/>
          </p:cNvGraphicFramePr>
          <p:nvPr>
            <p:ph idx="1"/>
            <p:extLst>
              <p:ext uri="{D42A27DB-BD31-4B8C-83A1-F6EECF244321}">
                <p14:modId xmlns:p14="http://schemas.microsoft.com/office/powerpoint/2010/main" val="3638484116"/>
              </p:ext>
            </p:extLst>
          </p:nvPr>
        </p:nvGraphicFramePr>
        <p:xfrm>
          <a:off x="681038" y="1825625"/>
          <a:ext cx="10829922" cy="4611048"/>
        </p:xfrm>
        <a:graphic>
          <a:graphicData uri="http://schemas.openxmlformats.org/drawingml/2006/table">
            <a:tbl>
              <a:tblPr firstRow="1" bandRow="1">
                <a:tableStyleId>{5C22544A-7EE6-4342-B048-85BDC9FD1C3A}</a:tableStyleId>
              </a:tblPr>
              <a:tblGrid>
                <a:gridCol w="1804987">
                  <a:extLst>
                    <a:ext uri="{9D8B030D-6E8A-4147-A177-3AD203B41FA5}">
                      <a16:colId xmlns:a16="http://schemas.microsoft.com/office/drawing/2014/main" val="2031488337"/>
                    </a:ext>
                  </a:extLst>
                </a:gridCol>
                <a:gridCol w="1804987">
                  <a:extLst>
                    <a:ext uri="{9D8B030D-6E8A-4147-A177-3AD203B41FA5}">
                      <a16:colId xmlns:a16="http://schemas.microsoft.com/office/drawing/2014/main" val="526378758"/>
                    </a:ext>
                  </a:extLst>
                </a:gridCol>
                <a:gridCol w="1804987">
                  <a:extLst>
                    <a:ext uri="{9D8B030D-6E8A-4147-A177-3AD203B41FA5}">
                      <a16:colId xmlns:a16="http://schemas.microsoft.com/office/drawing/2014/main" val="325362427"/>
                    </a:ext>
                  </a:extLst>
                </a:gridCol>
                <a:gridCol w="1804987">
                  <a:extLst>
                    <a:ext uri="{9D8B030D-6E8A-4147-A177-3AD203B41FA5}">
                      <a16:colId xmlns:a16="http://schemas.microsoft.com/office/drawing/2014/main" val="1990001942"/>
                    </a:ext>
                  </a:extLst>
                </a:gridCol>
                <a:gridCol w="1804987">
                  <a:extLst>
                    <a:ext uri="{9D8B030D-6E8A-4147-A177-3AD203B41FA5}">
                      <a16:colId xmlns:a16="http://schemas.microsoft.com/office/drawing/2014/main" val="3344489120"/>
                    </a:ext>
                  </a:extLst>
                </a:gridCol>
                <a:gridCol w="1804987">
                  <a:extLst>
                    <a:ext uri="{9D8B030D-6E8A-4147-A177-3AD203B41FA5}">
                      <a16:colId xmlns:a16="http://schemas.microsoft.com/office/drawing/2014/main" val="3436964488"/>
                    </a:ext>
                  </a:extLst>
                </a:gridCol>
              </a:tblGrid>
              <a:tr h="406995">
                <a:tc rowSpan="2">
                  <a:txBody>
                    <a:bodyPr/>
                    <a:lstStyle/>
                    <a:p>
                      <a:pPr algn="ctr"/>
                      <a:r>
                        <a:rPr lang="en-US" sz="2200" dirty="0"/>
                        <a:t>Non-current assets (NCA)</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assets (CA)</a:t>
                      </a:r>
                    </a:p>
                  </a:txBody>
                  <a:tcPr marL="64262" marR="64262" marT="32131" marB="32131" anchor="ctr">
                    <a:lnB w="12700" cap="flat" cmpd="sng" algn="ctr">
                      <a:solidFill>
                        <a:schemeClr val="tx1"/>
                      </a:solidFill>
                      <a:prstDash val="solid"/>
                      <a:round/>
                      <a:headEnd type="none" w="med" len="med"/>
                      <a:tailEnd type="none" w="med" len="med"/>
                    </a:lnB>
                  </a:tcPr>
                </a:tc>
                <a:tc gridSpan="2">
                  <a:txBody>
                    <a:bodyPr/>
                    <a:lstStyle/>
                    <a:p>
                      <a:pPr algn="ctr"/>
                      <a:r>
                        <a:rPr lang="en-US" sz="2200" dirty="0"/>
                        <a:t>Equity</a:t>
                      </a:r>
                    </a:p>
                  </a:txBody>
                  <a:tcPr marL="64262" marR="64262" marT="32131" marB="32131" anchor="ctr"/>
                </a:tc>
                <a:tc hMerge="1">
                  <a:txBody>
                    <a:bodyPr/>
                    <a:lstStyle/>
                    <a:p>
                      <a:endParaRPr lang="en-US" dirty="0"/>
                    </a:p>
                  </a:txBody>
                  <a:tcPr/>
                </a:tc>
                <a:tc rowSpan="2">
                  <a:txBody>
                    <a:bodyPr/>
                    <a:lstStyle/>
                    <a:p>
                      <a:pPr algn="ctr"/>
                      <a:r>
                        <a:rPr lang="en-US" sz="2200" dirty="0"/>
                        <a:t>Non-current liabilities (NCL)</a:t>
                      </a:r>
                    </a:p>
                  </a:txBody>
                  <a:tcPr marL="64262" marR="64262" marT="32131" marB="32131" anchor="ctr">
                    <a:lnB w="12700" cap="flat" cmpd="sng" algn="ctr">
                      <a:solidFill>
                        <a:schemeClr val="tx1"/>
                      </a:solidFill>
                      <a:prstDash val="solid"/>
                      <a:round/>
                      <a:headEnd type="none" w="med" len="med"/>
                      <a:tailEnd type="none" w="med" len="med"/>
                    </a:lnB>
                  </a:tcPr>
                </a:tc>
                <a:tc rowSpan="2">
                  <a:txBody>
                    <a:bodyPr/>
                    <a:lstStyle/>
                    <a:p>
                      <a:pPr algn="ctr"/>
                      <a:r>
                        <a:rPr lang="en-US" sz="2200" dirty="0"/>
                        <a:t>Current liabilities (CL)</a:t>
                      </a:r>
                    </a:p>
                  </a:txBody>
                  <a:tcPr marL="64262" marR="64262" marT="32131" marB="32131"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8874"/>
                  </a:ext>
                </a:extLst>
              </a:tr>
              <a:tr h="1435193">
                <a:tc vMerge="1">
                  <a:txBody>
                    <a:bodyPr/>
                    <a:lstStyle/>
                    <a:p>
                      <a:endParaRPr lang="en-US" sz="3200" dirty="0"/>
                    </a:p>
                  </a:txBody>
                  <a:tcPr/>
                </a:tc>
                <a:tc vMerge="1">
                  <a:txBody>
                    <a:bodyPr/>
                    <a:lstStyle/>
                    <a:p>
                      <a:endParaRPr lang="en-US" sz="3200" dirty="0"/>
                    </a:p>
                  </a:txBody>
                  <a:tcPr/>
                </a:tc>
                <a:tc>
                  <a:txBody>
                    <a:bodyPr/>
                    <a:lstStyle/>
                    <a:p>
                      <a:pPr algn="ctr"/>
                      <a:r>
                        <a:rPr lang="en-US" sz="2200" dirty="0"/>
                        <a:t>Share capital and additional paid-in capital</a:t>
                      </a:r>
                    </a:p>
                  </a:txBody>
                  <a:tcPr marL="64262" marR="64262" marT="32131" marB="32131" anchor="ctr">
                    <a:lnB w="12700" cap="flat" cmpd="sng" algn="ctr">
                      <a:solidFill>
                        <a:schemeClr val="tx1"/>
                      </a:solidFill>
                      <a:prstDash val="solid"/>
                      <a:round/>
                      <a:headEnd type="none" w="med" len="med"/>
                      <a:tailEnd type="none" w="med" len="med"/>
                    </a:lnB>
                  </a:tcPr>
                </a:tc>
                <a:tc>
                  <a:txBody>
                    <a:bodyPr/>
                    <a:lstStyle/>
                    <a:p>
                      <a:pPr algn="ctr"/>
                      <a:r>
                        <a:rPr lang="en-US" sz="2200" dirty="0"/>
                        <a:t>Retained earnings and other reserves</a:t>
                      </a:r>
                    </a:p>
                  </a:txBody>
                  <a:tcPr marL="64262" marR="64262" marT="32131" marB="32131" anchor="ctr">
                    <a:lnB w="12700" cap="flat" cmpd="sng" algn="ctr">
                      <a:solidFill>
                        <a:schemeClr val="tx1"/>
                      </a:solidFill>
                      <a:prstDash val="solid"/>
                      <a:round/>
                      <a:headEnd type="none" w="med" len="med"/>
                      <a:tailEnd type="none" w="med" len="med"/>
                    </a:lnB>
                  </a:tcPr>
                </a:tc>
                <a:tc vMerge="1">
                  <a:txBody>
                    <a:bodyPr/>
                    <a:lstStyle/>
                    <a:p>
                      <a:endParaRPr lang="en-US" sz="3200" dirty="0"/>
                    </a:p>
                  </a:txBody>
                  <a:tcPr/>
                </a:tc>
                <a:tc vMerge="1">
                  <a:txBody>
                    <a:bodyPr/>
                    <a:lstStyle/>
                    <a:p>
                      <a:endParaRPr lang="en-US" sz="3200" dirty="0"/>
                    </a:p>
                  </a:txBody>
                  <a:tcPr/>
                </a:tc>
                <a:extLst>
                  <a:ext uri="{0D108BD9-81ED-4DB2-BD59-A6C34878D82A}">
                    <a16:rowId xmlns:a16="http://schemas.microsoft.com/office/drawing/2014/main" val="853442960"/>
                  </a:ext>
                </a:extLst>
              </a:tr>
              <a:tr h="2463391">
                <a:tc>
                  <a:txBody>
                    <a:bodyPr/>
                    <a:lstStyle/>
                    <a:p>
                      <a:endParaRPr lang="en-US" sz="2200" dirty="0"/>
                    </a:p>
                  </a:txBody>
                  <a:tcPr marL="64262" marR="64262" marT="32131" marB="321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2200" dirty="0"/>
                        <a:t>Cash:</a:t>
                      </a:r>
                    </a:p>
                    <a:p>
                      <a:pPr algn="ctr"/>
                      <a:r>
                        <a:rPr lang="fr-FR" sz="2200" dirty="0"/>
                        <a:t>€450,000</a:t>
                      </a:r>
                      <a:endParaRPr lang="en-US" sz="2200" dirty="0"/>
                    </a:p>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dirty="0"/>
                        <a:t>Revenue: 10,000 x 45 x (1/3 + 1/3 + 1/3) </a:t>
                      </a:r>
                    </a:p>
                    <a:p>
                      <a:pPr algn="ctr"/>
                      <a:r>
                        <a:rPr lang="en-US" sz="2200" dirty="0"/>
                        <a:t>= €450,000</a:t>
                      </a:r>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200" dirty="0"/>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200" dirty="0"/>
                        <a:t>Unearned (or deferred) revenue: 10,000 x 45 x (2/3 – 1/3 – 1/3) </a:t>
                      </a:r>
                    </a:p>
                    <a:p>
                      <a:pPr marL="0" marR="0" lvl="0" indent="0" algn="ctr" defTabSz="914400" eaLnBrk="1" fontAlgn="auto" latinLnBrk="0" hangingPunct="1">
                        <a:lnSpc>
                          <a:spcPct val="100000"/>
                        </a:lnSpc>
                        <a:spcBef>
                          <a:spcPts val="0"/>
                        </a:spcBef>
                        <a:spcAft>
                          <a:spcPts val="0"/>
                        </a:spcAft>
                        <a:buClrTx/>
                        <a:buSzTx/>
                        <a:buFontTx/>
                        <a:buNone/>
                        <a:tabLst/>
                        <a:defRPr/>
                      </a:pPr>
                      <a:r>
                        <a:rPr lang="en-US" sz="2200" dirty="0"/>
                        <a:t>= €0</a:t>
                      </a:r>
                    </a:p>
                  </a:txBody>
                  <a:tcPr marL="64262" marR="64262" marT="32131" marB="321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25328"/>
                  </a:ext>
                </a:extLst>
              </a:tr>
            </a:tbl>
          </a:graphicData>
        </a:graphic>
      </p:graphicFrame>
      <p:sp>
        <p:nvSpPr>
          <p:cNvPr id="5" name="Slide Number Placeholder 4">
            <a:extLst>
              <a:ext uri="{FF2B5EF4-FFF2-40B4-BE49-F238E27FC236}">
                <a16:creationId xmlns:a16="http://schemas.microsoft.com/office/drawing/2014/main" id="{68E4843C-336E-7C59-966D-49EE39B2E287}"/>
              </a:ext>
            </a:extLst>
          </p:cNvPr>
          <p:cNvSpPr>
            <a:spLocks noGrp="1"/>
          </p:cNvSpPr>
          <p:nvPr>
            <p:ph type="sldNum" sz="quarter" idx="10"/>
          </p:nvPr>
        </p:nvSpPr>
        <p:spPr/>
        <p:txBody>
          <a:bodyPr/>
          <a:lstStyle/>
          <a:p>
            <a:fld id="{307C7597-8D70-4701-8085-9524B0B5C72B}" type="slidenum">
              <a:rPr lang="fr-FR" smtClean="0"/>
              <a:pPr/>
              <a:t>85</a:t>
            </a:fld>
            <a:endParaRPr lang="fr-FR" dirty="0"/>
          </a:p>
        </p:txBody>
      </p:sp>
    </p:spTree>
    <p:extLst>
      <p:ext uri="{BB962C8B-B14F-4D97-AF65-F5344CB8AC3E}">
        <p14:creationId xmlns:p14="http://schemas.microsoft.com/office/powerpoint/2010/main" val="279298455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DAD88-E5A5-CAA2-62AC-4D9902B74822}"/>
              </a:ext>
            </a:extLst>
          </p:cNvPr>
          <p:cNvSpPr>
            <a:spLocks noGrp="1"/>
          </p:cNvSpPr>
          <p:nvPr>
            <p:ph type="ctrTitle"/>
          </p:nvPr>
        </p:nvSpPr>
        <p:spPr>
          <a:xfrm>
            <a:off x="1524000" y="2105281"/>
            <a:ext cx="10199298" cy="2387600"/>
          </a:xfrm>
        </p:spPr>
        <p:txBody>
          <a:bodyPr/>
          <a:lstStyle/>
          <a:p>
            <a:r>
              <a:rPr lang="en-US" dirty="0"/>
              <a:t>Working capital </a:t>
            </a:r>
            <a:br>
              <a:rPr lang="en-US" dirty="0"/>
            </a:br>
            <a:r>
              <a:rPr lang="en-US" dirty="0"/>
              <a:t>(i.e. current assets minus current liabilities)</a:t>
            </a:r>
          </a:p>
        </p:txBody>
      </p:sp>
      <p:sp>
        <p:nvSpPr>
          <p:cNvPr id="3" name="Subtitle 2">
            <a:extLst>
              <a:ext uri="{FF2B5EF4-FFF2-40B4-BE49-F238E27FC236}">
                <a16:creationId xmlns:a16="http://schemas.microsoft.com/office/drawing/2014/main" id="{FFC980F4-D6E7-7752-0FD8-09FC8147E01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7631039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47434B-CE85-424E-8C21-8A6407D02230}"/>
              </a:ext>
            </a:extLst>
          </p:cNvPr>
          <p:cNvSpPr>
            <a:spLocks noGrp="1"/>
          </p:cNvSpPr>
          <p:nvPr>
            <p:ph type="title"/>
          </p:nvPr>
        </p:nvSpPr>
        <p:spPr/>
        <p:txBody>
          <a:bodyPr/>
          <a:lstStyle/>
          <a:p>
            <a:r>
              <a:rPr lang="en-US" dirty="0"/>
              <a:t>Financial analysis: basic analysis</a:t>
            </a:r>
          </a:p>
        </p:txBody>
      </p:sp>
      <p:sp>
        <p:nvSpPr>
          <p:cNvPr id="4" name="Subtitle 3">
            <a:extLst>
              <a:ext uri="{FF2B5EF4-FFF2-40B4-BE49-F238E27FC236}">
                <a16:creationId xmlns:a16="http://schemas.microsoft.com/office/drawing/2014/main" id="{BBE71373-15EE-417B-A99F-4B06F5A18896}"/>
              </a:ext>
            </a:extLst>
          </p:cNvPr>
          <p:cNvSpPr>
            <a:spLocks noGrp="1"/>
          </p:cNvSpPr>
          <p:nvPr>
            <p:ph idx="1"/>
          </p:nvPr>
        </p:nvSpPr>
        <p:spPr>
          <a:xfrm>
            <a:off x="441531" y="1313489"/>
            <a:ext cx="10829544" cy="484202"/>
          </a:xfrm>
        </p:spPr>
        <p:txBody>
          <a:bodyPr>
            <a:normAutofit/>
          </a:bodyPr>
          <a:lstStyle/>
          <a:p>
            <a:pPr marL="0" indent="0">
              <a:buNone/>
            </a:pPr>
            <a:r>
              <a:rPr lang="en-US" sz="2800" dirty="0"/>
              <a:t>“Net” calculations are wanted for a macro analysis</a:t>
            </a:r>
          </a:p>
        </p:txBody>
      </p:sp>
      <p:sp>
        <p:nvSpPr>
          <p:cNvPr id="5" name="Slide Number Placeholder 4">
            <a:extLst>
              <a:ext uri="{FF2B5EF4-FFF2-40B4-BE49-F238E27FC236}">
                <a16:creationId xmlns:a16="http://schemas.microsoft.com/office/drawing/2014/main" id="{3DFC0698-BEF3-44F1-BD96-7A573398ED4E}"/>
              </a:ext>
            </a:extLst>
          </p:cNvPr>
          <p:cNvSpPr>
            <a:spLocks noGrp="1"/>
          </p:cNvSpPr>
          <p:nvPr>
            <p:ph type="sldNum" sz="quarter" idx="10"/>
          </p:nvPr>
        </p:nvSpPr>
        <p:spPr/>
        <p:txBody>
          <a:bodyPr/>
          <a:lstStyle/>
          <a:p>
            <a:fld id="{307C7597-8D70-4701-8085-9524B0B5C72B}" type="slidenum">
              <a:rPr lang="fr-FR" smtClean="0"/>
              <a:pPr/>
              <a:t>87</a:t>
            </a:fld>
            <a:endParaRPr lang="fr-FR" dirty="0"/>
          </a:p>
        </p:txBody>
      </p:sp>
      <p:grpSp>
        <p:nvGrpSpPr>
          <p:cNvPr id="26" name="Group 25">
            <a:extLst>
              <a:ext uri="{FF2B5EF4-FFF2-40B4-BE49-F238E27FC236}">
                <a16:creationId xmlns:a16="http://schemas.microsoft.com/office/drawing/2014/main" id="{8650F64F-0E99-4D8A-BC3E-24DAB4A8BE09}"/>
              </a:ext>
            </a:extLst>
          </p:cNvPr>
          <p:cNvGrpSpPr/>
          <p:nvPr/>
        </p:nvGrpSpPr>
        <p:grpSpPr>
          <a:xfrm>
            <a:off x="626064" y="2021271"/>
            <a:ext cx="10939874" cy="2720265"/>
            <a:chOff x="35496" y="1347614"/>
            <a:chExt cx="8208912" cy="2041195"/>
          </a:xfrm>
        </p:grpSpPr>
        <p:sp>
          <p:nvSpPr>
            <p:cNvPr id="27" name="TextBox 26">
              <a:extLst>
                <a:ext uri="{FF2B5EF4-FFF2-40B4-BE49-F238E27FC236}">
                  <a16:creationId xmlns:a16="http://schemas.microsoft.com/office/drawing/2014/main" id="{D0BBB739-AA07-4AAC-A5AF-D195251DAA96}"/>
                </a:ext>
              </a:extLst>
            </p:cNvPr>
            <p:cNvSpPr txBox="1"/>
            <p:nvPr/>
          </p:nvSpPr>
          <p:spPr>
            <a:xfrm>
              <a:off x="611560" y="1347614"/>
              <a:ext cx="1440160" cy="807827"/>
            </a:xfrm>
            <a:prstGeom prst="rect">
              <a:avLst/>
            </a:prstGeom>
            <a:noFill/>
          </p:spPr>
          <p:txBody>
            <a:bodyPr wrap="square" rtlCol="0">
              <a:spAutoFit/>
            </a:bodyPr>
            <a:lstStyle/>
            <a:p>
              <a:pPr algn="ctr"/>
              <a:r>
                <a:rPr lang="en-US" sz="3198" dirty="0"/>
                <a:t>Assets (A)</a:t>
              </a:r>
            </a:p>
          </p:txBody>
        </p:sp>
        <p:sp>
          <p:nvSpPr>
            <p:cNvPr id="28" name="TextBox 27">
              <a:extLst>
                <a:ext uri="{FF2B5EF4-FFF2-40B4-BE49-F238E27FC236}">
                  <a16:creationId xmlns:a16="http://schemas.microsoft.com/office/drawing/2014/main" id="{6135685E-1851-440C-8115-1F945372F225}"/>
                </a:ext>
              </a:extLst>
            </p:cNvPr>
            <p:cNvSpPr txBox="1"/>
            <p:nvPr/>
          </p:nvSpPr>
          <p:spPr>
            <a:xfrm>
              <a:off x="2123728" y="1347614"/>
              <a:ext cx="1296144" cy="438555"/>
            </a:xfrm>
            <a:prstGeom prst="rect">
              <a:avLst/>
            </a:prstGeom>
            <a:noFill/>
          </p:spPr>
          <p:txBody>
            <a:bodyPr wrap="square" rtlCol="0">
              <a:spAutoFit/>
            </a:bodyPr>
            <a:lstStyle/>
            <a:p>
              <a:pPr algn="ctr"/>
              <a:r>
                <a:rPr lang="en-US" sz="3198" dirty="0"/>
                <a:t>=</a:t>
              </a:r>
            </a:p>
          </p:txBody>
        </p:sp>
        <p:sp>
          <p:nvSpPr>
            <p:cNvPr id="29" name="TextBox 28">
              <a:extLst>
                <a:ext uri="{FF2B5EF4-FFF2-40B4-BE49-F238E27FC236}">
                  <a16:creationId xmlns:a16="http://schemas.microsoft.com/office/drawing/2014/main" id="{BA381395-3D5A-4BF4-B3B1-04D5BAF51305}"/>
                </a:ext>
              </a:extLst>
            </p:cNvPr>
            <p:cNvSpPr txBox="1"/>
            <p:nvPr/>
          </p:nvSpPr>
          <p:spPr>
            <a:xfrm>
              <a:off x="6804248" y="1347614"/>
              <a:ext cx="1440160" cy="807827"/>
            </a:xfrm>
            <a:prstGeom prst="rect">
              <a:avLst/>
            </a:prstGeom>
            <a:noFill/>
          </p:spPr>
          <p:txBody>
            <a:bodyPr wrap="square" rtlCol="0">
              <a:spAutoFit/>
            </a:bodyPr>
            <a:lstStyle/>
            <a:p>
              <a:pPr algn="ctr"/>
              <a:r>
                <a:rPr lang="en-US" sz="3198" dirty="0"/>
                <a:t>Equity (E)</a:t>
              </a:r>
            </a:p>
          </p:txBody>
        </p:sp>
        <p:sp>
          <p:nvSpPr>
            <p:cNvPr id="50" name="TextBox 49">
              <a:extLst>
                <a:ext uri="{FF2B5EF4-FFF2-40B4-BE49-F238E27FC236}">
                  <a16:creationId xmlns:a16="http://schemas.microsoft.com/office/drawing/2014/main" id="{E8B83188-4DDD-4B0E-BDB4-E5CCEFFB387F}"/>
                </a:ext>
              </a:extLst>
            </p:cNvPr>
            <p:cNvSpPr txBox="1"/>
            <p:nvPr/>
          </p:nvSpPr>
          <p:spPr>
            <a:xfrm>
              <a:off x="3491880" y="1347614"/>
              <a:ext cx="1800200" cy="807827"/>
            </a:xfrm>
            <a:prstGeom prst="rect">
              <a:avLst/>
            </a:prstGeom>
            <a:noFill/>
          </p:spPr>
          <p:txBody>
            <a:bodyPr wrap="square" rtlCol="0">
              <a:spAutoFit/>
            </a:bodyPr>
            <a:lstStyle/>
            <a:p>
              <a:pPr algn="ctr"/>
              <a:r>
                <a:rPr lang="en-US" sz="3198" dirty="0"/>
                <a:t>Liabilities (L)</a:t>
              </a:r>
            </a:p>
          </p:txBody>
        </p:sp>
        <p:sp>
          <p:nvSpPr>
            <p:cNvPr id="51" name="TextBox 50">
              <a:extLst>
                <a:ext uri="{FF2B5EF4-FFF2-40B4-BE49-F238E27FC236}">
                  <a16:creationId xmlns:a16="http://schemas.microsoft.com/office/drawing/2014/main" id="{0FC142E5-C678-4BEC-978C-B662C99CD494}"/>
                </a:ext>
              </a:extLst>
            </p:cNvPr>
            <p:cNvSpPr txBox="1"/>
            <p:nvPr/>
          </p:nvSpPr>
          <p:spPr>
            <a:xfrm>
              <a:off x="5364088" y="1347614"/>
              <a:ext cx="1296144" cy="438555"/>
            </a:xfrm>
            <a:prstGeom prst="rect">
              <a:avLst/>
            </a:prstGeom>
            <a:noFill/>
          </p:spPr>
          <p:txBody>
            <a:bodyPr wrap="square" rtlCol="0">
              <a:spAutoFit/>
            </a:bodyPr>
            <a:lstStyle/>
            <a:p>
              <a:pPr algn="ctr"/>
              <a:r>
                <a:rPr lang="en-US" sz="3198" dirty="0"/>
                <a:t>+</a:t>
              </a:r>
            </a:p>
          </p:txBody>
        </p:sp>
        <p:sp>
          <p:nvSpPr>
            <p:cNvPr id="52" name="TextBox 51">
              <a:extLst>
                <a:ext uri="{FF2B5EF4-FFF2-40B4-BE49-F238E27FC236}">
                  <a16:creationId xmlns:a16="http://schemas.microsoft.com/office/drawing/2014/main" id="{7A56AE1E-B335-4B5E-9ADC-2D11B55B81F8}"/>
                </a:ext>
              </a:extLst>
            </p:cNvPr>
            <p:cNvSpPr txBox="1"/>
            <p:nvPr/>
          </p:nvSpPr>
          <p:spPr>
            <a:xfrm>
              <a:off x="35496" y="2211710"/>
              <a:ext cx="1374888" cy="1177099"/>
            </a:xfrm>
            <a:prstGeom prst="rect">
              <a:avLst/>
            </a:prstGeom>
            <a:noFill/>
          </p:spPr>
          <p:txBody>
            <a:bodyPr wrap="square" rtlCol="0">
              <a:spAutoFit/>
            </a:bodyPr>
            <a:lstStyle/>
            <a:p>
              <a:pPr algn="ctr"/>
              <a:r>
                <a:rPr lang="en-US" sz="3198" dirty="0"/>
                <a:t>Current Assets (CA)</a:t>
              </a:r>
            </a:p>
          </p:txBody>
        </p:sp>
        <p:sp>
          <p:nvSpPr>
            <p:cNvPr id="53" name="Arrow: Down 52">
              <a:extLst>
                <a:ext uri="{FF2B5EF4-FFF2-40B4-BE49-F238E27FC236}">
                  <a16:creationId xmlns:a16="http://schemas.microsoft.com/office/drawing/2014/main" id="{FE260B5B-9BFD-40EC-8C8F-B316375B6E70}"/>
                </a:ext>
              </a:extLst>
            </p:cNvPr>
            <p:cNvSpPr/>
            <p:nvPr/>
          </p:nvSpPr>
          <p:spPr>
            <a:xfrm rot="12735684">
              <a:off x="818120" y="1881287"/>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56" name="TextBox 55">
              <a:extLst>
                <a:ext uri="{FF2B5EF4-FFF2-40B4-BE49-F238E27FC236}">
                  <a16:creationId xmlns:a16="http://schemas.microsoft.com/office/drawing/2014/main" id="{CBDAB05A-0A6C-4F18-BC5D-AF88A5B60CC6}"/>
                </a:ext>
              </a:extLst>
            </p:cNvPr>
            <p:cNvSpPr txBox="1"/>
            <p:nvPr/>
          </p:nvSpPr>
          <p:spPr>
            <a:xfrm>
              <a:off x="3125104" y="2211710"/>
              <a:ext cx="1530003" cy="1177099"/>
            </a:xfrm>
            <a:prstGeom prst="rect">
              <a:avLst/>
            </a:prstGeom>
            <a:noFill/>
          </p:spPr>
          <p:txBody>
            <a:bodyPr wrap="square" rtlCol="0">
              <a:spAutoFit/>
            </a:bodyPr>
            <a:lstStyle/>
            <a:p>
              <a:pPr algn="ctr"/>
              <a:r>
                <a:rPr lang="en-US" sz="3198" dirty="0"/>
                <a:t>Current Liabilities (CL)</a:t>
              </a:r>
            </a:p>
          </p:txBody>
        </p:sp>
        <p:sp>
          <p:nvSpPr>
            <p:cNvPr id="57" name="Arrow: Down 56">
              <a:extLst>
                <a:ext uri="{FF2B5EF4-FFF2-40B4-BE49-F238E27FC236}">
                  <a16:creationId xmlns:a16="http://schemas.microsoft.com/office/drawing/2014/main" id="{87001093-FD00-4FA1-ABDF-A5905B05FBDD}"/>
                </a:ext>
              </a:extLst>
            </p:cNvPr>
            <p:cNvSpPr/>
            <p:nvPr/>
          </p:nvSpPr>
          <p:spPr>
            <a:xfrm rot="12735684">
              <a:off x="3914464" y="1904025"/>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grpSp>
      <p:sp>
        <p:nvSpPr>
          <p:cNvPr id="61" name="TextBox 60">
            <a:extLst>
              <a:ext uri="{FF2B5EF4-FFF2-40B4-BE49-F238E27FC236}">
                <a16:creationId xmlns:a16="http://schemas.microsoft.com/office/drawing/2014/main" id="{AC0CBB9B-ADB6-4FE3-A79A-0BBD51F6E39B}"/>
              </a:ext>
            </a:extLst>
          </p:cNvPr>
          <p:cNvSpPr txBox="1"/>
          <p:nvPr/>
        </p:nvSpPr>
        <p:spPr>
          <a:xfrm>
            <a:off x="2780760" y="3363827"/>
            <a:ext cx="1727349" cy="748666"/>
          </a:xfrm>
          <a:prstGeom prst="rect">
            <a:avLst/>
          </a:prstGeom>
          <a:noFill/>
        </p:spPr>
        <p:txBody>
          <a:bodyPr wrap="square" rtlCol="0">
            <a:spAutoFit/>
          </a:bodyPr>
          <a:lstStyle/>
          <a:p>
            <a:pPr algn="ctr"/>
            <a:r>
              <a:rPr lang="en-US" sz="4265" dirty="0"/>
              <a:t>–</a:t>
            </a:r>
          </a:p>
        </p:txBody>
      </p:sp>
      <p:sp>
        <p:nvSpPr>
          <p:cNvPr id="62" name="TextBox 61">
            <a:extLst>
              <a:ext uri="{FF2B5EF4-FFF2-40B4-BE49-F238E27FC236}">
                <a16:creationId xmlns:a16="http://schemas.microsoft.com/office/drawing/2014/main" id="{0B804F41-6B63-4918-BD7A-3D6F09A3A916}"/>
              </a:ext>
            </a:extLst>
          </p:cNvPr>
          <p:cNvSpPr txBox="1"/>
          <p:nvPr/>
        </p:nvSpPr>
        <p:spPr>
          <a:xfrm>
            <a:off x="6959675" y="3321428"/>
            <a:ext cx="1727349" cy="748666"/>
          </a:xfrm>
          <a:prstGeom prst="rect">
            <a:avLst/>
          </a:prstGeom>
          <a:noFill/>
        </p:spPr>
        <p:txBody>
          <a:bodyPr wrap="square" rtlCol="0">
            <a:spAutoFit/>
          </a:bodyPr>
          <a:lstStyle/>
          <a:p>
            <a:pPr algn="ctr"/>
            <a:r>
              <a:rPr lang="en-US" sz="4265" dirty="0"/>
              <a:t>=</a:t>
            </a:r>
          </a:p>
        </p:txBody>
      </p:sp>
      <p:sp>
        <p:nvSpPr>
          <p:cNvPr id="63" name="TextBox 62">
            <a:extLst>
              <a:ext uri="{FF2B5EF4-FFF2-40B4-BE49-F238E27FC236}">
                <a16:creationId xmlns:a16="http://schemas.microsoft.com/office/drawing/2014/main" id="{DDF94C93-EA47-483C-8EB3-1802BDDFAC3C}"/>
              </a:ext>
            </a:extLst>
          </p:cNvPr>
          <p:cNvSpPr txBox="1"/>
          <p:nvPr/>
        </p:nvSpPr>
        <p:spPr>
          <a:xfrm>
            <a:off x="8974914" y="3185220"/>
            <a:ext cx="2216145" cy="1568699"/>
          </a:xfrm>
          <a:prstGeom prst="rect">
            <a:avLst/>
          </a:prstGeom>
          <a:noFill/>
        </p:spPr>
        <p:txBody>
          <a:bodyPr wrap="square" rtlCol="0">
            <a:spAutoFit/>
          </a:bodyPr>
          <a:lstStyle/>
          <a:p>
            <a:pPr algn="ctr"/>
            <a:r>
              <a:rPr lang="en-US" sz="3198" dirty="0"/>
              <a:t>Working capital (WC)</a:t>
            </a:r>
          </a:p>
        </p:txBody>
      </p:sp>
    </p:spTree>
    <p:extLst>
      <p:ext uri="{BB962C8B-B14F-4D97-AF65-F5344CB8AC3E}">
        <p14:creationId xmlns:p14="http://schemas.microsoft.com/office/powerpoint/2010/main" val="237468456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DA46C-A32A-7F0A-D97F-008BF152509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CF5D034-AB02-5423-95BD-AE65E9CD51E1}"/>
              </a:ext>
            </a:extLst>
          </p:cNvPr>
          <p:cNvSpPr>
            <a:spLocks noGrp="1"/>
          </p:cNvSpPr>
          <p:nvPr>
            <p:ph type="title"/>
          </p:nvPr>
        </p:nvSpPr>
        <p:spPr/>
        <p:txBody>
          <a:bodyPr/>
          <a:lstStyle/>
          <a:p>
            <a:r>
              <a:rPr lang="en-US" dirty="0"/>
              <a:t>Financial analysis: basic analysis</a:t>
            </a:r>
          </a:p>
        </p:txBody>
      </p:sp>
      <p:sp>
        <p:nvSpPr>
          <p:cNvPr id="4" name="Subtitle 3">
            <a:extLst>
              <a:ext uri="{FF2B5EF4-FFF2-40B4-BE49-F238E27FC236}">
                <a16:creationId xmlns:a16="http://schemas.microsoft.com/office/drawing/2014/main" id="{116548E1-9B52-FA4F-BBBA-0516D9ACFB85}"/>
              </a:ext>
            </a:extLst>
          </p:cNvPr>
          <p:cNvSpPr>
            <a:spLocks noGrp="1"/>
          </p:cNvSpPr>
          <p:nvPr>
            <p:ph idx="1"/>
          </p:nvPr>
        </p:nvSpPr>
        <p:spPr>
          <a:xfrm>
            <a:off x="441531" y="1313489"/>
            <a:ext cx="10829544" cy="484202"/>
          </a:xfrm>
        </p:spPr>
        <p:txBody>
          <a:bodyPr>
            <a:normAutofit/>
          </a:bodyPr>
          <a:lstStyle/>
          <a:p>
            <a:pPr marL="0" indent="0">
              <a:buNone/>
            </a:pPr>
            <a:r>
              <a:rPr lang="en-US" sz="2800" dirty="0"/>
              <a:t>“Net” calculations are wanted for a macro analysis</a:t>
            </a:r>
          </a:p>
        </p:txBody>
      </p:sp>
      <p:sp>
        <p:nvSpPr>
          <p:cNvPr id="5" name="Slide Number Placeholder 4">
            <a:extLst>
              <a:ext uri="{FF2B5EF4-FFF2-40B4-BE49-F238E27FC236}">
                <a16:creationId xmlns:a16="http://schemas.microsoft.com/office/drawing/2014/main" id="{E85B3573-C211-7304-D663-F69751962235}"/>
              </a:ext>
            </a:extLst>
          </p:cNvPr>
          <p:cNvSpPr>
            <a:spLocks noGrp="1"/>
          </p:cNvSpPr>
          <p:nvPr>
            <p:ph type="sldNum" sz="quarter" idx="10"/>
          </p:nvPr>
        </p:nvSpPr>
        <p:spPr/>
        <p:txBody>
          <a:bodyPr/>
          <a:lstStyle/>
          <a:p>
            <a:fld id="{307C7597-8D70-4701-8085-9524B0B5C72B}" type="slidenum">
              <a:rPr lang="fr-FR" smtClean="0"/>
              <a:pPr/>
              <a:t>88</a:t>
            </a:fld>
            <a:endParaRPr lang="fr-FR" dirty="0"/>
          </a:p>
        </p:txBody>
      </p:sp>
      <p:grpSp>
        <p:nvGrpSpPr>
          <p:cNvPr id="26" name="Group 25">
            <a:extLst>
              <a:ext uri="{FF2B5EF4-FFF2-40B4-BE49-F238E27FC236}">
                <a16:creationId xmlns:a16="http://schemas.microsoft.com/office/drawing/2014/main" id="{6D0CF1CA-1441-ACD4-EC60-A9172E3F7B64}"/>
              </a:ext>
            </a:extLst>
          </p:cNvPr>
          <p:cNvGrpSpPr/>
          <p:nvPr/>
        </p:nvGrpSpPr>
        <p:grpSpPr>
          <a:xfrm>
            <a:off x="626064" y="2021271"/>
            <a:ext cx="10939874" cy="2720265"/>
            <a:chOff x="35496" y="1347614"/>
            <a:chExt cx="8208912" cy="2041195"/>
          </a:xfrm>
        </p:grpSpPr>
        <p:sp>
          <p:nvSpPr>
            <p:cNvPr id="27" name="TextBox 26">
              <a:extLst>
                <a:ext uri="{FF2B5EF4-FFF2-40B4-BE49-F238E27FC236}">
                  <a16:creationId xmlns:a16="http://schemas.microsoft.com/office/drawing/2014/main" id="{9A957C23-7F5D-B200-EEC7-5D56588B5E47}"/>
                </a:ext>
              </a:extLst>
            </p:cNvPr>
            <p:cNvSpPr txBox="1"/>
            <p:nvPr/>
          </p:nvSpPr>
          <p:spPr>
            <a:xfrm>
              <a:off x="611560" y="1347614"/>
              <a:ext cx="1440160" cy="807827"/>
            </a:xfrm>
            <a:prstGeom prst="rect">
              <a:avLst/>
            </a:prstGeom>
            <a:noFill/>
          </p:spPr>
          <p:txBody>
            <a:bodyPr wrap="square" rtlCol="0">
              <a:spAutoFit/>
            </a:bodyPr>
            <a:lstStyle/>
            <a:p>
              <a:pPr algn="ctr"/>
              <a:r>
                <a:rPr lang="en-US" sz="3198" dirty="0"/>
                <a:t>Assets (A)</a:t>
              </a:r>
            </a:p>
          </p:txBody>
        </p:sp>
        <p:sp>
          <p:nvSpPr>
            <p:cNvPr id="28" name="TextBox 27">
              <a:extLst>
                <a:ext uri="{FF2B5EF4-FFF2-40B4-BE49-F238E27FC236}">
                  <a16:creationId xmlns:a16="http://schemas.microsoft.com/office/drawing/2014/main" id="{B29FD193-FC4A-2F01-9966-D8C9739FE242}"/>
                </a:ext>
              </a:extLst>
            </p:cNvPr>
            <p:cNvSpPr txBox="1"/>
            <p:nvPr/>
          </p:nvSpPr>
          <p:spPr>
            <a:xfrm>
              <a:off x="2123728" y="1347614"/>
              <a:ext cx="1296144" cy="438555"/>
            </a:xfrm>
            <a:prstGeom prst="rect">
              <a:avLst/>
            </a:prstGeom>
            <a:noFill/>
          </p:spPr>
          <p:txBody>
            <a:bodyPr wrap="square" rtlCol="0">
              <a:spAutoFit/>
            </a:bodyPr>
            <a:lstStyle/>
            <a:p>
              <a:pPr algn="ctr"/>
              <a:r>
                <a:rPr lang="en-US" sz="3198" dirty="0"/>
                <a:t>=</a:t>
              </a:r>
            </a:p>
          </p:txBody>
        </p:sp>
        <p:sp>
          <p:nvSpPr>
            <p:cNvPr id="29" name="TextBox 28">
              <a:extLst>
                <a:ext uri="{FF2B5EF4-FFF2-40B4-BE49-F238E27FC236}">
                  <a16:creationId xmlns:a16="http://schemas.microsoft.com/office/drawing/2014/main" id="{770AACE1-9067-403A-B8C5-2146F08DB7D7}"/>
                </a:ext>
              </a:extLst>
            </p:cNvPr>
            <p:cNvSpPr txBox="1"/>
            <p:nvPr/>
          </p:nvSpPr>
          <p:spPr>
            <a:xfrm>
              <a:off x="6804248" y="1347614"/>
              <a:ext cx="1440160" cy="807827"/>
            </a:xfrm>
            <a:prstGeom prst="rect">
              <a:avLst/>
            </a:prstGeom>
            <a:noFill/>
          </p:spPr>
          <p:txBody>
            <a:bodyPr wrap="square" rtlCol="0">
              <a:spAutoFit/>
            </a:bodyPr>
            <a:lstStyle/>
            <a:p>
              <a:pPr algn="ctr"/>
              <a:r>
                <a:rPr lang="en-US" sz="3198" dirty="0"/>
                <a:t>Equity (E)</a:t>
              </a:r>
            </a:p>
          </p:txBody>
        </p:sp>
        <p:sp>
          <p:nvSpPr>
            <p:cNvPr id="50" name="TextBox 49">
              <a:extLst>
                <a:ext uri="{FF2B5EF4-FFF2-40B4-BE49-F238E27FC236}">
                  <a16:creationId xmlns:a16="http://schemas.microsoft.com/office/drawing/2014/main" id="{AA3B506F-1B4A-9B7B-0811-A87A6911BC38}"/>
                </a:ext>
              </a:extLst>
            </p:cNvPr>
            <p:cNvSpPr txBox="1"/>
            <p:nvPr/>
          </p:nvSpPr>
          <p:spPr>
            <a:xfrm>
              <a:off x="3491880" y="1347614"/>
              <a:ext cx="1800200" cy="807827"/>
            </a:xfrm>
            <a:prstGeom prst="rect">
              <a:avLst/>
            </a:prstGeom>
            <a:noFill/>
          </p:spPr>
          <p:txBody>
            <a:bodyPr wrap="square" rtlCol="0">
              <a:spAutoFit/>
            </a:bodyPr>
            <a:lstStyle/>
            <a:p>
              <a:pPr algn="ctr"/>
              <a:r>
                <a:rPr lang="en-US" sz="3198" dirty="0"/>
                <a:t>Liabilities (L)</a:t>
              </a:r>
            </a:p>
          </p:txBody>
        </p:sp>
        <p:sp>
          <p:nvSpPr>
            <p:cNvPr id="51" name="TextBox 50">
              <a:extLst>
                <a:ext uri="{FF2B5EF4-FFF2-40B4-BE49-F238E27FC236}">
                  <a16:creationId xmlns:a16="http://schemas.microsoft.com/office/drawing/2014/main" id="{F58912F9-2842-3AF8-AACF-CB2F94382D08}"/>
                </a:ext>
              </a:extLst>
            </p:cNvPr>
            <p:cNvSpPr txBox="1"/>
            <p:nvPr/>
          </p:nvSpPr>
          <p:spPr>
            <a:xfrm>
              <a:off x="5364088" y="1347614"/>
              <a:ext cx="1296144" cy="438555"/>
            </a:xfrm>
            <a:prstGeom prst="rect">
              <a:avLst/>
            </a:prstGeom>
            <a:noFill/>
          </p:spPr>
          <p:txBody>
            <a:bodyPr wrap="square" rtlCol="0">
              <a:spAutoFit/>
            </a:bodyPr>
            <a:lstStyle/>
            <a:p>
              <a:pPr algn="ctr"/>
              <a:r>
                <a:rPr lang="en-US" sz="3198" dirty="0"/>
                <a:t>+</a:t>
              </a:r>
            </a:p>
          </p:txBody>
        </p:sp>
        <p:sp>
          <p:nvSpPr>
            <p:cNvPr id="52" name="TextBox 51">
              <a:extLst>
                <a:ext uri="{FF2B5EF4-FFF2-40B4-BE49-F238E27FC236}">
                  <a16:creationId xmlns:a16="http://schemas.microsoft.com/office/drawing/2014/main" id="{D322E955-FE0B-44F2-05B9-D94E819ADA7C}"/>
                </a:ext>
              </a:extLst>
            </p:cNvPr>
            <p:cNvSpPr txBox="1"/>
            <p:nvPr/>
          </p:nvSpPr>
          <p:spPr>
            <a:xfrm>
              <a:off x="35496" y="2211710"/>
              <a:ext cx="1374888" cy="1177099"/>
            </a:xfrm>
            <a:prstGeom prst="rect">
              <a:avLst/>
            </a:prstGeom>
            <a:noFill/>
          </p:spPr>
          <p:txBody>
            <a:bodyPr wrap="square" rtlCol="0">
              <a:spAutoFit/>
            </a:bodyPr>
            <a:lstStyle/>
            <a:p>
              <a:pPr algn="ctr"/>
              <a:r>
                <a:rPr lang="en-US" sz="3198" dirty="0"/>
                <a:t>Current Assets (CA)</a:t>
              </a:r>
            </a:p>
          </p:txBody>
        </p:sp>
        <p:sp>
          <p:nvSpPr>
            <p:cNvPr id="53" name="Arrow: Down 52">
              <a:extLst>
                <a:ext uri="{FF2B5EF4-FFF2-40B4-BE49-F238E27FC236}">
                  <a16:creationId xmlns:a16="http://schemas.microsoft.com/office/drawing/2014/main" id="{3D7EE2D0-6BAC-2794-0894-E95011F53761}"/>
                </a:ext>
              </a:extLst>
            </p:cNvPr>
            <p:cNvSpPr/>
            <p:nvPr/>
          </p:nvSpPr>
          <p:spPr>
            <a:xfrm rot="12735684">
              <a:off x="818120" y="1881287"/>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56" name="TextBox 55">
              <a:extLst>
                <a:ext uri="{FF2B5EF4-FFF2-40B4-BE49-F238E27FC236}">
                  <a16:creationId xmlns:a16="http://schemas.microsoft.com/office/drawing/2014/main" id="{24810A5F-2CD6-A217-B92B-522AE46AECA7}"/>
                </a:ext>
              </a:extLst>
            </p:cNvPr>
            <p:cNvSpPr txBox="1"/>
            <p:nvPr/>
          </p:nvSpPr>
          <p:spPr>
            <a:xfrm>
              <a:off x="3125104" y="2211710"/>
              <a:ext cx="1530003" cy="1177099"/>
            </a:xfrm>
            <a:prstGeom prst="rect">
              <a:avLst/>
            </a:prstGeom>
            <a:noFill/>
          </p:spPr>
          <p:txBody>
            <a:bodyPr wrap="square" rtlCol="0">
              <a:spAutoFit/>
            </a:bodyPr>
            <a:lstStyle/>
            <a:p>
              <a:pPr algn="ctr"/>
              <a:r>
                <a:rPr lang="en-US" sz="3198" dirty="0"/>
                <a:t>Current Liabilities (CL)</a:t>
              </a:r>
            </a:p>
          </p:txBody>
        </p:sp>
        <p:sp>
          <p:nvSpPr>
            <p:cNvPr id="57" name="Arrow: Down 56">
              <a:extLst>
                <a:ext uri="{FF2B5EF4-FFF2-40B4-BE49-F238E27FC236}">
                  <a16:creationId xmlns:a16="http://schemas.microsoft.com/office/drawing/2014/main" id="{40C8FBBB-1E06-B0A3-FC9D-52C2DAB0F430}"/>
                </a:ext>
              </a:extLst>
            </p:cNvPr>
            <p:cNvSpPr/>
            <p:nvPr/>
          </p:nvSpPr>
          <p:spPr>
            <a:xfrm rot="12735684">
              <a:off x="3914464" y="1904025"/>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grpSp>
      <p:sp>
        <p:nvSpPr>
          <p:cNvPr id="61" name="TextBox 60">
            <a:extLst>
              <a:ext uri="{FF2B5EF4-FFF2-40B4-BE49-F238E27FC236}">
                <a16:creationId xmlns:a16="http://schemas.microsoft.com/office/drawing/2014/main" id="{CED5EFD3-C4BE-7378-F83B-99EDBF592DFB}"/>
              </a:ext>
            </a:extLst>
          </p:cNvPr>
          <p:cNvSpPr txBox="1"/>
          <p:nvPr/>
        </p:nvSpPr>
        <p:spPr>
          <a:xfrm>
            <a:off x="2780760" y="3363827"/>
            <a:ext cx="1727349" cy="748666"/>
          </a:xfrm>
          <a:prstGeom prst="rect">
            <a:avLst/>
          </a:prstGeom>
          <a:noFill/>
        </p:spPr>
        <p:txBody>
          <a:bodyPr wrap="square" rtlCol="0">
            <a:spAutoFit/>
          </a:bodyPr>
          <a:lstStyle/>
          <a:p>
            <a:pPr algn="ctr"/>
            <a:r>
              <a:rPr lang="en-US" sz="4265" dirty="0"/>
              <a:t>–</a:t>
            </a:r>
          </a:p>
        </p:txBody>
      </p:sp>
      <p:sp>
        <p:nvSpPr>
          <p:cNvPr id="62" name="TextBox 61">
            <a:extLst>
              <a:ext uri="{FF2B5EF4-FFF2-40B4-BE49-F238E27FC236}">
                <a16:creationId xmlns:a16="http://schemas.microsoft.com/office/drawing/2014/main" id="{950E208A-C179-7F52-97EB-671A97A03DA9}"/>
              </a:ext>
            </a:extLst>
          </p:cNvPr>
          <p:cNvSpPr txBox="1"/>
          <p:nvPr/>
        </p:nvSpPr>
        <p:spPr>
          <a:xfrm>
            <a:off x="6959675" y="3321428"/>
            <a:ext cx="1727349" cy="748666"/>
          </a:xfrm>
          <a:prstGeom prst="rect">
            <a:avLst/>
          </a:prstGeom>
          <a:noFill/>
        </p:spPr>
        <p:txBody>
          <a:bodyPr wrap="square" rtlCol="0">
            <a:spAutoFit/>
          </a:bodyPr>
          <a:lstStyle/>
          <a:p>
            <a:pPr algn="ctr"/>
            <a:r>
              <a:rPr lang="en-US" sz="4265" dirty="0"/>
              <a:t>=</a:t>
            </a:r>
          </a:p>
        </p:txBody>
      </p:sp>
      <p:sp>
        <p:nvSpPr>
          <p:cNvPr id="63" name="TextBox 62">
            <a:extLst>
              <a:ext uri="{FF2B5EF4-FFF2-40B4-BE49-F238E27FC236}">
                <a16:creationId xmlns:a16="http://schemas.microsoft.com/office/drawing/2014/main" id="{EC8EE8B8-7FA6-F5A0-60F2-6CF39F4F7760}"/>
              </a:ext>
            </a:extLst>
          </p:cNvPr>
          <p:cNvSpPr txBox="1"/>
          <p:nvPr/>
        </p:nvSpPr>
        <p:spPr>
          <a:xfrm>
            <a:off x="8974914" y="3185220"/>
            <a:ext cx="2216145" cy="1568699"/>
          </a:xfrm>
          <a:prstGeom prst="rect">
            <a:avLst/>
          </a:prstGeom>
          <a:noFill/>
        </p:spPr>
        <p:txBody>
          <a:bodyPr wrap="square" rtlCol="0">
            <a:spAutoFit/>
          </a:bodyPr>
          <a:lstStyle/>
          <a:p>
            <a:pPr algn="ctr"/>
            <a:r>
              <a:rPr lang="en-US" sz="3198" dirty="0"/>
              <a:t>Working capital (WC)</a:t>
            </a:r>
          </a:p>
        </p:txBody>
      </p:sp>
      <p:sp>
        <p:nvSpPr>
          <p:cNvPr id="2" name="TextBox 1">
            <a:extLst>
              <a:ext uri="{FF2B5EF4-FFF2-40B4-BE49-F238E27FC236}">
                <a16:creationId xmlns:a16="http://schemas.microsoft.com/office/drawing/2014/main" id="{57F12672-ABAE-F6CB-AD94-B0809D72FD79}"/>
              </a:ext>
            </a:extLst>
          </p:cNvPr>
          <p:cNvSpPr txBox="1"/>
          <p:nvPr/>
        </p:nvSpPr>
        <p:spPr>
          <a:xfrm>
            <a:off x="140154" y="4804686"/>
            <a:ext cx="11946052" cy="1569148"/>
          </a:xfrm>
          <a:prstGeom prst="rect">
            <a:avLst/>
          </a:prstGeom>
          <a:solidFill>
            <a:schemeClr val="accent1">
              <a:lumMod val="20000"/>
              <a:lumOff val="80000"/>
            </a:schemeClr>
          </a:solidFill>
        </p:spPr>
        <p:txBody>
          <a:bodyPr wrap="square" rtlCol="0">
            <a:spAutoFit/>
          </a:bodyPr>
          <a:lstStyle/>
          <a:p>
            <a:r>
              <a:rPr lang="en-US" sz="2399" dirty="0"/>
              <a:t>In a small or medium enterprise (SME), working capital must be higher than zero (liquidity issue): </a:t>
            </a:r>
          </a:p>
          <a:p>
            <a:r>
              <a:rPr lang="en-US" sz="2399" dirty="0"/>
              <a:t>Does this company has the capacity to pay what is due in the short-term thanks to what it transforms or is already cash in the short-term? Yes if WC higher than zero.</a:t>
            </a:r>
          </a:p>
        </p:txBody>
      </p:sp>
    </p:spTree>
    <p:extLst>
      <p:ext uri="{BB962C8B-B14F-4D97-AF65-F5344CB8AC3E}">
        <p14:creationId xmlns:p14="http://schemas.microsoft.com/office/powerpoint/2010/main" val="427597015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2EB9F2C-4C68-4606-A554-AAD3CA101C7E}"/>
              </a:ext>
            </a:extLst>
          </p:cNvPr>
          <p:cNvSpPr>
            <a:spLocks noGrp="1"/>
          </p:cNvSpPr>
          <p:nvPr>
            <p:ph type="title"/>
          </p:nvPr>
        </p:nvSpPr>
        <p:spPr/>
        <p:txBody>
          <a:bodyPr/>
          <a:lstStyle/>
          <a:p>
            <a:r>
              <a:rPr lang="en-US" dirty="0"/>
              <a:t>MCQ n°1</a:t>
            </a:r>
          </a:p>
        </p:txBody>
      </p:sp>
      <p:sp>
        <p:nvSpPr>
          <p:cNvPr id="2" name="Content Placeholder 1">
            <a:extLst>
              <a:ext uri="{FF2B5EF4-FFF2-40B4-BE49-F238E27FC236}">
                <a16:creationId xmlns:a16="http://schemas.microsoft.com/office/drawing/2014/main" id="{3817F736-43BB-4C9C-9852-914B9C397244}"/>
              </a:ext>
            </a:extLst>
          </p:cNvPr>
          <p:cNvSpPr>
            <a:spLocks noGrp="1"/>
          </p:cNvSpPr>
          <p:nvPr>
            <p:ph idx="1"/>
          </p:nvPr>
        </p:nvSpPr>
        <p:spPr/>
        <p:txBody>
          <a:bodyPr/>
          <a:lstStyle/>
          <a:p>
            <a:pPr marL="0" indent="0">
              <a:buNone/>
            </a:pPr>
            <a:r>
              <a:rPr lang="en-US" i="1" dirty="0"/>
              <a:t>SOFT Enterprises </a:t>
            </a:r>
            <a:r>
              <a:rPr lang="en-US" dirty="0"/>
              <a:t>sold products to customers on 1</a:t>
            </a:r>
            <a:r>
              <a:rPr lang="en-US" baseline="30000" dirty="0"/>
              <a:t>st</a:t>
            </a:r>
            <a:r>
              <a:rPr lang="en-US" dirty="0"/>
              <a:t> February 2026 for a total price of RMB 90,000 paid 40% cash and 60% with a one-month credit term. The cost of the products was RMB 60,000. The most likely net change in </a:t>
            </a:r>
            <a:r>
              <a:rPr lang="en-US" i="1" dirty="0"/>
              <a:t>SOFT</a:t>
            </a:r>
            <a:r>
              <a:rPr lang="en-US" dirty="0"/>
              <a:t>’s </a:t>
            </a:r>
            <a:r>
              <a:rPr lang="en-US" b="1" dirty="0"/>
              <a:t>working capital </a:t>
            </a:r>
            <a:r>
              <a:rPr lang="en-US" dirty="0"/>
              <a:t>on 1</a:t>
            </a:r>
            <a:r>
              <a:rPr lang="en-US" baseline="30000" dirty="0"/>
              <a:t>st</a:t>
            </a:r>
            <a:r>
              <a:rPr lang="en-US" dirty="0"/>
              <a:t> February 2026 related to this transaction is</a:t>
            </a:r>
            <a:endParaRPr lang="fr-FR" dirty="0"/>
          </a:p>
          <a:p>
            <a:pPr marL="0" indent="0">
              <a:buNone/>
            </a:pPr>
            <a:endParaRPr lang="en-US" dirty="0"/>
          </a:p>
        </p:txBody>
      </p:sp>
      <p:sp>
        <p:nvSpPr>
          <p:cNvPr id="5" name="Slide Number Placeholder 4">
            <a:extLst>
              <a:ext uri="{FF2B5EF4-FFF2-40B4-BE49-F238E27FC236}">
                <a16:creationId xmlns:a16="http://schemas.microsoft.com/office/drawing/2014/main" id="{69D7ACB9-3FEE-418D-97C5-9100F0D50C18}"/>
              </a:ext>
            </a:extLst>
          </p:cNvPr>
          <p:cNvSpPr>
            <a:spLocks noGrp="1"/>
          </p:cNvSpPr>
          <p:nvPr>
            <p:ph type="sldNum" sz="quarter" idx="10"/>
          </p:nvPr>
        </p:nvSpPr>
        <p:spPr/>
        <p:txBody>
          <a:bodyPr/>
          <a:lstStyle/>
          <a:p>
            <a:fld id="{307C7597-8D70-4701-8085-9524B0B5C72B}" type="slidenum">
              <a:rPr lang="fr-FR" smtClean="0"/>
              <a:pPr/>
              <a:t>89</a:t>
            </a:fld>
            <a:endParaRPr lang="fr-FR" dirty="0"/>
          </a:p>
        </p:txBody>
      </p:sp>
      <p:sp>
        <p:nvSpPr>
          <p:cNvPr id="4" name="Subtitle 3">
            <a:extLst>
              <a:ext uri="{FF2B5EF4-FFF2-40B4-BE49-F238E27FC236}">
                <a16:creationId xmlns:a16="http://schemas.microsoft.com/office/drawing/2014/main" id="{AD7FB0E6-3890-4786-B287-433411273E5D}"/>
              </a:ext>
            </a:extLst>
          </p:cNvPr>
          <p:cNvSpPr>
            <a:spLocks noGrp="1"/>
          </p:cNvSpPr>
          <p:nvPr>
            <p:ph type="subTitle" idx="4294967295"/>
          </p:nvPr>
        </p:nvSpPr>
        <p:spPr>
          <a:xfrm>
            <a:off x="705612" y="949352"/>
            <a:ext cx="11276012" cy="481012"/>
          </a:xfrm>
        </p:spPr>
        <p:txBody>
          <a:bodyPr/>
          <a:lstStyle/>
          <a:p>
            <a:pPr marL="0" indent="0">
              <a:buNone/>
            </a:pPr>
            <a:r>
              <a:rPr lang="en-US" dirty="0"/>
              <a:t>Impact of a transaction on working capital (WC)</a:t>
            </a:r>
          </a:p>
        </p:txBody>
      </p:sp>
      <p:sp>
        <p:nvSpPr>
          <p:cNvPr id="6" name="TextBox 5">
            <a:extLst>
              <a:ext uri="{FF2B5EF4-FFF2-40B4-BE49-F238E27FC236}">
                <a16:creationId xmlns:a16="http://schemas.microsoft.com/office/drawing/2014/main" id="{ED53331A-C223-4873-B15E-BB7F5B499143}"/>
              </a:ext>
            </a:extLst>
          </p:cNvPr>
          <p:cNvSpPr txBox="1"/>
          <p:nvPr/>
        </p:nvSpPr>
        <p:spPr>
          <a:xfrm>
            <a:off x="626063" y="4004784"/>
            <a:ext cx="3166806" cy="1323054"/>
          </a:xfrm>
          <a:prstGeom prst="rect">
            <a:avLst/>
          </a:prstGeom>
          <a:noFill/>
        </p:spPr>
        <p:txBody>
          <a:bodyPr wrap="square" rtlCol="0">
            <a:spAutoFit/>
          </a:bodyPr>
          <a:lstStyle/>
          <a:p>
            <a:r>
              <a:rPr lang="en-US" sz="2666" dirty="0"/>
              <a:t>1. RMB (60,000)</a:t>
            </a:r>
          </a:p>
          <a:p>
            <a:r>
              <a:rPr lang="en-US" sz="2666" dirty="0"/>
              <a:t>3. RMB 36,000</a:t>
            </a:r>
          </a:p>
          <a:p>
            <a:endParaRPr lang="en-US" sz="2666" dirty="0"/>
          </a:p>
        </p:txBody>
      </p:sp>
      <p:sp>
        <p:nvSpPr>
          <p:cNvPr id="7" name="TextBox 6">
            <a:extLst>
              <a:ext uri="{FF2B5EF4-FFF2-40B4-BE49-F238E27FC236}">
                <a16:creationId xmlns:a16="http://schemas.microsoft.com/office/drawing/2014/main" id="{FC61B48A-F9AA-4D06-8165-144CB1957B54}"/>
              </a:ext>
            </a:extLst>
          </p:cNvPr>
          <p:cNvSpPr txBox="1"/>
          <p:nvPr/>
        </p:nvSpPr>
        <p:spPr>
          <a:xfrm>
            <a:off x="3792869" y="4004784"/>
            <a:ext cx="3166806" cy="912814"/>
          </a:xfrm>
          <a:prstGeom prst="rect">
            <a:avLst/>
          </a:prstGeom>
          <a:noFill/>
        </p:spPr>
        <p:txBody>
          <a:bodyPr wrap="square" rtlCol="0">
            <a:spAutoFit/>
          </a:bodyPr>
          <a:lstStyle/>
          <a:p>
            <a:r>
              <a:rPr lang="en-US" sz="2666" dirty="0"/>
              <a:t>2. RMB 30,000</a:t>
            </a:r>
          </a:p>
          <a:p>
            <a:r>
              <a:rPr lang="en-US" sz="2666" dirty="0"/>
              <a:t>4. RMB 54,000</a:t>
            </a:r>
          </a:p>
        </p:txBody>
      </p:sp>
      <p:sp>
        <p:nvSpPr>
          <p:cNvPr id="8" name="TextBox 7">
            <a:extLst>
              <a:ext uri="{FF2B5EF4-FFF2-40B4-BE49-F238E27FC236}">
                <a16:creationId xmlns:a16="http://schemas.microsoft.com/office/drawing/2014/main" id="{D35CCF57-4DE2-4087-B64F-DBDD6DC18C20}"/>
              </a:ext>
            </a:extLst>
          </p:cNvPr>
          <p:cNvSpPr txBox="1"/>
          <p:nvPr/>
        </p:nvSpPr>
        <p:spPr>
          <a:xfrm>
            <a:off x="8687023" y="4100746"/>
            <a:ext cx="2974878" cy="1199944"/>
          </a:xfrm>
          <a:prstGeom prst="rect">
            <a:avLst/>
          </a:prstGeom>
          <a:noFill/>
        </p:spPr>
        <p:txBody>
          <a:bodyPr wrap="square" rtlCol="0">
            <a:spAutoFit/>
          </a:bodyPr>
          <a:lstStyle/>
          <a:p>
            <a:r>
              <a:rPr lang="en-US" sz="2399" i="1" dirty="0"/>
              <a:t>Between parenthesis means “minus”.</a:t>
            </a:r>
          </a:p>
        </p:txBody>
      </p:sp>
    </p:spTree>
    <p:extLst>
      <p:ext uri="{BB962C8B-B14F-4D97-AF65-F5344CB8AC3E}">
        <p14:creationId xmlns:p14="http://schemas.microsoft.com/office/powerpoint/2010/main" val="344762299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DDD91A38-95DF-4481-82EE-453CF49F0367}"/>
              </a:ext>
            </a:extLst>
          </p:cNvPr>
          <p:cNvSpPr>
            <a:spLocks noGrp="1"/>
          </p:cNvSpPr>
          <p:nvPr>
            <p:ph type="title"/>
          </p:nvPr>
        </p:nvSpPr>
        <p:spPr/>
        <p:txBody>
          <a:bodyPr/>
          <a:lstStyle/>
          <a:p>
            <a:r>
              <a:rPr lang="en-US" dirty="0"/>
              <a:t>Answer</a:t>
            </a:r>
          </a:p>
        </p:txBody>
      </p:sp>
      <p:sp>
        <p:nvSpPr>
          <p:cNvPr id="5" name="Slide Number Placeholder 4">
            <a:extLst>
              <a:ext uri="{FF2B5EF4-FFF2-40B4-BE49-F238E27FC236}">
                <a16:creationId xmlns:a16="http://schemas.microsoft.com/office/drawing/2014/main" id="{3DFC0698-BEF3-44F1-BD96-7A573398ED4E}"/>
              </a:ext>
            </a:extLst>
          </p:cNvPr>
          <p:cNvSpPr>
            <a:spLocks noGrp="1"/>
          </p:cNvSpPr>
          <p:nvPr>
            <p:ph type="sldNum" sz="quarter" idx="10"/>
          </p:nvPr>
        </p:nvSpPr>
        <p:spPr/>
        <p:txBody>
          <a:bodyPr/>
          <a:lstStyle/>
          <a:p>
            <a:fld id="{307C7597-8D70-4701-8085-9524B0B5C72B}" type="slidenum">
              <a:rPr lang="fr-FR" smtClean="0"/>
              <a:pPr/>
              <a:t>90</a:t>
            </a:fld>
            <a:endParaRPr lang="fr-FR" dirty="0"/>
          </a:p>
        </p:txBody>
      </p:sp>
      <p:sp>
        <p:nvSpPr>
          <p:cNvPr id="20" name="TextBox 19">
            <a:extLst>
              <a:ext uri="{FF2B5EF4-FFF2-40B4-BE49-F238E27FC236}">
                <a16:creationId xmlns:a16="http://schemas.microsoft.com/office/drawing/2014/main" id="{B82256CF-3C29-42E8-A08E-31107DEF074D}"/>
              </a:ext>
            </a:extLst>
          </p:cNvPr>
          <p:cNvSpPr txBox="1"/>
          <p:nvPr/>
        </p:nvSpPr>
        <p:spPr>
          <a:xfrm>
            <a:off x="-45683" y="4004784"/>
            <a:ext cx="2352559" cy="1076577"/>
          </a:xfrm>
          <a:prstGeom prst="rect">
            <a:avLst/>
          </a:prstGeom>
          <a:noFill/>
        </p:spPr>
        <p:txBody>
          <a:bodyPr wrap="square" rtlCol="0">
            <a:spAutoFit/>
          </a:bodyPr>
          <a:lstStyle/>
          <a:p>
            <a:pPr algn="ctr"/>
            <a:r>
              <a:rPr lang="en-US" sz="3198" dirty="0"/>
              <a:t>∆ Cash</a:t>
            </a:r>
          </a:p>
          <a:p>
            <a:pPr algn="ctr"/>
            <a:r>
              <a:rPr lang="en-US" sz="3198" dirty="0"/>
              <a:t>+36,000 </a:t>
            </a:r>
          </a:p>
        </p:txBody>
      </p:sp>
      <p:sp>
        <p:nvSpPr>
          <p:cNvPr id="21" name="TextBox 20">
            <a:extLst>
              <a:ext uri="{FF2B5EF4-FFF2-40B4-BE49-F238E27FC236}">
                <a16:creationId xmlns:a16="http://schemas.microsoft.com/office/drawing/2014/main" id="{478AA97E-009F-4E59-B735-5FF71B15725B}"/>
              </a:ext>
            </a:extLst>
          </p:cNvPr>
          <p:cNvSpPr txBox="1"/>
          <p:nvPr/>
        </p:nvSpPr>
        <p:spPr>
          <a:xfrm>
            <a:off x="1060704" y="5082460"/>
            <a:ext cx="2636201" cy="1076577"/>
          </a:xfrm>
          <a:prstGeom prst="rect">
            <a:avLst/>
          </a:prstGeom>
          <a:noFill/>
        </p:spPr>
        <p:txBody>
          <a:bodyPr wrap="square" rtlCol="0">
            <a:spAutoFit/>
          </a:bodyPr>
          <a:lstStyle/>
          <a:p>
            <a:pPr algn="ctr"/>
            <a:r>
              <a:rPr lang="en-US" sz="3198" dirty="0"/>
              <a:t>∆ Inventories</a:t>
            </a:r>
          </a:p>
          <a:p>
            <a:pPr algn="ctr"/>
            <a:r>
              <a:rPr lang="en-US" sz="3198" dirty="0"/>
              <a:t>-60,000</a:t>
            </a:r>
          </a:p>
        </p:txBody>
      </p:sp>
      <p:sp>
        <p:nvSpPr>
          <p:cNvPr id="22" name="Arrow: Down 21">
            <a:extLst>
              <a:ext uri="{FF2B5EF4-FFF2-40B4-BE49-F238E27FC236}">
                <a16:creationId xmlns:a16="http://schemas.microsoft.com/office/drawing/2014/main" id="{1C894B16-05FB-4CB1-BE2C-82D10F5BFA13}"/>
              </a:ext>
            </a:extLst>
          </p:cNvPr>
          <p:cNvSpPr/>
          <p:nvPr/>
        </p:nvSpPr>
        <p:spPr>
          <a:xfrm rot="12735684">
            <a:off x="1669054" y="3709151"/>
            <a:ext cx="383855" cy="423326"/>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23" name="Arrow: Down 22">
            <a:extLst>
              <a:ext uri="{FF2B5EF4-FFF2-40B4-BE49-F238E27FC236}">
                <a16:creationId xmlns:a16="http://schemas.microsoft.com/office/drawing/2014/main" id="{C1593A79-E7AE-4FFB-A510-A03D1450D592}"/>
              </a:ext>
            </a:extLst>
          </p:cNvPr>
          <p:cNvSpPr/>
          <p:nvPr/>
        </p:nvSpPr>
        <p:spPr>
          <a:xfrm rot="8684022">
            <a:off x="2833231" y="3711417"/>
            <a:ext cx="383855" cy="423326"/>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24" name="TextBox 23">
            <a:extLst>
              <a:ext uri="{FF2B5EF4-FFF2-40B4-BE49-F238E27FC236}">
                <a16:creationId xmlns:a16="http://schemas.microsoft.com/office/drawing/2014/main" id="{DA4FF2FC-0B77-4D27-A946-EA28FE3F8E7A}"/>
              </a:ext>
            </a:extLst>
          </p:cNvPr>
          <p:cNvSpPr txBox="1"/>
          <p:nvPr/>
        </p:nvSpPr>
        <p:spPr>
          <a:xfrm>
            <a:off x="2737267" y="4149500"/>
            <a:ext cx="4030480" cy="1568699"/>
          </a:xfrm>
          <a:prstGeom prst="rect">
            <a:avLst/>
          </a:prstGeom>
          <a:noFill/>
        </p:spPr>
        <p:txBody>
          <a:bodyPr wrap="square" rtlCol="0">
            <a:spAutoFit/>
          </a:bodyPr>
          <a:lstStyle/>
          <a:p>
            <a:pPr algn="ctr"/>
            <a:r>
              <a:rPr lang="en-US" sz="3198" dirty="0"/>
              <a:t>∆ Accounts receivable</a:t>
            </a:r>
          </a:p>
          <a:p>
            <a:pPr algn="ctr"/>
            <a:r>
              <a:rPr lang="en-US" sz="3198" dirty="0"/>
              <a:t>+54,000</a:t>
            </a:r>
          </a:p>
        </p:txBody>
      </p:sp>
      <p:sp>
        <p:nvSpPr>
          <p:cNvPr id="25" name="Arrow: Down 24">
            <a:extLst>
              <a:ext uri="{FF2B5EF4-FFF2-40B4-BE49-F238E27FC236}">
                <a16:creationId xmlns:a16="http://schemas.microsoft.com/office/drawing/2014/main" id="{949B0847-89C5-40BA-A084-65405DF0B74A}"/>
              </a:ext>
            </a:extLst>
          </p:cNvPr>
          <p:cNvSpPr/>
          <p:nvPr/>
        </p:nvSpPr>
        <p:spPr>
          <a:xfrm rot="10800000">
            <a:off x="2257449" y="3765642"/>
            <a:ext cx="383855" cy="1316817"/>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12" name="TextBox 11">
            <a:extLst>
              <a:ext uri="{FF2B5EF4-FFF2-40B4-BE49-F238E27FC236}">
                <a16:creationId xmlns:a16="http://schemas.microsoft.com/office/drawing/2014/main" id="{DD26A3FA-3081-4F4D-A2C5-68FBDEF0DD9A}"/>
              </a:ext>
            </a:extLst>
          </p:cNvPr>
          <p:cNvSpPr txBox="1"/>
          <p:nvPr/>
        </p:nvSpPr>
        <p:spPr>
          <a:xfrm>
            <a:off x="8207204" y="5128005"/>
            <a:ext cx="3262770" cy="461537"/>
          </a:xfrm>
          <a:prstGeom prst="rect">
            <a:avLst/>
          </a:prstGeom>
          <a:solidFill>
            <a:schemeClr val="bg1">
              <a:lumMod val="90000"/>
            </a:schemeClr>
          </a:solidFill>
        </p:spPr>
        <p:txBody>
          <a:bodyPr wrap="square" rtlCol="0">
            <a:spAutoFit/>
          </a:bodyPr>
          <a:lstStyle/>
          <a:p>
            <a:r>
              <a:rPr lang="en-US" sz="2399" i="1" dirty="0"/>
              <a:t>∆ means “change in”</a:t>
            </a:r>
          </a:p>
        </p:txBody>
      </p:sp>
      <p:grpSp>
        <p:nvGrpSpPr>
          <p:cNvPr id="13" name="Group 12">
            <a:extLst>
              <a:ext uri="{FF2B5EF4-FFF2-40B4-BE49-F238E27FC236}">
                <a16:creationId xmlns:a16="http://schemas.microsoft.com/office/drawing/2014/main" id="{C61D283F-CBDA-43D3-A00D-9B1D61D30B3D}"/>
              </a:ext>
            </a:extLst>
          </p:cNvPr>
          <p:cNvGrpSpPr/>
          <p:nvPr/>
        </p:nvGrpSpPr>
        <p:grpSpPr>
          <a:xfrm>
            <a:off x="1231613" y="933941"/>
            <a:ext cx="10622216" cy="2822675"/>
            <a:chOff x="921929" y="699542"/>
            <a:chExt cx="7970550" cy="2118040"/>
          </a:xfrm>
        </p:grpSpPr>
        <p:grpSp>
          <p:nvGrpSpPr>
            <p:cNvPr id="32" name="Group 31">
              <a:extLst>
                <a:ext uri="{FF2B5EF4-FFF2-40B4-BE49-F238E27FC236}">
                  <a16:creationId xmlns:a16="http://schemas.microsoft.com/office/drawing/2014/main" id="{47EABCB0-CC83-4A0D-987C-89C5B3C85290}"/>
                </a:ext>
              </a:extLst>
            </p:cNvPr>
            <p:cNvGrpSpPr/>
            <p:nvPr/>
          </p:nvGrpSpPr>
          <p:grpSpPr>
            <a:xfrm>
              <a:off x="921929" y="699542"/>
              <a:ext cx="7682518" cy="2118040"/>
              <a:chOff x="611560" y="1270769"/>
              <a:chExt cx="7632848" cy="2118040"/>
            </a:xfrm>
          </p:grpSpPr>
          <p:sp>
            <p:nvSpPr>
              <p:cNvPr id="33" name="TextBox 32">
                <a:extLst>
                  <a:ext uri="{FF2B5EF4-FFF2-40B4-BE49-F238E27FC236}">
                    <a16:creationId xmlns:a16="http://schemas.microsoft.com/office/drawing/2014/main" id="{2B0737EC-0A2D-4A45-BBA3-683B7D4E8436}"/>
                  </a:ext>
                </a:extLst>
              </p:cNvPr>
              <p:cNvSpPr txBox="1"/>
              <p:nvPr/>
            </p:nvSpPr>
            <p:spPr>
              <a:xfrm>
                <a:off x="611560" y="1347614"/>
                <a:ext cx="1440160" cy="438555"/>
              </a:xfrm>
              <a:prstGeom prst="rect">
                <a:avLst/>
              </a:prstGeom>
              <a:noFill/>
            </p:spPr>
            <p:txBody>
              <a:bodyPr wrap="square" rtlCol="0">
                <a:spAutoFit/>
              </a:bodyPr>
              <a:lstStyle/>
              <a:p>
                <a:pPr algn="ctr"/>
                <a:r>
                  <a:rPr lang="en-US" sz="3198" dirty="0"/>
                  <a:t>∆ Assets</a:t>
                </a:r>
              </a:p>
            </p:txBody>
          </p:sp>
          <p:sp>
            <p:nvSpPr>
              <p:cNvPr id="34" name="TextBox 33">
                <a:extLst>
                  <a:ext uri="{FF2B5EF4-FFF2-40B4-BE49-F238E27FC236}">
                    <a16:creationId xmlns:a16="http://schemas.microsoft.com/office/drawing/2014/main" id="{DE3D96A2-0EB2-4C2F-881C-4F8449FAB823}"/>
                  </a:ext>
                </a:extLst>
              </p:cNvPr>
              <p:cNvSpPr txBox="1"/>
              <p:nvPr/>
            </p:nvSpPr>
            <p:spPr>
              <a:xfrm>
                <a:off x="2123728" y="1270769"/>
                <a:ext cx="1296144" cy="561774"/>
              </a:xfrm>
              <a:prstGeom prst="rect">
                <a:avLst/>
              </a:prstGeom>
              <a:noFill/>
            </p:spPr>
            <p:txBody>
              <a:bodyPr wrap="square" rtlCol="0">
                <a:spAutoFit/>
              </a:bodyPr>
              <a:lstStyle/>
              <a:p>
                <a:pPr algn="ctr"/>
                <a:r>
                  <a:rPr lang="en-US" sz="4265" dirty="0"/>
                  <a:t>=</a:t>
                </a:r>
              </a:p>
            </p:txBody>
          </p:sp>
          <p:sp>
            <p:nvSpPr>
              <p:cNvPr id="35" name="TextBox 34">
                <a:extLst>
                  <a:ext uri="{FF2B5EF4-FFF2-40B4-BE49-F238E27FC236}">
                    <a16:creationId xmlns:a16="http://schemas.microsoft.com/office/drawing/2014/main" id="{4E76B3CF-0982-429B-B9FD-052600F25C4E}"/>
                  </a:ext>
                </a:extLst>
              </p:cNvPr>
              <p:cNvSpPr txBox="1"/>
              <p:nvPr/>
            </p:nvSpPr>
            <p:spPr>
              <a:xfrm>
                <a:off x="6804248" y="1347614"/>
                <a:ext cx="1440160" cy="438555"/>
              </a:xfrm>
              <a:prstGeom prst="rect">
                <a:avLst/>
              </a:prstGeom>
              <a:noFill/>
            </p:spPr>
            <p:txBody>
              <a:bodyPr wrap="square" rtlCol="0">
                <a:spAutoFit/>
              </a:bodyPr>
              <a:lstStyle/>
              <a:p>
                <a:pPr algn="ctr"/>
                <a:r>
                  <a:rPr lang="en-US" sz="3198" dirty="0"/>
                  <a:t>∆ Equity</a:t>
                </a:r>
              </a:p>
            </p:txBody>
          </p:sp>
          <p:sp>
            <p:nvSpPr>
              <p:cNvPr id="36" name="TextBox 35">
                <a:extLst>
                  <a:ext uri="{FF2B5EF4-FFF2-40B4-BE49-F238E27FC236}">
                    <a16:creationId xmlns:a16="http://schemas.microsoft.com/office/drawing/2014/main" id="{6F1278AF-39FA-4F2E-A8BB-8A81131D8CAE}"/>
                  </a:ext>
                </a:extLst>
              </p:cNvPr>
              <p:cNvSpPr txBox="1"/>
              <p:nvPr/>
            </p:nvSpPr>
            <p:spPr>
              <a:xfrm>
                <a:off x="3491880" y="1347614"/>
                <a:ext cx="1800200" cy="438555"/>
              </a:xfrm>
              <a:prstGeom prst="rect">
                <a:avLst/>
              </a:prstGeom>
              <a:noFill/>
            </p:spPr>
            <p:txBody>
              <a:bodyPr wrap="square" rtlCol="0">
                <a:spAutoFit/>
              </a:bodyPr>
              <a:lstStyle/>
              <a:p>
                <a:pPr algn="ctr"/>
                <a:r>
                  <a:rPr lang="en-US" sz="3198" dirty="0"/>
                  <a:t>∆ Liabilities</a:t>
                </a:r>
              </a:p>
            </p:txBody>
          </p:sp>
          <p:sp>
            <p:nvSpPr>
              <p:cNvPr id="37" name="TextBox 36">
                <a:extLst>
                  <a:ext uri="{FF2B5EF4-FFF2-40B4-BE49-F238E27FC236}">
                    <a16:creationId xmlns:a16="http://schemas.microsoft.com/office/drawing/2014/main" id="{80BAC2A5-AA4E-471B-B282-8DE40FE896E5}"/>
                  </a:ext>
                </a:extLst>
              </p:cNvPr>
              <p:cNvSpPr txBox="1"/>
              <p:nvPr/>
            </p:nvSpPr>
            <p:spPr>
              <a:xfrm>
                <a:off x="5364088" y="1304837"/>
                <a:ext cx="1296144" cy="561774"/>
              </a:xfrm>
              <a:prstGeom prst="rect">
                <a:avLst/>
              </a:prstGeom>
              <a:noFill/>
            </p:spPr>
            <p:txBody>
              <a:bodyPr wrap="square" rtlCol="0">
                <a:spAutoFit/>
              </a:bodyPr>
              <a:lstStyle/>
              <a:p>
                <a:pPr algn="ctr"/>
                <a:r>
                  <a:rPr lang="en-US" sz="4265" dirty="0"/>
                  <a:t>+</a:t>
                </a:r>
              </a:p>
            </p:txBody>
          </p:sp>
          <p:sp>
            <p:nvSpPr>
              <p:cNvPr id="38" name="TextBox 37">
                <a:extLst>
                  <a:ext uri="{FF2B5EF4-FFF2-40B4-BE49-F238E27FC236}">
                    <a16:creationId xmlns:a16="http://schemas.microsoft.com/office/drawing/2014/main" id="{E1673F31-78FF-44D5-A6C1-D3590CBCF67B}"/>
                  </a:ext>
                </a:extLst>
              </p:cNvPr>
              <p:cNvSpPr txBox="1"/>
              <p:nvPr/>
            </p:nvSpPr>
            <p:spPr>
              <a:xfrm>
                <a:off x="653048" y="2211710"/>
                <a:ext cx="1649472" cy="1177099"/>
              </a:xfrm>
              <a:prstGeom prst="rect">
                <a:avLst/>
              </a:prstGeom>
              <a:noFill/>
            </p:spPr>
            <p:txBody>
              <a:bodyPr wrap="square" rtlCol="0">
                <a:spAutoFit/>
              </a:bodyPr>
              <a:lstStyle/>
              <a:p>
                <a:pPr algn="ctr"/>
                <a:r>
                  <a:rPr lang="en-US" sz="3198" dirty="0"/>
                  <a:t>∆ Current Assets (CA)</a:t>
                </a:r>
              </a:p>
            </p:txBody>
          </p:sp>
          <p:sp>
            <p:nvSpPr>
              <p:cNvPr id="39" name="Arrow: Down 38">
                <a:extLst>
                  <a:ext uri="{FF2B5EF4-FFF2-40B4-BE49-F238E27FC236}">
                    <a16:creationId xmlns:a16="http://schemas.microsoft.com/office/drawing/2014/main" id="{4ADC5A04-C875-4B4A-BB2B-7A309AE7065E}"/>
                  </a:ext>
                </a:extLst>
              </p:cNvPr>
              <p:cNvSpPr/>
              <p:nvPr/>
            </p:nvSpPr>
            <p:spPr>
              <a:xfrm rot="10800000">
                <a:off x="1331640" y="1851016"/>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40" name="TextBox 39">
                <a:extLst>
                  <a:ext uri="{FF2B5EF4-FFF2-40B4-BE49-F238E27FC236}">
                    <a16:creationId xmlns:a16="http://schemas.microsoft.com/office/drawing/2014/main" id="{C0007FFF-79F7-4BDE-AFA3-7668D0485F7F}"/>
                  </a:ext>
                </a:extLst>
              </p:cNvPr>
              <p:cNvSpPr txBox="1"/>
              <p:nvPr/>
            </p:nvSpPr>
            <p:spPr>
              <a:xfrm>
                <a:off x="3629161" y="2211710"/>
                <a:ext cx="1564417" cy="1177099"/>
              </a:xfrm>
              <a:prstGeom prst="rect">
                <a:avLst/>
              </a:prstGeom>
              <a:noFill/>
            </p:spPr>
            <p:txBody>
              <a:bodyPr wrap="square" rtlCol="0">
                <a:spAutoFit/>
              </a:bodyPr>
              <a:lstStyle/>
              <a:p>
                <a:pPr algn="ctr"/>
                <a:r>
                  <a:rPr lang="en-US" sz="3198" dirty="0"/>
                  <a:t>∆ Current Liabilities (CL)</a:t>
                </a:r>
              </a:p>
            </p:txBody>
          </p:sp>
          <p:sp>
            <p:nvSpPr>
              <p:cNvPr id="41" name="Arrow: Down 40">
                <a:extLst>
                  <a:ext uri="{FF2B5EF4-FFF2-40B4-BE49-F238E27FC236}">
                    <a16:creationId xmlns:a16="http://schemas.microsoft.com/office/drawing/2014/main" id="{2309BFDA-38EC-4862-BD88-2CD649CA0C6D}"/>
                  </a:ext>
                </a:extLst>
              </p:cNvPr>
              <p:cNvSpPr/>
              <p:nvPr/>
            </p:nvSpPr>
            <p:spPr>
              <a:xfrm rot="10800000">
                <a:off x="4236169" y="1846833"/>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grpSp>
        <p:sp>
          <p:nvSpPr>
            <p:cNvPr id="43" name="TextBox 42">
              <a:extLst>
                <a:ext uri="{FF2B5EF4-FFF2-40B4-BE49-F238E27FC236}">
                  <a16:creationId xmlns:a16="http://schemas.microsoft.com/office/drawing/2014/main" id="{0AC996CB-9004-4A1D-93A5-445FBF81F375}"/>
                </a:ext>
              </a:extLst>
            </p:cNvPr>
            <p:cNvSpPr txBox="1"/>
            <p:nvPr/>
          </p:nvSpPr>
          <p:spPr>
            <a:xfrm>
              <a:off x="2509668" y="1793474"/>
              <a:ext cx="1296144" cy="561774"/>
            </a:xfrm>
            <a:prstGeom prst="rect">
              <a:avLst/>
            </a:prstGeom>
            <a:noFill/>
          </p:spPr>
          <p:txBody>
            <a:bodyPr wrap="square" rtlCol="0">
              <a:spAutoFit/>
            </a:bodyPr>
            <a:lstStyle/>
            <a:p>
              <a:pPr algn="ctr"/>
              <a:r>
                <a:rPr lang="en-US" sz="4265" dirty="0"/>
                <a:t>–</a:t>
              </a:r>
            </a:p>
          </p:txBody>
        </p:sp>
        <p:sp>
          <p:nvSpPr>
            <p:cNvPr id="44" name="TextBox 43">
              <a:extLst>
                <a:ext uri="{FF2B5EF4-FFF2-40B4-BE49-F238E27FC236}">
                  <a16:creationId xmlns:a16="http://schemas.microsoft.com/office/drawing/2014/main" id="{5C1C4494-2921-4E4E-A6CF-4D046246EC8F}"/>
                </a:ext>
              </a:extLst>
            </p:cNvPr>
            <p:cNvSpPr txBox="1"/>
            <p:nvPr/>
          </p:nvSpPr>
          <p:spPr>
            <a:xfrm>
              <a:off x="5645384" y="1761659"/>
              <a:ext cx="1296144" cy="561774"/>
            </a:xfrm>
            <a:prstGeom prst="rect">
              <a:avLst/>
            </a:prstGeom>
            <a:noFill/>
          </p:spPr>
          <p:txBody>
            <a:bodyPr wrap="square" rtlCol="0">
              <a:spAutoFit/>
            </a:bodyPr>
            <a:lstStyle/>
            <a:p>
              <a:pPr algn="ctr"/>
              <a:r>
                <a:rPr lang="en-US" sz="4265" dirty="0"/>
                <a:t>=</a:t>
              </a:r>
            </a:p>
          </p:txBody>
        </p:sp>
        <p:sp>
          <p:nvSpPr>
            <p:cNvPr id="45" name="TextBox 44">
              <a:extLst>
                <a:ext uri="{FF2B5EF4-FFF2-40B4-BE49-F238E27FC236}">
                  <a16:creationId xmlns:a16="http://schemas.microsoft.com/office/drawing/2014/main" id="{A08F7701-4279-462C-943F-B2E459401763}"/>
                </a:ext>
              </a:extLst>
            </p:cNvPr>
            <p:cNvSpPr txBox="1"/>
            <p:nvPr/>
          </p:nvSpPr>
          <p:spPr>
            <a:xfrm>
              <a:off x="6516216" y="1563638"/>
              <a:ext cx="2376263" cy="1177099"/>
            </a:xfrm>
            <a:prstGeom prst="rect">
              <a:avLst/>
            </a:prstGeom>
            <a:noFill/>
          </p:spPr>
          <p:txBody>
            <a:bodyPr wrap="square" rtlCol="0">
              <a:spAutoFit/>
            </a:bodyPr>
            <a:lstStyle/>
            <a:p>
              <a:pPr algn="ctr"/>
              <a:r>
                <a:rPr lang="en-US" sz="3198" dirty="0"/>
                <a:t>∆ Working capital (WC)</a:t>
              </a:r>
            </a:p>
            <a:p>
              <a:pPr algn="ctr"/>
              <a:r>
                <a:rPr lang="en-US" sz="3198" b="1" dirty="0"/>
                <a:t>+30,000</a:t>
              </a:r>
            </a:p>
          </p:txBody>
        </p:sp>
      </p:grpSp>
    </p:spTree>
    <p:extLst>
      <p:ext uri="{BB962C8B-B14F-4D97-AF65-F5344CB8AC3E}">
        <p14:creationId xmlns:p14="http://schemas.microsoft.com/office/powerpoint/2010/main" val="58485853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47434B-CE85-424E-8C21-8A6407D02230}"/>
              </a:ext>
            </a:extLst>
          </p:cNvPr>
          <p:cNvSpPr>
            <a:spLocks noGrp="1"/>
          </p:cNvSpPr>
          <p:nvPr>
            <p:ph type="title"/>
          </p:nvPr>
        </p:nvSpPr>
        <p:spPr/>
        <p:txBody>
          <a:bodyPr/>
          <a:lstStyle/>
          <a:p>
            <a:r>
              <a:rPr lang="en-US" dirty="0"/>
              <a:t>Answer</a:t>
            </a:r>
          </a:p>
        </p:txBody>
      </p:sp>
      <p:sp>
        <p:nvSpPr>
          <p:cNvPr id="5" name="Slide Number Placeholder 4">
            <a:extLst>
              <a:ext uri="{FF2B5EF4-FFF2-40B4-BE49-F238E27FC236}">
                <a16:creationId xmlns:a16="http://schemas.microsoft.com/office/drawing/2014/main" id="{3DFC0698-BEF3-44F1-BD96-7A573398ED4E}"/>
              </a:ext>
            </a:extLst>
          </p:cNvPr>
          <p:cNvSpPr>
            <a:spLocks noGrp="1"/>
          </p:cNvSpPr>
          <p:nvPr>
            <p:ph type="sldNum" sz="quarter" idx="10"/>
          </p:nvPr>
        </p:nvSpPr>
        <p:spPr/>
        <p:txBody>
          <a:bodyPr/>
          <a:lstStyle/>
          <a:p>
            <a:fld id="{307C7597-8D70-4701-8085-9524B0B5C72B}" type="slidenum">
              <a:rPr lang="fr-FR" smtClean="0"/>
              <a:pPr/>
              <a:t>91</a:t>
            </a:fld>
            <a:endParaRPr lang="fr-FR" dirty="0"/>
          </a:p>
        </p:txBody>
      </p:sp>
      <p:grpSp>
        <p:nvGrpSpPr>
          <p:cNvPr id="26" name="Group 25">
            <a:extLst>
              <a:ext uri="{FF2B5EF4-FFF2-40B4-BE49-F238E27FC236}">
                <a16:creationId xmlns:a16="http://schemas.microsoft.com/office/drawing/2014/main" id="{8650F64F-0E99-4D8A-BC3E-24DAB4A8BE09}"/>
              </a:ext>
            </a:extLst>
          </p:cNvPr>
          <p:cNvGrpSpPr/>
          <p:nvPr/>
        </p:nvGrpSpPr>
        <p:grpSpPr>
          <a:xfrm>
            <a:off x="523783" y="1306297"/>
            <a:ext cx="11042155" cy="2822675"/>
            <a:chOff x="611560" y="1270769"/>
            <a:chExt cx="7632848" cy="2118040"/>
          </a:xfrm>
        </p:grpSpPr>
        <p:sp>
          <p:nvSpPr>
            <p:cNvPr id="27" name="TextBox 26">
              <a:extLst>
                <a:ext uri="{FF2B5EF4-FFF2-40B4-BE49-F238E27FC236}">
                  <a16:creationId xmlns:a16="http://schemas.microsoft.com/office/drawing/2014/main" id="{D0BBB739-AA07-4AAC-A5AF-D195251DAA96}"/>
                </a:ext>
              </a:extLst>
            </p:cNvPr>
            <p:cNvSpPr txBox="1"/>
            <p:nvPr/>
          </p:nvSpPr>
          <p:spPr>
            <a:xfrm>
              <a:off x="611560" y="1347614"/>
              <a:ext cx="1440160" cy="807827"/>
            </a:xfrm>
            <a:prstGeom prst="rect">
              <a:avLst/>
            </a:prstGeom>
            <a:noFill/>
          </p:spPr>
          <p:txBody>
            <a:bodyPr wrap="square" rtlCol="0">
              <a:spAutoFit/>
            </a:bodyPr>
            <a:lstStyle/>
            <a:p>
              <a:pPr algn="ctr"/>
              <a:r>
                <a:rPr lang="en-US" sz="3198" dirty="0"/>
                <a:t>Assets (A)</a:t>
              </a:r>
            </a:p>
          </p:txBody>
        </p:sp>
        <p:sp>
          <p:nvSpPr>
            <p:cNvPr id="28" name="TextBox 27">
              <a:extLst>
                <a:ext uri="{FF2B5EF4-FFF2-40B4-BE49-F238E27FC236}">
                  <a16:creationId xmlns:a16="http://schemas.microsoft.com/office/drawing/2014/main" id="{6135685E-1851-440C-8115-1F945372F225}"/>
                </a:ext>
              </a:extLst>
            </p:cNvPr>
            <p:cNvSpPr txBox="1"/>
            <p:nvPr/>
          </p:nvSpPr>
          <p:spPr>
            <a:xfrm>
              <a:off x="2123728" y="1270769"/>
              <a:ext cx="1296144" cy="561774"/>
            </a:xfrm>
            <a:prstGeom prst="rect">
              <a:avLst/>
            </a:prstGeom>
            <a:noFill/>
          </p:spPr>
          <p:txBody>
            <a:bodyPr wrap="square" rtlCol="0">
              <a:spAutoFit/>
            </a:bodyPr>
            <a:lstStyle/>
            <a:p>
              <a:pPr algn="ctr"/>
              <a:r>
                <a:rPr lang="en-US" sz="4265" dirty="0"/>
                <a:t>=</a:t>
              </a:r>
            </a:p>
          </p:txBody>
        </p:sp>
        <p:sp>
          <p:nvSpPr>
            <p:cNvPr id="29" name="TextBox 28">
              <a:extLst>
                <a:ext uri="{FF2B5EF4-FFF2-40B4-BE49-F238E27FC236}">
                  <a16:creationId xmlns:a16="http://schemas.microsoft.com/office/drawing/2014/main" id="{BA381395-3D5A-4BF4-B3B1-04D5BAF51305}"/>
                </a:ext>
              </a:extLst>
            </p:cNvPr>
            <p:cNvSpPr txBox="1"/>
            <p:nvPr/>
          </p:nvSpPr>
          <p:spPr>
            <a:xfrm>
              <a:off x="6804248" y="1347614"/>
              <a:ext cx="1440160" cy="807827"/>
            </a:xfrm>
            <a:prstGeom prst="rect">
              <a:avLst/>
            </a:prstGeom>
            <a:noFill/>
          </p:spPr>
          <p:txBody>
            <a:bodyPr wrap="square" rtlCol="0">
              <a:spAutoFit/>
            </a:bodyPr>
            <a:lstStyle/>
            <a:p>
              <a:pPr algn="ctr"/>
              <a:r>
                <a:rPr lang="en-US" sz="3198" dirty="0"/>
                <a:t>Equity (E)</a:t>
              </a:r>
            </a:p>
          </p:txBody>
        </p:sp>
        <p:sp>
          <p:nvSpPr>
            <p:cNvPr id="50" name="TextBox 49">
              <a:extLst>
                <a:ext uri="{FF2B5EF4-FFF2-40B4-BE49-F238E27FC236}">
                  <a16:creationId xmlns:a16="http://schemas.microsoft.com/office/drawing/2014/main" id="{E8B83188-4DDD-4B0E-BDB4-E5CCEFFB387F}"/>
                </a:ext>
              </a:extLst>
            </p:cNvPr>
            <p:cNvSpPr txBox="1"/>
            <p:nvPr/>
          </p:nvSpPr>
          <p:spPr>
            <a:xfrm>
              <a:off x="3491880" y="1347614"/>
              <a:ext cx="1800200" cy="807827"/>
            </a:xfrm>
            <a:prstGeom prst="rect">
              <a:avLst/>
            </a:prstGeom>
            <a:noFill/>
          </p:spPr>
          <p:txBody>
            <a:bodyPr wrap="square" rtlCol="0">
              <a:spAutoFit/>
            </a:bodyPr>
            <a:lstStyle/>
            <a:p>
              <a:pPr algn="ctr"/>
              <a:r>
                <a:rPr lang="en-US" sz="3198" dirty="0"/>
                <a:t>Liabilities (L)</a:t>
              </a:r>
            </a:p>
          </p:txBody>
        </p:sp>
        <p:sp>
          <p:nvSpPr>
            <p:cNvPr id="51" name="TextBox 50">
              <a:extLst>
                <a:ext uri="{FF2B5EF4-FFF2-40B4-BE49-F238E27FC236}">
                  <a16:creationId xmlns:a16="http://schemas.microsoft.com/office/drawing/2014/main" id="{0FC142E5-C678-4BEC-978C-B662C99CD494}"/>
                </a:ext>
              </a:extLst>
            </p:cNvPr>
            <p:cNvSpPr txBox="1"/>
            <p:nvPr/>
          </p:nvSpPr>
          <p:spPr>
            <a:xfrm>
              <a:off x="5364088" y="1304837"/>
              <a:ext cx="1296144" cy="561774"/>
            </a:xfrm>
            <a:prstGeom prst="rect">
              <a:avLst/>
            </a:prstGeom>
            <a:noFill/>
          </p:spPr>
          <p:txBody>
            <a:bodyPr wrap="square" rtlCol="0">
              <a:spAutoFit/>
            </a:bodyPr>
            <a:lstStyle/>
            <a:p>
              <a:pPr algn="ctr"/>
              <a:r>
                <a:rPr lang="en-US" sz="4265" dirty="0"/>
                <a:t>+</a:t>
              </a:r>
            </a:p>
          </p:txBody>
        </p:sp>
        <p:sp>
          <p:nvSpPr>
            <p:cNvPr id="52" name="TextBox 51">
              <a:extLst>
                <a:ext uri="{FF2B5EF4-FFF2-40B4-BE49-F238E27FC236}">
                  <a16:creationId xmlns:a16="http://schemas.microsoft.com/office/drawing/2014/main" id="{7A56AE1E-B335-4B5E-9ADC-2D11B55B81F8}"/>
                </a:ext>
              </a:extLst>
            </p:cNvPr>
            <p:cNvSpPr txBox="1"/>
            <p:nvPr/>
          </p:nvSpPr>
          <p:spPr>
            <a:xfrm>
              <a:off x="801878" y="2211710"/>
              <a:ext cx="1374888" cy="1177099"/>
            </a:xfrm>
            <a:prstGeom prst="rect">
              <a:avLst/>
            </a:prstGeom>
            <a:noFill/>
          </p:spPr>
          <p:txBody>
            <a:bodyPr wrap="square" rtlCol="0">
              <a:spAutoFit/>
            </a:bodyPr>
            <a:lstStyle/>
            <a:p>
              <a:pPr algn="ctr"/>
              <a:r>
                <a:rPr lang="en-US" sz="3198" dirty="0"/>
                <a:t>Current Assets (CA)</a:t>
              </a:r>
            </a:p>
          </p:txBody>
        </p:sp>
        <p:sp>
          <p:nvSpPr>
            <p:cNvPr id="53" name="Arrow: Down 52">
              <a:extLst>
                <a:ext uri="{FF2B5EF4-FFF2-40B4-BE49-F238E27FC236}">
                  <a16:creationId xmlns:a16="http://schemas.microsoft.com/office/drawing/2014/main" id="{FE260B5B-9BFD-40EC-8C8F-B316375B6E70}"/>
                </a:ext>
              </a:extLst>
            </p:cNvPr>
            <p:cNvSpPr/>
            <p:nvPr/>
          </p:nvSpPr>
          <p:spPr>
            <a:xfrm rot="10800000">
              <a:off x="1331640" y="1851016"/>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56" name="TextBox 55">
              <a:extLst>
                <a:ext uri="{FF2B5EF4-FFF2-40B4-BE49-F238E27FC236}">
                  <a16:creationId xmlns:a16="http://schemas.microsoft.com/office/drawing/2014/main" id="{CBDAB05A-0A6C-4F18-BC5D-AF88A5B60CC6}"/>
                </a:ext>
              </a:extLst>
            </p:cNvPr>
            <p:cNvSpPr txBox="1"/>
            <p:nvPr/>
          </p:nvSpPr>
          <p:spPr>
            <a:xfrm>
              <a:off x="3629160" y="2211710"/>
              <a:ext cx="1374888" cy="1177099"/>
            </a:xfrm>
            <a:prstGeom prst="rect">
              <a:avLst/>
            </a:prstGeom>
            <a:noFill/>
          </p:spPr>
          <p:txBody>
            <a:bodyPr wrap="square" rtlCol="0">
              <a:spAutoFit/>
            </a:bodyPr>
            <a:lstStyle/>
            <a:p>
              <a:pPr algn="ctr"/>
              <a:r>
                <a:rPr lang="en-US" sz="3198" dirty="0"/>
                <a:t>Current Liabilities (CL)</a:t>
              </a:r>
            </a:p>
          </p:txBody>
        </p:sp>
        <p:sp>
          <p:nvSpPr>
            <p:cNvPr id="57" name="Arrow: Down 56">
              <a:extLst>
                <a:ext uri="{FF2B5EF4-FFF2-40B4-BE49-F238E27FC236}">
                  <a16:creationId xmlns:a16="http://schemas.microsoft.com/office/drawing/2014/main" id="{87001093-FD00-4FA1-ABDF-A5905B05FBDD}"/>
                </a:ext>
              </a:extLst>
            </p:cNvPr>
            <p:cNvSpPr/>
            <p:nvPr/>
          </p:nvSpPr>
          <p:spPr>
            <a:xfrm rot="10800000">
              <a:off x="4139952" y="1827863"/>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grpSp>
      <p:sp>
        <p:nvSpPr>
          <p:cNvPr id="61" name="TextBox 60">
            <a:extLst>
              <a:ext uri="{FF2B5EF4-FFF2-40B4-BE49-F238E27FC236}">
                <a16:creationId xmlns:a16="http://schemas.microsoft.com/office/drawing/2014/main" id="{AC0CBB9B-ADB6-4FE3-A79A-0BBD51F6E39B}"/>
              </a:ext>
            </a:extLst>
          </p:cNvPr>
          <p:cNvSpPr txBox="1"/>
          <p:nvPr/>
        </p:nvSpPr>
        <p:spPr>
          <a:xfrm>
            <a:off x="3229882" y="2733512"/>
            <a:ext cx="1727349" cy="748666"/>
          </a:xfrm>
          <a:prstGeom prst="rect">
            <a:avLst/>
          </a:prstGeom>
          <a:noFill/>
        </p:spPr>
        <p:txBody>
          <a:bodyPr wrap="square" rtlCol="0">
            <a:spAutoFit/>
          </a:bodyPr>
          <a:lstStyle/>
          <a:p>
            <a:pPr algn="ctr"/>
            <a:r>
              <a:rPr lang="en-US" sz="4265" dirty="0"/>
              <a:t>–</a:t>
            </a:r>
          </a:p>
        </p:txBody>
      </p:sp>
      <p:sp>
        <p:nvSpPr>
          <p:cNvPr id="62" name="TextBox 61">
            <a:extLst>
              <a:ext uri="{FF2B5EF4-FFF2-40B4-BE49-F238E27FC236}">
                <a16:creationId xmlns:a16="http://schemas.microsoft.com/office/drawing/2014/main" id="{0B804F41-6B63-4918-BD7A-3D6F09A3A916}"/>
              </a:ext>
            </a:extLst>
          </p:cNvPr>
          <p:cNvSpPr txBox="1"/>
          <p:nvPr/>
        </p:nvSpPr>
        <p:spPr>
          <a:xfrm>
            <a:off x="7583647" y="2691113"/>
            <a:ext cx="1727349" cy="748666"/>
          </a:xfrm>
          <a:prstGeom prst="rect">
            <a:avLst/>
          </a:prstGeom>
          <a:noFill/>
        </p:spPr>
        <p:txBody>
          <a:bodyPr wrap="square" rtlCol="0">
            <a:spAutoFit/>
          </a:bodyPr>
          <a:lstStyle/>
          <a:p>
            <a:pPr algn="ctr"/>
            <a:r>
              <a:rPr lang="en-US" sz="4265" dirty="0"/>
              <a:t>=</a:t>
            </a:r>
          </a:p>
        </p:txBody>
      </p:sp>
      <p:sp>
        <p:nvSpPr>
          <p:cNvPr id="63" name="TextBox 62">
            <a:extLst>
              <a:ext uri="{FF2B5EF4-FFF2-40B4-BE49-F238E27FC236}">
                <a16:creationId xmlns:a16="http://schemas.microsoft.com/office/drawing/2014/main" id="{DDF94C93-EA47-483C-8EB3-1802BDDFAC3C}"/>
              </a:ext>
            </a:extLst>
          </p:cNvPr>
          <p:cNvSpPr txBox="1"/>
          <p:nvPr/>
        </p:nvSpPr>
        <p:spPr>
          <a:xfrm>
            <a:off x="9522150" y="2472051"/>
            <a:ext cx="2216145" cy="1568699"/>
          </a:xfrm>
          <a:prstGeom prst="rect">
            <a:avLst/>
          </a:prstGeom>
          <a:noFill/>
        </p:spPr>
        <p:txBody>
          <a:bodyPr wrap="square" rtlCol="0">
            <a:spAutoFit/>
          </a:bodyPr>
          <a:lstStyle/>
          <a:p>
            <a:pPr algn="ctr"/>
            <a:r>
              <a:rPr lang="en-US" sz="3198" dirty="0"/>
              <a:t>Working capital (WC)</a:t>
            </a:r>
          </a:p>
        </p:txBody>
      </p:sp>
      <p:sp>
        <p:nvSpPr>
          <p:cNvPr id="2" name="TextBox 1">
            <a:extLst>
              <a:ext uri="{FF2B5EF4-FFF2-40B4-BE49-F238E27FC236}">
                <a16:creationId xmlns:a16="http://schemas.microsoft.com/office/drawing/2014/main" id="{C238D151-2FA7-407C-A42A-A6EABFF6FA55}"/>
              </a:ext>
            </a:extLst>
          </p:cNvPr>
          <p:cNvSpPr txBox="1"/>
          <p:nvPr/>
        </p:nvSpPr>
        <p:spPr>
          <a:xfrm>
            <a:off x="110388" y="4240291"/>
            <a:ext cx="11960083" cy="1938351"/>
          </a:xfrm>
          <a:prstGeom prst="rect">
            <a:avLst/>
          </a:prstGeom>
          <a:noFill/>
        </p:spPr>
        <p:txBody>
          <a:bodyPr wrap="square" rtlCol="0">
            <a:spAutoFit/>
          </a:bodyPr>
          <a:lstStyle/>
          <a:p>
            <a:r>
              <a:rPr lang="en-US" sz="2399" dirty="0"/>
              <a:t>Before	Inventory = RMB 60,000 				      		WC = RMB 60,000</a:t>
            </a:r>
          </a:p>
          <a:p>
            <a:r>
              <a:rPr lang="en-US" sz="2399" dirty="0"/>
              <a:t>After	Inventory = 0, Cash = RMB 36,000			      	WC = RMB 90,000</a:t>
            </a:r>
          </a:p>
          <a:p>
            <a:r>
              <a:rPr lang="en-US" sz="2399" dirty="0"/>
              <a:t>	and Accounts receivable = RMB 54,000 </a:t>
            </a:r>
          </a:p>
          <a:p>
            <a:r>
              <a:rPr lang="en-US" sz="2399" b="1" dirty="0"/>
              <a:t>Change	</a:t>
            </a:r>
          </a:p>
          <a:p>
            <a:r>
              <a:rPr lang="en-US" sz="2399" b="1" dirty="0"/>
              <a:t>Increase in current assets by RMB 30,000			    ∆ WC = + RMB 30,000</a:t>
            </a:r>
          </a:p>
        </p:txBody>
      </p:sp>
    </p:spTree>
    <p:extLst>
      <p:ext uri="{BB962C8B-B14F-4D97-AF65-F5344CB8AC3E}">
        <p14:creationId xmlns:p14="http://schemas.microsoft.com/office/powerpoint/2010/main" val="522746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2EB9F2C-4C68-4606-A554-AAD3CA101C7E}"/>
              </a:ext>
            </a:extLst>
          </p:cNvPr>
          <p:cNvSpPr>
            <a:spLocks noGrp="1"/>
          </p:cNvSpPr>
          <p:nvPr>
            <p:ph type="title"/>
          </p:nvPr>
        </p:nvSpPr>
        <p:spPr/>
        <p:txBody>
          <a:bodyPr/>
          <a:lstStyle/>
          <a:p>
            <a:r>
              <a:rPr lang="en-US" dirty="0"/>
              <a:t>Balance sheet must be balanced</a:t>
            </a:r>
          </a:p>
        </p:txBody>
      </p:sp>
      <p:sp>
        <p:nvSpPr>
          <p:cNvPr id="2" name="Content Placeholder 1">
            <a:extLst>
              <a:ext uri="{FF2B5EF4-FFF2-40B4-BE49-F238E27FC236}">
                <a16:creationId xmlns:a16="http://schemas.microsoft.com/office/drawing/2014/main" id="{3817F736-43BB-4C9C-9852-914B9C397244}"/>
              </a:ext>
            </a:extLst>
          </p:cNvPr>
          <p:cNvSpPr>
            <a:spLocks noGrp="1"/>
          </p:cNvSpPr>
          <p:nvPr>
            <p:ph idx="1"/>
          </p:nvPr>
        </p:nvSpPr>
        <p:spPr/>
        <p:txBody>
          <a:bodyPr/>
          <a:lstStyle/>
          <a:p>
            <a:pPr marL="0" indent="0">
              <a:buNone/>
            </a:pPr>
            <a:r>
              <a:rPr lang="en-US" i="1" dirty="0"/>
              <a:t>SOFT Enterprises </a:t>
            </a:r>
            <a:r>
              <a:rPr lang="en-US" dirty="0"/>
              <a:t>sold products to customers on 1</a:t>
            </a:r>
            <a:r>
              <a:rPr lang="en-US" baseline="30000" dirty="0"/>
              <a:t>st</a:t>
            </a:r>
            <a:r>
              <a:rPr lang="en-US" dirty="0"/>
              <a:t> February 2026 for a total price of RMB 90,000 paid 40% cash and 60% with a one-month credit term. The cost of the products was RMB 60,000. </a:t>
            </a:r>
            <a:r>
              <a:rPr lang="fr-FR" dirty="0"/>
              <a:t>What are the impacts on assets, liabilities and </a:t>
            </a:r>
            <a:r>
              <a:rPr lang="fr-FR" dirty="0" err="1"/>
              <a:t>equity</a:t>
            </a:r>
            <a:r>
              <a:rPr lang="fr-FR" dirty="0"/>
              <a:t> of </a:t>
            </a:r>
            <a:r>
              <a:rPr lang="fr-FR" dirty="0" err="1"/>
              <a:t>this</a:t>
            </a:r>
            <a:r>
              <a:rPr lang="fr-FR" dirty="0"/>
              <a:t> transaction (i.e. sale of </a:t>
            </a:r>
            <a:r>
              <a:rPr lang="fr-FR" dirty="0" err="1"/>
              <a:t>products</a:t>
            </a:r>
            <a:r>
              <a:rPr lang="fr-FR" dirty="0"/>
              <a:t>) (at the date of the transaction)?</a:t>
            </a:r>
          </a:p>
          <a:p>
            <a:pPr marL="0" indent="0">
              <a:buNone/>
            </a:pPr>
            <a:endParaRPr lang="en-US" dirty="0"/>
          </a:p>
        </p:txBody>
      </p:sp>
      <p:sp>
        <p:nvSpPr>
          <p:cNvPr id="5" name="Slide Number Placeholder 4">
            <a:extLst>
              <a:ext uri="{FF2B5EF4-FFF2-40B4-BE49-F238E27FC236}">
                <a16:creationId xmlns:a16="http://schemas.microsoft.com/office/drawing/2014/main" id="{69D7ACB9-3FEE-418D-97C5-9100F0D50C18}"/>
              </a:ext>
            </a:extLst>
          </p:cNvPr>
          <p:cNvSpPr>
            <a:spLocks noGrp="1"/>
          </p:cNvSpPr>
          <p:nvPr>
            <p:ph type="sldNum" sz="quarter" idx="10"/>
          </p:nvPr>
        </p:nvSpPr>
        <p:spPr/>
        <p:txBody>
          <a:bodyPr/>
          <a:lstStyle/>
          <a:p>
            <a:fld id="{307C7597-8D70-4701-8085-9524B0B5C72B}" type="slidenum">
              <a:rPr lang="fr-FR" smtClean="0"/>
              <a:pPr/>
              <a:t>92</a:t>
            </a:fld>
            <a:endParaRPr lang="fr-FR" dirty="0"/>
          </a:p>
        </p:txBody>
      </p:sp>
    </p:spTree>
    <p:extLst>
      <p:ext uri="{BB962C8B-B14F-4D97-AF65-F5344CB8AC3E}">
        <p14:creationId xmlns:p14="http://schemas.microsoft.com/office/powerpoint/2010/main" val="395260213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E062F10-3FF0-40EA-BED1-40ABF0420E38}"/>
              </a:ext>
            </a:extLst>
          </p:cNvPr>
          <p:cNvSpPr>
            <a:spLocks noGrp="1"/>
          </p:cNvSpPr>
          <p:nvPr>
            <p:ph type="title"/>
          </p:nvPr>
        </p:nvSpPr>
        <p:spPr/>
        <p:txBody>
          <a:bodyPr/>
          <a:lstStyle/>
          <a:p>
            <a:r>
              <a:rPr lang="fr-FR" dirty="0"/>
              <a:t>Profit = change in </a:t>
            </a:r>
            <a:r>
              <a:rPr lang="fr-FR" dirty="0" err="1"/>
              <a:t>equity</a:t>
            </a:r>
            <a:endParaRPr lang="fr-FR" dirty="0"/>
          </a:p>
        </p:txBody>
      </p:sp>
      <p:sp>
        <p:nvSpPr>
          <p:cNvPr id="5" name="Slide Number Placeholder 4">
            <a:extLst>
              <a:ext uri="{FF2B5EF4-FFF2-40B4-BE49-F238E27FC236}">
                <a16:creationId xmlns:a16="http://schemas.microsoft.com/office/drawing/2014/main" id="{69D7ACB9-3FEE-418D-97C5-9100F0D50C18}"/>
              </a:ext>
            </a:extLst>
          </p:cNvPr>
          <p:cNvSpPr>
            <a:spLocks noGrp="1"/>
          </p:cNvSpPr>
          <p:nvPr>
            <p:ph type="sldNum" sz="quarter" idx="10"/>
          </p:nvPr>
        </p:nvSpPr>
        <p:spPr/>
        <p:txBody>
          <a:bodyPr/>
          <a:lstStyle/>
          <a:p>
            <a:fld id="{307C7597-8D70-4701-8085-9524B0B5C72B}" type="slidenum">
              <a:rPr lang="fr-FR" smtClean="0"/>
              <a:pPr/>
              <a:t>93</a:t>
            </a:fld>
            <a:endParaRPr lang="fr-FR" dirty="0"/>
          </a:p>
        </p:txBody>
      </p:sp>
      <p:grpSp>
        <p:nvGrpSpPr>
          <p:cNvPr id="12" name="Group 11">
            <a:extLst>
              <a:ext uri="{FF2B5EF4-FFF2-40B4-BE49-F238E27FC236}">
                <a16:creationId xmlns:a16="http://schemas.microsoft.com/office/drawing/2014/main" id="{C27C55D6-2A6B-4F69-86A7-45861741567D}"/>
              </a:ext>
            </a:extLst>
          </p:cNvPr>
          <p:cNvGrpSpPr/>
          <p:nvPr/>
        </p:nvGrpSpPr>
        <p:grpSpPr>
          <a:xfrm>
            <a:off x="1244828" y="966436"/>
            <a:ext cx="10622212" cy="3352461"/>
            <a:chOff x="921930" y="699542"/>
            <a:chExt cx="7970549" cy="2515574"/>
          </a:xfrm>
        </p:grpSpPr>
        <p:grpSp>
          <p:nvGrpSpPr>
            <p:cNvPr id="13" name="Group 12">
              <a:extLst>
                <a:ext uri="{FF2B5EF4-FFF2-40B4-BE49-F238E27FC236}">
                  <a16:creationId xmlns:a16="http://schemas.microsoft.com/office/drawing/2014/main" id="{775C13A5-082B-4B2C-9429-D711D55C118A}"/>
                </a:ext>
              </a:extLst>
            </p:cNvPr>
            <p:cNvGrpSpPr/>
            <p:nvPr/>
          </p:nvGrpSpPr>
          <p:grpSpPr>
            <a:xfrm>
              <a:off x="921930" y="699542"/>
              <a:ext cx="7682518" cy="913074"/>
              <a:chOff x="611560" y="1270769"/>
              <a:chExt cx="7632848" cy="913074"/>
            </a:xfrm>
          </p:grpSpPr>
          <p:sp>
            <p:nvSpPr>
              <p:cNvPr id="17" name="TextBox 16">
                <a:extLst>
                  <a:ext uri="{FF2B5EF4-FFF2-40B4-BE49-F238E27FC236}">
                    <a16:creationId xmlns:a16="http://schemas.microsoft.com/office/drawing/2014/main" id="{D48CCC79-0E60-4626-917D-E31EDA171682}"/>
                  </a:ext>
                </a:extLst>
              </p:cNvPr>
              <p:cNvSpPr txBox="1"/>
              <p:nvPr/>
            </p:nvSpPr>
            <p:spPr>
              <a:xfrm>
                <a:off x="611560" y="1347614"/>
                <a:ext cx="1440160" cy="438555"/>
              </a:xfrm>
              <a:prstGeom prst="rect">
                <a:avLst/>
              </a:prstGeom>
              <a:noFill/>
            </p:spPr>
            <p:txBody>
              <a:bodyPr wrap="square" rtlCol="0">
                <a:spAutoFit/>
              </a:bodyPr>
              <a:lstStyle/>
              <a:p>
                <a:pPr algn="ctr"/>
                <a:r>
                  <a:rPr lang="en-US" sz="3198" dirty="0"/>
                  <a:t>∆ Assets</a:t>
                </a:r>
              </a:p>
            </p:txBody>
          </p:sp>
          <p:sp>
            <p:nvSpPr>
              <p:cNvPr id="18" name="TextBox 17">
                <a:extLst>
                  <a:ext uri="{FF2B5EF4-FFF2-40B4-BE49-F238E27FC236}">
                    <a16:creationId xmlns:a16="http://schemas.microsoft.com/office/drawing/2014/main" id="{CF8D5AF0-9718-4B81-89BC-FC7368D761B7}"/>
                  </a:ext>
                </a:extLst>
              </p:cNvPr>
              <p:cNvSpPr txBox="1"/>
              <p:nvPr/>
            </p:nvSpPr>
            <p:spPr>
              <a:xfrm>
                <a:off x="2123728" y="1270769"/>
                <a:ext cx="1296144" cy="561774"/>
              </a:xfrm>
              <a:prstGeom prst="rect">
                <a:avLst/>
              </a:prstGeom>
              <a:noFill/>
            </p:spPr>
            <p:txBody>
              <a:bodyPr wrap="square" rtlCol="0">
                <a:spAutoFit/>
              </a:bodyPr>
              <a:lstStyle/>
              <a:p>
                <a:pPr algn="ctr"/>
                <a:r>
                  <a:rPr lang="en-US" sz="4265" dirty="0"/>
                  <a:t>=</a:t>
                </a:r>
              </a:p>
            </p:txBody>
          </p:sp>
          <p:sp>
            <p:nvSpPr>
              <p:cNvPr id="19" name="TextBox 18">
                <a:extLst>
                  <a:ext uri="{FF2B5EF4-FFF2-40B4-BE49-F238E27FC236}">
                    <a16:creationId xmlns:a16="http://schemas.microsoft.com/office/drawing/2014/main" id="{9E40463E-C892-4749-BF36-2F43B8A39462}"/>
                  </a:ext>
                </a:extLst>
              </p:cNvPr>
              <p:cNvSpPr txBox="1"/>
              <p:nvPr/>
            </p:nvSpPr>
            <p:spPr>
              <a:xfrm>
                <a:off x="6804248" y="1347614"/>
                <a:ext cx="1440160" cy="438555"/>
              </a:xfrm>
              <a:prstGeom prst="rect">
                <a:avLst/>
              </a:prstGeom>
              <a:noFill/>
            </p:spPr>
            <p:txBody>
              <a:bodyPr wrap="square" rtlCol="0">
                <a:spAutoFit/>
              </a:bodyPr>
              <a:lstStyle/>
              <a:p>
                <a:pPr algn="ctr"/>
                <a:r>
                  <a:rPr lang="en-US" sz="3198" dirty="0"/>
                  <a:t>∆ Equity</a:t>
                </a:r>
              </a:p>
            </p:txBody>
          </p:sp>
          <p:sp>
            <p:nvSpPr>
              <p:cNvPr id="20" name="TextBox 19">
                <a:extLst>
                  <a:ext uri="{FF2B5EF4-FFF2-40B4-BE49-F238E27FC236}">
                    <a16:creationId xmlns:a16="http://schemas.microsoft.com/office/drawing/2014/main" id="{E0A8E3D9-A981-4B1D-A457-8A64888C668A}"/>
                  </a:ext>
                </a:extLst>
              </p:cNvPr>
              <p:cNvSpPr txBox="1"/>
              <p:nvPr/>
            </p:nvSpPr>
            <p:spPr>
              <a:xfrm>
                <a:off x="3491880" y="1347614"/>
                <a:ext cx="1800200" cy="438555"/>
              </a:xfrm>
              <a:prstGeom prst="rect">
                <a:avLst/>
              </a:prstGeom>
              <a:noFill/>
            </p:spPr>
            <p:txBody>
              <a:bodyPr wrap="square" rtlCol="0">
                <a:spAutoFit/>
              </a:bodyPr>
              <a:lstStyle/>
              <a:p>
                <a:pPr algn="ctr"/>
                <a:r>
                  <a:rPr lang="en-US" sz="3198" dirty="0"/>
                  <a:t>∆ Liabilities</a:t>
                </a:r>
              </a:p>
            </p:txBody>
          </p:sp>
          <p:sp>
            <p:nvSpPr>
              <p:cNvPr id="21" name="TextBox 20">
                <a:extLst>
                  <a:ext uri="{FF2B5EF4-FFF2-40B4-BE49-F238E27FC236}">
                    <a16:creationId xmlns:a16="http://schemas.microsoft.com/office/drawing/2014/main" id="{B5EA66E8-C780-46AD-9FB2-C96BB0BE27D0}"/>
                  </a:ext>
                </a:extLst>
              </p:cNvPr>
              <p:cNvSpPr txBox="1"/>
              <p:nvPr/>
            </p:nvSpPr>
            <p:spPr>
              <a:xfrm>
                <a:off x="5364088" y="1304837"/>
                <a:ext cx="1296144" cy="561774"/>
              </a:xfrm>
              <a:prstGeom prst="rect">
                <a:avLst/>
              </a:prstGeom>
              <a:noFill/>
            </p:spPr>
            <p:txBody>
              <a:bodyPr wrap="square" rtlCol="0">
                <a:spAutoFit/>
              </a:bodyPr>
              <a:lstStyle/>
              <a:p>
                <a:pPr algn="ctr"/>
                <a:r>
                  <a:rPr lang="en-US" sz="4265" dirty="0"/>
                  <a:t>+</a:t>
                </a:r>
              </a:p>
            </p:txBody>
          </p:sp>
          <p:sp>
            <p:nvSpPr>
              <p:cNvPr id="25" name="Arrow: Down 24">
                <a:extLst>
                  <a:ext uri="{FF2B5EF4-FFF2-40B4-BE49-F238E27FC236}">
                    <a16:creationId xmlns:a16="http://schemas.microsoft.com/office/drawing/2014/main" id="{169693BA-731E-4FCD-9753-93ED84461F7A}"/>
                  </a:ext>
                </a:extLst>
              </p:cNvPr>
              <p:cNvSpPr/>
              <p:nvPr/>
            </p:nvSpPr>
            <p:spPr>
              <a:xfrm rot="13432857">
                <a:off x="6807090" y="1866194"/>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grpSp>
        <p:sp>
          <p:nvSpPr>
            <p:cNvPr id="16" name="TextBox 15">
              <a:extLst>
                <a:ext uri="{FF2B5EF4-FFF2-40B4-BE49-F238E27FC236}">
                  <a16:creationId xmlns:a16="http://schemas.microsoft.com/office/drawing/2014/main" id="{A83BF2C0-9044-494B-9CB3-933A80B89E7E}"/>
                </a:ext>
              </a:extLst>
            </p:cNvPr>
            <p:cNvSpPr txBox="1"/>
            <p:nvPr/>
          </p:nvSpPr>
          <p:spPr>
            <a:xfrm>
              <a:off x="4225514" y="1668745"/>
              <a:ext cx="4666965" cy="1546371"/>
            </a:xfrm>
            <a:prstGeom prst="rect">
              <a:avLst/>
            </a:prstGeom>
            <a:noFill/>
          </p:spPr>
          <p:txBody>
            <a:bodyPr wrap="square" rtlCol="0">
              <a:spAutoFit/>
            </a:bodyPr>
            <a:lstStyle/>
            <a:p>
              <a:pPr algn="ctr"/>
              <a:r>
                <a:rPr lang="en-US" sz="3198" dirty="0"/>
                <a:t>Profit (P&amp;L)</a:t>
              </a:r>
            </a:p>
            <a:p>
              <a:r>
                <a:rPr lang="en-US" sz="3198" dirty="0"/>
                <a:t>Sales revenue         RMB 90,000</a:t>
              </a:r>
            </a:p>
            <a:p>
              <a:r>
                <a:rPr lang="en-US" sz="3198" dirty="0"/>
                <a:t>Cost of goods sold RMB 60,000</a:t>
              </a:r>
            </a:p>
            <a:p>
              <a:r>
                <a:rPr lang="en-US" sz="3198" dirty="0"/>
                <a:t>Gross profit	      RMB 30,000</a:t>
              </a:r>
            </a:p>
          </p:txBody>
        </p:sp>
      </p:grpSp>
      <p:sp>
        <p:nvSpPr>
          <p:cNvPr id="2" name="TextBox 1">
            <a:extLst>
              <a:ext uri="{FF2B5EF4-FFF2-40B4-BE49-F238E27FC236}">
                <a16:creationId xmlns:a16="http://schemas.microsoft.com/office/drawing/2014/main" id="{CB83058C-323A-308C-8355-0FEFCEC1B4A1}"/>
              </a:ext>
            </a:extLst>
          </p:cNvPr>
          <p:cNvSpPr txBox="1"/>
          <p:nvPr/>
        </p:nvSpPr>
        <p:spPr>
          <a:xfrm>
            <a:off x="1811842" y="4607143"/>
            <a:ext cx="8996732" cy="957442"/>
          </a:xfrm>
          <a:prstGeom prst="rect">
            <a:avLst/>
          </a:prstGeom>
          <a:solidFill>
            <a:schemeClr val="accent1">
              <a:lumMod val="10000"/>
              <a:lumOff val="90000"/>
            </a:schemeClr>
          </a:solidFill>
        </p:spPr>
        <p:txBody>
          <a:bodyPr wrap="square" rtlCol="0">
            <a:spAutoFit/>
          </a:bodyPr>
          <a:lstStyle/>
          <a:p>
            <a:r>
              <a:rPr lang="fr-FR" sz="2811" dirty="0" err="1"/>
              <a:t>Cost</a:t>
            </a:r>
            <a:r>
              <a:rPr lang="fr-FR" sz="2811" dirty="0"/>
              <a:t> of </a:t>
            </a:r>
            <a:r>
              <a:rPr lang="fr-FR" sz="2811" dirty="0" err="1"/>
              <a:t>goods</a:t>
            </a:r>
            <a:r>
              <a:rPr lang="fr-FR" sz="2811" dirty="0"/>
              <a:t> </a:t>
            </a:r>
            <a:r>
              <a:rPr lang="fr-FR" sz="2811" dirty="0" err="1"/>
              <a:t>sold</a:t>
            </a:r>
            <a:r>
              <a:rPr lang="fr-FR" sz="2811" dirty="0"/>
              <a:t> = </a:t>
            </a:r>
            <a:r>
              <a:rPr lang="fr-FR" sz="2811" dirty="0" err="1"/>
              <a:t>outflow</a:t>
            </a:r>
            <a:r>
              <a:rPr lang="fr-FR" sz="2811" dirty="0"/>
              <a:t> </a:t>
            </a:r>
            <a:r>
              <a:rPr lang="fr-FR" sz="2811" dirty="0" err="1"/>
              <a:t>from</a:t>
            </a:r>
            <a:r>
              <a:rPr lang="fr-FR" sz="2811" dirty="0"/>
              <a:t> </a:t>
            </a:r>
            <a:r>
              <a:rPr lang="fr-FR" sz="2811" dirty="0" err="1"/>
              <a:t>finished</a:t>
            </a:r>
            <a:r>
              <a:rPr lang="fr-FR" sz="2811" dirty="0"/>
              <a:t> </a:t>
            </a:r>
            <a:r>
              <a:rPr lang="fr-FR" sz="2811" dirty="0" err="1"/>
              <a:t>goods</a:t>
            </a:r>
            <a:r>
              <a:rPr lang="fr-FR" sz="2811" dirty="0"/>
              <a:t> </a:t>
            </a:r>
            <a:r>
              <a:rPr lang="fr-FR" sz="2811" dirty="0" err="1"/>
              <a:t>inventory</a:t>
            </a:r>
            <a:r>
              <a:rPr lang="fr-FR" sz="2811" dirty="0"/>
              <a:t> and merchandise </a:t>
            </a:r>
            <a:r>
              <a:rPr lang="fr-FR" sz="2811" dirty="0" err="1"/>
              <a:t>inventory</a:t>
            </a:r>
            <a:endParaRPr lang="en-US" sz="2811" dirty="0"/>
          </a:p>
        </p:txBody>
      </p:sp>
    </p:spTree>
    <p:extLst>
      <p:ext uri="{BB962C8B-B14F-4D97-AF65-F5344CB8AC3E}">
        <p14:creationId xmlns:p14="http://schemas.microsoft.com/office/powerpoint/2010/main" val="300794427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2EB9F2C-4C68-4606-A554-AAD3CA101C7E}"/>
              </a:ext>
            </a:extLst>
          </p:cNvPr>
          <p:cNvSpPr>
            <a:spLocks noGrp="1"/>
          </p:cNvSpPr>
          <p:nvPr>
            <p:ph type="title"/>
          </p:nvPr>
        </p:nvSpPr>
        <p:spPr>
          <a:xfrm>
            <a:off x="656844" y="69651"/>
            <a:ext cx="10829544" cy="491267"/>
          </a:xfrm>
          <a:solidFill>
            <a:schemeClr val="accent1">
              <a:lumMod val="20000"/>
              <a:lumOff val="80000"/>
            </a:schemeClr>
          </a:solidFill>
        </p:spPr>
        <p:txBody>
          <a:bodyPr/>
          <a:lstStyle/>
          <a:p>
            <a:r>
              <a:rPr lang="en-US" dirty="0"/>
              <a:t>Balance sheet must be balanced</a:t>
            </a:r>
          </a:p>
        </p:txBody>
      </p:sp>
      <p:sp>
        <p:nvSpPr>
          <p:cNvPr id="5" name="Slide Number Placeholder 4">
            <a:extLst>
              <a:ext uri="{FF2B5EF4-FFF2-40B4-BE49-F238E27FC236}">
                <a16:creationId xmlns:a16="http://schemas.microsoft.com/office/drawing/2014/main" id="{69D7ACB9-3FEE-418D-97C5-9100F0D50C18}"/>
              </a:ext>
            </a:extLst>
          </p:cNvPr>
          <p:cNvSpPr>
            <a:spLocks noGrp="1"/>
          </p:cNvSpPr>
          <p:nvPr>
            <p:ph type="sldNum" sz="quarter" idx="10"/>
          </p:nvPr>
        </p:nvSpPr>
        <p:spPr/>
        <p:txBody>
          <a:bodyPr/>
          <a:lstStyle/>
          <a:p>
            <a:fld id="{307C7597-8D70-4701-8085-9524B0B5C72B}" type="slidenum">
              <a:rPr lang="fr-FR" smtClean="0"/>
              <a:pPr/>
              <a:t>94</a:t>
            </a:fld>
            <a:endParaRPr lang="fr-FR" dirty="0"/>
          </a:p>
        </p:txBody>
      </p:sp>
      <p:sp>
        <p:nvSpPr>
          <p:cNvPr id="6" name="TextBox 5">
            <a:extLst>
              <a:ext uri="{FF2B5EF4-FFF2-40B4-BE49-F238E27FC236}">
                <a16:creationId xmlns:a16="http://schemas.microsoft.com/office/drawing/2014/main" id="{92E54632-4DB4-42B0-84E2-4DA5BF34ADC9}"/>
              </a:ext>
            </a:extLst>
          </p:cNvPr>
          <p:cNvSpPr txBox="1"/>
          <p:nvPr/>
        </p:nvSpPr>
        <p:spPr>
          <a:xfrm>
            <a:off x="-45683" y="4004784"/>
            <a:ext cx="2352559" cy="1568699"/>
          </a:xfrm>
          <a:prstGeom prst="rect">
            <a:avLst/>
          </a:prstGeom>
          <a:noFill/>
        </p:spPr>
        <p:txBody>
          <a:bodyPr wrap="square" rtlCol="0">
            <a:spAutoFit/>
          </a:bodyPr>
          <a:lstStyle/>
          <a:p>
            <a:pPr algn="ctr"/>
            <a:r>
              <a:rPr lang="en-US" sz="3198" dirty="0"/>
              <a:t>∆ Cash</a:t>
            </a:r>
          </a:p>
          <a:p>
            <a:pPr algn="ctr"/>
            <a:r>
              <a:rPr lang="en-US" sz="3198" dirty="0"/>
              <a:t>+RMB 36,000 </a:t>
            </a:r>
          </a:p>
        </p:txBody>
      </p:sp>
      <p:sp>
        <p:nvSpPr>
          <p:cNvPr id="7" name="TextBox 6">
            <a:extLst>
              <a:ext uri="{FF2B5EF4-FFF2-40B4-BE49-F238E27FC236}">
                <a16:creationId xmlns:a16="http://schemas.microsoft.com/office/drawing/2014/main" id="{500281EC-4F23-4142-8442-F26B636E143F}"/>
              </a:ext>
            </a:extLst>
          </p:cNvPr>
          <p:cNvSpPr txBox="1"/>
          <p:nvPr/>
        </p:nvSpPr>
        <p:spPr>
          <a:xfrm>
            <a:off x="1077776" y="5471513"/>
            <a:ext cx="2743200" cy="1076577"/>
          </a:xfrm>
          <a:prstGeom prst="rect">
            <a:avLst/>
          </a:prstGeom>
          <a:noFill/>
        </p:spPr>
        <p:txBody>
          <a:bodyPr wrap="square" rtlCol="0">
            <a:spAutoFit/>
          </a:bodyPr>
          <a:lstStyle/>
          <a:p>
            <a:pPr algn="ctr"/>
            <a:r>
              <a:rPr lang="en-US" sz="3198" dirty="0"/>
              <a:t>∆ Inventories</a:t>
            </a:r>
          </a:p>
          <a:p>
            <a:pPr algn="ctr"/>
            <a:r>
              <a:rPr lang="en-US" sz="3198" dirty="0"/>
              <a:t>-RMB 60,000</a:t>
            </a:r>
          </a:p>
        </p:txBody>
      </p:sp>
      <p:sp>
        <p:nvSpPr>
          <p:cNvPr id="8" name="Arrow: Down 7">
            <a:extLst>
              <a:ext uri="{FF2B5EF4-FFF2-40B4-BE49-F238E27FC236}">
                <a16:creationId xmlns:a16="http://schemas.microsoft.com/office/drawing/2014/main" id="{8DB86121-37CB-43DB-B775-51C9AEC00DCA}"/>
              </a:ext>
            </a:extLst>
          </p:cNvPr>
          <p:cNvSpPr/>
          <p:nvPr/>
        </p:nvSpPr>
        <p:spPr>
          <a:xfrm rot="12735684">
            <a:off x="1669054" y="3709151"/>
            <a:ext cx="383855" cy="423326"/>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9" name="Arrow: Down 8">
            <a:extLst>
              <a:ext uri="{FF2B5EF4-FFF2-40B4-BE49-F238E27FC236}">
                <a16:creationId xmlns:a16="http://schemas.microsoft.com/office/drawing/2014/main" id="{30FADEF5-8ACF-4F2D-AB0B-9A6710FD863B}"/>
              </a:ext>
            </a:extLst>
          </p:cNvPr>
          <p:cNvSpPr/>
          <p:nvPr/>
        </p:nvSpPr>
        <p:spPr>
          <a:xfrm rot="8684022">
            <a:off x="2997630" y="3659161"/>
            <a:ext cx="383855" cy="992797"/>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10" name="TextBox 9">
            <a:extLst>
              <a:ext uri="{FF2B5EF4-FFF2-40B4-BE49-F238E27FC236}">
                <a16:creationId xmlns:a16="http://schemas.microsoft.com/office/drawing/2014/main" id="{0B0E506E-7F2A-43D3-8697-1F71918E0318}"/>
              </a:ext>
            </a:extLst>
          </p:cNvPr>
          <p:cNvSpPr txBox="1"/>
          <p:nvPr/>
        </p:nvSpPr>
        <p:spPr>
          <a:xfrm>
            <a:off x="2916857" y="4571074"/>
            <a:ext cx="4524667" cy="1076577"/>
          </a:xfrm>
          <a:prstGeom prst="rect">
            <a:avLst/>
          </a:prstGeom>
          <a:noFill/>
        </p:spPr>
        <p:txBody>
          <a:bodyPr wrap="square" rtlCol="0">
            <a:spAutoFit/>
          </a:bodyPr>
          <a:lstStyle/>
          <a:p>
            <a:pPr algn="ctr"/>
            <a:r>
              <a:rPr lang="en-US" sz="3198" dirty="0"/>
              <a:t>∆ Accounts receivable</a:t>
            </a:r>
          </a:p>
          <a:p>
            <a:pPr algn="ctr"/>
            <a:r>
              <a:rPr lang="en-US" sz="3198" dirty="0"/>
              <a:t>+RMB 54,000</a:t>
            </a:r>
          </a:p>
        </p:txBody>
      </p:sp>
      <p:sp>
        <p:nvSpPr>
          <p:cNvPr id="11" name="Arrow: Down 10">
            <a:extLst>
              <a:ext uri="{FF2B5EF4-FFF2-40B4-BE49-F238E27FC236}">
                <a16:creationId xmlns:a16="http://schemas.microsoft.com/office/drawing/2014/main" id="{0304CA58-D834-4450-BD99-BC6080949F75}"/>
              </a:ext>
            </a:extLst>
          </p:cNvPr>
          <p:cNvSpPr/>
          <p:nvPr/>
        </p:nvSpPr>
        <p:spPr>
          <a:xfrm rot="10800000">
            <a:off x="2257448" y="3765641"/>
            <a:ext cx="383855" cy="1568697"/>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grpSp>
        <p:nvGrpSpPr>
          <p:cNvPr id="12" name="Group 11">
            <a:extLst>
              <a:ext uri="{FF2B5EF4-FFF2-40B4-BE49-F238E27FC236}">
                <a16:creationId xmlns:a16="http://schemas.microsoft.com/office/drawing/2014/main" id="{C27C55D6-2A6B-4F69-86A7-45861741567D}"/>
              </a:ext>
            </a:extLst>
          </p:cNvPr>
          <p:cNvGrpSpPr/>
          <p:nvPr/>
        </p:nvGrpSpPr>
        <p:grpSpPr>
          <a:xfrm>
            <a:off x="1244828" y="966437"/>
            <a:ext cx="10622212" cy="3291689"/>
            <a:chOff x="921930" y="699542"/>
            <a:chExt cx="7970549" cy="2469973"/>
          </a:xfrm>
        </p:grpSpPr>
        <p:grpSp>
          <p:nvGrpSpPr>
            <p:cNvPr id="13" name="Group 12">
              <a:extLst>
                <a:ext uri="{FF2B5EF4-FFF2-40B4-BE49-F238E27FC236}">
                  <a16:creationId xmlns:a16="http://schemas.microsoft.com/office/drawing/2014/main" id="{775C13A5-082B-4B2C-9429-D711D55C118A}"/>
                </a:ext>
              </a:extLst>
            </p:cNvPr>
            <p:cNvGrpSpPr/>
            <p:nvPr/>
          </p:nvGrpSpPr>
          <p:grpSpPr>
            <a:xfrm>
              <a:off x="921930" y="699542"/>
              <a:ext cx="7682518" cy="2132099"/>
              <a:chOff x="611560" y="1270769"/>
              <a:chExt cx="7632848" cy="2132099"/>
            </a:xfrm>
          </p:grpSpPr>
          <p:sp>
            <p:nvSpPr>
              <p:cNvPr id="17" name="TextBox 16">
                <a:extLst>
                  <a:ext uri="{FF2B5EF4-FFF2-40B4-BE49-F238E27FC236}">
                    <a16:creationId xmlns:a16="http://schemas.microsoft.com/office/drawing/2014/main" id="{D48CCC79-0E60-4626-917D-E31EDA171682}"/>
                  </a:ext>
                </a:extLst>
              </p:cNvPr>
              <p:cNvSpPr txBox="1"/>
              <p:nvPr/>
            </p:nvSpPr>
            <p:spPr>
              <a:xfrm>
                <a:off x="611560" y="1347614"/>
                <a:ext cx="1440160" cy="438555"/>
              </a:xfrm>
              <a:prstGeom prst="rect">
                <a:avLst/>
              </a:prstGeom>
              <a:noFill/>
            </p:spPr>
            <p:txBody>
              <a:bodyPr wrap="square" rtlCol="0">
                <a:spAutoFit/>
              </a:bodyPr>
              <a:lstStyle/>
              <a:p>
                <a:pPr algn="ctr"/>
                <a:r>
                  <a:rPr lang="en-US" sz="3198" dirty="0"/>
                  <a:t>∆ Assets</a:t>
                </a:r>
              </a:p>
            </p:txBody>
          </p:sp>
          <p:sp>
            <p:nvSpPr>
              <p:cNvPr id="18" name="TextBox 17">
                <a:extLst>
                  <a:ext uri="{FF2B5EF4-FFF2-40B4-BE49-F238E27FC236}">
                    <a16:creationId xmlns:a16="http://schemas.microsoft.com/office/drawing/2014/main" id="{CF8D5AF0-9718-4B81-89BC-FC7368D761B7}"/>
                  </a:ext>
                </a:extLst>
              </p:cNvPr>
              <p:cNvSpPr txBox="1"/>
              <p:nvPr/>
            </p:nvSpPr>
            <p:spPr>
              <a:xfrm>
                <a:off x="2123728" y="1270769"/>
                <a:ext cx="1296144" cy="561774"/>
              </a:xfrm>
              <a:prstGeom prst="rect">
                <a:avLst/>
              </a:prstGeom>
              <a:noFill/>
            </p:spPr>
            <p:txBody>
              <a:bodyPr wrap="square" rtlCol="0">
                <a:spAutoFit/>
              </a:bodyPr>
              <a:lstStyle/>
              <a:p>
                <a:pPr algn="ctr"/>
                <a:r>
                  <a:rPr lang="en-US" sz="4265" dirty="0"/>
                  <a:t>=</a:t>
                </a:r>
              </a:p>
            </p:txBody>
          </p:sp>
          <p:sp>
            <p:nvSpPr>
              <p:cNvPr id="19" name="TextBox 18">
                <a:extLst>
                  <a:ext uri="{FF2B5EF4-FFF2-40B4-BE49-F238E27FC236}">
                    <a16:creationId xmlns:a16="http://schemas.microsoft.com/office/drawing/2014/main" id="{9E40463E-C892-4749-BF36-2F43B8A39462}"/>
                  </a:ext>
                </a:extLst>
              </p:cNvPr>
              <p:cNvSpPr txBox="1"/>
              <p:nvPr/>
            </p:nvSpPr>
            <p:spPr>
              <a:xfrm>
                <a:off x="6804248" y="1347614"/>
                <a:ext cx="1440160" cy="438555"/>
              </a:xfrm>
              <a:prstGeom prst="rect">
                <a:avLst/>
              </a:prstGeom>
              <a:noFill/>
            </p:spPr>
            <p:txBody>
              <a:bodyPr wrap="square" rtlCol="0">
                <a:spAutoFit/>
              </a:bodyPr>
              <a:lstStyle/>
              <a:p>
                <a:pPr algn="ctr"/>
                <a:r>
                  <a:rPr lang="en-US" sz="3198" dirty="0"/>
                  <a:t>∆ Equity</a:t>
                </a:r>
              </a:p>
            </p:txBody>
          </p:sp>
          <p:sp>
            <p:nvSpPr>
              <p:cNvPr id="20" name="TextBox 19">
                <a:extLst>
                  <a:ext uri="{FF2B5EF4-FFF2-40B4-BE49-F238E27FC236}">
                    <a16:creationId xmlns:a16="http://schemas.microsoft.com/office/drawing/2014/main" id="{E0A8E3D9-A981-4B1D-A457-8A64888C668A}"/>
                  </a:ext>
                </a:extLst>
              </p:cNvPr>
              <p:cNvSpPr txBox="1"/>
              <p:nvPr/>
            </p:nvSpPr>
            <p:spPr>
              <a:xfrm>
                <a:off x="3491880" y="1347614"/>
                <a:ext cx="1800200" cy="438555"/>
              </a:xfrm>
              <a:prstGeom prst="rect">
                <a:avLst/>
              </a:prstGeom>
              <a:noFill/>
            </p:spPr>
            <p:txBody>
              <a:bodyPr wrap="square" rtlCol="0">
                <a:spAutoFit/>
              </a:bodyPr>
              <a:lstStyle/>
              <a:p>
                <a:pPr algn="ctr"/>
                <a:r>
                  <a:rPr lang="en-US" sz="3198" dirty="0"/>
                  <a:t>∆ Liabilities</a:t>
                </a:r>
              </a:p>
            </p:txBody>
          </p:sp>
          <p:sp>
            <p:nvSpPr>
              <p:cNvPr id="21" name="TextBox 20">
                <a:extLst>
                  <a:ext uri="{FF2B5EF4-FFF2-40B4-BE49-F238E27FC236}">
                    <a16:creationId xmlns:a16="http://schemas.microsoft.com/office/drawing/2014/main" id="{B5EA66E8-C780-46AD-9FB2-C96BB0BE27D0}"/>
                  </a:ext>
                </a:extLst>
              </p:cNvPr>
              <p:cNvSpPr txBox="1"/>
              <p:nvPr/>
            </p:nvSpPr>
            <p:spPr>
              <a:xfrm>
                <a:off x="5364088" y="1304837"/>
                <a:ext cx="1296144" cy="561774"/>
              </a:xfrm>
              <a:prstGeom prst="rect">
                <a:avLst/>
              </a:prstGeom>
              <a:noFill/>
            </p:spPr>
            <p:txBody>
              <a:bodyPr wrap="square" rtlCol="0">
                <a:spAutoFit/>
              </a:bodyPr>
              <a:lstStyle/>
              <a:p>
                <a:pPr algn="ctr"/>
                <a:r>
                  <a:rPr lang="en-US" sz="4265" dirty="0"/>
                  <a:t>+</a:t>
                </a:r>
              </a:p>
            </p:txBody>
          </p:sp>
          <p:sp>
            <p:nvSpPr>
              <p:cNvPr id="22" name="TextBox 21">
                <a:extLst>
                  <a:ext uri="{FF2B5EF4-FFF2-40B4-BE49-F238E27FC236}">
                    <a16:creationId xmlns:a16="http://schemas.microsoft.com/office/drawing/2014/main" id="{AAD20EC5-52D8-4B92-9B76-8D311F1AE184}"/>
                  </a:ext>
                </a:extLst>
              </p:cNvPr>
              <p:cNvSpPr txBox="1"/>
              <p:nvPr/>
            </p:nvSpPr>
            <p:spPr>
              <a:xfrm>
                <a:off x="659231" y="2225769"/>
                <a:ext cx="1632848" cy="1177099"/>
              </a:xfrm>
              <a:prstGeom prst="rect">
                <a:avLst/>
              </a:prstGeom>
              <a:noFill/>
            </p:spPr>
            <p:txBody>
              <a:bodyPr wrap="square" rtlCol="0">
                <a:spAutoFit/>
              </a:bodyPr>
              <a:lstStyle/>
              <a:p>
                <a:pPr algn="ctr"/>
                <a:r>
                  <a:rPr lang="en-US" sz="3198" dirty="0"/>
                  <a:t>∆ Current Assets (CA)</a:t>
                </a:r>
              </a:p>
            </p:txBody>
          </p:sp>
          <p:sp>
            <p:nvSpPr>
              <p:cNvPr id="23" name="Arrow: Down 22">
                <a:extLst>
                  <a:ext uri="{FF2B5EF4-FFF2-40B4-BE49-F238E27FC236}">
                    <a16:creationId xmlns:a16="http://schemas.microsoft.com/office/drawing/2014/main" id="{043CBB1C-8305-4BED-9D97-28E2DD7225EE}"/>
                  </a:ext>
                </a:extLst>
              </p:cNvPr>
              <p:cNvSpPr/>
              <p:nvPr/>
            </p:nvSpPr>
            <p:spPr>
              <a:xfrm rot="10800000">
                <a:off x="1331640" y="1851016"/>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25" name="Arrow: Down 24">
                <a:extLst>
                  <a:ext uri="{FF2B5EF4-FFF2-40B4-BE49-F238E27FC236}">
                    <a16:creationId xmlns:a16="http://schemas.microsoft.com/office/drawing/2014/main" id="{169693BA-731E-4FCD-9753-93ED84461F7A}"/>
                  </a:ext>
                </a:extLst>
              </p:cNvPr>
              <p:cNvSpPr/>
              <p:nvPr/>
            </p:nvSpPr>
            <p:spPr>
              <a:xfrm rot="13432857">
                <a:off x="6807090" y="1866194"/>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grpSp>
        <p:sp>
          <p:nvSpPr>
            <p:cNvPr id="16" name="TextBox 15">
              <a:extLst>
                <a:ext uri="{FF2B5EF4-FFF2-40B4-BE49-F238E27FC236}">
                  <a16:creationId xmlns:a16="http://schemas.microsoft.com/office/drawing/2014/main" id="{A83BF2C0-9044-494B-9CB3-933A80B89E7E}"/>
                </a:ext>
              </a:extLst>
            </p:cNvPr>
            <p:cNvSpPr txBox="1"/>
            <p:nvPr/>
          </p:nvSpPr>
          <p:spPr>
            <a:xfrm>
              <a:off x="4225514" y="1623144"/>
              <a:ext cx="4666965" cy="1546371"/>
            </a:xfrm>
            <a:prstGeom prst="rect">
              <a:avLst/>
            </a:prstGeom>
            <a:noFill/>
          </p:spPr>
          <p:txBody>
            <a:bodyPr wrap="square" rtlCol="0">
              <a:spAutoFit/>
            </a:bodyPr>
            <a:lstStyle/>
            <a:p>
              <a:pPr algn="ctr"/>
              <a:r>
                <a:rPr lang="en-US" sz="3198" dirty="0"/>
                <a:t>P&amp;L (or income statement)</a:t>
              </a:r>
            </a:p>
            <a:p>
              <a:r>
                <a:rPr lang="en-US" sz="3198" dirty="0"/>
                <a:t>Sales revenue         RMB 90,000</a:t>
              </a:r>
            </a:p>
            <a:p>
              <a:r>
                <a:rPr lang="en-US" sz="3198" dirty="0"/>
                <a:t>Cost of goods sold RMB 60,000</a:t>
              </a:r>
            </a:p>
            <a:p>
              <a:r>
                <a:rPr lang="en-US" sz="3198" dirty="0"/>
                <a:t>Gross profit	      RMB 30,000</a:t>
              </a:r>
            </a:p>
          </p:txBody>
        </p:sp>
      </p:grpSp>
      <p:sp>
        <p:nvSpPr>
          <p:cNvPr id="30" name="TextBox 29">
            <a:extLst>
              <a:ext uri="{FF2B5EF4-FFF2-40B4-BE49-F238E27FC236}">
                <a16:creationId xmlns:a16="http://schemas.microsoft.com/office/drawing/2014/main" id="{40DB1EAC-123D-4B1C-B3D2-52EA2F3572DE}"/>
              </a:ext>
            </a:extLst>
          </p:cNvPr>
          <p:cNvSpPr txBox="1"/>
          <p:nvPr/>
        </p:nvSpPr>
        <p:spPr>
          <a:xfrm>
            <a:off x="733351" y="576665"/>
            <a:ext cx="3510176" cy="584455"/>
          </a:xfrm>
          <a:prstGeom prst="rect">
            <a:avLst/>
          </a:prstGeom>
          <a:solidFill>
            <a:schemeClr val="accent1">
              <a:lumMod val="20000"/>
              <a:lumOff val="80000"/>
            </a:schemeClr>
          </a:solidFill>
        </p:spPr>
        <p:txBody>
          <a:bodyPr wrap="square" rtlCol="0">
            <a:spAutoFit/>
          </a:bodyPr>
          <a:lstStyle/>
          <a:p>
            <a:pPr algn="ctr"/>
            <a:r>
              <a:rPr lang="en-US" sz="3198" dirty="0"/>
              <a:t>∆ Assets +30,000 </a:t>
            </a:r>
          </a:p>
        </p:txBody>
      </p:sp>
      <p:sp>
        <p:nvSpPr>
          <p:cNvPr id="31" name="TextBox 30">
            <a:extLst>
              <a:ext uri="{FF2B5EF4-FFF2-40B4-BE49-F238E27FC236}">
                <a16:creationId xmlns:a16="http://schemas.microsoft.com/office/drawing/2014/main" id="{942D253C-5F39-49A6-A1AB-FA5CD600CDF4}"/>
              </a:ext>
            </a:extLst>
          </p:cNvPr>
          <p:cNvSpPr txBox="1"/>
          <p:nvPr/>
        </p:nvSpPr>
        <p:spPr>
          <a:xfrm>
            <a:off x="8376739" y="585171"/>
            <a:ext cx="3654644" cy="584455"/>
          </a:xfrm>
          <a:prstGeom prst="rect">
            <a:avLst/>
          </a:prstGeom>
          <a:solidFill>
            <a:schemeClr val="accent1">
              <a:lumMod val="20000"/>
              <a:lumOff val="80000"/>
            </a:schemeClr>
          </a:solidFill>
        </p:spPr>
        <p:txBody>
          <a:bodyPr wrap="square" rtlCol="0">
            <a:spAutoFit/>
          </a:bodyPr>
          <a:lstStyle/>
          <a:p>
            <a:pPr algn="ctr"/>
            <a:r>
              <a:rPr lang="en-US" sz="3198" dirty="0"/>
              <a:t>∆ Equity  +30,000 </a:t>
            </a:r>
          </a:p>
        </p:txBody>
      </p:sp>
    </p:spTree>
    <p:extLst>
      <p:ext uri="{BB962C8B-B14F-4D97-AF65-F5344CB8AC3E}">
        <p14:creationId xmlns:p14="http://schemas.microsoft.com/office/powerpoint/2010/main" val="259537744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47434B-CE85-424E-8C21-8A6407D02230}"/>
              </a:ext>
            </a:extLst>
          </p:cNvPr>
          <p:cNvSpPr>
            <a:spLocks noGrp="1"/>
          </p:cNvSpPr>
          <p:nvPr>
            <p:ph type="title"/>
          </p:nvPr>
        </p:nvSpPr>
        <p:spPr/>
        <p:txBody>
          <a:bodyPr/>
          <a:lstStyle/>
          <a:p>
            <a:r>
              <a:rPr lang="en-US" dirty="0"/>
              <a:t>Financial analysis: basic analysis</a:t>
            </a:r>
          </a:p>
        </p:txBody>
      </p:sp>
      <p:sp>
        <p:nvSpPr>
          <p:cNvPr id="4" name="Subtitle 3">
            <a:extLst>
              <a:ext uri="{FF2B5EF4-FFF2-40B4-BE49-F238E27FC236}">
                <a16:creationId xmlns:a16="http://schemas.microsoft.com/office/drawing/2014/main" id="{BBE71373-15EE-417B-A99F-4B06F5A18896}"/>
              </a:ext>
            </a:extLst>
          </p:cNvPr>
          <p:cNvSpPr>
            <a:spLocks noGrp="1"/>
          </p:cNvSpPr>
          <p:nvPr>
            <p:ph idx="1"/>
          </p:nvPr>
        </p:nvSpPr>
        <p:spPr>
          <a:xfrm>
            <a:off x="611553" y="1266540"/>
            <a:ext cx="10829544" cy="459018"/>
          </a:xfrm>
        </p:spPr>
        <p:txBody>
          <a:bodyPr>
            <a:noAutofit/>
          </a:bodyPr>
          <a:lstStyle/>
          <a:p>
            <a:pPr marL="0" indent="0">
              <a:buNone/>
            </a:pPr>
            <a:r>
              <a:rPr lang="en-US" sz="2800" dirty="0"/>
              <a:t>“Net” calculations are wanted!</a:t>
            </a:r>
          </a:p>
        </p:txBody>
      </p:sp>
      <p:sp>
        <p:nvSpPr>
          <p:cNvPr id="5" name="Slide Number Placeholder 4">
            <a:extLst>
              <a:ext uri="{FF2B5EF4-FFF2-40B4-BE49-F238E27FC236}">
                <a16:creationId xmlns:a16="http://schemas.microsoft.com/office/drawing/2014/main" id="{3DFC0698-BEF3-44F1-BD96-7A573398ED4E}"/>
              </a:ext>
            </a:extLst>
          </p:cNvPr>
          <p:cNvSpPr>
            <a:spLocks noGrp="1"/>
          </p:cNvSpPr>
          <p:nvPr>
            <p:ph type="sldNum" sz="quarter" idx="10"/>
          </p:nvPr>
        </p:nvSpPr>
        <p:spPr/>
        <p:txBody>
          <a:bodyPr/>
          <a:lstStyle/>
          <a:p>
            <a:fld id="{307C7597-8D70-4701-8085-9524B0B5C72B}" type="slidenum">
              <a:rPr lang="fr-FR" smtClean="0"/>
              <a:pPr/>
              <a:t>95</a:t>
            </a:fld>
            <a:endParaRPr lang="fr-FR" dirty="0"/>
          </a:p>
        </p:txBody>
      </p:sp>
      <p:sp>
        <p:nvSpPr>
          <p:cNvPr id="17" name="TextBox 16">
            <a:extLst>
              <a:ext uri="{FF2B5EF4-FFF2-40B4-BE49-F238E27FC236}">
                <a16:creationId xmlns:a16="http://schemas.microsoft.com/office/drawing/2014/main" id="{0FDA4E1A-1761-4DFD-9713-51B7985F8E4F}"/>
              </a:ext>
            </a:extLst>
          </p:cNvPr>
          <p:cNvSpPr txBox="1"/>
          <p:nvPr/>
        </p:nvSpPr>
        <p:spPr>
          <a:xfrm>
            <a:off x="338248" y="5852770"/>
            <a:ext cx="11707509" cy="830740"/>
          </a:xfrm>
          <a:prstGeom prst="rect">
            <a:avLst/>
          </a:prstGeom>
          <a:solidFill>
            <a:schemeClr val="bg1">
              <a:lumMod val="95000"/>
            </a:schemeClr>
          </a:solidFill>
        </p:spPr>
        <p:txBody>
          <a:bodyPr wrap="square" rtlCol="0">
            <a:spAutoFit/>
          </a:bodyPr>
          <a:lstStyle/>
          <a:p>
            <a:r>
              <a:rPr lang="en-US" sz="2399" dirty="0"/>
              <a:t>Basic financial analysis can be done through the basic business equation (or balance sheet).</a:t>
            </a:r>
          </a:p>
        </p:txBody>
      </p:sp>
      <p:sp>
        <p:nvSpPr>
          <p:cNvPr id="61" name="TextBox 60">
            <a:extLst>
              <a:ext uri="{FF2B5EF4-FFF2-40B4-BE49-F238E27FC236}">
                <a16:creationId xmlns:a16="http://schemas.microsoft.com/office/drawing/2014/main" id="{AC0CBB9B-ADB6-4FE3-A79A-0BBD51F6E39B}"/>
              </a:ext>
            </a:extLst>
          </p:cNvPr>
          <p:cNvSpPr txBox="1"/>
          <p:nvPr/>
        </p:nvSpPr>
        <p:spPr>
          <a:xfrm>
            <a:off x="3600941" y="1962589"/>
            <a:ext cx="1727349" cy="748666"/>
          </a:xfrm>
          <a:prstGeom prst="rect">
            <a:avLst/>
          </a:prstGeom>
          <a:noFill/>
        </p:spPr>
        <p:txBody>
          <a:bodyPr wrap="square" rtlCol="0">
            <a:spAutoFit/>
          </a:bodyPr>
          <a:lstStyle/>
          <a:p>
            <a:pPr algn="ctr"/>
            <a:r>
              <a:rPr lang="en-US" sz="4265" dirty="0"/>
              <a:t>–</a:t>
            </a:r>
          </a:p>
        </p:txBody>
      </p:sp>
      <p:grpSp>
        <p:nvGrpSpPr>
          <p:cNvPr id="6" name="Group 5">
            <a:extLst>
              <a:ext uri="{FF2B5EF4-FFF2-40B4-BE49-F238E27FC236}">
                <a16:creationId xmlns:a16="http://schemas.microsoft.com/office/drawing/2014/main" id="{BCB2E06F-3FE3-461D-A673-BF6358B0CA4F}"/>
              </a:ext>
            </a:extLst>
          </p:cNvPr>
          <p:cNvGrpSpPr/>
          <p:nvPr/>
        </p:nvGrpSpPr>
        <p:grpSpPr>
          <a:xfrm>
            <a:off x="1393774" y="2010872"/>
            <a:ext cx="10367990" cy="2148819"/>
            <a:chOff x="1043608" y="1507635"/>
            <a:chExt cx="7779790" cy="1612401"/>
          </a:xfrm>
        </p:grpSpPr>
        <p:grpSp>
          <p:nvGrpSpPr>
            <p:cNvPr id="26" name="Group 25">
              <a:extLst>
                <a:ext uri="{FF2B5EF4-FFF2-40B4-BE49-F238E27FC236}">
                  <a16:creationId xmlns:a16="http://schemas.microsoft.com/office/drawing/2014/main" id="{8650F64F-0E99-4D8A-BC3E-24DAB4A8BE09}"/>
                </a:ext>
              </a:extLst>
            </p:cNvPr>
            <p:cNvGrpSpPr/>
            <p:nvPr/>
          </p:nvGrpSpPr>
          <p:grpSpPr>
            <a:xfrm>
              <a:off x="1043608" y="1507635"/>
              <a:ext cx="7779790" cy="815630"/>
              <a:chOff x="611560" y="1339812"/>
              <a:chExt cx="7779790" cy="815630"/>
            </a:xfrm>
          </p:grpSpPr>
          <p:sp>
            <p:nvSpPr>
              <p:cNvPr id="27" name="TextBox 26">
                <a:extLst>
                  <a:ext uri="{FF2B5EF4-FFF2-40B4-BE49-F238E27FC236}">
                    <a16:creationId xmlns:a16="http://schemas.microsoft.com/office/drawing/2014/main" id="{D0BBB739-AA07-4AAC-A5AF-D195251DAA96}"/>
                  </a:ext>
                </a:extLst>
              </p:cNvPr>
              <p:cNvSpPr txBox="1"/>
              <p:nvPr/>
            </p:nvSpPr>
            <p:spPr>
              <a:xfrm>
                <a:off x="611560" y="1347614"/>
                <a:ext cx="1440160" cy="807828"/>
              </a:xfrm>
              <a:prstGeom prst="rect">
                <a:avLst/>
              </a:prstGeom>
              <a:noFill/>
            </p:spPr>
            <p:txBody>
              <a:bodyPr wrap="square" rtlCol="0">
                <a:spAutoFit/>
              </a:bodyPr>
              <a:lstStyle/>
              <a:p>
                <a:pPr algn="ctr"/>
                <a:r>
                  <a:rPr lang="en-US" sz="3198" dirty="0"/>
                  <a:t>Assets (A)</a:t>
                </a:r>
              </a:p>
            </p:txBody>
          </p:sp>
          <p:sp>
            <p:nvSpPr>
              <p:cNvPr id="29" name="TextBox 28">
                <a:extLst>
                  <a:ext uri="{FF2B5EF4-FFF2-40B4-BE49-F238E27FC236}">
                    <a16:creationId xmlns:a16="http://schemas.microsoft.com/office/drawing/2014/main" id="{BA381395-3D5A-4BF4-B3B1-04D5BAF51305}"/>
                  </a:ext>
                </a:extLst>
              </p:cNvPr>
              <p:cNvSpPr txBox="1"/>
              <p:nvPr/>
            </p:nvSpPr>
            <p:spPr>
              <a:xfrm>
                <a:off x="6591151" y="1339812"/>
                <a:ext cx="1800199" cy="438555"/>
              </a:xfrm>
              <a:prstGeom prst="rect">
                <a:avLst/>
              </a:prstGeom>
              <a:noFill/>
            </p:spPr>
            <p:txBody>
              <a:bodyPr wrap="square" rtlCol="0">
                <a:spAutoFit/>
              </a:bodyPr>
              <a:lstStyle/>
              <a:p>
                <a:pPr algn="ctr"/>
                <a:r>
                  <a:rPr lang="en-US" sz="3198" dirty="0"/>
                  <a:t>Net Assets</a:t>
                </a:r>
              </a:p>
            </p:txBody>
          </p:sp>
          <p:sp>
            <p:nvSpPr>
              <p:cNvPr id="50" name="TextBox 49">
                <a:extLst>
                  <a:ext uri="{FF2B5EF4-FFF2-40B4-BE49-F238E27FC236}">
                    <a16:creationId xmlns:a16="http://schemas.microsoft.com/office/drawing/2014/main" id="{E8B83188-4DDD-4B0E-BDB4-E5CCEFFB387F}"/>
                  </a:ext>
                </a:extLst>
              </p:cNvPr>
              <p:cNvSpPr txBox="1"/>
              <p:nvPr/>
            </p:nvSpPr>
            <p:spPr>
              <a:xfrm>
                <a:off x="3491880" y="1347614"/>
                <a:ext cx="1800200" cy="807827"/>
              </a:xfrm>
              <a:prstGeom prst="rect">
                <a:avLst/>
              </a:prstGeom>
              <a:noFill/>
            </p:spPr>
            <p:txBody>
              <a:bodyPr wrap="square" rtlCol="0">
                <a:spAutoFit/>
              </a:bodyPr>
              <a:lstStyle/>
              <a:p>
                <a:pPr algn="ctr"/>
                <a:r>
                  <a:rPr lang="en-US" sz="3198" dirty="0"/>
                  <a:t>Liabilities (L)</a:t>
                </a:r>
              </a:p>
            </p:txBody>
          </p:sp>
          <p:sp>
            <p:nvSpPr>
              <p:cNvPr id="51" name="TextBox 50">
                <a:extLst>
                  <a:ext uri="{FF2B5EF4-FFF2-40B4-BE49-F238E27FC236}">
                    <a16:creationId xmlns:a16="http://schemas.microsoft.com/office/drawing/2014/main" id="{0FC142E5-C678-4BEC-978C-B662C99CD494}"/>
                  </a:ext>
                </a:extLst>
              </p:cNvPr>
              <p:cNvSpPr txBox="1"/>
              <p:nvPr/>
            </p:nvSpPr>
            <p:spPr>
              <a:xfrm>
                <a:off x="5364088" y="1347614"/>
                <a:ext cx="1296144" cy="438555"/>
              </a:xfrm>
              <a:prstGeom prst="rect">
                <a:avLst/>
              </a:prstGeom>
              <a:noFill/>
            </p:spPr>
            <p:txBody>
              <a:bodyPr wrap="square" rtlCol="0">
                <a:spAutoFit/>
              </a:bodyPr>
              <a:lstStyle/>
              <a:p>
                <a:pPr algn="ctr"/>
                <a:r>
                  <a:rPr lang="en-US" sz="3198" dirty="0"/>
                  <a:t>=</a:t>
                </a:r>
              </a:p>
            </p:txBody>
          </p:sp>
        </p:grpSp>
        <p:sp>
          <p:nvSpPr>
            <p:cNvPr id="62" name="TextBox 61">
              <a:extLst>
                <a:ext uri="{FF2B5EF4-FFF2-40B4-BE49-F238E27FC236}">
                  <a16:creationId xmlns:a16="http://schemas.microsoft.com/office/drawing/2014/main" id="{0B804F41-6B63-4918-BD7A-3D6F09A3A916}"/>
                </a:ext>
              </a:extLst>
            </p:cNvPr>
            <p:cNvSpPr txBox="1"/>
            <p:nvPr/>
          </p:nvSpPr>
          <p:spPr>
            <a:xfrm>
              <a:off x="7214628" y="2057961"/>
              <a:ext cx="1296144" cy="561774"/>
            </a:xfrm>
            <a:prstGeom prst="rect">
              <a:avLst/>
            </a:prstGeom>
            <a:noFill/>
          </p:spPr>
          <p:txBody>
            <a:bodyPr wrap="square" rtlCol="0">
              <a:spAutoFit/>
            </a:bodyPr>
            <a:lstStyle/>
            <a:p>
              <a:pPr algn="ctr"/>
              <a:r>
                <a:rPr lang="en-US" sz="4265" dirty="0"/>
                <a:t>=</a:t>
              </a:r>
            </a:p>
          </p:txBody>
        </p:sp>
        <p:sp>
          <p:nvSpPr>
            <p:cNvPr id="21" name="TextBox 20">
              <a:extLst>
                <a:ext uri="{FF2B5EF4-FFF2-40B4-BE49-F238E27FC236}">
                  <a16:creationId xmlns:a16="http://schemas.microsoft.com/office/drawing/2014/main" id="{D95F4AC9-B351-4C81-B742-A7B837021405}"/>
                </a:ext>
              </a:extLst>
            </p:cNvPr>
            <p:cNvSpPr txBox="1"/>
            <p:nvPr/>
          </p:nvSpPr>
          <p:spPr>
            <a:xfrm>
              <a:off x="7142620" y="2681481"/>
              <a:ext cx="1440160" cy="438555"/>
            </a:xfrm>
            <a:prstGeom prst="rect">
              <a:avLst/>
            </a:prstGeom>
            <a:noFill/>
          </p:spPr>
          <p:txBody>
            <a:bodyPr wrap="square" rtlCol="0">
              <a:spAutoFit/>
            </a:bodyPr>
            <a:lstStyle/>
            <a:p>
              <a:pPr algn="ctr"/>
              <a:r>
                <a:rPr lang="en-US" sz="3198" dirty="0"/>
                <a:t>Equity</a:t>
              </a:r>
            </a:p>
          </p:txBody>
        </p:sp>
      </p:grpSp>
    </p:spTree>
    <p:extLst>
      <p:ext uri="{BB962C8B-B14F-4D97-AF65-F5344CB8AC3E}">
        <p14:creationId xmlns:p14="http://schemas.microsoft.com/office/powerpoint/2010/main" val="51783044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47434B-CE85-424E-8C21-8A6407D02230}"/>
              </a:ext>
            </a:extLst>
          </p:cNvPr>
          <p:cNvSpPr>
            <a:spLocks noGrp="1"/>
          </p:cNvSpPr>
          <p:nvPr>
            <p:ph type="title"/>
          </p:nvPr>
        </p:nvSpPr>
        <p:spPr/>
        <p:txBody>
          <a:bodyPr/>
          <a:lstStyle/>
          <a:p>
            <a:r>
              <a:rPr lang="en-US" dirty="0"/>
              <a:t>Financial analysis: basic analysis</a:t>
            </a:r>
          </a:p>
        </p:txBody>
      </p:sp>
      <p:sp>
        <p:nvSpPr>
          <p:cNvPr id="4" name="Subtitle 3">
            <a:extLst>
              <a:ext uri="{FF2B5EF4-FFF2-40B4-BE49-F238E27FC236}">
                <a16:creationId xmlns:a16="http://schemas.microsoft.com/office/drawing/2014/main" id="{BBE71373-15EE-417B-A99F-4B06F5A18896}"/>
              </a:ext>
            </a:extLst>
          </p:cNvPr>
          <p:cNvSpPr>
            <a:spLocks noGrp="1"/>
          </p:cNvSpPr>
          <p:nvPr>
            <p:ph idx="1"/>
          </p:nvPr>
        </p:nvSpPr>
        <p:spPr>
          <a:xfrm>
            <a:off x="608460" y="1213355"/>
            <a:ext cx="10829544" cy="479928"/>
          </a:xfrm>
        </p:spPr>
        <p:txBody>
          <a:bodyPr>
            <a:normAutofit/>
          </a:bodyPr>
          <a:lstStyle/>
          <a:p>
            <a:pPr marL="0" indent="0">
              <a:buNone/>
            </a:pPr>
            <a:r>
              <a:rPr lang="en-US" sz="2800" dirty="0"/>
              <a:t>“Net” calculations are wanted!</a:t>
            </a:r>
          </a:p>
        </p:txBody>
      </p:sp>
      <p:sp>
        <p:nvSpPr>
          <p:cNvPr id="5" name="Slide Number Placeholder 4">
            <a:extLst>
              <a:ext uri="{FF2B5EF4-FFF2-40B4-BE49-F238E27FC236}">
                <a16:creationId xmlns:a16="http://schemas.microsoft.com/office/drawing/2014/main" id="{3DFC0698-BEF3-44F1-BD96-7A573398ED4E}"/>
              </a:ext>
            </a:extLst>
          </p:cNvPr>
          <p:cNvSpPr>
            <a:spLocks noGrp="1"/>
          </p:cNvSpPr>
          <p:nvPr>
            <p:ph type="sldNum" sz="quarter" idx="10"/>
          </p:nvPr>
        </p:nvSpPr>
        <p:spPr/>
        <p:txBody>
          <a:bodyPr/>
          <a:lstStyle/>
          <a:p>
            <a:fld id="{307C7597-8D70-4701-8085-9524B0B5C72B}" type="slidenum">
              <a:rPr lang="fr-FR" smtClean="0"/>
              <a:pPr/>
              <a:t>96</a:t>
            </a:fld>
            <a:endParaRPr lang="fr-FR" dirty="0"/>
          </a:p>
        </p:txBody>
      </p:sp>
      <p:sp>
        <p:nvSpPr>
          <p:cNvPr id="17" name="TextBox 16">
            <a:extLst>
              <a:ext uri="{FF2B5EF4-FFF2-40B4-BE49-F238E27FC236}">
                <a16:creationId xmlns:a16="http://schemas.microsoft.com/office/drawing/2014/main" id="{0FDA4E1A-1761-4DFD-9713-51B7985F8E4F}"/>
              </a:ext>
            </a:extLst>
          </p:cNvPr>
          <p:cNvSpPr txBox="1"/>
          <p:nvPr/>
        </p:nvSpPr>
        <p:spPr>
          <a:xfrm>
            <a:off x="338248" y="6045274"/>
            <a:ext cx="11707509" cy="830740"/>
          </a:xfrm>
          <a:prstGeom prst="rect">
            <a:avLst/>
          </a:prstGeom>
          <a:solidFill>
            <a:schemeClr val="bg1">
              <a:lumMod val="95000"/>
            </a:schemeClr>
          </a:solidFill>
        </p:spPr>
        <p:txBody>
          <a:bodyPr wrap="square" rtlCol="0">
            <a:spAutoFit/>
          </a:bodyPr>
          <a:lstStyle/>
          <a:p>
            <a:r>
              <a:rPr lang="en-US" sz="2399" dirty="0"/>
              <a:t>Basic financial analysis can be done through the basic business equation (or balance sheet).</a:t>
            </a:r>
          </a:p>
        </p:txBody>
      </p:sp>
      <p:grpSp>
        <p:nvGrpSpPr>
          <p:cNvPr id="6" name="Group 5">
            <a:extLst>
              <a:ext uri="{FF2B5EF4-FFF2-40B4-BE49-F238E27FC236}">
                <a16:creationId xmlns:a16="http://schemas.microsoft.com/office/drawing/2014/main" id="{B3BA3DCD-3F00-4400-B8C5-AC3668D728EF}"/>
              </a:ext>
            </a:extLst>
          </p:cNvPr>
          <p:cNvGrpSpPr/>
          <p:nvPr/>
        </p:nvGrpSpPr>
        <p:grpSpPr>
          <a:xfrm>
            <a:off x="-45683" y="1873811"/>
            <a:ext cx="11628034" cy="4280908"/>
            <a:chOff x="-36512" y="1471404"/>
            <a:chExt cx="8725284" cy="3212251"/>
          </a:xfrm>
        </p:grpSpPr>
        <p:sp>
          <p:nvSpPr>
            <p:cNvPr id="61" name="TextBox 60">
              <a:extLst>
                <a:ext uri="{FF2B5EF4-FFF2-40B4-BE49-F238E27FC236}">
                  <a16:creationId xmlns:a16="http://schemas.microsoft.com/office/drawing/2014/main" id="{AC0CBB9B-ADB6-4FE3-A79A-0BBD51F6E39B}"/>
                </a:ext>
              </a:extLst>
            </p:cNvPr>
            <p:cNvSpPr txBox="1"/>
            <p:nvPr/>
          </p:nvSpPr>
          <p:spPr>
            <a:xfrm>
              <a:off x="2699792" y="1471404"/>
              <a:ext cx="1296144" cy="561774"/>
            </a:xfrm>
            <a:prstGeom prst="rect">
              <a:avLst/>
            </a:prstGeom>
            <a:noFill/>
          </p:spPr>
          <p:txBody>
            <a:bodyPr wrap="square" rtlCol="0">
              <a:spAutoFit/>
            </a:bodyPr>
            <a:lstStyle/>
            <a:p>
              <a:pPr algn="ctr"/>
              <a:r>
                <a:rPr lang="en-US" sz="4265" dirty="0"/>
                <a:t>–</a:t>
              </a:r>
            </a:p>
          </p:txBody>
        </p:sp>
        <p:grpSp>
          <p:nvGrpSpPr>
            <p:cNvPr id="2" name="Group 1">
              <a:extLst>
                <a:ext uri="{FF2B5EF4-FFF2-40B4-BE49-F238E27FC236}">
                  <a16:creationId xmlns:a16="http://schemas.microsoft.com/office/drawing/2014/main" id="{D923FB0B-15C2-4CF1-8FE7-592EA6BD35E1}"/>
                </a:ext>
              </a:extLst>
            </p:cNvPr>
            <p:cNvGrpSpPr/>
            <p:nvPr/>
          </p:nvGrpSpPr>
          <p:grpSpPr>
            <a:xfrm>
              <a:off x="-36512" y="1482919"/>
              <a:ext cx="8725284" cy="3200736"/>
              <a:chOff x="-36512" y="1482919"/>
              <a:chExt cx="8725284" cy="3200736"/>
            </a:xfrm>
          </p:grpSpPr>
          <p:grpSp>
            <p:nvGrpSpPr>
              <p:cNvPr id="26" name="Group 25">
                <a:extLst>
                  <a:ext uri="{FF2B5EF4-FFF2-40B4-BE49-F238E27FC236}">
                    <a16:creationId xmlns:a16="http://schemas.microsoft.com/office/drawing/2014/main" id="{8650F64F-0E99-4D8A-BC3E-24DAB4A8BE09}"/>
                  </a:ext>
                </a:extLst>
              </p:cNvPr>
              <p:cNvGrpSpPr/>
              <p:nvPr/>
            </p:nvGrpSpPr>
            <p:grpSpPr>
              <a:xfrm>
                <a:off x="1043608" y="1482919"/>
                <a:ext cx="7645164" cy="840345"/>
                <a:chOff x="611560" y="1315096"/>
                <a:chExt cx="7645164" cy="840345"/>
              </a:xfrm>
            </p:grpSpPr>
            <p:sp>
              <p:nvSpPr>
                <p:cNvPr id="27" name="TextBox 26">
                  <a:extLst>
                    <a:ext uri="{FF2B5EF4-FFF2-40B4-BE49-F238E27FC236}">
                      <a16:creationId xmlns:a16="http://schemas.microsoft.com/office/drawing/2014/main" id="{D0BBB739-AA07-4AAC-A5AF-D195251DAA96}"/>
                    </a:ext>
                  </a:extLst>
                </p:cNvPr>
                <p:cNvSpPr txBox="1"/>
                <p:nvPr/>
              </p:nvSpPr>
              <p:spPr>
                <a:xfrm>
                  <a:off x="611560" y="1347614"/>
                  <a:ext cx="1440160" cy="807827"/>
                </a:xfrm>
                <a:prstGeom prst="rect">
                  <a:avLst/>
                </a:prstGeom>
                <a:noFill/>
              </p:spPr>
              <p:txBody>
                <a:bodyPr wrap="square" rtlCol="0">
                  <a:spAutoFit/>
                </a:bodyPr>
                <a:lstStyle/>
                <a:p>
                  <a:pPr algn="ctr"/>
                  <a:r>
                    <a:rPr lang="en-US" sz="3198" dirty="0"/>
                    <a:t>Assets (A)</a:t>
                  </a:r>
                </a:p>
              </p:txBody>
            </p:sp>
            <p:sp>
              <p:nvSpPr>
                <p:cNvPr id="29" name="TextBox 28">
                  <a:extLst>
                    <a:ext uri="{FF2B5EF4-FFF2-40B4-BE49-F238E27FC236}">
                      <a16:creationId xmlns:a16="http://schemas.microsoft.com/office/drawing/2014/main" id="{BA381395-3D5A-4BF4-B3B1-04D5BAF51305}"/>
                    </a:ext>
                  </a:extLst>
                </p:cNvPr>
                <p:cNvSpPr txBox="1"/>
                <p:nvPr/>
              </p:nvSpPr>
              <p:spPr>
                <a:xfrm>
                  <a:off x="6600540" y="1347614"/>
                  <a:ext cx="1656184" cy="438556"/>
                </a:xfrm>
                <a:prstGeom prst="rect">
                  <a:avLst/>
                </a:prstGeom>
                <a:noFill/>
              </p:spPr>
              <p:txBody>
                <a:bodyPr wrap="square" rtlCol="0">
                  <a:spAutoFit/>
                </a:bodyPr>
                <a:lstStyle/>
                <a:p>
                  <a:pPr algn="ctr"/>
                  <a:r>
                    <a:rPr lang="en-US" sz="3198" dirty="0"/>
                    <a:t>Net Assets</a:t>
                  </a:r>
                </a:p>
              </p:txBody>
            </p:sp>
            <p:sp>
              <p:nvSpPr>
                <p:cNvPr id="50" name="TextBox 49">
                  <a:extLst>
                    <a:ext uri="{FF2B5EF4-FFF2-40B4-BE49-F238E27FC236}">
                      <a16:creationId xmlns:a16="http://schemas.microsoft.com/office/drawing/2014/main" id="{E8B83188-4DDD-4B0E-BDB4-E5CCEFFB387F}"/>
                    </a:ext>
                  </a:extLst>
                </p:cNvPr>
                <p:cNvSpPr txBox="1"/>
                <p:nvPr/>
              </p:nvSpPr>
              <p:spPr>
                <a:xfrm>
                  <a:off x="3491880" y="1347614"/>
                  <a:ext cx="1800200" cy="807827"/>
                </a:xfrm>
                <a:prstGeom prst="rect">
                  <a:avLst/>
                </a:prstGeom>
                <a:noFill/>
              </p:spPr>
              <p:txBody>
                <a:bodyPr wrap="square" rtlCol="0">
                  <a:spAutoFit/>
                </a:bodyPr>
                <a:lstStyle/>
                <a:p>
                  <a:pPr algn="ctr"/>
                  <a:r>
                    <a:rPr lang="en-US" sz="3198" dirty="0"/>
                    <a:t>Liabilities (L)</a:t>
                  </a:r>
                </a:p>
              </p:txBody>
            </p:sp>
            <p:sp>
              <p:nvSpPr>
                <p:cNvPr id="51" name="TextBox 50">
                  <a:extLst>
                    <a:ext uri="{FF2B5EF4-FFF2-40B4-BE49-F238E27FC236}">
                      <a16:creationId xmlns:a16="http://schemas.microsoft.com/office/drawing/2014/main" id="{0FC142E5-C678-4BEC-978C-B662C99CD494}"/>
                    </a:ext>
                  </a:extLst>
                </p:cNvPr>
                <p:cNvSpPr txBox="1"/>
                <p:nvPr/>
              </p:nvSpPr>
              <p:spPr>
                <a:xfrm>
                  <a:off x="5364088" y="1315096"/>
                  <a:ext cx="1296144" cy="561774"/>
                </a:xfrm>
                <a:prstGeom prst="rect">
                  <a:avLst/>
                </a:prstGeom>
                <a:noFill/>
              </p:spPr>
              <p:txBody>
                <a:bodyPr wrap="square" rtlCol="0">
                  <a:spAutoFit/>
                </a:bodyPr>
                <a:lstStyle/>
                <a:p>
                  <a:pPr algn="ctr"/>
                  <a:r>
                    <a:rPr lang="en-US" sz="4265" dirty="0"/>
                    <a:t>=</a:t>
                  </a:r>
                </a:p>
              </p:txBody>
            </p:sp>
          </p:grpSp>
          <p:sp>
            <p:nvSpPr>
              <p:cNvPr id="62" name="TextBox 61">
                <a:extLst>
                  <a:ext uri="{FF2B5EF4-FFF2-40B4-BE49-F238E27FC236}">
                    <a16:creationId xmlns:a16="http://schemas.microsoft.com/office/drawing/2014/main" id="{0B804F41-6B63-4918-BD7A-3D6F09A3A916}"/>
                  </a:ext>
                </a:extLst>
              </p:cNvPr>
              <p:cNvSpPr txBox="1"/>
              <p:nvPr/>
            </p:nvSpPr>
            <p:spPr>
              <a:xfrm>
                <a:off x="7284314" y="2139702"/>
                <a:ext cx="1296144" cy="561774"/>
              </a:xfrm>
              <a:prstGeom prst="rect">
                <a:avLst/>
              </a:prstGeom>
              <a:noFill/>
            </p:spPr>
            <p:txBody>
              <a:bodyPr wrap="square" rtlCol="0">
                <a:spAutoFit/>
              </a:bodyPr>
              <a:lstStyle/>
              <a:p>
                <a:pPr algn="ctr"/>
                <a:r>
                  <a:rPr lang="en-US" sz="4265" dirty="0"/>
                  <a:t>=</a:t>
                </a:r>
              </a:p>
            </p:txBody>
          </p:sp>
          <p:sp>
            <p:nvSpPr>
              <p:cNvPr id="21" name="TextBox 20">
                <a:extLst>
                  <a:ext uri="{FF2B5EF4-FFF2-40B4-BE49-F238E27FC236}">
                    <a16:creationId xmlns:a16="http://schemas.microsoft.com/office/drawing/2014/main" id="{D95F4AC9-B351-4C81-B742-A7B837021405}"/>
                  </a:ext>
                </a:extLst>
              </p:cNvPr>
              <p:cNvSpPr txBox="1"/>
              <p:nvPr/>
            </p:nvSpPr>
            <p:spPr>
              <a:xfrm>
                <a:off x="7236296" y="2758157"/>
                <a:ext cx="1440160" cy="438555"/>
              </a:xfrm>
              <a:prstGeom prst="rect">
                <a:avLst/>
              </a:prstGeom>
              <a:noFill/>
            </p:spPr>
            <p:txBody>
              <a:bodyPr wrap="square" rtlCol="0">
                <a:spAutoFit/>
              </a:bodyPr>
              <a:lstStyle/>
              <a:p>
                <a:pPr algn="ctr"/>
                <a:r>
                  <a:rPr lang="en-US" sz="3198" dirty="0"/>
                  <a:t>Equity</a:t>
                </a:r>
              </a:p>
            </p:txBody>
          </p:sp>
          <p:sp>
            <p:nvSpPr>
              <p:cNvPr id="14" name="TextBox 13">
                <a:extLst>
                  <a:ext uri="{FF2B5EF4-FFF2-40B4-BE49-F238E27FC236}">
                    <a16:creationId xmlns:a16="http://schemas.microsoft.com/office/drawing/2014/main" id="{DBCCFE85-F39E-4DF9-BBBD-40EC1D83FDF5}"/>
                  </a:ext>
                </a:extLst>
              </p:cNvPr>
              <p:cNvSpPr txBox="1"/>
              <p:nvPr/>
            </p:nvSpPr>
            <p:spPr>
              <a:xfrm>
                <a:off x="-36512" y="2705947"/>
                <a:ext cx="4032448" cy="1977708"/>
              </a:xfrm>
              <a:prstGeom prst="rect">
                <a:avLst/>
              </a:prstGeom>
              <a:noFill/>
            </p:spPr>
            <p:txBody>
              <a:bodyPr wrap="square" rtlCol="0">
                <a:spAutoFit/>
              </a:bodyPr>
              <a:lstStyle/>
              <a:p>
                <a:pPr algn="ctr"/>
                <a:r>
                  <a:rPr lang="en-US" sz="3198" dirty="0"/>
                  <a:t>At net value</a:t>
                </a:r>
              </a:p>
              <a:p>
                <a:pPr algn="ctr"/>
                <a:r>
                  <a:rPr lang="en-US" sz="2666" dirty="0"/>
                  <a:t>(means after all the reductions in value: accumulated depreciation, amortization, impairment losses, depletion, write-down, allowance for doubtful accounts)</a:t>
                </a:r>
              </a:p>
            </p:txBody>
          </p:sp>
          <p:sp>
            <p:nvSpPr>
              <p:cNvPr id="15" name="Arrow: Down 14">
                <a:extLst>
                  <a:ext uri="{FF2B5EF4-FFF2-40B4-BE49-F238E27FC236}">
                    <a16:creationId xmlns:a16="http://schemas.microsoft.com/office/drawing/2014/main" id="{844FD72A-0C66-432B-B492-08CAD7D13E8E}"/>
                  </a:ext>
                </a:extLst>
              </p:cNvPr>
              <p:cNvSpPr/>
              <p:nvPr/>
            </p:nvSpPr>
            <p:spPr>
              <a:xfrm rot="10800000">
                <a:off x="1645378" y="2345251"/>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grpSp>
      </p:grpSp>
    </p:spTree>
    <p:extLst>
      <p:ext uri="{BB962C8B-B14F-4D97-AF65-F5344CB8AC3E}">
        <p14:creationId xmlns:p14="http://schemas.microsoft.com/office/powerpoint/2010/main" val="136729605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A81E1-705B-1B76-0253-82CE6A1C1D6C}"/>
              </a:ext>
            </a:extLst>
          </p:cNvPr>
          <p:cNvSpPr>
            <a:spLocks noGrp="1"/>
          </p:cNvSpPr>
          <p:nvPr>
            <p:ph type="ctrTitle"/>
          </p:nvPr>
        </p:nvSpPr>
        <p:spPr>
          <a:xfrm>
            <a:off x="767751" y="2786767"/>
            <a:ext cx="11153955" cy="2387600"/>
          </a:xfrm>
        </p:spPr>
        <p:txBody>
          <a:bodyPr>
            <a:normAutofit fontScale="90000"/>
          </a:bodyPr>
          <a:lstStyle/>
          <a:p>
            <a:r>
              <a:rPr lang="en-US" dirty="0"/>
              <a:t>Working capital requirement (i.e. current operating assets minus current operating liabilities)</a:t>
            </a:r>
          </a:p>
        </p:txBody>
      </p:sp>
    </p:spTree>
    <p:extLst>
      <p:ext uri="{BB962C8B-B14F-4D97-AF65-F5344CB8AC3E}">
        <p14:creationId xmlns:p14="http://schemas.microsoft.com/office/powerpoint/2010/main" val="399455464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47434B-CE85-424E-8C21-8A6407D02230}"/>
              </a:ext>
            </a:extLst>
          </p:cNvPr>
          <p:cNvSpPr>
            <a:spLocks noGrp="1"/>
          </p:cNvSpPr>
          <p:nvPr>
            <p:ph type="title"/>
          </p:nvPr>
        </p:nvSpPr>
        <p:spPr/>
        <p:txBody>
          <a:bodyPr/>
          <a:lstStyle/>
          <a:p>
            <a:r>
              <a:rPr lang="en-US" dirty="0"/>
              <a:t>Financial analysis: basic analysis</a:t>
            </a:r>
          </a:p>
        </p:txBody>
      </p:sp>
      <p:sp>
        <p:nvSpPr>
          <p:cNvPr id="4" name="Subtitle 3">
            <a:extLst>
              <a:ext uri="{FF2B5EF4-FFF2-40B4-BE49-F238E27FC236}">
                <a16:creationId xmlns:a16="http://schemas.microsoft.com/office/drawing/2014/main" id="{BBE71373-15EE-417B-A99F-4B06F5A18896}"/>
              </a:ext>
            </a:extLst>
          </p:cNvPr>
          <p:cNvSpPr>
            <a:spLocks noGrp="1"/>
          </p:cNvSpPr>
          <p:nvPr>
            <p:ph idx="1"/>
          </p:nvPr>
        </p:nvSpPr>
        <p:spPr>
          <a:xfrm>
            <a:off x="668307" y="1145019"/>
            <a:ext cx="10829544" cy="393439"/>
          </a:xfrm>
        </p:spPr>
        <p:txBody>
          <a:bodyPr>
            <a:normAutofit lnSpcReduction="10000"/>
          </a:bodyPr>
          <a:lstStyle/>
          <a:p>
            <a:pPr marL="0" indent="0">
              <a:buNone/>
            </a:pPr>
            <a:r>
              <a:rPr lang="en-US" dirty="0"/>
              <a:t>Other categories in balance sheet:</a:t>
            </a:r>
          </a:p>
        </p:txBody>
      </p:sp>
      <p:sp>
        <p:nvSpPr>
          <p:cNvPr id="5" name="Slide Number Placeholder 4">
            <a:extLst>
              <a:ext uri="{FF2B5EF4-FFF2-40B4-BE49-F238E27FC236}">
                <a16:creationId xmlns:a16="http://schemas.microsoft.com/office/drawing/2014/main" id="{3DFC0698-BEF3-44F1-BD96-7A573398ED4E}"/>
              </a:ext>
            </a:extLst>
          </p:cNvPr>
          <p:cNvSpPr>
            <a:spLocks noGrp="1"/>
          </p:cNvSpPr>
          <p:nvPr>
            <p:ph type="sldNum" sz="quarter" idx="10"/>
          </p:nvPr>
        </p:nvSpPr>
        <p:spPr/>
        <p:txBody>
          <a:bodyPr/>
          <a:lstStyle/>
          <a:p>
            <a:fld id="{307C7597-8D70-4701-8085-9524B0B5C72B}" type="slidenum">
              <a:rPr lang="fr-FR" smtClean="0"/>
              <a:pPr/>
              <a:t>98</a:t>
            </a:fld>
            <a:endParaRPr lang="fr-FR" dirty="0"/>
          </a:p>
        </p:txBody>
      </p:sp>
      <p:sp>
        <p:nvSpPr>
          <p:cNvPr id="49" name="TextBox 48">
            <a:extLst>
              <a:ext uri="{FF2B5EF4-FFF2-40B4-BE49-F238E27FC236}">
                <a16:creationId xmlns:a16="http://schemas.microsoft.com/office/drawing/2014/main" id="{9B659E43-BBD2-4B97-BF64-16C00A55DDCB}"/>
              </a:ext>
            </a:extLst>
          </p:cNvPr>
          <p:cNvSpPr txBox="1"/>
          <p:nvPr/>
        </p:nvSpPr>
        <p:spPr>
          <a:xfrm>
            <a:off x="407502" y="5861478"/>
            <a:ext cx="8887418" cy="461537"/>
          </a:xfrm>
          <a:prstGeom prst="rect">
            <a:avLst/>
          </a:prstGeom>
          <a:solidFill>
            <a:schemeClr val="accent1">
              <a:lumMod val="20000"/>
              <a:lumOff val="80000"/>
            </a:schemeClr>
          </a:solidFill>
        </p:spPr>
        <p:txBody>
          <a:bodyPr wrap="square" rtlCol="0">
            <a:spAutoFit/>
          </a:bodyPr>
          <a:lstStyle/>
          <a:p>
            <a:r>
              <a:rPr lang="en-US" sz="2399" dirty="0"/>
              <a:t>OCI: Other Comprehensive Income (not studied in this course)</a:t>
            </a:r>
          </a:p>
        </p:txBody>
      </p:sp>
      <p:grpSp>
        <p:nvGrpSpPr>
          <p:cNvPr id="55" name="Group 54">
            <a:extLst>
              <a:ext uri="{FF2B5EF4-FFF2-40B4-BE49-F238E27FC236}">
                <a16:creationId xmlns:a16="http://schemas.microsoft.com/office/drawing/2014/main" id="{4E387E44-40EB-4F53-A03A-E9A4497F26C1}"/>
              </a:ext>
            </a:extLst>
          </p:cNvPr>
          <p:cNvGrpSpPr/>
          <p:nvPr/>
        </p:nvGrpSpPr>
        <p:grpSpPr>
          <a:xfrm>
            <a:off x="-5234" y="1460038"/>
            <a:ext cx="12146954" cy="5063783"/>
            <a:chOff x="-6160" y="1274081"/>
            <a:chExt cx="9114664" cy="3799693"/>
          </a:xfrm>
        </p:grpSpPr>
        <p:sp>
          <p:nvSpPr>
            <p:cNvPr id="31" name="TextBox 30">
              <a:extLst>
                <a:ext uri="{FF2B5EF4-FFF2-40B4-BE49-F238E27FC236}">
                  <a16:creationId xmlns:a16="http://schemas.microsoft.com/office/drawing/2014/main" id="{345BBDB7-551C-4FD1-9E05-D4E01BD129D2}"/>
                </a:ext>
              </a:extLst>
            </p:cNvPr>
            <p:cNvSpPr txBox="1"/>
            <p:nvPr/>
          </p:nvSpPr>
          <p:spPr>
            <a:xfrm>
              <a:off x="2123728" y="1327631"/>
              <a:ext cx="1296144" cy="438555"/>
            </a:xfrm>
            <a:prstGeom prst="rect">
              <a:avLst/>
            </a:prstGeom>
            <a:noFill/>
          </p:spPr>
          <p:txBody>
            <a:bodyPr wrap="square" rtlCol="0">
              <a:spAutoFit/>
            </a:bodyPr>
            <a:lstStyle/>
            <a:p>
              <a:pPr algn="ctr"/>
              <a:r>
                <a:rPr lang="en-US" sz="3198" dirty="0"/>
                <a:t>=</a:t>
              </a:r>
            </a:p>
          </p:txBody>
        </p:sp>
        <p:sp>
          <p:nvSpPr>
            <p:cNvPr id="32" name="TextBox 31">
              <a:extLst>
                <a:ext uri="{FF2B5EF4-FFF2-40B4-BE49-F238E27FC236}">
                  <a16:creationId xmlns:a16="http://schemas.microsoft.com/office/drawing/2014/main" id="{30C23491-18B2-4C8F-AFD9-723767A8D3B2}"/>
                </a:ext>
              </a:extLst>
            </p:cNvPr>
            <p:cNvSpPr txBox="1"/>
            <p:nvPr/>
          </p:nvSpPr>
          <p:spPr>
            <a:xfrm>
              <a:off x="6710986" y="1300982"/>
              <a:ext cx="1440160" cy="807827"/>
            </a:xfrm>
            <a:prstGeom prst="rect">
              <a:avLst/>
            </a:prstGeom>
            <a:noFill/>
          </p:spPr>
          <p:txBody>
            <a:bodyPr wrap="square" rtlCol="0">
              <a:spAutoFit/>
            </a:bodyPr>
            <a:lstStyle/>
            <a:p>
              <a:pPr algn="ctr"/>
              <a:r>
                <a:rPr lang="en-US" sz="3198" dirty="0"/>
                <a:t>Equity (E)</a:t>
              </a:r>
            </a:p>
          </p:txBody>
        </p:sp>
        <p:sp>
          <p:nvSpPr>
            <p:cNvPr id="33" name="TextBox 32">
              <a:extLst>
                <a:ext uri="{FF2B5EF4-FFF2-40B4-BE49-F238E27FC236}">
                  <a16:creationId xmlns:a16="http://schemas.microsoft.com/office/drawing/2014/main" id="{062619CC-50E0-47D3-80AE-3160B955727A}"/>
                </a:ext>
              </a:extLst>
            </p:cNvPr>
            <p:cNvSpPr txBox="1"/>
            <p:nvPr/>
          </p:nvSpPr>
          <p:spPr>
            <a:xfrm>
              <a:off x="3491880" y="1307648"/>
              <a:ext cx="1800200" cy="807827"/>
            </a:xfrm>
            <a:prstGeom prst="rect">
              <a:avLst/>
            </a:prstGeom>
            <a:noFill/>
          </p:spPr>
          <p:txBody>
            <a:bodyPr wrap="square" rtlCol="0">
              <a:spAutoFit/>
            </a:bodyPr>
            <a:lstStyle/>
            <a:p>
              <a:pPr algn="ctr"/>
              <a:r>
                <a:rPr lang="en-US" sz="3198" dirty="0"/>
                <a:t>Liabilities (L)</a:t>
              </a:r>
            </a:p>
          </p:txBody>
        </p:sp>
        <p:sp>
          <p:nvSpPr>
            <p:cNvPr id="34" name="TextBox 33">
              <a:extLst>
                <a:ext uri="{FF2B5EF4-FFF2-40B4-BE49-F238E27FC236}">
                  <a16:creationId xmlns:a16="http://schemas.microsoft.com/office/drawing/2014/main" id="{803551A3-093D-4CCE-8E41-AA70DE30A4E0}"/>
                </a:ext>
              </a:extLst>
            </p:cNvPr>
            <p:cNvSpPr txBox="1"/>
            <p:nvPr/>
          </p:nvSpPr>
          <p:spPr>
            <a:xfrm>
              <a:off x="5364088" y="1314309"/>
              <a:ext cx="1296144" cy="438555"/>
            </a:xfrm>
            <a:prstGeom prst="rect">
              <a:avLst/>
            </a:prstGeom>
            <a:noFill/>
          </p:spPr>
          <p:txBody>
            <a:bodyPr wrap="square" rtlCol="0">
              <a:spAutoFit/>
            </a:bodyPr>
            <a:lstStyle/>
            <a:p>
              <a:pPr algn="ctr"/>
              <a:r>
                <a:rPr lang="en-US" sz="3198" dirty="0"/>
                <a:t>+</a:t>
              </a:r>
            </a:p>
          </p:txBody>
        </p:sp>
        <p:sp>
          <p:nvSpPr>
            <p:cNvPr id="35" name="TextBox 34">
              <a:extLst>
                <a:ext uri="{FF2B5EF4-FFF2-40B4-BE49-F238E27FC236}">
                  <a16:creationId xmlns:a16="http://schemas.microsoft.com/office/drawing/2014/main" id="{D9956592-1443-45B8-B466-050B254BCFFF}"/>
                </a:ext>
              </a:extLst>
            </p:cNvPr>
            <p:cNvSpPr txBox="1"/>
            <p:nvPr/>
          </p:nvSpPr>
          <p:spPr>
            <a:xfrm>
              <a:off x="-6160" y="2211710"/>
              <a:ext cx="1086856" cy="438555"/>
            </a:xfrm>
            <a:prstGeom prst="rect">
              <a:avLst/>
            </a:prstGeom>
            <a:noFill/>
          </p:spPr>
          <p:txBody>
            <a:bodyPr wrap="square" rtlCol="0">
              <a:spAutoFit/>
            </a:bodyPr>
            <a:lstStyle/>
            <a:p>
              <a:pPr algn="ctr"/>
              <a:r>
                <a:rPr lang="en-US" sz="3198" dirty="0"/>
                <a:t>Cash </a:t>
              </a:r>
            </a:p>
          </p:txBody>
        </p:sp>
        <p:sp>
          <p:nvSpPr>
            <p:cNvPr id="39" name="TextBox 38">
              <a:extLst>
                <a:ext uri="{FF2B5EF4-FFF2-40B4-BE49-F238E27FC236}">
                  <a16:creationId xmlns:a16="http://schemas.microsoft.com/office/drawing/2014/main" id="{7727FDD6-ED00-49D9-9CC7-D4DF5589896B}"/>
                </a:ext>
              </a:extLst>
            </p:cNvPr>
            <p:cNvSpPr txBox="1"/>
            <p:nvPr/>
          </p:nvSpPr>
          <p:spPr>
            <a:xfrm>
              <a:off x="3131840" y="2273354"/>
              <a:ext cx="1374888" cy="438555"/>
            </a:xfrm>
            <a:prstGeom prst="rect">
              <a:avLst/>
            </a:prstGeom>
            <a:noFill/>
          </p:spPr>
          <p:txBody>
            <a:bodyPr wrap="square" rtlCol="0">
              <a:spAutoFit/>
            </a:bodyPr>
            <a:lstStyle/>
            <a:p>
              <a:pPr algn="ctr"/>
              <a:r>
                <a:rPr lang="en-US" sz="3198" dirty="0"/>
                <a:t>Debt</a:t>
              </a:r>
            </a:p>
          </p:txBody>
        </p:sp>
        <p:sp>
          <p:nvSpPr>
            <p:cNvPr id="40" name="Arrow: Down 39">
              <a:extLst>
                <a:ext uri="{FF2B5EF4-FFF2-40B4-BE49-F238E27FC236}">
                  <a16:creationId xmlns:a16="http://schemas.microsoft.com/office/drawing/2014/main" id="{65D9FE9A-79F9-4D58-9954-AF01A1DB7B33}"/>
                </a:ext>
              </a:extLst>
            </p:cNvPr>
            <p:cNvSpPr/>
            <p:nvPr/>
          </p:nvSpPr>
          <p:spPr>
            <a:xfrm rot="12735684">
              <a:off x="3914464" y="1904025"/>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41" name="Arrow: Down 40">
              <a:extLst>
                <a:ext uri="{FF2B5EF4-FFF2-40B4-BE49-F238E27FC236}">
                  <a16:creationId xmlns:a16="http://schemas.microsoft.com/office/drawing/2014/main" id="{A6FCE143-FDA1-40C0-A725-EE97E4790F4D}"/>
                </a:ext>
              </a:extLst>
            </p:cNvPr>
            <p:cNvSpPr/>
            <p:nvPr/>
          </p:nvSpPr>
          <p:spPr>
            <a:xfrm rot="8684022">
              <a:off x="4572000" y="1905726"/>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42" name="TextBox 41">
              <a:extLst>
                <a:ext uri="{FF2B5EF4-FFF2-40B4-BE49-F238E27FC236}">
                  <a16:creationId xmlns:a16="http://schemas.microsoft.com/office/drawing/2014/main" id="{881D0817-0C46-415D-9195-B2C356F2A7C0}"/>
                </a:ext>
              </a:extLst>
            </p:cNvPr>
            <p:cNvSpPr txBox="1"/>
            <p:nvPr/>
          </p:nvSpPr>
          <p:spPr>
            <a:xfrm>
              <a:off x="4499992" y="2234448"/>
              <a:ext cx="1584176" cy="2408421"/>
            </a:xfrm>
            <a:prstGeom prst="rect">
              <a:avLst/>
            </a:prstGeom>
            <a:noFill/>
          </p:spPr>
          <p:txBody>
            <a:bodyPr wrap="square" rtlCol="0">
              <a:spAutoFit/>
            </a:bodyPr>
            <a:lstStyle/>
            <a:p>
              <a:pPr algn="ctr"/>
              <a:r>
                <a:rPr lang="en-US" sz="3198" dirty="0"/>
                <a:t>Operating liabilities (OL) </a:t>
              </a:r>
            </a:p>
            <a:p>
              <a:pPr algn="ctr"/>
              <a:r>
                <a:rPr lang="en-US" sz="2666" dirty="0"/>
                <a:t>(means related to operating activity)</a:t>
              </a:r>
              <a:endParaRPr lang="en-US" sz="3198" dirty="0"/>
            </a:p>
          </p:txBody>
        </p:sp>
        <p:sp>
          <p:nvSpPr>
            <p:cNvPr id="44" name="TextBox 43">
              <a:extLst>
                <a:ext uri="{FF2B5EF4-FFF2-40B4-BE49-F238E27FC236}">
                  <a16:creationId xmlns:a16="http://schemas.microsoft.com/office/drawing/2014/main" id="{D582A2A4-8E27-499B-B525-655F1543FBA2}"/>
                </a:ext>
              </a:extLst>
            </p:cNvPr>
            <p:cNvSpPr txBox="1"/>
            <p:nvPr/>
          </p:nvSpPr>
          <p:spPr>
            <a:xfrm>
              <a:off x="107505" y="2787774"/>
              <a:ext cx="1440160" cy="1546370"/>
            </a:xfrm>
            <a:prstGeom prst="rect">
              <a:avLst/>
            </a:prstGeom>
            <a:noFill/>
          </p:spPr>
          <p:txBody>
            <a:bodyPr wrap="square" rtlCol="0">
              <a:spAutoFit/>
            </a:bodyPr>
            <a:lstStyle/>
            <a:p>
              <a:pPr algn="ctr"/>
              <a:r>
                <a:rPr lang="en-US" sz="3198" dirty="0"/>
                <a:t>Other non-operating Assets</a:t>
              </a:r>
            </a:p>
          </p:txBody>
        </p:sp>
        <p:sp>
          <p:nvSpPr>
            <p:cNvPr id="45" name="TextBox 44">
              <a:extLst>
                <a:ext uri="{FF2B5EF4-FFF2-40B4-BE49-F238E27FC236}">
                  <a16:creationId xmlns:a16="http://schemas.microsoft.com/office/drawing/2014/main" id="{8F60B834-E913-4DF8-B55B-23370530E6C8}"/>
                </a:ext>
              </a:extLst>
            </p:cNvPr>
            <p:cNvSpPr txBox="1"/>
            <p:nvPr/>
          </p:nvSpPr>
          <p:spPr>
            <a:xfrm>
              <a:off x="6005423" y="2234448"/>
              <a:ext cx="1525641" cy="1300222"/>
            </a:xfrm>
            <a:prstGeom prst="rect">
              <a:avLst/>
            </a:prstGeom>
            <a:noFill/>
          </p:spPr>
          <p:txBody>
            <a:bodyPr wrap="square" rtlCol="0">
              <a:spAutoFit/>
            </a:bodyPr>
            <a:lstStyle/>
            <a:p>
              <a:pPr algn="ctr"/>
              <a:r>
                <a:rPr lang="en-US" sz="3198" dirty="0" err="1"/>
                <a:t>Contribu</a:t>
              </a:r>
              <a:r>
                <a:rPr lang="en-US" sz="3198" dirty="0"/>
                <a:t>-ted capital</a:t>
              </a:r>
            </a:p>
            <a:p>
              <a:pPr algn="ctr"/>
              <a:r>
                <a:rPr lang="en-US" sz="2132" dirty="0"/>
                <a:t>(from shareholders)</a:t>
              </a:r>
            </a:p>
          </p:txBody>
        </p:sp>
        <p:sp>
          <p:nvSpPr>
            <p:cNvPr id="46" name="Arrow: Down 45">
              <a:extLst>
                <a:ext uri="{FF2B5EF4-FFF2-40B4-BE49-F238E27FC236}">
                  <a16:creationId xmlns:a16="http://schemas.microsoft.com/office/drawing/2014/main" id="{21CB5CB6-F14E-4E1F-A0AA-C550622C02CF}"/>
                </a:ext>
              </a:extLst>
            </p:cNvPr>
            <p:cNvSpPr/>
            <p:nvPr/>
          </p:nvSpPr>
          <p:spPr>
            <a:xfrm rot="12735684">
              <a:off x="6938800" y="1904025"/>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47" name="Arrow: Down 46">
              <a:extLst>
                <a:ext uri="{FF2B5EF4-FFF2-40B4-BE49-F238E27FC236}">
                  <a16:creationId xmlns:a16="http://schemas.microsoft.com/office/drawing/2014/main" id="{1B8D7DF0-ED20-4FCC-A700-24D242EDF002}"/>
                </a:ext>
              </a:extLst>
            </p:cNvPr>
            <p:cNvSpPr/>
            <p:nvPr/>
          </p:nvSpPr>
          <p:spPr>
            <a:xfrm rot="8684022">
              <a:off x="7596336" y="1905726"/>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48" name="TextBox 47">
              <a:extLst>
                <a:ext uri="{FF2B5EF4-FFF2-40B4-BE49-F238E27FC236}">
                  <a16:creationId xmlns:a16="http://schemas.microsoft.com/office/drawing/2014/main" id="{998A2DC4-511C-4E8C-A9D1-8957A0F3F96D}"/>
                </a:ext>
              </a:extLst>
            </p:cNvPr>
            <p:cNvSpPr txBox="1"/>
            <p:nvPr/>
          </p:nvSpPr>
          <p:spPr>
            <a:xfrm>
              <a:off x="7524328" y="2234448"/>
              <a:ext cx="1584176" cy="2839326"/>
            </a:xfrm>
            <a:prstGeom prst="rect">
              <a:avLst/>
            </a:prstGeom>
            <a:noFill/>
          </p:spPr>
          <p:txBody>
            <a:bodyPr wrap="square" rtlCol="0">
              <a:spAutoFit/>
            </a:bodyPr>
            <a:lstStyle/>
            <a:p>
              <a:pPr algn="ctr"/>
              <a:r>
                <a:rPr lang="en-US" sz="3198" dirty="0"/>
                <a:t>Earned capital</a:t>
              </a:r>
            </a:p>
            <a:p>
              <a:pPr algn="ctr"/>
              <a:r>
                <a:rPr lang="en-US" sz="2399" dirty="0"/>
                <a:t>(accumulated and retained net profits and accumulated OCI)</a:t>
              </a:r>
            </a:p>
            <a:p>
              <a:pPr algn="ctr"/>
              <a:endParaRPr lang="en-US" sz="3198" dirty="0"/>
            </a:p>
          </p:txBody>
        </p:sp>
        <p:sp>
          <p:nvSpPr>
            <p:cNvPr id="50" name="TextBox 49">
              <a:extLst>
                <a:ext uri="{FF2B5EF4-FFF2-40B4-BE49-F238E27FC236}">
                  <a16:creationId xmlns:a16="http://schemas.microsoft.com/office/drawing/2014/main" id="{A529DCCA-C8D4-492C-9214-7C834B640CB3}"/>
                </a:ext>
              </a:extLst>
            </p:cNvPr>
            <p:cNvSpPr txBox="1"/>
            <p:nvPr/>
          </p:nvSpPr>
          <p:spPr>
            <a:xfrm>
              <a:off x="482062" y="1274081"/>
              <a:ext cx="1440160" cy="807827"/>
            </a:xfrm>
            <a:prstGeom prst="rect">
              <a:avLst/>
            </a:prstGeom>
            <a:noFill/>
          </p:spPr>
          <p:txBody>
            <a:bodyPr wrap="square" rtlCol="0">
              <a:spAutoFit/>
            </a:bodyPr>
            <a:lstStyle/>
            <a:p>
              <a:pPr algn="ctr"/>
              <a:r>
                <a:rPr lang="en-US" sz="3198" dirty="0"/>
                <a:t>Assets (A)</a:t>
              </a:r>
            </a:p>
          </p:txBody>
        </p:sp>
        <p:sp>
          <p:nvSpPr>
            <p:cNvPr id="51" name="Arrow: Down 50">
              <a:extLst>
                <a:ext uri="{FF2B5EF4-FFF2-40B4-BE49-F238E27FC236}">
                  <a16:creationId xmlns:a16="http://schemas.microsoft.com/office/drawing/2014/main" id="{027144F4-1A61-4447-B163-D332700DE84B}"/>
                </a:ext>
              </a:extLst>
            </p:cNvPr>
            <p:cNvSpPr/>
            <p:nvPr/>
          </p:nvSpPr>
          <p:spPr>
            <a:xfrm rot="12735684">
              <a:off x="602096" y="1881288"/>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52" name="Arrow: Down 51">
              <a:extLst>
                <a:ext uri="{FF2B5EF4-FFF2-40B4-BE49-F238E27FC236}">
                  <a16:creationId xmlns:a16="http://schemas.microsoft.com/office/drawing/2014/main" id="{15DBF67D-A105-453C-90F6-68B44596C28C}"/>
                </a:ext>
              </a:extLst>
            </p:cNvPr>
            <p:cNvSpPr/>
            <p:nvPr/>
          </p:nvSpPr>
          <p:spPr>
            <a:xfrm rot="8684022">
              <a:off x="1475655" y="1882989"/>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53" name="TextBox 52">
              <a:extLst>
                <a:ext uri="{FF2B5EF4-FFF2-40B4-BE49-F238E27FC236}">
                  <a16:creationId xmlns:a16="http://schemas.microsoft.com/office/drawing/2014/main" id="{DC43E0AA-C905-4788-B29F-405BEC523EF7}"/>
                </a:ext>
              </a:extLst>
            </p:cNvPr>
            <p:cNvSpPr txBox="1"/>
            <p:nvPr/>
          </p:nvSpPr>
          <p:spPr>
            <a:xfrm>
              <a:off x="1403647" y="2211711"/>
              <a:ext cx="1584176" cy="2408421"/>
            </a:xfrm>
            <a:prstGeom prst="rect">
              <a:avLst/>
            </a:prstGeom>
            <a:noFill/>
          </p:spPr>
          <p:txBody>
            <a:bodyPr wrap="square" rtlCol="0">
              <a:spAutoFit/>
            </a:bodyPr>
            <a:lstStyle/>
            <a:p>
              <a:pPr algn="ctr"/>
              <a:r>
                <a:rPr lang="en-US" sz="3198" dirty="0"/>
                <a:t>Operating Assets (OA) </a:t>
              </a:r>
            </a:p>
            <a:p>
              <a:pPr algn="ctr"/>
              <a:r>
                <a:rPr lang="en-US" sz="2666" dirty="0"/>
                <a:t>(means related to operating activity)</a:t>
              </a:r>
              <a:endParaRPr lang="en-US" sz="3198" dirty="0"/>
            </a:p>
          </p:txBody>
        </p:sp>
        <p:sp>
          <p:nvSpPr>
            <p:cNvPr id="54" name="Arrow: Down 53">
              <a:extLst>
                <a:ext uri="{FF2B5EF4-FFF2-40B4-BE49-F238E27FC236}">
                  <a16:creationId xmlns:a16="http://schemas.microsoft.com/office/drawing/2014/main" id="{0F042C74-BB7B-4BA6-8C54-91C8EC165CB0}"/>
                </a:ext>
              </a:extLst>
            </p:cNvPr>
            <p:cNvSpPr/>
            <p:nvPr/>
          </p:nvSpPr>
          <p:spPr>
            <a:xfrm rot="10800000">
              <a:off x="1043608" y="2071937"/>
              <a:ext cx="288032" cy="64382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grpSp>
    </p:spTree>
    <p:extLst>
      <p:ext uri="{BB962C8B-B14F-4D97-AF65-F5344CB8AC3E}">
        <p14:creationId xmlns:p14="http://schemas.microsoft.com/office/powerpoint/2010/main" val="350724492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B2B53-989F-C1EC-2062-AB12E4AF02B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1E5B6D2-560B-3872-638E-0FCFFD258AB0}"/>
              </a:ext>
            </a:extLst>
          </p:cNvPr>
          <p:cNvSpPr>
            <a:spLocks noGrp="1"/>
          </p:cNvSpPr>
          <p:nvPr>
            <p:ph type="title"/>
          </p:nvPr>
        </p:nvSpPr>
        <p:spPr/>
        <p:txBody>
          <a:bodyPr/>
          <a:lstStyle/>
          <a:p>
            <a:r>
              <a:rPr lang="en-US" dirty="0"/>
              <a:t>Financial analysis: basic analysis</a:t>
            </a:r>
          </a:p>
        </p:txBody>
      </p:sp>
      <p:sp>
        <p:nvSpPr>
          <p:cNvPr id="4" name="Subtitle 3">
            <a:extLst>
              <a:ext uri="{FF2B5EF4-FFF2-40B4-BE49-F238E27FC236}">
                <a16:creationId xmlns:a16="http://schemas.microsoft.com/office/drawing/2014/main" id="{374F7A42-78A2-BEAD-C8EB-FCBFBDB469DA}"/>
              </a:ext>
            </a:extLst>
          </p:cNvPr>
          <p:cNvSpPr>
            <a:spLocks noGrp="1"/>
          </p:cNvSpPr>
          <p:nvPr>
            <p:ph idx="1"/>
          </p:nvPr>
        </p:nvSpPr>
        <p:spPr>
          <a:xfrm>
            <a:off x="668307" y="1145019"/>
            <a:ext cx="10829544" cy="393439"/>
          </a:xfrm>
        </p:spPr>
        <p:txBody>
          <a:bodyPr>
            <a:normAutofit lnSpcReduction="10000"/>
          </a:bodyPr>
          <a:lstStyle/>
          <a:p>
            <a:pPr marL="0" indent="0">
              <a:buNone/>
            </a:pPr>
            <a:r>
              <a:rPr lang="en-US" dirty="0"/>
              <a:t>Other categories in balance sheet:</a:t>
            </a:r>
          </a:p>
        </p:txBody>
      </p:sp>
      <p:sp>
        <p:nvSpPr>
          <p:cNvPr id="5" name="Slide Number Placeholder 4">
            <a:extLst>
              <a:ext uri="{FF2B5EF4-FFF2-40B4-BE49-F238E27FC236}">
                <a16:creationId xmlns:a16="http://schemas.microsoft.com/office/drawing/2014/main" id="{73432013-4F46-A652-C7F6-1F1FD57A95BE}"/>
              </a:ext>
            </a:extLst>
          </p:cNvPr>
          <p:cNvSpPr>
            <a:spLocks noGrp="1"/>
          </p:cNvSpPr>
          <p:nvPr>
            <p:ph type="sldNum" sz="quarter" idx="10"/>
          </p:nvPr>
        </p:nvSpPr>
        <p:spPr/>
        <p:txBody>
          <a:bodyPr/>
          <a:lstStyle/>
          <a:p>
            <a:fld id="{307C7597-8D70-4701-8085-9524B0B5C72B}" type="slidenum">
              <a:rPr lang="fr-FR" smtClean="0"/>
              <a:pPr/>
              <a:t>99</a:t>
            </a:fld>
            <a:endParaRPr lang="fr-FR" dirty="0"/>
          </a:p>
        </p:txBody>
      </p:sp>
      <p:grpSp>
        <p:nvGrpSpPr>
          <p:cNvPr id="55" name="Group 54">
            <a:extLst>
              <a:ext uri="{FF2B5EF4-FFF2-40B4-BE49-F238E27FC236}">
                <a16:creationId xmlns:a16="http://schemas.microsoft.com/office/drawing/2014/main" id="{7E49A4C7-E2B0-5675-0B33-BB9F43172D17}"/>
              </a:ext>
            </a:extLst>
          </p:cNvPr>
          <p:cNvGrpSpPr/>
          <p:nvPr/>
        </p:nvGrpSpPr>
        <p:grpSpPr>
          <a:xfrm>
            <a:off x="-60952" y="1460038"/>
            <a:ext cx="12202672" cy="5397416"/>
            <a:chOff x="-47969" y="1274081"/>
            <a:chExt cx="9156473" cy="4050040"/>
          </a:xfrm>
        </p:grpSpPr>
        <p:sp>
          <p:nvSpPr>
            <p:cNvPr id="31" name="TextBox 30">
              <a:extLst>
                <a:ext uri="{FF2B5EF4-FFF2-40B4-BE49-F238E27FC236}">
                  <a16:creationId xmlns:a16="http://schemas.microsoft.com/office/drawing/2014/main" id="{09BB1FAF-52CF-5AD8-FC19-8864705B2DCA}"/>
                </a:ext>
              </a:extLst>
            </p:cNvPr>
            <p:cNvSpPr txBox="1"/>
            <p:nvPr/>
          </p:nvSpPr>
          <p:spPr>
            <a:xfrm>
              <a:off x="2123728" y="1327631"/>
              <a:ext cx="1296144" cy="438555"/>
            </a:xfrm>
            <a:prstGeom prst="rect">
              <a:avLst/>
            </a:prstGeom>
            <a:noFill/>
          </p:spPr>
          <p:txBody>
            <a:bodyPr wrap="square" rtlCol="0">
              <a:spAutoFit/>
            </a:bodyPr>
            <a:lstStyle/>
            <a:p>
              <a:pPr algn="ctr"/>
              <a:r>
                <a:rPr lang="en-US" sz="3198" dirty="0"/>
                <a:t>=</a:t>
              </a:r>
            </a:p>
          </p:txBody>
        </p:sp>
        <p:sp>
          <p:nvSpPr>
            <p:cNvPr id="32" name="TextBox 31">
              <a:extLst>
                <a:ext uri="{FF2B5EF4-FFF2-40B4-BE49-F238E27FC236}">
                  <a16:creationId xmlns:a16="http://schemas.microsoft.com/office/drawing/2014/main" id="{4FEA0656-697C-3958-4511-1DCA47F2EE76}"/>
                </a:ext>
              </a:extLst>
            </p:cNvPr>
            <p:cNvSpPr txBox="1"/>
            <p:nvPr/>
          </p:nvSpPr>
          <p:spPr>
            <a:xfrm>
              <a:off x="6710986" y="1300982"/>
              <a:ext cx="1440160" cy="807827"/>
            </a:xfrm>
            <a:prstGeom prst="rect">
              <a:avLst/>
            </a:prstGeom>
            <a:noFill/>
          </p:spPr>
          <p:txBody>
            <a:bodyPr wrap="square" rtlCol="0">
              <a:spAutoFit/>
            </a:bodyPr>
            <a:lstStyle/>
            <a:p>
              <a:pPr algn="ctr"/>
              <a:r>
                <a:rPr lang="en-US" sz="3198" dirty="0"/>
                <a:t>Equity (E)</a:t>
              </a:r>
            </a:p>
          </p:txBody>
        </p:sp>
        <p:sp>
          <p:nvSpPr>
            <p:cNvPr id="33" name="TextBox 32">
              <a:extLst>
                <a:ext uri="{FF2B5EF4-FFF2-40B4-BE49-F238E27FC236}">
                  <a16:creationId xmlns:a16="http://schemas.microsoft.com/office/drawing/2014/main" id="{B919E721-D301-155C-E13C-24F5A6341C4F}"/>
                </a:ext>
              </a:extLst>
            </p:cNvPr>
            <p:cNvSpPr txBox="1"/>
            <p:nvPr/>
          </p:nvSpPr>
          <p:spPr>
            <a:xfrm>
              <a:off x="3491880" y="1307648"/>
              <a:ext cx="1800200" cy="807827"/>
            </a:xfrm>
            <a:prstGeom prst="rect">
              <a:avLst/>
            </a:prstGeom>
            <a:noFill/>
          </p:spPr>
          <p:txBody>
            <a:bodyPr wrap="square" rtlCol="0">
              <a:spAutoFit/>
            </a:bodyPr>
            <a:lstStyle/>
            <a:p>
              <a:pPr algn="ctr"/>
              <a:r>
                <a:rPr lang="en-US" sz="3198" dirty="0"/>
                <a:t>Liabilities (L)</a:t>
              </a:r>
            </a:p>
          </p:txBody>
        </p:sp>
        <p:sp>
          <p:nvSpPr>
            <p:cNvPr id="34" name="TextBox 33">
              <a:extLst>
                <a:ext uri="{FF2B5EF4-FFF2-40B4-BE49-F238E27FC236}">
                  <a16:creationId xmlns:a16="http://schemas.microsoft.com/office/drawing/2014/main" id="{5421515F-79EF-2759-07D7-C45FD5329191}"/>
                </a:ext>
              </a:extLst>
            </p:cNvPr>
            <p:cNvSpPr txBox="1"/>
            <p:nvPr/>
          </p:nvSpPr>
          <p:spPr>
            <a:xfrm>
              <a:off x="5364088" y="1314309"/>
              <a:ext cx="1296144" cy="438555"/>
            </a:xfrm>
            <a:prstGeom prst="rect">
              <a:avLst/>
            </a:prstGeom>
            <a:noFill/>
          </p:spPr>
          <p:txBody>
            <a:bodyPr wrap="square" rtlCol="0">
              <a:spAutoFit/>
            </a:bodyPr>
            <a:lstStyle/>
            <a:p>
              <a:pPr algn="ctr"/>
              <a:r>
                <a:rPr lang="en-US" sz="3198" dirty="0"/>
                <a:t>+</a:t>
              </a:r>
            </a:p>
          </p:txBody>
        </p:sp>
        <p:sp>
          <p:nvSpPr>
            <p:cNvPr id="35" name="TextBox 34">
              <a:extLst>
                <a:ext uri="{FF2B5EF4-FFF2-40B4-BE49-F238E27FC236}">
                  <a16:creationId xmlns:a16="http://schemas.microsoft.com/office/drawing/2014/main" id="{E1C81638-A7F8-665B-B4A8-E43449412CC9}"/>
                </a:ext>
              </a:extLst>
            </p:cNvPr>
            <p:cNvSpPr txBox="1"/>
            <p:nvPr/>
          </p:nvSpPr>
          <p:spPr>
            <a:xfrm>
              <a:off x="-6160" y="2211710"/>
              <a:ext cx="1086856" cy="438555"/>
            </a:xfrm>
            <a:prstGeom prst="rect">
              <a:avLst/>
            </a:prstGeom>
            <a:noFill/>
          </p:spPr>
          <p:txBody>
            <a:bodyPr wrap="square" rtlCol="0">
              <a:spAutoFit/>
            </a:bodyPr>
            <a:lstStyle/>
            <a:p>
              <a:pPr algn="ctr"/>
              <a:r>
                <a:rPr lang="en-US" sz="3198" dirty="0"/>
                <a:t>Cash </a:t>
              </a:r>
            </a:p>
          </p:txBody>
        </p:sp>
        <p:sp>
          <p:nvSpPr>
            <p:cNvPr id="39" name="TextBox 38">
              <a:extLst>
                <a:ext uri="{FF2B5EF4-FFF2-40B4-BE49-F238E27FC236}">
                  <a16:creationId xmlns:a16="http://schemas.microsoft.com/office/drawing/2014/main" id="{5D710B3F-9444-D217-5FB3-275BA6B2EE32}"/>
                </a:ext>
              </a:extLst>
            </p:cNvPr>
            <p:cNvSpPr txBox="1"/>
            <p:nvPr/>
          </p:nvSpPr>
          <p:spPr>
            <a:xfrm>
              <a:off x="3131840" y="2273354"/>
              <a:ext cx="1525641" cy="2041075"/>
            </a:xfrm>
            <a:prstGeom prst="rect">
              <a:avLst/>
            </a:prstGeom>
            <a:noFill/>
          </p:spPr>
          <p:txBody>
            <a:bodyPr wrap="square" rtlCol="0">
              <a:spAutoFit/>
            </a:bodyPr>
            <a:lstStyle/>
            <a:p>
              <a:pPr algn="ctr"/>
              <a:r>
                <a:rPr lang="en-US" sz="3198" dirty="0"/>
                <a:t>Debt</a:t>
              </a:r>
            </a:p>
            <a:p>
              <a:pPr algn="ctr"/>
              <a:r>
                <a:rPr lang="en-US" sz="2670" dirty="0"/>
                <a:t>(means </a:t>
              </a:r>
              <a:r>
                <a:rPr lang="en-US" sz="2670" dirty="0">
                  <a:solidFill>
                    <a:srgbClr val="00B050"/>
                  </a:solidFill>
                </a:rPr>
                <a:t>interest- bearing liabilities</a:t>
              </a:r>
              <a:r>
                <a:rPr lang="en-US" sz="2670" dirty="0"/>
                <a:t>)</a:t>
              </a:r>
            </a:p>
            <a:p>
              <a:pPr algn="ctr"/>
              <a:endParaRPr lang="en-US" sz="3198" dirty="0"/>
            </a:p>
          </p:txBody>
        </p:sp>
        <p:sp>
          <p:nvSpPr>
            <p:cNvPr id="40" name="Arrow: Down 39">
              <a:extLst>
                <a:ext uri="{FF2B5EF4-FFF2-40B4-BE49-F238E27FC236}">
                  <a16:creationId xmlns:a16="http://schemas.microsoft.com/office/drawing/2014/main" id="{3115DDF7-FDD1-6262-3D43-E47D1C7F85A3}"/>
                </a:ext>
              </a:extLst>
            </p:cNvPr>
            <p:cNvSpPr/>
            <p:nvPr/>
          </p:nvSpPr>
          <p:spPr>
            <a:xfrm rot="12735684">
              <a:off x="3914464" y="1904025"/>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41" name="Arrow: Down 40">
              <a:extLst>
                <a:ext uri="{FF2B5EF4-FFF2-40B4-BE49-F238E27FC236}">
                  <a16:creationId xmlns:a16="http://schemas.microsoft.com/office/drawing/2014/main" id="{218CE91F-8865-0CA8-4642-8E0D714DFCB9}"/>
                </a:ext>
              </a:extLst>
            </p:cNvPr>
            <p:cNvSpPr/>
            <p:nvPr/>
          </p:nvSpPr>
          <p:spPr>
            <a:xfrm rot="8684022">
              <a:off x="4572000" y="1905726"/>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42" name="TextBox 41">
              <a:extLst>
                <a:ext uri="{FF2B5EF4-FFF2-40B4-BE49-F238E27FC236}">
                  <a16:creationId xmlns:a16="http://schemas.microsoft.com/office/drawing/2014/main" id="{373ECFD0-A7EE-8E1F-472D-E332F133762E}"/>
                </a:ext>
              </a:extLst>
            </p:cNvPr>
            <p:cNvSpPr txBox="1"/>
            <p:nvPr/>
          </p:nvSpPr>
          <p:spPr>
            <a:xfrm>
              <a:off x="4499992" y="2234448"/>
              <a:ext cx="1584176" cy="1177099"/>
            </a:xfrm>
            <a:prstGeom prst="rect">
              <a:avLst/>
            </a:prstGeom>
            <a:noFill/>
          </p:spPr>
          <p:txBody>
            <a:bodyPr wrap="square" rtlCol="0">
              <a:spAutoFit/>
            </a:bodyPr>
            <a:lstStyle/>
            <a:p>
              <a:pPr algn="ctr"/>
              <a:r>
                <a:rPr lang="en-US" sz="3198" dirty="0"/>
                <a:t>Operating liabilities (OL) </a:t>
              </a:r>
            </a:p>
          </p:txBody>
        </p:sp>
        <p:sp>
          <p:nvSpPr>
            <p:cNvPr id="44" name="TextBox 43">
              <a:extLst>
                <a:ext uri="{FF2B5EF4-FFF2-40B4-BE49-F238E27FC236}">
                  <a16:creationId xmlns:a16="http://schemas.microsoft.com/office/drawing/2014/main" id="{E2D8B57C-E591-F973-661F-794EB4506889}"/>
                </a:ext>
              </a:extLst>
            </p:cNvPr>
            <p:cNvSpPr txBox="1"/>
            <p:nvPr/>
          </p:nvSpPr>
          <p:spPr>
            <a:xfrm>
              <a:off x="-47969" y="3222086"/>
              <a:ext cx="2557850" cy="2102035"/>
            </a:xfrm>
            <a:prstGeom prst="rect">
              <a:avLst/>
            </a:prstGeom>
            <a:noFill/>
          </p:spPr>
          <p:txBody>
            <a:bodyPr wrap="square" rtlCol="0">
              <a:spAutoFit/>
            </a:bodyPr>
            <a:lstStyle/>
            <a:p>
              <a:pPr algn="ctr"/>
              <a:r>
                <a:rPr lang="en-US" sz="3198" dirty="0"/>
                <a:t>Other non-operating Assets</a:t>
              </a:r>
            </a:p>
            <a:p>
              <a:pPr algn="ctr"/>
              <a:r>
                <a:rPr lang="en-US" sz="2670" dirty="0"/>
                <a:t>(means in general interest-or-dividends- earning assets)</a:t>
              </a:r>
            </a:p>
            <a:p>
              <a:pPr algn="ctr"/>
              <a:endParaRPr lang="en-US" sz="3198" dirty="0"/>
            </a:p>
          </p:txBody>
        </p:sp>
        <p:sp>
          <p:nvSpPr>
            <p:cNvPr id="45" name="TextBox 44">
              <a:extLst>
                <a:ext uri="{FF2B5EF4-FFF2-40B4-BE49-F238E27FC236}">
                  <a16:creationId xmlns:a16="http://schemas.microsoft.com/office/drawing/2014/main" id="{B4E18617-FC7E-CF92-A375-EC59A35C0967}"/>
                </a:ext>
              </a:extLst>
            </p:cNvPr>
            <p:cNvSpPr txBox="1"/>
            <p:nvPr/>
          </p:nvSpPr>
          <p:spPr>
            <a:xfrm>
              <a:off x="6005423" y="2234448"/>
              <a:ext cx="1525641" cy="1300222"/>
            </a:xfrm>
            <a:prstGeom prst="rect">
              <a:avLst/>
            </a:prstGeom>
            <a:noFill/>
          </p:spPr>
          <p:txBody>
            <a:bodyPr wrap="square" rtlCol="0">
              <a:spAutoFit/>
            </a:bodyPr>
            <a:lstStyle/>
            <a:p>
              <a:pPr algn="ctr"/>
              <a:r>
                <a:rPr lang="en-US" sz="3198" dirty="0" err="1"/>
                <a:t>Contribu</a:t>
              </a:r>
              <a:r>
                <a:rPr lang="en-US" sz="3198" dirty="0"/>
                <a:t>-ted capital</a:t>
              </a:r>
            </a:p>
            <a:p>
              <a:pPr algn="ctr"/>
              <a:r>
                <a:rPr lang="en-US" sz="2132" dirty="0"/>
                <a:t>(from shareholders)</a:t>
              </a:r>
            </a:p>
          </p:txBody>
        </p:sp>
        <p:sp>
          <p:nvSpPr>
            <p:cNvPr id="46" name="Arrow: Down 45">
              <a:extLst>
                <a:ext uri="{FF2B5EF4-FFF2-40B4-BE49-F238E27FC236}">
                  <a16:creationId xmlns:a16="http://schemas.microsoft.com/office/drawing/2014/main" id="{B1FA112C-DDAA-9EC4-DB46-71590D2EC837}"/>
                </a:ext>
              </a:extLst>
            </p:cNvPr>
            <p:cNvSpPr/>
            <p:nvPr/>
          </p:nvSpPr>
          <p:spPr>
            <a:xfrm rot="12735684">
              <a:off x="6938800" y="1904025"/>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47" name="Arrow: Down 46">
              <a:extLst>
                <a:ext uri="{FF2B5EF4-FFF2-40B4-BE49-F238E27FC236}">
                  <a16:creationId xmlns:a16="http://schemas.microsoft.com/office/drawing/2014/main" id="{D7912C27-D9A5-0EE1-01D8-9A78448077A9}"/>
                </a:ext>
              </a:extLst>
            </p:cNvPr>
            <p:cNvSpPr/>
            <p:nvPr/>
          </p:nvSpPr>
          <p:spPr>
            <a:xfrm rot="8684022">
              <a:off x="7596336" y="1905726"/>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48" name="TextBox 47">
              <a:extLst>
                <a:ext uri="{FF2B5EF4-FFF2-40B4-BE49-F238E27FC236}">
                  <a16:creationId xmlns:a16="http://schemas.microsoft.com/office/drawing/2014/main" id="{3DCFC791-4BA4-EAD4-4080-86BFA1D91AAE}"/>
                </a:ext>
              </a:extLst>
            </p:cNvPr>
            <p:cNvSpPr txBox="1"/>
            <p:nvPr/>
          </p:nvSpPr>
          <p:spPr>
            <a:xfrm>
              <a:off x="7524328" y="2234448"/>
              <a:ext cx="1584176" cy="2839326"/>
            </a:xfrm>
            <a:prstGeom prst="rect">
              <a:avLst/>
            </a:prstGeom>
            <a:noFill/>
          </p:spPr>
          <p:txBody>
            <a:bodyPr wrap="square" rtlCol="0">
              <a:spAutoFit/>
            </a:bodyPr>
            <a:lstStyle/>
            <a:p>
              <a:pPr algn="ctr"/>
              <a:r>
                <a:rPr lang="en-US" sz="3198" dirty="0"/>
                <a:t>Earned capital</a:t>
              </a:r>
            </a:p>
            <a:p>
              <a:pPr algn="ctr"/>
              <a:r>
                <a:rPr lang="en-US" sz="2399" dirty="0"/>
                <a:t>(accumulated and retained net profits and accumulated OCI)</a:t>
              </a:r>
            </a:p>
            <a:p>
              <a:pPr algn="ctr"/>
              <a:endParaRPr lang="en-US" sz="3198" dirty="0"/>
            </a:p>
          </p:txBody>
        </p:sp>
        <p:sp>
          <p:nvSpPr>
            <p:cNvPr id="50" name="TextBox 49">
              <a:extLst>
                <a:ext uri="{FF2B5EF4-FFF2-40B4-BE49-F238E27FC236}">
                  <a16:creationId xmlns:a16="http://schemas.microsoft.com/office/drawing/2014/main" id="{1D09644B-AC66-7495-E3D8-AA159048348B}"/>
                </a:ext>
              </a:extLst>
            </p:cNvPr>
            <p:cNvSpPr txBox="1"/>
            <p:nvPr/>
          </p:nvSpPr>
          <p:spPr>
            <a:xfrm>
              <a:off x="482062" y="1274081"/>
              <a:ext cx="1440160" cy="807827"/>
            </a:xfrm>
            <a:prstGeom prst="rect">
              <a:avLst/>
            </a:prstGeom>
            <a:noFill/>
          </p:spPr>
          <p:txBody>
            <a:bodyPr wrap="square" rtlCol="0">
              <a:spAutoFit/>
            </a:bodyPr>
            <a:lstStyle/>
            <a:p>
              <a:pPr algn="ctr"/>
              <a:r>
                <a:rPr lang="en-US" sz="3198" dirty="0"/>
                <a:t>Assets (A)</a:t>
              </a:r>
            </a:p>
          </p:txBody>
        </p:sp>
        <p:sp>
          <p:nvSpPr>
            <p:cNvPr id="51" name="Arrow: Down 50">
              <a:extLst>
                <a:ext uri="{FF2B5EF4-FFF2-40B4-BE49-F238E27FC236}">
                  <a16:creationId xmlns:a16="http://schemas.microsoft.com/office/drawing/2014/main" id="{51CA642A-BC46-C7AB-EC97-30CB5E178776}"/>
                </a:ext>
              </a:extLst>
            </p:cNvPr>
            <p:cNvSpPr/>
            <p:nvPr/>
          </p:nvSpPr>
          <p:spPr>
            <a:xfrm rot="12735684">
              <a:off x="602096" y="1881288"/>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52" name="Arrow: Down 51">
              <a:extLst>
                <a:ext uri="{FF2B5EF4-FFF2-40B4-BE49-F238E27FC236}">
                  <a16:creationId xmlns:a16="http://schemas.microsoft.com/office/drawing/2014/main" id="{92C6C017-FA2B-8627-576D-9DF78881966F}"/>
                </a:ext>
              </a:extLst>
            </p:cNvPr>
            <p:cNvSpPr/>
            <p:nvPr/>
          </p:nvSpPr>
          <p:spPr>
            <a:xfrm rot="8684022">
              <a:off x="1475655" y="1882989"/>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53" name="TextBox 52">
              <a:extLst>
                <a:ext uri="{FF2B5EF4-FFF2-40B4-BE49-F238E27FC236}">
                  <a16:creationId xmlns:a16="http://schemas.microsoft.com/office/drawing/2014/main" id="{09AEBDAA-11E5-78E6-89C1-A5716F274560}"/>
                </a:ext>
              </a:extLst>
            </p:cNvPr>
            <p:cNvSpPr txBox="1"/>
            <p:nvPr/>
          </p:nvSpPr>
          <p:spPr>
            <a:xfrm>
              <a:off x="1403647" y="2211711"/>
              <a:ext cx="1584176" cy="1177099"/>
            </a:xfrm>
            <a:prstGeom prst="rect">
              <a:avLst/>
            </a:prstGeom>
            <a:noFill/>
          </p:spPr>
          <p:txBody>
            <a:bodyPr wrap="square" rtlCol="0">
              <a:spAutoFit/>
            </a:bodyPr>
            <a:lstStyle/>
            <a:p>
              <a:pPr algn="ctr"/>
              <a:r>
                <a:rPr lang="en-US" sz="3198" dirty="0"/>
                <a:t>Operating Assets (OA) </a:t>
              </a:r>
            </a:p>
          </p:txBody>
        </p:sp>
        <p:sp>
          <p:nvSpPr>
            <p:cNvPr id="54" name="Arrow: Down 53">
              <a:extLst>
                <a:ext uri="{FF2B5EF4-FFF2-40B4-BE49-F238E27FC236}">
                  <a16:creationId xmlns:a16="http://schemas.microsoft.com/office/drawing/2014/main" id="{AFEA2313-9115-9C0A-7984-E3ADB65BE9E6}"/>
                </a:ext>
              </a:extLst>
            </p:cNvPr>
            <p:cNvSpPr/>
            <p:nvPr/>
          </p:nvSpPr>
          <p:spPr>
            <a:xfrm rot="10800000">
              <a:off x="1043608" y="2071936"/>
              <a:ext cx="288032" cy="11501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grpSp>
      <p:sp>
        <p:nvSpPr>
          <p:cNvPr id="2" name="Arrow: Down 1">
            <a:extLst>
              <a:ext uri="{FF2B5EF4-FFF2-40B4-BE49-F238E27FC236}">
                <a16:creationId xmlns:a16="http://schemas.microsoft.com/office/drawing/2014/main" id="{4539D12D-D877-B5A6-1CE3-A90350437694}"/>
              </a:ext>
            </a:extLst>
          </p:cNvPr>
          <p:cNvSpPr/>
          <p:nvPr/>
        </p:nvSpPr>
        <p:spPr>
          <a:xfrm rot="10800000">
            <a:off x="6877176" y="4308600"/>
            <a:ext cx="383855" cy="949199"/>
          </a:xfrm>
          <a:prstGeom prst="downArrow">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6" name="TextBox 5">
            <a:extLst>
              <a:ext uri="{FF2B5EF4-FFF2-40B4-BE49-F238E27FC236}">
                <a16:creationId xmlns:a16="http://schemas.microsoft.com/office/drawing/2014/main" id="{655BBBDF-468E-4DF8-4545-1C2DF45A2669}"/>
              </a:ext>
            </a:extLst>
          </p:cNvPr>
          <p:cNvSpPr txBox="1"/>
          <p:nvPr/>
        </p:nvSpPr>
        <p:spPr>
          <a:xfrm>
            <a:off x="5556107" y="5451235"/>
            <a:ext cx="3288045" cy="1406219"/>
          </a:xfrm>
          <a:prstGeom prst="rect">
            <a:avLst/>
          </a:prstGeom>
          <a:noFill/>
        </p:spPr>
        <p:txBody>
          <a:bodyPr wrap="square" rtlCol="0">
            <a:spAutoFit/>
          </a:bodyPr>
          <a:lstStyle/>
          <a:p>
            <a:pPr algn="ctr"/>
            <a:r>
              <a:rPr lang="en-US" sz="2670" dirty="0">
                <a:solidFill>
                  <a:srgbClr val="00B050"/>
                </a:solidFill>
              </a:rPr>
              <a:t>No interest-bearing liabilities</a:t>
            </a:r>
            <a:endParaRPr lang="en-US" sz="2670" dirty="0"/>
          </a:p>
          <a:p>
            <a:pPr algn="ctr"/>
            <a:endParaRPr lang="en-US" sz="3198" dirty="0"/>
          </a:p>
        </p:txBody>
      </p:sp>
    </p:spTree>
    <p:extLst>
      <p:ext uri="{BB962C8B-B14F-4D97-AF65-F5344CB8AC3E}">
        <p14:creationId xmlns:p14="http://schemas.microsoft.com/office/powerpoint/2010/main" val="415687516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47434B-CE85-424E-8C21-8A6407D02230}"/>
              </a:ext>
            </a:extLst>
          </p:cNvPr>
          <p:cNvSpPr>
            <a:spLocks noGrp="1"/>
          </p:cNvSpPr>
          <p:nvPr>
            <p:ph type="title"/>
          </p:nvPr>
        </p:nvSpPr>
        <p:spPr/>
        <p:txBody>
          <a:bodyPr/>
          <a:lstStyle/>
          <a:p>
            <a:r>
              <a:rPr lang="en-US" dirty="0"/>
              <a:t>Financial analysis: basic analysis</a:t>
            </a:r>
          </a:p>
        </p:txBody>
      </p:sp>
      <p:sp>
        <p:nvSpPr>
          <p:cNvPr id="4" name="Subtitle 3">
            <a:extLst>
              <a:ext uri="{FF2B5EF4-FFF2-40B4-BE49-F238E27FC236}">
                <a16:creationId xmlns:a16="http://schemas.microsoft.com/office/drawing/2014/main" id="{BBE71373-15EE-417B-A99F-4B06F5A18896}"/>
              </a:ext>
            </a:extLst>
          </p:cNvPr>
          <p:cNvSpPr>
            <a:spLocks noGrp="1"/>
          </p:cNvSpPr>
          <p:nvPr>
            <p:ph idx="1"/>
          </p:nvPr>
        </p:nvSpPr>
        <p:spPr>
          <a:xfrm>
            <a:off x="681228" y="1314161"/>
            <a:ext cx="10829544" cy="483455"/>
          </a:xfrm>
        </p:spPr>
        <p:txBody>
          <a:bodyPr>
            <a:normAutofit/>
          </a:bodyPr>
          <a:lstStyle/>
          <a:p>
            <a:pPr marL="0" indent="0">
              <a:buNone/>
            </a:pPr>
            <a:r>
              <a:rPr lang="en-US" sz="2800" dirty="0"/>
              <a:t>“Net” calculations are wanted!</a:t>
            </a:r>
          </a:p>
        </p:txBody>
      </p:sp>
      <p:sp>
        <p:nvSpPr>
          <p:cNvPr id="5" name="Slide Number Placeholder 4">
            <a:extLst>
              <a:ext uri="{FF2B5EF4-FFF2-40B4-BE49-F238E27FC236}">
                <a16:creationId xmlns:a16="http://schemas.microsoft.com/office/drawing/2014/main" id="{3DFC0698-BEF3-44F1-BD96-7A573398ED4E}"/>
              </a:ext>
            </a:extLst>
          </p:cNvPr>
          <p:cNvSpPr>
            <a:spLocks noGrp="1"/>
          </p:cNvSpPr>
          <p:nvPr>
            <p:ph type="sldNum" sz="quarter" idx="10"/>
          </p:nvPr>
        </p:nvSpPr>
        <p:spPr/>
        <p:txBody>
          <a:bodyPr/>
          <a:lstStyle/>
          <a:p>
            <a:fld id="{307C7597-8D70-4701-8085-9524B0B5C72B}" type="slidenum">
              <a:rPr lang="fr-FR" smtClean="0"/>
              <a:pPr/>
              <a:t>100</a:t>
            </a:fld>
            <a:endParaRPr lang="fr-FR" dirty="0"/>
          </a:p>
        </p:txBody>
      </p:sp>
      <p:sp>
        <p:nvSpPr>
          <p:cNvPr id="30" name="TextBox 29">
            <a:extLst>
              <a:ext uri="{FF2B5EF4-FFF2-40B4-BE49-F238E27FC236}">
                <a16:creationId xmlns:a16="http://schemas.microsoft.com/office/drawing/2014/main" id="{AC78F6CA-83D3-4A3C-903F-85A58EB6F801}"/>
              </a:ext>
            </a:extLst>
          </p:cNvPr>
          <p:cNvSpPr txBox="1"/>
          <p:nvPr/>
        </p:nvSpPr>
        <p:spPr>
          <a:xfrm>
            <a:off x="817990" y="1797616"/>
            <a:ext cx="1919276" cy="1076577"/>
          </a:xfrm>
          <a:prstGeom prst="rect">
            <a:avLst/>
          </a:prstGeom>
          <a:noFill/>
        </p:spPr>
        <p:txBody>
          <a:bodyPr wrap="square" rtlCol="0">
            <a:spAutoFit/>
          </a:bodyPr>
          <a:lstStyle/>
          <a:p>
            <a:pPr algn="ctr"/>
            <a:r>
              <a:rPr lang="en-US" sz="3198" dirty="0"/>
              <a:t>Assets (A)</a:t>
            </a:r>
          </a:p>
        </p:txBody>
      </p:sp>
      <p:sp>
        <p:nvSpPr>
          <p:cNvPr id="31" name="TextBox 30">
            <a:extLst>
              <a:ext uri="{FF2B5EF4-FFF2-40B4-BE49-F238E27FC236}">
                <a16:creationId xmlns:a16="http://schemas.microsoft.com/office/drawing/2014/main" id="{345BBDB7-551C-4FD1-9E05-D4E01BD129D2}"/>
              </a:ext>
            </a:extLst>
          </p:cNvPr>
          <p:cNvSpPr txBox="1"/>
          <p:nvPr/>
        </p:nvSpPr>
        <p:spPr>
          <a:xfrm>
            <a:off x="2833231" y="1797616"/>
            <a:ext cx="1727349" cy="584455"/>
          </a:xfrm>
          <a:prstGeom prst="rect">
            <a:avLst/>
          </a:prstGeom>
          <a:noFill/>
        </p:spPr>
        <p:txBody>
          <a:bodyPr wrap="square" rtlCol="0">
            <a:spAutoFit/>
          </a:bodyPr>
          <a:lstStyle/>
          <a:p>
            <a:pPr algn="ctr"/>
            <a:r>
              <a:rPr lang="en-US" sz="3198" dirty="0"/>
              <a:t>=</a:t>
            </a:r>
          </a:p>
        </p:txBody>
      </p:sp>
      <p:sp>
        <p:nvSpPr>
          <p:cNvPr id="32" name="TextBox 31">
            <a:extLst>
              <a:ext uri="{FF2B5EF4-FFF2-40B4-BE49-F238E27FC236}">
                <a16:creationId xmlns:a16="http://schemas.microsoft.com/office/drawing/2014/main" id="{30C23491-18B2-4C8F-AFD9-723767A8D3B2}"/>
              </a:ext>
            </a:extLst>
          </p:cNvPr>
          <p:cNvSpPr txBox="1"/>
          <p:nvPr/>
        </p:nvSpPr>
        <p:spPr>
          <a:xfrm>
            <a:off x="9070878" y="1797616"/>
            <a:ext cx="1919276" cy="1076577"/>
          </a:xfrm>
          <a:prstGeom prst="rect">
            <a:avLst/>
          </a:prstGeom>
          <a:noFill/>
        </p:spPr>
        <p:txBody>
          <a:bodyPr wrap="square" rtlCol="0">
            <a:spAutoFit/>
          </a:bodyPr>
          <a:lstStyle/>
          <a:p>
            <a:pPr algn="ctr"/>
            <a:r>
              <a:rPr lang="en-US" sz="3198" dirty="0"/>
              <a:t>Equity (E)</a:t>
            </a:r>
          </a:p>
        </p:txBody>
      </p:sp>
      <p:sp>
        <p:nvSpPr>
          <p:cNvPr id="33" name="TextBox 32">
            <a:extLst>
              <a:ext uri="{FF2B5EF4-FFF2-40B4-BE49-F238E27FC236}">
                <a16:creationId xmlns:a16="http://schemas.microsoft.com/office/drawing/2014/main" id="{062619CC-50E0-47D3-80AE-3160B955727A}"/>
              </a:ext>
            </a:extLst>
          </p:cNvPr>
          <p:cNvSpPr txBox="1"/>
          <p:nvPr/>
        </p:nvSpPr>
        <p:spPr>
          <a:xfrm>
            <a:off x="4656543" y="1797616"/>
            <a:ext cx="2399096" cy="1076577"/>
          </a:xfrm>
          <a:prstGeom prst="rect">
            <a:avLst/>
          </a:prstGeom>
          <a:noFill/>
        </p:spPr>
        <p:txBody>
          <a:bodyPr wrap="square" rtlCol="0">
            <a:spAutoFit/>
          </a:bodyPr>
          <a:lstStyle/>
          <a:p>
            <a:pPr algn="ctr"/>
            <a:r>
              <a:rPr lang="en-US" sz="3198" dirty="0"/>
              <a:t>Liabilities (L)</a:t>
            </a:r>
          </a:p>
        </p:txBody>
      </p:sp>
      <p:sp>
        <p:nvSpPr>
          <p:cNvPr id="34" name="TextBox 33">
            <a:extLst>
              <a:ext uri="{FF2B5EF4-FFF2-40B4-BE49-F238E27FC236}">
                <a16:creationId xmlns:a16="http://schemas.microsoft.com/office/drawing/2014/main" id="{803551A3-093D-4CCE-8E41-AA70DE30A4E0}"/>
              </a:ext>
            </a:extLst>
          </p:cNvPr>
          <p:cNvSpPr txBox="1"/>
          <p:nvPr/>
        </p:nvSpPr>
        <p:spPr>
          <a:xfrm>
            <a:off x="7151602" y="1797616"/>
            <a:ext cx="1727349" cy="584455"/>
          </a:xfrm>
          <a:prstGeom prst="rect">
            <a:avLst/>
          </a:prstGeom>
          <a:noFill/>
        </p:spPr>
        <p:txBody>
          <a:bodyPr wrap="square" rtlCol="0">
            <a:spAutoFit/>
          </a:bodyPr>
          <a:lstStyle/>
          <a:p>
            <a:pPr algn="ctr"/>
            <a:r>
              <a:rPr lang="en-US" sz="3198" dirty="0"/>
              <a:t>+</a:t>
            </a:r>
          </a:p>
        </p:txBody>
      </p:sp>
      <p:sp>
        <p:nvSpPr>
          <p:cNvPr id="37" name="Arrow: Down 36">
            <a:extLst>
              <a:ext uri="{FF2B5EF4-FFF2-40B4-BE49-F238E27FC236}">
                <a16:creationId xmlns:a16="http://schemas.microsoft.com/office/drawing/2014/main" id="{BE0D13D2-6F13-406B-8598-1F7595BFBE5B}"/>
              </a:ext>
            </a:extLst>
          </p:cNvPr>
          <p:cNvSpPr/>
          <p:nvPr/>
        </p:nvSpPr>
        <p:spPr>
          <a:xfrm rot="8684022">
            <a:off x="2161487" y="2541401"/>
            <a:ext cx="383855" cy="423326"/>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38" name="TextBox 37">
            <a:extLst>
              <a:ext uri="{FF2B5EF4-FFF2-40B4-BE49-F238E27FC236}">
                <a16:creationId xmlns:a16="http://schemas.microsoft.com/office/drawing/2014/main" id="{EB6F801B-0102-4DF3-8757-D3AF7C06B4C0}"/>
              </a:ext>
            </a:extLst>
          </p:cNvPr>
          <p:cNvSpPr txBox="1"/>
          <p:nvPr/>
        </p:nvSpPr>
        <p:spPr>
          <a:xfrm>
            <a:off x="913954" y="2949182"/>
            <a:ext cx="3070842" cy="1477328"/>
          </a:xfrm>
          <a:prstGeom prst="rect">
            <a:avLst/>
          </a:prstGeom>
          <a:noFill/>
        </p:spPr>
        <p:txBody>
          <a:bodyPr wrap="square" rtlCol="0">
            <a:spAutoFit/>
          </a:bodyPr>
          <a:lstStyle/>
          <a:p>
            <a:pPr algn="ctr"/>
            <a:r>
              <a:rPr lang="en-US" sz="3000" dirty="0"/>
              <a:t>Current Operating Assets (OA) </a:t>
            </a:r>
          </a:p>
        </p:txBody>
      </p:sp>
      <p:sp>
        <p:nvSpPr>
          <p:cNvPr id="41" name="Arrow: Down 40">
            <a:extLst>
              <a:ext uri="{FF2B5EF4-FFF2-40B4-BE49-F238E27FC236}">
                <a16:creationId xmlns:a16="http://schemas.microsoft.com/office/drawing/2014/main" id="{A6FCE143-FDA1-40C0-A725-EE97E4790F4D}"/>
              </a:ext>
            </a:extLst>
          </p:cNvPr>
          <p:cNvSpPr/>
          <p:nvPr/>
        </p:nvSpPr>
        <p:spPr>
          <a:xfrm rot="8684022">
            <a:off x="6287926" y="2562997"/>
            <a:ext cx="383855" cy="423326"/>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42" name="TextBox 41">
            <a:extLst>
              <a:ext uri="{FF2B5EF4-FFF2-40B4-BE49-F238E27FC236}">
                <a16:creationId xmlns:a16="http://schemas.microsoft.com/office/drawing/2014/main" id="{881D0817-0C46-415D-9195-B2C356F2A7C0}"/>
              </a:ext>
            </a:extLst>
          </p:cNvPr>
          <p:cNvSpPr txBox="1"/>
          <p:nvPr/>
        </p:nvSpPr>
        <p:spPr>
          <a:xfrm>
            <a:off x="5232327" y="2979483"/>
            <a:ext cx="2878914" cy="1477328"/>
          </a:xfrm>
          <a:prstGeom prst="rect">
            <a:avLst/>
          </a:prstGeom>
          <a:noFill/>
        </p:spPr>
        <p:txBody>
          <a:bodyPr wrap="square" rtlCol="0">
            <a:spAutoFit/>
          </a:bodyPr>
          <a:lstStyle/>
          <a:p>
            <a:pPr algn="ctr"/>
            <a:r>
              <a:rPr lang="en-US" sz="3000" dirty="0"/>
              <a:t>Current Operating liabilities (OL) </a:t>
            </a:r>
          </a:p>
        </p:txBody>
      </p:sp>
      <p:sp>
        <p:nvSpPr>
          <p:cNvPr id="26" name="TextBox 25">
            <a:extLst>
              <a:ext uri="{FF2B5EF4-FFF2-40B4-BE49-F238E27FC236}">
                <a16:creationId xmlns:a16="http://schemas.microsoft.com/office/drawing/2014/main" id="{33B33DF4-E635-48F6-86B3-ACBC4DC441A4}"/>
              </a:ext>
            </a:extLst>
          </p:cNvPr>
          <p:cNvSpPr txBox="1"/>
          <p:nvPr/>
        </p:nvSpPr>
        <p:spPr>
          <a:xfrm>
            <a:off x="4080760" y="3197603"/>
            <a:ext cx="1727349" cy="584455"/>
          </a:xfrm>
          <a:prstGeom prst="rect">
            <a:avLst/>
          </a:prstGeom>
          <a:noFill/>
        </p:spPr>
        <p:txBody>
          <a:bodyPr wrap="square" rtlCol="0">
            <a:spAutoFit/>
          </a:bodyPr>
          <a:lstStyle/>
          <a:p>
            <a:pPr algn="ctr"/>
            <a:r>
              <a:rPr lang="en-US" sz="3198" dirty="0"/>
              <a:t>–</a:t>
            </a:r>
          </a:p>
        </p:txBody>
      </p:sp>
      <p:sp>
        <p:nvSpPr>
          <p:cNvPr id="27" name="TextBox 26">
            <a:extLst>
              <a:ext uri="{FF2B5EF4-FFF2-40B4-BE49-F238E27FC236}">
                <a16:creationId xmlns:a16="http://schemas.microsoft.com/office/drawing/2014/main" id="{5AB8286B-158E-4ABA-9ED3-1699F9301BC8}"/>
              </a:ext>
            </a:extLst>
          </p:cNvPr>
          <p:cNvSpPr txBox="1"/>
          <p:nvPr/>
        </p:nvSpPr>
        <p:spPr>
          <a:xfrm>
            <a:off x="7803901" y="3197603"/>
            <a:ext cx="1222366" cy="584455"/>
          </a:xfrm>
          <a:prstGeom prst="rect">
            <a:avLst/>
          </a:prstGeom>
          <a:noFill/>
        </p:spPr>
        <p:txBody>
          <a:bodyPr wrap="square" rtlCol="0">
            <a:spAutoFit/>
          </a:bodyPr>
          <a:lstStyle/>
          <a:p>
            <a:pPr algn="ctr"/>
            <a:r>
              <a:rPr lang="en-US" sz="3198" dirty="0"/>
              <a:t>=</a:t>
            </a:r>
          </a:p>
        </p:txBody>
      </p:sp>
      <p:sp>
        <p:nvSpPr>
          <p:cNvPr id="28" name="TextBox 27">
            <a:extLst>
              <a:ext uri="{FF2B5EF4-FFF2-40B4-BE49-F238E27FC236}">
                <a16:creationId xmlns:a16="http://schemas.microsoft.com/office/drawing/2014/main" id="{440267A1-2B23-49FC-9572-F506BD120ABE}"/>
              </a:ext>
            </a:extLst>
          </p:cNvPr>
          <p:cNvSpPr txBox="1"/>
          <p:nvPr/>
        </p:nvSpPr>
        <p:spPr>
          <a:xfrm>
            <a:off x="8878951" y="2800189"/>
            <a:ext cx="3165734" cy="3579954"/>
          </a:xfrm>
          <a:prstGeom prst="rect">
            <a:avLst/>
          </a:prstGeom>
          <a:solidFill>
            <a:schemeClr val="tx2">
              <a:lumMod val="20000"/>
              <a:lumOff val="80000"/>
            </a:schemeClr>
          </a:solidFill>
        </p:spPr>
        <p:txBody>
          <a:bodyPr wrap="square" rtlCol="0">
            <a:spAutoFit/>
          </a:bodyPr>
          <a:lstStyle/>
          <a:p>
            <a:pPr algn="ctr"/>
            <a:r>
              <a:rPr lang="en-US" sz="3000" dirty="0"/>
              <a:t>Operating working capital or WC requirement (OWC or WCR)</a:t>
            </a:r>
          </a:p>
          <a:p>
            <a:pPr algn="ctr"/>
            <a:r>
              <a:rPr lang="en-US" sz="2666" dirty="0"/>
              <a:t>or working capital from operations </a:t>
            </a:r>
          </a:p>
          <a:p>
            <a:pPr algn="ctr"/>
            <a:r>
              <a:rPr lang="en-US" sz="2666" dirty="0"/>
              <a:t>or non-cash working capital </a:t>
            </a:r>
          </a:p>
        </p:txBody>
      </p:sp>
      <p:sp>
        <p:nvSpPr>
          <p:cNvPr id="2" name="TextBox 1">
            <a:extLst>
              <a:ext uri="{FF2B5EF4-FFF2-40B4-BE49-F238E27FC236}">
                <a16:creationId xmlns:a16="http://schemas.microsoft.com/office/drawing/2014/main" id="{5A28B44E-28B8-4642-83F0-F5037B18EAFB}"/>
              </a:ext>
            </a:extLst>
          </p:cNvPr>
          <p:cNvSpPr txBox="1"/>
          <p:nvPr/>
        </p:nvSpPr>
        <p:spPr>
          <a:xfrm>
            <a:off x="240077" y="5189538"/>
            <a:ext cx="8548816" cy="1527982"/>
          </a:xfrm>
          <a:prstGeom prst="rect">
            <a:avLst/>
          </a:prstGeom>
          <a:solidFill>
            <a:schemeClr val="bg1"/>
          </a:solidFill>
        </p:spPr>
        <p:txBody>
          <a:bodyPr wrap="square" rtlCol="0">
            <a:spAutoFit/>
          </a:bodyPr>
          <a:lstStyle/>
          <a:p>
            <a:r>
              <a:rPr lang="en-US" sz="1866" dirty="0"/>
              <a:t>Comment:</a:t>
            </a:r>
          </a:p>
          <a:p>
            <a:r>
              <a:rPr lang="en-US" sz="1866" dirty="0"/>
              <a:t>Under IFRS, accounts receivable and accounts payable are financial assets and financial liabilities but are operating assets and operating liabilities in this course and in financial analysis in general. The notion of “operating assets” and “operating liabilities” are not used under IFRS.</a:t>
            </a:r>
          </a:p>
        </p:txBody>
      </p:sp>
    </p:spTree>
    <p:extLst>
      <p:ext uri="{BB962C8B-B14F-4D97-AF65-F5344CB8AC3E}">
        <p14:creationId xmlns:p14="http://schemas.microsoft.com/office/powerpoint/2010/main" val="195584208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47434B-CE85-424E-8C21-8A6407D02230}"/>
              </a:ext>
            </a:extLst>
          </p:cNvPr>
          <p:cNvSpPr>
            <a:spLocks noGrp="1"/>
          </p:cNvSpPr>
          <p:nvPr>
            <p:ph type="title"/>
          </p:nvPr>
        </p:nvSpPr>
        <p:spPr/>
        <p:txBody>
          <a:bodyPr/>
          <a:lstStyle/>
          <a:p>
            <a:r>
              <a:rPr lang="en-US" dirty="0"/>
              <a:t>Financial analysis: example</a:t>
            </a:r>
          </a:p>
        </p:txBody>
      </p:sp>
      <p:sp>
        <p:nvSpPr>
          <p:cNvPr id="4" name="Subtitle 3">
            <a:extLst>
              <a:ext uri="{FF2B5EF4-FFF2-40B4-BE49-F238E27FC236}">
                <a16:creationId xmlns:a16="http://schemas.microsoft.com/office/drawing/2014/main" id="{BBE71373-15EE-417B-A99F-4B06F5A18896}"/>
              </a:ext>
            </a:extLst>
          </p:cNvPr>
          <p:cNvSpPr>
            <a:spLocks noGrp="1"/>
          </p:cNvSpPr>
          <p:nvPr>
            <p:ph idx="1"/>
          </p:nvPr>
        </p:nvSpPr>
        <p:spPr>
          <a:xfrm>
            <a:off x="724620" y="1064440"/>
            <a:ext cx="10829544" cy="470831"/>
          </a:xfrm>
        </p:spPr>
        <p:txBody>
          <a:bodyPr>
            <a:noAutofit/>
          </a:bodyPr>
          <a:lstStyle/>
          <a:p>
            <a:pPr marL="0" indent="0">
              <a:buNone/>
            </a:pPr>
            <a:r>
              <a:rPr lang="en-US" sz="2800" b="0" dirty="0"/>
              <a:t>Why the operating cash flow is different from profit?</a:t>
            </a:r>
          </a:p>
        </p:txBody>
      </p:sp>
      <p:sp>
        <p:nvSpPr>
          <p:cNvPr id="5" name="Slide Number Placeholder 4">
            <a:extLst>
              <a:ext uri="{FF2B5EF4-FFF2-40B4-BE49-F238E27FC236}">
                <a16:creationId xmlns:a16="http://schemas.microsoft.com/office/drawing/2014/main" id="{3DFC0698-BEF3-44F1-BD96-7A573398ED4E}"/>
              </a:ext>
            </a:extLst>
          </p:cNvPr>
          <p:cNvSpPr>
            <a:spLocks noGrp="1"/>
          </p:cNvSpPr>
          <p:nvPr>
            <p:ph type="sldNum" sz="quarter" idx="10"/>
          </p:nvPr>
        </p:nvSpPr>
        <p:spPr/>
        <p:txBody>
          <a:bodyPr/>
          <a:lstStyle/>
          <a:p>
            <a:fld id="{307C7597-8D70-4701-8085-9524B0B5C72B}" type="slidenum">
              <a:rPr lang="fr-FR" smtClean="0"/>
              <a:pPr/>
              <a:t>101</a:t>
            </a:fld>
            <a:endParaRPr lang="fr-FR" dirty="0"/>
          </a:p>
        </p:txBody>
      </p:sp>
      <p:sp>
        <p:nvSpPr>
          <p:cNvPr id="35" name="TextBox 34">
            <a:extLst>
              <a:ext uri="{FF2B5EF4-FFF2-40B4-BE49-F238E27FC236}">
                <a16:creationId xmlns:a16="http://schemas.microsoft.com/office/drawing/2014/main" id="{D9956592-1443-45B8-B466-050B254BCFFF}"/>
              </a:ext>
            </a:extLst>
          </p:cNvPr>
          <p:cNvSpPr txBox="1"/>
          <p:nvPr/>
        </p:nvSpPr>
        <p:spPr>
          <a:xfrm>
            <a:off x="24577" y="3144168"/>
            <a:ext cx="1448434" cy="584455"/>
          </a:xfrm>
          <a:prstGeom prst="rect">
            <a:avLst/>
          </a:prstGeom>
          <a:noFill/>
        </p:spPr>
        <p:txBody>
          <a:bodyPr wrap="square" rtlCol="0">
            <a:spAutoFit/>
          </a:bodyPr>
          <a:lstStyle/>
          <a:p>
            <a:pPr algn="ctr"/>
            <a:r>
              <a:rPr lang="en-US" sz="3198" b="1" dirty="0"/>
              <a:t>Cash</a:t>
            </a:r>
            <a:r>
              <a:rPr lang="en-US" sz="3198" dirty="0"/>
              <a:t> </a:t>
            </a:r>
          </a:p>
        </p:txBody>
      </p:sp>
      <p:grpSp>
        <p:nvGrpSpPr>
          <p:cNvPr id="6" name="Group 5">
            <a:extLst>
              <a:ext uri="{FF2B5EF4-FFF2-40B4-BE49-F238E27FC236}">
                <a16:creationId xmlns:a16="http://schemas.microsoft.com/office/drawing/2014/main" id="{BA3C1114-F301-4329-8F56-01394BB736F5}"/>
              </a:ext>
            </a:extLst>
          </p:cNvPr>
          <p:cNvGrpSpPr/>
          <p:nvPr/>
        </p:nvGrpSpPr>
        <p:grpSpPr>
          <a:xfrm>
            <a:off x="585823" y="1947545"/>
            <a:ext cx="11240377" cy="5211177"/>
            <a:chOff x="602097" y="1347614"/>
            <a:chExt cx="8434399" cy="3910290"/>
          </a:xfrm>
        </p:grpSpPr>
        <p:grpSp>
          <p:nvGrpSpPr>
            <p:cNvPr id="2" name="Group 1">
              <a:extLst>
                <a:ext uri="{FF2B5EF4-FFF2-40B4-BE49-F238E27FC236}">
                  <a16:creationId xmlns:a16="http://schemas.microsoft.com/office/drawing/2014/main" id="{0F92FE62-025E-410E-B45A-778998A6939C}"/>
                </a:ext>
              </a:extLst>
            </p:cNvPr>
            <p:cNvGrpSpPr/>
            <p:nvPr/>
          </p:nvGrpSpPr>
          <p:grpSpPr>
            <a:xfrm>
              <a:off x="602097" y="1347614"/>
              <a:ext cx="7642311" cy="3295255"/>
              <a:chOff x="602097" y="1347614"/>
              <a:chExt cx="7642311" cy="3295255"/>
            </a:xfrm>
          </p:grpSpPr>
          <p:sp>
            <p:nvSpPr>
              <p:cNvPr id="30" name="TextBox 29">
                <a:extLst>
                  <a:ext uri="{FF2B5EF4-FFF2-40B4-BE49-F238E27FC236}">
                    <a16:creationId xmlns:a16="http://schemas.microsoft.com/office/drawing/2014/main" id="{AC78F6CA-83D3-4A3C-903F-85A58EB6F801}"/>
                  </a:ext>
                </a:extLst>
              </p:cNvPr>
              <p:cNvSpPr txBox="1"/>
              <p:nvPr/>
            </p:nvSpPr>
            <p:spPr>
              <a:xfrm>
                <a:off x="611560" y="1347614"/>
                <a:ext cx="1440160" cy="807827"/>
              </a:xfrm>
              <a:prstGeom prst="rect">
                <a:avLst/>
              </a:prstGeom>
              <a:noFill/>
            </p:spPr>
            <p:txBody>
              <a:bodyPr wrap="square" rtlCol="0">
                <a:spAutoFit/>
              </a:bodyPr>
              <a:lstStyle/>
              <a:p>
                <a:pPr algn="ctr"/>
                <a:r>
                  <a:rPr lang="en-US" sz="3198" dirty="0"/>
                  <a:t>Assets (A)</a:t>
                </a:r>
              </a:p>
            </p:txBody>
          </p:sp>
          <p:sp>
            <p:nvSpPr>
              <p:cNvPr id="31" name="TextBox 30">
                <a:extLst>
                  <a:ext uri="{FF2B5EF4-FFF2-40B4-BE49-F238E27FC236}">
                    <a16:creationId xmlns:a16="http://schemas.microsoft.com/office/drawing/2014/main" id="{345BBDB7-551C-4FD1-9E05-D4E01BD129D2}"/>
                  </a:ext>
                </a:extLst>
              </p:cNvPr>
              <p:cNvSpPr txBox="1"/>
              <p:nvPr/>
            </p:nvSpPr>
            <p:spPr>
              <a:xfrm>
                <a:off x="2123728" y="1347614"/>
                <a:ext cx="1296144" cy="438555"/>
              </a:xfrm>
              <a:prstGeom prst="rect">
                <a:avLst/>
              </a:prstGeom>
              <a:noFill/>
            </p:spPr>
            <p:txBody>
              <a:bodyPr wrap="square" rtlCol="0">
                <a:spAutoFit/>
              </a:bodyPr>
              <a:lstStyle/>
              <a:p>
                <a:pPr algn="ctr"/>
                <a:r>
                  <a:rPr lang="en-US" sz="3198" dirty="0"/>
                  <a:t>=</a:t>
                </a:r>
              </a:p>
            </p:txBody>
          </p:sp>
          <p:sp>
            <p:nvSpPr>
              <p:cNvPr id="32" name="TextBox 31">
                <a:extLst>
                  <a:ext uri="{FF2B5EF4-FFF2-40B4-BE49-F238E27FC236}">
                    <a16:creationId xmlns:a16="http://schemas.microsoft.com/office/drawing/2014/main" id="{30C23491-18B2-4C8F-AFD9-723767A8D3B2}"/>
                  </a:ext>
                </a:extLst>
              </p:cNvPr>
              <p:cNvSpPr txBox="1"/>
              <p:nvPr/>
            </p:nvSpPr>
            <p:spPr>
              <a:xfrm>
                <a:off x="6804248" y="1347614"/>
                <a:ext cx="1440160" cy="807827"/>
              </a:xfrm>
              <a:prstGeom prst="rect">
                <a:avLst/>
              </a:prstGeom>
              <a:noFill/>
            </p:spPr>
            <p:txBody>
              <a:bodyPr wrap="square" rtlCol="0">
                <a:spAutoFit/>
              </a:bodyPr>
              <a:lstStyle/>
              <a:p>
                <a:pPr algn="ctr"/>
                <a:r>
                  <a:rPr lang="en-US" sz="3198" dirty="0"/>
                  <a:t>Equity (E)</a:t>
                </a:r>
              </a:p>
            </p:txBody>
          </p:sp>
          <p:sp>
            <p:nvSpPr>
              <p:cNvPr id="33" name="TextBox 32">
                <a:extLst>
                  <a:ext uri="{FF2B5EF4-FFF2-40B4-BE49-F238E27FC236}">
                    <a16:creationId xmlns:a16="http://schemas.microsoft.com/office/drawing/2014/main" id="{062619CC-50E0-47D3-80AE-3160B955727A}"/>
                  </a:ext>
                </a:extLst>
              </p:cNvPr>
              <p:cNvSpPr txBox="1"/>
              <p:nvPr/>
            </p:nvSpPr>
            <p:spPr>
              <a:xfrm>
                <a:off x="3491880" y="1347614"/>
                <a:ext cx="1800200" cy="807827"/>
              </a:xfrm>
              <a:prstGeom prst="rect">
                <a:avLst/>
              </a:prstGeom>
              <a:noFill/>
            </p:spPr>
            <p:txBody>
              <a:bodyPr wrap="square" rtlCol="0">
                <a:spAutoFit/>
              </a:bodyPr>
              <a:lstStyle/>
              <a:p>
                <a:pPr algn="ctr"/>
                <a:r>
                  <a:rPr lang="en-US" sz="3198" dirty="0"/>
                  <a:t>Liabilities (L)</a:t>
                </a:r>
              </a:p>
            </p:txBody>
          </p:sp>
          <p:sp>
            <p:nvSpPr>
              <p:cNvPr id="34" name="TextBox 33">
                <a:extLst>
                  <a:ext uri="{FF2B5EF4-FFF2-40B4-BE49-F238E27FC236}">
                    <a16:creationId xmlns:a16="http://schemas.microsoft.com/office/drawing/2014/main" id="{803551A3-093D-4CCE-8E41-AA70DE30A4E0}"/>
                  </a:ext>
                </a:extLst>
              </p:cNvPr>
              <p:cNvSpPr txBox="1"/>
              <p:nvPr/>
            </p:nvSpPr>
            <p:spPr>
              <a:xfrm>
                <a:off x="5364088" y="1347614"/>
                <a:ext cx="1296144" cy="438555"/>
              </a:xfrm>
              <a:prstGeom prst="rect">
                <a:avLst/>
              </a:prstGeom>
              <a:noFill/>
            </p:spPr>
            <p:txBody>
              <a:bodyPr wrap="square" rtlCol="0">
                <a:spAutoFit/>
              </a:bodyPr>
              <a:lstStyle/>
              <a:p>
                <a:pPr algn="ctr"/>
                <a:r>
                  <a:rPr lang="en-US" sz="3198" dirty="0"/>
                  <a:t>+</a:t>
                </a:r>
              </a:p>
            </p:txBody>
          </p:sp>
          <p:sp>
            <p:nvSpPr>
              <p:cNvPr id="36" name="Arrow: Down 35">
                <a:extLst>
                  <a:ext uri="{FF2B5EF4-FFF2-40B4-BE49-F238E27FC236}">
                    <a16:creationId xmlns:a16="http://schemas.microsoft.com/office/drawing/2014/main" id="{C3CFA168-3AAF-4FAC-BE8B-D3A08740B4D1}"/>
                  </a:ext>
                </a:extLst>
              </p:cNvPr>
              <p:cNvSpPr/>
              <p:nvPr/>
            </p:nvSpPr>
            <p:spPr>
              <a:xfrm rot="12735684">
                <a:off x="602097" y="1881287"/>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37" name="Arrow: Down 36">
                <a:extLst>
                  <a:ext uri="{FF2B5EF4-FFF2-40B4-BE49-F238E27FC236}">
                    <a16:creationId xmlns:a16="http://schemas.microsoft.com/office/drawing/2014/main" id="{BE0D13D2-6F13-406B-8598-1F7595BFBE5B}"/>
                  </a:ext>
                </a:extLst>
              </p:cNvPr>
              <p:cNvSpPr/>
              <p:nvPr/>
            </p:nvSpPr>
            <p:spPr>
              <a:xfrm rot="8684022">
                <a:off x="1648224" y="1862795"/>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38" name="TextBox 37">
                <a:extLst>
                  <a:ext uri="{FF2B5EF4-FFF2-40B4-BE49-F238E27FC236}">
                    <a16:creationId xmlns:a16="http://schemas.microsoft.com/office/drawing/2014/main" id="{EB6F801B-0102-4DF3-8757-D3AF7C06B4C0}"/>
                  </a:ext>
                </a:extLst>
              </p:cNvPr>
              <p:cNvSpPr txBox="1"/>
              <p:nvPr/>
            </p:nvSpPr>
            <p:spPr>
              <a:xfrm>
                <a:off x="1403648" y="2211710"/>
                <a:ext cx="1584176" cy="2408421"/>
              </a:xfrm>
              <a:prstGeom prst="rect">
                <a:avLst/>
              </a:prstGeom>
              <a:noFill/>
            </p:spPr>
            <p:txBody>
              <a:bodyPr wrap="square" rtlCol="0">
                <a:spAutoFit/>
              </a:bodyPr>
              <a:lstStyle/>
              <a:p>
                <a:pPr algn="ctr"/>
                <a:r>
                  <a:rPr lang="en-US" sz="3198" dirty="0"/>
                  <a:t>Operating Assets (OA) </a:t>
                </a:r>
                <a:r>
                  <a:rPr lang="en-US" sz="2666" dirty="0"/>
                  <a:t>(means related to operating activity)</a:t>
                </a:r>
                <a:endParaRPr lang="en-US" sz="3198" dirty="0"/>
              </a:p>
            </p:txBody>
          </p:sp>
          <p:sp>
            <p:nvSpPr>
              <p:cNvPr id="41" name="Arrow: Down 40">
                <a:extLst>
                  <a:ext uri="{FF2B5EF4-FFF2-40B4-BE49-F238E27FC236}">
                    <a16:creationId xmlns:a16="http://schemas.microsoft.com/office/drawing/2014/main" id="{A6FCE143-FDA1-40C0-A725-EE97E4790F4D}"/>
                  </a:ext>
                </a:extLst>
              </p:cNvPr>
              <p:cNvSpPr/>
              <p:nvPr/>
            </p:nvSpPr>
            <p:spPr>
              <a:xfrm rot="8684022">
                <a:off x="4572000" y="1905726"/>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42" name="TextBox 41">
                <a:extLst>
                  <a:ext uri="{FF2B5EF4-FFF2-40B4-BE49-F238E27FC236}">
                    <a16:creationId xmlns:a16="http://schemas.microsoft.com/office/drawing/2014/main" id="{881D0817-0C46-415D-9195-B2C356F2A7C0}"/>
                  </a:ext>
                </a:extLst>
              </p:cNvPr>
              <p:cNvSpPr txBox="1"/>
              <p:nvPr/>
            </p:nvSpPr>
            <p:spPr>
              <a:xfrm>
                <a:off x="4499992" y="2234448"/>
                <a:ext cx="1584176" cy="2408421"/>
              </a:xfrm>
              <a:prstGeom prst="rect">
                <a:avLst/>
              </a:prstGeom>
              <a:noFill/>
            </p:spPr>
            <p:txBody>
              <a:bodyPr wrap="square" rtlCol="0">
                <a:spAutoFit/>
              </a:bodyPr>
              <a:lstStyle/>
              <a:p>
                <a:pPr algn="ctr"/>
                <a:r>
                  <a:rPr lang="en-US" sz="3198" dirty="0"/>
                  <a:t>Operating liabilities (OL) </a:t>
                </a:r>
                <a:r>
                  <a:rPr lang="en-US" sz="2666" dirty="0"/>
                  <a:t>(means related to operating activity)</a:t>
                </a:r>
                <a:endParaRPr lang="en-US" sz="3198" dirty="0"/>
              </a:p>
            </p:txBody>
          </p:sp>
          <p:sp>
            <p:nvSpPr>
              <p:cNvPr id="47" name="Arrow: Down 46">
                <a:extLst>
                  <a:ext uri="{FF2B5EF4-FFF2-40B4-BE49-F238E27FC236}">
                    <a16:creationId xmlns:a16="http://schemas.microsoft.com/office/drawing/2014/main" id="{1B8D7DF0-ED20-4FCC-A700-24D242EDF002}"/>
                  </a:ext>
                </a:extLst>
              </p:cNvPr>
              <p:cNvSpPr/>
              <p:nvPr/>
            </p:nvSpPr>
            <p:spPr>
              <a:xfrm rot="8684022">
                <a:off x="7596336" y="1905726"/>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grpSp>
        <p:sp>
          <p:nvSpPr>
            <p:cNvPr id="48" name="TextBox 47">
              <a:extLst>
                <a:ext uri="{FF2B5EF4-FFF2-40B4-BE49-F238E27FC236}">
                  <a16:creationId xmlns:a16="http://schemas.microsoft.com/office/drawing/2014/main" id="{998A2DC4-511C-4E8C-A9D1-8957A0F3F96D}"/>
                </a:ext>
              </a:extLst>
            </p:cNvPr>
            <p:cNvSpPr txBox="1"/>
            <p:nvPr/>
          </p:nvSpPr>
          <p:spPr>
            <a:xfrm>
              <a:off x="6516216" y="2234448"/>
              <a:ext cx="2520280" cy="3023456"/>
            </a:xfrm>
            <a:prstGeom prst="rect">
              <a:avLst/>
            </a:prstGeom>
            <a:noFill/>
          </p:spPr>
          <p:txBody>
            <a:bodyPr wrap="square" rtlCol="0">
              <a:spAutoFit/>
            </a:bodyPr>
            <a:lstStyle/>
            <a:p>
              <a:pPr algn="ctr"/>
              <a:r>
                <a:rPr lang="en-US" sz="3198" dirty="0"/>
                <a:t>Retained earnings </a:t>
              </a:r>
            </a:p>
            <a:p>
              <a:pPr algn="ctr"/>
              <a:r>
                <a:rPr lang="en-US" sz="3198" dirty="0"/>
                <a:t>(accumulated </a:t>
              </a:r>
              <a:r>
                <a:rPr lang="en-US" sz="3198" b="1" dirty="0"/>
                <a:t>Net</a:t>
              </a:r>
              <a:r>
                <a:rPr lang="en-US" sz="3198" dirty="0"/>
                <a:t> </a:t>
              </a:r>
              <a:r>
                <a:rPr lang="en-US" sz="3198" b="1" dirty="0"/>
                <a:t>Profits</a:t>
              </a:r>
              <a:r>
                <a:rPr lang="en-US" sz="3198" dirty="0"/>
                <a:t> from P&amp;L – accumulated Dividends)</a:t>
              </a:r>
              <a:endParaRPr lang="en-US" sz="2399" dirty="0"/>
            </a:p>
            <a:p>
              <a:pPr algn="ctr"/>
              <a:endParaRPr lang="en-US" sz="3198" dirty="0"/>
            </a:p>
          </p:txBody>
        </p:sp>
      </p:grpSp>
    </p:spTree>
    <p:extLst>
      <p:ext uri="{BB962C8B-B14F-4D97-AF65-F5344CB8AC3E}">
        <p14:creationId xmlns:p14="http://schemas.microsoft.com/office/powerpoint/2010/main" val="128872502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2EB9F2C-4C68-4606-A554-AAD3CA101C7E}"/>
              </a:ext>
            </a:extLst>
          </p:cNvPr>
          <p:cNvSpPr>
            <a:spLocks noGrp="1"/>
          </p:cNvSpPr>
          <p:nvPr>
            <p:ph type="title"/>
          </p:nvPr>
        </p:nvSpPr>
        <p:spPr/>
        <p:txBody>
          <a:bodyPr/>
          <a:lstStyle/>
          <a:p>
            <a:r>
              <a:rPr lang="en-US" dirty="0"/>
              <a:t>MCQ n°2</a:t>
            </a:r>
          </a:p>
        </p:txBody>
      </p:sp>
      <p:sp>
        <p:nvSpPr>
          <p:cNvPr id="2" name="Content Placeholder 1">
            <a:extLst>
              <a:ext uri="{FF2B5EF4-FFF2-40B4-BE49-F238E27FC236}">
                <a16:creationId xmlns:a16="http://schemas.microsoft.com/office/drawing/2014/main" id="{3817F736-43BB-4C9C-9852-914B9C397244}"/>
              </a:ext>
            </a:extLst>
          </p:cNvPr>
          <p:cNvSpPr>
            <a:spLocks noGrp="1"/>
          </p:cNvSpPr>
          <p:nvPr>
            <p:ph idx="1"/>
          </p:nvPr>
        </p:nvSpPr>
        <p:spPr/>
        <p:txBody>
          <a:bodyPr>
            <a:normAutofit/>
          </a:bodyPr>
          <a:lstStyle/>
          <a:p>
            <a:pPr marL="0" indent="0">
              <a:buNone/>
            </a:pPr>
            <a:r>
              <a:rPr lang="en-US" b="0" i="1" dirty="0"/>
              <a:t>SOFT Enterprises </a:t>
            </a:r>
            <a:r>
              <a:rPr lang="en-US" b="0" dirty="0"/>
              <a:t>starts its activity in January and </a:t>
            </a:r>
            <a:r>
              <a:rPr lang="fr-FR" b="0" dirty="0"/>
              <a:t>earns (i.e. has a profit of) RMB 600,000 during </a:t>
            </a:r>
            <a:r>
              <a:rPr lang="fr-FR" b="0" dirty="0" err="1"/>
              <a:t>this</a:t>
            </a:r>
            <a:r>
              <a:rPr lang="fr-FR" b="0" dirty="0"/>
              <a:t> </a:t>
            </a:r>
            <a:r>
              <a:rPr lang="fr-FR" b="0" dirty="0" err="1"/>
              <a:t>month</a:t>
            </a:r>
            <a:r>
              <a:rPr lang="fr-FR" b="0" dirty="0"/>
              <a:t> </a:t>
            </a:r>
            <a:r>
              <a:rPr lang="fr-FR" b="0" dirty="0" err="1"/>
              <a:t>thanks</a:t>
            </a:r>
            <a:r>
              <a:rPr lang="fr-FR" b="0" dirty="0"/>
              <a:t> to the sale of 50,000 </a:t>
            </a:r>
            <a:r>
              <a:rPr lang="fr-FR" b="0" dirty="0" err="1"/>
              <a:t>products</a:t>
            </a:r>
            <a:r>
              <a:rPr lang="fr-FR" b="0" dirty="0"/>
              <a:t> at a </a:t>
            </a:r>
            <a:r>
              <a:rPr lang="fr-FR" b="0" dirty="0" err="1"/>
              <a:t>selling</a:t>
            </a:r>
            <a:r>
              <a:rPr lang="fr-FR" b="0" dirty="0"/>
              <a:t> </a:t>
            </a:r>
            <a:r>
              <a:rPr lang="fr-FR" b="0" dirty="0" err="1"/>
              <a:t>price</a:t>
            </a:r>
            <a:r>
              <a:rPr lang="fr-FR" b="0" dirty="0"/>
              <a:t> of RMB 100 and a unit cost (or expense) of  RMB 88. 60% of </a:t>
            </a:r>
            <a:r>
              <a:rPr lang="fr-FR" b="0" dirty="0" err="1"/>
              <a:t>expenses</a:t>
            </a:r>
            <a:r>
              <a:rPr lang="fr-FR" b="0" dirty="0"/>
              <a:t> are cash </a:t>
            </a:r>
            <a:r>
              <a:rPr lang="fr-FR" b="0" dirty="0" err="1"/>
              <a:t>paid</a:t>
            </a:r>
            <a:r>
              <a:rPr lang="fr-FR" b="0" dirty="0"/>
              <a:t> and the </a:t>
            </a:r>
            <a:r>
              <a:rPr lang="fr-FR" b="0" dirty="0" err="1"/>
              <a:t>rest</a:t>
            </a:r>
            <a:r>
              <a:rPr lang="fr-FR" b="0" dirty="0"/>
              <a:t> </a:t>
            </a:r>
            <a:r>
              <a:rPr lang="fr-FR" b="0" dirty="0" err="1"/>
              <a:t>is</a:t>
            </a:r>
            <a:r>
              <a:rPr lang="fr-FR" b="0" dirty="0"/>
              <a:t> </a:t>
            </a:r>
            <a:r>
              <a:rPr lang="fr-FR" b="0" dirty="0" err="1"/>
              <a:t>paid</a:t>
            </a:r>
            <a:r>
              <a:rPr lang="fr-FR" b="0" dirty="0"/>
              <a:t> later. All the revenue from sale of </a:t>
            </a:r>
            <a:r>
              <a:rPr lang="fr-FR" b="0" dirty="0" err="1"/>
              <a:t>products</a:t>
            </a:r>
            <a:r>
              <a:rPr lang="fr-FR" b="0" dirty="0"/>
              <a:t> </a:t>
            </a:r>
            <a:r>
              <a:rPr lang="fr-FR" b="0" dirty="0" err="1"/>
              <a:t>is</a:t>
            </a:r>
            <a:r>
              <a:rPr lang="fr-FR" b="0" dirty="0"/>
              <a:t> </a:t>
            </a:r>
            <a:r>
              <a:rPr lang="fr-FR" b="0" dirty="0" err="1"/>
              <a:t>collected</a:t>
            </a:r>
            <a:r>
              <a:rPr lang="fr-FR" b="0" dirty="0"/>
              <a:t> in </a:t>
            </a:r>
            <a:r>
              <a:rPr lang="fr-FR" b="0" dirty="0" err="1"/>
              <a:t>January</a:t>
            </a:r>
            <a:r>
              <a:rPr lang="fr-FR" b="0" dirty="0"/>
              <a:t> (</a:t>
            </a:r>
            <a:r>
              <a:rPr lang="fr-FR" b="0" dirty="0" err="1"/>
              <a:t>means</a:t>
            </a:r>
            <a:r>
              <a:rPr lang="fr-FR" b="0" dirty="0"/>
              <a:t> </a:t>
            </a:r>
            <a:r>
              <a:rPr lang="fr-FR" b="0" dirty="0" err="1"/>
              <a:t>represents</a:t>
            </a:r>
            <a:r>
              <a:rPr lang="fr-FR" b="0" dirty="0"/>
              <a:t> a cash </a:t>
            </a:r>
            <a:r>
              <a:rPr lang="fr-FR" b="0" dirty="0" err="1"/>
              <a:t>inflow</a:t>
            </a:r>
            <a:r>
              <a:rPr lang="fr-FR" b="0" dirty="0"/>
              <a:t>). During </a:t>
            </a:r>
            <a:r>
              <a:rPr lang="fr-FR" b="0" dirty="0" err="1"/>
              <a:t>this</a:t>
            </a:r>
            <a:r>
              <a:rPr lang="fr-FR" b="0" dirty="0"/>
              <a:t> </a:t>
            </a:r>
            <a:r>
              <a:rPr lang="fr-FR" b="0" dirty="0" err="1"/>
              <a:t>period</a:t>
            </a:r>
            <a:r>
              <a:rPr lang="fr-FR" b="0" dirty="0"/>
              <a:t>, </a:t>
            </a:r>
            <a:r>
              <a:rPr lang="fr-FR" b="0" i="1" dirty="0"/>
              <a:t>SOFT Entreprises </a:t>
            </a:r>
            <a:r>
              <a:rPr lang="fr-FR" b="0" dirty="0" err="1"/>
              <a:t>increases</a:t>
            </a:r>
            <a:r>
              <a:rPr lang="fr-FR" b="0" dirty="0"/>
              <a:t> </a:t>
            </a:r>
            <a:r>
              <a:rPr lang="fr-FR" b="0" dirty="0" err="1"/>
              <a:t>its</a:t>
            </a:r>
            <a:r>
              <a:rPr lang="fr-FR" b="0" dirty="0"/>
              <a:t> inventories by RMB 80,000 (which are cash </a:t>
            </a:r>
            <a:r>
              <a:rPr lang="fr-FR" b="0" dirty="0" err="1"/>
              <a:t>paid</a:t>
            </a:r>
            <a:r>
              <a:rPr lang="fr-FR" b="0" dirty="0"/>
              <a:t>). What </a:t>
            </a:r>
            <a:r>
              <a:rPr lang="fr-FR" b="0" dirty="0" err="1"/>
              <a:t>is</a:t>
            </a:r>
            <a:r>
              <a:rPr lang="fr-FR" b="0" dirty="0"/>
              <a:t> the operating cash flow in </a:t>
            </a:r>
            <a:r>
              <a:rPr lang="fr-FR" b="0" dirty="0" err="1"/>
              <a:t>January</a:t>
            </a:r>
            <a:r>
              <a:rPr lang="fr-FR" b="0" dirty="0"/>
              <a:t>?</a:t>
            </a:r>
          </a:p>
          <a:p>
            <a:pPr marL="0" indent="0">
              <a:buNone/>
            </a:pPr>
            <a:endParaRPr lang="en-US" dirty="0"/>
          </a:p>
        </p:txBody>
      </p:sp>
      <p:sp>
        <p:nvSpPr>
          <p:cNvPr id="5" name="Slide Number Placeholder 4">
            <a:extLst>
              <a:ext uri="{FF2B5EF4-FFF2-40B4-BE49-F238E27FC236}">
                <a16:creationId xmlns:a16="http://schemas.microsoft.com/office/drawing/2014/main" id="{69D7ACB9-3FEE-418D-97C5-9100F0D50C18}"/>
              </a:ext>
            </a:extLst>
          </p:cNvPr>
          <p:cNvSpPr>
            <a:spLocks noGrp="1"/>
          </p:cNvSpPr>
          <p:nvPr>
            <p:ph type="sldNum" sz="quarter" idx="10"/>
          </p:nvPr>
        </p:nvSpPr>
        <p:spPr/>
        <p:txBody>
          <a:bodyPr/>
          <a:lstStyle/>
          <a:p>
            <a:fld id="{307C7597-8D70-4701-8085-9524B0B5C72B}" type="slidenum">
              <a:rPr lang="fr-FR" smtClean="0"/>
              <a:pPr/>
              <a:t>102</a:t>
            </a:fld>
            <a:endParaRPr lang="fr-FR" dirty="0"/>
          </a:p>
        </p:txBody>
      </p:sp>
      <p:sp>
        <p:nvSpPr>
          <p:cNvPr id="4" name="Subtitle 3">
            <a:extLst>
              <a:ext uri="{FF2B5EF4-FFF2-40B4-BE49-F238E27FC236}">
                <a16:creationId xmlns:a16="http://schemas.microsoft.com/office/drawing/2014/main" id="{AD7FB0E6-3890-4786-B287-433411273E5D}"/>
              </a:ext>
            </a:extLst>
          </p:cNvPr>
          <p:cNvSpPr>
            <a:spLocks noGrp="1"/>
          </p:cNvSpPr>
          <p:nvPr>
            <p:ph type="subTitle" idx="4294967295"/>
          </p:nvPr>
        </p:nvSpPr>
        <p:spPr>
          <a:xfrm>
            <a:off x="705612" y="915829"/>
            <a:ext cx="11276012" cy="481012"/>
          </a:xfrm>
        </p:spPr>
        <p:txBody>
          <a:bodyPr>
            <a:normAutofit/>
          </a:bodyPr>
          <a:lstStyle/>
          <a:p>
            <a:pPr marL="0" indent="0">
              <a:buNone/>
            </a:pPr>
            <a:r>
              <a:rPr lang="en-US" b="0" dirty="0"/>
              <a:t>Cash flow versus profit: working capital requirement (WCR) in the between</a:t>
            </a:r>
          </a:p>
        </p:txBody>
      </p:sp>
      <p:sp>
        <p:nvSpPr>
          <p:cNvPr id="6" name="TextBox 5">
            <a:extLst>
              <a:ext uri="{FF2B5EF4-FFF2-40B4-BE49-F238E27FC236}">
                <a16:creationId xmlns:a16="http://schemas.microsoft.com/office/drawing/2014/main" id="{3F6D2714-D000-48D6-9152-3A089146A936}"/>
              </a:ext>
            </a:extLst>
          </p:cNvPr>
          <p:cNvSpPr txBox="1"/>
          <p:nvPr/>
        </p:nvSpPr>
        <p:spPr>
          <a:xfrm>
            <a:off x="530100" y="4448226"/>
            <a:ext cx="3166806" cy="912814"/>
          </a:xfrm>
          <a:prstGeom prst="rect">
            <a:avLst/>
          </a:prstGeom>
          <a:noFill/>
        </p:spPr>
        <p:txBody>
          <a:bodyPr wrap="square" rtlCol="0">
            <a:spAutoFit/>
          </a:bodyPr>
          <a:lstStyle/>
          <a:p>
            <a:r>
              <a:rPr lang="en-US" sz="2666" dirty="0"/>
              <a:t>1. RMB 280,000</a:t>
            </a:r>
          </a:p>
          <a:p>
            <a:r>
              <a:rPr lang="en-US" sz="2666" dirty="0"/>
              <a:t>3. RMB 2,280,000</a:t>
            </a:r>
          </a:p>
        </p:txBody>
      </p:sp>
      <p:sp>
        <p:nvSpPr>
          <p:cNvPr id="7" name="TextBox 6">
            <a:extLst>
              <a:ext uri="{FF2B5EF4-FFF2-40B4-BE49-F238E27FC236}">
                <a16:creationId xmlns:a16="http://schemas.microsoft.com/office/drawing/2014/main" id="{C645022F-33F9-4FB4-B470-20ADB0E007D1}"/>
              </a:ext>
            </a:extLst>
          </p:cNvPr>
          <p:cNvSpPr txBox="1"/>
          <p:nvPr/>
        </p:nvSpPr>
        <p:spPr>
          <a:xfrm>
            <a:off x="4080760" y="4484603"/>
            <a:ext cx="3166806" cy="912814"/>
          </a:xfrm>
          <a:prstGeom prst="rect">
            <a:avLst/>
          </a:prstGeom>
          <a:noFill/>
        </p:spPr>
        <p:txBody>
          <a:bodyPr wrap="square" rtlCol="0">
            <a:spAutoFit/>
          </a:bodyPr>
          <a:lstStyle/>
          <a:p>
            <a:r>
              <a:rPr lang="en-US" sz="2666" dirty="0"/>
              <a:t>2. RMB 520,000</a:t>
            </a:r>
          </a:p>
          <a:p>
            <a:r>
              <a:rPr lang="en-US" sz="2666" dirty="0"/>
              <a:t>4. RMB 2,360,000</a:t>
            </a:r>
          </a:p>
        </p:txBody>
      </p:sp>
    </p:spTree>
    <p:extLst>
      <p:ext uri="{BB962C8B-B14F-4D97-AF65-F5344CB8AC3E}">
        <p14:creationId xmlns:p14="http://schemas.microsoft.com/office/powerpoint/2010/main" val="236457485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47434B-CE85-424E-8C21-8A6407D02230}"/>
              </a:ext>
            </a:extLst>
          </p:cNvPr>
          <p:cNvSpPr>
            <a:spLocks noGrp="1"/>
          </p:cNvSpPr>
          <p:nvPr>
            <p:ph type="title"/>
          </p:nvPr>
        </p:nvSpPr>
        <p:spPr/>
        <p:txBody>
          <a:bodyPr/>
          <a:lstStyle/>
          <a:p>
            <a:r>
              <a:rPr lang="en-US" dirty="0"/>
              <a:t>MCQ n°2</a:t>
            </a:r>
          </a:p>
        </p:txBody>
      </p:sp>
      <p:sp>
        <p:nvSpPr>
          <p:cNvPr id="5" name="Slide Number Placeholder 4">
            <a:extLst>
              <a:ext uri="{FF2B5EF4-FFF2-40B4-BE49-F238E27FC236}">
                <a16:creationId xmlns:a16="http://schemas.microsoft.com/office/drawing/2014/main" id="{3DFC0698-BEF3-44F1-BD96-7A573398ED4E}"/>
              </a:ext>
            </a:extLst>
          </p:cNvPr>
          <p:cNvSpPr>
            <a:spLocks noGrp="1"/>
          </p:cNvSpPr>
          <p:nvPr>
            <p:ph type="sldNum" sz="quarter" idx="10"/>
          </p:nvPr>
        </p:nvSpPr>
        <p:spPr/>
        <p:txBody>
          <a:bodyPr/>
          <a:lstStyle/>
          <a:p>
            <a:fld id="{307C7597-8D70-4701-8085-9524B0B5C72B}" type="slidenum">
              <a:rPr lang="fr-FR" smtClean="0"/>
              <a:pPr/>
              <a:t>103</a:t>
            </a:fld>
            <a:endParaRPr lang="fr-FR" dirty="0"/>
          </a:p>
        </p:txBody>
      </p:sp>
      <p:sp>
        <p:nvSpPr>
          <p:cNvPr id="30" name="TextBox 29">
            <a:extLst>
              <a:ext uri="{FF2B5EF4-FFF2-40B4-BE49-F238E27FC236}">
                <a16:creationId xmlns:a16="http://schemas.microsoft.com/office/drawing/2014/main" id="{AC78F6CA-83D3-4A3C-903F-85A58EB6F801}"/>
              </a:ext>
            </a:extLst>
          </p:cNvPr>
          <p:cNvSpPr txBox="1"/>
          <p:nvPr/>
        </p:nvSpPr>
        <p:spPr>
          <a:xfrm>
            <a:off x="817990" y="1797617"/>
            <a:ext cx="2294155" cy="1076577"/>
          </a:xfrm>
          <a:prstGeom prst="rect">
            <a:avLst/>
          </a:prstGeom>
          <a:noFill/>
        </p:spPr>
        <p:txBody>
          <a:bodyPr wrap="square" rtlCol="0">
            <a:spAutoFit/>
          </a:bodyPr>
          <a:lstStyle/>
          <a:p>
            <a:pPr algn="ctr"/>
            <a:r>
              <a:rPr lang="en-US" sz="3198" dirty="0"/>
              <a:t>∆ Assets (A)</a:t>
            </a:r>
          </a:p>
        </p:txBody>
      </p:sp>
      <p:sp>
        <p:nvSpPr>
          <p:cNvPr id="31" name="TextBox 30">
            <a:extLst>
              <a:ext uri="{FF2B5EF4-FFF2-40B4-BE49-F238E27FC236}">
                <a16:creationId xmlns:a16="http://schemas.microsoft.com/office/drawing/2014/main" id="{345BBDB7-551C-4FD1-9E05-D4E01BD129D2}"/>
              </a:ext>
            </a:extLst>
          </p:cNvPr>
          <p:cNvSpPr txBox="1"/>
          <p:nvPr/>
        </p:nvSpPr>
        <p:spPr>
          <a:xfrm>
            <a:off x="2833231" y="1797616"/>
            <a:ext cx="1727349" cy="584455"/>
          </a:xfrm>
          <a:prstGeom prst="rect">
            <a:avLst/>
          </a:prstGeom>
          <a:noFill/>
        </p:spPr>
        <p:txBody>
          <a:bodyPr wrap="square" rtlCol="0">
            <a:spAutoFit/>
          </a:bodyPr>
          <a:lstStyle/>
          <a:p>
            <a:pPr algn="ctr"/>
            <a:r>
              <a:rPr lang="en-US" sz="3198" dirty="0"/>
              <a:t>=</a:t>
            </a:r>
          </a:p>
        </p:txBody>
      </p:sp>
      <p:sp>
        <p:nvSpPr>
          <p:cNvPr id="32" name="TextBox 31">
            <a:extLst>
              <a:ext uri="{FF2B5EF4-FFF2-40B4-BE49-F238E27FC236}">
                <a16:creationId xmlns:a16="http://schemas.microsoft.com/office/drawing/2014/main" id="{30C23491-18B2-4C8F-AFD9-723767A8D3B2}"/>
              </a:ext>
            </a:extLst>
          </p:cNvPr>
          <p:cNvSpPr txBox="1"/>
          <p:nvPr/>
        </p:nvSpPr>
        <p:spPr>
          <a:xfrm>
            <a:off x="8782987" y="1797617"/>
            <a:ext cx="2207168" cy="1076577"/>
          </a:xfrm>
          <a:prstGeom prst="rect">
            <a:avLst/>
          </a:prstGeom>
          <a:noFill/>
        </p:spPr>
        <p:txBody>
          <a:bodyPr wrap="square" rtlCol="0">
            <a:spAutoFit/>
          </a:bodyPr>
          <a:lstStyle/>
          <a:p>
            <a:pPr algn="ctr"/>
            <a:r>
              <a:rPr lang="en-US" sz="3198" dirty="0"/>
              <a:t>∆ Equity (E)</a:t>
            </a:r>
          </a:p>
        </p:txBody>
      </p:sp>
      <p:sp>
        <p:nvSpPr>
          <p:cNvPr id="33" name="TextBox 32">
            <a:extLst>
              <a:ext uri="{FF2B5EF4-FFF2-40B4-BE49-F238E27FC236}">
                <a16:creationId xmlns:a16="http://schemas.microsoft.com/office/drawing/2014/main" id="{062619CC-50E0-47D3-80AE-3160B955727A}"/>
              </a:ext>
            </a:extLst>
          </p:cNvPr>
          <p:cNvSpPr txBox="1"/>
          <p:nvPr/>
        </p:nvSpPr>
        <p:spPr>
          <a:xfrm>
            <a:off x="4656543" y="1797617"/>
            <a:ext cx="2782951" cy="1076577"/>
          </a:xfrm>
          <a:prstGeom prst="rect">
            <a:avLst/>
          </a:prstGeom>
          <a:noFill/>
        </p:spPr>
        <p:txBody>
          <a:bodyPr wrap="square" rtlCol="0">
            <a:spAutoFit/>
          </a:bodyPr>
          <a:lstStyle/>
          <a:p>
            <a:pPr algn="ctr"/>
            <a:r>
              <a:rPr lang="en-US" sz="3198" dirty="0"/>
              <a:t>∆ Liabilities (L)</a:t>
            </a:r>
          </a:p>
        </p:txBody>
      </p:sp>
      <p:sp>
        <p:nvSpPr>
          <p:cNvPr id="34" name="TextBox 33">
            <a:extLst>
              <a:ext uri="{FF2B5EF4-FFF2-40B4-BE49-F238E27FC236}">
                <a16:creationId xmlns:a16="http://schemas.microsoft.com/office/drawing/2014/main" id="{803551A3-093D-4CCE-8E41-AA70DE30A4E0}"/>
              </a:ext>
            </a:extLst>
          </p:cNvPr>
          <p:cNvSpPr txBox="1"/>
          <p:nvPr/>
        </p:nvSpPr>
        <p:spPr>
          <a:xfrm>
            <a:off x="7151602" y="1797616"/>
            <a:ext cx="1727349" cy="584455"/>
          </a:xfrm>
          <a:prstGeom prst="rect">
            <a:avLst/>
          </a:prstGeom>
          <a:noFill/>
        </p:spPr>
        <p:txBody>
          <a:bodyPr wrap="square" rtlCol="0">
            <a:spAutoFit/>
          </a:bodyPr>
          <a:lstStyle/>
          <a:p>
            <a:pPr algn="ctr"/>
            <a:r>
              <a:rPr lang="en-US" sz="3198" dirty="0"/>
              <a:t>+</a:t>
            </a:r>
          </a:p>
        </p:txBody>
      </p:sp>
      <p:sp>
        <p:nvSpPr>
          <p:cNvPr id="35" name="TextBox 34">
            <a:extLst>
              <a:ext uri="{FF2B5EF4-FFF2-40B4-BE49-F238E27FC236}">
                <a16:creationId xmlns:a16="http://schemas.microsoft.com/office/drawing/2014/main" id="{D9956592-1443-45B8-B466-050B254BCFFF}"/>
              </a:ext>
            </a:extLst>
          </p:cNvPr>
          <p:cNvSpPr txBox="1"/>
          <p:nvPr/>
        </p:nvSpPr>
        <p:spPr>
          <a:xfrm>
            <a:off x="-5235" y="2949183"/>
            <a:ext cx="1791309" cy="584455"/>
          </a:xfrm>
          <a:prstGeom prst="rect">
            <a:avLst/>
          </a:prstGeom>
          <a:noFill/>
        </p:spPr>
        <p:txBody>
          <a:bodyPr wrap="square" rtlCol="0">
            <a:spAutoFit/>
          </a:bodyPr>
          <a:lstStyle/>
          <a:p>
            <a:pPr algn="ctr"/>
            <a:r>
              <a:rPr lang="en-US" sz="3198" b="1" dirty="0"/>
              <a:t>∆ Cash </a:t>
            </a:r>
          </a:p>
        </p:txBody>
      </p:sp>
      <p:sp>
        <p:nvSpPr>
          <p:cNvPr id="36" name="Arrow: Down 35">
            <a:extLst>
              <a:ext uri="{FF2B5EF4-FFF2-40B4-BE49-F238E27FC236}">
                <a16:creationId xmlns:a16="http://schemas.microsoft.com/office/drawing/2014/main" id="{C3CFA168-3AAF-4FAC-BE8B-D3A08740B4D1}"/>
              </a:ext>
            </a:extLst>
          </p:cNvPr>
          <p:cNvSpPr/>
          <p:nvPr/>
        </p:nvSpPr>
        <p:spPr>
          <a:xfrm rot="12735684">
            <a:off x="805380" y="2508832"/>
            <a:ext cx="383855" cy="423326"/>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37" name="Arrow: Down 36">
            <a:extLst>
              <a:ext uri="{FF2B5EF4-FFF2-40B4-BE49-F238E27FC236}">
                <a16:creationId xmlns:a16="http://schemas.microsoft.com/office/drawing/2014/main" id="{BE0D13D2-6F13-406B-8598-1F7595BFBE5B}"/>
              </a:ext>
            </a:extLst>
          </p:cNvPr>
          <p:cNvSpPr/>
          <p:nvPr/>
        </p:nvSpPr>
        <p:spPr>
          <a:xfrm rot="8684022">
            <a:off x="2475647" y="2437639"/>
            <a:ext cx="383855" cy="497757"/>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38" name="TextBox 37">
            <a:extLst>
              <a:ext uri="{FF2B5EF4-FFF2-40B4-BE49-F238E27FC236}">
                <a16:creationId xmlns:a16="http://schemas.microsoft.com/office/drawing/2014/main" id="{EB6F801B-0102-4DF3-8757-D3AF7C06B4C0}"/>
              </a:ext>
            </a:extLst>
          </p:cNvPr>
          <p:cNvSpPr txBox="1"/>
          <p:nvPr/>
        </p:nvSpPr>
        <p:spPr>
          <a:xfrm>
            <a:off x="1873592" y="2949181"/>
            <a:ext cx="2946295" cy="1568699"/>
          </a:xfrm>
          <a:prstGeom prst="rect">
            <a:avLst/>
          </a:prstGeom>
          <a:noFill/>
        </p:spPr>
        <p:txBody>
          <a:bodyPr wrap="square" rtlCol="0">
            <a:spAutoFit/>
          </a:bodyPr>
          <a:lstStyle/>
          <a:p>
            <a:pPr algn="ctr"/>
            <a:r>
              <a:rPr lang="en-US" sz="3198" dirty="0"/>
              <a:t>∆ Operating Assets (OA)</a:t>
            </a:r>
          </a:p>
          <a:p>
            <a:pPr algn="ctr"/>
            <a:r>
              <a:rPr lang="en-US" sz="3198" b="1" dirty="0"/>
              <a:t>∆ Inventories</a:t>
            </a:r>
          </a:p>
        </p:txBody>
      </p:sp>
      <p:sp>
        <p:nvSpPr>
          <p:cNvPr id="41" name="Arrow: Down 40">
            <a:extLst>
              <a:ext uri="{FF2B5EF4-FFF2-40B4-BE49-F238E27FC236}">
                <a16:creationId xmlns:a16="http://schemas.microsoft.com/office/drawing/2014/main" id="{A6FCE143-FDA1-40C0-A725-EE97E4790F4D}"/>
              </a:ext>
            </a:extLst>
          </p:cNvPr>
          <p:cNvSpPr/>
          <p:nvPr/>
        </p:nvSpPr>
        <p:spPr>
          <a:xfrm rot="8684022">
            <a:off x="6387554" y="2541402"/>
            <a:ext cx="383855" cy="423326"/>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42" name="TextBox 41">
            <a:extLst>
              <a:ext uri="{FF2B5EF4-FFF2-40B4-BE49-F238E27FC236}">
                <a16:creationId xmlns:a16="http://schemas.microsoft.com/office/drawing/2014/main" id="{881D0817-0C46-415D-9195-B2C356F2A7C0}"/>
              </a:ext>
            </a:extLst>
          </p:cNvPr>
          <p:cNvSpPr txBox="1"/>
          <p:nvPr/>
        </p:nvSpPr>
        <p:spPr>
          <a:xfrm>
            <a:off x="4848471" y="2979484"/>
            <a:ext cx="3934516" cy="3045064"/>
          </a:xfrm>
          <a:prstGeom prst="rect">
            <a:avLst/>
          </a:prstGeom>
          <a:noFill/>
        </p:spPr>
        <p:txBody>
          <a:bodyPr wrap="square" rtlCol="0">
            <a:spAutoFit/>
          </a:bodyPr>
          <a:lstStyle/>
          <a:p>
            <a:pPr algn="ctr"/>
            <a:r>
              <a:rPr lang="en-US" sz="3198" dirty="0"/>
              <a:t>∆ Operating liabilities (OL) </a:t>
            </a:r>
            <a:endParaRPr lang="en-US" sz="2666" dirty="0"/>
          </a:p>
          <a:p>
            <a:pPr algn="ctr"/>
            <a:r>
              <a:rPr lang="en-US" sz="3198" b="1" dirty="0"/>
              <a:t>∆ Accounts payable</a:t>
            </a:r>
          </a:p>
          <a:p>
            <a:pPr algn="ctr"/>
            <a:r>
              <a:rPr lang="en-US" sz="3198" b="1" dirty="0"/>
              <a:t>+ ∆ Accrued expenses</a:t>
            </a:r>
          </a:p>
        </p:txBody>
      </p:sp>
      <p:sp>
        <p:nvSpPr>
          <p:cNvPr id="47" name="Arrow: Down 46">
            <a:extLst>
              <a:ext uri="{FF2B5EF4-FFF2-40B4-BE49-F238E27FC236}">
                <a16:creationId xmlns:a16="http://schemas.microsoft.com/office/drawing/2014/main" id="{1B8D7DF0-ED20-4FCC-A700-24D242EDF002}"/>
              </a:ext>
            </a:extLst>
          </p:cNvPr>
          <p:cNvSpPr/>
          <p:nvPr/>
        </p:nvSpPr>
        <p:spPr>
          <a:xfrm rot="8684022">
            <a:off x="10236239" y="2541403"/>
            <a:ext cx="383855" cy="423326"/>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48" name="TextBox 47">
            <a:extLst>
              <a:ext uri="{FF2B5EF4-FFF2-40B4-BE49-F238E27FC236}">
                <a16:creationId xmlns:a16="http://schemas.microsoft.com/office/drawing/2014/main" id="{998A2DC4-511C-4E8C-A9D1-8957A0F3F96D}"/>
              </a:ext>
            </a:extLst>
          </p:cNvPr>
          <p:cNvSpPr txBox="1"/>
          <p:nvPr/>
        </p:nvSpPr>
        <p:spPr>
          <a:xfrm>
            <a:off x="9454733" y="2979484"/>
            <a:ext cx="2686987" cy="2060821"/>
          </a:xfrm>
          <a:prstGeom prst="rect">
            <a:avLst/>
          </a:prstGeom>
          <a:noFill/>
        </p:spPr>
        <p:txBody>
          <a:bodyPr wrap="square" rtlCol="0">
            <a:spAutoFit/>
          </a:bodyPr>
          <a:lstStyle/>
          <a:p>
            <a:pPr algn="ctr"/>
            <a:r>
              <a:rPr lang="en-US" sz="3198" b="1" dirty="0"/>
              <a:t>Net income</a:t>
            </a:r>
          </a:p>
          <a:p>
            <a:pPr algn="ctr"/>
            <a:r>
              <a:rPr lang="en-US" sz="3198" dirty="0"/>
              <a:t>(is a change in equity)</a:t>
            </a:r>
            <a:endParaRPr lang="en-US" sz="2399" dirty="0"/>
          </a:p>
          <a:p>
            <a:pPr algn="ctr"/>
            <a:endParaRPr lang="en-US" sz="3198" dirty="0"/>
          </a:p>
        </p:txBody>
      </p:sp>
      <p:sp>
        <p:nvSpPr>
          <p:cNvPr id="2" name="Rectangle 1">
            <a:extLst>
              <a:ext uri="{FF2B5EF4-FFF2-40B4-BE49-F238E27FC236}">
                <a16:creationId xmlns:a16="http://schemas.microsoft.com/office/drawing/2014/main" id="{F09814F3-BBA7-4EC3-B52E-F8ECE3E4B5F4}"/>
              </a:ext>
            </a:extLst>
          </p:cNvPr>
          <p:cNvSpPr/>
          <p:nvPr/>
        </p:nvSpPr>
        <p:spPr>
          <a:xfrm>
            <a:off x="519727" y="5387785"/>
            <a:ext cx="3009157" cy="461537"/>
          </a:xfrm>
          <a:prstGeom prst="rect">
            <a:avLst/>
          </a:prstGeom>
        </p:spPr>
        <p:txBody>
          <a:bodyPr wrap="none">
            <a:spAutoFit/>
          </a:bodyPr>
          <a:lstStyle/>
          <a:p>
            <a:r>
              <a:rPr lang="en-US" sz="2399" dirty="0"/>
              <a:t>∆ means “change in”</a:t>
            </a:r>
          </a:p>
        </p:txBody>
      </p:sp>
      <p:sp>
        <p:nvSpPr>
          <p:cNvPr id="8" name="Subtitle 3">
            <a:extLst>
              <a:ext uri="{FF2B5EF4-FFF2-40B4-BE49-F238E27FC236}">
                <a16:creationId xmlns:a16="http://schemas.microsoft.com/office/drawing/2014/main" id="{B894AB91-0E30-EA9E-19DC-03D04B37F031}"/>
              </a:ext>
            </a:extLst>
          </p:cNvPr>
          <p:cNvSpPr txBox="1">
            <a:spLocks/>
          </p:cNvSpPr>
          <p:nvPr/>
        </p:nvSpPr>
        <p:spPr>
          <a:xfrm>
            <a:off x="705612" y="915829"/>
            <a:ext cx="11276012" cy="4810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b="1" kern="1200">
                <a:solidFill>
                  <a:schemeClr val="tx1"/>
                </a:solidFill>
                <a:latin typeface="Arial Nova"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i="1" kern="1200">
                <a:solidFill>
                  <a:schemeClr val="tx1"/>
                </a:solidFill>
                <a:latin typeface="Arial Nova Cond" panose="020B0506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i="1" kern="1200">
                <a:solidFill>
                  <a:srgbClr val="22398E"/>
                </a:solidFill>
                <a:latin typeface="Arial Nova Cond" panose="020B0506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0" dirty="0"/>
              <a:t>Cash flow versus profit: working capital requirement (WCR) in the between</a:t>
            </a:r>
          </a:p>
        </p:txBody>
      </p:sp>
    </p:spTree>
    <p:extLst>
      <p:ext uri="{BB962C8B-B14F-4D97-AF65-F5344CB8AC3E}">
        <p14:creationId xmlns:p14="http://schemas.microsoft.com/office/powerpoint/2010/main" val="410072229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47434B-CE85-424E-8C21-8A6407D02230}"/>
              </a:ext>
            </a:extLst>
          </p:cNvPr>
          <p:cNvSpPr>
            <a:spLocks noGrp="1"/>
          </p:cNvSpPr>
          <p:nvPr>
            <p:ph type="title"/>
          </p:nvPr>
        </p:nvSpPr>
        <p:spPr/>
        <p:txBody>
          <a:bodyPr/>
          <a:lstStyle/>
          <a:p>
            <a:r>
              <a:rPr lang="en-US" dirty="0"/>
              <a:t>MCQ n°2</a:t>
            </a:r>
          </a:p>
        </p:txBody>
      </p:sp>
      <p:sp>
        <p:nvSpPr>
          <p:cNvPr id="5" name="Slide Number Placeholder 4">
            <a:extLst>
              <a:ext uri="{FF2B5EF4-FFF2-40B4-BE49-F238E27FC236}">
                <a16:creationId xmlns:a16="http://schemas.microsoft.com/office/drawing/2014/main" id="{3DFC0698-BEF3-44F1-BD96-7A573398ED4E}"/>
              </a:ext>
            </a:extLst>
          </p:cNvPr>
          <p:cNvSpPr>
            <a:spLocks noGrp="1"/>
          </p:cNvSpPr>
          <p:nvPr>
            <p:ph type="sldNum" sz="quarter" idx="10"/>
          </p:nvPr>
        </p:nvSpPr>
        <p:spPr/>
        <p:txBody>
          <a:bodyPr/>
          <a:lstStyle/>
          <a:p>
            <a:fld id="{307C7597-8D70-4701-8085-9524B0B5C72B}" type="slidenum">
              <a:rPr lang="fr-FR" smtClean="0"/>
              <a:pPr/>
              <a:t>104</a:t>
            </a:fld>
            <a:endParaRPr lang="fr-FR" dirty="0"/>
          </a:p>
        </p:txBody>
      </p:sp>
      <p:sp>
        <p:nvSpPr>
          <p:cNvPr id="30" name="TextBox 29">
            <a:extLst>
              <a:ext uri="{FF2B5EF4-FFF2-40B4-BE49-F238E27FC236}">
                <a16:creationId xmlns:a16="http://schemas.microsoft.com/office/drawing/2014/main" id="{AC78F6CA-83D3-4A3C-903F-85A58EB6F801}"/>
              </a:ext>
            </a:extLst>
          </p:cNvPr>
          <p:cNvSpPr txBox="1"/>
          <p:nvPr/>
        </p:nvSpPr>
        <p:spPr>
          <a:xfrm>
            <a:off x="729212" y="1504652"/>
            <a:ext cx="2294155" cy="1076577"/>
          </a:xfrm>
          <a:prstGeom prst="rect">
            <a:avLst/>
          </a:prstGeom>
          <a:noFill/>
        </p:spPr>
        <p:txBody>
          <a:bodyPr wrap="square" rtlCol="0">
            <a:spAutoFit/>
          </a:bodyPr>
          <a:lstStyle/>
          <a:p>
            <a:pPr algn="ctr"/>
            <a:r>
              <a:rPr lang="en-US" sz="3198" dirty="0"/>
              <a:t>∆ Assets (A)</a:t>
            </a:r>
          </a:p>
        </p:txBody>
      </p:sp>
      <p:sp>
        <p:nvSpPr>
          <p:cNvPr id="31" name="TextBox 30">
            <a:extLst>
              <a:ext uri="{FF2B5EF4-FFF2-40B4-BE49-F238E27FC236}">
                <a16:creationId xmlns:a16="http://schemas.microsoft.com/office/drawing/2014/main" id="{345BBDB7-551C-4FD1-9E05-D4E01BD129D2}"/>
              </a:ext>
            </a:extLst>
          </p:cNvPr>
          <p:cNvSpPr txBox="1"/>
          <p:nvPr/>
        </p:nvSpPr>
        <p:spPr>
          <a:xfrm>
            <a:off x="2744453" y="1504651"/>
            <a:ext cx="1727349" cy="584455"/>
          </a:xfrm>
          <a:prstGeom prst="rect">
            <a:avLst/>
          </a:prstGeom>
          <a:noFill/>
        </p:spPr>
        <p:txBody>
          <a:bodyPr wrap="square" rtlCol="0">
            <a:spAutoFit/>
          </a:bodyPr>
          <a:lstStyle/>
          <a:p>
            <a:pPr algn="ctr"/>
            <a:r>
              <a:rPr lang="en-US" sz="3198" dirty="0"/>
              <a:t>=</a:t>
            </a:r>
          </a:p>
        </p:txBody>
      </p:sp>
      <p:sp>
        <p:nvSpPr>
          <p:cNvPr id="32" name="TextBox 31">
            <a:extLst>
              <a:ext uri="{FF2B5EF4-FFF2-40B4-BE49-F238E27FC236}">
                <a16:creationId xmlns:a16="http://schemas.microsoft.com/office/drawing/2014/main" id="{30C23491-18B2-4C8F-AFD9-723767A8D3B2}"/>
              </a:ext>
            </a:extLst>
          </p:cNvPr>
          <p:cNvSpPr txBox="1"/>
          <p:nvPr/>
        </p:nvSpPr>
        <p:spPr>
          <a:xfrm>
            <a:off x="8694209" y="1504652"/>
            <a:ext cx="2207168" cy="1076577"/>
          </a:xfrm>
          <a:prstGeom prst="rect">
            <a:avLst/>
          </a:prstGeom>
          <a:noFill/>
        </p:spPr>
        <p:txBody>
          <a:bodyPr wrap="square" rtlCol="0">
            <a:spAutoFit/>
          </a:bodyPr>
          <a:lstStyle/>
          <a:p>
            <a:pPr algn="ctr"/>
            <a:r>
              <a:rPr lang="en-US" sz="3198" dirty="0"/>
              <a:t>∆ Equity (E)</a:t>
            </a:r>
          </a:p>
        </p:txBody>
      </p:sp>
      <p:sp>
        <p:nvSpPr>
          <p:cNvPr id="33" name="TextBox 32">
            <a:extLst>
              <a:ext uri="{FF2B5EF4-FFF2-40B4-BE49-F238E27FC236}">
                <a16:creationId xmlns:a16="http://schemas.microsoft.com/office/drawing/2014/main" id="{062619CC-50E0-47D3-80AE-3160B955727A}"/>
              </a:ext>
            </a:extLst>
          </p:cNvPr>
          <p:cNvSpPr txBox="1"/>
          <p:nvPr/>
        </p:nvSpPr>
        <p:spPr>
          <a:xfrm>
            <a:off x="4567765" y="1504652"/>
            <a:ext cx="2782951" cy="1076577"/>
          </a:xfrm>
          <a:prstGeom prst="rect">
            <a:avLst/>
          </a:prstGeom>
          <a:noFill/>
        </p:spPr>
        <p:txBody>
          <a:bodyPr wrap="square" rtlCol="0">
            <a:spAutoFit/>
          </a:bodyPr>
          <a:lstStyle/>
          <a:p>
            <a:pPr algn="ctr"/>
            <a:r>
              <a:rPr lang="en-US" sz="3198" dirty="0"/>
              <a:t>∆ Liabilities (L)</a:t>
            </a:r>
          </a:p>
        </p:txBody>
      </p:sp>
      <p:sp>
        <p:nvSpPr>
          <p:cNvPr id="34" name="TextBox 33">
            <a:extLst>
              <a:ext uri="{FF2B5EF4-FFF2-40B4-BE49-F238E27FC236}">
                <a16:creationId xmlns:a16="http://schemas.microsoft.com/office/drawing/2014/main" id="{803551A3-093D-4CCE-8E41-AA70DE30A4E0}"/>
              </a:ext>
            </a:extLst>
          </p:cNvPr>
          <p:cNvSpPr txBox="1"/>
          <p:nvPr/>
        </p:nvSpPr>
        <p:spPr>
          <a:xfrm>
            <a:off x="7062824" y="1504651"/>
            <a:ext cx="1727349" cy="584455"/>
          </a:xfrm>
          <a:prstGeom prst="rect">
            <a:avLst/>
          </a:prstGeom>
          <a:noFill/>
        </p:spPr>
        <p:txBody>
          <a:bodyPr wrap="square" rtlCol="0">
            <a:spAutoFit/>
          </a:bodyPr>
          <a:lstStyle/>
          <a:p>
            <a:pPr algn="ctr"/>
            <a:r>
              <a:rPr lang="en-US" sz="3198" dirty="0"/>
              <a:t>+</a:t>
            </a:r>
          </a:p>
        </p:txBody>
      </p:sp>
      <p:sp>
        <p:nvSpPr>
          <p:cNvPr id="35" name="TextBox 34">
            <a:extLst>
              <a:ext uri="{FF2B5EF4-FFF2-40B4-BE49-F238E27FC236}">
                <a16:creationId xmlns:a16="http://schemas.microsoft.com/office/drawing/2014/main" id="{D9956592-1443-45B8-B466-050B254BCFFF}"/>
              </a:ext>
            </a:extLst>
          </p:cNvPr>
          <p:cNvSpPr txBox="1"/>
          <p:nvPr/>
        </p:nvSpPr>
        <p:spPr>
          <a:xfrm>
            <a:off x="-5235" y="2949182"/>
            <a:ext cx="1748933" cy="1076577"/>
          </a:xfrm>
          <a:prstGeom prst="rect">
            <a:avLst/>
          </a:prstGeom>
          <a:noFill/>
        </p:spPr>
        <p:txBody>
          <a:bodyPr wrap="square" rtlCol="0">
            <a:spAutoFit/>
          </a:bodyPr>
          <a:lstStyle/>
          <a:p>
            <a:pPr algn="ctr"/>
            <a:r>
              <a:rPr lang="en-US" sz="3198" dirty="0"/>
              <a:t>∆ Cash</a:t>
            </a:r>
          </a:p>
          <a:p>
            <a:pPr algn="ctr"/>
            <a:r>
              <a:rPr lang="en-US" sz="3198" b="1" dirty="0"/>
              <a:t>?</a:t>
            </a:r>
            <a:r>
              <a:rPr lang="en-US" sz="3198" dirty="0"/>
              <a:t> </a:t>
            </a:r>
          </a:p>
        </p:txBody>
      </p:sp>
      <p:sp>
        <p:nvSpPr>
          <p:cNvPr id="36" name="Arrow: Down 35">
            <a:extLst>
              <a:ext uri="{FF2B5EF4-FFF2-40B4-BE49-F238E27FC236}">
                <a16:creationId xmlns:a16="http://schemas.microsoft.com/office/drawing/2014/main" id="{C3CFA168-3AAF-4FAC-BE8B-D3A08740B4D1}"/>
              </a:ext>
            </a:extLst>
          </p:cNvPr>
          <p:cNvSpPr/>
          <p:nvPr/>
        </p:nvSpPr>
        <p:spPr>
          <a:xfrm rot="12735684">
            <a:off x="805380" y="2508832"/>
            <a:ext cx="383855" cy="423326"/>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37" name="Arrow: Down 36">
            <a:extLst>
              <a:ext uri="{FF2B5EF4-FFF2-40B4-BE49-F238E27FC236}">
                <a16:creationId xmlns:a16="http://schemas.microsoft.com/office/drawing/2014/main" id="{BE0D13D2-6F13-406B-8598-1F7595BFBE5B}"/>
              </a:ext>
            </a:extLst>
          </p:cNvPr>
          <p:cNvSpPr/>
          <p:nvPr/>
        </p:nvSpPr>
        <p:spPr>
          <a:xfrm rot="8684022">
            <a:off x="2259158" y="2484188"/>
            <a:ext cx="383855" cy="423326"/>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38" name="TextBox 37">
            <a:extLst>
              <a:ext uri="{FF2B5EF4-FFF2-40B4-BE49-F238E27FC236}">
                <a16:creationId xmlns:a16="http://schemas.microsoft.com/office/drawing/2014/main" id="{EB6F801B-0102-4DF3-8757-D3AF7C06B4C0}"/>
              </a:ext>
            </a:extLst>
          </p:cNvPr>
          <p:cNvSpPr txBox="1"/>
          <p:nvPr/>
        </p:nvSpPr>
        <p:spPr>
          <a:xfrm>
            <a:off x="1873592" y="2949181"/>
            <a:ext cx="2946295" cy="2060821"/>
          </a:xfrm>
          <a:prstGeom prst="rect">
            <a:avLst/>
          </a:prstGeom>
          <a:noFill/>
        </p:spPr>
        <p:txBody>
          <a:bodyPr wrap="square" rtlCol="0">
            <a:spAutoFit/>
          </a:bodyPr>
          <a:lstStyle/>
          <a:p>
            <a:pPr algn="ctr"/>
            <a:r>
              <a:rPr lang="en-US" sz="3198" dirty="0"/>
              <a:t>∆ Operating Assets (OA)</a:t>
            </a:r>
          </a:p>
          <a:p>
            <a:pPr algn="ctr"/>
            <a:r>
              <a:rPr lang="en-US" sz="3198" b="1" dirty="0"/>
              <a:t>∆ Inventories </a:t>
            </a:r>
          </a:p>
          <a:p>
            <a:pPr algn="ctr"/>
            <a:r>
              <a:rPr lang="en-US" sz="3198" b="1" dirty="0"/>
              <a:t>= + 80,000</a:t>
            </a:r>
          </a:p>
        </p:txBody>
      </p:sp>
      <p:sp>
        <p:nvSpPr>
          <p:cNvPr id="41" name="Arrow: Down 40">
            <a:extLst>
              <a:ext uri="{FF2B5EF4-FFF2-40B4-BE49-F238E27FC236}">
                <a16:creationId xmlns:a16="http://schemas.microsoft.com/office/drawing/2014/main" id="{A6FCE143-FDA1-40C0-A725-EE97E4790F4D}"/>
              </a:ext>
            </a:extLst>
          </p:cNvPr>
          <p:cNvSpPr/>
          <p:nvPr/>
        </p:nvSpPr>
        <p:spPr>
          <a:xfrm rot="8684022">
            <a:off x="6096000" y="2541402"/>
            <a:ext cx="383855" cy="423326"/>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42" name="TextBox 41">
            <a:extLst>
              <a:ext uri="{FF2B5EF4-FFF2-40B4-BE49-F238E27FC236}">
                <a16:creationId xmlns:a16="http://schemas.microsoft.com/office/drawing/2014/main" id="{881D0817-0C46-415D-9195-B2C356F2A7C0}"/>
              </a:ext>
            </a:extLst>
          </p:cNvPr>
          <p:cNvSpPr txBox="1"/>
          <p:nvPr/>
        </p:nvSpPr>
        <p:spPr>
          <a:xfrm>
            <a:off x="4848471" y="2979484"/>
            <a:ext cx="4206752" cy="4029308"/>
          </a:xfrm>
          <a:prstGeom prst="rect">
            <a:avLst/>
          </a:prstGeom>
          <a:noFill/>
        </p:spPr>
        <p:txBody>
          <a:bodyPr wrap="square" rtlCol="0">
            <a:spAutoFit/>
          </a:bodyPr>
          <a:lstStyle/>
          <a:p>
            <a:pPr algn="ctr"/>
            <a:r>
              <a:rPr lang="en-US" sz="3198" dirty="0"/>
              <a:t>∆ Operating liabilities (OL) </a:t>
            </a:r>
            <a:endParaRPr lang="en-US" sz="2666" dirty="0"/>
          </a:p>
          <a:p>
            <a:pPr algn="ctr"/>
            <a:r>
              <a:rPr lang="en-US" sz="3198" b="1" dirty="0"/>
              <a:t>∆ Accounts payable</a:t>
            </a:r>
          </a:p>
          <a:p>
            <a:pPr algn="ctr"/>
            <a:r>
              <a:rPr lang="en-US" sz="3198" b="1" dirty="0"/>
              <a:t>+ ∆ Accrued expenses </a:t>
            </a:r>
          </a:p>
          <a:p>
            <a:pPr algn="ctr"/>
            <a:r>
              <a:rPr lang="en-US" sz="3198" b="1" dirty="0"/>
              <a:t>= 40% x 88 x 50,000 </a:t>
            </a:r>
          </a:p>
          <a:p>
            <a:pPr algn="ctr"/>
            <a:r>
              <a:rPr lang="en-US" sz="3198" b="1" dirty="0"/>
              <a:t>= 1,760,000</a:t>
            </a:r>
          </a:p>
          <a:p>
            <a:pPr algn="ctr"/>
            <a:endParaRPr lang="en-US" sz="3198" dirty="0"/>
          </a:p>
        </p:txBody>
      </p:sp>
      <p:sp>
        <p:nvSpPr>
          <p:cNvPr id="47" name="Arrow: Down 46">
            <a:extLst>
              <a:ext uri="{FF2B5EF4-FFF2-40B4-BE49-F238E27FC236}">
                <a16:creationId xmlns:a16="http://schemas.microsoft.com/office/drawing/2014/main" id="{1B8D7DF0-ED20-4FCC-A700-24D242EDF002}"/>
              </a:ext>
            </a:extLst>
          </p:cNvPr>
          <p:cNvSpPr/>
          <p:nvPr/>
        </p:nvSpPr>
        <p:spPr>
          <a:xfrm rot="8684022">
            <a:off x="10126480" y="2541402"/>
            <a:ext cx="383855" cy="423326"/>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48" name="TextBox 47">
            <a:extLst>
              <a:ext uri="{FF2B5EF4-FFF2-40B4-BE49-F238E27FC236}">
                <a16:creationId xmlns:a16="http://schemas.microsoft.com/office/drawing/2014/main" id="{998A2DC4-511C-4E8C-A9D1-8957A0F3F96D}"/>
              </a:ext>
            </a:extLst>
          </p:cNvPr>
          <p:cNvSpPr txBox="1"/>
          <p:nvPr/>
        </p:nvSpPr>
        <p:spPr>
          <a:xfrm>
            <a:off x="9454733" y="2979484"/>
            <a:ext cx="2686987" cy="1076577"/>
          </a:xfrm>
          <a:prstGeom prst="rect">
            <a:avLst/>
          </a:prstGeom>
          <a:noFill/>
        </p:spPr>
        <p:txBody>
          <a:bodyPr wrap="square" rtlCol="0">
            <a:spAutoFit/>
          </a:bodyPr>
          <a:lstStyle/>
          <a:p>
            <a:pPr algn="ctr"/>
            <a:r>
              <a:rPr lang="en-US" sz="3198" dirty="0"/>
              <a:t>Net income</a:t>
            </a:r>
          </a:p>
          <a:p>
            <a:pPr algn="ctr"/>
            <a:r>
              <a:rPr lang="en-US" sz="3198" dirty="0"/>
              <a:t>= </a:t>
            </a:r>
            <a:r>
              <a:rPr lang="en-US" sz="3198" b="1" dirty="0"/>
              <a:t>600,000</a:t>
            </a:r>
          </a:p>
        </p:txBody>
      </p:sp>
      <p:sp>
        <p:nvSpPr>
          <p:cNvPr id="2" name="Subtitle 3">
            <a:extLst>
              <a:ext uri="{FF2B5EF4-FFF2-40B4-BE49-F238E27FC236}">
                <a16:creationId xmlns:a16="http://schemas.microsoft.com/office/drawing/2014/main" id="{B58B30E4-BE8C-3F1E-7291-5356F8D59037}"/>
              </a:ext>
            </a:extLst>
          </p:cNvPr>
          <p:cNvSpPr txBox="1">
            <a:spLocks/>
          </p:cNvSpPr>
          <p:nvPr/>
        </p:nvSpPr>
        <p:spPr>
          <a:xfrm>
            <a:off x="705612" y="915829"/>
            <a:ext cx="11276012" cy="4810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b="1" kern="1200">
                <a:solidFill>
                  <a:schemeClr val="tx1"/>
                </a:solidFill>
                <a:latin typeface="Arial Nova"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i="1" kern="1200">
                <a:solidFill>
                  <a:schemeClr val="tx1"/>
                </a:solidFill>
                <a:latin typeface="Arial Nova Cond" panose="020B0506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i="1" kern="1200">
                <a:solidFill>
                  <a:srgbClr val="22398E"/>
                </a:solidFill>
                <a:latin typeface="Arial Nova Cond" panose="020B0506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0" dirty="0"/>
              <a:t>Cash flow versus profit: working capital requirement (WCR) in the between</a:t>
            </a:r>
          </a:p>
        </p:txBody>
      </p:sp>
    </p:spTree>
    <p:extLst>
      <p:ext uri="{BB962C8B-B14F-4D97-AF65-F5344CB8AC3E}">
        <p14:creationId xmlns:p14="http://schemas.microsoft.com/office/powerpoint/2010/main" val="223984657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47434B-CE85-424E-8C21-8A6407D02230}"/>
              </a:ext>
            </a:extLst>
          </p:cNvPr>
          <p:cNvSpPr>
            <a:spLocks noGrp="1"/>
          </p:cNvSpPr>
          <p:nvPr>
            <p:ph type="title"/>
          </p:nvPr>
        </p:nvSpPr>
        <p:spPr/>
        <p:txBody>
          <a:bodyPr/>
          <a:lstStyle/>
          <a:p>
            <a:r>
              <a:rPr lang="en-US" dirty="0"/>
              <a:t>MCQ n°2</a:t>
            </a:r>
          </a:p>
        </p:txBody>
      </p:sp>
      <p:sp>
        <p:nvSpPr>
          <p:cNvPr id="5" name="Slide Number Placeholder 4">
            <a:extLst>
              <a:ext uri="{FF2B5EF4-FFF2-40B4-BE49-F238E27FC236}">
                <a16:creationId xmlns:a16="http://schemas.microsoft.com/office/drawing/2014/main" id="{3DFC0698-BEF3-44F1-BD96-7A573398ED4E}"/>
              </a:ext>
            </a:extLst>
          </p:cNvPr>
          <p:cNvSpPr>
            <a:spLocks noGrp="1"/>
          </p:cNvSpPr>
          <p:nvPr>
            <p:ph type="sldNum" sz="quarter" idx="10"/>
          </p:nvPr>
        </p:nvSpPr>
        <p:spPr/>
        <p:txBody>
          <a:bodyPr/>
          <a:lstStyle/>
          <a:p>
            <a:fld id="{307C7597-8D70-4701-8085-9524B0B5C72B}" type="slidenum">
              <a:rPr lang="fr-FR" smtClean="0"/>
              <a:pPr/>
              <a:t>105</a:t>
            </a:fld>
            <a:endParaRPr lang="fr-FR" dirty="0"/>
          </a:p>
        </p:txBody>
      </p:sp>
      <p:sp>
        <p:nvSpPr>
          <p:cNvPr id="30" name="TextBox 29">
            <a:extLst>
              <a:ext uri="{FF2B5EF4-FFF2-40B4-BE49-F238E27FC236}">
                <a16:creationId xmlns:a16="http://schemas.microsoft.com/office/drawing/2014/main" id="{AC78F6CA-83D3-4A3C-903F-85A58EB6F801}"/>
              </a:ext>
            </a:extLst>
          </p:cNvPr>
          <p:cNvSpPr txBox="1"/>
          <p:nvPr/>
        </p:nvSpPr>
        <p:spPr>
          <a:xfrm>
            <a:off x="542781" y="1797617"/>
            <a:ext cx="2294155" cy="1076577"/>
          </a:xfrm>
          <a:prstGeom prst="rect">
            <a:avLst/>
          </a:prstGeom>
          <a:noFill/>
        </p:spPr>
        <p:txBody>
          <a:bodyPr wrap="square" rtlCol="0">
            <a:spAutoFit/>
          </a:bodyPr>
          <a:lstStyle/>
          <a:p>
            <a:pPr algn="ctr"/>
            <a:r>
              <a:rPr lang="en-US" sz="3198" dirty="0"/>
              <a:t>∆ Assets (A)</a:t>
            </a:r>
          </a:p>
        </p:txBody>
      </p:sp>
      <p:sp>
        <p:nvSpPr>
          <p:cNvPr id="31" name="TextBox 30">
            <a:extLst>
              <a:ext uri="{FF2B5EF4-FFF2-40B4-BE49-F238E27FC236}">
                <a16:creationId xmlns:a16="http://schemas.microsoft.com/office/drawing/2014/main" id="{345BBDB7-551C-4FD1-9E05-D4E01BD129D2}"/>
              </a:ext>
            </a:extLst>
          </p:cNvPr>
          <p:cNvSpPr txBox="1"/>
          <p:nvPr/>
        </p:nvSpPr>
        <p:spPr>
          <a:xfrm>
            <a:off x="4058775" y="1797616"/>
            <a:ext cx="1523587" cy="584455"/>
          </a:xfrm>
          <a:prstGeom prst="rect">
            <a:avLst/>
          </a:prstGeom>
          <a:noFill/>
        </p:spPr>
        <p:txBody>
          <a:bodyPr wrap="square" rtlCol="0">
            <a:spAutoFit/>
          </a:bodyPr>
          <a:lstStyle/>
          <a:p>
            <a:pPr algn="ctr"/>
            <a:r>
              <a:rPr lang="en-US" sz="3198" dirty="0"/>
              <a:t>=</a:t>
            </a:r>
          </a:p>
        </p:txBody>
      </p:sp>
      <p:sp>
        <p:nvSpPr>
          <p:cNvPr id="32" name="TextBox 31">
            <a:extLst>
              <a:ext uri="{FF2B5EF4-FFF2-40B4-BE49-F238E27FC236}">
                <a16:creationId xmlns:a16="http://schemas.microsoft.com/office/drawing/2014/main" id="{30C23491-18B2-4C8F-AFD9-723767A8D3B2}"/>
              </a:ext>
            </a:extLst>
          </p:cNvPr>
          <p:cNvSpPr txBox="1"/>
          <p:nvPr/>
        </p:nvSpPr>
        <p:spPr>
          <a:xfrm>
            <a:off x="9528712" y="1797617"/>
            <a:ext cx="2207168" cy="1076577"/>
          </a:xfrm>
          <a:prstGeom prst="rect">
            <a:avLst/>
          </a:prstGeom>
          <a:noFill/>
        </p:spPr>
        <p:txBody>
          <a:bodyPr wrap="square" rtlCol="0">
            <a:spAutoFit/>
          </a:bodyPr>
          <a:lstStyle/>
          <a:p>
            <a:pPr algn="ctr"/>
            <a:r>
              <a:rPr lang="en-US" sz="3198" dirty="0"/>
              <a:t>∆ Equity (E)</a:t>
            </a:r>
          </a:p>
        </p:txBody>
      </p:sp>
      <p:sp>
        <p:nvSpPr>
          <p:cNvPr id="33" name="TextBox 32">
            <a:extLst>
              <a:ext uri="{FF2B5EF4-FFF2-40B4-BE49-F238E27FC236}">
                <a16:creationId xmlns:a16="http://schemas.microsoft.com/office/drawing/2014/main" id="{062619CC-50E0-47D3-80AE-3160B955727A}"/>
              </a:ext>
            </a:extLst>
          </p:cNvPr>
          <p:cNvSpPr txBox="1"/>
          <p:nvPr/>
        </p:nvSpPr>
        <p:spPr>
          <a:xfrm>
            <a:off x="5402268" y="1797617"/>
            <a:ext cx="2782951" cy="1076577"/>
          </a:xfrm>
          <a:prstGeom prst="rect">
            <a:avLst/>
          </a:prstGeom>
          <a:noFill/>
        </p:spPr>
        <p:txBody>
          <a:bodyPr wrap="square" rtlCol="0">
            <a:spAutoFit/>
          </a:bodyPr>
          <a:lstStyle/>
          <a:p>
            <a:pPr algn="ctr"/>
            <a:r>
              <a:rPr lang="en-US" sz="3198" dirty="0"/>
              <a:t>∆ Liabilities (L)</a:t>
            </a:r>
          </a:p>
        </p:txBody>
      </p:sp>
      <p:sp>
        <p:nvSpPr>
          <p:cNvPr id="34" name="TextBox 33">
            <a:extLst>
              <a:ext uri="{FF2B5EF4-FFF2-40B4-BE49-F238E27FC236}">
                <a16:creationId xmlns:a16="http://schemas.microsoft.com/office/drawing/2014/main" id="{803551A3-093D-4CCE-8E41-AA70DE30A4E0}"/>
              </a:ext>
            </a:extLst>
          </p:cNvPr>
          <p:cNvSpPr txBox="1"/>
          <p:nvPr/>
        </p:nvSpPr>
        <p:spPr>
          <a:xfrm>
            <a:off x="7897327" y="1797616"/>
            <a:ext cx="1727349" cy="584455"/>
          </a:xfrm>
          <a:prstGeom prst="rect">
            <a:avLst/>
          </a:prstGeom>
          <a:noFill/>
        </p:spPr>
        <p:txBody>
          <a:bodyPr wrap="square" rtlCol="0">
            <a:spAutoFit/>
          </a:bodyPr>
          <a:lstStyle/>
          <a:p>
            <a:pPr algn="ctr"/>
            <a:r>
              <a:rPr lang="en-US" sz="3198" dirty="0"/>
              <a:t>+</a:t>
            </a:r>
          </a:p>
        </p:txBody>
      </p:sp>
      <p:sp>
        <p:nvSpPr>
          <p:cNvPr id="35" name="TextBox 34">
            <a:extLst>
              <a:ext uri="{FF2B5EF4-FFF2-40B4-BE49-F238E27FC236}">
                <a16:creationId xmlns:a16="http://schemas.microsoft.com/office/drawing/2014/main" id="{D9956592-1443-45B8-B466-050B254BCFFF}"/>
              </a:ext>
            </a:extLst>
          </p:cNvPr>
          <p:cNvSpPr txBox="1"/>
          <p:nvPr/>
        </p:nvSpPr>
        <p:spPr>
          <a:xfrm>
            <a:off x="-165037" y="2949182"/>
            <a:ext cx="1667879" cy="1076577"/>
          </a:xfrm>
          <a:prstGeom prst="rect">
            <a:avLst/>
          </a:prstGeom>
          <a:noFill/>
        </p:spPr>
        <p:txBody>
          <a:bodyPr wrap="square" rtlCol="0">
            <a:spAutoFit/>
          </a:bodyPr>
          <a:lstStyle/>
          <a:p>
            <a:pPr algn="ctr"/>
            <a:r>
              <a:rPr lang="en-US" sz="3198" dirty="0"/>
              <a:t>∆ Cash</a:t>
            </a:r>
          </a:p>
          <a:p>
            <a:pPr algn="ctr"/>
            <a:r>
              <a:rPr lang="en-US" sz="3198" b="1" dirty="0"/>
              <a:t>?</a:t>
            </a:r>
            <a:r>
              <a:rPr lang="en-US" sz="3198" dirty="0"/>
              <a:t> </a:t>
            </a:r>
          </a:p>
        </p:txBody>
      </p:sp>
      <p:sp>
        <p:nvSpPr>
          <p:cNvPr id="38" name="TextBox 37">
            <a:extLst>
              <a:ext uri="{FF2B5EF4-FFF2-40B4-BE49-F238E27FC236}">
                <a16:creationId xmlns:a16="http://schemas.microsoft.com/office/drawing/2014/main" id="{EB6F801B-0102-4DF3-8757-D3AF7C06B4C0}"/>
              </a:ext>
            </a:extLst>
          </p:cNvPr>
          <p:cNvSpPr txBox="1"/>
          <p:nvPr/>
        </p:nvSpPr>
        <p:spPr>
          <a:xfrm>
            <a:off x="1777628" y="2949181"/>
            <a:ext cx="2946295" cy="2060821"/>
          </a:xfrm>
          <a:prstGeom prst="rect">
            <a:avLst/>
          </a:prstGeom>
          <a:noFill/>
        </p:spPr>
        <p:txBody>
          <a:bodyPr wrap="square" rtlCol="0">
            <a:spAutoFit/>
          </a:bodyPr>
          <a:lstStyle/>
          <a:p>
            <a:pPr algn="ctr"/>
            <a:r>
              <a:rPr lang="en-US" sz="3198" dirty="0"/>
              <a:t>∆ Operating Assets (OA)</a:t>
            </a:r>
          </a:p>
          <a:p>
            <a:pPr algn="ctr"/>
            <a:r>
              <a:rPr lang="en-US" sz="3198" dirty="0"/>
              <a:t>∆ Inventories </a:t>
            </a:r>
          </a:p>
          <a:p>
            <a:pPr algn="ctr"/>
            <a:r>
              <a:rPr lang="en-US" sz="3198" dirty="0"/>
              <a:t>= + 80,000</a:t>
            </a:r>
          </a:p>
        </p:txBody>
      </p:sp>
      <p:sp>
        <p:nvSpPr>
          <p:cNvPr id="42" name="TextBox 41">
            <a:extLst>
              <a:ext uri="{FF2B5EF4-FFF2-40B4-BE49-F238E27FC236}">
                <a16:creationId xmlns:a16="http://schemas.microsoft.com/office/drawing/2014/main" id="{881D0817-0C46-415D-9195-B2C356F2A7C0}"/>
              </a:ext>
            </a:extLst>
          </p:cNvPr>
          <p:cNvSpPr txBox="1"/>
          <p:nvPr/>
        </p:nvSpPr>
        <p:spPr>
          <a:xfrm>
            <a:off x="5040398" y="2979484"/>
            <a:ext cx="3934516" cy="4029308"/>
          </a:xfrm>
          <a:prstGeom prst="rect">
            <a:avLst/>
          </a:prstGeom>
          <a:noFill/>
        </p:spPr>
        <p:txBody>
          <a:bodyPr wrap="square" rtlCol="0">
            <a:spAutoFit/>
          </a:bodyPr>
          <a:lstStyle/>
          <a:p>
            <a:pPr algn="ctr"/>
            <a:r>
              <a:rPr lang="en-US" sz="3198" dirty="0"/>
              <a:t>∆ Operating liabilities (OL) </a:t>
            </a:r>
            <a:endParaRPr lang="en-US" sz="2666" dirty="0"/>
          </a:p>
          <a:p>
            <a:pPr algn="ctr"/>
            <a:r>
              <a:rPr lang="en-US" sz="3198" dirty="0"/>
              <a:t>∆ Accounts payable</a:t>
            </a:r>
          </a:p>
          <a:p>
            <a:pPr algn="ctr"/>
            <a:r>
              <a:rPr lang="en-US" sz="3198" dirty="0"/>
              <a:t>+ ∆ Accrued expenses </a:t>
            </a:r>
          </a:p>
          <a:p>
            <a:pPr algn="ctr"/>
            <a:r>
              <a:rPr lang="en-US" sz="3198" dirty="0"/>
              <a:t>= 40% x 88 x 50,000 </a:t>
            </a:r>
          </a:p>
          <a:p>
            <a:pPr algn="ctr"/>
            <a:r>
              <a:rPr lang="en-US" sz="3198" dirty="0"/>
              <a:t>= + 1,760,000</a:t>
            </a:r>
          </a:p>
          <a:p>
            <a:pPr algn="ctr"/>
            <a:endParaRPr lang="en-US" sz="3198" dirty="0"/>
          </a:p>
        </p:txBody>
      </p:sp>
      <p:sp>
        <p:nvSpPr>
          <p:cNvPr id="48" name="TextBox 47">
            <a:extLst>
              <a:ext uri="{FF2B5EF4-FFF2-40B4-BE49-F238E27FC236}">
                <a16:creationId xmlns:a16="http://schemas.microsoft.com/office/drawing/2014/main" id="{998A2DC4-511C-4E8C-A9D1-8957A0F3F96D}"/>
              </a:ext>
            </a:extLst>
          </p:cNvPr>
          <p:cNvSpPr txBox="1"/>
          <p:nvPr/>
        </p:nvSpPr>
        <p:spPr>
          <a:xfrm>
            <a:off x="9454733" y="2979484"/>
            <a:ext cx="2686987" cy="1076577"/>
          </a:xfrm>
          <a:prstGeom prst="rect">
            <a:avLst/>
          </a:prstGeom>
          <a:noFill/>
        </p:spPr>
        <p:txBody>
          <a:bodyPr wrap="square" rtlCol="0">
            <a:spAutoFit/>
          </a:bodyPr>
          <a:lstStyle/>
          <a:p>
            <a:pPr algn="ctr"/>
            <a:r>
              <a:rPr lang="en-US" sz="3198" dirty="0"/>
              <a:t>Profit</a:t>
            </a:r>
          </a:p>
          <a:p>
            <a:pPr algn="ctr"/>
            <a:r>
              <a:rPr lang="en-US" sz="3198" dirty="0"/>
              <a:t>= 600,000</a:t>
            </a:r>
          </a:p>
        </p:txBody>
      </p:sp>
      <p:sp>
        <p:nvSpPr>
          <p:cNvPr id="2" name="TextBox 1">
            <a:extLst>
              <a:ext uri="{FF2B5EF4-FFF2-40B4-BE49-F238E27FC236}">
                <a16:creationId xmlns:a16="http://schemas.microsoft.com/office/drawing/2014/main" id="{98B2C701-AAC7-4B27-8A10-1AD3384E9E25}"/>
              </a:ext>
            </a:extLst>
          </p:cNvPr>
          <p:cNvSpPr txBox="1"/>
          <p:nvPr/>
        </p:nvSpPr>
        <p:spPr>
          <a:xfrm>
            <a:off x="1340505" y="2855844"/>
            <a:ext cx="767710" cy="830677"/>
          </a:xfrm>
          <a:prstGeom prst="rect">
            <a:avLst/>
          </a:prstGeom>
          <a:solidFill>
            <a:schemeClr val="accent1">
              <a:lumMod val="20000"/>
              <a:lumOff val="80000"/>
            </a:schemeClr>
          </a:solidFill>
        </p:spPr>
        <p:txBody>
          <a:bodyPr wrap="square" rtlCol="0">
            <a:spAutoFit/>
          </a:bodyPr>
          <a:lstStyle/>
          <a:p>
            <a:pPr algn="ctr"/>
            <a:r>
              <a:rPr lang="en-US" sz="4798" dirty="0"/>
              <a:t>+</a:t>
            </a:r>
          </a:p>
        </p:txBody>
      </p:sp>
      <p:sp>
        <p:nvSpPr>
          <p:cNvPr id="19" name="TextBox 18">
            <a:extLst>
              <a:ext uri="{FF2B5EF4-FFF2-40B4-BE49-F238E27FC236}">
                <a16:creationId xmlns:a16="http://schemas.microsoft.com/office/drawing/2014/main" id="{E80BA0A3-2E8D-495D-A04C-DDC51E17E8DC}"/>
              </a:ext>
            </a:extLst>
          </p:cNvPr>
          <p:cNvSpPr txBox="1"/>
          <p:nvPr/>
        </p:nvSpPr>
        <p:spPr>
          <a:xfrm>
            <a:off x="4519575" y="2870973"/>
            <a:ext cx="767710" cy="830677"/>
          </a:xfrm>
          <a:prstGeom prst="rect">
            <a:avLst/>
          </a:prstGeom>
          <a:solidFill>
            <a:schemeClr val="accent1">
              <a:lumMod val="20000"/>
              <a:lumOff val="80000"/>
            </a:schemeClr>
          </a:solidFill>
        </p:spPr>
        <p:txBody>
          <a:bodyPr wrap="square" rtlCol="0">
            <a:spAutoFit/>
          </a:bodyPr>
          <a:lstStyle/>
          <a:p>
            <a:pPr algn="ctr"/>
            <a:r>
              <a:rPr lang="en-US" sz="4798" dirty="0"/>
              <a:t>=</a:t>
            </a:r>
          </a:p>
        </p:txBody>
      </p:sp>
      <p:sp>
        <p:nvSpPr>
          <p:cNvPr id="20" name="TextBox 19">
            <a:extLst>
              <a:ext uri="{FF2B5EF4-FFF2-40B4-BE49-F238E27FC236}">
                <a16:creationId xmlns:a16="http://schemas.microsoft.com/office/drawing/2014/main" id="{F3203A82-430E-422B-BBF4-AD723F08F6E4}"/>
              </a:ext>
            </a:extLst>
          </p:cNvPr>
          <p:cNvSpPr txBox="1"/>
          <p:nvPr/>
        </p:nvSpPr>
        <p:spPr>
          <a:xfrm>
            <a:off x="8930526" y="2873293"/>
            <a:ext cx="767710" cy="830677"/>
          </a:xfrm>
          <a:prstGeom prst="rect">
            <a:avLst/>
          </a:prstGeom>
          <a:solidFill>
            <a:schemeClr val="accent1">
              <a:lumMod val="20000"/>
              <a:lumOff val="80000"/>
            </a:schemeClr>
          </a:solidFill>
        </p:spPr>
        <p:txBody>
          <a:bodyPr wrap="square" rtlCol="0">
            <a:spAutoFit/>
          </a:bodyPr>
          <a:lstStyle/>
          <a:p>
            <a:pPr algn="ctr"/>
            <a:r>
              <a:rPr lang="en-US" sz="4798" dirty="0"/>
              <a:t>+</a:t>
            </a:r>
          </a:p>
        </p:txBody>
      </p:sp>
      <p:sp>
        <p:nvSpPr>
          <p:cNvPr id="8" name="Subtitle 3">
            <a:extLst>
              <a:ext uri="{FF2B5EF4-FFF2-40B4-BE49-F238E27FC236}">
                <a16:creationId xmlns:a16="http://schemas.microsoft.com/office/drawing/2014/main" id="{9F79E437-E9BF-7894-568E-6D6BC2A5BF44}"/>
              </a:ext>
            </a:extLst>
          </p:cNvPr>
          <p:cNvSpPr txBox="1">
            <a:spLocks/>
          </p:cNvSpPr>
          <p:nvPr/>
        </p:nvSpPr>
        <p:spPr>
          <a:xfrm>
            <a:off x="705612" y="915829"/>
            <a:ext cx="11276012" cy="4810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b="1" kern="1200">
                <a:solidFill>
                  <a:schemeClr val="tx1"/>
                </a:solidFill>
                <a:latin typeface="Arial Nova"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i="1" kern="1200">
                <a:solidFill>
                  <a:schemeClr val="tx1"/>
                </a:solidFill>
                <a:latin typeface="Arial Nova Cond" panose="020B0506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i="1" kern="1200">
                <a:solidFill>
                  <a:srgbClr val="22398E"/>
                </a:solidFill>
                <a:latin typeface="Arial Nova Cond" panose="020B0506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0" dirty="0"/>
              <a:t>Cash flow versus profit: working capital requirement (WCR) in the between</a:t>
            </a:r>
          </a:p>
        </p:txBody>
      </p:sp>
    </p:spTree>
    <p:extLst>
      <p:ext uri="{BB962C8B-B14F-4D97-AF65-F5344CB8AC3E}">
        <p14:creationId xmlns:p14="http://schemas.microsoft.com/office/powerpoint/2010/main" val="208992633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47434B-CE85-424E-8C21-8A6407D02230}"/>
              </a:ext>
            </a:extLst>
          </p:cNvPr>
          <p:cNvSpPr>
            <a:spLocks noGrp="1"/>
          </p:cNvSpPr>
          <p:nvPr>
            <p:ph type="title"/>
          </p:nvPr>
        </p:nvSpPr>
        <p:spPr/>
        <p:txBody>
          <a:bodyPr/>
          <a:lstStyle/>
          <a:p>
            <a:r>
              <a:rPr lang="en-US" dirty="0"/>
              <a:t>MCQ n°2</a:t>
            </a:r>
          </a:p>
        </p:txBody>
      </p:sp>
      <p:sp>
        <p:nvSpPr>
          <p:cNvPr id="4" name="Subtitle 3">
            <a:extLst>
              <a:ext uri="{FF2B5EF4-FFF2-40B4-BE49-F238E27FC236}">
                <a16:creationId xmlns:a16="http://schemas.microsoft.com/office/drawing/2014/main" id="{BBE71373-15EE-417B-A99F-4B06F5A18896}"/>
              </a:ext>
            </a:extLst>
          </p:cNvPr>
          <p:cNvSpPr>
            <a:spLocks noGrp="1"/>
          </p:cNvSpPr>
          <p:nvPr>
            <p:ph idx="1"/>
          </p:nvPr>
        </p:nvSpPr>
        <p:spPr>
          <a:xfrm>
            <a:off x="718983" y="956280"/>
            <a:ext cx="10829544" cy="598090"/>
          </a:xfrm>
        </p:spPr>
        <p:txBody>
          <a:bodyPr>
            <a:normAutofit/>
          </a:bodyPr>
          <a:lstStyle/>
          <a:p>
            <a:pPr marL="0" indent="0">
              <a:buNone/>
            </a:pPr>
            <a:r>
              <a:rPr lang="en-US" sz="2800" dirty="0"/>
              <a:t>Indirect method: </a:t>
            </a:r>
            <a:r>
              <a:rPr lang="en-US" sz="2800" b="0" dirty="0"/>
              <a:t>operating cash flow calculated from net income</a:t>
            </a:r>
          </a:p>
        </p:txBody>
      </p:sp>
      <p:sp>
        <p:nvSpPr>
          <p:cNvPr id="5" name="Slide Number Placeholder 4">
            <a:extLst>
              <a:ext uri="{FF2B5EF4-FFF2-40B4-BE49-F238E27FC236}">
                <a16:creationId xmlns:a16="http://schemas.microsoft.com/office/drawing/2014/main" id="{3DFC0698-BEF3-44F1-BD96-7A573398ED4E}"/>
              </a:ext>
            </a:extLst>
          </p:cNvPr>
          <p:cNvSpPr>
            <a:spLocks noGrp="1"/>
          </p:cNvSpPr>
          <p:nvPr>
            <p:ph type="sldNum" sz="quarter" idx="10"/>
          </p:nvPr>
        </p:nvSpPr>
        <p:spPr/>
        <p:txBody>
          <a:bodyPr/>
          <a:lstStyle/>
          <a:p>
            <a:fld id="{307C7597-8D70-4701-8085-9524B0B5C72B}" type="slidenum">
              <a:rPr lang="fr-FR" smtClean="0"/>
              <a:pPr/>
              <a:t>106</a:t>
            </a:fld>
            <a:endParaRPr lang="fr-FR" dirty="0"/>
          </a:p>
        </p:txBody>
      </p:sp>
      <p:sp>
        <p:nvSpPr>
          <p:cNvPr id="35" name="TextBox 34">
            <a:extLst>
              <a:ext uri="{FF2B5EF4-FFF2-40B4-BE49-F238E27FC236}">
                <a16:creationId xmlns:a16="http://schemas.microsoft.com/office/drawing/2014/main" id="{D9956592-1443-45B8-B466-050B254BCFFF}"/>
              </a:ext>
            </a:extLst>
          </p:cNvPr>
          <p:cNvSpPr txBox="1"/>
          <p:nvPr/>
        </p:nvSpPr>
        <p:spPr>
          <a:xfrm>
            <a:off x="-30463" y="2678713"/>
            <a:ext cx="2009478" cy="1076577"/>
          </a:xfrm>
          <a:prstGeom prst="rect">
            <a:avLst/>
          </a:prstGeom>
          <a:noFill/>
        </p:spPr>
        <p:txBody>
          <a:bodyPr wrap="square" rtlCol="0">
            <a:spAutoFit/>
          </a:bodyPr>
          <a:lstStyle/>
          <a:p>
            <a:pPr algn="ctr"/>
            <a:r>
              <a:rPr lang="en-US" sz="3198" dirty="0"/>
              <a:t>∆ Cash</a:t>
            </a:r>
          </a:p>
          <a:p>
            <a:pPr algn="ctr"/>
            <a:r>
              <a:rPr lang="en-US" sz="3198" b="1" dirty="0"/>
              <a:t>2,280,000</a:t>
            </a:r>
            <a:endParaRPr lang="en-US" sz="3198" dirty="0"/>
          </a:p>
        </p:txBody>
      </p:sp>
      <p:sp>
        <p:nvSpPr>
          <p:cNvPr id="38" name="TextBox 37">
            <a:extLst>
              <a:ext uri="{FF2B5EF4-FFF2-40B4-BE49-F238E27FC236}">
                <a16:creationId xmlns:a16="http://schemas.microsoft.com/office/drawing/2014/main" id="{EB6F801B-0102-4DF3-8757-D3AF7C06B4C0}"/>
              </a:ext>
            </a:extLst>
          </p:cNvPr>
          <p:cNvSpPr txBox="1"/>
          <p:nvPr/>
        </p:nvSpPr>
        <p:spPr>
          <a:xfrm>
            <a:off x="8878951" y="2565326"/>
            <a:ext cx="2946295" cy="2060821"/>
          </a:xfrm>
          <a:prstGeom prst="rect">
            <a:avLst/>
          </a:prstGeom>
          <a:noFill/>
        </p:spPr>
        <p:txBody>
          <a:bodyPr wrap="square" rtlCol="0">
            <a:spAutoFit/>
          </a:bodyPr>
          <a:lstStyle/>
          <a:p>
            <a:pPr algn="ctr"/>
            <a:r>
              <a:rPr lang="en-US" sz="3198" dirty="0"/>
              <a:t>∆ Operating Assets (OA)</a:t>
            </a:r>
          </a:p>
          <a:p>
            <a:pPr algn="ctr"/>
            <a:r>
              <a:rPr lang="en-US" sz="3198" dirty="0"/>
              <a:t>∆ Inventories </a:t>
            </a:r>
          </a:p>
          <a:p>
            <a:pPr algn="ctr"/>
            <a:r>
              <a:rPr lang="en-US" sz="3198" dirty="0"/>
              <a:t>= + 80,000</a:t>
            </a:r>
          </a:p>
        </p:txBody>
      </p:sp>
      <p:sp>
        <p:nvSpPr>
          <p:cNvPr id="42" name="TextBox 41">
            <a:extLst>
              <a:ext uri="{FF2B5EF4-FFF2-40B4-BE49-F238E27FC236}">
                <a16:creationId xmlns:a16="http://schemas.microsoft.com/office/drawing/2014/main" id="{881D0817-0C46-415D-9195-B2C356F2A7C0}"/>
              </a:ext>
            </a:extLst>
          </p:cNvPr>
          <p:cNvSpPr txBox="1"/>
          <p:nvPr/>
        </p:nvSpPr>
        <p:spPr>
          <a:xfrm>
            <a:off x="4752507" y="2565326"/>
            <a:ext cx="3934516" cy="3537187"/>
          </a:xfrm>
          <a:prstGeom prst="rect">
            <a:avLst/>
          </a:prstGeom>
          <a:noFill/>
        </p:spPr>
        <p:txBody>
          <a:bodyPr wrap="square" rtlCol="0">
            <a:spAutoFit/>
          </a:bodyPr>
          <a:lstStyle/>
          <a:p>
            <a:pPr algn="ctr"/>
            <a:r>
              <a:rPr lang="en-US" sz="3198" dirty="0"/>
              <a:t>∆ Operating liabilities (OL) </a:t>
            </a:r>
            <a:endParaRPr lang="en-US" sz="2666" dirty="0"/>
          </a:p>
          <a:p>
            <a:pPr algn="ctr"/>
            <a:r>
              <a:rPr lang="en-US" sz="3198" dirty="0"/>
              <a:t>∆ Accounts payable</a:t>
            </a:r>
          </a:p>
          <a:p>
            <a:pPr algn="ctr"/>
            <a:r>
              <a:rPr lang="en-US" sz="3198" dirty="0"/>
              <a:t>+ ∆ Accrued expenses </a:t>
            </a:r>
          </a:p>
          <a:p>
            <a:pPr algn="ctr"/>
            <a:r>
              <a:rPr lang="en-US" sz="3198" dirty="0"/>
              <a:t>= + 1,760,000</a:t>
            </a:r>
          </a:p>
          <a:p>
            <a:pPr algn="ctr"/>
            <a:endParaRPr lang="en-US" sz="3198" dirty="0"/>
          </a:p>
        </p:txBody>
      </p:sp>
      <p:sp>
        <p:nvSpPr>
          <p:cNvPr id="48" name="TextBox 47">
            <a:extLst>
              <a:ext uri="{FF2B5EF4-FFF2-40B4-BE49-F238E27FC236}">
                <a16:creationId xmlns:a16="http://schemas.microsoft.com/office/drawing/2014/main" id="{998A2DC4-511C-4E8C-A9D1-8957A0F3F96D}"/>
              </a:ext>
            </a:extLst>
          </p:cNvPr>
          <p:cNvSpPr txBox="1"/>
          <p:nvPr/>
        </p:nvSpPr>
        <p:spPr>
          <a:xfrm>
            <a:off x="2307331" y="2597053"/>
            <a:ext cx="2253248" cy="1076577"/>
          </a:xfrm>
          <a:prstGeom prst="rect">
            <a:avLst/>
          </a:prstGeom>
          <a:noFill/>
        </p:spPr>
        <p:txBody>
          <a:bodyPr wrap="square" rtlCol="0">
            <a:spAutoFit/>
          </a:bodyPr>
          <a:lstStyle/>
          <a:p>
            <a:pPr algn="ctr"/>
            <a:r>
              <a:rPr lang="en-US" sz="3198" dirty="0"/>
              <a:t>Profit</a:t>
            </a:r>
          </a:p>
          <a:p>
            <a:pPr algn="ctr"/>
            <a:r>
              <a:rPr lang="en-US" sz="3198" dirty="0"/>
              <a:t>600,000</a:t>
            </a:r>
          </a:p>
        </p:txBody>
      </p:sp>
      <p:sp>
        <p:nvSpPr>
          <p:cNvPr id="2" name="TextBox 1">
            <a:extLst>
              <a:ext uri="{FF2B5EF4-FFF2-40B4-BE49-F238E27FC236}">
                <a16:creationId xmlns:a16="http://schemas.microsoft.com/office/drawing/2014/main" id="{98B2C701-AAC7-4B27-8A10-1AD3384E9E25}"/>
              </a:ext>
            </a:extLst>
          </p:cNvPr>
          <p:cNvSpPr txBox="1"/>
          <p:nvPr/>
        </p:nvSpPr>
        <p:spPr>
          <a:xfrm>
            <a:off x="1833203" y="2643528"/>
            <a:ext cx="767710" cy="830677"/>
          </a:xfrm>
          <a:prstGeom prst="rect">
            <a:avLst/>
          </a:prstGeom>
          <a:solidFill>
            <a:schemeClr val="accent1">
              <a:lumMod val="20000"/>
              <a:lumOff val="80000"/>
            </a:schemeClr>
          </a:solidFill>
        </p:spPr>
        <p:txBody>
          <a:bodyPr wrap="square" rtlCol="0">
            <a:spAutoFit/>
          </a:bodyPr>
          <a:lstStyle/>
          <a:p>
            <a:pPr algn="ctr"/>
            <a:r>
              <a:rPr lang="en-US" sz="4798" dirty="0"/>
              <a:t>=</a:t>
            </a:r>
          </a:p>
        </p:txBody>
      </p:sp>
      <p:sp>
        <p:nvSpPr>
          <p:cNvPr id="19" name="TextBox 18">
            <a:extLst>
              <a:ext uri="{FF2B5EF4-FFF2-40B4-BE49-F238E27FC236}">
                <a16:creationId xmlns:a16="http://schemas.microsoft.com/office/drawing/2014/main" id="{E80BA0A3-2E8D-495D-A04C-DDC51E17E8DC}"/>
              </a:ext>
            </a:extLst>
          </p:cNvPr>
          <p:cNvSpPr txBox="1"/>
          <p:nvPr/>
        </p:nvSpPr>
        <p:spPr>
          <a:xfrm>
            <a:off x="4318768" y="2853217"/>
            <a:ext cx="767710" cy="830677"/>
          </a:xfrm>
          <a:prstGeom prst="rect">
            <a:avLst/>
          </a:prstGeom>
          <a:solidFill>
            <a:schemeClr val="accent1">
              <a:lumMod val="20000"/>
              <a:lumOff val="80000"/>
            </a:schemeClr>
          </a:solidFill>
        </p:spPr>
        <p:txBody>
          <a:bodyPr wrap="square" rtlCol="0">
            <a:spAutoFit/>
          </a:bodyPr>
          <a:lstStyle/>
          <a:p>
            <a:pPr algn="ctr"/>
            <a:r>
              <a:rPr lang="en-US" sz="4798" dirty="0"/>
              <a:t>+</a:t>
            </a:r>
          </a:p>
        </p:txBody>
      </p:sp>
      <p:sp>
        <p:nvSpPr>
          <p:cNvPr id="20" name="TextBox 19">
            <a:extLst>
              <a:ext uri="{FF2B5EF4-FFF2-40B4-BE49-F238E27FC236}">
                <a16:creationId xmlns:a16="http://schemas.microsoft.com/office/drawing/2014/main" id="{F3203A82-430E-422B-BBF4-AD723F08F6E4}"/>
              </a:ext>
            </a:extLst>
          </p:cNvPr>
          <p:cNvSpPr txBox="1"/>
          <p:nvPr/>
        </p:nvSpPr>
        <p:spPr>
          <a:xfrm>
            <a:off x="8388563" y="2855537"/>
            <a:ext cx="767710" cy="830677"/>
          </a:xfrm>
          <a:prstGeom prst="rect">
            <a:avLst/>
          </a:prstGeom>
          <a:solidFill>
            <a:schemeClr val="accent1">
              <a:lumMod val="20000"/>
              <a:lumOff val="80000"/>
            </a:schemeClr>
          </a:solidFill>
        </p:spPr>
        <p:txBody>
          <a:bodyPr wrap="square" rtlCol="0">
            <a:spAutoFit/>
          </a:bodyPr>
          <a:lstStyle/>
          <a:p>
            <a:pPr algn="ctr"/>
            <a:r>
              <a:rPr lang="en-US" sz="4798" dirty="0"/>
              <a:t>– </a:t>
            </a:r>
          </a:p>
        </p:txBody>
      </p:sp>
      <p:sp>
        <p:nvSpPr>
          <p:cNvPr id="7" name="TextBox 6">
            <a:extLst>
              <a:ext uri="{FF2B5EF4-FFF2-40B4-BE49-F238E27FC236}">
                <a16:creationId xmlns:a16="http://schemas.microsoft.com/office/drawing/2014/main" id="{F79FE0BA-F6B7-409B-A518-776D787359A7}"/>
              </a:ext>
            </a:extLst>
          </p:cNvPr>
          <p:cNvSpPr txBox="1"/>
          <p:nvPr/>
        </p:nvSpPr>
        <p:spPr>
          <a:xfrm>
            <a:off x="790113" y="5563036"/>
            <a:ext cx="9750701" cy="666657"/>
          </a:xfrm>
          <a:prstGeom prst="rect">
            <a:avLst/>
          </a:prstGeom>
          <a:solidFill>
            <a:schemeClr val="accent1">
              <a:lumMod val="20000"/>
              <a:lumOff val="80000"/>
            </a:schemeClr>
          </a:solidFill>
        </p:spPr>
        <p:txBody>
          <a:bodyPr wrap="square" rtlCol="0">
            <a:spAutoFit/>
          </a:bodyPr>
          <a:lstStyle/>
          <a:p>
            <a:pPr algn="ctr"/>
            <a:r>
              <a:rPr lang="en-US" sz="3732" dirty="0"/>
              <a:t>2,280,000 = 600,000 + 1,760,000 – 80,000</a:t>
            </a:r>
          </a:p>
        </p:txBody>
      </p:sp>
    </p:spTree>
    <p:extLst>
      <p:ext uri="{BB962C8B-B14F-4D97-AF65-F5344CB8AC3E}">
        <p14:creationId xmlns:p14="http://schemas.microsoft.com/office/powerpoint/2010/main" val="29762617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131111-F86C-B7F1-8C23-8E2576E7CBEC}"/>
              </a:ext>
            </a:extLst>
          </p:cNvPr>
          <p:cNvSpPr>
            <a:spLocks noGrp="1"/>
          </p:cNvSpPr>
          <p:nvPr>
            <p:ph type="title"/>
          </p:nvPr>
        </p:nvSpPr>
        <p:spPr>
          <a:xfrm>
            <a:off x="656844" y="487045"/>
            <a:ext cx="3702326" cy="1421654"/>
          </a:xfrm>
        </p:spPr>
        <p:txBody>
          <a:bodyPr>
            <a:normAutofit fontScale="90000"/>
          </a:bodyPr>
          <a:lstStyle/>
          <a:p>
            <a:r>
              <a:rPr lang="en-US" dirty="0"/>
              <a:t>Indirect method:</a:t>
            </a:r>
            <a:br>
              <a:rPr lang="en-US" dirty="0"/>
            </a:br>
            <a:r>
              <a:rPr lang="en-US" dirty="0"/>
              <a:t>operating cash flow calculated from net income</a:t>
            </a:r>
            <a:br>
              <a:rPr lang="en-US" dirty="0"/>
            </a:br>
            <a:endParaRPr lang="en-US" dirty="0"/>
          </a:p>
        </p:txBody>
      </p:sp>
      <p:sp>
        <p:nvSpPr>
          <p:cNvPr id="5" name="Slide Number Placeholder 4">
            <a:extLst>
              <a:ext uri="{FF2B5EF4-FFF2-40B4-BE49-F238E27FC236}">
                <a16:creationId xmlns:a16="http://schemas.microsoft.com/office/drawing/2014/main" id="{3DFC0698-BEF3-44F1-BD96-7A573398ED4E}"/>
              </a:ext>
            </a:extLst>
          </p:cNvPr>
          <p:cNvSpPr>
            <a:spLocks noGrp="1"/>
          </p:cNvSpPr>
          <p:nvPr>
            <p:ph type="sldNum" sz="quarter" idx="10"/>
          </p:nvPr>
        </p:nvSpPr>
        <p:spPr/>
        <p:txBody>
          <a:bodyPr/>
          <a:lstStyle/>
          <a:p>
            <a:fld id="{307C7597-8D70-4701-8085-9524B0B5C72B}" type="slidenum">
              <a:rPr lang="fr-FR" smtClean="0"/>
              <a:pPr/>
              <a:t>107</a:t>
            </a:fld>
            <a:endParaRPr lang="fr-FR" dirty="0"/>
          </a:p>
        </p:txBody>
      </p:sp>
      <p:sp>
        <p:nvSpPr>
          <p:cNvPr id="35" name="TextBox 34">
            <a:extLst>
              <a:ext uri="{FF2B5EF4-FFF2-40B4-BE49-F238E27FC236}">
                <a16:creationId xmlns:a16="http://schemas.microsoft.com/office/drawing/2014/main" id="{D9956592-1443-45B8-B466-050B254BCFFF}"/>
              </a:ext>
            </a:extLst>
          </p:cNvPr>
          <p:cNvSpPr txBox="1"/>
          <p:nvPr/>
        </p:nvSpPr>
        <p:spPr>
          <a:xfrm>
            <a:off x="-5234" y="2565326"/>
            <a:ext cx="2031284" cy="1076577"/>
          </a:xfrm>
          <a:prstGeom prst="rect">
            <a:avLst/>
          </a:prstGeom>
          <a:noFill/>
        </p:spPr>
        <p:txBody>
          <a:bodyPr wrap="square" rtlCol="0">
            <a:spAutoFit/>
          </a:bodyPr>
          <a:lstStyle/>
          <a:p>
            <a:pPr algn="ctr"/>
            <a:r>
              <a:rPr lang="en-US" sz="3198" dirty="0"/>
              <a:t>∆ Cash</a:t>
            </a:r>
          </a:p>
          <a:p>
            <a:pPr algn="ctr"/>
            <a:r>
              <a:rPr lang="en-US" sz="3198" b="1" dirty="0"/>
              <a:t>2,280,000</a:t>
            </a:r>
            <a:endParaRPr lang="en-US" sz="3198" dirty="0"/>
          </a:p>
        </p:txBody>
      </p:sp>
      <p:sp>
        <p:nvSpPr>
          <p:cNvPr id="38" name="TextBox 37">
            <a:extLst>
              <a:ext uri="{FF2B5EF4-FFF2-40B4-BE49-F238E27FC236}">
                <a16:creationId xmlns:a16="http://schemas.microsoft.com/office/drawing/2014/main" id="{EB6F801B-0102-4DF3-8757-D3AF7C06B4C0}"/>
              </a:ext>
            </a:extLst>
          </p:cNvPr>
          <p:cNvSpPr txBox="1"/>
          <p:nvPr/>
        </p:nvSpPr>
        <p:spPr>
          <a:xfrm>
            <a:off x="9254630" y="2565326"/>
            <a:ext cx="2946295" cy="2552943"/>
          </a:xfrm>
          <a:prstGeom prst="rect">
            <a:avLst/>
          </a:prstGeom>
          <a:noFill/>
        </p:spPr>
        <p:txBody>
          <a:bodyPr wrap="square" rtlCol="0">
            <a:spAutoFit/>
          </a:bodyPr>
          <a:lstStyle/>
          <a:p>
            <a:pPr algn="ctr"/>
            <a:r>
              <a:rPr lang="en-US" sz="3198" dirty="0"/>
              <a:t>∆ Current Operating Assets (COA)</a:t>
            </a:r>
          </a:p>
          <a:p>
            <a:pPr algn="ctr"/>
            <a:r>
              <a:rPr lang="en-US" sz="3198" dirty="0"/>
              <a:t>∆ Inventories </a:t>
            </a:r>
          </a:p>
          <a:p>
            <a:pPr algn="ctr"/>
            <a:r>
              <a:rPr lang="en-US" sz="3198" dirty="0"/>
              <a:t>= + 80,000</a:t>
            </a:r>
          </a:p>
        </p:txBody>
      </p:sp>
      <p:sp>
        <p:nvSpPr>
          <p:cNvPr id="42" name="TextBox 41">
            <a:extLst>
              <a:ext uri="{FF2B5EF4-FFF2-40B4-BE49-F238E27FC236}">
                <a16:creationId xmlns:a16="http://schemas.microsoft.com/office/drawing/2014/main" id="{881D0817-0C46-415D-9195-B2C356F2A7C0}"/>
              </a:ext>
            </a:extLst>
          </p:cNvPr>
          <p:cNvSpPr txBox="1"/>
          <p:nvPr/>
        </p:nvSpPr>
        <p:spPr>
          <a:xfrm>
            <a:off x="4752507" y="2565325"/>
            <a:ext cx="3934516" cy="3537187"/>
          </a:xfrm>
          <a:prstGeom prst="rect">
            <a:avLst/>
          </a:prstGeom>
          <a:noFill/>
        </p:spPr>
        <p:txBody>
          <a:bodyPr wrap="square" rtlCol="0">
            <a:spAutoFit/>
          </a:bodyPr>
          <a:lstStyle/>
          <a:p>
            <a:pPr algn="ctr"/>
            <a:r>
              <a:rPr lang="en-US" sz="3198" dirty="0"/>
              <a:t>∆ Current Operating liabilities (COL) </a:t>
            </a:r>
            <a:endParaRPr lang="en-US" sz="2666" dirty="0"/>
          </a:p>
          <a:p>
            <a:pPr algn="ctr"/>
            <a:r>
              <a:rPr lang="en-US" sz="3198" dirty="0"/>
              <a:t>∆ Accounts payable</a:t>
            </a:r>
          </a:p>
          <a:p>
            <a:pPr algn="ctr"/>
            <a:r>
              <a:rPr lang="en-US" sz="3198" dirty="0"/>
              <a:t>+ ∆ Accrued expenses </a:t>
            </a:r>
          </a:p>
          <a:p>
            <a:pPr algn="ctr"/>
            <a:r>
              <a:rPr lang="en-US" sz="3198" dirty="0"/>
              <a:t>= + 1,760,000</a:t>
            </a:r>
          </a:p>
          <a:p>
            <a:pPr algn="ctr"/>
            <a:endParaRPr lang="en-US" sz="3198" dirty="0"/>
          </a:p>
        </p:txBody>
      </p:sp>
      <p:sp>
        <p:nvSpPr>
          <p:cNvPr id="48" name="TextBox 47">
            <a:extLst>
              <a:ext uri="{FF2B5EF4-FFF2-40B4-BE49-F238E27FC236}">
                <a16:creationId xmlns:a16="http://schemas.microsoft.com/office/drawing/2014/main" id="{998A2DC4-511C-4E8C-A9D1-8957A0F3F96D}"/>
              </a:ext>
            </a:extLst>
          </p:cNvPr>
          <p:cNvSpPr txBox="1"/>
          <p:nvPr/>
        </p:nvSpPr>
        <p:spPr>
          <a:xfrm>
            <a:off x="1873592" y="2501090"/>
            <a:ext cx="2686987" cy="1076577"/>
          </a:xfrm>
          <a:prstGeom prst="rect">
            <a:avLst/>
          </a:prstGeom>
          <a:noFill/>
        </p:spPr>
        <p:txBody>
          <a:bodyPr wrap="square" rtlCol="0">
            <a:spAutoFit/>
          </a:bodyPr>
          <a:lstStyle/>
          <a:p>
            <a:pPr algn="ctr"/>
            <a:r>
              <a:rPr lang="en-US" sz="3198" dirty="0"/>
              <a:t>Profit</a:t>
            </a:r>
          </a:p>
          <a:p>
            <a:pPr algn="ctr"/>
            <a:r>
              <a:rPr lang="en-US" sz="3198" dirty="0"/>
              <a:t>600,000</a:t>
            </a:r>
          </a:p>
        </p:txBody>
      </p:sp>
      <p:sp>
        <p:nvSpPr>
          <p:cNvPr id="2" name="TextBox 1">
            <a:extLst>
              <a:ext uri="{FF2B5EF4-FFF2-40B4-BE49-F238E27FC236}">
                <a16:creationId xmlns:a16="http://schemas.microsoft.com/office/drawing/2014/main" id="{98B2C701-AAC7-4B27-8A10-1AD3384E9E25}"/>
              </a:ext>
            </a:extLst>
          </p:cNvPr>
          <p:cNvSpPr txBox="1"/>
          <p:nvPr/>
        </p:nvSpPr>
        <p:spPr>
          <a:xfrm>
            <a:off x="1972498" y="2688323"/>
            <a:ext cx="424957" cy="830677"/>
          </a:xfrm>
          <a:prstGeom prst="rect">
            <a:avLst/>
          </a:prstGeom>
          <a:solidFill>
            <a:schemeClr val="accent1">
              <a:lumMod val="20000"/>
              <a:lumOff val="80000"/>
            </a:schemeClr>
          </a:solidFill>
        </p:spPr>
        <p:txBody>
          <a:bodyPr wrap="square" rtlCol="0">
            <a:spAutoFit/>
          </a:bodyPr>
          <a:lstStyle/>
          <a:p>
            <a:pPr algn="ctr"/>
            <a:r>
              <a:rPr lang="en-US" sz="4798" dirty="0"/>
              <a:t>=</a:t>
            </a:r>
          </a:p>
        </p:txBody>
      </p:sp>
      <p:sp>
        <p:nvSpPr>
          <p:cNvPr id="19" name="TextBox 18">
            <a:extLst>
              <a:ext uri="{FF2B5EF4-FFF2-40B4-BE49-F238E27FC236}">
                <a16:creationId xmlns:a16="http://schemas.microsoft.com/office/drawing/2014/main" id="{E80BA0A3-2E8D-495D-A04C-DDC51E17E8DC}"/>
              </a:ext>
            </a:extLst>
          </p:cNvPr>
          <p:cNvSpPr txBox="1"/>
          <p:nvPr/>
        </p:nvSpPr>
        <p:spPr>
          <a:xfrm>
            <a:off x="4084849" y="2708072"/>
            <a:ext cx="767710" cy="830677"/>
          </a:xfrm>
          <a:prstGeom prst="rect">
            <a:avLst/>
          </a:prstGeom>
          <a:solidFill>
            <a:schemeClr val="accent1">
              <a:lumMod val="20000"/>
              <a:lumOff val="80000"/>
            </a:schemeClr>
          </a:solidFill>
        </p:spPr>
        <p:txBody>
          <a:bodyPr wrap="square" rtlCol="0">
            <a:spAutoFit/>
          </a:bodyPr>
          <a:lstStyle/>
          <a:p>
            <a:pPr algn="ctr"/>
            <a:r>
              <a:rPr lang="en-US" sz="4798" dirty="0"/>
              <a:t>+</a:t>
            </a:r>
          </a:p>
        </p:txBody>
      </p:sp>
      <p:sp>
        <p:nvSpPr>
          <p:cNvPr id="20" name="TextBox 19">
            <a:extLst>
              <a:ext uri="{FF2B5EF4-FFF2-40B4-BE49-F238E27FC236}">
                <a16:creationId xmlns:a16="http://schemas.microsoft.com/office/drawing/2014/main" id="{F3203A82-430E-422B-BBF4-AD723F08F6E4}"/>
              </a:ext>
            </a:extLst>
          </p:cNvPr>
          <p:cNvSpPr txBox="1"/>
          <p:nvPr/>
        </p:nvSpPr>
        <p:spPr>
          <a:xfrm>
            <a:off x="8687023" y="2624039"/>
            <a:ext cx="767710" cy="830677"/>
          </a:xfrm>
          <a:prstGeom prst="rect">
            <a:avLst/>
          </a:prstGeom>
          <a:solidFill>
            <a:schemeClr val="accent1">
              <a:lumMod val="20000"/>
              <a:lumOff val="80000"/>
            </a:schemeClr>
          </a:solidFill>
        </p:spPr>
        <p:txBody>
          <a:bodyPr wrap="square" rtlCol="0">
            <a:spAutoFit/>
          </a:bodyPr>
          <a:lstStyle/>
          <a:p>
            <a:pPr algn="ctr"/>
            <a:r>
              <a:rPr lang="en-US" sz="4798" dirty="0"/>
              <a:t>– </a:t>
            </a:r>
          </a:p>
        </p:txBody>
      </p:sp>
      <p:sp>
        <p:nvSpPr>
          <p:cNvPr id="7" name="TextBox 6">
            <a:extLst>
              <a:ext uri="{FF2B5EF4-FFF2-40B4-BE49-F238E27FC236}">
                <a16:creationId xmlns:a16="http://schemas.microsoft.com/office/drawing/2014/main" id="{F79FE0BA-F6B7-409B-A518-776D787359A7}"/>
              </a:ext>
            </a:extLst>
          </p:cNvPr>
          <p:cNvSpPr txBox="1"/>
          <p:nvPr/>
        </p:nvSpPr>
        <p:spPr>
          <a:xfrm>
            <a:off x="1145220" y="5520985"/>
            <a:ext cx="9947102" cy="666657"/>
          </a:xfrm>
          <a:prstGeom prst="rect">
            <a:avLst/>
          </a:prstGeom>
          <a:solidFill>
            <a:schemeClr val="accent1">
              <a:lumMod val="20000"/>
              <a:lumOff val="80000"/>
            </a:schemeClr>
          </a:solidFill>
        </p:spPr>
        <p:txBody>
          <a:bodyPr wrap="square" rtlCol="0">
            <a:spAutoFit/>
          </a:bodyPr>
          <a:lstStyle/>
          <a:p>
            <a:pPr algn="ctr"/>
            <a:r>
              <a:rPr lang="en-US" sz="3732" dirty="0"/>
              <a:t>2,280,000 = 600,000 + 1,760,000 – 80,000</a:t>
            </a:r>
          </a:p>
        </p:txBody>
      </p:sp>
      <p:sp>
        <p:nvSpPr>
          <p:cNvPr id="6" name="Right Brace 5">
            <a:extLst>
              <a:ext uri="{FF2B5EF4-FFF2-40B4-BE49-F238E27FC236}">
                <a16:creationId xmlns:a16="http://schemas.microsoft.com/office/drawing/2014/main" id="{459D46C0-609B-4E41-A4E4-DC0E24FA7D88}"/>
              </a:ext>
            </a:extLst>
          </p:cNvPr>
          <p:cNvSpPr/>
          <p:nvPr/>
        </p:nvSpPr>
        <p:spPr>
          <a:xfrm rot="16200000">
            <a:off x="7884836" y="-1526642"/>
            <a:ext cx="622320" cy="7992008"/>
          </a:xfrm>
          <a:prstGeom prst="rightBrace">
            <a:avLst>
              <a:gd name="adj1" fmla="val 47671"/>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399"/>
          </a:p>
        </p:txBody>
      </p:sp>
      <p:sp>
        <p:nvSpPr>
          <p:cNvPr id="14" name="TextBox 13">
            <a:extLst>
              <a:ext uri="{FF2B5EF4-FFF2-40B4-BE49-F238E27FC236}">
                <a16:creationId xmlns:a16="http://schemas.microsoft.com/office/drawing/2014/main" id="{2FF35459-8C7B-41F4-B3B8-196C696E9874}"/>
              </a:ext>
            </a:extLst>
          </p:cNvPr>
          <p:cNvSpPr txBox="1"/>
          <p:nvPr/>
        </p:nvSpPr>
        <p:spPr>
          <a:xfrm>
            <a:off x="5040398" y="837977"/>
            <a:ext cx="767710" cy="830677"/>
          </a:xfrm>
          <a:prstGeom prst="rect">
            <a:avLst/>
          </a:prstGeom>
          <a:solidFill>
            <a:schemeClr val="accent1">
              <a:lumMod val="20000"/>
              <a:lumOff val="80000"/>
            </a:schemeClr>
          </a:solidFill>
        </p:spPr>
        <p:txBody>
          <a:bodyPr wrap="square" rtlCol="0">
            <a:spAutoFit/>
          </a:bodyPr>
          <a:lstStyle/>
          <a:p>
            <a:pPr algn="ctr"/>
            <a:r>
              <a:rPr lang="en-US" sz="4798" dirty="0"/>
              <a:t>+ </a:t>
            </a:r>
          </a:p>
        </p:txBody>
      </p:sp>
      <p:sp>
        <p:nvSpPr>
          <p:cNvPr id="17" name="TextBox 16">
            <a:extLst>
              <a:ext uri="{FF2B5EF4-FFF2-40B4-BE49-F238E27FC236}">
                <a16:creationId xmlns:a16="http://schemas.microsoft.com/office/drawing/2014/main" id="{856DBF12-7B16-4A98-A0A6-50B0EC6BB183}"/>
              </a:ext>
            </a:extLst>
          </p:cNvPr>
          <p:cNvSpPr txBox="1"/>
          <p:nvPr/>
        </p:nvSpPr>
        <p:spPr>
          <a:xfrm>
            <a:off x="5808108" y="496771"/>
            <a:ext cx="5462058" cy="1568699"/>
          </a:xfrm>
          <a:prstGeom prst="rect">
            <a:avLst/>
          </a:prstGeom>
          <a:noFill/>
        </p:spPr>
        <p:txBody>
          <a:bodyPr wrap="square" rtlCol="0">
            <a:spAutoFit/>
          </a:bodyPr>
          <a:lstStyle/>
          <a:p>
            <a:pPr algn="ctr"/>
            <a:r>
              <a:rPr lang="en-US" sz="3198" b="1" dirty="0"/>
              <a:t>Decrease</a:t>
            </a:r>
            <a:r>
              <a:rPr lang="en-US" sz="3198" dirty="0"/>
              <a:t> in working capital requirement (WCR)</a:t>
            </a:r>
          </a:p>
          <a:p>
            <a:pPr algn="ctr"/>
            <a:r>
              <a:rPr lang="en-US" sz="3198" dirty="0"/>
              <a:t>1,680,000</a:t>
            </a:r>
          </a:p>
        </p:txBody>
      </p:sp>
    </p:spTree>
    <p:extLst>
      <p:ext uri="{BB962C8B-B14F-4D97-AF65-F5344CB8AC3E}">
        <p14:creationId xmlns:p14="http://schemas.microsoft.com/office/powerpoint/2010/main" val="137630437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555FB-0C68-5DC0-0EE1-934B2E2F91CC}"/>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31FC55D2-02FF-E314-8048-E11BBD2BA66E}"/>
              </a:ext>
            </a:extLst>
          </p:cNvPr>
          <p:cNvSpPr>
            <a:spLocks noGrp="1"/>
          </p:cNvSpPr>
          <p:nvPr>
            <p:ph type="title"/>
          </p:nvPr>
        </p:nvSpPr>
        <p:spPr>
          <a:xfrm>
            <a:off x="440622" y="134652"/>
            <a:ext cx="10829544" cy="448560"/>
          </a:xfrm>
        </p:spPr>
        <p:txBody>
          <a:bodyPr>
            <a:normAutofit fontScale="90000"/>
          </a:bodyPr>
          <a:lstStyle/>
          <a:p>
            <a:r>
              <a:rPr lang="en-US" dirty="0"/>
              <a:t>Indirect method: operating cash flow calculated from net income</a:t>
            </a:r>
          </a:p>
        </p:txBody>
      </p:sp>
      <p:sp>
        <p:nvSpPr>
          <p:cNvPr id="4" name="Subtitle 3">
            <a:extLst>
              <a:ext uri="{FF2B5EF4-FFF2-40B4-BE49-F238E27FC236}">
                <a16:creationId xmlns:a16="http://schemas.microsoft.com/office/drawing/2014/main" id="{4032050A-F786-0AE8-738E-FA04FCE0DCC7}"/>
              </a:ext>
            </a:extLst>
          </p:cNvPr>
          <p:cNvSpPr>
            <a:spLocks noGrp="1"/>
          </p:cNvSpPr>
          <p:nvPr>
            <p:ph idx="1"/>
          </p:nvPr>
        </p:nvSpPr>
        <p:spPr/>
        <p:txBody>
          <a:bodyPr/>
          <a:lstStyle/>
          <a:p>
            <a:r>
              <a:rPr lang="en-US" dirty="0"/>
              <a:t>Indirect method</a:t>
            </a:r>
          </a:p>
        </p:txBody>
      </p:sp>
      <p:sp>
        <p:nvSpPr>
          <p:cNvPr id="5" name="Slide Number Placeholder 4">
            <a:extLst>
              <a:ext uri="{FF2B5EF4-FFF2-40B4-BE49-F238E27FC236}">
                <a16:creationId xmlns:a16="http://schemas.microsoft.com/office/drawing/2014/main" id="{23A946C1-4E78-A7B7-7757-81F59A6DA8FA}"/>
              </a:ext>
            </a:extLst>
          </p:cNvPr>
          <p:cNvSpPr>
            <a:spLocks noGrp="1"/>
          </p:cNvSpPr>
          <p:nvPr>
            <p:ph type="sldNum" sz="quarter" idx="10"/>
          </p:nvPr>
        </p:nvSpPr>
        <p:spPr/>
        <p:txBody>
          <a:bodyPr/>
          <a:lstStyle/>
          <a:p>
            <a:fld id="{307C7597-8D70-4701-8085-9524B0B5C72B}" type="slidenum">
              <a:rPr lang="fr-FR" smtClean="0"/>
              <a:pPr/>
              <a:t>108</a:t>
            </a:fld>
            <a:endParaRPr lang="fr-FR" dirty="0"/>
          </a:p>
        </p:txBody>
      </p:sp>
      <p:sp>
        <p:nvSpPr>
          <p:cNvPr id="35" name="TextBox 34">
            <a:extLst>
              <a:ext uri="{FF2B5EF4-FFF2-40B4-BE49-F238E27FC236}">
                <a16:creationId xmlns:a16="http://schemas.microsoft.com/office/drawing/2014/main" id="{08699C30-EFCE-7F6F-48E7-0CB75A978AD6}"/>
              </a:ext>
            </a:extLst>
          </p:cNvPr>
          <p:cNvSpPr txBox="1"/>
          <p:nvPr/>
        </p:nvSpPr>
        <p:spPr>
          <a:xfrm>
            <a:off x="-5234" y="2565326"/>
            <a:ext cx="2031284" cy="1076577"/>
          </a:xfrm>
          <a:prstGeom prst="rect">
            <a:avLst/>
          </a:prstGeom>
          <a:noFill/>
        </p:spPr>
        <p:txBody>
          <a:bodyPr wrap="square" rtlCol="0">
            <a:spAutoFit/>
          </a:bodyPr>
          <a:lstStyle/>
          <a:p>
            <a:pPr algn="ctr"/>
            <a:r>
              <a:rPr lang="en-US" sz="3198" dirty="0"/>
              <a:t>∆ Cash</a:t>
            </a:r>
          </a:p>
          <a:p>
            <a:pPr algn="ctr"/>
            <a:r>
              <a:rPr lang="en-US" sz="3198" b="1" dirty="0"/>
              <a:t>2,280,000</a:t>
            </a:r>
            <a:endParaRPr lang="en-US" sz="3198" dirty="0"/>
          </a:p>
        </p:txBody>
      </p:sp>
      <p:sp>
        <p:nvSpPr>
          <p:cNvPr id="38" name="TextBox 37">
            <a:extLst>
              <a:ext uri="{FF2B5EF4-FFF2-40B4-BE49-F238E27FC236}">
                <a16:creationId xmlns:a16="http://schemas.microsoft.com/office/drawing/2014/main" id="{6704569D-D9CD-8FE6-4F6E-1D4A97549C08}"/>
              </a:ext>
            </a:extLst>
          </p:cNvPr>
          <p:cNvSpPr txBox="1"/>
          <p:nvPr/>
        </p:nvSpPr>
        <p:spPr>
          <a:xfrm>
            <a:off x="9254630" y="2565326"/>
            <a:ext cx="2946295" cy="2552943"/>
          </a:xfrm>
          <a:prstGeom prst="rect">
            <a:avLst/>
          </a:prstGeom>
          <a:noFill/>
        </p:spPr>
        <p:txBody>
          <a:bodyPr wrap="square" rtlCol="0">
            <a:spAutoFit/>
          </a:bodyPr>
          <a:lstStyle/>
          <a:p>
            <a:pPr algn="ctr"/>
            <a:r>
              <a:rPr lang="en-US" sz="3198" dirty="0"/>
              <a:t>∆ Current Operating Assets (COA)</a:t>
            </a:r>
          </a:p>
          <a:p>
            <a:pPr algn="ctr"/>
            <a:r>
              <a:rPr lang="en-US" sz="3198" dirty="0"/>
              <a:t>∆ Inventories </a:t>
            </a:r>
          </a:p>
          <a:p>
            <a:pPr algn="ctr"/>
            <a:r>
              <a:rPr lang="en-US" sz="3198" dirty="0"/>
              <a:t>= + 80,000</a:t>
            </a:r>
          </a:p>
        </p:txBody>
      </p:sp>
      <p:sp>
        <p:nvSpPr>
          <p:cNvPr id="42" name="TextBox 41">
            <a:extLst>
              <a:ext uri="{FF2B5EF4-FFF2-40B4-BE49-F238E27FC236}">
                <a16:creationId xmlns:a16="http://schemas.microsoft.com/office/drawing/2014/main" id="{34446B85-3A6B-027E-9C6B-7FFFB3B15425}"/>
              </a:ext>
            </a:extLst>
          </p:cNvPr>
          <p:cNvSpPr txBox="1"/>
          <p:nvPr/>
        </p:nvSpPr>
        <p:spPr>
          <a:xfrm>
            <a:off x="4752507" y="2565325"/>
            <a:ext cx="3934516" cy="3537187"/>
          </a:xfrm>
          <a:prstGeom prst="rect">
            <a:avLst/>
          </a:prstGeom>
          <a:noFill/>
        </p:spPr>
        <p:txBody>
          <a:bodyPr wrap="square" rtlCol="0">
            <a:spAutoFit/>
          </a:bodyPr>
          <a:lstStyle/>
          <a:p>
            <a:pPr algn="ctr"/>
            <a:r>
              <a:rPr lang="en-US" sz="3198" dirty="0"/>
              <a:t>∆ Current Operating liabilities (COL) </a:t>
            </a:r>
            <a:endParaRPr lang="en-US" sz="2666" dirty="0"/>
          </a:p>
          <a:p>
            <a:pPr algn="ctr"/>
            <a:r>
              <a:rPr lang="en-US" sz="3198" dirty="0"/>
              <a:t>∆ Accounts payable</a:t>
            </a:r>
          </a:p>
          <a:p>
            <a:pPr algn="ctr"/>
            <a:r>
              <a:rPr lang="en-US" sz="3198" dirty="0"/>
              <a:t>+ ∆ Accrued expenses </a:t>
            </a:r>
          </a:p>
          <a:p>
            <a:pPr algn="ctr"/>
            <a:r>
              <a:rPr lang="en-US" sz="3198" dirty="0"/>
              <a:t>= + 1,760,000</a:t>
            </a:r>
          </a:p>
          <a:p>
            <a:pPr algn="ctr"/>
            <a:endParaRPr lang="en-US" sz="3198" dirty="0"/>
          </a:p>
        </p:txBody>
      </p:sp>
      <p:sp>
        <p:nvSpPr>
          <p:cNvPr id="48" name="TextBox 47">
            <a:extLst>
              <a:ext uri="{FF2B5EF4-FFF2-40B4-BE49-F238E27FC236}">
                <a16:creationId xmlns:a16="http://schemas.microsoft.com/office/drawing/2014/main" id="{9522C7F2-BEE9-DA6A-B330-ACDCBF3DD18D}"/>
              </a:ext>
            </a:extLst>
          </p:cNvPr>
          <p:cNvSpPr txBox="1"/>
          <p:nvPr/>
        </p:nvSpPr>
        <p:spPr>
          <a:xfrm>
            <a:off x="1873592" y="2501090"/>
            <a:ext cx="2686987" cy="1076577"/>
          </a:xfrm>
          <a:prstGeom prst="rect">
            <a:avLst/>
          </a:prstGeom>
          <a:noFill/>
        </p:spPr>
        <p:txBody>
          <a:bodyPr wrap="square" rtlCol="0">
            <a:spAutoFit/>
          </a:bodyPr>
          <a:lstStyle/>
          <a:p>
            <a:pPr algn="ctr"/>
            <a:r>
              <a:rPr lang="en-US" sz="3198" dirty="0"/>
              <a:t>Profit</a:t>
            </a:r>
          </a:p>
          <a:p>
            <a:pPr algn="ctr"/>
            <a:r>
              <a:rPr lang="en-US" sz="3198" dirty="0"/>
              <a:t>600,000</a:t>
            </a:r>
          </a:p>
        </p:txBody>
      </p:sp>
      <p:sp>
        <p:nvSpPr>
          <p:cNvPr id="2" name="TextBox 1">
            <a:extLst>
              <a:ext uri="{FF2B5EF4-FFF2-40B4-BE49-F238E27FC236}">
                <a16:creationId xmlns:a16="http://schemas.microsoft.com/office/drawing/2014/main" id="{1C8BB935-7AF5-7E09-8C40-0028A4219E73}"/>
              </a:ext>
            </a:extLst>
          </p:cNvPr>
          <p:cNvSpPr txBox="1"/>
          <p:nvPr/>
        </p:nvSpPr>
        <p:spPr>
          <a:xfrm>
            <a:off x="1972498" y="2688323"/>
            <a:ext cx="424957" cy="830677"/>
          </a:xfrm>
          <a:prstGeom prst="rect">
            <a:avLst/>
          </a:prstGeom>
          <a:solidFill>
            <a:schemeClr val="accent1">
              <a:lumMod val="20000"/>
              <a:lumOff val="80000"/>
            </a:schemeClr>
          </a:solidFill>
        </p:spPr>
        <p:txBody>
          <a:bodyPr wrap="square" rtlCol="0">
            <a:spAutoFit/>
          </a:bodyPr>
          <a:lstStyle/>
          <a:p>
            <a:pPr algn="ctr"/>
            <a:r>
              <a:rPr lang="en-US" sz="4798" dirty="0"/>
              <a:t>=</a:t>
            </a:r>
          </a:p>
        </p:txBody>
      </p:sp>
      <p:sp>
        <p:nvSpPr>
          <p:cNvPr id="19" name="TextBox 18">
            <a:extLst>
              <a:ext uri="{FF2B5EF4-FFF2-40B4-BE49-F238E27FC236}">
                <a16:creationId xmlns:a16="http://schemas.microsoft.com/office/drawing/2014/main" id="{2D2237B4-154F-BBA7-5855-DFD19C7D1547}"/>
              </a:ext>
            </a:extLst>
          </p:cNvPr>
          <p:cNvSpPr txBox="1"/>
          <p:nvPr/>
        </p:nvSpPr>
        <p:spPr>
          <a:xfrm>
            <a:off x="4176724" y="2853217"/>
            <a:ext cx="767710" cy="830677"/>
          </a:xfrm>
          <a:prstGeom prst="rect">
            <a:avLst/>
          </a:prstGeom>
          <a:solidFill>
            <a:schemeClr val="accent1">
              <a:lumMod val="20000"/>
              <a:lumOff val="80000"/>
            </a:schemeClr>
          </a:solidFill>
        </p:spPr>
        <p:txBody>
          <a:bodyPr wrap="square" rtlCol="0">
            <a:spAutoFit/>
          </a:bodyPr>
          <a:lstStyle/>
          <a:p>
            <a:pPr algn="ctr"/>
            <a:r>
              <a:rPr lang="en-US" sz="4798" dirty="0"/>
              <a:t>+</a:t>
            </a:r>
          </a:p>
        </p:txBody>
      </p:sp>
      <p:sp>
        <p:nvSpPr>
          <p:cNvPr id="20" name="TextBox 19">
            <a:extLst>
              <a:ext uri="{FF2B5EF4-FFF2-40B4-BE49-F238E27FC236}">
                <a16:creationId xmlns:a16="http://schemas.microsoft.com/office/drawing/2014/main" id="{42CEBE30-604D-CE94-BEAA-D34EECAF2B7B}"/>
              </a:ext>
            </a:extLst>
          </p:cNvPr>
          <p:cNvSpPr txBox="1"/>
          <p:nvPr/>
        </p:nvSpPr>
        <p:spPr>
          <a:xfrm>
            <a:off x="8495096" y="2855537"/>
            <a:ext cx="767710" cy="830677"/>
          </a:xfrm>
          <a:prstGeom prst="rect">
            <a:avLst/>
          </a:prstGeom>
          <a:solidFill>
            <a:schemeClr val="accent1">
              <a:lumMod val="20000"/>
              <a:lumOff val="80000"/>
            </a:schemeClr>
          </a:solidFill>
        </p:spPr>
        <p:txBody>
          <a:bodyPr wrap="square" rtlCol="0">
            <a:spAutoFit/>
          </a:bodyPr>
          <a:lstStyle/>
          <a:p>
            <a:pPr algn="ctr"/>
            <a:r>
              <a:rPr lang="en-US" sz="4798" dirty="0"/>
              <a:t>– </a:t>
            </a:r>
          </a:p>
        </p:txBody>
      </p:sp>
      <p:sp>
        <p:nvSpPr>
          <p:cNvPr id="7" name="TextBox 6">
            <a:extLst>
              <a:ext uri="{FF2B5EF4-FFF2-40B4-BE49-F238E27FC236}">
                <a16:creationId xmlns:a16="http://schemas.microsoft.com/office/drawing/2014/main" id="{67C34B07-C066-3B62-26EF-95929F8D2EF4}"/>
              </a:ext>
            </a:extLst>
          </p:cNvPr>
          <p:cNvSpPr txBox="1"/>
          <p:nvPr/>
        </p:nvSpPr>
        <p:spPr>
          <a:xfrm>
            <a:off x="2079602" y="5520985"/>
            <a:ext cx="9012719" cy="1240981"/>
          </a:xfrm>
          <a:prstGeom prst="rect">
            <a:avLst/>
          </a:prstGeom>
          <a:solidFill>
            <a:schemeClr val="accent1">
              <a:lumMod val="20000"/>
              <a:lumOff val="80000"/>
            </a:schemeClr>
          </a:solidFill>
        </p:spPr>
        <p:txBody>
          <a:bodyPr wrap="square" rtlCol="0">
            <a:spAutoFit/>
          </a:bodyPr>
          <a:lstStyle/>
          <a:p>
            <a:pPr algn="ctr"/>
            <a:r>
              <a:rPr lang="en-US" sz="3732" dirty="0"/>
              <a:t>2,280,000 = 600,000 + 1,760,000 – 80,000</a:t>
            </a:r>
          </a:p>
        </p:txBody>
      </p:sp>
      <p:sp>
        <p:nvSpPr>
          <p:cNvPr id="6" name="Right Brace 5">
            <a:extLst>
              <a:ext uri="{FF2B5EF4-FFF2-40B4-BE49-F238E27FC236}">
                <a16:creationId xmlns:a16="http://schemas.microsoft.com/office/drawing/2014/main" id="{692B406E-8CFD-7DA3-45FE-57737599BBF3}"/>
              </a:ext>
            </a:extLst>
          </p:cNvPr>
          <p:cNvSpPr/>
          <p:nvPr/>
        </p:nvSpPr>
        <p:spPr>
          <a:xfrm rot="16200000">
            <a:off x="7884836" y="-1526642"/>
            <a:ext cx="622320" cy="7992008"/>
          </a:xfrm>
          <a:prstGeom prst="rightBrace">
            <a:avLst>
              <a:gd name="adj1" fmla="val 47671"/>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399"/>
          </a:p>
        </p:txBody>
      </p:sp>
      <p:sp>
        <p:nvSpPr>
          <p:cNvPr id="14" name="TextBox 13">
            <a:extLst>
              <a:ext uri="{FF2B5EF4-FFF2-40B4-BE49-F238E27FC236}">
                <a16:creationId xmlns:a16="http://schemas.microsoft.com/office/drawing/2014/main" id="{75E7AAE4-28E7-05A8-26ED-5690A319DAED}"/>
              </a:ext>
            </a:extLst>
          </p:cNvPr>
          <p:cNvSpPr txBox="1"/>
          <p:nvPr/>
        </p:nvSpPr>
        <p:spPr>
          <a:xfrm>
            <a:off x="5040398" y="837977"/>
            <a:ext cx="767710" cy="830677"/>
          </a:xfrm>
          <a:prstGeom prst="rect">
            <a:avLst/>
          </a:prstGeom>
          <a:solidFill>
            <a:schemeClr val="accent1">
              <a:lumMod val="20000"/>
              <a:lumOff val="80000"/>
            </a:schemeClr>
          </a:solidFill>
        </p:spPr>
        <p:txBody>
          <a:bodyPr wrap="square" rtlCol="0">
            <a:spAutoFit/>
          </a:bodyPr>
          <a:lstStyle/>
          <a:p>
            <a:pPr algn="ctr"/>
            <a:r>
              <a:rPr lang="en-US" sz="4798" dirty="0"/>
              <a:t>+ </a:t>
            </a:r>
          </a:p>
        </p:txBody>
      </p:sp>
      <p:sp>
        <p:nvSpPr>
          <p:cNvPr id="17" name="TextBox 16">
            <a:extLst>
              <a:ext uri="{FF2B5EF4-FFF2-40B4-BE49-F238E27FC236}">
                <a16:creationId xmlns:a16="http://schemas.microsoft.com/office/drawing/2014/main" id="{152D092A-2EAE-287C-CB13-C3FB3863DD2A}"/>
              </a:ext>
            </a:extLst>
          </p:cNvPr>
          <p:cNvSpPr txBox="1"/>
          <p:nvPr/>
        </p:nvSpPr>
        <p:spPr>
          <a:xfrm>
            <a:off x="5808108" y="496771"/>
            <a:ext cx="5462058" cy="1568699"/>
          </a:xfrm>
          <a:prstGeom prst="rect">
            <a:avLst/>
          </a:prstGeom>
          <a:noFill/>
        </p:spPr>
        <p:txBody>
          <a:bodyPr wrap="square" rtlCol="0">
            <a:spAutoFit/>
          </a:bodyPr>
          <a:lstStyle/>
          <a:p>
            <a:pPr algn="ctr"/>
            <a:r>
              <a:rPr lang="en-US" sz="3198" b="1" dirty="0"/>
              <a:t>Decrease</a:t>
            </a:r>
            <a:r>
              <a:rPr lang="en-US" sz="3198" dirty="0"/>
              <a:t> in working capital requirement (WCR)</a:t>
            </a:r>
          </a:p>
          <a:p>
            <a:pPr algn="ctr"/>
            <a:r>
              <a:rPr lang="en-US" sz="3198" dirty="0"/>
              <a:t>1,680,000</a:t>
            </a:r>
          </a:p>
        </p:txBody>
      </p:sp>
      <p:sp>
        <p:nvSpPr>
          <p:cNvPr id="3" name="TextBox 2">
            <a:extLst>
              <a:ext uri="{FF2B5EF4-FFF2-40B4-BE49-F238E27FC236}">
                <a16:creationId xmlns:a16="http://schemas.microsoft.com/office/drawing/2014/main" id="{60870BE6-9C94-3AF4-81A9-107303B105D5}"/>
              </a:ext>
            </a:extLst>
          </p:cNvPr>
          <p:cNvSpPr txBox="1"/>
          <p:nvPr/>
        </p:nvSpPr>
        <p:spPr>
          <a:xfrm>
            <a:off x="1972498" y="804953"/>
            <a:ext cx="424957" cy="830677"/>
          </a:xfrm>
          <a:prstGeom prst="rect">
            <a:avLst/>
          </a:prstGeom>
          <a:solidFill>
            <a:schemeClr val="accent1">
              <a:lumMod val="20000"/>
              <a:lumOff val="80000"/>
            </a:schemeClr>
          </a:solidFill>
        </p:spPr>
        <p:txBody>
          <a:bodyPr wrap="square" rtlCol="0">
            <a:spAutoFit/>
          </a:bodyPr>
          <a:lstStyle/>
          <a:p>
            <a:pPr algn="ctr"/>
            <a:r>
              <a:rPr lang="en-US" sz="4798" dirty="0"/>
              <a:t>=</a:t>
            </a:r>
          </a:p>
        </p:txBody>
      </p:sp>
      <p:sp>
        <p:nvSpPr>
          <p:cNvPr id="8" name="TextBox 7">
            <a:extLst>
              <a:ext uri="{FF2B5EF4-FFF2-40B4-BE49-F238E27FC236}">
                <a16:creationId xmlns:a16="http://schemas.microsoft.com/office/drawing/2014/main" id="{CF544165-2EAC-7C86-4F3F-094C51EEE10F}"/>
              </a:ext>
            </a:extLst>
          </p:cNvPr>
          <p:cNvSpPr txBox="1"/>
          <p:nvPr/>
        </p:nvSpPr>
        <p:spPr>
          <a:xfrm>
            <a:off x="-116029" y="773207"/>
            <a:ext cx="2031284" cy="1076577"/>
          </a:xfrm>
          <a:prstGeom prst="rect">
            <a:avLst/>
          </a:prstGeom>
          <a:noFill/>
        </p:spPr>
        <p:txBody>
          <a:bodyPr wrap="square" rtlCol="0">
            <a:spAutoFit/>
          </a:bodyPr>
          <a:lstStyle/>
          <a:p>
            <a:pPr algn="ctr"/>
            <a:r>
              <a:rPr lang="en-US" sz="3198" dirty="0"/>
              <a:t>∆ Cash</a:t>
            </a:r>
          </a:p>
          <a:p>
            <a:pPr algn="ctr"/>
            <a:r>
              <a:rPr lang="en-US" sz="3198" b="1" dirty="0"/>
              <a:t>2,280,000</a:t>
            </a:r>
            <a:endParaRPr lang="en-US" sz="3198" dirty="0"/>
          </a:p>
        </p:txBody>
      </p:sp>
      <p:sp>
        <p:nvSpPr>
          <p:cNvPr id="9" name="TextBox 8">
            <a:extLst>
              <a:ext uri="{FF2B5EF4-FFF2-40B4-BE49-F238E27FC236}">
                <a16:creationId xmlns:a16="http://schemas.microsoft.com/office/drawing/2014/main" id="{B81B5A00-EC3F-D33F-17F1-8B4945B44852}"/>
              </a:ext>
            </a:extLst>
          </p:cNvPr>
          <p:cNvSpPr txBox="1"/>
          <p:nvPr/>
        </p:nvSpPr>
        <p:spPr>
          <a:xfrm>
            <a:off x="2318049" y="719655"/>
            <a:ext cx="2686987" cy="1076577"/>
          </a:xfrm>
          <a:prstGeom prst="rect">
            <a:avLst/>
          </a:prstGeom>
          <a:noFill/>
        </p:spPr>
        <p:txBody>
          <a:bodyPr wrap="square" rtlCol="0">
            <a:spAutoFit/>
          </a:bodyPr>
          <a:lstStyle/>
          <a:p>
            <a:pPr algn="ctr"/>
            <a:r>
              <a:rPr lang="en-US" sz="3198" dirty="0"/>
              <a:t>Net income</a:t>
            </a:r>
          </a:p>
          <a:p>
            <a:pPr algn="ctr"/>
            <a:r>
              <a:rPr lang="en-US" sz="3198" dirty="0"/>
              <a:t>600,000</a:t>
            </a:r>
          </a:p>
        </p:txBody>
      </p:sp>
    </p:spTree>
    <p:extLst>
      <p:ext uri="{BB962C8B-B14F-4D97-AF65-F5344CB8AC3E}">
        <p14:creationId xmlns:p14="http://schemas.microsoft.com/office/powerpoint/2010/main" val="36068714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47434B-CE85-424E-8C21-8A6407D02230}"/>
              </a:ext>
            </a:extLst>
          </p:cNvPr>
          <p:cNvSpPr>
            <a:spLocks noGrp="1"/>
          </p:cNvSpPr>
          <p:nvPr>
            <p:ph type="title"/>
          </p:nvPr>
        </p:nvSpPr>
        <p:spPr>
          <a:xfrm>
            <a:off x="656844" y="487045"/>
            <a:ext cx="10829544" cy="830677"/>
          </a:xfrm>
        </p:spPr>
        <p:txBody>
          <a:bodyPr>
            <a:normAutofit/>
          </a:bodyPr>
          <a:lstStyle/>
          <a:p>
            <a:r>
              <a:rPr lang="en-US" dirty="0"/>
              <a:t>MCQ n°2 </a:t>
            </a:r>
            <a:br>
              <a:rPr lang="en-US" dirty="0"/>
            </a:br>
            <a:r>
              <a:rPr lang="en-US" dirty="0"/>
              <a:t>Direct method</a:t>
            </a:r>
          </a:p>
        </p:txBody>
      </p:sp>
      <p:sp>
        <p:nvSpPr>
          <p:cNvPr id="5" name="Slide Number Placeholder 4">
            <a:extLst>
              <a:ext uri="{FF2B5EF4-FFF2-40B4-BE49-F238E27FC236}">
                <a16:creationId xmlns:a16="http://schemas.microsoft.com/office/drawing/2014/main" id="{3DFC0698-BEF3-44F1-BD96-7A573398ED4E}"/>
              </a:ext>
            </a:extLst>
          </p:cNvPr>
          <p:cNvSpPr>
            <a:spLocks noGrp="1"/>
          </p:cNvSpPr>
          <p:nvPr>
            <p:ph type="sldNum" sz="quarter" idx="10"/>
          </p:nvPr>
        </p:nvSpPr>
        <p:spPr/>
        <p:txBody>
          <a:bodyPr/>
          <a:lstStyle/>
          <a:p>
            <a:fld id="{307C7597-8D70-4701-8085-9524B0B5C72B}" type="slidenum">
              <a:rPr lang="fr-FR" smtClean="0"/>
              <a:pPr/>
              <a:t>109</a:t>
            </a:fld>
            <a:endParaRPr lang="fr-FR" dirty="0"/>
          </a:p>
        </p:txBody>
      </p:sp>
      <p:sp>
        <p:nvSpPr>
          <p:cNvPr id="35" name="TextBox 34">
            <a:extLst>
              <a:ext uri="{FF2B5EF4-FFF2-40B4-BE49-F238E27FC236}">
                <a16:creationId xmlns:a16="http://schemas.microsoft.com/office/drawing/2014/main" id="{D9956592-1443-45B8-B466-050B254BCFFF}"/>
              </a:ext>
            </a:extLst>
          </p:cNvPr>
          <p:cNvSpPr txBox="1"/>
          <p:nvPr/>
        </p:nvSpPr>
        <p:spPr>
          <a:xfrm>
            <a:off x="-62478" y="2701078"/>
            <a:ext cx="2255261" cy="1076577"/>
          </a:xfrm>
          <a:prstGeom prst="rect">
            <a:avLst/>
          </a:prstGeom>
          <a:noFill/>
        </p:spPr>
        <p:txBody>
          <a:bodyPr wrap="square" rtlCol="0">
            <a:spAutoFit/>
          </a:bodyPr>
          <a:lstStyle/>
          <a:p>
            <a:pPr algn="ctr"/>
            <a:r>
              <a:rPr lang="en-US" sz="3198" dirty="0"/>
              <a:t>∆ Cash</a:t>
            </a:r>
          </a:p>
          <a:p>
            <a:pPr algn="ctr"/>
            <a:r>
              <a:rPr lang="en-US" sz="3198" b="1" dirty="0"/>
              <a:t>2,280,000</a:t>
            </a:r>
            <a:endParaRPr lang="en-US" sz="3198" dirty="0"/>
          </a:p>
        </p:txBody>
      </p:sp>
      <p:sp>
        <p:nvSpPr>
          <p:cNvPr id="38" name="TextBox 37">
            <a:extLst>
              <a:ext uri="{FF2B5EF4-FFF2-40B4-BE49-F238E27FC236}">
                <a16:creationId xmlns:a16="http://schemas.microsoft.com/office/drawing/2014/main" id="{EB6F801B-0102-4DF3-8757-D3AF7C06B4C0}"/>
              </a:ext>
            </a:extLst>
          </p:cNvPr>
          <p:cNvSpPr txBox="1"/>
          <p:nvPr/>
        </p:nvSpPr>
        <p:spPr>
          <a:xfrm>
            <a:off x="7439494" y="2501090"/>
            <a:ext cx="4414335" cy="1568699"/>
          </a:xfrm>
          <a:prstGeom prst="rect">
            <a:avLst/>
          </a:prstGeom>
          <a:noFill/>
        </p:spPr>
        <p:txBody>
          <a:bodyPr wrap="square" rtlCol="0">
            <a:spAutoFit/>
          </a:bodyPr>
          <a:lstStyle/>
          <a:p>
            <a:pPr algn="ctr"/>
            <a:r>
              <a:rPr lang="en-US" sz="3198" dirty="0"/>
              <a:t>Cash outflow</a:t>
            </a:r>
          </a:p>
          <a:p>
            <a:pPr algn="ctr"/>
            <a:r>
              <a:rPr lang="en-US" sz="3198" dirty="0"/>
              <a:t>= 60% x 88 x 50,000 + 80,000 = 2,720,000</a:t>
            </a:r>
          </a:p>
        </p:txBody>
      </p:sp>
      <p:sp>
        <p:nvSpPr>
          <p:cNvPr id="48" name="TextBox 47">
            <a:extLst>
              <a:ext uri="{FF2B5EF4-FFF2-40B4-BE49-F238E27FC236}">
                <a16:creationId xmlns:a16="http://schemas.microsoft.com/office/drawing/2014/main" id="{998A2DC4-511C-4E8C-A9D1-8957A0F3F96D}"/>
              </a:ext>
            </a:extLst>
          </p:cNvPr>
          <p:cNvSpPr txBox="1"/>
          <p:nvPr/>
        </p:nvSpPr>
        <p:spPr>
          <a:xfrm>
            <a:off x="3025157" y="2575291"/>
            <a:ext cx="2686987" cy="1076577"/>
          </a:xfrm>
          <a:prstGeom prst="rect">
            <a:avLst/>
          </a:prstGeom>
          <a:noFill/>
        </p:spPr>
        <p:txBody>
          <a:bodyPr wrap="square" rtlCol="0">
            <a:spAutoFit/>
          </a:bodyPr>
          <a:lstStyle/>
          <a:p>
            <a:pPr algn="ctr"/>
            <a:r>
              <a:rPr lang="en-US" sz="3198" dirty="0"/>
              <a:t>Cash inflow</a:t>
            </a:r>
          </a:p>
          <a:p>
            <a:pPr algn="ctr"/>
            <a:r>
              <a:rPr lang="en-US" sz="3198" dirty="0"/>
              <a:t>5,000,000</a:t>
            </a:r>
          </a:p>
        </p:txBody>
      </p:sp>
      <p:sp>
        <p:nvSpPr>
          <p:cNvPr id="2" name="TextBox 1">
            <a:extLst>
              <a:ext uri="{FF2B5EF4-FFF2-40B4-BE49-F238E27FC236}">
                <a16:creationId xmlns:a16="http://schemas.microsoft.com/office/drawing/2014/main" id="{98B2C701-AAC7-4B27-8A10-1AD3384E9E25}"/>
              </a:ext>
            </a:extLst>
          </p:cNvPr>
          <p:cNvSpPr txBox="1"/>
          <p:nvPr/>
        </p:nvSpPr>
        <p:spPr>
          <a:xfrm>
            <a:off x="2192783" y="2824027"/>
            <a:ext cx="767710" cy="830677"/>
          </a:xfrm>
          <a:prstGeom prst="rect">
            <a:avLst/>
          </a:prstGeom>
          <a:solidFill>
            <a:schemeClr val="accent1">
              <a:lumMod val="20000"/>
              <a:lumOff val="80000"/>
            </a:schemeClr>
          </a:solidFill>
        </p:spPr>
        <p:txBody>
          <a:bodyPr wrap="square" rtlCol="0">
            <a:spAutoFit/>
          </a:bodyPr>
          <a:lstStyle/>
          <a:p>
            <a:pPr algn="ctr"/>
            <a:r>
              <a:rPr lang="en-US" sz="4798" dirty="0"/>
              <a:t>=</a:t>
            </a:r>
          </a:p>
        </p:txBody>
      </p:sp>
      <p:sp>
        <p:nvSpPr>
          <p:cNvPr id="20" name="TextBox 19">
            <a:extLst>
              <a:ext uri="{FF2B5EF4-FFF2-40B4-BE49-F238E27FC236}">
                <a16:creationId xmlns:a16="http://schemas.microsoft.com/office/drawing/2014/main" id="{F3203A82-430E-422B-BBF4-AD723F08F6E4}"/>
              </a:ext>
            </a:extLst>
          </p:cNvPr>
          <p:cNvSpPr txBox="1"/>
          <p:nvPr/>
        </p:nvSpPr>
        <p:spPr>
          <a:xfrm>
            <a:off x="6287929" y="2761197"/>
            <a:ext cx="767710" cy="830677"/>
          </a:xfrm>
          <a:prstGeom prst="rect">
            <a:avLst/>
          </a:prstGeom>
          <a:solidFill>
            <a:schemeClr val="accent1">
              <a:lumMod val="20000"/>
              <a:lumOff val="80000"/>
            </a:schemeClr>
          </a:solidFill>
        </p:spPr>
        <p:txBody>
          <a:bodyPr wrap="square" rtlCol="0">
            <a:spAutoFit/>
          </a:bodyPr>
          <a:lstStyle/>
          <a:p>
            <a:pPr algn="ctr"/>
            <a:r>
              <a:rPr lang="en-US" sz="4798" dirty="0"/>
              <a:t>– </a:t>
            </a:r>
          </a:p>
        </p:txBody>
      </p:sp>
      <p:sp>
        <p:nvSpPr>
          <p:cNvPr id="7" name="TextBox 6">
            <a:extLst>
              <a:ext uri="{FF2B5EF4-FFF2-40B4-BE49-F238E27FC236}">
                <a16:creationId xmlns:a16="http://schemas.microsoft.com/office/drawing/2014/main" id="{F79FE0BA-F6B7-409B-A518-776D787359A7}"/>
              </a:ext>
            </a:extLst>
          </p:cNvPr>
          <p:cNvSpPr txBox="1"/>
          <p:nvPr/>
        </p:nvSpPr>
        <p:spPr>
          <a:xfrm>
            <a:off x="1065154" y="5252314"/>
            <a:ext cx="8725934" cy="666657"/>
          </a:xfrm>
          <a:prstGeom prst="rect">
            <a:avLst/>
          </a:prstGeom>
          <a:solidFill>
            <a:schemeClr val="accent1">
              <a:lumMod val="20000"/>
              <a:lumOff val="80000"/>
            </a:schemeClr>
          </a:solidFill>
        </p:spPr>
        <p:txBody>
          <a:bodyPr wrap="square" rtlCol="0">
            <a:spAutoFit/>
          </a:bodyPr>
          <a:lstStyle/>
          <a:p>
            <a:pPr algn="ctr"/>
            <a:r>
              <a:rPr lang="en-US" sz="3732" dirty="0"/>
              <a:t>2,280,000 = 5,000,000 – 2,720,000</a:t>
            </a:r>
          </a:p>
        </p:txBody>
      </p:sp>
      <p:cxnSp>
        <p:nvCxnSpPr>
          <p:cNvPr id="8" name="Straight Arrow Connector 7">
            <a:extLst>
              <a:ext uri="{FF2B5EF4-FFF2-40B4-BE49-F238E27FC236}">
                <a16:creationId xmlns:a16="http://schemas.microsoft.com/office/drawing/2014/main" id="{9F303EFA-6BE4-4965-B11E-D3F61D23EC38}"/>
              </a:ext>
            </a:extLst>
          </p:cNvPr>
          <p:cNvCxnSpPr>
            <a:cxnSpLocks/>
            <a:stCxn id="35" idx="2"/>
          </p:cNvCxnSpPr>
          <p:nvPr/>
        </p:nvCxnSpPr>
        <p:spPr>
          <a:xfrm>
            <a:off x="1065153" y="3777655"/>
            <a:ext cx="835810" cy="22327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B63C54B1-E61F-4DC7-8B22-F8357D43033A}"/>
              </a:ext>
            </a:extLst>
          </p:cNvPr>
          <p:cNvSpPr txBox="1"/>
          <p:nvPr/>
        </p:nvSpPr>
        <p:spPr>
          <a:xfrm>
            <a:off x="130121" y="4096803"/>
            <a:ext cx="11931757" cy="584455"/>
          </a:xfrm>
          <a:prstGeom prst="rect">
            <a:avLst/>
          </a:prstGeom>
          <a:solidFill>
            <a:schemeClr val="accent1">
              <a:lumMod val="20000"/>
              <a:lumOff val="80000"/>
            </a:schemeClr>
          </a:solidFill>
        </p:spPr>
        <p:txBody>
          <a:bodyPr wrap="square" rtlCol="0">
            <a:spAutoFit/>
          </a:bodyPr>
          <a:lstStyle/>
          <a:p>
            <a:pPr algn="ctr"/>
            <a:r>
              <a:rPr lang="en-US" sz="3198" dirty="0"/>
              <a:t>= Operating cash flow (CFO: cash flow from operating activities)</a:t>
            </a:r>
          </a:p>
        </p:txBody>
      </p:sp>
    </p:spTree>
    <p:extLst>
      <p:ext uri="{BB962C8B-B14F-4D97-AF65-F5344CB8AC3E}">
        <p14:creationId xmlns:p14="http://schemas.microsoft.com/office/powerpoint/2010/main" val="156328211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5D74A-0726-02FA-B734-3E7FD30CB736}"/>
              </a:ext>
            </a:extLst>
          </p:cNvPr>
          <p:cNvSpPr>
            <a:spLocks noGrp="1"/>
          </p:cNvSpPr>
          <p:nvPr>
            <p:ph type="ctrTitle"/>
          </p:nvPr>
        </p:nvSpPr>
        <p:spPr/>
        <p:txBody>
          <a:bodyPr>
            <a:normAutofit fontScale="90000"/>
          </a:bodyPr>
          <a:lstStyle/>
          <a:p>
            <a:r>
              <a:rPr lang="en-US" dirty="0"/>
              <a:t>Balance sheet categories: operating and nonoperating categories</a:t>
            </a:r>
          </a:p>
        </p:txBody>
      </p:sp>
      <p:sp>
        <p:nvSpPr>
          <p:cNvPr id="3" name="Subtitle 2">
            <a:extLst>
              <a:ext uri="{FF2B5EF4-FFF2-40B4-BE49-F238E27FC236}">
                <a16:creationId xmlns:a16="http://schemas.microsoft.com/office/drawing/2014/main" id="{EBE4A0BA-BE53-A72D-7411-E7A98EA38CA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6304545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C3B7FE5-D42C-4BB5-B4E6-707D3B1D5EEF}"/>
              </a:ext>
            </a:extLst>
          </p:cNvPr>
          <p:cNvSpPr>
            <a:spLocks noGrp="1"/>
          </p:cNvSpPr>
          <p:nvPr>
            <p:ph type="title"/>
          </p:nvPr>
        </p:nvSpPr>
        <p:spPr>
          <a:xfrm>
            <a:off x="656844" y="487045"/>
            <a:ext cx="11464134" cy="608854"/>
          </a:xfrm>
        </p:spPr>
        <p:txBody>
          <a:bodyPr/>
          <a:lstStyle/>
          <a:p>
            <a:r>
              <a:rPr lang="en-US" dirty="0"/>
              <a:t>Categories in the balance sheet relevant to financial analysis</a:t>
            </a:r>
          </a:p>
        </p:txBody>
      </p:sp>
      <p:graphicFrame>
        <p:nvGraphicFramePr>
          <p:cNvPr id="6" name="Table 6">
            <a:extLst>
              <a:ext uri="{FF2B5EF4-FFF2-40B4-BE49-F238E27FC236}">
                <a16:creationId xmlns:a16="http://schemas.microsoft.com/office/drawing/2014/main" id="{C55E4B0F-74DE-400C-9496-46E38BDCA444}"/>
              </a:ext>
            </a:extLst>
          </p:cNvPr>
          <p:cNvGraphicFramePr>
            <a:graphicFrameLocks noGrp="1"/>
          </p:cNvGraphicFramePr>
          <p:nvPr>
            <p:ph idx="1"/>
            <p:extLst>
              <p:ext uri="{D42A27DB-BD31-4B8C-83A1-F6EECF244321}">
                <p14:modId xmlns:p14="http://schemas.microsoft.com/office/powerpoint/2010/main" val="2490791022"/>
              </p:ext>
            </p:extLst>
          </p:nvPr>
        </p:nvGraphicFramePr>
        <p:xfrm>
          <a:off x="79900" y="1101632"/>
          <a:ext cx="11922712" cy="5189622"/>
        </p:xfrm>
        <a:graphic>
          <a:graphicData uri="http://schemas.openxmlformats.org/drawingml/2006/table">
            <a:tbl>
              <a:tblPr firstRow="1" bandRow="1">
                <a:tableStyleId>{5C22544A-7EE6-4342-B048-85BDC9FD1C3A}</a:tableStyleId>
              </a:tblPr>
              <a:tblGrid>
                <a:gridCol w="1324747">
                  <a:extLst>
                    <a:ext uri="{9D8B030D-6E8A-4147-A177-3AD203B41FA5}">
                      <a16:colId xmlns:a16="http://schemas.microsoft.com/office/drawing/2014/main" val="2449450424"/>
                    </a:ext>
                  </a:extLst>
                </a:gridCol>
                <a:gridCol w="1329675">
                  <a:extLst>
                    <a:ext uri="{9D8B030D-6E8A-4147-A177-3AD203B41FA5}">
                      <a16:colId xmlns:a16="http://schemas.microsoft.com/office/drawing/2014/main" val="630582381"/>
                    </a:ext>
                  </a:extLst>
                </a:gridCol>
                <a:gridCol w="1319816">
                  <a:extLst>
                    <a:ext uri="{9D8B030D-6E8A-4147-A177-3AD203B41FA5}">
                      <a16:colId xmlns:a16="http://schemas.microsoft.com/office/drawing/2014/main" val="1046699827"/>
                    </a:ext>
                  </a:extLst>
                </a:gridCol>
                <a:gridCol w="1423778">
                  <a:extLst>
                    <a:ext uri="{9D8B030D-6E8A-4147-A177-3AD203B41FA5}">
                      <a16:colId xmlns:a16="http://schemas.microsoft.com/office/drawing/2014/main" val="1272496486"/>
                    </a:ext>
                  </a:extLst>
                </a:gridCol>
                <a:gridCol w="1225713">
                  <a:extLst>
                    <a:ext uri="{9D8B030D-6E8A-4147-A177-3AD203B41FA5}">
                      <a16:colId xmlns:a16="http://schemas.microsoft.com/office/drawing/2014/main" val="3461108221"/>
                    </a:ext>
                  </a:extLst>
                </a:gridCol>
                <a:gridCol w="1324747">
                  <a:extLst>
                    <a:ext uri="{9D8B030D-6E8A-4147-A177-3AD203B41FA5}">
                      <a16:colId xmlns:a16="http://schemas.microsoft.com/office/drawing/2014/main" val="440514077"/>
                    </a:ext>
                  </a:extLst>
                </a:gridCol>
                <a:gridCol w="1560380">
                  <a:extLst>
                    <a:ext uri="{9D8B030D-6E8A-4147-A177-3AD203B41FA5}">
                      <a16:colId xmlns:a16="http://schemas.microsoft.com/office/drawing/2014/main" val="3944282632"/>
                    </a:ext>
                  </a:extLst>
                </a:gridCol>
                <a:gridCol w="1193467">
                  <a:extLst>
                    <a:ext uri="{9D8B030D-6E8A-4147-A177-3AD203B41FA5}">
                      <a16:colId xmlns:a16="http://schemas.microsoft.com/office/drawing/2014/main" val="1694010995"/>
                    </a:ext>
                  </a:extLst>
                </a:gridCol>
                <a:gridCol w="1220389">
                  <a:extLst>
                    <a:ext uri="{9D8B030D-6E8A-4147-A177-3AD203B41FA5}">
                      <a16:colId xmlns:a16="http://schemas.microsoft.com/office/drawing/2014/main" val="1637691667"/>
                    </a:ext>
                  </a:extLst>
                </a:gridCol>
              </a:tblGrid>
              <a:tr h="867248">
                <a:tc gridSpan="2">
                  <a:txBody>
                    <a:bodyPr/>
                    <a:lstStyle/>
                    <a:p>
                      <a:pPr algn="ctr"/>
                      <a:r>
                        <a:rPr lang="en-US" sz="2400" dirty="0"/>
                        <a:t>Current assets</a:t>
                      </a:r>
                    </a:p>
                  </a:txBody>
                  <a:tcPr marL="121860" marR="121860" marT="60930" marB="60930" anchor="ctr"/>
                </a:tc>
                <a:tc hMerge="1">
                  <a:txBody>
                    <a:bodyPr/>
                    <a:lstStyle/>
                    <a:p>
                      <a:endParaRPr lang="en-US" dirty="0"/>
                    </a:p>
                  </a:txBody>
                  <a:tcPr/>
                </a:tc>
                <a:tc gridSpan="2">
                  <a:txBody>
                    <a:bodyPr/>
                    <a:lstStyle/>
                    <a:p>
                      <a:pPr algn="ctr"/>
                      <a:r>
                        <a:rPr lang="en-US" sz="2400" dirty="0"/>
                        <a:t>Non-current assets</a:t>
                      </a:r>
                    </a:p>
                  </a:txBody>
                  <a:tcPr marL="121860" marR="121860" marT="60930" marB="60930" anchor="ctr"/>
                </a:tc>
                <a:tc hMerge="1">
                  <a:txBody>
                    <a:bodyPr/>
                    <a:lstStyle/>
                    <a:p>
                      <a:endParaRPr lang="en-US" dirty="0"/>
                    </a:p>
                  </a:txBody>
                  <a:tcPr/>
                </a:tc>
                <a:tc gridSpan="2">
                  <a:txBody>
                    <a:bodyPr/>
                    <a:lstStyle/>
                    <a:p>
                      <a:pPr algn="ctr"/>
                      <a:r>
                        <a:rPr lang="en-US" sz="2400" dirty="0"/>
                        <a:t>Current liabilities</a:t>
                      </a:r>
                    </a:p>
                  </a:txBody>
                  <a:tcPr marL="121860" marR="121860" marT="60930" marB="60930" anchor="ctr"/>
                </a:tc>
                <a:tc hMerge="1">
                  <a:txBody>
                    <a:bodyPr/>
                    <a:lstStyle/>
                    <a:p>
                      <a:endParaRPr lang="en-US" dirty="0"/>
                    </a:p>
                  </a:txBody>
                  <a:tcPr/>
                </a:tc>
                <a:tc gridSpan="2">
                  <a:txBody>
                    <a:bodyPr/>
                    <a:lstStyle/>
                    <a:p>
                      <a:pPr algn="ctr"/>
                      <a:r>
                        <a:rPr lang="en-US" sz="2400" dirty="0"/>
                        <a:t>Non-current liabilities</a:t>
                      </a:r>
                    </a:p>
                  </a:txBody>
                  <a:tcPr marL="121860" marR="121860" marT="60930" marB="60930" anchor="ctr"/>
                </a:tc>
                <a:tc hMerge="1">
                  <a:txBody>
                    <a:bodyPr/>
                    <a:lstStyle/>
                    <a:p>
                      <a:endParaRPr lang="en-US" dirty="0"/>
                    </a:p>
                  </a:txBody>
                  <a:tcPr/>
                </a:tc>
                <a:tc>
                  <a:txBody>
                    <a:bodyPr/>
                    <a:lstStyle/>
                    <a:p>
                      <a:pPr algn="ctr"/>
                      <a:r>
                        <a:rPr lang="en-US" sz="2400" dirty="0"/>
                        <a:t>Equity</a:t>
                      </a:r>
                    </a:p>
                  </a:txBody>
                  <a:tcPr marL="121860" marR="121860" marT="60930" marB="60930" anchor="ctr"/>
                </a:tc>
                <a:extLst>
                  <a:ext uri="{0D108BD9-81ED-4DB2-BD59-A6C34878D82A}">
                    <a16:rowId xmlns:a16="http://schemas.microsoft.com/office/drawing/2014/main" val="3500697481"/>
                  </a:ext>
                </a:extLst>
              </a:tr>
              <a:tr h="850168">
                <a:tc>
                  <a:txBody>
                    <a:bodyPr/>
                    <a:lstStyle/>
                    <a:p>
                      <a:pPr algn="ctr"/>
                      <a:r>
                        <a:rPr lang="en-US" sz="2400" dirty="0"/>
                        <a:t>CNOA</a:t>
                      </a:r>
                    </a:p>
                  </a:txBody>
                  <a:tcPr marL="121860" marR="121860" marT="60930" marB="60930"/>
                </a:tc>
                <a:tc>
                  <a:txBody>
                    <a:bodyPr/>
                    <a:lstStyle/>
                    <a:p>
                      <a:pPr algn="ctr"/>
                      <a:r>
                        <a:rPr lang="en-US" sz="2400" dirty="0"/>
                        <a:t>COA</a:t>
                      </a:r>
                    </a:p>
                  </a:txBody>
                  <a:tcPr marL="121860" marR="121860" marT="60930" marB="60930"/>
                </a:tc>
                <a:tc>
                  <a:txBody>
                    <a:bodyPr/>
                    <a:lstStyle/>
                    <a:p>
                      <a:pPr algn="ctr"/>
                      <a:r>
                        <a:rPr lang="en-US" sz="2400" dirty="0"/>
                        <a:t>NCNOA</a:t>
                      </a:r>
                    </a:p>
                  </a:txBody>
                  <a:tcPr marL="121860" marR="121860" marT="60930" marB="60930"/>
                </a:tc>
                <a:tc>
                  <a:txBody>
                    <a:bodyPr/>
                    <a:lstStyle/>
                    <a:p>
                      <a:pPr algn="ctr"/>
                      <a:r>
                        <a:rPr lang="en-US" sz="2400" dirty="0"/>
                        <a:t>NCOA</a:t>
                      </a:r>
                    </a:p>
                  </a:txBody>
                  <a:tcPr marL="121860" marR="121860" marT="60930" marB="60930"/>
                </a:tc>
                <a:tc>
                  <a:txBody>
                    <a:bodyPr/>
                    <a:lstStyle/>
                    <a:p>
                      <a:pPr algn="ctr"/>
                      <a:r>
                        <a:rPr lang="en-US" sz="2400" dirty="0"/>
                        <a:t>CD</a:t>
                      </a:r>
                    </a:p>
                  </a:txBody>
                  <a:tcPr marL="121860" marR="121860" marT="60930" marB="60930"/>
                </a:tc>
                <a:tc>
                  <a:txBody>
                    <a:bodyPr/>
                    <a:lstStyle/>
                    <a:p>
                      <a:pPr algn="ctr"/>
                      <a:r>
                        <a:rPr lang="en-US" sz="2400" dirty="0"/>
                        <a:t>COL</a:t>
                      </a:r>
                    </a:p>
                  </a:txBody>
                  <a:tcPr marL="121860" marR="121860" marT="60930" marB="60930"/>
                </a:tc>
                <a:tc>
                  <a:txBody>
                    <a:bodyPr/>
                    <a:lstStyle/>
                    <a:p>
                      <a:pPr algn="ctr"/>
                      <a:r>
                        <a:rPr lang="en-US" sz="2400" dirty="0"/>
                        <a:t>NCD</a:t>
                      </a:r>
                    </a:p>
                  </a:txBody>
                  <a:tcPr marL="121860" marR="121860" marT="60930" marB="60930"/>
                </a:tc>
                <a:tc>
                  <a:txBody>
                    <a:bodyPr/>
                    <a:lstStyle/>
                    <a:p>
                      <a:pPr algn="ctr"/>
                      <a:r>
                        <a:rPr lang="en-US" sz="2400" dirty="0"/>
                        <a:t>NCOL</a:t>
                      </a:r>
                    </a:p>
                  </a:txBody>
                  <a:tcPr marL="121860" marR="121860" marT="60930" marB="60930"/>
                </a:tc>
                <a:tc>
                  <a:txBody>
                    <a:bodyPr/>
                    <a:lstStyle/>
                    <a:p>
                      <a:pPr algn="ctr"/>
                      <a:r>
                        <a:rPr lang="en-US" sz="2400" dirty="0"/>
                        <a:t>Equity</a:t>
                      </a:r>
                    </a:p>
                  </a:txBody>
                  <a:tcPr marL="121860" marR="121860" marT="60930" marB="60930"/>
                </a:tc>
                <a:extLst>
                  <a:ext uri="{0D108BD9-81ED-4DB2-BD59-A6C34878D82A}">
                    <a16:rowId xmlns:a16="http://schemas.microsoft.com/office/drawing/2014/main" val="2702799730"/>
                  </a:ext>
                </a:extLst>
              </a:tr>
              <a:tr h="3468994">
                <a:tc>
                  <a:txBody>
                    <a:bodyPr/>
                    <a:lstStyle/>
                    <a:p>
                      <a:r>
                        <a:rPr lang="en-US" sz="1700" dirty="0"/>
                        <a:t>Cash and cash </a:t>
                      </a:r>
                      <a:r>
                        <a:rPr lang="en-US" sz="1700" dirty="0" err="1"/>
                        <a:t>equiva-lents</a:t>
                      </a:r>
                      <a:endParaRPr lang="en-US" sz="1700" dirty="0"/>
                    </a:p>
                    <a:p>
                      <a:r>
                        <a:rPr lang="en-US" sz="1700" dirty="0"/>
                        <a:t>Marketable securities</a:t>
                      </a:r>
                    </a:p>
                  </a:txBody>
                  <a:tcPr marL="121860" marR="121860" marT="60930" marB="60930"/>
                </a:tc>
                <a:tc>
                  <a:txBody>
                    <a:bodyPr/>
                    <a:lstStyle/>
                    <a:p>
                      <a:r>
                        <a:rPr lang="en-US" sz="1700" dirty="0"/>
                        <a:t>Accounts receivable</a:t>
                      </a:r>
                    </a:p>
                    <a:p>
                      <a:r>
                        <a:rPr lang="en-US" sz="1700" dirty="0"/>
                        <a:t>Inventories</a:t>
                      </a:r>
                    </a:p>
                    <a:p>
                      <a:r>
                        <a:rPr lang="en-US" sz="1700" dirty="0"/>
                        <a:t>Prepaid expenses</a:t>
                      </a:r>
                    </a:p>
                  </a:txBody>
                  <a:tcPr marL="121860" marR="121860" marT="60930" marB="60930"/>
                </a:tc>
                <a:tc>
                  <a:txBody>
                    <a:bodyPr/>
                    <a:lstStyle/>
                    <a:p>
                      <a:r>
                        <a:rPr lang="en-US" sz="1700" dirty="0"/>
                        <a:t>Investment in associates</a:t>
                      </a:r>
                    </a:p>
                    <a:p>
                      <a:r>
                        <a:rPr lang="en-US" sz="1700" dirty="0"/>
                        <a:t>Other long-term financial assets</a:t>
                      </a:r>
                    </a:p>
                    <a:p>
                      <a:pPr marL="0" marR="0" lvl="0" indent="0" defTabSz="914400" eaLnBrk="1" fontAlgn="auto" latinLnBrk="0" hangingPunct="1">
                        <a:lnSpc>
                          <a:spcPct val="100000"/>
                        </a:lnSpc>
                        <a:spcBef>
                          <a:spcPts val="0"/>
                        </a:spcBef>
                        <a:spcAft>
                          <a:spcPts val="0"/>
                        </a:spcAft>
                        <a:buClrTx/>
                        <a:buSzTx/>
                        <a:buFontTx/>
                        <a:buNone/>
                        <a:tabLst/>
                        <a:defRPr/>
                      </a:pPr>
                      <a:r>
                        <a:rPr lang="en-US" sz="1700" dirty="0"/>
                        <a:t>Deferred tax assets</a:t>
                      </a:r>
                    </a:p>
                    <a:p>
                      <a:endParaRPr lang="en-US" sz="1700" dirty="0"/>
                    </a:p>
                  </a:txBody>
                  <a:tcPr marL="121860" marR="121860" marT="60930" marB="60930"/>
                </a:tc>
                <a:tc>
                  <a:txBody>
                    <a:bodyPr/>
                    <a:lstStyle/>
                    <a:p>
                      <a:r>
                        <a:rPr lang="en-US" sz="1700" dirty="0"/>
                        <a:t>Property, plant and equipment</a:t>
                      </a:r>
                    </a:p>
                    <a:p>
                      <a:r>
                        <a:rPr lang="en-US" sz="1700" dirty="0"/>
                        <a:t>Intangible assets</a:t>
                      </a:r>
                    </a:p>
                  </a:txBody>
                  <a:tcPr marL="121860" marR="121860" marT="60930" marB="60930"/>
                </a:tc>
                <a:tc>
                  <a:txBody>
                    <a:bodyPr/>
                    <a:lstStyle/>
                    <a:p>
                      <a:r>
                        <a:rPr lang="en-US" sz="1700" dirty="0"/>
                        <a:t>Short-term interest-bearing liabilities (=debt)</a:t>
                      </a:r>
                    </a:p>
                  </a:txBody>
                  <a:tcPr marL="121860" marR="121860" marT="60930" marB="60930"/>
                </a:tc>
                <a:tc>
                  <a:txBody>
                    <a:bodyPr/>
                    <a:lstStyle/>
                    <a:p>
                      <a:r>
                        <a:rPr lang="en-US" sz="1700" dirty="0"/>
                        <a:t>Accounts payable</a:t>
                      </a:r>
                    </a:p>
                    <a:p>
                      <a:r>
                        <a:rPr lang="en-US" sz="1700" dirty="0"/>
                        <a:t>Accrued expenses</a:t>
                      </a:r>
                    </a:p>
                    <a:p>
                      <a:r>
                        <a:rPr lang="en-US" sz="1700" dirty="0"/>
                        <a:t>Tax liabilities</a:t>
                      </a:r>
                    </a:p>
                    <a:p>
                      <a:r>
                        <a:rPr lang="en-US" sz="1700" dirty="0"/>
                        <a:t>Unearned or deferred revenue</a:t>
                      </a:r>
                    </a:p>
                  </a:txBody>
                  <a:tcPr marL="121860" marR="121860" marT="60930" marB="60930"/>
                </a:tc>
                <a:tc>
                  <a:txBody>
                    <a:bodyPr/>
                    <a:lstStyle/>
                    <a:p>
                      <a:r>
                        <a:rPr lang="en-US" sz="1700" dirty="0"/>
                        <a:t>Long-term interest-bearing</a:t>
                      </a:r>
                      <a:r>
                        <a:rPr lang="en-US" sz="1700" baseline="0" dirty="0"/>
                        <a:t> </a:t>
                      </a:r>
                      <a:r>
                        <a:rPr lang="en-US" sz="1700" dirty="0"/>
                        <a:t>liabilities (=debt)</a:t>
                      </a:r>
                    </a:p>
                    <a:p>
                      <a:pPr marL="0" marR="0" lvl="0" indent="0" defTabSz="914400" eaLnBrk="1" fontAlgn="auto" latinLnBrk="0" hangingPunct="1">
                        <a:lnSpc>
                          <a:spcPct val="100000"/>
                        </a:lnSpc>
                        <a:spcBef>
                          <a:spcPts val="0"/>
                        </a:spcBef>
                        <a:spcAft>
                          <a:spcPts val="0"/>
                        </a:spcAft>
                        <a:buClrTx/>
                        <a:buSzTx/>
                        <a:buFontTx/>
                        <a:buNone/>
                        <a:tabLst/>
                        <a:defRPr/>
                      </a:pPr>
                      <a:r>
                        <a:rPr lang="en-US" sz="1700" dirty="0"/>
                        <a:t>(discounted) Provisions</a:t>
                      </a:r>
                    </a:p>
                    <a:p>
                      <a:endParaRPr lang="en-US" sz="1700" dirty="0"/>
                    </a:p>
                  </a:txBody>
                  <a:tcPr marL="121860" marR="121860" marT="60930" marB="60930"/>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700" dirty="0"/>
                        <a:t>Deferred tax liabilities</a:t>
                      </a:r>
                    </a:p>
                  </a:txBody>
                  <a:tcPr marL="121860" marR="121860" marT="60930" marB="60930"/>
                </a:tc>
                <a:tc>
                  <a:txBody>
                    <a:bodyPr/>
                    <a:lstStyle/>
                    <a:p>
                      <a:endParaRPr lang="en-US" sz="1700" dirty="0"/>
                    </a:p>
                  </a:txBody>
                  <a:tcPr marL="121860" marR="121860" marT="60930" marB="60930"/>
                </a:tc>
                <a:extLst>
                  <a:ext uri="{0D108BD9-81ED-4DB2-BD59-A6C34878D82A}">
                    <a16:rowId xmlns:a16="http://schemas.microsoft.com/office/drawing/2014/main" val="3758790360"/>
                  </a:ext>
                </a:extLst>
              </a:tr>
            </a:tbl>
          </a:graphicData>
        </a:graphic>
      </p:graphicFrame>
      <p:sp>
        <p:nvSpPr>
          <p:cNvPr id="2" name="TextBox 1">
            <a:extLst>
              <a:ext uri="{FF2B5EF4-FFF2-40B4-BE49-F238E27FC236}">
                <a16:creationId xmlns:a16="http://schemas.microsoft.com/office/drawing/2014/main" id="{5F5A7051-B4AB-48E5-A603-5473B04C4B6C}"/>
              </a:ext>
            </a:extLst>
          </p:cNvPr>
          <p:cNvSpPr txBox="1"/>
          <p:nvPr/>
        </p:nvSpPr>
        <p:spPr>
          <a:xfrm>
            <a:off x="258835" y="5892391"/>
            <a:ext cx="11734897" cy="830740"/>
          </a:xfrm>
          <a:prstGeom prst="rect">
            <a:avLst/>
          </a:prstGeom>
          <a:solidFill>
            <a:schemeClr val="bg1">
              <a:lumMod val="95000"/>
            </a:schemeClr>
          </a:solidFill>
        </p:spPr>
        <p:txBody>
          <a:bodyPr wrap="square" rtlCol="0">
            <a:spAutoFit/>
          </a:bodyPr>
          <a:lstStyle/>
          <a:p>
            <a:r>
              <a:rPr lang="en-US" sz="2399" dirty="0"/>
              <a:t>CNOA: Current non-operating assets	NCNO: Non-current non-operating assets</a:t>
            </a:r>
          </a:p>
          <a:p>
            <a:r>
              <a:rPr lang="en-US" sz="2399" dirty="0"/>
              <a:t>COA: Current operating assets		CD: Current debt	NCD: Non-current debt</a:t>
            </a:r>
          </a:p>
        </p:txBody>
      </p:sp>
    </p:spTree>
    <p:extLst>
      <p:ext uri="{BB962C8B-B14F-4D97-AF65-F5344CB8AC3E}">
        <p14:creationId xmlns:p14="http://schemas.microsoft.com/office/powerpoint/2010/main" val="200122512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9F88A5-FD88-93A0-FD93-DAD47F65EB77}"/>
              </a:ext>
            </a:extLst>
          </p:cNvPr>
          <p:cNvSpPr>
            <a:spLocks noGrp="1"/>
          </p:cNvSpPr>
          <p:nvPr>
            <p:ph type="title"/>
          </p:nvPr>
        </p:nvSpPr>
        <p:spPr/>
        <p:txBody>
          <a:bodyPr/>
          <a:lstStyle/>
          <a:p>
            <a:r>
              <a:rPr lang="fr-FR" dirty="0" err="1"/>
              <a:t>Vocabulary</a:t>
            </a:r>
            <a:endParaRPr lang="en-US" dirty="0"/>
          </a:p>
        </p:txBody>
      </p:sp>
      <p:sp>
        <p:nvSpPr>
          <p:cNvPr id="2" name="Content Placeholder 1">
            <a:extLst>
              <a:ext uri="{FF2B5EF4-FFF2-40B4-BE49-F238E27FC236}">
                <a16:creationId xmlns:a16="http://schemas.microsoft.com/office/drawing/2014/main" id="{B87AA8E4-2DA5-CDFB-C37D-9BCDBF83AFE9}"/>
              </a:ext>
            </a:extLst>
          </p:cNvPr>
          <p:cNvSpPr>
            <a:spLocks noGrp="1"/>
          </p:cNvSpPr>
          <p:nvPr>
            <p:ph idx="1"/>
          </p:nvPr>
        </p:nvSpPr>
        <p:spPr>
          <a:xfrm>
            <a:off x="-1" y="1825625"/>
            <a:ext cx="12082509" cy="4351338"/>
          </a:xfrm>
        </p:spPr>
        <p:txBody>
          <a:bodyPr/>
          <a:lstStyle/>
          <a:p>
            <a:r>
              <a:rPr lang="fr-FR" dirty="0" err="1"/>
              <a:t>Debt</a:t>
            </a:r>
            <a:r>
              <a:rPr lang="fr-FR" dirty="0"/>
              <a:t>: </a:t>
            </a:r>
            <a:r>
              <a:rPr lang="fr-FR" b="0" dirty="0" err="1"/>
              <a:t>also</a:t>
            </a:r>
            <a:r>
              <a:rPr lang="fr-FR" b="0" dirty="0"/>
              <a:t> </a:t>
            </a:r>
            <a:r>
              <a:rPr lang="fr-FR" b="0" dirty="0" err="1"/>
              <a:t>named</a:t>
            </a:r>
            <a:r>
              <a:rPr lang="fr-FR" dirty="0"/>
              <a:t> </a:t>
            </a:r>
            <a:r>
              <a:rPr lang="fr-FR" b="0" dirty="0" err="1"/>
              <a:t>financial</a:t>
            </a:r>
            <a:r>
              <a:rPr lang="fr-FR" b="0" dirty="0"/>
              <a:t> </a:t>
            </a:r>
            <a:r>
              <a:rPr lang="fr-FR" b="0" dirty="0" err="1"/>
              <a:t>liability</a:t>
            </a:r>
            <a:r>
              <a:rPr lang="fr-FR" b="0" dirty="0"/>
              <a:t>, </a:t>
            </a:r>
            <a:r>
              <a:rPr lang="fr-FR" b="0" dirty="0" err="1"/>
              <a:t>interest-bearing</a:t>
            </a:r>
            <a:r>
              <a:rPr lang="fr-FR" b="0" dirty="0"/>
              <a:t> </a:t>
            </a:r>
            <a:r>
              <a:rPr lang="fr-FR" b="0" dirty="0" err="1"/>
              <a:t>liabilities</a:t>
            </a:r>
            <a:r>
              <a:rPr lang="fr-FR" b="0" dirty="0"/>
              <a:t> or </a:t>
            </a:r>
            <a:r>
              <a:rPr lang="fr-FR" b="0" dirty="0" err="1"/>
              <a:t>nonoperating</a:t>
            </a:r>
            <a:r>
              <a:rPr lang="fr-FR" b="0" dirty="0"/>
              <a:t> </a:t>
            </a:r>
            <a:r>
              <a:rPr lang="fr-FR" b="0" dirty="0" err="1"/>
              <a:t>liabilities</a:t>
            </a:r>
            <a:endParaRPr lang="fr-FR" b="0" dirty="0"/>
          </a:p>
          <a:p>
            <a:r>
              <a:rPr lang="fr-FR" dirty="0" err="1"/>
              <a:t>Nonoperating</a:t>
            </a:r>
            <a:r>
              <a:rPr lang="fr-FR" dirty="0"/>
              <a:t> assets: </a:t>
            </a:r>
            <a:r>
              <a:rPr lang="fr-FR" b="0" dirty="0" err="1"/>
              <a:t>also</a:t>
            </a:r>
            <a:r>
              <a:rPr lang="fr-FR" b="0" dirty="0"/>
              <a:t> </a:t>
            </a:r>
            <a:r>
              <a:rPr lang="fr-FR" b="0" dirty="0" err="1"/>
              <a:t>named</a:t>
            </a:r>
            <a:r>
              <a:rPr lang="fr-FR" b="0" dirty="0"/>
              <a:t> </a:t>
            </a:r>
            <a:r>
              <a:rPr lang="fr-FR" b="0" dirty="0" err="1"/>
              <a:t>financial</a:t>
            </a:r>
            <a:r>
              <a:rPr lang="fr-FR" b="0" dirty="0"/>
              <a:t> assets or </a:t>
            </a:r>
            <a:r>
              <a:rPr lang="fr-FR" b="0" dirty="0" err="1"/>
              <a:t>interest</a:t>
            </a:r>
            <a:r>
              <a:rPr lang="fr-FR" b="0" dirty="0"/>
              <a:t>-or-</a:t>
            </a:r>
            <a:r>
              <a:rPr lang="fr-FR" b="0" dirty="0" err="1"/>
              <a:t>dividend</a:t>
            </a:r>
            <a:r>
              <a:rPr lang="fr-FR" b="0" dirty="0"/>
              <a:t>-</a:t>
            </a:r>
            <a:r>
              <a:rPr lang="fr-FR" b="0" dirty="0" err="1"/>
              <a:t>earning</a:t>
            </a:r>
            <a:r>
              <a:rPr lang="fr-FR" b="0" dirty="0"/>
              <a:t> assets</a:t>
            </a:r>
          </a:p>
          <a:p>
            <a:r>
              <a:rPr lang="fr-FR" dirty="0"/>
              <a:t>Operating assets: </a:t>
            </a:r>
            <a:r>
              <a:rPr lang="fr-FR" b="0" dirty="0"/>
              <a:t>assets </a:t>
            </a:r>
            <a:r>
              <a:rPr lang="fr-FR" b="0" dirty="0" err="1"/>
              <a:t>used</a:t>
            </a:r>
            <a:r>
              <a:rPr lang="fr-FR" b="0" dirty="0"/>
              <a:t> in operating </a:t>
            </a:r>
            <a:r>
              <a:rPr lang="fr-FR" b="0" dirty="0" err="1"/>
              <a:t>activity</a:t>
            </a:r>
            <a:r>
              <a:rPr lang="fr-FR" b="0" dirty="0"/>
              <a:t> (i.e. </a:t>
            </a:r>
            <a:r>
              <a:rPr lang="fr-FR" b="0" dirty="0" err="1"/>
              <a:t>purchasing</a:t>
            </a:r>
            <a:r>
              <a:rPr lang="fr-FR" b="0" dirty="0"/>
              <a:t>, </a:t>
            </a:r>
            <a:r>
              <a:rPr lang="fr-FR" b="0" dirty="0" err="1"/>
              <a:t>producing</a:t>
            </a:r>
            <a:r>
              <a:rPr lang="fr-FR" b="0" dirty="0"/>
              <a:t> and </a:t>
            </a:r>
            <a:r>
              <a:rPr lang="fr-FR" b="0" dirty="0" err="1"/>
              <a:t>selling</a:t>
            </a:r>
            <a:r>
              <a:rPr lang="fr-FR" b="0" dirty="0"/>
              <a:t> </a:t>
            </a:r>
            <a:r>
              <a:rPr lang="fr-FR" b="0" dirty="0" err="1"/>
              <a:t>products</a:t>
            </a:r>
            <a:r>
              <a:rPr lang="fr-FR" b="0" dirty="0"/>
              <a:t> and/or services)</a:t>
            </a:r>
          </a:p>
          <a:p>
            <a:r>
              <a:rPr lang="fr-FR" dirty="0"/>
              <a:t>Operating </a:t>
            </a:r>
            <a:r>
              <a:rPr lang="fr-FR" dirty="0" err="1"/>
              <a:t>liabilities</a:t>
            </a:r>
            <a:r>
              <a:rPr lang="fr-FR" dirty="0"/>
              <a:t>: </a:t>
            </a:r>
            <a:r>
              <a:rPr lang="fr-FR" b="0" dirty="0"/>
              <a:t>cash </a:t>
            </a:r>
            <a:r>
              <a:rPr lang="fr-FR" b="0" dirty="0" err="1"/>
              <a:t>saved</a:t>
            </a:r>
            <a:r>
              <a:rPr lang="fr-FR" b="0" dirty="0"/>
              <a:t> in operating </a:t>
            </a:r>
            <a:r>
              <a:rPr lang="fr-FR" b="0" dirty="0" err="1"/>
              <a:t>activity</a:t>
            </a:r>
            <a:r>
              <a:rPr lang="fr-FR" b="0" dirty="0"/>
              <a:t> </a:t>
            </a:r>
            <a:r>
              <a:rPr lang="fr-FR" b="0" dirty="0" err="1"/>
              <a:t>because</a:t>
            </a:r>
            <a:r>
              <a:rPr lang="fr-FR" b="0" dirty="0"/>
              <a:t> operating </a:t>
            </a:r>
            <a:r>
              <a:rPr lang="fr-FR" b="0" dirty="0" err="1"/>
              <a:t>expense</a:t>
            </a:r>
            <a:r>
              <a:rPr lang="fr-FR" b="0" dirty="0"/>
              <a:t> are </a:t>
            </a:r>
            <a:r>
              <a:rPr lang="fr-FR" b="0" dirty="0" err="1"/>
              <a:t>paid</a:t>
            </a:r>
            <a:r>
              <a:rPr lang="fr-FR" b="0" dirty="0"/>
              <a:t> </a:t>
            </a:r>
            <a:r>
              <a:rPr lang="fr-FR" b="0" dirty="0" err="1"/>
              <a:t>later</a:t>
            </a:r>
            <a:r>
              <a:rPr lang="fr-FR" b="0" dirty="0"/>
              <a:t> (</a:t>
            </a:r>
            <a:r>
              <a:rPr lang="fr-FR" b="0" dirty="0" err="1"/>
              <a:t>accounts</a:t>
            </a:r>
            <a:r>
              <a:rPr lang="fr-FR" b="0" dirty="0"/>
              <a:t> payable, </a:t>
            </a:r>
            <a:r>
              <a:rPr lang="fr-FR" b="0" dirty="0" err="1"/>
              <a:t>tax</a:t>
            </a:r>
            <a:r>
              <a:rPr lang="fr-FR" b="0" dirty="0"/>
              <a:t> </a:t>
            </a:r>
            <a:r>
              <a:rPr lang="fr-FR" b="0" dirty="0" err="1"/>
              <a:t>liabilities</a:t>
            </a:r>
            <a:r>
              <a:rPr lang="fr-FR" b="0" dirty="0"/>
              <a:t>, social </a:t>
            </a:r>
            <a:r>
              <a:rPr lang="fr-FR" b="0" dirty="0" err="1"/>
              <a:t>benefits</a:t>
            </a:r>
            <a:r>
              <a:rPr lang="fr-FR" b="0" dirty="0"/>
              <a:t> </a:t>
            </a:r>
            <a:r>
              <a:rPr lang="fr-FR" b="0" dirty="0" err="1"/>
              <a:t>liabilities</a:t>
            </a:r>
            <a:r>
              <a:rPr lang="fr-FR" b="0" dirty="0"/>
              <a:t>, etc.) or revenue </a:t>
            </a:r>
            <a:r>
              <a:rPr lang="fr-FR" b="0" dirty="0" err="1"/>
              <a:t>is</a:t>
            </a:r>
            <a:r>
              <a:rPr lang="fr-FR" b="0" dirty="0"/>
              <a:t> </a:t>
            </a:r>
            <a:r>
              <a:rPr lang="fr-FR" b="0" dirty="0" err="1"/>
              <a:t>collected</a:t>
            </a:r>
            <a:r>
              <a:rPr lang="fr-FR" b="0" dirty="0"/>
              <a:t> in </a:t>
            </a:r>
            <a:r>
              <a:rPr lang="fr-FR" b="0" dirty="0" err="1"/>
              <a:t>advance</a:t>
            </a:r>
            <a:r>
              <a:rPr lang="fr-FR" b="0" dirty="0"/>
              <a:t> (</a:t>
            </a:r>
            <a:r>
              <a:rPr lang="fr-FR" b="0" dirty="0" err="1"/>
              <a:t>unearned</a:t>
            </a:r>
            <a:r>
              <a:rPr lang="fr-FR" b="0" dirty="0"/>
              <a:t> or </a:t>
            </a:r>
            <a:r>
              <a:rPr lang="fr-FR" b="0" dirty="0" err="1"/>
              <a:t>deferred</a:t>
            </a:r>
            <a:r>
              <a:rPr lang="fr-FR" b="0" dirty="0"/>
              <a:t> revenue)</a:t>
            </a:r>
          </a:p>
        </p:txBody>
      </p:sp>
      <p:sp>
        <p:nvSpPr>
          <p:cNvPr id="5" name="Slide Number Placeholder 4">
            <a:extLst>
              <a:ext uri="{FF2B5EF4-FFF2-40B4-BE49-F238E27FC236}">
                <a16:creationId xmlns:a16="http://schemas.microsoft.com/office/drawing/2014/main" id="{DDE65071-D0DF-E648-10FB-BD54D5AA0EE9}"/>
              </a:ext>
            </a:extLst>
          </p:cNvPr>
          <p:cNvSpPr>
            <a:spLocks noGrp="1"/>
          </p:cNvSpPr>
          <p:nvPr>
            <p:ph type="sldNum" sz="quarter" idx="10"/>
          </p:nvPr>
        </p:nvSpPr>
        <p:spPr/>
        <p:txBody>
          <a:bodyPr/>
          <a:lstStyle/>
          <a:p>
            <a:fld id="{307C7597-8D70-4701-8085-9524B0B5C72B}" type="slidenum">
              <a:rPr lang="fr-FR" smtClean="0"/>
              <a:pPr/>
              <a:t>112</a:t>
            </a:fld>
            <a:endParaRPr lang="fr-FR" dirty="0"/>
          </a:p>
        </p:txBody>
      </p:sp>
    </p:spTree>
    <p:extLst>
      <p:ext uri="{BB962C8B-B14F-4D97-AF65-F5344CB8AC3E}">
        <p14:creationId xmlns:p14="http://schemas.microsoft.com/office/powerpoint/2010/main" val="71600389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684E69-17F8-1F06-3A30-CB4D598C32E2}"/>
              </a:ext>
            </a:extLst>
          </p:cNvPr>
          <p:cNvSpPr>
            <a:spLocks noGrp="1"/>
          </p:cNvSpPr>
          <p:nvPr>
            <p:ph type="title"/>
          </p:nvPr>
        </p:nvSpPr>
        <p:spPr/>
        <p:txBody>
          <a:bodyPr/>
          <a:lstStyle/>
          <a:p>
            <a:endParaRPr lang="en-US"/>
          </a:p>
        </p:txBody>
      </p:sp>
      <p:graphicFrame>
        <p:nvGraphicFramePr>
          <p:cNvPr id="6" name="Table 6">
            <a:extLst>
              <a:ext uri="{FF2B5EF4-FFF2-40B4-BE49-F238E27FC236}">
                <a16:creationId xmlns:a16="http://schemas.microsoft.com/office/drawing/2014/main" id="{C55E4B0F-74DE-400C-9496-46E38BDCA444}"/>
              </a:ext>
            </a:extLst>
          </p:cNvPr>
          <p:cNvGraphicFramePr>
            <a:graphicFrameLocks noGrp="1"/>
          </p:cNvGraphicFramePr>
          <p:nvPr>
            <p:ph idx="1"/>
            <p:extLst>
              <p:ext uri="{D42A27DB-BD31-4B8C-83A1-F6EECF244321}">
                <p14:modId xmlns:p14="http://schemas.microsoft.com/office/powerpoint/2010/main" val="3567199343"/>
              </p:ext>
            </p:extLst>
          </p:nvPr>
        </p:nvGraphicFramePr>
        <p:xfrm>
          <a:off x="36344" y="260155"/>
          <a:ext cx="12052915" cy="6593255"/>
        </p:xfrm>
        <a:graphic>
          <a:graphicData uri="http://schemas.openxmlformats.org/drawingml/2006/table">
            <a:tbl>
              <a:tblPr firstRow="1" bandRow="1">
                <a:tableStyleId>{5C22544A-7EE6-4342-B048-85BDC9FD1C3A}</a:tableStyleId>
              </a:tblPr>
              <a:tblGrid>
                <a:gridCol w="1339213">
                  <a:extLst>
                    <a:ext uri="{9D8B030D-6E8A-4147-A177-3AD203B41FA5}">
                      <a16:colId xmlns:a16="http://schemas.microsoft.com/office/drawing/2014/main" val="2449450424"/>
                    </a:ext>
                  </a:extLst>
                </a:gridCol>
                <a:gridCol w="1324318">
                  <a:extLst>
                    <a:ext uri="{9D8B030D-6E8A-4147-A177-3AD203B41FA5}">
                      <a16:colId xmlns:a16="http://schemas.microsoft.com/office/drawing/2014/main" val="630582381"/>
                    </a:ext>
                  </a:extLst>
                </a:gridCol>
                <a:gridCol w="1354108">
                  <a:extLst>
                    <a:ext uri="{9D8B030D-6E8A-4147-A177-3AD203B41FA5}">
                      <a16:colId xmlns:a16="http://schemas.microsoft.com/office/drawing/2014/main" val="1046699827"/>
                    </a:ext>
                  </a:extLst>
                </a:gridCol>
                <a:gridCol w="1439327">
                  <a:extLst>
                    <a:ext uri="{9D8B030D-6E8A-4147-A177-3AD203B41FA5}">
                      <a16:colId xmlns:a16="http://schemas.microsoft.com/office/drawing/2014/main" val="1272496486"/>
                    </a:ext>
                  </a:extLst>
                </a:gridCol>
                <a:gridCol w="1239099">
                  <a:extLst>
                    <a:ext uri="{9D8B030D-6E8A-4147-A177-3AD203B41FA5}">
                      <a16:colId xmlns:a16="http://schemas.microsoft.com/office/drawing/2014/main" val="3461108221"/>
                    </a:ext>
                  </a:extLst>
                </a:gridCol>
                <a:gridCol w="1339213">
                  <a:extLst>
                    <a:ext uri="{9D8B030D-6E8A-4147-A177-3AD203B41FA5}">
                      <a16:colId xmlns:a16="http://schemas.microsoft.com/office/drawing/2014/main" val="440514077"/>
                    </a:ext>
                  </a:extLst>
                </a:gridCol>
                <a:gridCol w="1615256">
                  <a:extLst>
                    <a:ext uri="{9D8B030D-6E8A-4147-A177-3AD203B41FA5}">
                      <a16:colId xmlns:a16="http://schemas.microsoft.com/office/drawing/2014/main" val="3944282632"/>
                    </a:ext>
                  </a:extLst>
                </a:gridCol>
                <a:gridCol w="1288869">
                  <a:extLst>
                    <a:ext uri="{9D8B030D-6E8A-4147-A177-3AD203B41FA5}">
                      <a16:colId xmlns:a16="http://schemas.microsoft.com/office/drawing/2014/main" val="1694010995"/>
                    </a:ext>
                  </a:extLst>
                </a:gridCol>
                <a:gridCol w="1113512">
                  <a:extLst>
                    <a:ext uri="{9D8B030D-6E8A-4147-A177-3AD203B41FA5}">
                      <a16:colId xmlns:a16="http://schemas.microsoft.com/office/drawing/2014/main" val="1637691667"/>
                    </a:ext>
                  </a:extLst>
                </a:gridCol>
              </a:tblGrid>
              <a:tr h="272505">
                <a:tc gridSpan="2">
                  <a:txBody>
                    <a:bodyPr/>
                    <a:lstStyle/>
                    <a:p>
                      <a:pPr algn="ctr"/>
                      <a:r>
                        <a:rPr lang="en-US" sz="1900" dirty="0"/>
                        <a:t>Current assets</a:t>
                      </a:r>
                    </a:p>
                  </a:txBody>
                  <a:tcPr marL="121860" marR="121860" marT="60930" marB="60930" anchor="ctr"/>
                </a:tc>
                <a:tc hMerge="1">
                  <a:txBody>
                    <a:bodyPr/>
                    <a:lstStyle/>
                    <a:p>
                      <a:endParaRPr lang="en-US" dirty="0"/>
                    </a:p>
                  </a:txBody>
                  <a:tcPr/>
                </a:tc>
                <a:tc gridSpan="2">
                  <a:txBody>
                    <a:bodyPr/>
                    <a:lstStyle/>
                    <a:p>
                      <a:pPr algn="ctr"/>
                      <a:r>
                        <a:rPr lang="en-US" sz="1900" dirty="0"/>
                        <a:t>Non-current assets</a:t>
                      </a:r>
                    </a:p>
                  </a:txBody>
                  <a:tcPr marL="121860" marR="121860" marT="60930" marB="60930" anchor="ctr"/>
                </a:tc>
                <a:tc hMerge="1">
                  <a:txBody>
                    <a:bodyPr/>
                    <a:lstStyle/>
                    <a:p>
                      <a:endParaRPr lang="en-US" dirty="0"/>
                    </a:p>
                  </a:txBody>
                  <a:tcPr/>
                </a:tc>
                <a:tc gridSpan="2">
                  <a:txBody>
                    <a:bodyPr/>
                    <a:lstStyle/>
                    <a:p>
                      <a:pPr algn="ctr"/>
                      <a:r>
                        <a:rPr lang="en-US" sz="1900" dirty="0"/>
                        <a:t>Current liabilities</a:t>
                      </a:r>
                    </a:p>
                  </a:txBody>
                  <a:tcPr marL="121860" marR="121860" marT="60930" marB="60930" anchor="ctr"/>
                </a:tc>
                <a:tc hMerge="1">
                  <a:txBody>
                    <a:bodyPr/>
                    <a:lstStyle/>
                    <a:p>
                      <a:endParaRPr lang="en-US" dirty="0"/>
                    </a:p>
                  </a:txBody>
                  <a:tcPr/>
                </a:tc>
                <a:tc gridSpan="2">
                  <a:txBody>
                    <a:bodyPr/>
                    <a:lstStyle/>
                    <a:p>
                      <a:pPr algn="ctr"/>
                      <a:r>
                        <a:rPr lang="en-US" sz="1900" dirty="0"/>
                        <a:t>Non-current liabilities</a:t>
                      </a:r>
                    </a:p>
                  </a:txBody>
                  <a:tcPr marL="121860" marR="121860" marT="60930" marB="60930" anchor="ctr"/>
                </a:tc>
                <a:tc hMerge="1">
                  <a:txBody>
                    <a:bodyPr/>
                    <a:lstStyle/>
                    <a:p>
                      <a:endParaRPr lang="en-US" dirty="0"/>
                    </a:p>
                  </a:txBody>
                  <a:tcPr/>
                </a:tc>
                <a:tc>
                  <a:txBody>
                    <a:bodyPr/>
                    <a:lstStyle/>
                    <a:p>
                      <a:pPr algn="ctr"/>
                      <a:r>
                        <a:rPr lang="en-US" sz="1900" dirty="0"/>
                        <a:t>Equity</a:t>
                      </a:r>
                    </a:p>
                  </a:txBody>
                  <a:tcPr marL="121860" marR="121860" marT="60930" marB="60930" anchor="ctr"/>
                </a:tc>
                <a:extLst>
                  <a:ext uri="{0D108BD9-81ED-4DB2-BD59-A6C34878D82A}">
                    <a16:rowId xmlns:a16="http://schemas.microsoft.com/office/drawing/2014/main" val="3500697481"/>
                  </a:ext>
                </a:extLst>
              </a:tr>
              <a:tr h="502453">
                <a:tc>
                  <a:txBody>
                    <a:bodyPr/>
                    <a:lstStyle/>
                    <a:p>
                      <a:pPr algn="ctr"/>
                      <a:r>
                        <a:rPr lang="en-US" sz="1900" dirty="0"/>
                        <a:t>CNOA</a:t>
                      </a:r>
                    </a:p>
                  </a:txBody>
                  <a:tcPr marL="121860" marR="121860" marT="60930" marB="60930"/>
                </a:tc>
                <a:tc>
                  <a:txBody>
                    <a:bodyPr/>
                    <a:lstStyle/>
                    <a:p>
                      <a:pPr algn="ctr"/>
                      <a:r>
                        <a:rPr lang="en-US" sz="1900" dirty="0"/>
                        <a:t>COA</a:t>
                      </a:r>
                    </a:p>
                  </a:txBody>
                  <a:tcPr marL="121860" marR="121860" marT="60930" marB="60930"/>
                </a:tc>
                <a:tc>
                  <a:txBody>
                    <a:bodyPr/>
                    <a:lstStyle/>
                    <a:p>
                      <a:pPr algn="ctr"/>
                      <a:r>
                        <a:rPr lang="en-US" sz="1900" dirty="0"/>
                        <a:t>NCNOA</a:t>
                      </a:r>
                    </a:p>
                  </a:txBody>
                  <a:tcPr marL="121860" marR="121860" marT="60930" marB="60930"/>
                </a:tc>
                <a:tc>
                  <a:txBody>
                    <a:bodyPr/>
                    <a:lstStyle/>
                    <a:p>
                      <a:pPr algn="ctr"/>
                      <a:r>
                        <a:rPr lang="en-US" sz="1900" dirty="0"/>
                        <a:t>NCOA</a:t>
                      </a:r>
                    </a:p>
                  </a:txBody>
                  <a:tcPr marL="121860" marR="121860" marT="60930" marB="60930"/>
                </a:tc>
                <a:tc>
                  <a:txBody>
                    <a:bodyPr/>
                    <a:lstStyle/>
                    <a:p>
                      <a:pPr algn="ctr"/>
                      <a:r>
                        <a:rPr lang="en-US" sz="1900" dirty="0"/>
                        <a:t>CD</a:t>
                      </a:r>
                    </a:p>
                  </a:txBody>
                  <a:tcPr marL="121860" marR="121860" marT="60930" marB="60930"/>
                </a:tc>
                <a:tc>
                  <a:txBody>
                    <a:bodyPr/>
                    <a:lstStyle/>
                    <a:p>
                      <a:pPr algn="ctr"/>
                      <a:r>
                        <a:rPr lang="en-US" sz="1900" dirty="0"/>
                        <a:t>COL</a:t>
                      </a:r>
                    </a:p>
                  </a:txBody>
                  <a:tcPr marL="121860" marR="121860" marT="60930" marB="60930"/>
                </a:tc>
                <a:tc>
                  <a:txBody>
                    <a:bodyPr/>
                    <a:lstStyle/>
                    <a:p>
                      <a:pPr algn="ctr"/>
                      <a:r>
                        <a:rPr lang="en-US" sz="1900" dirty="0"/>
                        <a:t>NCD</a:t>
                      </a:r>
                    </a:p>
                  </a:txBody>
                  <a:tcPr marL="121860" marR="121860" marT="60930" marB="60930"/>
                </a:tc>
                <a:tc>
                  <a:txBody>
                    <a:bodyPr/>
                    <a:lstStyle/>
                    <a:p>
                      <a:pPr algn="ctr"/>
                      <a:r>
                        <a:rPr lang="en-US" sz="1900" dirty="0"/>
                        <a:t>NCOL</a:t>
                      </a:r>
                    </a:p>
                  </a:txBody>
                  <a:tcPr marL="121860" marR="121860" marT="60930" marB="60930"/>
                </a:tc>
                <a:tc>
                  <a:txBody>
                    <a:bodyPr/>
                    <a:lstStyle/>
                    <a:p>
                      <a:pPr algn="ctr"/>
                      <a:r>
                        <a:rPr lang="en-US" sz="1900" dirty="0"/>
                        <a:t>Equity</a:t>
                      </a:r>
                    </a:p>
                  </a:txBody>
                  <a:tcPr marL="121860" marR="121860" marT="60930" marB="60930"/>
                </a:tc>
                <a:extLst>
                  <a:ext uri="{0D108BD9-81ED-4DB2-BD59-A6C34878D82A}">
                    <a16:rowId xmlns:a16="http://schemas.microsoft.com/office/drawing/2014/main" val="2702799730"/>
                  </a:ext>
                </a:extLst>
              </a:tr>
              <a:tr h="3468994">
                <a:tc>
                  <a:txBody>
                    <a:bodyPr/>
                    <a:lstStyle/>
                    <a:p>
                      <a:r>
                        <a:rPr lang="en-US" sz="1900" dirty="0"/>
                        <a:t>Cash and cash </a:t>
                      </a:r>
                      <a:r>
                        <a:rPr lang="en-US" sz="1900" dirty="0" err="1"/>
                        <a:t>equiva-lents</a:t>
                      </a:r>
                      <a:endParaRPr lang="en-US" sz="1900" dirty="0"/>
                    </a:p>
                    <a:p>
                      <a:r>
                        <a:rPr lang="en-US" sz="1900" dirty="0"/>
                        <a:t>Marketa-</a:t>
                      </a:r>
                      <a:r>
                        <a:rPr lang="en-US" sz="1900" dirty="0" err="1"/>
                        <a:t>ble</a:t>
                      </a:r>
                      <a:r>
                        <a:rPr lang="en-US" sz="1900" dirty="0"/>
                        <a:t> securities</a:t>
                      </a:r>
                    </a:p>
                  </a:txBody>
                  <a:tcPr marL="121860" marR="121860" marT="60930" marB="60930"/>
                </a:tc>
                <a:tc>
                  <a:txBody>
                    <a:bodyPr/>
                    <a:lstStyle/>
                    <a:p>
                      <a:r>
                        <a:rPr lang="en-US" sz="1900" dirty="0"/>
                        <a:t>Accounts </a:t>
                      </a:r>
                      <a:r>
                        <a:rPr lang="en-US" sz="1900" dirty="0" err="1"/>
                        <a:t>receiva-ble</a:t>
                      </a:r>
                      <a:endParaRPr lang="en-US" sz="1900" dirty="0"/>
                    </a:p>
                    <a:p>
                      <a:r>
                        <a:rPr lang="en-US" sz="1900" dirty="0" err="1"/>
                        <a:t>Invento-ries</a:t>
                      </a:r>
                      <a:endParaRPr lang="en-US" sz="1900" dirty="0"/>
                    </a:p>
                    <a:p>
                      <a:r>
                        <a:rPr lang="en-US" sz="1900" dirty="0"/>
                        <a:t>Prepaid expenses</a:t>
                      </a:r>
                    </a:p>
                  </a:txBody>
                  <a:tcPr marL="121860" marR="121860" marT="60930" marB="60930"/>
                </a:tc>
                <a:tc>
                  <a:txBody>
                    <a:bodyPr/>
                    <a:lstStyle/>
                    <a:p>
                      <a:r>
                        <a:rPr lang="en-US" sz="1900" dirty="0"/>
                        <a:t>Invest-</a:t>
                      </a:r>
                      <a:r>
                        <a:rPr lang="en-US" sz="1900" dirty="0" err="1"/>
                        <a:t>ment</a:t>
                      </a:r>
                      <a:r>
                        <a:rPr lang="en-US" sz="1900" dirty="0"/>
                        <a:t> in </a:t>
                      </a:r>
                      <a:r>
                        <a:rPr lang="en-US" sz="1900" dirty="0" err="1"/>
                        <a:t>associa-tes</a:t>
                      </a:r>
                      <a:endParaRPr lang="en-US" sz="1900" dirty="0"/>
                    </a:p>
                    <a:p>
                      <a:r>
                        <a:rPr lang="en-US" sz="1900" dirty="0"/>
                        <a:t>Other long-term financial assets</a:t>
                      </a:r>
                    </a:p>
                  </a:txBody>
                  <a:tcPr marL="121860" marR="121860" marT="60930" marB="60930"/>
                </a:tc>
                <a:tc>
                  <a:txBody>
                    <a:bodyPr/>
                    <a:lstStyle/>
                    <a:p>
                      <a:r>
                        <a:rPr lang="en-US" sz="1900" dirty="0"/>
                        <a:t>Property, plant and equipment</a:t>
                      </a:r>
                    </a:p>
                    <a:p>
                      <a:r>
                        <a:rPr lang="en-US" sz="1900" dirty="0"/>
                        <a:t>Intangible assets</a:t>
                      </a:r>
                    </a:p>
                    <a:p>
                      <a:pPr marL="0" marR="0" lvl="0" indent="0" defTabSz="914400" eaLnBrk="1" fontAlgn="auto" latinLnBrk="0" hangingPunct="1">
                        <a:lnSpc>
                          <a:spcPct val="100000"/>
                        </a:lnSpc>
                        <a:spcBef>
                          <a:spcPts val="0"/>
                        </a:spcBef>
                        <a:spcAft>
                          <a:spcPts val="0"/>
                        </a:spcAft>
                        <a:buClrTx/>
                        <a:buSzTx/>
                        <a:buFontTx/>
                        <a:buNone/>
                        <a:tabLst/>
                        <a:defRPr/>
                      </a:pPr>
                      <a:r>
                        <a:rPr lang="en-US" sz="1900" dirty="0"/>
                        <a:t>Deferred tax assets</a:t>
                      </a:r>
                    </a:p>
                    <a:p>
                      <a:endParaRPr lang="en-US" sz="1900" dirty="0"/>
                    </a:p>
                  </a:txBody>
                  <a:tcPr marL="121860" marR="121860" marT="60930" marB="60930"/>
                </a:tc>
                <a:tc>
                  <a:txBody>
                    <a:bodyPr/>
                    <a:lstStyle/>
                    <a:p>
                      <a:r>
                        <a:rPr lang="en-US" sz="1900" dirty="0"/>
                        <a:t>Short-term interest-bearing liabilities (=debt)</a:t>
                      </a:r>
                    </a:p>
                  </a:txBody>
                  <a:tcPr marL="121860" marR="121860" marT="60930" marB="60930"/>
                </a:tc>
                <a:tc>
                  <a:txBody>
                    <a:bodyPr/>
                    <a:lstStyle/>
                    <a:p>
                      <a:r>
                        <a:rPr lang="en-US" sz="1900" dirty="0"/>
                        <a:t>Accounts payable</a:t>
                      </a:r>
                    </a:p>
                    <a:p>
                      <a:r>
                        <a:rPr lang="en-US" sz="1900" dirty="0"/>
                        <a:t>Accrued expenses</a:t>
                      </a:r>
                    </a:p>
                    <a:p>
                      <a:r>
                        <a:rPr lang="en-US" sz="1900" dirty="0"/>
                        <a:t>Tax liabilities</a:t>
                      </a:r>
                    </a:p>
                    <a:p>
                      <a:r>
                        <a:rPr lang="en-US" sz="1900" dirty="0"/>
                        <a:t>Unearned or deferred revenue</a:t>
                      </a:r>
                    </a:p>
                  </a:txBody>
                  <a:tcPr marL="121860" marR="121860" marT="60930" marB="60930"/>
                </a:tc>
                <a:tc>
                  <a:txBody>
                    <a:bodyPr/>
                    <a:lstStyle/>
                    <a:p>
                      <a:r>
                        <a:rPr lang="en-US" sz="1900" dirty="0"/>
                        <a:t>Long-term interest-bearing</a:t>
                      </a:r>
                      <a:r>
                        <a:rPr lang="en-US" sz="1900" baseline="0" dirty="0"/>
                        <a:t> </a:t>
                      </a:r>
                      <a:r>
                        <a:rPr lang="en-US" sz="1900" dirty="0"/>
                        <a:t>liabilities (=debt)</a:t>
                      </a:r>
                    </a:p>
                    <a:p>
                      <a:pPr marL="0" marR="0" lvl="0" indent="0" defTabSz="914400" eaLnBrk="1" fontAlgn="auto" latinLnBrk="0" hangingPunct="1">
                        <a:lnSpc>
                          <a:spcPct val="100000"/>
                        </a:lnSpc>
                        <a:spcBef>
                          <a:spcPts val="0"/>
                        </a:spcBef>
                        <a:spcAft>
                          <a:spcPts val="0"/>
                        </a:spcAft>
                        <a:buClrTx/>
                        <a:buSzTx/>
                        <a:buFontTx/>
                        <a:buNone/>
                        <a:tabLst/>
                        <a:defRPr/>
                      </a:pPr>
                      <a:r>
                        <a:rPr lang="en-US" sz="1900" dirty="0"/>
                        <a:t>(discount-ted)</a:t>
                      </a:r>
                    </a:p>
                    <a:p>
                      <a:pPr marL="0" marR="0" lvl="0" indent="0" defTabSz="914400" eaLnBrk="1" fontAlgn="auto" latinLnBrk="0" hangingPunct="1">
                        <a:lnSpc>
                          <a:spcPct val="100000"/>
                        </a:lnSpc>
                        <a:spcBef>
                          <a:spcPts val="0"/>
                        </a:spcBef>
                        <a:spcAft>
                          <a:spcPts val="0"/>
                        </a:spcAft>
                        <a:buClrTx/>
                        <a:buSzTx/>
                        <a:buFontTx/>
                        <a:buNone/>
                        <a:tabLst/>
                        <a:defRPr/>
                      </a:pPr>
                      <a:r>
                        <a:rPr lang="en-US" sz="1900" dirty="0"/>
                        <a:t>Provisions</a:t>
                      </a:r>
                    </a:p>
                    <a:p>
                      <a:endParaRPr lang="en-US" sz="1900" dirty="0"/>
                    </a:p>
                  </a:txBody>
                  <a:tcPr marL="121860" marR="121860" marT="60930" marB="60930"/>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900" dirty="0"/>
                        <a:t>Deferred tax liabilities</a:t>
                      </a:r>
                    </a:p>
                  </a:txBody>
                  <a:tcPr marL="121860" marR="121860" marT="60930" marB="60930"/>
                </a:tc>
                <a:tc>
                  <a:txBody>
                    <a:bodyPr/>
                    <a:lstStyle/>
                    <a:p>
                      <a:endParaRPr lang="en-US" sz="1900" dirty="0"/>
                    </a:p>
                  </a:txBody>
                  <a:tcPr marL="121860" marR="121860" marT="60930" marB="60930"/>
                </a:tc>
                <a:extLst>
                  <a:ext uri="{0D108BD9-81ED-4DB2-BD59-A6C34878D82A}">
                    <a16:rowId xmlns:a16="http://schemas.microsoft.com/office/drawing/2014/main" val="3758790360"/>
                  </a:ext>
                </a:extLst>
              </a:tr>
              <a:tr h="2210388">
                <a:tc>
                  <a:txBody>
                    <a:bodyPr/>
                    <a:lstStyle/>
                    <a:p>
                      <a:r>
                        <a:rPr lang="en-US" sz="1900" dirty="0"/>
                        <a:t>Interest and other financial income</a:t>
                      </a:r>
                    </a:p>
                  </a:txBody>
                  <a:tcPr marL="121860" marR="121860" marT="60930" marB="60930"/>
                </a:tc>
                <a:tc>
                  <a:txBody>
                    <a:bodyPr/>
                    <a:lstStyle/>
                    <a:p>
                      <a:r>
                        <a:rPr lang="en-US" sz="1900" dirty="0"/>
                        <a:t>Revenue and operating expenses</a:t>
                      </a:r>
                    </a:p>
                  </a:txBody>
                  <a:tcPr marL="121860" marR="121860" marT="60930" marB="6093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dirty="0"/>
                        <a:t>Financial income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900" dirty="0"/>
                        <a:t>Share of net profit from </a:t>
                      </a:r>
                      <a:r>
                        <a:rPr lang="en-US" sz="1900" dirty="0" err="1"/>
                        <a:t>associa-tes</a:t>
                      </a:r>
                      <a:endParaRPr lang="en-US" sz="1900" dirty="0"/>
                    </a:p>
                  </a:txBody>
                  <a:tcPr marL="121860" marR="121860" marT="60930" marB="60930"/>
                </a:tc>
                <a:tc>
                  <a:txBody>
                    <a:bodyPr/>
                    <a:lstStyle/>
                    <a:p>
                      <a:r>
                        <a:rPr lang="en-US" sz="1900" dirty="0"/>
                        <a:t>Sales revenue (or turnover)</a:t>
                      </a:r>
                    </a:p>
                  </a:txBody>
                  <a:tcPr marL="121860" marR="121860" marT="60930" marB="60930"/>
                </a:tc>
                <a:tc>
                  <a:txBody>
                    <a:bodyPr/>
                    <a:lstStyle/>
                    <a:p>
                      <a:r>
                        <a:rPr lang="en-US" sz="1900" dirty="0"/>
                        <a:t>Interest and other financial expense</a:t>
                      </a:r>
                    </a:p>
                  </a:txBody>
                  <a:tcPr marL="121860" marR="121860" marT="60930" marB="60930"/>
                </a:tc>
                <a:tc>
                  <a:txBody>
                    <a:bodyPr/>
                    <a:lstStyle/>
                    <a:p>
                      <a:r>
                        <a:rPr lang="en-US" sz="1900" dirty="0"/>
                        <a:t>Revenue and operating expenses</a:t>
                      </a:r>
                    </a:p>
                  </a:txBody>
                  <a:tcPr marL="121860" marR="121860" marT="60930" marB="6093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dirty="0"/>
                        <a:t>Interest expense</a:t>
                      </a:r>
                    </a:p>
                    <a:p>
                      <a:endParaRPr lang="en-US" sz="1900" dirty="0"/>
                    </a:p>
                  </a:txBody>
                  <a:tcPr marL="121860" marR="121860" marT="60930" marB="60930"/>
                </a:tc>
                <a:tc>
                  <a:txBody>
                    <a:bodyPr/>
                    <a:lstStyle/>
                    <a:p>
                      <a:r>
                        <a:rPr lang="en-US" sz="1900" dirty="0"/>
                        <a:t>Revenue and operating expenses</a:t>
                      </a:r>
                    </a:p>
                  </a:txBody>
                  <a:tcPr marL="121860" marR="121860" marT="60930" marB="60930"/>
                </a:tc>
                <a:tc>
                  <a:txBody>
                    <a:bodyPr/>
                    <a:lstStyle/>
                    <a:p>
                      <a:r>
                        <a:rPr lang="en-US" sz="1900" dirty="0"/>
                        <a:t>Profit</a:t>
                      </a:r>
                    </a:p>
                  </a:txBody>
                  <a:tcPr marL="121860" marR="121860" marT="60930" marB="60930"/>
                </a:tc>
                <a:extLst>
                  <a:ext uri="{0D108BD9-81ED-4DB2-BD59-A6C34878D82A}">
                    <a16:rowId xmlns:a16="http://schemas.microsoft.com/office/drawing/2014/main" val="220001441"/>
                  </a:ext>
                </a:extLst>
              </a:tr>
            </a:tbl>
          </a:graphicData>
        </a:graphic>
      </p:graphicFrame>
      <p:sp>
        <p:nvSpPr>
          <p:cNvPr id="2" name="Arrow: Down 1">
            <a:extLst>
              <a:ext uri="{FF2B5EF4-FFF2-40B4-BE49-F238E27FC236}">
                <a16:creationId xmlns:a16="http://schemas.microsoft.com/office/drawing/2014/main" id="{E097A9F9-D120-4E0C-97D2-A59BA7AD4858}"/>
              </a:ext>
            </a:extLst>
          </p:cNvPr>
          <p:cNvSpPr/>
          <p:nvPr/>
        </p:nvSpPr>
        <p:spPr>
          <a:xfrm>
            <a:off x="372862" y="3429000"/>
            <a:ext cx="363102" cy="1194589"/>
          </a:xfrm>
          <a:prstGeom prst="downArrow">
            <a:avLst/>
          </a:prstGeom>
          <a:solidFill>
            <a:schemeClr val="tx2">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11" name="TextBox 10">
            <a:extLst>
              <a:ext uri="{FF2B5EF4-FFF2-40B4-BE49-F238E27FC236}">
                <a16:creationId xmlns:a16="http://schemas.microsoft.com/office/drawing/2014/main" id="{22E31180-9AD0-4BDF-8563-E397B44CBC3B}"/>
              </a:ext>
            </a:extLst>
          </p:cNvPr>
          <p:cNvSpPr txBox="1"/>
          <p:nvPr/>
        </p:nvSpPr>
        <p:spPr>
          <a:xfrm>
            <a:off x="4242780" y="6313435"/>
            <a:ext cx="7706065" cy="461537"/>
          </a:xfrm>
          <a:prstGeom prst="rect">
            <a:avLst/>
          </a:prstGeom>
          <a:solidFill>
            <a:schemeClr val="tx1">
              <a:lumMod val="20000"/>
              <a:lumOff val="80000"/>
            </a:schemeClr>
          </a:solidFill>
        </p:spPr>
        <p:txBody>
          <a:bodyPr wrap="square" rtlCol="0">
            <a:spAutoFit/>
          </a:bodyPr>
          <a:lstStyle/>
          <a:p>
            <a:r>
              <a:rPr lang="en-US" sz="2399" dirty="0">
                <a:solidFill>
                  <a:srgbClr val="0070C0"/>
                </a:solidFill>
              </a:rPr>
              <a:t>Balance sheet and related effect on income statement</a:t>
            </a:r>
          </a:p>
        </p:txBody>
      </p:sp>
      <p:sp>
        <p:nvSpPr>
          <p:cNvPr id="4" name="Arrow: Down 3">
            <a:extLst>
              <a:ext uri="{FF2B5EF4-FFF2-40B4-BE49-F238E27FC236}">
                <a16:creationId xmlns:a16="http://schemas.microsoft.com/office/drawing/2014/main" id="{909B9D5A-C2CD-56EC-D19E-9DF5F0265188}"/>
              </a:ext>
            </a:extLst>
          </p:cNvPr>
          <p:cNvSpPr/>
          <p:nvPr/>
        </p:nvSpPr>
        <p:spPr>
          <a:xfrm>
            <a:off x="1901999" y="3427905"/>
            <a:ext cx="363102" cy="1194589"/>
          </a:xfrm>
          <a:prstGeom prst="downArrow">
            <a:avLst/>
          </a:prstGeom>
          <a:solidFill>
            <a:schemeClr val="tx2">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14" name="Arrow: Down 13">
            <a:extLst>
              <a:ext uri="{FF2B5EF4-FFF2-40B4-BE49-F238E27FC236}">
                <a16:creationId xmlns:a16="http://schemas.microsoft.com/office/drawing/2014/main" id="{9D3C6A36-5C43-8590-7578-2CB76A568BE7}"/>
              </a:ext>
            </a:extLst>
          </p:cNvPr>
          <p:cNvSpPr/>
          <p:nvPr/>
        </p:nvSpPr>
        <p:spPr>
          <a:xfrm>
            <a:off x="3259645" y="3563663"/>
            <a:ext cx="363102" cy="1058832"/>
          </a:xfrm>
          <a:prstGeom prst="downArrow">
            <a:avLst/>
          </a:prstGeom>
          <a:solidFill>
            <a:schemeClr val="tx2">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15" name="Arrow: Down 14">
            <a:extLst>
              <a:ext uri="{FF2B5EF4-FFF2-40B4-BE49-F238E27FC236}">
                <a16:creationId xmlns:a16="http://schemas.microsoft.com/office/drawing/2014/main" id="{1EEECA59-BAC5-370D-5DEA-A1F54365CF92}"/>
              </a:ext>
            </a:extLst>
          </p:cNvPr>
          <p:cNvSpPr/>
          <p:nvPr/>
        </p:nvSpPr>
        <p:spPr>
          <a:xfrm>
            <a:off x="4622664" y="3367695"/>
            <a:ext cx="363102" cy="1194589"/>
          </a:xfrm>
          <a:prstGeom prst="downArrow">
            <a:avLst/>
          </a:prstGeom>
          <a:solidFill>
            <a:schemeClr val="tx2">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16" name="Arrow: Down 15">
            <a:extLst>
              <a:ext uri="{FF2B5EF4-FFF2-40B4-BE49-F238E27FC236}">
                <a16:creationId xmlns:a16="http://schemas.microsoft.com/office/drawing/2014/main" id="{BA281ACA-C546-22C1-B2BA-DDC111946F35}"/>
              </a:ext>
            </a:extLst>
          </p:cNvPr>
          <p:cNvSpPr/>
          <p:nvPr/>
        </p:nvSpPr>
        <p:spPr>
          <a:xfrm>
            <a:off x="5969449" y="3367694"/>
            <a:ext cx="363102" cy="1194589"/>
          </a:xfrm>
          <a:prstGeom prst="downArrow">
            <a:avLst/>
          </a:prstGeom>
          <a:solidFill>
            <a:schemeClr val="tx2">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17" name="Arrow: Down 16">
            <a:extLst>
              <a:ext uri="{FF2B5EF4-FFF2-40B4-BE49-F238E27FC236}">
                <a16:creationId xmlns:a16="http://schemas.microsoft.com/office/drawing/2014/main" id="{714C0661-C884-3A0D-C9FE-8FFFDD7248A8}"/>
              </a:ext>
            </a:extLst>
          </p:cNvPr>
          <p:cNvSpPr/>
          <p:nvPr/>
        </p:nvSpPr>
        <p:spPr>
          <a:xfrm>
            <a:off x="11264043" y="3431869"/>
            <a:ext cx="363102" cy="1194589"/>
          </a:xfrm>
          <a:prstGeom prst="downArrow">
            <a:avLst/>
          </a:prstGeom>
          <a:solidFill>
            <a:schemeClr val="tx2">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18" name="Arrow: Down 17">
            <a:extLst>
              <a:ext uri="{FF2B5EF4-FFF2-40B4-BE49-F238E27FC236}">
                <a16:creationId xmlns:a16="http://schemas.microsoft.com/office/drawing/2014/main" id="{A182BCAB-C059-D030-C4BB-E10A94B3384B}"/>
              </a:ext>
            </a:extLst>
          </p:cNvPr>
          <p:cNvSpPr/>
          <p:nvPr/>
        </p:nvSpPr>
        <p:spPr>
          <a:xfrm>
            <a:off x="7235108" y="4214580"/>
            <a:ext cx="274339" cy="461537"/>
          </a:xfrm>
          <a:prstGeom prst="downArrow">
            <a:avLst/>
          </a:prstGeom>
          <a:solidFill>
            <a:schemeClr val="tx2">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19" name="Arrow: Down 18">
            <a:extLst>
              <a:ext uri="{FF2B5EF4-FFF2-40B4-BE49-F238E27FC236}">
                <a16:creationId xmlns:a16="http://schemas.microsoft.com/office/drawing/2014/main" id="{8A169D7F-E51B-FD3C-F018-658760ADB9BC}"/>
              </a:ext>
            </a:extLst>
          </p:cNvPr>
          <p:cNvSpPr/>
          <p:nvPr/>
        </p:nvSpPr>
        <p:spPr>
          <a:xfrm>
            <a:off x="8661127" y="3698697"/>
            <a:ext cx="274339" cy="863587"/>
          </a:xfrm>
          <a:prstGeom prst="downArrow">
            <a:avLst/>
          </a:prstGeom>
          <a:solidFill>
            <a:schemeClr val="tx2">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20" name="Arrow: Down 19">
            <a:extLst>
              <a:ext uri="{FF2B5EF4-FFF2-40B4-BE49-F238E27FC236}">
                <a16:creationId xmlns:a16="http://schemas.microsoft.com/office/drawing/2014/main" id="{9C9AC50B-C3FC-8B8D-BB6B-39A262AF1C60}"/>
              </a:ext>
            </a:extLst>
          </p:cNvPr>
          <p:cNvSpPr/>
          <p:nvPr/>
        </p:nvSpPr>
        <p:spPr>
          <a:xfrm>
            <a:off x="10152831" y="3020602"/>
            <a:ext cx="274339" cy="1541681"/>
          </a:xfrm>
          <a:prstGeom prst="downArrow">
            <a:avLst/>
          </a:prstGeom>
          <a:solidFill>
            <a:schemeClr val="tx2">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Tree>
    <p:extLst>
      <p:ext uri="{BB962C8B-B14F-4D97-AF65-F5344CB8AC3E}">
        <p14:creationId xmlns:p14="http://schemas.microsoft.com/office/powerpoint/2010/main" val="22371721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149D4-89A0-B725-01CA-C7F40B40AFE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560F7F3-2ABA-531F-DAD3-DD69FD8984ED}"/>
              </a:ext>
            </a:extLst>
          </p:cNvPr>
          <p:cNvSpPr>
            <a:spLocks noGrp="1"/>
          </p:cNvSpPr>
          <p:nvPr>
            <p:ph type="title"/>
          </p:nvPr>
        </p:nvSpPr>
        <p:spPr>
          <a:xfrm>
            <a:off x="656844" y="487045"/>
            <a:ext cx="11464134" cy="608854"/>
          </a:xfrm>
        </p:spPr>
        <p:txBody>
          <a:bodyPr/>
          <a:lstStyle/>
          <a:p>
            <a:r>
              <a:rPr lang="en-US" dirty="0"/>
              <a:t>Working capital = Current assets – Current liabilities</a:t>
            </a:r>
          </a:p>
        </p:txBody>
      </p:sp>
      <p:graphicFrame>
        <p:nvGraphicFramePr>
          <p:cNvPr id="6" name="Table 6">
            <a:extLst>
              <a:ext uri="{FF2B5EF4-FFF2-40B4-BE49-F238E27FC236}">
                <a16:creationId xmlns:a16="http://schemas.microsoft.com/office/drawing/2014/main" id="{7DCF406C-1CD9-3FF1-1C32-4F2F305AE9A6}"/>
              </a:ext>
            </a:extLst>
          </p:cNvPr>
          <p:cNvGraphicFramePr>
            <a:graphicFrameLocks noGrp="1"/>
          </p:cNvGraphicFramePr>
          <p:nvPr>
            <p:ph idx="1"/>
            <p:extLst>
              <p:ext uri="{D42A27DB-BD31-4B8C-83A1-F6EECF244321}">
                <p14:modId xmlns:p14="http://schemas.microsoft.com/office/powerpoint/2010/main" val="222465013"/>
              </p:ext>
            </p:extLst>
          </p:nvPr>
        </p:nvGraphicFramePr>
        <p:xfrm>
          <a:off x="79900" y="1101632"/>
          <a:ext cx="11922712" cy="5189622"/>
        </p:xfrm>
        <a:graphic>
          <a:graphicData uri="http://schemas.openxmlformats.org/drawingml/2006/table">
            <a:tbl>
              <a:tblPr firstRow="1" bandRow="1">
                <a:tableStyleId>{5C22544A-7EE6-4342-B048-85BDC9FD1C3A}</a:tableStyleId>
              </a:tblPr>
              <a:tblGrid>
                <a:gridCol w="1324747">
                  <a:extLst>
                    <a:ext uri="{9D8B030D-6E8A-4147-A177-3AD203B41FA5}">
                      <a16:colId xmlns:a16="http://schemas.microsoft.com/office/drawing/2014/main" val="2449450424"/>
                    </a:ext>
                  </a:extLst>
                </a:gridCol>
                <a:gridCol w="1329675">
                  <a:extLst>
                    <a:ext uri="{9D8B030D-6E8A-4147-A177-3AD203B41FA5}">
                      <a16:colId xmlns:a16="http://schemas.microsoft.com/office/drawing/2014/main" val="630582381"/>
                    </a:ext>
                  </a:extLst>
                </a:gridCol>
                <a:gridCol w="1319816">
                  <a:extLst>
                    <a:ext uri="{9D8B030D-6E8A-4147-A177-3AD203B41FA5}">
                      <a16:colId xmlns:a16="http://schemas.microsoft.com/office/drawing/2014/main" val="1046699827"/>
                    </a:ext>
                  </a:extLst>
                </a:gridCol>
                <a:gridCol w="1423778">
                  <a:extLst>
                    <a:ext uri="{9D8B030D-6E8A-4147-A177-3AD203B41FA5}">
                      <a16:colId xmlns:a16="http://schemas.microsoft.com/office/drawing/2014/main" val="1272496486"/>
                    </a:ext>
                  </a:extLst>
                </a:gridCol>
                <a:gridCol w="1225713">
                  <a:extLst>
                    <a:ext uri="{9D8B030D-6E8A-4147-A177-3AD203B41FA5}">
                      <a16:colId xmlns:a16="http://schemas.microsoft.com/office/drawing/2014/main" val="3461108221"/>
                    </a:ext>
                  </a:extLst>
                </a:gridCol>
                <a:gridCol w="1324747">
                  <a:extLst>
                    <a:ext uri="{9D8B030D-6E8A-4147-A177-3AD203B41FA5}">
                      <a16:colId xmlns:a16="http://schemas.microsoft.com/office/drawing/2014/main" val="440514077"/>
                    </a:ext>
                  </a:extLst>
                </a:gridCol>
                <a:gridCol w="1560380">
                  <a:extLst>
                    <a:ext uri="{9D8B030D-6E8A-4147-A177-3AD203B41FA5}">
                      <a16:colId xmlns:a16="http://schemas.microsoft.com/office/drawing/2014/main" val="3944282632"/>
                    </a:ext>
                  </a:extLst>
                </a:gridCol>
                <a:gridCol w="1193467">
                  <a:extLst>
                    <a:ext uri="{9D8B030D-6E8A-4147-A177-3AD203B41FA5}">
                      <a16:colId xmlns:a16="http://schemas.microsoft.com/office/drawing/2014/main" val="1694010995"/>
                    </a:ext>
                  </a:extLst>
                </a:gridCol>
                <a:gridCol w="1220389">
                  <a:extLst>
                    <a:ext uri="{9D8B030D-6E8A-4147-A177-3AD203B41FA5}">
                      <a16:colId xmlns:a16="http://schemas.microsoft.com/office/drawing/2014/main" val="1637691667"/>
                    </a:ext>
                  </a:extLst>
                </a:gridCol>
              </a:tblGrid>
              <a:tr h="867248">
                <a:tc gridSpan="2">
                  <a:txBody>
                    <a:bodyPr/>
                    <a:lstStyle/>
                    <a:p>
                      <a:pPr algn="ctr"/>
                      <a:r>
                        <a:rPr lang="en-US" sz="2400" dirty="0"/>
                        <a:t>Current assets</a:t>
                      </a:r>
                    </a:p>
                  </a:txBody>
                  <a:tcPr marL="121860" marR="121860" marT="60930" marB="609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hMerge="1">
                  <a:txBody>
                    <a:bodyPr/>
                    <a:lstStyle/>
                    <a:p>
                      <a:endParaRPr lang="en-US" dirty="0"/>
                    </a:p>
                  </a:txBody>
                  <a:tcPr/>
                </a:tc>
                <a:tc gridSpan="2">
                  <a:txBody>
                    <a:bodyPr/>
                    <a:lstStyle/>
                    <a:p>
                      <a:pPr algn="ctr"/>
                      <a:r>
                        <a:rPr lang="en-US" sz="2400" dirty="0">
                          <a:solidFill>
                            <a:schemeClr val="bg1"/>
                          </a:solidFill>
                        </a:rPr>
                        <a:t>Non-current assets</a:t>
                      </a:r>
                    </a:p>
                  </a:txBody>
                  <a:tcPr marL="121860" marR="121860" marT="60930" marB="609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endParaRPr lang="en-US" dirty="0"/>
                    </a:p>
                  </a:txBody>
                  <a:tcPr/>
                </a:tc>
                <a:tc gridSpan="2">
                  <a:txBody>
                    <a:bodyPr/>
                    <a:lstStyle/>
                    <a:p>
                      <a:pPr algn="ctr"/>
                      <a:r>
                        <a:rPr lang="en-US" sz="2400" dirty="0"/>
                        <a:t>Current liabilities</a:t>
                      </a:r>
                    </a:p>
                  </a:txBody>
                  <a:tcPr marL="121860" marR="121860" marT="60930" marB="609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hMerge="1">
                  <a:txBody>
                    <a:bodyPr/>
                    <a:lstStyle/>
                    <a:p>
                      <a:endParaRPr lang="en-US" dirty="0"/>
                    </a:p>
                  </a:txBody>
                  <a:tcPr/>
                </a:tc>
                <a:tc gridSpan="2">
                  <a:txBody>
                    <a:bodyPr/>
                    <a:lstStyle/>
                    <a:p>
                      <a:pPr algn="ctr"/>
                      <a:r>
                        <a:rPr lang="en-US" sz="2400" dirty="0">
                          <a:solidFill>
                            <a:schemeClr val="bg1"/>
                          </a:solidFill>
                        </a:rPr>
                        <a:t>Non-current liabilities</a:t>
                      </a:r>
                    </a:p>
                  </a:txBody>
                  <a:tcPr marL="121860" marR="121860" marT="60930" marB="60930" anchor="ctr">
                    <a:lnL w="12700" cap="flat" cmpd="sng" algn="ctr">
                      <a:solidFill>
                        <a:schemeClr val="tx1"/>
                      </a:solidFill>
                      <a:prstDash val="solid"/>
                      <a:round/>
                      <a:headEnd type="none" w="med" len="med"/>
                      <a:tailEnd type="none" w="med" len="med"/>
                    </a:lnL>
                  </a:tcPr>
                </a:tc>
                <a:tc hMerge="1">
                  <a:txBody>
                    <a:bodyPr/>
                    <a:lstStyle/>
                    <a:p>
                      <a:endParaRPr lang="en-US" dirty="0"/>
                    </a:p>
                  </a:txBody>
                  <a:tcPr/>
                </a:tc>
                <a:tc>
                  <a:txBody>
                    <a:bodyPr/>
                    <a:lstStyle/>
                    <a:p>
                      <a:pPr algn="ctr"/>
                      <a:r>
                        <a:rPr lang="en-US" sz="2400" dirty="0">
                          <a:solidFill>
                            <a:schemeClr val="bg1"/>
                          </a:solidFill>
                        </a:rPr>
                        <a:t>Equity</a:t>
                      </a:r>
                    </a:p>
                  </a:txBody>
                  <a:tcPr marL="121860" marR="121860" marT="60930" marB="60930" anchor="ctr"/>
                </a:tc>
                <a:extLst>
                  <a:ext uri="{0D108BD9-81ED-4DB2-BD59-A6C34878D82A}">
                    <a16:rowId xmlns:a16="http://schemas.microsoft.com/office/drawing/2014/main" val="3500697481"/>
                  </a:ext>
                </a:extLst>
              </a:tr>
              <a:tr h="850168">
                <a:tc>
                  <a:txBody>
                    <a:bodyPr/>
                    <a:lstStyle/>
                    <a:p>
                      <a:pPr algn="ctr"/>
                      <a:r>
                        <a:rPr lang="en-US" sz="2400" dirty="0"/>
                        <a:t>CNOA</a:t>
                      </a:r>
                    </a:p>
                  </a:txBody>
                  <a:tcPr marL="121860" marR="121860" marT="60930" marB="60930">
                    <a:lnL w="12700" cap="flat" cmpd="sng" algn="ctr">
                      <a:solidFill>
                        <a:schemeClr val="tx1"/>
                      </a:solidFill>
                      <a:prstDash val="solid"/>
                      <a:round/>
                      <a:headEnd type="none" w="med" len="med"/>
                      <a:tailEnd type="none" w="med" len="med"/>
                    </a:lnL>
                  </a:tcPr>
                </a:tc>
                <a:tc>
                  <a:txBody>
                    <a:bodyPr/>
                    <a:lstStyle/>
                    <a:p>
                      <a:pPr algn="ctr"/>
                      <a:r>
                        <a:rPr lang="en-US" sz="2400" dirty="0"/>
                        <a:t>COA</a:t>
                      </a:r>
                    </a:p>
                  </a:txBody>
                  <a:tcPr marL="121860" marR="121860" marT="60930" marB="60930">
                    <a:lnR w="12700" cap="flat" cmpd="sng" algn="ctr">
                      <a:solidFill>
                        <a:schemeClr val="tx1"/>
                      </a:solidFill>
                      <a:prstDash val="solid"/>
                      <a:round/>
                      <a:headEnd type="none" w="med" len="med"/>
                      <a:tailEnd type="none" w="med" len="med"/>
                    </a:lnR>
                  </a:tcPr>
                </a:tc>
                <a:tc>
                  <a:txBody>
                    <a:bodyPr/>
                    <a:lstStyle/>
                    <a:p>
                      <a:pPr algn="ctr"/>
                      <a:r>
                        <a:rPr lang="en-US" sz="2400" dirty="0">
                          <a:solidFill>
                            <a:schemeClr val="bg1"/>
                          </a:solidFill>
                        </a:rPr>
                        <a:t>NCNOA</a:t>
                      </a:r>
                    </a:p>
                  </a:txBody>
                  <a:tcPr marL="121860" marR="121860" marT="60930" marB="60930">
                    <a:lnL w="12700" cap="flat" cmpd="sng" algn="ctr">
                      <a:solidFill>
                        <a:schemeClr val="tx1"/>
                      </a:solidFill>
                      <a:prstDash val="solid"/>
                      <a:round/>
                      <a:headEnd type="none" w="med" len="med"/>
                      <a:tailEnd type="none" w="med" len="med"/>
                    </a:lnL>
                  </a:tcPr>
                </a:tc>
                <a:tc>
                  <a:txBody>
                    <a:bodyPr/>
                    <a:lstStyle/>
                    <a:p>
                      <a:pPr algn="ctr"/>
                      <a:r>
                        <a:rPr lang="en-US" sz="2400" dirty="0">
                          <a:solidFill>
                            <a:schemeClr val="bg1"/>
                          </a:solidFill>
                        </a:rPr>
                        <a:t>NCOA</a:t>
                      </a:r>
                    </a:p>
                  </a:txBody>
                  <a:tcPr marL="121860" marR="121860" marT="60930" marB="60930">
                    <a:lnR w="12700" cap="flat" cmpd="sng" algn="ctr">
                      <a:solidFill>
                        <a:schemeClr val="tx1"/>
                      </a:solidFill>
                      <a:prstDash val="solid"/>
                      <a:round/>
                      <a:headEnd type="none" w="med" len="med"/>
                      <a:tailEnd type="none" w="med" len="med"/>
                    </a:lnR>
                  </a:tcPr>
                </a:tc>
                <a:tc>
                  <a:txBody>
                    <a:bodyPr/>
                    <a:lstStyle/>
                    <a:p>
                      <a:pPr algn="ctr"/>
                      <a:r>
                        <a:rPr lang="en-US" sz="2400" dirty="0"/>
                        <a:t>CD</a:t>
                      </a:r>
                    </a:p>
                  </a:txBody>
                  <a:tcPr marL="121860" marR="121860" marT="60930" marB="60930">
                    <a:lnL w="12700" cap="flat" cmpd="sng" algn="ctr">
                      <a:solidFill>
                        <a:schemeClr val="tx1"/>
                      </a:solidFill>
                      <a:prstDash val="solid"/>
                      <a:round/>
                      <a:headEnd type="none" w="med" len="med"/>
                      <a:tailEnd type="none" w="med" len="med"/>
                    </a:lnL>
                  </a:tcPr>
                </a:tc>
                <a:tc>
                  <a:txBody>
                    <a:bodyPr/>
                    <a:lstStyle/>
                    <a:p>
                      <a:pPr algn="ctr"/>
                      <a:r>
                        <a:rPr lang="en-US" sz="2400" dirty="0"/>
                        <a:t>COL</a:t>
                      </a:r>
                    </a:p>
                  </a:txBody>
                  <a:tcPr marL="121860" marR="121860" marT="60930" marB="60930">
                    <a:lnR w="12700" cap="flat" cmpd="sng" algn="ctr">
                      <a:solidFill>
                        <a:schemeClr val="tx1"/>
                      </a:solidFill>
                      <a:prstDash val="solid"/>
                      <a:round/>
                      <a:headEnd type="none" w="med" len="med"/>
                      <a:tailEnd type="none" w="med" len="med"/>
                    </a:lnR>
                  </a:tcPr>
                </a:tc>
                <a:tc>
                  <a:txBody>
                    <a:bodyPr/>
                    <a:lstStyle/>
                    <a:p>
                      <a:pPr algn="ctr"/>
                      <a:r>
                        <a:rPr lang="en-US" sz="2400" dirty="0">
                          <a:solidFill>
                            <a:schemeClr val="bg1"/>
                          </a:solidFill>
                        </a:rPr>
                        <a:t>NCD</a:t>
                      </a:r>
                    </a:p>
                  </a:txBody>
                  <a:tcPr marL="121860" marR="121860" marT="60930" marB="60930">
                    <a:lnL w="12700" cap="flat" cmpd="sng" algn="ctr">
                      <a:solidFill>
                        <a:schemeClr val="tx1"/>
                      </a:solidFill>
                      <a:prstDash val="solid"/>
                      <a:round/>
                      <a:headEnd type="none" w="med" len="med"/>
                      <a:tailEnd type="none" w="med" len="med"/>
                    </a:lnL>
                  </a:tcPr>
                </a:tc>
                <a:tc>
                  <a:txBody>
                    <a:bodyPr/>
                    <a:lstStyle/>
                    <a:p>
                      <a:pPr algn="ctr"/>
                      <a:r>
                        <a:rPr lang="en-US" sz="2400" dirty="0">
                          <a:solidFill>
                            <a:schemeClr val="bg1"/>
                          </a:solidFill>
                        </a:rPr>
                        <a:t>NCOL</a:t>
                      </a:r>
                    </a:p>
                  </a:txBody>
                  <a:tcPr marL="121860" marR="121860" marT="60930" marB="60930"/>
                </a:tc>
                <a:tc>
                  <a:txBody>
                    <a:bodyPr/>
                    <a:lstStyle/>
                    <a:p>
                      <a:pPr algn="ctr"/>
                      <a:r>
                        <a:rPr lang="en-US" sz="2400" dirty="0">
                          <a:solidFill>
                            <a:schemeClr val="bg1"/>
                          </a:solidFill>
                        </a:rPr>
                        <a:t>Equity</a:t>
                      </a:r>
                    </a:p>
                  </a:txBody>
                  <a:tcPr marL="121860" marR="121860" marT="60930" marB="60930"/>
                </a:tc>
                <a:extLst>
                  <a:ext uri="{0D108BD9-81ED-4DB2-BD59-A6C34878D82A}">
                    <a16:rowId xmlns:a16="http://schemas.microsoft.com/office/drawing/2014/main" val="2702799730"/>
                  </a:ext>
                </a:extLst>
              </a:tr>
              <a:tr h="3468994">
                <a:tc>
                  <a:txBody>
                    <a:bodyPr/>
                    <a:lstStyle/>
                    <a:p>
                      <a:r>
                        <a:rPr lang="en-US" sz="1700" dirty="0"/>
                        <a:t>Cash and cash </a:t>
                      </a:r>
                      <a:r>
                        <a:rPr lang="en-US" sz="1700" dirty="0" err="1"/>
                        <a:t>equiva-lents</a:t>
                      </a:r>
                      <a:endParaRPr lang="en-US" sz="1700" dirty="0"/>
                    </a:p>
                    <a:p>
                      <a:r>
                        <a:rPr lang="en-US" sz="1700" dirty="0"/>
                        <a:t>Marketable securities</a:t>
                      </a:r>
                    </a:p>
                  </a:txBody>
                  <a:tcPr marL="121860" marR="121860" marT="60930" marB="6093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r>
                        <a:rPr lang="en-US" sz="1700" dirty="0"/>
                        <a:t>Accounts receivable</a:t>
                      </a:r>
                    </a:p>
                    <a:p>
                      <a:r>
                        <a:rPr lang="en-US" sz="1700" dirty="0"/>
                        <a:t>Inventories</a:t>
                      </a:r>
                    </a:p>
                    <a:p>
                      <a:r>
                        <a:rPr lang="en-US" sz="1700" dirty="0"/>
                        <a:t>Prepaid expenses</a:t>
                      </a:r>
                    </a:p>
                  </a:txBody>
                  <a:tcPr marL="121860" marR="121860" marT="60930" marB="6093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r>
                        <a:rPr lang="en-US" sz="1700" dirty="0">
                          <a:solidFill>
                            <a:schemeClr val="bg1"/>
                          </a:solidFill>
                        </a:rPr>
                        <a:t>Investment in associates</a:t>
                      </a:r>
                    </a:p>
                    <a:p>
                      <a:r>
                        <a:rPr lang="en-US" sz="1700" dirty="0">
                          <a:solidFill>
                            <a:schemeClr val="bg1"/>
                          </a:solidFill>
                        </a:rPr>
                        <a:t>Other long-term financial assets</a:t>
                      </a:r>
                    </a:p>
                    <a:p>
                      <a:pPr marL="0" marR="0" lvl="0" indent="0" defTabSz="914400" eaLnBrk="1" fontAlgn="auto" latinLnBrk="0" hangingPunct="1">
                        <a:lnSpc>
                          <a:spcPct val="100000"/>
                        </a:lnSpc>
                        <a:spcBef>
                          <a:spcPts val="0"/>
                        </a:spcBef>
                        <a:spcAft>
                          <a:spcPts val="0"/>
                        </a:spcAft>
                        <a:buClrTx/>
                        <a:buSzTx/>
                        <a:buFontTx/>
                        <a:buNone/>
                        <a:tabLst/>
                        <a:defRPr/>
                      </a:pPr>
                      <a:r>
                        <a:rPr lang="en-US" sz="1700" dirty="0">
                          <a:solidFill>
                            <a:schemeClr val="bg1"/>
                          </a:solidFill>
                        </a:rPr>
                        <a:t>Deferred tax assets</a:t>
                      </a:r>
                    </a:p>
                    <a:p>
                      <a:endParaRPr lang="en-US" sz="1700" dirty="0">
                        <a:solidFill>
                          <a:schemeClr val="bg1"/>
                        </a:solidFill>
                      </a:endParaRPr>
                    </a:p>
                  </a:txBody>
                  <a:tcPr marL="121860" marR="121860" marT="60930" marB="60930">
                    <a:lnL w="12700" cap="flat" cmpd="sng" algn="ctr">
                      <a:solidFill>
                        <a:schemeClr val="tx1"/>
                      </a:solidFill>
                      <a:prstDash val="solid"/>
                      <a:round/>
                      <a:headEnd type="none" w="med" len="med"/>
                      <a:tailEnd type="none" w="med" len="med"/>
                    </a:lnL>
                  </a:tcPr>
                </a:tc>
                <a:tc>
                  <a:txBody>
                    <a:bodyPr/>
                    <a:lstStyle/>
                    <a:p>
                      <a:r>
                        <a:rPr lang="en-US" sz="1700" dirty="0">
                          <a:solidFill>
                            <a:schemeClr val="bg1"/>
                          </a:solidFill>
                        </a:rPr>
                        <a:t>Property, plant and equipment</a:t>
                      </a:r>
                    </a:p>
                    <a:p>
                      <a:r>
                        <a:rPr lang="en-US" sz="1700" dirty="0">
                          <a:solidFill>
                            <a:schemeClr val="bg1"/>
                          </a:solidFill>
                        </a:rPr>
                        <a:t>Intangible assets</a:t>
                      </a:r>
                    </a:p>
                  </a:txBody>
                  <a:tcPr marL="121860" marR="121860" marT="60930" marB="60930">
                    <a:lnR w="12700" cap="flat" cmpd="sng" algn="ctr">
                      <a:solidFill>
                        <a:schemeClr val="tx1"/>
                      </a:solidFill>
                      <a:prstDash val="solid"/>
                      <a:round/>
                      <a:headEnd type="none" w="med" len="med"/>
                      <a:tailEnd type="none" w="med" len="med"/>
                    </a:lnR>
                  </a:tcPr>
                </a:tc>
                <a:tc>
                  <a:txBody>
                    <a:bodyPr/>
                    <a:lstStyle/>
                    <a:p>
                      <a:r>
                        <a:rPr lang="en-US" sz="1700" dirty="0"/>
                        <a:t>Short-term interest-bearing liabilities (=debt)</a:t>
                      </a:r>
                    </a:p>
                  </a:txBody>
                  <a:tcPr marL="121860" marR="121860" marT="60930" marB="6093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r>
                        <a:rPr lang="en-US" sz="1700" dirty="0"/>
                        <a:t>Accounts payable</a:t>
                      </a:r>
                    </a:p>
                    <a:p>
                      <a:r>
                        <a:rPr lang="en-US" sz="1700" dirty="0"/>
                        <a:t>Accrued expenses</a:t>
                      </a:r>
                    </a:p>
                    <a:p>
                      <a:r>
                        <a:rPr lang="en-US" sz="1700" dirty="0"/>
                        <a:t>Tax liabilities</a:t>
                      </a:r>
                    </a:p>
                    <a:p>
                      <a:r>
                        <a:rPr lang="en-US" sz="1700" dirty="0"/>
                        <a:t>Unearned or deferred revenue</a:t>
                      </a:r>
                    </a:p>
                  </a:txBody>
                  <a:tcPr marL="121860" marR="121860" marT="60930" marB="6093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r>
                        <a:rPr lang="en-US" sz="1700" dirty="0">
                          <a:solidFill>
                            <a:schemeClr val="bg1"/>
                          </a:solidFill>
                        </a:rPr>
                        <a:t>Long-term interest-bearing</a:t>
                      </a:r>
                      <a:r>
                        <a:rPr lang="en-US" sz="1700" baseline="0" dirty="0">
                          <a:solidFill>
                            <a:schemeClr val="bg1"/>
                          </a:solidFill>
                        </a:rPr>
                        <a:t> </a:t>
                      </a:r>
                      <a:r>
                        <a:rPr lang="en-US" sz="1700" dirty="0">
                          <a:solidFill>
                            <a:schemeClr val="bg1"/>
                          </a:solidFill>
                        </a:rPr>
                        <a:t>liabilities (=debt)</a:t>
                      </a:r>
                    </a:p>
                    <a:p>
                      <a:pPr marL="0" marR="0" lvl="0" indent="0" defTabSz="914400" eaLnBrk="1" fontAlgn="auto" latinLnBrk="0" hangingPunct="1">
                        <a:lnSpc>
                          <a:spcPct val="100000"/>
                        </a:lnSpc>
                        <a:spcBef>
                          <a:spcPts val="0"/>
                        </a:spcBef>
                        <a:spcAft>
                          <a:spcPts val="0"/>
                        </a:spcAft>
                        <a:buClrTx/>
                        <a:buSzTx/>
                        <a:buFontTx/>
                        <a:buNone/>
                        <a:tabLst/>
                        <a:defRPr/>
                      </a:pPr>
                      <a:r>
                        <a:rPr lang="en-US" sz="1700" dirty="0">
                          <a:solidFill>
                            <a:schemeClr val="bg1"/>
                          </a:solidFill>
                        </a:rPr>
                        <a:t>(discounted) Provisions</a:t>
                      </a:r>
                    </a:p>
                    <a:p>
                      <a:endParaRPr lang="en-US" sz="1700" dirty="0">
                        <a:solidFill>
                          <a:schemeClr val="bg1"/>
                        </a:solidFill>
                      </a:endParaRPr>
                    </a:p>
                  </a:txBody>
                  <a:tcPr marL="121860" marR="121860" marT="60930" marB="60930">
                    <a:lnL w="12700" cap="flat" cmpd="sng" algn="ctr">
                      <a:solidFill>
                        <a:schemeClr val="tx1"/>
                      </a:solidFill>
                      <a:prstDash val="solid"/>
                      <a:round/>
                      <a:headEnd type="none" w="med" len="med"/>
                      <a:tailEnd type="none" w="med" len="med"/>
                    </a:lnL>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700" dirty="0">
                          <a:solidFill>
                            <a:schemeClr val="bg1"/>
                          </a:solidFill>
                        </a:rPr>
                        <a:t>Deferred tax liabilities</a:t>
                      </a:r>
                    </a:p>
                  </a:txBody>
                  <a:tcPr marL="121860" marR="121860" marT="60930" marB="60930"/>
                </a:tc>
                <a:tc>
                  <a:txBody>
                    <a:bodyPr/>
                    <a:lstStyle/>
                    <a:p>
                      <a:endParaRPr lang="en-US" sz="1700" dirty="0">
                        <a:solidFill>
                          <a:schemeClr val="bg1"/>
                        </a:solidFill>
                      </a:endParaRPr>
                    </a:p>
                  </a:txBody>
                  <a:tcPr marL="121860" marR="121860" marT="60930" marB="60930"/>
                </a:tc>
                <a:extLst>
                  <a:ext uri="{0D108BD9-81ED-4DB2-BD59-A6C34878D82A}">
                    <a16:rowId xmlns:a16="http://schemas.microsoft.com/office/drawing/2014/main" val="3758790360"/>
                  </a:ext>
                </a:extLst>
              </a:tr>
            </a:tbl>
          </a:graphicData>
        </a:graphic>
      </p:graphicFrame>
    </p:spTree>
    <p:extLst>
      <p:ext uri="{BB962C8B-B14F-4D97-AF65-F5344CB8AC3E}">
        <p14:creationId xmlns:p14="http://schemas.microsoft.com/office/powerpoint/2010/main" val="39695712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D1EE1-19A5-6512-94FB-CB3CBCC83F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A8B7635-C477-2006-8F34-B2C1727C9BBF}"/>
              </a:ext>
            </a:extLst>
          </p:cNvPr>
          <p:cNvSpPr>
            <a:spLocks noGrp="1"/>
          </p:cNvSpPr>
          <p:nvPr>
            <p:ph type="title"/>
          </p:nvPr>
        </p:nvSpPr>
        <p:spPr>
          <a:xfrm>
            <a:off x="639088" y="134869"/>
            <a:ext cx="11464134" cy="839313"/>
          </a:xfrm>
        </p:spPr>
        <p:txBody>
          <a:bodyPr>
            <a:normAutofit/>
          </a:bodyPr>
          <a:lstStyle/>
          <a:p>
            <a:r>
              <a:rPr lang="en-US" dirty="0"/>
              <a:t>Working capital requirement </a:t>
            </a:r>
            <a:br>
              <a:rPr lang="en-US" dirty="0"/>
            </a:br>
            <a:r>
              <a:rPr lang="en-US" dirty="0"/>
              <a:t>= Current operating assets – current operating liabilities</a:t>
            </a:r>
          </a:p>
        </p:txBody>
      </p:sp>
      <p:graphicFrame>
        <p:nvGraphicFramePr>
          <p:cNvPr id="6" name="Table 6">
            <a:extLst>
              <a:ext uri="{FF2B5EF4-FFF2-40B4-BE49-F238E27FC236}">
                <a16:creationId xmlns:a16="http://schemas.microsoft.com/office/drawing/2014/main" id="{6FBC61BC-9541-7C25-CFE8-6FD1443500CE}"/>
              </a:ext>
            </a:extLst>
          </p:cNvPr>
          <p:cNvGraphicFramePr>
            <a:graphicFrameLocks noGrp="1"/>
          </p:cNvGraphicFramePr>
          <p:nvPr>
            <p:ph idx="1"/>
            <p:extLst>
              <p:ext uri="{D42A27DB-BD31-4B8C-83A1-F6EECF244321}">
                <p14:modId xmlns:p14="http://schemas.microsoft.com/office/powerpoint/2010/main" val="3089891159"/>
              </p:ext>
            </p:extLst>
          </p:nvPr>
        </p:nvGraphicFramePr>
        <p:xfrm>
          <a:off x="79900" y="1101632"/>
          <a:ext cx="11922712" cy="5189622"/>
        </p:xfrm>
        <a:graphic>
          <a:graphicData uri="http://schemas.openxmlformats.org/drawingml/2006/table">
            <a:tbl>
              <a:tblPr firstRow="1" bandRow="1">
                <a:tableStyleId>{5C22544A-7EE6-4342-B048-85BDC9FD1C3A}</a:tableStyleId>
              </a:tblPr>
              <a:tblGrid>
                <a:gridCol w="1324747">
                  <a:extLst>
                    <a:ext uri="{9D8B030D-6E8A-4147-A177-3AD203B41FA5}">
                      <a16:colId xmlns:a16="http://schemas.microsoft.com/office/drawing/2014/main" val="2449450424"/>
                    </a:ext>
                  </a:extLst>
                </a:gridCol>
                <a:gridCol w="1329675">
                  <a:extLst>
                    <a:ext uri="{9D8B030D-6E8A-4147-A177-3AD203B41FA5}">
                      <a16:colId xmlns:a16="http://schemas.microsoft.com/office/drawing/2014/main" val="630582381"/>
                    </a:ext>
                  </a:extLst>
                </a:gridCol>
                <a:gridCol w="1319816">
                  <a:extLst>
                    <a:ext uri="{9D8B030D-6E8A-4147-A177-3AD203B41FA5}">
                      <a16:colId xmlns:a16="http://schemas.microsoft.com/office/drawing/2014/main" val="1046699827"/>
                    </a:ext>
                  </a:extLst>
                </a:gridCol>
                <a:gridCol w="1423778">
                  <a:extLst>
                    <a:ext uri="{9D8B030D-6E8A-4147-A177-3AD203B41FA5}">
                      <a16:colId xmlns:a16="http://schemas.microsoft.com/office/drawing/2014/main" val="1272496486"/>
                    </a:ext>
                  </a:extLst>
                </a:gridCol>
                <a:gridCol w="1225713">
                  <a:extLst>
                    <a:ext uri="{9D8B030D-6E8A-4147-A177-3AD203B41FA5}">
                      <a16:colId xmlns:a16="http://schemas.microsoft.com/office/drawing/2014/main" val="3461108221"/>
                    </a:ext>
                  </a:extLst>
                </a:gridCol>
                <a:gridCol w="1324747">
                  <a:extLst>
                    <a:ext uri="{9D8B030D-6E8A-4147-A177-3AD203B41FA5}">
                      <a16:colId xmlns:a16="http://schemas.microsoft.com/office/drawing/2014/main" val="440514077"/>
                    </a:ext>
                  </a:extLst>
                </a:gridCol>
                <a:gridCol w="1560380">
                  <a:extLst>
                    <a:ext uri="{9D8B030D-6E8A-4147-A177-3AD203B41FA5}">
                      <a16:colId xmlns:a16="http://schemas.microsoft.com/office/drawing/2014/main" val="3944282632"/>
                    </a:ext>
                  </a:extLst>
                </a:gridCol>
                <a:gridCol w="1193467">
                  <a:extLst>
                    <a:ext uri="{9D8B030D-6E8A-4147-A177-3AD203B41FA5}">
                      <a16:colId xmlns:a16="http://schemas.microsoft.com/office/drawing/2014/main" val="1694010995"/>
                    </a:ext>
                  </a:extLst>
                </a:gridCol>
                <a:gridCol w="1220389">
                  <a:extLst>
                    <a:ext uri="{9D8B030D-6E8A-4147-A177-3AD203B41FA5}">
                      <a16:colId xmlns:a16="http://schemas.microsoft.com/office/drawing/2014/main" val="1637691667"/>
                    </a:ext>
                  </a:extLst>
                </a:gridCol>
              </a:tblGrid>
              <a:tr h="867248">
                <a:tc gridSpan="2">
                  <a:txBody>
                    <a:bodyPr/>
                    <a:lstStyle/>
                    <a:p>
                      <a:pPr algn="ctr"/>
                      <a:r>
                        <a:rPr lang="en-US" sz="2400" dirty="0"/>
                        <a:t>Current assets</a:t>
                      </a:r>
                    </a:p>
                  </a:txBody>
                  <a:tcPr marL="121860" marR="121860" marT="60930" marB="60930" anchor="ctr"/>
                </a:tc>
                <a:tc hMerge="1">
                  <a:txBody>
                    <a:bodyPr/>
                    <a:lstStyle/>
                    <a:p>
                      <a:endParaRPr lang="en-US" dirty="0"/>
                    </a:p>
                  </a:txBody>
                  <a:tcPr/>
                </a:tc>
                <a:tc gridSpan="2">
                  <a:txBody>
                    <a:bodyPr/>
                    <a:lstStyle/>
                    <a:p>
                      <a:pPr algn="ctr"/>
                      <a:r>
                        <a:rPr lang="en-US" sz="2400" dirty="0"/>
                        <a:t>Non-current assets</a:t>
                      </a:r>
                    </a:p>
                  </a:txBody>
                  <a:tcPr marL="121860" marR="121860" marT="60930" marB="60930" anchor="ctr"/>
                </a:tc>
                <a:tc hMerge="1">
                  <a:txBody>
                    <a:bodyPr/>
                    <a:lstStyle/>
                    <a:p>
                      <a:endParaRPr lang="en-US" dirty="0"/>
                    </a:p>
                  </a:txBody>
                  <a:tcPr/>
                </a:tc>
                <a:tc gridSpan="2">
                  <a:txBody>
                    <a:bodyPr/>
                    <a:lstStyle/>
                    <a:p>
                      <a:pPr algn="ctr"/>
                      <a:r>
                        <a:rPr lang="en-US" sz="2400" dirty="0"/>
                        <a:t>Current liabilities</a:t>
                      </a:r>
                    </a:p>
                  </a:txBody>
                  <a:tcPr marL="121860" marR="121860" marT="60930" marB="60930" anchor="ctr"/>
                </a:tc>
                <a:tc hMerge="1">
                  <a:txBody>
                    <a:bodyPr/>
                    <a:lstStyle/>
                    <a:p>
                      <a:endParaRPr lang="en-US" dirty="0"/>
                    </a:p>
                  </a:txBody>
                  <a:tcPr/>
                </a:tc>
                <a:tc gridSpan="2">
                  <a:txBody>
                    <a:bodyPr/>
                    <a:lstStyle/>
                    <a:p>
                      <a:pPr algn="ctr"/>
                      <a:r>
                        <a:rPr lang="en-US" sz="2400" dirty="0"/>
                        <a:t>Non-current liabilities</a:t>
                      </a:r>
                    </a:p>
                  </a:txBody>
                  <a:tcPr marL="121860" marR="121860" marT="60930" marB="60930" anchor="ctr"/>
                </a:tc>
                <a:tc hMerge="1">
                  <a:txBody>
                    <a:bodyPr/>
                    <a:lstStyle/>
                    <a:p>
                      <a:endParaRPr lang="en-US" dirty="0"/>
                    </a:p>
                  </a:txBody>
                  <a:tcPr/>
                </a:tc>
                <a:tc>
                  <a:txBody>
                    <a:bodyPr/>
                    <a:lstStyle/>
                    <a:p>
                      <a:pPr algn="ctr"/>
                      <a:r>
                        <a:rPr lang="en-US" sz="2400" dirty="0"/>
                        <a:t>Equity</a:t>
                      </a:r>
                    </a:p>
                  </a:txBody>
                  <a:tcPr marL="121860" marR="121860" marT="60930" marB="60930" anchor="ctr"/>
                </a:tc>
                <a:extLst>
                  <a:ext uri="{0D108BD9-81ED-4DB2-BD59-A6C34878D82A}">
                    <a16:rowId xmlns:a16="http://schemas.microsoft.com/office/drawing/2014/main" val="3500697481"/>
                  </a:ext>
                </a:extLst>
              </a:tr>
              <a:tr h="850168">
                <a:tc>
                  <a:txBody>
                    <a:bodyPr/>
                    <a:lstStyle/>
                    <a:p>
                      <a:pPr algn="ctr"/>
                      <a:r>
                        <a:rPr lang="en-US" sz="2400" dirty="0">
                          <a:solidFill>
                            <a:schemeClr val="bg1"/>
                          </a:solidFill>
                        </a:rPr>
                        <a:t>CNOA</a:t>
                      </a:r>
                    </a:p>
                  </a:txBody>
                  <a:tcPr marL="121860" marR="121860" marT="60930" marB="60930">
                    <a:lnR w="12700" cap="flat" cmpd="sng" algn="ctr">
                      <a:solidFill>
                        <a:schemeClr val="tx1"/>
                      </a:solidFill>
                      <a:prstDash val="solid"/>
                      <a:round/>
                      <a:headEnd type="none" w="med" len="med"/>
                      <a:tailEnd type="none" w="med" len="med"/>
                    </a:lnR>
                  </a:tcPr>
                </a:tc>
                <a:tc>
                  <a:txBody>
                    <a:bodyPr/>
                    <a:lstStyle/>
                    <a:p>
                      <a:pPr algn="ctr"/>
                      <a:r>
                        <a:rPr lang="en-US" sz="2400" dirty="0"/>
                        <a:t>COA</a:t>
                      </a:r>
                    </a:p>
                  </a:txBody>
                  <a:tcPr marL="121860" marR="121860" marT="60930" marB="609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sz="2400" dirty="0">
                          <a:solidFill>
                            <a:schemeClr val="bg1"/>
                          </a:solidFill>
                        </a:rPr>
                        <a:t>NCNOA</a:t>
                      </a:r>
                    </a:p>
                  </a:txBody>
                  <a:tcPr marL="121860" marR="121860" marT="60930" marB="60930">
                    <a:lnL w="12700" cap="flat" cmpd="sng" algn="ctr">
                      <a:solidFill>
                        <a:schemeClr val="tx1"/>
                      </a:solidFill>
                      <a:prstDash val="solid"/>
                      <a:round/>
                      <a:headEnd type="none" w="med" len="med"/>
                      <a:tailEnd type="none" w="med" len="med"/>
                    </a:lnL>
                  </a:tcPr>
                </a:tc>
                <a:tc>
                  <a:txBody>
                    <a:bodyPr/>
                    <a:lstStyle/>
                    <a:p>
                      <a:pPr algn="ctr"/>
                      <a:r>
                        <a:rPr lang="en-US" sz="2400" dirty="0">
                          <a:solidFill>
                            <a:schemeClr val="bg1"/>
                          </a:solidFill>
                        </a:rPr>
                        <a:t>NCOA</a:t>
                      </a:r>
                    </a:p>
                  </a:txBody>
                  <a:tcPr marL="121860" marR="121860" marT="60930" marB="60930"/>
                </a:tc>
                <a:tc>
                  <a:txBody>
                    <a:bodyPr/>
                    <a:lstStyle/>
                    <a:p>
                      <a:pPr algn="ctr"/>
                      <a:r>
                        <a:rPr lang="en-US" sz="2400" dirty="0">
                          <a:solidFill>
                            <a:schemeClr val="bg1"/>
                          </a:solidFill>
                        </a:rPr>
                        <a:t>CD</a:t>
                      </a:r>
                    </a:p>
                  </a:txBody>
                  <a:tcPr marL="121860" marR="121860" marT="60930" marB="60930">
                    <a:lnR w="12700" cap="flat" cmpd="sng" algn="ctr">
                      <a:solidFill>
                        <a:schemeClr val="tx1"/>
                      </a:solidFill>
                      <a:prstDash val="solid"/>
                      <a:round/>
                      <a:headEnd type="none" w="med" len="med"/>
                      <a:tailEnd type="none" w="med" len="med"/>
                    </a:lnR>
                  </a:tcPr>
                </a:tc>
                <a:tc>
                  <a:txBody>
                    <a:bodyPr/>
                    <a:lstStyle/>
                    <a:p>
                      <a:pPr algn="ctr"/>
                      <a:r>
                        <a:rPr lang="en-US" sz="2400" dirty="0"/>
                        <a:t>COL</a:t>
                      </a:r>
                    </a:p>
                  </a:txBody>
                  <a:tcPr marL="121860" marR="121860" marT="60930" marB="609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sz="2400" dirty="0">
                          <a:solidFill>
                            <a:schemeClr val="bg1"/>
                          </a:solidFill>
                        </a:rPr>
                        <a:t>NCD</a:t>
                      </a:r>
                    </a:p>
                  </a:txBody>
                  <a:tcPr marL="121860" marR="121860" marT="60930" marB="60930">
                    <a:lnL w="12700" cap="flat" cmpd="sng" algn="ctr">
                      <a:solidFill>
                        <a:schemeClr val="tx1"/>
                      </a:solidFill>
                      <a:prstDash val="solid"/>
                      <a:round/>
                      <a:headEnd type="none" w="med" len="med"/>
                      <a:tailEnd type="none" w="med" len="med"/>
                    </a:lnL>
                  </a:tcPr>
                </a:tc>
                <a:tc>
                  <a:txBody>
                    <a:bodyPr/>
                    <a:lstStyle/>
                    <a:p>
                      <a:pPr algn="ctr"/>
                      <a:r>
                        <a:rPr lang="en-US" sz="2400" dirty="0">
                          <a:solidFill>
                            <a:schemeClr val="bg1"/>
                          </a:solidFill>
                        </a:rPr>
                        <a:t>NCOL</a:t>
                      </a:r>
                    </a:p>
                  </a:txBody>
                  <a:tcPr marL="121860" marR="121860" marT="60930" marB="60930"/>
                </a:tc>
                <a:tc>
                  <a:txBody>
                    <a:bodyPr/>
                    <a:lstStyle/>
                    <a:p>
                      <a:pPr algn="ctr"/>
                      <a:r>
                        <a:rPr lang="en-US" sz="2400" dirty="0">
                          <a:solidFill>
                            <a:schemeClr val="bg1"/>
                          </a:solidFill>
                        </a:rPr>
                        <a:t>Equity</a:t>
                      </a:r>
                    </a:p>
                  </a:txBody>
                  <a:tcPr marL="121860" marR="121860" marT="60930" marB="60930"/>
                </a:tc>
                <a:extLst>
                  <a:ext uri="{0D108BD9-81ED-4DB2-BD59-A6C34878D82A}">
                    <a16:rowId xmlns:a16="http://schemas.microsoft.com/office/drawing/2014/main" val="2702799730"/>
                  </a:ext>
                </a:extLst>
              </a:tr>
              <a:tr h="3468994">
                <a:tc>
                  <a:txBody>
                    <a:bodyPr/>
                    <a:lstStyle/>
                    <a:p>
                      <a:r>
                        <a:rPr lang="en-US" sz="1700" dirty="0">
                          <a:solidFill>
                            <a:schemeClr val="bg1"/>
                          </a:solidFill>
                        </a:rPr>
                        <a:t>Cash and cash </a:t>
                      </a:r>
                      <a:r>
                        <a:rPr lang="en-US" sz="1700" dirty="0" err="1">
                          <a:solidFill>
                            <a:schemeClr val="bg1"/>
                          </a:solidFill>
                        </a:rPr>
                        <a:t>equiva-lents</a:t>
                      </a:r>
                      <a:endParaRPr lang="en-US" sz="1700" dirty="0">
                        <a:solidFill>
                          <a:schemeClr val="bg1"/>
                        </a:solidFill>
                      </a:endParaRPr>
                    </a:p>
                    <a:p>
                      <a:r>
                        <a:rPr lang="en-US" sz="1700" dirty="0">
                          <a:solidFill>
                            <a:schemeClr val="bg1"/>
                          </a:solidFill>
                        </a:rPr>
                        <a:t>Marketable securities</a:t>
                      </a:r>
                    </a:p>
                  </a:txBody>
                  <a:tcPr marL="121860" marR="121860" marT="60930" marB="60930">
                    <a:lnR w="12700" cap="flat" cmpd="sng" algn="ctr">
                      <a:solidFill>
                        <a:schemeClr val="tx1"/>
                      </a:solidFill>
                      <a:prstDash val="solid"/>
                      <a:round/>
                      <a:headEnd type="none" w="med" len="med"/>
                      <a:tailEnd type="none" w="med" len="med"/>
                    </a:lnR>
                  </a:tcPr>
                </a:tc>
                <a:tc>
                  <a:txBody>
                    <a:bodyPr/>
                    <a:lstStyle/>
                    <a:p>
                      <a:r>
                        <a:rPr lang="en-US" sz="1700" dirty="0"/>
                        <a:t>Accounts receivable</a:t>
                      </a:r>
                    </a:p>
                    <a:p>
                      <a:r>
                        <a:rPr lang="en-US" sz="1700" dirty="0"/>
                        <a:t>Inventories</a:t>
                      </a:r>
                    </a:p>
                    <a:p>
                      <a:r>
                        <a:rPr lang="en-US" sz="1700" dirty="0"/>
                        <a:t>Prepaid expenses</a:t>
                      </a:r>
                    </a:p>
                  </a:txBody>
                  <a:tcPr marL="121860" marR="121860" marT="60930" marB="609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r>
                        <a:rPr lang="en-US" sz="1700" dirty="0">
                          <a:solidFill>
                            <a:schemeClr val="bg1"/>
                          </a:solidFill>
                        </a:rPr>
                        <a:t>Investment in associates</a:t>
                      </a:r>
                    </a:p>
                    <a:p>
                      <a:r>
                        <a:rPr lang="en-US" sz="1700" dirty="0">
                          <a:solidFill>
                            <a:schemeClr val="bg1"/>
                          </a:solidFill>
                        </a:rPr>
                        <a:t>Other long-term financial assets</a:t>
                      </a:r>
                    </a:p>
                    <a:p>
                      <a:pPr marL="0" marR="0" lvl="0" indent="0" defTabSz="914400" eaLnBrk="1" fontAlgn="auto" latinLnBrk="0" hangingPunct="1">
                        <a:lnSpc>
                          <a:spcPct val="100000"/>
                        </a:lnSpc>
                        <a:spcBef>
                          <a:spcPts val="0"/>
                        </a:spcBef>
                        <a:spcAft>
                          <a:spcPts val="0"/>
                        </a:spcAft>
                        <a:buClrTx/>
                        <a:buSzTx/>
                        <a:buFontTx/>
                        <a:buNone/>
                        <a:tabLst/>
                        <a:defRPr/>
                      </a:pPr>
                      <a:r>
                        <a:rPr lang="en-US" sz="1700" dirty="0">
                          <a:solidFill>
                            <a:schemeClr val="bg1"/>
                          </a:solidFill>
                        </a:rPr>
                        <a:t>Deferred tax assets</a:t>
                      </a:r>
                    </a:p>
                    <a:p>
                      <a:endParaRPr lang="en-US" sz="1700" dirty="0">
                        <a:solidFill>
                          <a:schemeClr val="bg1"/>
                        </a:solidFill>
                      </a:endParaRPr>
                    </a:p>
                  </a:txBody>
                  <a:tcPr marL="121860" marR="121860" marT="60930" marB="60930">
                    <a:lnL w="12700" cap="flat" cmpd="sng" algn="ctr">
                      <a:solidFill>
                        <a:schemeClr val="tx1"/>
                      </a:solidFill>
                      <a:prstDash val="solid"/>
                      <a:round/>
                      <a:headEnd type="none" w="med" len="med"/>
                      <a:tailEnd type="none" w="med" len="med"/>
                    </a:lnL>
                  </a:tcPr>
                </a:tc>
                <a:tc>
                  <a:txBody>
                    <a:bodyPr/>
                    <a:lstStyle/>
                    <a:p>
                      <a:r>
                        <a:rPr lang="en-US" sz="1700" dirty="0">
                          <a:solidFill>
                            <a:schemeClr val="bg1"/>
                          </a:solidFill>
                        </a:rPr>
                        <a:t>Property, plant and equipment</a:t>
                      </a:r>
                    </a:p>
                    <a:p>
                      <a:r>
                        <a:rPr lang="en-US" sz="1700" dirty="0">
                          <a:solidFill>
                            <a:schemeClr val="bg1"/>
                          </a:solidFill>
                        </a:rPr>
                        <a:t>Intangible assets</a:t>
                      </a:r>
                    </a:p>
                  </a:txBody>
                  <a:tcPr marL="121860" marR="121860" marT="60930" marB="60930"/>
                </a:tc>
                <a:tc>
                  <a:txBody>
                    <a:bodyPr/>
                    <a:lstStyle/>
                    <a:p>
                      <a:r>
                        <a:rPr lang="en-US" sz="1700" dirty="0">
                          <a:solidFill>
                            <a:schemeClr val="bg1"/>
                          </a:solidFill>
                        </a:rPr>
                        <a:t>Short-term interest-bearing liabilities (=debt)</a:t>
                      </a:r>
                    </a:p>
                  </a:txBody>
                  <a:tcPr marL="121860" marR="121860" marT="60930" marB="60930">
                    <a:lnR w="12700" cap="flat" cmpd="sng" algn="ctr">
                      <a:solidFill>
                        <a:schemeClr val="tx1"/>
                      </a:solidFill>
                      <a:prstDash val="solid"/>
                      <a:round/>
                      <a:headEnd type="none" w="med" len="med"/>
                      <a:tailEnd type="none" w="med" len="med"/>
                    </a:lnR>
                  </a:tcPr>
                </a:tc>
                <a:tc>
                  <a:txBody>
                    <a:bodyPr/>
                    <a:lstStyle/>
                    <a:p>
                      <a:r>
                        <a:rPr lang="en-US" sz="1700" dirty="0"/>
                        <a:t>Accounts payable</a:t>
                      </a:r>
                    </a:p>
                    <a:p>
                      <a:r>
                        <a:rPr lang="en-US" sz="1700" dirty="0"/>
                        <a:t>Accrued expenses</a:t>
                      </a:r>
                    </a:p>
                    <a:p>
                      <a:r>
                        <a:rPr lang="en-US" sz="1700" dirty="0"/>
                        <a:t>Tax liabilities</a:t>
                      </a:r>
                    </a:p>
                    <a:p>
                      <a:r>
                        <a:rPr lang="en-US" sz="1700" dirty="0"/>
                        <a:t>Unearned or deferred revenue</a:t>
                      </a:r>
                    </a:p>
                  </a:txBody>
                  <a:tcPr marL="121860" marR="121860" marT="60930" marB="609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r>
                        <a:rPr lang="en-US" sz="1700" dirty="0">
                          <a:solidFill>
                            <a:schemeClr val="bg1"/>
                          </a:solidFill>
                        </a:rPr>
                        <a:t>Long-term interest-bearing</a:t>
                      </a:r>
                      <a:r>
                        <a:rPr lang="en-US" sz="1700" baseline="0" dirty="0">
                          <a:solidFill>
                            <a:schemeClr val="bg1"/>
                          </a:solidFill>
                        </a:rPr>
                        <a:t> </a:t>
                      </a:r>
                      <a:r>
                        <a:rPr lang="en-US" sz="1700" dirty="0">
                          <a:solidFill>
                            <a:schemeClr val="bg1"/>
                          </a:solidFill>
                        </a:rPr>
                        <a:t>liabilities (=debt)</a:t>
                      </a:r>
                    </a:p>
                    <a:p>
                      <a:pPr marL="0" marR="0" lvl="0" indent="0" defTabSz="914400" eaLnBrk="1" fontAlgn="auto" latinLnBrk="0" hangingPunct="1">
                        <a:lnSpc>
                          <a:spcPct val="100000"/>
                        </a:lnSpc>
                        <a:spcBef>
                          <a:spcPts val="0"/>
                        </a:spcBef>
                        <a:spcAft>
                          <a:spcPts val="0"/>
                        </a:spcAft>
                        <a:buClrTx/>
                        <a:buSzTx/>
                        <a:buFontTx/>
                        <a:buNone/>
                        <a:tabLst/>
                        <a:defRPr/>
                      </a:pPr>
                      <a:r>
                        <a:rPr lang="en-US" sz="1700" dirty="0">
                          <a:solidFill>
                            <a:schemeClr val="bg1"/>
                          </a:solidFill>
                        </a:rPr>
                        <a:t>(discounted) Provisions</a:t>
                      </a:r>
                    </a:p>
                    <a:p>
                      <a:endParaRPr lang="en-US" sz="1700" dirty="0">
                        <a:solidFill>
                          <a:schemeClr val="bg1"/>
                        </a:solidFill>
                      </a:endParaRPr>
                    </a:p>
                  </a:txBody>
                  <a:tcPr marL="121860" marR="121860" marT="60930" marB="60930">
                    <a:lnL w="12700" cap="flat" cmpd="sng" algn="ctr">
                      <a:solidFill>
                        <a:schemeClr val="tx1"/>
                      </a:solidFill>
                      <a:prstDash val="solid"/>
                      <a:round/>
                      <a:headEnd type="none" w="med" len="med"/>
                      <a:tailEnd type="none" w="med" len="med"/>
                    </a:lnL>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700" dirty="0">
                          <a:solidFill>
                            <a:schemeClr val="bg1"/>
                          </a:solidFill>
                        </a:rPr>
                        <a:t>Deferred tax liabilities</a:t>
                      </a:r>
                    </a:p>
                  </a:txBody>
                  <a:tcPr marL="121860" marR="121860" marT="60930" marB="60930"/>
                </a:tc>
                <a:tc>
                  <a:txBody>
                    <a:bodyPr/>
                    <a:lstStyle/>
                    <a:p>
                      <a:endParaRPr lang="en-US" sz="1700" dirty="0">
                        <a:solidFill>
                          <a:schemeClr val="bg1"/>
                        </a:solidFill>
                      </a:endParaRPr>
                    </a:p>
                  </a:txBody>
                  <a:tcPr marL="121860" marR="121860" marT="60930" marB="60930"/>
                </a:tc>
                <a:extLst>
                  <a:ext uri="{0D108BD9-81ED-4DB2-BD59-A6C34878D82A}">
                    <a16:rowId xmlns:a16="http://schemas.microsoft.com/office/drawing/2014/main" val="3758790360"/>
                  </a:ext>
                </a:extLst>
              </a:tr>
            </a:tbl>
          </a:graphicData>
        </a:graphic>
      </p:graphicFrame>
    </p:spTree>
    <p:extLst>
      <p:ext uri="{BB962C8B-B14F-4D97-AF65-F5344CB8AC3E}">
        <p14:creationId xmlns:p14="http://schemas.microsoft.com/office/powerpoint/2010/main" val="318253897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BDCD-3BD8-7CAB-DCCB-8469D542CD8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1361E1B-EA4B-AA48-E566-E4B6F7D68355}"/>
              </a:ext>
            </a:extLst>
          </p:cNvPr>
          <p:cNvSpPr>
            <a:spLocks noGrp="1"/>
          </p:cNvSpPr>
          <p:nvPr>
            <p:ph type="title"/>
          </p:nvPr>
        </p:nvSpPr>
        <p:spPr>
          <a:xfrm>
            <a:off x="363933" y="151961"/>
            <a:ext cx="11464134" cy="829569"/>
          </a:xfrm>
        </p:spPr>
        <p:txBody>
          <a:bodyPr>
            <a:normAutofit/>
          </a:bodyPr>
          <a:lstStyle/>
          <a:p>
            <a:r>
              <a:rPr lang="en-US" dirty="0"/>
              <a:t>Net cash</a:t>
            </a:r>
            <a:br>
              <a:rPr lang="en-US" dirty="0"/>
            </a:br>
            <a:r>
              <a:rPr lang="en-US" dirty="0"/>
              <a:t>= current nonoperating assets – current debt</a:t>
            </a:r>
          </a:p>
        </p:txBody>
      </p:sp>
      <p:graphicFrame>
        <p:nvGraphicFramePr>
          <p:cNvPr id="6" name="Table 6">
            <a:extLst>
              <a:ext uri="{FF2B5EF4-FFF2-40B4-BE49-F238E27FC236}">
                <a16:creationId xmlns:a16="http://schemas.microsoft.com/office/drawing/2014/main" id="{05C6D94A-D36D-E45F-A85A-56EB89D2673F}"/>
              </a:ext>
            </a:extLst>
          </p:cNvPr>
          <p:cNvGraphicFramePr>
            <a:graphicFrameLocks noGrp="1"/>
          </p:cNvGraphicFramePr>
          <p:nvPr>
            <p:ph idx="1"/>
            <p:extLst>
              <p:ext uri="{D42A27DB-BD31-4B8C-83A1-F6EECF244321}">
                <p14:modId xmlns:p14="http://schemas.microsoft.com/office/powerpoint/2010/main" val="4288693084"/>
              </p:ext>
            </p:extLst>
          </p:nvPr>
        </p:nvGraphicFramePr>
        <p:xfrm>
          <a:off x="79900" y="1101632"/>
          <a:ext cx="11922712" cy="5189622"/>
        </p:xfrm>
        <a:graphic>
          <a:graphicData uri="http://schemas.openxmlformats.org/drawingml/2006/table">
            <a:tbl>
              <a:tblPr firstRow="1" bandRow="1">
                <a:tableStyleId>{5C22544A-7EE6-4342-B048-85BDC9FD1C3A}</a:tableStyleId>
              </a:tblPr>
              <a:tblGrid>
                <a:gridCol w="1324747">
                  <a:extLst>
                    <a:ext uri="{9D8B030D-6E8A-4147-A177-3AD203B41FA5}">
                      <a16:colId xmlns:a16="http://schemas.microsoft.com/office/drawing/2014/main" val="2449450424"/>
                    </a:ext>
                  </a:extLst>
                </a:gridCol>
                <a:gridCol w="1329675">
                  <a:extLst>
                    <a:ext uri="{9D8B030D-6E8A-4147-A177-3AD203B41FA5}">
                      <a16:colId xmlns:a16="http://schemas.microsoft.com/office/drawing/2014/main" val="630582381"/>
                    </a:ext>
                  </a:extLst>
                </a:gridCol>
                <a:gridCol w="1319816">
                  <a:extLst>
                    <a:ext uri="{9D8B030D-6E8A-4147-A177-3AD203B41FA5}">
                      <a16:colId xmlns:a16="http://schemas.microsoft.com/office/drawing/2014/main" val="1046699827"/>
                    </a:ext>
                  </a:extLst>
                </a:gridCol>
                <a:gridCol w="1423778">
                  <a:extLst>
                    <a:ext uri="{9D8B030D-6E8A-4147-A177-3AD203B41FA5}">
                      <a16:colId xmlns:a16="http://schemas.microsoft.com/office/drawing/2014/main" val="1272496486"/>
                    </a:ext>
                  </a:extLst>
                </a:gridCol>
                <a:gridCol w="1225713">
                  <a:extLst>
                    <a:ext uri="{9D8B030D-6E8A-4147-A177-3AD203B41FA5}">
                      <a16:colId xmlns:a16="http://schemas.microsoft.com/office/drawing/2014/main" val="3461108221"/>
                    </a:ext>
                  </a:extLst>
                </a:gridCol>
                <a:gridCol w="1324747">
                  <a:extLst>
                    <a:ext uri="{9D8B030D-6E8A-4147-A177-3AD203B41FA5}">
                      <a16:colId xmlns:a16="http://schemas.microsoft.com/office/drawing/2014/main" val="440514077"/>
                    </a:ext>
                  </a:extLst>
                </a:gridCol>
                <a:gridCol w="1560380">
                  <a:extLst>
                    <a:ext uri="{9D8B030D-6E8A-4147-A177-3AD203B41FA5}">
                      <a16:colId xmlns:a16="http://schemas.microsoft.com/office/drawing/2014/main" val="3944282632"/>
                    </a:ext>
                  </a:extLst>
                </a:gridCol>
                <a:gridCol w="1193467">
                  <a:extLst>
                    <a:ext uri="{9D8B030D-6E8A-4147-A177-3AD203B41FA5}">
                      <a16:colId xmlns:a16="http://schemas.microsoft.com/office/drawing/2014/main" val="1694010995"/>
                    </a:ext>
                  </a:extLst>
                </a:gridCol>
                <a:gridCol w="1220389">
                  <a:extLst>
                    <a:ext uri="{9D8B030D-6E8A-4147-A177-3AD203B41FA5}">
                      <a16:colId xmlns:a16="http://schemas.microsoft.com/office/drawing/2014/main" val="1637691667"/>
                    </a:ext>
                  </a:extLst>
                </a:gridCol>
              </a:tblGrid>
              <a:tr h="867248">
                <a:tc gridSpan="2">
                  <a:txBody>
                    <a:bodyPr/>
                    <a:lstStyle/>
                    <a:p>
                      <a:pPr algn="ctr"/>
                      <a:r>
                        <a:rPr lang="en-US" sz="2400" dirty="0"/>
                        <a:t>Current assets</a:t>
                      </a:r>
                    </a:p>
                  </a:txBody>
                  <a:tcPr marL="121860" marR="121860" marT="60930" marB="6093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tc gridSpan="2">
                  <a:txBody>
                    <a:bodyPr/>
                    <a:lstStyle/>
                    <a:p>
                      <a:pPr algn="ctr"/>
                      <a:r>
                        <a:rPr lang="en-US" sz="2400" dirty="0">
                          <a:solidFill>
                            <a:schemeClr val="bg1"/>
                          </a:solidFill>
                        </a:rPr>
                        <a:t>Non-current assets</a:t>
                      </a:r>
                    </a:p>
                  </a:txBody>
                  <a:tcPr marL="121860" marR="121860" marT="60930" marB="6093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hMerge="1">
                  <a:txBody>
                    <a:bodyPr/>
                    <a:lstStyle/>
                    <a:p>
                      <a:endParaRPr lang="en-US" dirty="0"/>
                    </a:p>
                  </a:txBody>
                  <a:tcPr/>
                </a:tc>
                <a:tc gridSpan="2">
                  <a:txBody>
                    <a:bodyPr/>
                    <a:lstStyle/>
                    <a:p>
                      <a:pPr algn="ctr"/>
                      <a:r>
                        <a:rPr lang="en-US" sz="2400" dirty="0"/>
                        <a:t>Current liabilities</a:t>
                      </a:r>
                    </a:p>
                  </a:txBody>
                  <a:tcPr marL="121860" marR="121860" marT="60930" marB="6093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dirty="0"/>
                    </a:p>
                  </a:txBody>
                  <a:tcPr/>
                </a:tc>
                <a:tc gridSpan="2">
                  <a:txBody>
                    <a:bodyPr/>
                    <a:lstStyle/>
                    <a:p>
                      <a:pPr algn="ctr"/>
                      <a:r>
                        <a:rPr lang="en-US" sz="2400" dirty="0">
                          <a:solidFill>
                            <a:schemeClr val="bg1"/>
                          </a:solidFill>
                        </a:rPr>
                        <a:t>Non-current liabilities</a:t>
                      </a:r>
                    </a:p>
                  </a:txBody>
                  <a:tcPr marL="121860" marR="121860" marT="60930" marB="60930" anchor="ctr">
                    <a:lnL w="12700" cap="flat" cmpd="sng" algn="ctr">
                      <a:noFill/>
                      <a:prstDash val="solid"/>
                      <a:round/>
                      <a:headEnd type="none" w="med" len="med"/>
                      <a:tailEnd type="none" w="med" len="med"/>
                    </a:lnL>
                  </a:tcPr>
                </a:tc>
                <a:tc hMerge="1">
                  <a:txBody>
                    <a:bodyPr/>
                    <a:lstStyle/>
                    <a:p>
                      <a:endParaRPr lang="en-US" dirty="0"/>
                    </a:p>
                  </a:txBody>
                  <a:tcPr/>
                </a:tc>
                <a:tc>
                  <a:txBody>
                    <a:bodyPr/>
                    <a:lstStyle/>
                    <a:p>
                      <a:pPr algn="ctr"/>
                      <a:r>
                        <a:rPr lang="en-US" sz="2400" dirty="0">
                          <a:solidFill>
                            <a:schemeClr val="bg1"/>
                          </a:solidFill>
                        </a:rPr>
                        <a:t>Equity</a:t>
                      </a:r>
                    </a:p>
                  </a:txBody>
                  <a:tcPr marL="121860" marR="121860" marT="60930" marB="60930" anchor="ctr"/>
                </a:tc>
                <a:extLst>
                  <a:ext uri="{0D108BD9-81ED-4DB2-BD59-A6C34878D82A}">
                    <a16:rowId xmlns:a16="http://schemas.microsoft.com/office/drawing/2014/main" val="3500697481"/>
                  </a:ext>
                </a:extLst>
              </a:tr>
              <a:tr h="850168">
                <a:tc>
                  <a:txBody>
                    <a:bodyPr/>
                    <a:lstStyle/>
                    <a:p>
                      <a:pPr algn="ctr"/>
                      <a:r>
                        <a:rPr lang="en-US" sz="2400" dirty="0"/>
                        <a:t>CNOA</a:t>
                      </a:r>
                    </a:p>
                  </a:txBody>
                  <a:tcPr marL="121860" marR="121860" marT="60930" marB="609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sz="2400" dirty="0">
                          <a:solidFill>
                            <a:schemeClr val="bg1"/>
                          </a:solidFill>
                        </a:rPr>
                        <a:t>COA</a:t>
                      </a:r>
                    </a:p>
                  </a:txBody>
                  <a:tcPr marL="121860" marR="121860" marT="60930" marB="609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lang="en-US" sz="2400" dirty="0">
                          <a:solidFill>
                            <a:schemeClr val="bg1"/>
                          </a:solidFill>
                        </a:rPr>
                        <a:t>NCNOA</a:t>
                      </a:r>
                    </a:p>
                  </a:txBody>
                  <a:tcPr marL="121860" marR="121860" marT="60930" marB="60930">
                    <a:lnL w="12700" cap="flat" cmpd="sng" algn="ctr">
                      <a:noFill/>
                      <a:prstDash val="solid"/>
                      <a:round/>
                      <a:headEnd type="none" w="med" len="med"/>
                      <a:tailEnd type="none" w="med" len="med"/>
                    </a:lnL>
                  </a:tcPr>
                </a:tc>
                <a:tc>
                  <a:txBody>
                    <a:bodyPr/>
                    <a:lstStyle/>
                    <a:p>
                      <a:pPr algn="ctr"/>
                      <a:r>
                        <a:rPr lang="en-US" sz="2400" dirty="0">
                          <a:solidFill>
                            <a:schemeClr val="bg1"/>
                          </a:solidFill>
                        </a:rPr>
                        <a:t>NCOA</a:t>
                      </a:r>
                    </a:p>
                  </a:txBody>
                  <a:tcPr marL="121860" marR="121860" marT="60930" marB="60930">
                    <a:lnR w="12700" cap="flat" cmpd="sng" algn="ctr">
                      <a:solidFill>
                        <a:schemeClr val="tx1"/>
                      </a:solidFill>
                      <a:prstDash val="solid"/>
                      <a:round/>
                      <a:headEnd type="none" w="med" len="med"/>
                      <a:tailEnd type="none" w="med" len="med"/>
                    </a:lnR>
                  </a:tcPr>
                </a:tc>
                <a:tc>
                  <a:txBody>
                    <a:bodyPr/>
                    <a:lstStyle/>
                    <a:p>
                      <a:pPr algn="ctr"/>
                      <a:r>
                        <a:rPr lang="en-US" sz="2400" dirty="0"/>
                        <a:t>CD</a:t>
                      </a:r>
                    </a:p>
                  </a:txBody>
                  <a:tcPr marL="121860" marR="121860" marT="60930" marB="609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dirty="0">
                          <a:solidFill>
                            <a:schemeClr val="bg1"/>
                          </a:solidFill>
                        </a:rPr>
                        <a:t>COL</a:t>
                      </a:r>
                    </a:p>
                  </a:txBody>
                  <a:tcPr marL="121860" marR="121860" marT="60930" marB="609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dirty="0">
                          <a:solidFill>
                            <a:schemeClr val="bg1"/>
                          </a:solidFill>
                        </a:rPr>
                        <a:t>NCD</a:t>
                      </a:r>
                    </a:p>
                  </a:txBody>
                  <a:tcPr marL="121860" marR="121860" marT="60930" marB="60930">
                    <a:lnL w="12700" cap="flat" cmpd="sng" algn="ctr">
                      <a:noFill/>
                      <a:prstDash val="solid"/>
                      <a:round/>
                      <a:headEnd type="none" w="med" len="med"/>
                      <a:tailEnd type="none" w="med" len="med"/>
                    </a:lnL>
                  </a:tcPr>
                </a:tc>
                <a:tc>
                  <a:txBody>
                    <a:bodyPr/>
                    <a:lstStyle/>
                    <a:p>
                      <a:pPr algn="ctr"/>
                      <a:r>
                        <a:rPr lang="en-US" sz="2400" dirty="0">
                          <a:solidFill>
                            <a:schemeClr val="bg1"/>
                          </a:solidFill>
                        </a:rPr>
                        <a:t>NCOL</a:t>
                      </a:r>
                    </a:p>
                  </a:txBody>
                  <a:tcPr marL="121860" marR="121860" marT="60930" marB="60930"/>
                </a:tc>
                <a:tc>
                  <a:txBody>
                    <a:bodyPr/>
                    <a:lstStyle/>
                    <a:p>
                      <a:pPr algn="ctr"/>
                      <a:r>
                        <a:rPr lang="en-US" sz="2400" dirty="0">
                          <a:solidFill>
                            <a:schemeClr val="bg1"/>
                          </a:solidFill>
                        </a:rPr>
                        <a:t>Equity</a:t>
                      </a:r>
                    </a:p>
                  </a:txBody>
                  <a:tcPr marL="121860" marR="121860" marT="60930" marB="60930"/>
                </a:tc>
                <a:extLst>
                  <a:ext uri="{0D108BD9-81ED-4DB2-BD59-A6C34878D82A}">
                    <a16:rowId xmlns:a16="http://schemas.microsoft.com/office/drawing/2014/main" val="2702799730"/>
                  </a:ext>
                </a:extLst>
              </a:tr>
              <a:tr h="3468994">
                <a:tc>
                  <a:txBody>
                    <a:bodyPr/>
                    <a:lstStyle/>
                    <a:p>
                      <a:r>
                        <a:rPr lang="en-US" sz="1700" dirty="0"/>
                        <a:t>Cash and cash </a:t>
                      </a:r>
                      <a:r>
                        <a:rPr lang="en-US" sz="1700" dirty="0" err="1"/>
                        <a:t>equiva-lents</a:t>
                      </a:r>
                      <a:endParaRPr lang="en-US" sz="1700" dirty="0"/>
                    </a:p>
                    <a:p>
                      <a:r>
                        <a:rPr lang="en-US" sz="1700" dirty="0"/>
                        <a:t>Marketable securities</a:t>
                      </a:r>
                    </a:p>
                  </a:txBody>
                  <a:tcPr marL="121860" marR="121860" marT="60930" marB="609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r>
                        <a:rPr lang="en-US" sz="1700" dirty="0">
                          <a:solidFill>
                            <a:schemeClr val="bg1"/>
                          </a:solidFill>
                        </a:rPr>
                        <a:t>Accounts receivable</a:t>
                      </a:r>
                    </a:p>
                    <a:p>
                      <a:r>
                        <a:rPr lang="en-US" sz="1700" dirty="0">
                          <a:solidFill>
                            <a:schemeClr val="bg1"/>
                          </a:solidFill>
                        </a:rPr>
                        <a:t>Inventories</a:t>
                      </a:r>
                    </a:p>
                    <a:p>
                      <a:r>
                        <a:rPr lang="en-US" sz="1700" dirty="0">
                          <a:solidFill>
                            <a:schemeClr val="bg1"/>
                          </a:solidFill>
                        </a:rPr>
                        <a:t>Prepaid expenses</a:t>
                      </a:r>
                    </a:p>
                  </a:txBody>
                  <a:tcPr marL="121860" marR="121860" marT="60930" marB="609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p>
                      <a:r>
                        <a:rPr lang="en-US" sz="1700" dirty="0">
                          <a:solidFill>
                            <a:schemeClr val="bg1"/>
                          </a:solidFill>
                        </a:rPr>
                        <a:t>Investment in associates</a:t>
                      </a:r>
                    </a:p>
                    <a:p>
                      <a:r>
                        <a:rPr lang="en-US" sz="1700" dirty="0">
                          <a:solidFill>
                            <a:schemeClr val="bg1"/>
                          </a:solidFill>
                        </a:rPr>
                        <a:t>Other long-term financial assets</a:t>
                      </a:r>
                    </a:p>
                    <a:p>
                      <a:pPr marL="0" marR="0" lvl="0" indent="0" defTabSz="914400" eaLnBrk="1" fontAlgn="auto" latinLnBrk="0" hangingPunct="1">
                        <a:lnSpc>
                          <a:spcPct val="100000"/>
                        </a:lnSpc>
                        <a:spcBef>
                          <a:spcPts val="0"/>
                        </a:spcBef>
                        <a:spcAft>
                          <a:spcPts val="0"/>
                        </a:spcAft>
                        <a:buClrTx/>
                        <a:buSzTx/>
                        <a:buFontTx/>
                        <a:buNone/>
                        <a:tabLst/>
                        <a:defRPr/>
                      </a:pPr>
                      <a:r>
                        <a:rPr lang="en-US" sz="1700" dirty="0">
                          <a:solidFill>
                            <a:schemeClr val="bg1"/>
                          </a:solidFill>
                        </a:rPr>
                        <a:t>Deferred tax assets</a:t>
                      </a:r>
                    </a:p>
                    <a:p>
                      <a:endParaRPr lang="en-US" sz="1700" dirty="0">
                        <a:solidFill>
                          <a:schemeClr val="bg1"/>
                        </a:solidFill>
                      </a:endParaRPr>
                    </a:p>
                  </a:txBody>
                  <a:tcPr marL="121860" marR="121860" marT="60930" marB="60930">
                    <a:lnL w="12700" cap="flat" cmpd="sng" algn="ctr">
                      <a:noFill/>
                      <a:prstDash val="solid"/>
                      <a:round/>
                      <a:headEnd type="none" w="med" len="med"/>
                      <a:tailEnd type="none" w="med" len="med"/>
                    </a:lnL>
                  </a:tcPr>
                </a:tc>
                <a:tc>
                  <a:txBody>
                    <a:bodyPr/>
                    <a:lstStyle/>
                    <a:p>
                      <a:r>
                        <a:rPr lang="en-US" sz="1700" dirty="0">
                          <a:solidFill>
                            <a:schemeClr val="bg1"/>
                          </a:solidFill>
                        </a:rPr>
                        <a:t>Property, plant and equipment</a:t>
                      </a:r>
                    </a:p>
                    <a:p>
                      <a:r>
                        <a:rPr lang="en-US" sz="1700" dirty="0">
                          <a:solidFill>
                            <a:schemeClr val="bg1"/>
                          </a:solidFill>
                        </a:rPr>
                        <a:t>Intangible assets</a:t>
                      </a:r>
                    </a:p>
                  </a:txBody>
                  <a:tcPr marL="121860" marR="121860" marT="60930" marB="60930">
                    <a:lnR w="12700" cap="flat" cmpd="sng" algn="ctr">
                      <a:solidFill>
                        <a:schemeClr val="tx1"/>
                      </a:solidFill>
                      <a:prstDash val="solid"/>
                      <a:round/>
                      <a:headEnd type="none" w="med" len="med"/>
                      <a:tailEnd type="none" w="med" len="med"/>
                    </a:lnR>
                  </a:tcPr>
                </a:tc>
                <a:tc>
                  <a:txBody>
                    <a:bodyPr/>
                    <a:lstStyle/>
                    <a:p>
                      <a:r>
                        <a:rPr lang="en-US" sz="1700" dirty="0"/>
                        <a:t>Short-term interest-bearing liabilities (=debt)</a:t>
                      </a:r>
                    </a:p>
                  </a:txBody>
                  <a:tcPr marL="121860" marR="121860" marT="60930" marB="609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700" dirty="0">
                          <a:solidFill>
                            <a:schemeClr val="bg1"/>
                          </a:solidFill>
                        </a:rPr>
                        <a:t>Accounts payable</a:t>
                      </a:r>
                    </a:p>
                    <a:p>
                      <a:r>
                        <a:rPr lang="en-US" sz="1700" dirty="0">
                          <a:solidFill>
                            <a:schemeClr val="bg1"/>
                          </a:solidFill>
                        </a:rPr>
                        <a:t>Accrued expenses</a:t>
                      </a:r>
                    </a:p>
                    <a:p>
                      <a:r>
                        <a:rPr lang="en-US" sz="1700" dirty="0">
                          <a:solidFill>
                            <a:schemeClr val="bg1"/>
                          </a:solidFill>
                        </a:rPr>
                        <a:t>Tax liabilities</a:t>
                      </a:r>
                    </a:p>
                    <a:p>
                      <a:r>
                        <a:rPr lang="en-US" sz="1700" dirty="0">
                          <a:solidFill>
                            <a:schemeClr val="bg1"/>
                          </a:solidFill>
                        </a:rPr>
                        <a:t>Unearned or deferred revenue</a:t>
                      </a:r>
                    </a:p>
                  </a:txBody>
                  <a:tcPr marL="121860" marR="121860" marT="60930" marB="609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700" dirty="0">
                          <a:solidFill>
                            <a:schemeClr val="bg1"/>
                          </a:solidFill>
                        </a:rPr>
                        <a:t>Long-term interest-bearing</a:t>
                      </a:r>
                      <a:r>
                        <a:rPr lang="en-US" sz="1700" baseline="0" dirty="0">
                          <a:solidFill>
                            <a:schemeClr val="bg1"/>
                          </a:solidFill>
                        </a:rPr>
                        <a:t> </a:t>
                      </a:r>
                      <a:r>
                        <a:rPr lang="en-US" sz="1700" dirty="0">
                          <a:solidFill>
                            <a:schemeClr val="bg1"/>
                          </a:solidFill>
                        </a:rPr>
                        <a:t>liabilities (=debt)</a:t>
                      </a:r>
                    </a:p>
                    <a:p>
                      <a:pPr marL="0" marR="0" lvl="0" indent="0" defTabSz="914400" eaLnBrk="1" fontAlgn="auto" latinLnBrk="0" hangingPunct="1">
                        <a:lnSpc>
                          <a:spcPct val="100000"/>
                        </a:lnSpc>
                        <a:spcBef>
                          <a:spcPts val="0"/>
                        </a:spcBef>
                        <a:spcAft>
                          <a:spcPts val="0"/>
                        </a:spcAft>
                        <a:buClrTx/>
                        <a:buSzTx/>
                        <a:buFontTx/>
                        <a:buNone/>
                        <a:tabLst/>
                        <a:defRPr/>
                      </a:pPr>
                      <a:r>
                        <a:rPr lang="en-US" sz="1700" dirty="0">
                          <a:solidFill>
                            <a:schemeClr val="bg1"/>
                          </a:solidFill>
                        </a:rPr>
                        <a:t>(discounted) Provisions</a:t>
                      </a:r>
                    </a:p>
                    <a:p>
                      <a:endParaRPr lang="en-US" sz="1700" dirty="0">
                        <a:solidFill>
                          <a:schemeClr val="bg1"/>
                        </a:solidFill>
                      </a:endParaRPr>
                    </a:p>
                  </a:txBody>
                  <a:tcPr marL="121860" marR="121860" marT="60930" marB="60930">
                    <a:lnL w="12700" cap="flat" cmpd="sng" algn="ctr">
                      <a:noFill/>
                      <a:prstDash val="solid"/>
                      <a:round/>
                      <a:headEnd type="none" w="med" len="med"/>
                      <a:tailEnd type="none" w="med" len="med"/>
                    </a:lnL>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700" dirty="0">
                          <a:solidFill>
                            <a:schemeClr val="bg1"/>
                          </a:solidFill>
                        </a:rPr>
                        <a:t>Deferred tax liabilities</a:t>
                      </a:r>
                    </a:p>
                  </a:txBody>
                  <a:tcPr marL="121860" marR="121860" marT="60930" marB="60930"/>
                </a:tc>
                <a:tc>
                  <a:txBody>
                    <a:bodyPr/>
                    <a:lstStyle/>
                    <a:p>
                      <a:endParaRPr lang="en-US" sz="1700" dirty="0">
                        <a:solidFill>
                          <a:schemeClr val="bg1"/>
                        </a:solidFill>
                      </a:endParaRPr>
                    </a:p>
                  </a:txBody>
                  <a:tcPr marL="121860" marR="121860" marT="60930" marB="60930"/>
                </a:tc>
                <a:extLst>
                  <a:ext uri="{0D108BD9-81ED-4DB2-BD59-A6C34878D82A}">
                    <a16:rowId xmlns:a16="http://schemas.microsoft.com/office/drawing/2014/main" val="3758790360"/>
                  </a:ext>
                </a:extLst>
              </a:tr>
            </a:tbl>
          </a:graphicData>
        </a:graphic>
      </p:graphicFrame>
    </p:spTree>
    <p:extLst>
      <p:ext uri="{BB962C8B-B14F-4D97-AF65-F5344CB8AC3E}">
        <p14:creationId xmlns:p14="http://schemas.microsoft.com/office/powerpoint/2010/main" val="282889925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4B79D-136C-298A-3C72-77E4F9DB75A9}"/>
              </a:ext>
            </a:extLst>
          </p:cNvPr>
          <p:cNvSpPr>
            <a:spLocks noGrp="1"/>
          </p:cNvSpPr>
          <p:nvPr>
            <p:ph type="title"/>
          </p:nvPr>
        </p:nvSpPr>
        <p:spPr/>
        <p:txBody>
          <a:bodyPr/>
          <a:lstStyle/>
          <a:p>
            <a:r>
              <a:rPr lang="fr-FR" dirty="0" err="1"/>
              <a:t>Working</a:t>
            </a:r>
            <a:r>
              <a:rPr lang="fr-FR" dirty="0"/>
              <a:t> capital = </a:t>
            </a:r>
            <a:r>
              <a:rPr lang="fr-FR" dirty="0" err="1"/>
              <a:t>Working</a:t>
            </a:r>
            <a:r>
              <a:rPr lang="fr-FR" dirty="0"/>
              <a:t> capital </a:t>
            </a:r>
            <a:r>
              <a:rPr lang="fr-FR" dirty="0" err="1"/>
              <a:t>requirement</a:t>
            </a:r>
            <a:r>
              <a:rPr lang="fr-FR" dirty="0"/>
              <a:t> (or operating WC) + Net cash</a:t>
            </a:r>
            <a:endParaRPr lang="en-US" dirty="0"/>
          </a:p>
        </p:txBody>
      </p:sp>
      <p:pic>
        <p:nvPicPr>
          <p:cNvPr id="11" name="Content Placeholder 10" descr="A screenshot of a computer screen&#10;&#10;Description automatically generated">
            <a:extLst>
              <a:ext uri="{FF2B5EF4-FFF2-40B4-BE49-F238E27FC236}">
                <a16:creationId xmlns:a16="http://schemas.microsoft.com/office/drawing/2014/main" id="{0AF39A8C-E94F-FC16-1041-A22F04489B4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1335" y="1669003"/>
            <a:ext cx="11764540" cy="3852908"/>
          </a:xfrm>
        </p:spPr>
      </p:pic>
      <p:sp>
        <p:nvSpPr>
          <p:cNvPr id="5" name="Slide Number Placeholder 4">
            <a:extLst>
              <a:ext uri="{FF2B5EF4-FFF2-40B4-BE49-F238E27FC236}">
                <a16:creationId xmlns:a16="http://schemas.microsoft.com/office/drawing/2014/main" id="{46C1405A-C013-A43D-A74F-50B9E68072C4}"/>
              </a:ext>
            </a:extLst>
          </p:cNvPr>
          <p:cNvSpPr>
            <a:spLocks noGrp="1"/>
          </p:cNvSpPr>
          <p:nvPr>
            <p:ph type="sldNum" sz="quarter" idx="10"/>
          </p:nvPr>
        </p:nvSpPr>
        <p:spPr/>
        <p:txBody>
          <a:bodyPr/>
          <a:lstStyle/>
          <a:p>
            <a:fld id="{307C7597-8D70-4701-8085-9524B0B5C72B}" type="slidenum">
              <a:rPr lang="fr-FR" smtClean="0"/>
              <a:pPr/>
              <a:t>117</a:t>
            </a:fld>
            <a:endParaRPr lang="fr-FR" dirty="0"/>
          </a:p>
        </p:txBody>
      </p:sp>
    </p:spTree>
    <p:extLst>
      <p:ext uri="{BB962C8B-B14F-4D97-AF65-F5344CB8AC3E}">
        <p14:creationId xmlns:p14="http://schemas.microsoft.com/office/powerpoint/2010/main" val="259465722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solidFill>
            <a:srgbClr val="FEF9F4"/>
          </a:solidFill>
        </p:spPr>
        <p:txBody>
          <a:bodyPr/>
          <a:lstStyle/>
          <a:p>
            <a:r>
              <a:rPr lang="fr-FR" dirty="0" err="1"/>
              <a:t>Exercise</a:t>
            </a:r>
            <a:r>
              <a:rPr lang="fr-FR" dirty="0"/>
              <a:t> session 2</a:t>
            </a:r>
            <a:br>
              <a:rPr lang="fr-FR" dirty="0"/>
            </a:br>
            <a:r>
              <a:rPr lang="fr-FR" dirty="0" err="1"/>
              <a:t>Income</a:t>
            </a:r>
            <a:r>
              <a:rPr lang="fr-FR" dirty="0"/>
              <a:t> </a:t>
            </a:r>
            <a:r>
              <a:rPr lang="fr-FR" dirty="0" err="1"/>
              <a:t>statement</a:t>
            </a:r>
            <a:r>
              <a:rPr lang="fr-FR" dirty="0"/>
              <a:t> or P&amp;L and change in balance </a:t>
            </a:r>
            <a:r>
              <a:rPr lang="fr-FR" dirty="0" err="1"/>
              <a:t>sheet</a:t>
            </a:r>
            <a:endParaRPr lang="fr-FR" dirty="0"/>
          </a:p>
        </p:txBody>
      </p:sp>
      <p:sp>
        <p:nvSpPr>
          <p:cNvPr id="2" name="Content Placeholder 1"/>
          <p:cNvSpPr>
            <a:spLocks noGrp="1"/>
          </p:cNvSpPr>
          <p:nvPr>
            <p:ph idx="1"/>
          </p:nvPr>
        </p:nvSpPr>
        <p:spPr/>
        <p:txBody>
          <a:bodyPr>
            <a:normAutofit fontScale="85000" lnSpcReduction="20000"/>
          </a:bodyPr>
          <a:lstStyle/>
          <a:p>
            <a:r>
              <a:rPr lang="fr-FR" dirty="0" err="1"/>
              <a:t>Raw</a:t>
            </a:r>
            <a:r>
              <a:rPr lang="fr-FR" dirty="0"/>
              <a:t> </a:t>
            </a:r>
            <a:r>
              <a:rPr lang="fr-FR" dirty="0" err="1"/>
              <a:t>material</a:t>
            </a:r>
            <a:r>
              <a:rPr lang="fr-FR" dirty="0"/>
              <a:t> </a:t>
            </a:r>
            <a:r>
              <a:rPr lang="fr-FR" dirty="0" err="1"/>
              <a:t>purchase</a:t>
            </a:r>
            <a:r>
              <a:rPr lang="fr-FR" dirty="0"/>
              <a:t>: €120,000 (10,000 kg at €12/Kg)</a:t>
            </a:r>
          </a:p>
          <a:p>
            <a:r>
              <a:rPr lang="fr-FR" dirty="0" err="1"/>
              <a:t>Raw</a:t>
            </a:r>
            <a:r>
              <a:rPr lang="fr-FR" dirty="0"/>
              <a:t> </a:t>
            </a:r>
            <a:r>
              <a:rPr lang="fr-FR" dirty="0" err="1"/>
              <a:t>material</a:t>
            </a:r>
            <a:r>
              <a:rPr lang="fr-FR" dirty="0"/>
              <a:t> </a:t>
            </a:r>
            <a:r>
              <a:rPr lang="fr-FR" dirty="0" err="1"/>
              <a:t>used</a:t>
            </a:r>
            <a:r>
              <a:rPr lang="fr-FR" dirty="0"/>
              <a:t> per </a:t>
            </a:r>
            <a:r>
              <a:rPr lang="fr-FR" dirty="0" err="1"/>
              <a:t>product</a:t>
            </a:r>
            <a:r>
              <a:rPr lang="fr-FR" dirty="0"/>
              <a:t> </a:t>
            </a:r>
            <a:r>
              <a:rPr lang="fr-FR" dirty="0" err="1"/>
              <a:t>manufactured</a:t>
            </a:r>
            <a:r>
              <a:rPr lang="fr-FR" dirty="0"/>
              <a:t>: 2kg</a:t>
            </a:r>
          </a:p>
          <a:p>
            <a:r>
              <a:rPr lang="fr-FR" dirty="0"/>
              <a:t>Production volume: 4,800 </a:t>
            </a:r>
            <a:r>
              <a:rPr lang="fr-FR" dirty="0" err="1"/>
              <a:t>products</a:t>
            </a:r>
            <a:endParaRPr lang="fr-FR" dirty="0"/>
          </a:p>
          <a:p>
            <a:r>
              <a:rPr lang="fr-FR" dirty="0"/>
              <a:t>Sales volume: 4,000 </a:t>
            </a:r>
            <a:r>
              <a:rPr lang="fr-FR" dirty="0" err="1"/>
              <a:t>products</a:t>
            </a:r>
            <a:endParaRPr lang="fr-FR" dirty="0"/>
          </a:p>
          <a:p>
            <a:r>
              <a:rPr lang="fr-FR" dirty="0" err="1"/>
              <a:t>Other</a:t>
            </a:r>
            <a:r>
              <a:rPr lang="fr-FR" dirty="0"/>
              <a:t> </a:t>
            </a:r>
            <a:r>
              <a:rPr lang="fr-FR" dirty="0" err="1"/>
              <a:t>manufacturing</a:t>
            </a:r>
            <a:r>
              <a:rPr lang="fr-FR" dirty="0"/>
              <a:t> </a:t>
            </a:r>
            <a:r>
              <a:rPr lang="fr-FR" dirty="0" err="1"/>
              <a:t>cost</a:t>
            </a:r>
            <a:r>
              <a:rPr lang="fr-FR" dirty="0"/>
              <a:t> per </a:t>
            </a:r>
            <a:r>
              <a:rPr lang="fr-FR" dirty="0" err="1"/>
              <a:t>product</a:t>
            </a:r>
            <a:r>
              <a:rPr lang="fr-FR" dirty="0"/>
              <a:t> (</a:t>
            </a:r>
            <a:r>
              <a:rPr lang="fr-FR" dirty="0" err="1"/>
              <a:t>excluding</a:t>
            </a:r>
            <a:r>
              <a:rPr lang="fr-FR" dirty="0"/>
              <a:t> </a:t>
            </a:r>
            <a:r>
              <a:rPr lang="fr-FR" dirty="0" err="1"/>
              <a:t>raw</a:t>
            </a:r>
            <a:r>
              <a:rPr lang="fr-FR" dirty="0"/>
              <a:t> </a:t>
            </a:r>
            <a:r>
              <a:rPr lang="fr-FR" dirty="0" err="1"/>
              <a:t>material</a:t>
            </a:r>
            <a:r>
              <a:rPr lang="fr-FR" dirty="0"/>
              <a:t>): €80</a:t>
            </a:r>
          </a:p>
          <a:p>
            <a:r>
              <a:rPr lang="fr-FR" dirty="0"/>
              <a:t>Unit commercial and administrative </a:t>
            </a:r>
            <a:r>
              <a:rPr lang="fr-FR" dirty="0" err="1"/>
              <a:t>expense</a:t>
            </a:r>
            <a:r>
              <a:rPr lang="fr-FR" dirty="0"/>
              <a:t>: €70</a:t>
            </a:r>
          </a:p>
          <a:p>
            <a:r>
              <a:rPr lang="fr-FR" dirty="0" err="1"/>
              <a:t>Selling</a:t>
            </a:r>
            <a:r>
              <a:rPr lang="fr-FR" dirty="0"/>
              <a:t> </a:t>
            </a:r>
            <a:r>
              <a:rPr lang="fr-FR" dirty="0" err="1"/>
              <a:t>price</a:t>
            </a:r>
            <a:r>
              <a:rPr lang="fr-FR" dirty="0"/>
              <a:t> per unit (</a:t>
            </a:r>
            <a:r>
              <a:rPr lang="fr-FR" dirty="0" err="1"/>
              <a:t>excluding</a:t>
            </a:r>
            <a:r>
              <a:rPr lang="fr-FR" dirty="0"/>
              <a:t> VAT): €200</a:t>
            </a:r>
          </a:p>
          <a:p>
            <a:r>
              <a:rPr lang="fr-FR" dirty="0"/>
              <a:t>No </a:t>
            </a:r>
            <a:r>
              <a:rPr lang="fr-FR" dirty="0" err="1"/>
              <a:t>depreciation</a:t>
            </a:r>
            <a:r>
              <a:rPr lang="fr-FR" dirty="0"/>
              <a:t> and </a:t>
            </a:r>
            <a:r>
              <a:rPr lang="fr-FR" dirty="0" err="1"/>
              <a:t>amortization</a:t>
            </a:r>
            <a:r>
              <a:rPr lang="fr-FR" dirty="0"/>
              <a:t> (D&amp;A) expense</a:t>
            </a:r>
          </a:p>
          <a:p>
            <a:pPr marL="0" indent="0">
              <a:buNone/>
            </a:pPr>
            <a:r>
              <a:rPr lang="fr-FR" dirty="0" err="1"/>
              <a:t>What</a:t>
            </a:r>
            <a:r>
              <a:rPr lang="fr-FR" dirty="0"/>
              <a:t> </a:t>
            </a:r>
            <a:r>
              <a:rPr lang="fr-FR" dirty="0" err="1"/>
              <a:t>is</a:t>
            </a:r>
            <a:r>
              <a:rPr lang="fr-FR" dirty="0"/>
              <a:t> the operating profit?</a:t>
            </a:r>
          </a:p>
          <a:p>
            <a:pPr marL="0" indent="0">
              <a:buNone/>
            </a:pPr>
            <a:r>
              <a:rPr lang="fr-FR" dirty="0"/>
              <a:t>40% of the revenue </a:t>
            </a:r>
            <a:r>
              <a:rPr lang="fr-FR" dirty="0" err="1"/>
              <a:t>is</a:t>
            </a:r>
            <a:r>
              <a:rPr lang="fr-FR" dirty="0"/>
              <a:t> on </a:t>
            </a:r>
            <a:r>
              <a:rPr lang="fr-FR" dirty="0" err="1"/>
              <a:t>credit</a:t>
            </a:r>
            <a:r>
              <a:rPr lang="fr-FR" dirty="0"/>
              <a:t>. 60% of the </a:t>
            </a:r>
            <a:r>
              <a:rPr lang="fr-FR" dirty="0" err="1"/>
              <a:t>purchase</a:t>
            </a:r>
            <a:r>
              <a:rPr lang="fr-FR" dirty="0"/>
              <a:t> and expense </a:t>
            </a:r>
            <a:r>
              <a:rPr lang="fr-FR" dirty="0" err="1"/>
              <a:t>will</a:t>
            </a:r>
            <a:r>
              <a:rPr lang="fr-FR" dirty="0"/>
              <a:t> </a:t>
            </a:r>
            <a:r>
              <a:rPr lang="fr-FR" dirty="0" err="1"/>
              <a:t>be</a:t>
            </a:r>
            <a:r>
              <a:rPr lang="fr-FR" dirty="0"/>
              <a:t> </a:t>
            </a:r>
            <a:r>
              <a:rPr lang="fr-FR" dirty="0" err="1"/>
              <a:t>paid</a:t>
            </a:r>
            <a:r>
              <a:rPr lang="fr-FR" dirty="0"/>
              <a:t> later (i.e. on </a:t>
            </a:r>
            <a:r>
              <a:rPr lang="fr-FR" dirty="0" err="1"/>
              <a:t>credit</a:t>
            </a:r>
            <a:r>
              <a:rPr lang="fr-FR" dirty="0"/>
              <a:t>).</a:t>
            </a:r>
          </a:p>
          <a:p>
            <a:pPr marL="0" indent="0">
              <a:buNone/>
            </a:pPr>
            <a:r>
              <a:rPr lang="fr-FR" dirty="0" err="1"/>
              <a:t>What</a:t>
            </a:r>
            <a:r>
              <a:rPr lang="fr-FR" dirty="0"/>
              <a:t> </a:t>
            </a:r>
            <a:r>
              <a:rPr lang="fr-FR" dirty="0" err="1"/>
              <a:t>is</a:t>
            </a:r>
            <a:r>
              <a:rPr lang="fr-FR" dirty="0"/>
              <a:t> the change in </a:t>
            </a:r>
            <a:r>
              <a:rPr lang="fr-FR" dirty="0" err="1"/>
              <a:t>current</a:t>
            </a:r>
            <a:r>
              <a:rPr lang="fr-FR" dirty="0"/>
              <a:t> </a:t>
            </a:r>
            <a:r>
              <a:rPr lang="fr-FR" dirty="0" err="1"/>
              <a:t>assets</a:t>
            </a:r>
            <a:r>
              <a:rPr lang="fr-FR" dirty="0"/>
              <a:t>, non-</a:t>
            </a:r>
            <a:r>
              <a:rPr lang="fr-FR" dirty="0" err="1"/>
              <a:t>current</a:t>
            </a:r>
            <a:r>
              <a:rPr lang="fr-FR" dirty="0"/>
              <a:t> </a:t>
            </a:r>
            <a:r>
              <a:rPr lang="fr-FR" dirty="0" err="1"/>
              <a:t>assets</a:t>
            </a:r>
            <a:r>
              <a:rPr lang="fr-FR" dirty="0"/>
              <a:t>, </a:t>
            </a:r>
            <a:r>
              <a:rPr lang="fr-FR" dirty="0" err="1"/>
              <a:t>equity</a:t>
            </a:r>
            <a:r>
              <a:rPr lang="fr-FR" dirty="0"/>
              <a:t>, </a:t>
            </a:r>
            <a:r>
              <a:rPr lang="fr-FR" dirty="0" err="1"/>
              <a:t>current</a:t>
            </a:r>
            <a:r>
              <a:rPr lang="fr-FR" dirty="0"/>
              <a:t> </a:t>
            </a:r>
            <a:r>
              <a:rPr lang="fr-FR" dirty="0" err="1"/>
              <a:t>liabilities</a:t>
            </a:r>
            <a:r>
              <a:rPr lang="fr-FR" dirty="0"/>
              <a:t> and non-</a:t>
            </a:r>
            <a:r>
              <a:rPr lang="fr-FR" dirty="0" err="1"/>
              <a:t>current</a:t>
            </a:r>
            <a:r>
              <a:rPr lang="fr-FR" dirty="0"/>
              <a:t> </a:t>
            </a:r>
            <a:r>
              <a:rPr lang="fr-FR" dirty="0" err="1"/>
              <a:t>liabilites</a:t>
            </a:r>
            <a:r>
              <a:rPr lang="fr-FR" dirty="0"/>
              <a:t> </a:t>
            </a:r>
            <a:r>
              <a:rPr lang="fr-FR" dirty="0" err="1"/>
              <a:t>related</a:t>
            </a:r>
            <a:r>
              <a:rPr lang="fr-FR" dirty="0"/>
              <a:t> to </a:t>
            </a:r>
            <a:r>
              <a:rPr lang="fr-FR" dirty="0" err="1"/>
              <a:t>these</a:t>
            </a:r>
            <a:r>
              <a:rPr lang="fr-FR" dirty="0"/>
              <a:t> transactions?</a:t>
            </a:r>
          </a:p>
        </p:txBody>
      </p:sp>
      <p:sp>
        <p:nvSpPr>
          <p:cNvPr id="5" name="Slide Number Placeholder 4"/>
          <p:cNvSpPr>
            <a:spLocks noGrp="1"/>
          </p:cNvSpPr>
          <p:nvPr>
            <p:ph type="sldNum" sz="quarter" idx="10"/>
          </p:nvPr>
        </p:nvSpPr>
        <p:spPr/>
        <p:txBody>
          <a:bodyPr/>
          <a:lstStyle/>
          <a:p>
            <a:fld id="{307C7597-8D70-4701-8085-9524B0B5C72B}" type="slidenum">
              <a:rPr lang="fr-FR" smtClean="0"/>
              <a:pPr/>
              <a:t>118</a:t>
            </a:fld>
            <a:endParaRPr lang="fr-FR" dirty="0"/>
          </a:p>
        </p:txBody>
      </p:sp>
    </p:spTree>
    <p:extLst>
      <p:ext uri="{BB962C8B-B14F-4D97-AF65-F5344CB8AC3E}">
        <p14:creationId xmlns:p14="http://schemas.microsoft.com/office/powerpoint/2010/main" val="428642431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C4515FA-5566-4092-9A30-14B46EDBC866}"/>
              </a:ext>
            </a:extLst>
          </p:cNvPr>
          <p:cNvSpPr>
            <a:spLocks noGrp="1"/>
          </p:cNvSpPr>
          <p:nvPr>
            <p:ph type="ctrTitle"/>
          </p:nvPr>
        </p:nvSpPr>
        <p:spPr/>
        <p:txBody>
          <a:bodyPr/>
          <a:lstStyle/>
          <a:p>
            <a:pPr>
              <a:buNone/>
            </a:pPr>
            <a:r>
              <a:rPr lang="fr-FR" dirty="0"/>
              <a:t>Exhibit: difference cash flow and profit</a:t>
            </a:r>
          </a:p>
        </p:txBody>
      </p:sp>
      <p:sp>
        <p:nvSpPr>
          <p:cNvPr id="2" name="Subtitle 1">
            <a:extLst>
              <a:ext uri="{FF2B5EF4-FFF2-40B4-BE49-F238E27FC236}">
                <a16:creationId xmlns:a16="http://schemas.microsoft.com/office/drawing/2014/main" id="{0710FF5E-351D-497C-B1B5-D9C7E7ECD8D5}"/>
              </a:ext>
            </a:extLst>
          </p:cNvPr>
          <p:cNvSpPr>
            <a:spLocks noGrp="1"/>
          </p:cNvSpPr>
          <p:nvPr>
            <p:ph type="subTitle" idx="1"/>
          </p:nvPr>
        </p:nvSpPr>
        <p:spPr/>
        <p:txBody>
          <a:bodyPr/>
          <a:lstStyle/>
          <a:p>
            <a:r>
              <a:rPr lang="fr-FR" dirty="0"/>
              <a:t>Impact of the change in operating working capital (or working capital requirement)</a:t>
            </a:r>
          </a:p>
        </p:txBody>
      </p:sp>
      <p:sp>
        <p:nvSpPr>
          <p:cNvPr id="4" name="Slide Number Placeholder 3">
            <a:extLst>
              <a:ext uri="{FF2B5EF4-FFF2-40B4-BE49-F238E27FC236}">
                <a16:creationId xmlns:a16="http://schemas.microsoft.com/office/drawing/2014/main" id="{FFA9C596-279A-4EF3-8A28-82F2FFBF86E6}"/>
              </a:ext>
            </a:extLst>
          </p:cNvPr>
          <p:cNvSpPr>
            <a:spLocks noGrp="1"/>
          </p:cNvSpPr>
          <p:nvPr>
            <p:ph type="sldNum" sz="quarter" idx="4294967295"/>
          </p:nvPr>
        </p:nvSpPr>
        <p:spPr>
          <a:xfrm>
            <a:off x="11472863" y="6308725"/>
            <a:ext cx="719137" cy="365125"/>
          </a:xfrm>
        </p:spPr>
        <p:txBody>
          <a:bodyPr/>
          <a:lstStyle/>
          <a:p>
            <a:fld id="{307C7597-8D70-4701-8085-9524B0B5C72B}" type="slidenum">
              <a:rPr lang="fr-FR" smtClean="0"/>
              <a:pPr/>
              <a:t>119</a:t>
            </a:fld>
            <a:endParaRPr lang="fr-FR" dirty="0"/>
          </a:p>
        </p:txBody>
      </p:sp>
    </p:spTree>
    <p:extLst>
      <p:ext uri="{BB962C8B-B14F-4D97-AF65-F5344CB8AC3E}">
        <p14:creationId xmlns:p14="http://schemas.microsoft.com/office/powerpoint/2010/main" val="41851418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765E73-C6B7-4C20-9606-EC514042963F}"/>
              </a:ext>
            </a:extLst>
          </p:cNvPr>
          <p:cNvSpPr>
            <a:spLocks noGrp="1"/>
          </p:cNvSpPr>
          <p:nvPr>
            <p:ph type="title"/>
          </p:nvPr>
        </p:nvSpPr>
        <p:spPr/>
        <p:txBody>
          <a:bodyPr/>
          <a:lstStyle/>
          <a:p>
            <a:r>
              <a:rPr lang="fr-FR" dirty="0"/>
              <a:t>Example 1</a:t>
            </a:r>
          </a:p>
        </p:txBody>
      </p:sp>
      <p:sp>
        <p:nvSpPr>
          <p:cNvPr id="2" name="Content Placeholder 1">
            <a:extLst>
              <a:ext uri="{FF2B5EF4-FFF2-40B4-BE49-F238E27FC236}">
                <a16:creationId xmlns:a16="http://schemas.microsoft.com/office/drawing/2014/main" id="{61A9B75F-4F06-4AEC-A154-D913F8B5DD69}"/>
              </a:ext>
            </a:extLst>
          </p:cNvPr>
          <p:cNvSpPr>
            <a:spLocks noGrp="1"/>
          </p:cNvSpPr>
          <p:nvPr>
            <p:ph idx="1"/>
          </p:nvPr>
        </p:nvSpPr>
        <p:spPr>
          <a:xfrm>
            <a:off x="248575" y="1825625"/>
            <a:ext cx="11679741" cy="4351338"/>
          </a:xfrm>
        </p:spPr>
        <p:txBody>
          <a:bodyPr>
            <a:normAutofit/>
          </a:bodyPr>
          <a:lstStyle/>
          <a:p>
            <a:r>
              <a:rPr lang="fr-FR" sz="2600" b="0" dirty="0" err="1"/>
              <a:t>We</a:t>
            </a:r>
            <a:r>
              <a:rPr lang="fr-FR" sz="2600" b="0" dirty="0"/>
              <a:t> </a:t>
            </a:r>
            <a:r>
              <a:rPr lang="fr-FR" sz="2600" b="0" dirty="0" err="1"/>
              <a:t>produce</a:t>
            </a:r>
            <a:r>
              <a:rPr lang="fr-FR" sz="2600" b="0" dirty="0"/>
              <a:t> 100,000 </a:t>
            </a:r>
            <a:r>
              <a:rPr lang="fr-FR" sz="2600" b="0" dirty="0" err="1"/>
              <a:t>products</a:t>
            </a:r>
            <a:r>
              <a:rPr lang="fr-FR" sz="2600" b="0" dirty="0"/>
              <a:t> at a unit production cost of €20.</a:t>
            </a:r>
          </a:p>
          <a:p>
            <a:r>
              <a:rPr lang="fr-FR" sz="2600" b="0" dirty="0"/>
              <a:t>All the production cost </a:t>
            </a:r>
            <a:r>
              <a:rPr lang="fr-FR" sz="2600" b="0" dirty="0" err="1"/>
              <a:t>is</a:t>
            </a:r>
            <a:r>
              <a:rPr lang="fr-FR" sz="2600" b="0" dirty="0"/>
              <a:t> a cash expense (i.e. no </a:t>
            </a:r>
            <a:r>
              <a:rPr lang="fr-FR" sz="2600" b="0" dirty="0" err="1"/>
              <a:t>depreciation</a:t>
            </a:r>
            <a:r>
              <a:rPr lang="fr-FR" sz="2600" b="0" dirty="0"/>
              <a:t> and </a:t>
            </a:r>
            <a:r>
              <a:rPr lang="fr-FR" sz="2600" b="0" dirty="0" err="1"/>
              <a:t>amortization</a:t>
            </a:r>
            <a:r>
              <a:rPr lang="fr-FR" sz="2600" b="0" dirty="0"/>
              <a:t> expense).</a:t>
            </a:r>
          </a:p>
          <a:p>
            <a:r>
              <a:rPr lang="fr-FR" sz="2600" b="0" dirty="0" err="1"/>
              <a:t>We</a:t>
            </a:r>
            <a:r>
              <a:rPr lang="fr-FR" sz="2600" b="0" dirty="0"/>
              <a:t> </a:t>
            </a:r>
            <a:r>
              <a:rPr lang="fr-FR" sz="2600" b="0" dirty="0" err="1"/>
              <a:t>sell</a:t>
            </a:r>
            <a:r>
              <a:rPr lang="fr-FR" sz="2600" b="0" dirty="0"/>
              <a:t> all the production at unit </a:t>
            </a:r>
            <a:r>
              <a:rPr lang="fr-FR" sz="2600" b="0" dirty="0" err="1"/>
              <a:t>selling</a:t>
            </a:r>
            <a:r>
              <a:rPr lang="fr-FR" sz="2600" b="0" dirty="0"/>
              <a:t> </a:t>
            </a:r>
            <a:r>
              <a:rPr lang="fr-FR" sz="2600" b="0" dirty="0" err="1"/>
              <a:t>price</a:t>
            </a:r>
            <a:r>
              <a:rPr lang="fr-FR" sz="2600" b="0" dirty="0"/>
              <a:t> of €30.</a:t>
            </a:r>
          </a:p>
          <a:p>
            <a:r>
              <a:rPr lang="fr-FR" sz="2600" b="0" dirty="0"/>
              <a:t>The </a:t>
            </a:r>
            <a:r>
              <a:rPr lang="fr-FR" sz="2600" b="0" dirty="0" err="1"/>
              <a:t>customer</a:t>
            </a:r>
            <a:r>
              <a:rPr lang="fr-FR" sz="2600" b="0" dirty="0"/>
              <a:t> </a:t>
            </a:r>
            <a:r>
              <a:rPr lang="fr-FR" sz="2600" b="0" dirty="0" err="1"/>
              <a:t>will</a:t>
            </a:r>
            <a:r>
              <a:rPr lang="fr-FR" sz="2600" b="0" dirty="0"/>
              <a:t> </a:t>
            </a:r>
            <a:r>
              <a:rPr lang="fr-FR" sz="2600" b="0" dirty="0" err="1"/>
              <a:t>pay</a:t>
            </a:r>
            <a:r>
              <a:rPr lang="fr-FR" sz="2600" b="0" dirty="0"/>
              <a:t> in one </a:t>
            </a:r>
            <a:r>
              <a:rPr lang="fr-FR" sz="2600" b="0" dirty="0" err="1"/>
              <a:t>month</a:t>
            </a:r>
            <a:r>
              <a:rPr lang="fr-FR" sz="2600" b="0" dirty="0"/>
              <a:t>.</a:t>
            </a:r>
          </a:p>
          <a:p>
            <a:r>
              <a:rPr lang="fr-FR" sz="2600" b="0" dirty="0"/>
              <a:t>What </a:t>
            </a:r>
            <a:r>
              <a:rPr lang="fr-FR" sz="2600" b="0" dirty="0" err="1"/>
              <a:t>is</a:t>
            </a:r>
            <a:r>
              <a:rPr lang="fr-FR" sz="2600" b="0" dirty="0"/>
              <a:t> the impact of the production and the sale of </a:t>
            </a:r>
            <a:r>
              <a:rPr lang="fr-FR" sz="2600" b="0" dirty="0" err="1"/>
              <a:t>products</a:t>
            </a:r>
            <a:r>
              <a:rPr lang="fr-FR" sz="2600" b="0" dirty="0"/>
              <a:t> on the balance </a:t>
            </a:r>
            <a:r>
              <a:rPr lang="fr-FR" sz="2600" b="0" dirty="0" err="1"/>
              <a:t>sheet</a:t>
            </a:r>
            <a:r>
              <a:rPr lang="fr-FR" sz="2600" b="0" dirty="0"/>
              <a:t> (BS)?</a:t>
            </a:r>
          </a:p>
        </p:txBody>
      </p:sp>
      <p:sp>
        <p:nvSpPr>
          <p:cNvPr id="5" name="Slide Number Placeholder 4">
            <a:extLst>
              <a:ext uri="{FF2B5EF4-FFF2-40B4-BE49-F238E27FC236}">
                <a16:creationId xmlns:a16="http://schemas.microsoft.com/office/drawing/2014/main" id="{3D80F116-4345-40FF-ADC5-D05679155216}"/>
              </a:ext>
            </a:extLst>
          </p:cNvPr>
          <p:cNvSpPr>
            <a:spLocks noGrp="1"/>
          </p:cNvSpPr>
          <p:nvPr>
            <p:ph type="sldNum" sz="quarter" idx="10"/>
          </p:nvPr>
        </p:nvSpPr>
        <p:spPr/>
        <p:txBody>
          <a:bodyPr/>
          <a:lstStyle/>
          <a:p>
            <a:fld id="{307C7597-8D70-4701-8085-9524B0B5C72B}" type="slidenum">
              <a:rPr lang="fr-FR" smtClean="0"/>
              <a:pPr/>
              <a:t>120</a:t>
            </a:fld>
            <a:endParaRPr lang="fr-FR" dirty="0"/>
          </a:p>
        </p:txBody>
      </p:sp>
    </p:spTree>
    <p:extLst>
      <p:ext uri="{BB962C8B-B14F-4D97-AF65-F5344CB8AC3E}">
        <p14:creationId xmlns:p14="http://schemas.microsoft.com/office/powerpoint/2010/main" val="149825639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47434B-CE85-424E-8C21-8A6407D02230}"/>
              </a:ext>
            </a:extLst>
          </p:cNvPr>
          <p:cNvSpPr>
            <a:spLocks noGrp="1"/>
          </p:cNvSpPr>
          <p:nvPr>
            <p:ph type="title"/>
          </p:nvPr>
        </p:nvSpPr>
        <p:spPr/>
        <p:txBody>
          <a:bodyPr/>
          <a:lstStyle/>
          <a:p>
            <a:r>
              <a:rPr lang="en-US" dirty="0"/>
              <a:t>Financial analysis: example</a:t>
            </a:r>
          </a:p>
        </p:txBody>
      </p:sp>
      <p:sp>
        <p:nvSpPr>
          <p:cNvPr id="4" name="Subtitle 3">
            <a:extLst>
              <a:ext uri="{FF2B5EF4-FFF2-40B4-BE49-F238E27FC236}">
                <a16:creationId xmlns:a16="http://schemas.microsoft.com/office/drawing/2014/main" id="{BBE71373-15EE-417B-A99F-4B06F5A18896}"/>
              </a:ext>
            </a:extLst>
          </p:cNvPr>
          <p:cNvSpPr>
            <a:spLocks noGrp="1"/>
          </p:cNvSpPr>
          <p:nvPr>
            <p:ph idx="1"/>
          </p:nvPr>
        </p:nvSpPr>
        <p:spPr>
          <a:xfrm>
            <a:off x="640430" y="906800"/>
            <a:ext cx="10829544" cy="431972"/>
          </a:xfrm>
        </p:spPr>
        <p:txBody>
          <a:bodyPr/>
          <a:lstStyle/>
          <a:p>
            <a:pPr marL="0" indent="0">
              <a:buNone/>
            </a:pPr>
            <a:r>
              <a:rPr lang="en-US" dirty="0"/>
              <a:t>Why the operating cash flow is different from profit?</a:t>
            </a:r>
          </a:p>
        </p:txBody>
      </p:sp>
      <p:sp>
        <p:nvSpPr>
          <p:cNvPr id="5" name="Slide Number Placeholder 4">
            <a:extLst>
              <a:ext uri="{FF2B5EF4-FFF2-40B4-BE49-F238E27FC236}">
                <a16:creationId xmlns:a16="http://schemas.microsoft.com/office/drawing/2014/main" id="{3DFC0698-BEF3-44F1-BD96-7A573398ED4E}"/>
              </a:ext>
            </a:extLst>
          </p:cNvPr>
          <p:cNvSpPr>
            <a:spLocks noGrp="1"/>
          </p:cNvSpPr>
          <p:nvPr>
            <p:ph type="sldNum" sz="quarter" idx="10"/>
          </p:nvPr>
        </p:nvSpPr>
        <p:spPr/>
        <p:txBody>
          <a:bodyPr/>
          <a:lstStyle/>
          <a:p>
            <a:fld id="{307C7597-8D70-4701-8085-9524B0B5C72B}" type="slidenum">
              <a:rPr lang="fr-FR" smtClean="0"/>
              <a:pPr/>
              <a:t>121</a:t>
            </a:fld>
            <a:endParaRPr lang="fr-FR" dirty="0"/>
          </a:p>
        </p:txBody>
      </p:sp>
      <p:sp>
        <p:nvSpPr>
          <p:cNvPr id="35" name="TextBox 34">
            <a:extLst>
              <a:ext uri="{FF2B5EF4-FFF2-40B4-BE49-F238E27FC236}">
                <a16:creationId xmlns:a16="http://schemas.microsoft.com/office/drawing/2014/main" id="{D9956592-1443-45B8-B466-050B254BCFFF}"/>
              </a:ext>
            </a:extLst>
          </p:cNvPr>
          <p:cNvSpPr txBox="1"/>
          <p:nvPr/>
        </p:nvSpPr>
        <p:spPr>
          <a:xfrm>
            <a:off x="-58296" y="3444964"/>
            <a:ext cx="1919276" cy="1200329"/>
          </a:xfrm>
          <a:prstGeom prst="rect">
            <a:avLst/>
          </a:prstGeom>
          <a:noFill/>
        </p:spPr>
        <p:txBody>
          <a:bodyPr wrap="square" rtlCol="0">
            <a:spAutoFit/>
          </a:bodyPr>
          <a:lstStyle/>
          <a:p>
            <a:pPr algn="ctr"/>
            <a:r>
              <a:rPr lang="en-US" sz="2400" b="1" dirty="0"/>
              <a:t>Cash</a:t>
            </a:r>
          </a:p>
          <a:p>
            <a:pPr algn="ctr"/>
            <a:r>
              <a:rPr lang="en-US" sz="2400" b="1" dirty="0"/>
              <a:t>-100,000 x €20</a:t>
            </a:r>
            <a:r>
              <a:rPr lang="en-US" sz="2400" dirty="0"/>
              <a:t> </a:t>
            </a:r>
          </a:p>
        </p:txBody>
      </p:sp>
      <p:grpSp>
        <p:nvGrpSpPr>
          <p:cNvPr id="6" name="Group 5">
            <a:extLst>
              <a:ext uri="{FF2B5EF4-FFF2-40B4-BE49-F238E27FC236}">
                <a16:creationId xmlns:a16="http://schemas.microsoft.com/office/drawing/2014/main" id="{BA3C1114-F301-4329-8F56-01394BB736F5}"/>
              </a:ext>
            </a:extLst>
          </p:cNvPr>
          <p:cNvGrpSpPr/>
          <p:nvPr/>
        </p:nvGrpSpPr>
        <p:grpSpPr>
          <a:xfrm>
            <a:off x="709415" y="2285765"/>
            <a:ext cx="11240377" cy="3120861"/>
            <a:chOff x="602097" y="1347614"/>
            <a:chExt cx="8434399" cy="2341788"/>
          </a:xfrm>
        </p:grpSpPr>
        <p:grpSp>
          <p:nvGrpSpPr>
            <p:cNvPr id="2" name="Group 1">
              <a:extLst>
                <a:ext uri="{FF2B5EF4-FFF2-40B4-BE49-F238E27FC236}">
                  <a16:creationId xmlns:a16="http://schemas.microsoft.com/office/drawing/2014/main" id="{0F92FE62-025E-410E-B45A-778998A6939C}"/>
                </a:ext>
              </a:extLst>
            </p:cNvPr>
            <p:cNvGrpSpPr/>
            <p:nvPr/>
          </p:nvGrpSpPr>
          <p:grpSpPr>
            <a:xfrm>
              <a:off x="602097" y="1347614"/>
              <a:ext cx="7642311" cy="2341788"/>
              <a:chOff x="602097" y="1347614"/>
              <a:chExt cx="7642311" cy="2341788"/>
            </a:xfrm>
          </p:grpSpPr>
          <p:sp>
            <p:nvSpPr>
              <p:cNvPr id="30" name="TextBox 29">
                <a:extLst>
                  <a:ext uri="{FF2B5EF4-FFF2-40B4-BE49-F238E27FC236}">
                    <a16:creationId xmlns:a16="http://schemas.microsoft.com/office/drawing/2014/main" id="{AC78F6CA-83D3-4A3C-903F-85A58EB6F801}"/>
                  </a:ext>
                </a:extLst>
              </p:cNvPr>
              <p:cNvSpPr txBox="1"/>
              <p:nvPr/>
            </p:nvSpPr>
            <p:spPr>
              <a:xfrm>
                <a:off x="611560" y="1347614"/>
                <a:ext cx="1440160" cy="807827"/>
              </a:xfrm>
              <a:prstGeom prst="rect">
                <a:avLst/>
              </a:prstGeom>
              <a:noFill/>
            </p:spPr>
            <p:txBody>
              <a:bodyPr wrap="square" rtlCol="0">
                <a:spAutoFit/>
              </a:bodyPr>
              <a:lstStyle/>
              <a:p>
                <a:pPr algn="ctr"/>
                <a:r>
                  <a:rPr lang="en-US" sz="3198" dirty="0"/>
                  <a:t>Assets (A)</a:t>
                </a:r>
              </a:p>
            </p:txBody>
          </p:sp>
          <p:sp>
            <p:nvSpPr>
              <p:cNvPr id="31" name="TextBox 30">
                <a:extLst>
                  <a:ext uri="{FF2B5EF4-FFF2-40B4-BE49-F238E27FC236}">
                    <a16:creationId xmlns:a16="http://schemas.microsoft.com/office/drawing/2014/main" id="{345BBDB7-551C-4FD1-9E05-D4E01BD129D2}"/>
                  </a:ext>
                </a:extLst>
              </p:cNvPr>
              <p:cNvSpPr txBox="1"/>
              <p:nvPr/>
            </p:nvSpPr>
            <p:spPr>
              <a:xfrm>
                <a:off x="2123728" y="1347614"/>
                <a:ext cx="1296144" cy="438555"/>
              </a:xfrm>
              <a:prstGeom prst="rect">
                <a:avLst/>
              </a:prstGeom>
              <a:noFill/>
            </p:spPr>
            <p:txBody>
              <a:bodyPr wrap="square" rtlCol="0">
                <a:spAutoFit/>
              </a:bodyPr>
              <a:lstStyle/>
              <a:p>
                <a:pPr algn="ctr"/>
                <a:r>
                  <a:rPr lang="en-US" sz="3198" dirty="0"/>
                  <a:t>=</a:t>
                </a:r>
              </a:p>
            </p:txBody>
          </p:sp>
          <p:sp>
            <p:nvSpPr>
              <p:cNvPr id="32" name="TextBox 31">
                <a:extLst>
                  <a:ext uri="{FF2B5EF4-FFF2-40B4-BE49-F238E27FC236}">
                    <a16:creationId xmlns:a16="http://schemas.microsoft.com/office/drawing/2014/main" id="{30C23491-18B2-4C8F-AFD9-723767A8D3B2}"/>
                  </a:ext>
                </a:extLst>
              </p:cNvPr>
              <p:cNvSpPr txBox="1"/>
              <p:nvPr/>
            </p:nvSpPr>
            <p:spPr>
              <a:xfrm>
                <a:off x="6804248" y="1347614"/>
                <a:ext cx="1440160" cy="807827"/>
              </a:xfrm>
              <a:prstGeom prst="rect">
                <a:avLst/>
              </a:prstGeom>
              <a:noFill/>
            </p:spPr>
            <p:txBody>
              <a:bodyPr wrap="square" rtlCol="0">
                <a:spAutoFit/>
              </a:bodyPr>
              <a:lstStyle/>
              <a:p>
                <a:pPr algn="ctr"/>
                <a:r>
                  <a:rPr lang="en-US" sz="3198" dirty="0"/>
                  <a:t>Equity (E)</a:t>
                </a:r>
              </a:p>
            </p:txBody>
          </p:sp>
          <p:sp>
            <p:nvSpPr>
              <p:cNvPr id="33" name="TextBox 32">
                <a:extLst>
                  <a:ext uri="{FF2B5EF4-FFF2-40B4-BE49-F238E27FC236}">
                    <a16:creationId xmlns:a16="http://schemas.microsoft.com/office/drawing/2014/main" id="{062619CC-50E0-47D3-80AE-3160B955727A}"/>
                  </a:ext>
                </a:extLst>
              </p:cNvPr>
              <p:cNvSpPr txBox="1"/>
              <p:nvPr/>
            </p:nvSpPr>
            <p:spPr>
              <a:xfrm>
                <a:off x="3491880" y="1347614"/>
                <a:ext cx="1800200" cy="807827"/>
              </a:xfrm>
              <a:prstGeom prst="rect">
                <a:avLst/>
              </a:prstGeom>
              <a:noFill/>
            </p:spPr>
            <p:txBody>
              <a:bodyPr wrap="square" rtlCol="0">
                <a:spAutoFit/>
              </a:bodyPr>
              <a:lstStyle/>
              <a:p>
                <a:pPr algn="ctr"/>
                <a:r>
                  <a:rPr lang="en-US" sz="3198" dirty="0"/>
                  <a:t>Liabilities (L)</a:t>
                </a:r>
              </a:p>
            </p:txBody>
          </p:sp>
          <p:sp>
            <p:nvSpPr>
              <p:cNvPr id="34" name="TextBox 33">
                <a:extLst>
                  <a:ext uri="{FF2B5EF4-FFF2-40B4-BE49-F238E27FC236}">
                    <a16:creationId xmlns:a16="http://schemas.microsoft.com/office/drawing/2014/main" id="{803551A3-093D-4CCE-8E41-AA70DE30A4E0}"/>
                  </a:ext>
                </a:extLst>
              </p:cNvPr>
              <p:cNvSpPr txBox="1"/>
              <p:nvPr/>
            </p:nvSpPr>
            <p:spPr>
              <a:xfrm>
                <a:off x="5364088" y="1347614"/>
                <a:ext cx="1296144" cy="438555"/>
              </a:xfrm>
              <a:prstGeom prst="rect">
                <a:avLst/>
              </a:prstGeom>
              <a:noFill/>
            </p:spPr>
            <p:txBody>
              <a:bodyPr wrap="square" rtlCol="0">
                <a:spAutoFit/>
              </a:bodyPr>
              <a:lstStyle/>
              <a:p>
                <a:pPr algn="ctr"/>
                <a:r>
                  <a:rPr lang="en-US" sz="3198" dirty="0"/>
                  <a:t>+</a:t>
                </a:r>
              </a:p>
            </p:txBody>
          </p:sp>
          <p:sp>
            <p:nvSpPr>
              <p:cNvPr id="36" name="Arrow: Down 35">
                <a:extLst>
                  <a:ext uri="{FF2B5EF4-FFF2-40B4-BE49-F238E27FC236}">
                    <a16:creationId xmlns:a16="http://schemas.microsoft.com/office/drawing/2014/main" id="{C3CFA168-3AAF-4FAC-BE8B-D3A08740B4D1}"/>
                  </a:ext>
                </a:extLst>
              </p:cNvPr>
              <p:cNvSpPr/>
              <p:nvPr/>
            </p:nvSpPr>
            <p:spPr>
              <a:xfrm rot="12735684">
                <a:off x="602097" y="1881287"/>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37" name="Arrow: Down 36">
                <a:extLst>
                  <a:ext uri="{FF2B5EF4-FFF2-40B4-BE49-F238E27FC236}">
                    <a16:creationId xmlns:a16="http://schemas.microsoft.com/office/drawing/2014/main" id="{BE0D13D2-6F13-406B-8598-1F7595BFBE5B}"/>
                  </a:ext>
                </a:extLst>
              </p:cNvPr>
              <p:cNvSpPr/>
              <p:nvPr/>
            </p:nvSpPr>
            <p:spPr>
              <a:xfrm rot="8684022">
                <a:off x="1672518" y="1862796"/>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38" name="TextBox 37">
                <a:extLst>
                  <a:ext uri="{FF2B5EF4-FFF2-40B4-BE49-F238E27FC236}">
                    <a16:creationId xmlns:a16="http://schemas.microsoft.com/office/drawing/2014/main" id="{EB6F801B-0102-4DF3-8757-D3AF7C06B4C0}"/>
                  </a:ext>
                </a:extLst>
              </p:cNvPr>
              <p:cNvSpPr txBox="1"/>
              <p:nvPr/>
            </p:nvSpPr>
            <p:spPr>
              <a:xfrm>
                <a:off x="1403648" y="2211710"/>
                <a:ext cx="2461744" cy="1454954"/>
              </a:xfrm>
              <a:prstGeom prst="rect">
                <a:avLst/>
              </a:prstGeom>
              <a:noFill/>
            </p:spPr>
            <p:txBody>
              <a:bodyPr wrap="square" rtlCol="0">
                <a:spAutoFit/>
              </a:bodyPr>
              <a:lstStyle/>
              <a:p>
                <a:pPr algn="ctr"/>
                <a:r>
                  <a:rPr lang="en-US" sz="2400" dirty="0"/>
                  <a:t>Operating Assets (OA) (means non-financial assets)</a:t>
                </a:r>
              </a:p>
              <a:p>
                <a:pPr algn="ctr"/>
                <a:r>
                  <a:rPr lang="en-US" sz="2400" dirty="0"/>
                  <a:t>Accounts receivable :</a:t>
                </a:r>
              </a:p>
              <a:p>
                <a:pPr algn="ctr"/>
                <a:r>
                  <a:rPr lang="en-US" sz="2400" dirty="0"/>
                  <a:t>+ 100,000 x €30</a:t>
                </a:r>
              </a:p>
            </p:txBody>
          </p:sp>
          <p:sp>
            <p:nvSpPr>
              <p:cNvPr id="41" name="Arrow: Down 40">
                <a:extLst>
                  <a:ext uri="{FF2B5EF4-FFF2-40B4-BE49-F238E27FC236}">
                    <a16:creationId xmlns:a16="http://schemas.microsoft.com/office/drawing/2014/main" id="{A6FCE143-FDA1-40C0-A725-EE97E4790F4D}"/>
                  </a:ext>
                </a:extLst>
              </p:cNvPr>
              <p:cNvSpPr/>
              <p:nvPr/>
            </p:nvSpPr>
            <p:spPr>
              <a:xfrm rot="8684022">
                <a:off x="4572000" y="1905726"/>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42" name="TextBox 41">
                <a:extLst>
                  <a:ext uri="{FF2B5EF4-FFF2-40B4-BE49-F238E27FC236}">
                    <a16:creationId xmlns:a16="http://schemas.microsoft.com/office/drawing/2014/main" id="{881D0817-0C46-415D-9195-B2C356F2A7C0}"/>
                  </a:ext>
                </a:extLst>
              </p:cNvPr>
              <p:cNvSpPr txBox="1"/>
              <p:nvPr/>
            </p:nvSpPr>
            <p:spPr>
              <a:xfrm>
                <a:off x="4499992" y="2234448"/>
                <a:ext cx="1584176" cy="1454954"/>
              </a:xfrm>
              <a:prstGeom prst="rect">
                <a:avLst/>
              </a:prstGeom>
              <a:noFill/>
            </p:spPr>
            <p:txBody>
              <a:bodyPr wrap="square" rtlCol="0">
                <a:spAutoFit/>
              </a:bodyPr>
              <a:lstStyle/>
              <a:p>
                <a:pPr algn="ctr"/>
                <a:r>
                  <a:rPr lang="en-US" sz="2400" dirty="0"/>
                  <a:t>Operating liabilities (OL) (means non-financial liabilities)</a:t>
                </a:r>
              </a:p>
            </p:txBody>
          </p:sp>
          <p:sp>
            <p:nvSpPr>
              <p:cNvPr id="47" name="Arrow: Down 46">
                <a:extLst>
                  <a:ext uri="{FF2B5EF4-FFF2-40B4-BE49-F238E27FC236}">
                    <a16:creationId xmlns:a16="http://schemas.microsoft.com/office/drawing/2014/main" id="{1B8D7DF0-ED20-4FCC-A700-24D242EDF002}"/>
                  </a:ext>
                </a:extLst>
              </p:cNvPr>
              <p:cNvSpPr/>
              <p:nvPr/>
            </p:nvSpPr>
            <p:spPr>
              <a:xfrm rot="8684022">
                <a:off x="7808211" y="1894863"/>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grpSp>
        <p:sp>
          <p:nvSpPr>
            <p:cNvPr id="48" name="TextBox 47">
              <a:extLst>
                <a:ext uri="{FF2B5EF4-FFF2-40B4-BE49-F238E27FC236}">
                  <a16:creationId xmlns:a16="http://schemas.microsoft.com/office/drawing/2014/main" id="{998A2DC4-511C-4E8C-A9D1-8957A0F3F96D}"/>
                </a:ext>
              </a:extLst>
            </p:cNvPr>
            <p:cNvSpPr txBox="1"/>
            <p:nvPr/>
          </p:nvSpPr>
          <p:spPr>
            <a:xfrm>
              <a:off x="6516216" y="2234448"/>
              <a:ext cx="2520280" cy="1454954"/>
            </a:xfrm>
            <a:prstGeom prst="rect">
              <a:avLst/>
            </a:prstGeom>
            <a:noFill/>
          </p:spPr>
          <p:txBody>
            <a:bodyPr wrap="square" rtlCol="0">
              <a:spAutoFit/>
            </a:bodyPr>
            <a:lstStyle/>
            <a:p>
              <a:pPr algn="ctr"/>
              <a:r>
                <a:rPr lang="en-US" sz="2400" dirty="0"/>
                <a:t>Retained earnings </a:t>
              </a:r>
            </a:p>
            <a:p>
              <a:pPr algn="ctr"/>
              <a:r>
                <a:rPr lang="en-US" sz="2400" dirty="0"/>
                <a:t>(accumulated </a:t>
              </a:r>
              <a:r>
                <a:rPr lang="en-US" sz="2400" b="1" dirty="0"/>
                <a:t>Net</a:t>
              </a:r>
              <a:r>
                <a:rPr lang="en-US" sz="2400" dirty="0"/>
                <a:t> </a:t>
              </a:r>
              <a:r>
                <a:rPr lang="en-US" sz="2400" b="1" dirty="0"/>
                <a:t>Profits</a:t>
              </a:r>
              <a:r>
                <a:rPr lang="en-US" sz="2400" dirty="0"/>
                <a:t> from P&amp;L – accumulated Dividends)</a:t>
              </a:r>
            </a:p>
          </p:txBody>
        </p:sp>
      </p:grpSp>
      <p:sp>
        <p:nvSpPr>
          <p:cNvPr id="7" name="TextBox 6">
            <a:extLst>
              <a:ext uri="{FF2B5EF4-FFF2-40B4-BE49-F238E27FC236}">
                <a16:creationId xmlns:a16="http://schemas.microsoft.com/office/drawing/2014/main" id="{87657A5E-0FE5-4E1F-AC36-9D14FAA20EDC}"/>
              </a:ext>
            </a:extLst>
          </p:cNvPr>
          <p:cNvSpPr txBox="1"/>
          <p:nvPr/>
        </p:nvSpPr>
        <p:spPr>
          <a:xfrm>
            <a:off x="5498741" y="5406626"/>
            <a:ext cx="6429575" cy="1015663"/>
          </a:xfrm>
          <a:prstGeom prst="rect">
            <a:avLst/>
          </a:prstGeom>
          <a:solidFill>
            <a:schemeClr val="tx1">
              <a:lumMod val="20000"/>
              <a:lumOff val="80000"/>
            </a:schemeClr>
          </a:solidFill>
        </p:spPr>
        <p:txBody>
          <a:bodyPr wrap="square" rtlCol="0">
            <a:spAutoFit/>
          </a:bodyPr>
          <a:lstStyle/>
          <a:p>
            <a:r>
              <a:rPr lang="fr-FR" sz="2000" dirty="0"/>
              <a:t>Sales revenue			100,000 x €30</a:t>
            </a:r>
          </a:p>
          <a:p>
            <a:r>
              <a:rPr lang="fr-FR" sz="2000" dirty="0"/>
              <a:t>Cost of goods </a:t>
            </a:r>
            <a:r>
              <a:rPr lang="fr-FR" sz="2000" dirty="0" err="1"/>
              <a:t>sold</a:t>
            </a:r>
            <a:r>
              <a:rPr lang="fr-FR" sz="2000" dirty="0"/>
              <a:t> (COGS)	100,000 x €20</a:t>
            </a:r>
          </a:p>
          <a:p>
            <a:r>
              <a:rPr lang="fr-FR" sz="2000" dirty="0"/>
              <a:t>Gross profit or </a:t>
            </a:r>
            <a:r>
              <a:rPr lang="fr-FR" sz="2000" dirty="0" err="1"/>
              <a:t>gross</a:t>
            </a:r>
            <a:r>
              <a:rPr lang="fr-FR" sz="2000" dirty="0"/>
              <a:t> </a:t>
            </a:r>
            <a:r>
              <a:rPr lang="fr-FR" sz="2000" dirty="0" err="1"/>
              <a:t>margin</a:t>
            </a:r>
            <a:r>
              <a:rPr lang="fr-FR" sz="2000" dirty="0"/>
              <a:t>	100,000 x €10</a:t>
            </a:r>
          </a:p>
        </p:txBody>
      </p:sp>
      <p:sp>
        <p:nvSpPr>
          <p:cNvPr id="8" name="TextBox 7">
            <a:extLst>
              <a:ext uri="{FF2B5EF4-FFF2-40B4-BE49-F238E27FC236}">
                <a16:creationId xmlns:a16="http://schemas.microsoft.com/office/drawing/2014/main" id="{60A5C9D1-24A2-4616-A46C-FC6977DD0C44}"/>
              </a:ext>
            </a:extLst>
          </p:cNvPr>
          <p:cNvSpPr txBox="1"/>
          <p:nvPr/>
        </p:nvSpPr>
        <p:spPr>
          <a:xfrm>
            <a:off x="143561" y="1679413"/>
            <a:ext cx="3434838" cy="461537"/>
          </a:xfrm>
          <a:prstGeom prst="rect">
            <a:avLst/>
          </a:prstGeom>
          <a:solidFill>
            <a:schemeClr val="accent1">
              <a:lumMod val="20000"/>
              <a:lumOff val="80000"/>
            </a:schemeClr>
          </a:solidFill>
        </p:spPr>
        <p:txBody>
          <a:bodyPr wrap="square" rtlCol="0">
            <a:spAutoFit/>
          </a:bodyPr>
          <a:lstStyle/>
          <a:p>
            <a:r>
              <a:rPr lang="fr-FR" sz="2399" dirty="0"/>
              <a:t>-2,000,000 + 3,000,000</a:t>
            </a:r>
          </a:p>
        </p:txBody>
      </p:sp>
      <p:sp>
        <p:nvSpPr>
          <p:cNvPr id="22" name="TextBox 21">
            <a:extLst>
              <a:ext uri="{FF2B5EF4-FFF2-40B4-BE49-F238E27FC236}">
                <a16:creationId xmlns:a16="http://schemas.microsoft.com/office/drawing/2014/main" id="{C824C319-E34C-4BD5-8726-51B2827B778B}"/>
              </a:ext>
            </a:extLst>
          </p:cNvPr>
          <p:cNvSpPr txBox="1"/>
          <p:nvPr/>
        </p:nvSpPr>
        <p:spPr>
          <a:xfrm>
            <a:off x="8743981" y="1676992"/>
            <a:ext cx="2399096" cy="461537"/>
          </a:xfrm>
          <a:prstGeom prst="rect">
            <a:avLst/>
          </a:prstGeom>
          <a:solidFill>
            <a:schemeClr val="accent1">
              <a:lumMod val="20000"/>
              <a:lumOff val="80000"/>
            </a:schemeClr>
          </a:solidFill>
        </p:spPr>
        <p:txBody>
          <a:bodyPr wrap="square" rtlCol="0">
            <a:spAutoFit/>
          </a:bodyPr>
          <a:lstStyle/>
          <a:p>
            <a:pPr algn="ctr"/>
            <a:r>
              <a:rPr lang="fr-FR" sz="2399" dirty="0"/>
              <a:t>1,000,000</a:t>
            </a:r>
          </a:p>
        </p:txBody>
      </p:sp>
      <p:sp>
        <p:nvSpPr>
          <p:cNvPr id="23" name="TextBox 22">
            <a:extLst>
              <a:ext uri="{FF2B5EF4-FFF2-40B4-BE49-F238E27FC236}">
                <a16:creationId xmlns:a16="http://schemas.microsoft.com/office/drawing/2014/main" id="{3BD3E3AA-4B9B-4EC3-AD71-988950372E24}"/>
              </a:ext>
            </a:extLst>
          </p:cNvPr>
          <p:cNvSpPr txBox="1"/>
          <p:nvPr/>
        </p:nvSpPr>
        <p:spPr>
          <a:xfrm>
            <a:off x="338172" y="5500562"/>
            <a:ext cx="4980370" cy="830740"/>
          </a:xfrm>
          <a:prstGeom prst="rect">
            <a:avLst/>
          </a:prstGeom>
          <a:solidFill>
            <a:schemeClr val="tx1">
              <a:lumMod val="20000"/>
              <a:lumOff val="80000"/>
            </a:schemeClr>
          </a:solidFill>
        </p:spPr>
        <p:txBody>
          <a:bodyPr wrap="square" rtlCol="0">
            <a:spAutoFit/>
          </a:bodyPr>
          <a:lstStyle/>
          <a:p>
            <a:r>
              <a:rPr lang="fr-FR" sz="2399" dirty="0"/>
              <a:t>P&amp;L with production volume = sales volume</a:t>
            </a:r>
          </a:p>
        </p:txBody>
      </p:sp>
    </p:spTree>
    <p:extLst>
      <p:ext uri="{BB962C8B-B14F-4D97-AF65-F5344CB8AC3E}">
        <p14:creationId xmlns:p14="http://schemas.microsoft.com/office/powerpoint/2010/main" val="6741803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2DB794-7C88-B2E8-169A-E29DCEF5C5C2}"/>
              </a:ext>
            </a:extLst>
          </p:cNvPr>
          <p:cNvSpPr>
            <a:spLocks noGrp="1"/>
          </p:cNvSpPr>
          <p:nvPr>
            <p:ph type="title"/>
          </p:nvPr>
        </p:nvSpPr>
        <p:spPr/>
        <p:txBody>
          <a:bodyPr/>
          <a:lstStyle/>
          <a:p>
            <a:r>
              <a:rPr lang="en-US" dirty="0"/>
              <a:t>Example 1</a:t>
            </a:r>
          </a:p>
        </p:txBody>
      </p:sp>
      <p:sp>
        <p:nvSpPr>
          <p:cNvPr id="2" name="Content Placeholder 1">
            <a:extLst>
              <a:ext uri="{FF2B5EF4-FFF2-40B4-BE49-F238E27FC236}">
                <a16:creationId xmlns:a16="http://schemas.microsoft.com/office/drawing/2014/main" id="{61A9B75F-4F06-4AEC-A154-D913F8B5DD69}"/>
              </a:ext>
            </a:extLst>
          </p:cNvPr>
          <p:cNvSpPr>
            <a:spLocks noGrp="1"/>
          </p:cNvSpPr>
          <p:nvPr>
            <p:ph idx="1"/>
          </p:nvPr>
        </p:nvSpPr>
        <p:spPr>
          <a:xfrm>
            <a:off x="681228" y="1233996"/>
            <a:ext cx="10829544" cy="4942967"/>
          </a:xfrm>
          <a:solidFill>
            <a:schemeClr val="bg1"/>
          </a:solidFill>
        </p:spPr>
        <p:txBody>
          <a:bodyPr>
            <a:normAutofit fontScale="92500" lnSpcReduction="20000"/>
          </a:bodyPr>
          <a:lstStyle/>
          <a:p>
            <a:r>
              <a:rPr lang="fr-FR" b="0" dirty="0" err="1"/>
              <a:t>We</a:t>
            </a:r>
            <a:r>
              <a:rPr lang="fr-FR" b="0" dirty="0"/>
              <a:t> </a:t>
            </a:r>
            <a:r>
              <a:rPr lang="fr-FR" b="0" dirty="0" err="1"/>
              <a:t>produce</a:t>
            </a:r>
            <a:r>
              <a:rPr lang="fr-FR" b="0" dirty="0"/>
              <a:t> 100,000 </a:t>
            </a:r>
            <a:r>
              <a:rPr lang="fr-FR" b="0" dirty="0" err="1"/>
              <a:t>products</a:t>
            </a:r>
            <a:r>
              <a:rPr lang="fr-FR" b="0" dirty="0"/>
              <a:t> at a unit production cost of €20.</a:t>
            </a:r>
          </a:p>
          <a:p>
            <a:r>
              <a:rPr lang="fr-FR" b="0" dirty="0"/>
              <a:t>All the production cost </a:t>
            </a:r>
            <a:r>
              <a:rPr lang="fr-FR" b="0" dirty="0" err="1"/>
              <a:t>is</a:t>
            </a:r>
            <a:r>
              <a:rPr lang="fr-FR" b="0" dirty="0"/>
              <a:t> a cash expense (i.e. no </a:t>
            </a:r>
            <a:r>
              <a:rPr lang="fr-FR" b="0" dirty="0" err="1"/>
              <a:t>depreciation</a:t>
            </a:r>
            <a:r>
              <a:rPr lang="fr-FR" b="0" dirty="0"/>
              <a:t> and </a:t>
            </a:r>
            <a:r>
              <a:rPr lang="fr-FR" b="0" dirty="0" err="1"/>
              <a:t>amortization</a:t>
            </a:r>
            <a:r>
              <a:rPr lang="fr-FR" b="0" dirty="0"/>
              <a:t> expense).</a:t>
            </a:r>
          </a:p>
          <a:p>
            <a:r>
              <a:rPr lang="fr-FR" b="0" dirty="0" err="1"/>
              <a:t>We</a:t>
            </a:r>
            <a:r>
              <a:rPr lang="fr-FR" b="0" dirty="0"/>
              <a:t> </a:t>
            </a:r>
            <a:r>
              <a:rPr lang="fr-FR" b="0" dirty="0" err="1"/>
              <a:t>sell</a:t>
            </a:r>
            <a:r>
              <a:rPr lang="fr-FR" b="0" dirty="0"/>
              <a:t> all the production at unit </a:t>
            </a:r>
            <a:r>
              <a:rPr lang="fr-FR" b="0" dirty="0" err="1"/>
              <a:t>selling</a:t>
            </a:r>
            <a:r>
              <a:rPr lang="fr-FR" b="0" dirty="0"/>
              <a:t> </a:t>
            </a:r>
            <a:r>
              <a:rPr lang="fr-FR" b="0" dirty="0" err="1"/>
              <a:t>price</a:t>
            </a:r>
            <a:r>
              <a:rPr lang="fr-FR" b="0" dirty="0"/>
              <a:t> of €30.</a:t>
            </a:r>
          </a:p>
          <a:p>
            <a:r>
              <a:rPr lang="fr-FR" b="0" dirty="0"/>
              <a:t>The </a:t>
            </a:r>
            <a:r>
              <a:rPr lang="fr-FR" b="0" dirty="0" err="1"/>
              <a:t>customer</a:t>
            </a:r>
            <a:r>
              <a:rPr lang="fr-FR" b="0" dirty="0"/>
              <a:t> </a:t>
            </a:r>
            <a:r>
              <a:rPr lang="fr-FR" b="0" dirty="0" err="1"/>
              <a:t>will</a:t>
            </a:r>
            <a:r>
              <a:rPr lang="fr-FR" b="0" dirty="0"/>
              <a:t> </a:t>
            </a:r>
            <a:r>
              <a:rPr lang="fr-FR" b="0" dirty="0" err="1"/>
              <a:t>pay</a:t>
            </a:r>
            <a:r>
              <a:rPr lang="fr-FR" b="0" dirty="0"/>
              <a:t> in one </a:t>
            </a:r>
            <a:r>
              <a:rPr lang="fr-FR" b="0" dirty="0" err="1"/>
              <a:t>month</a:t>
            </a:r>
            <a:r>
              <a:rPr lang="fr-FR" b="0" dirty="0"/>
              <a:t>.</a:t>
            </a:r>
          </a:p>
          <a:p>
            <a:r>
              <a:rPr lang="fr-FR" b="0" dirty="0"/>
              <a:t>What </a:t>
            </a:r>
            <a:r>
              <a:rPr lang="fr-FR" b="0" dirty="0" err="1"/>
              <a:t>is</a:t>
            </a:r>
            <a:r>
              <a:rPr lang="fr-FR" b="0" dirty="0"/>
              <a:t> the impact of the production and the sale of </a:t>
            </a:r>
            <a:r>
              <a:rPr lang="fr-FR" b="0" dirty="0" err="1"/>
              <a:t>products</a:t>
            </a:r>
            <a:r>
              <a:rPr lang="fr-FR" b="0" dirty="0"/>
              <a:t> on the working capital and working capital requirement (or operating working capital)?</a:t>
            </a:r>
          </a:p>
          <a:p>
            <a:pPr marL="0" indent="0">
              <a:buNone/>
            </a:pPr>
            <a:endParaRPr lang="fr-FR" b="0" dirty="0"/>
          </a:p>
          <a:p>
            <a:pPr marL="0" indent="0">
              <a:buNone/>
            </a:pPr>
            <a:r>
              <a:rPr lang="fr-FR" b="1" dirty="0"/>
              <a:t>Working capital </a:t>
            </a:r>
            <a:r>
              <a:rPr lang="fr-FR" dirty="0"/>
              <a:t>= €1,000,000 = </a:t>
            </a:r>
            <a:r>
              <a:rPr lang="fr-FR" dirty="0" err="1"/>
              <a:t>Equity</a:t>
            </a:r>
            <a:r>
              <a:rPr lang="fr-FR" dirty="0"/>
              <a:t> + Non-current liabilities – Non-current assets = Current assets – </a:t>
            </a:r>
            <a:r>
              <a:rPr lang="fr-FR" dirty="0" err="1"/>
              <a:t>Current</a:t>
            </a:r>
            <a:r>
              <a:rPr lang="fr-FR" dirty="0"/>
              <a:t> </a:t>
            </a:r>
            <a:r>
              <a:rPr lang="fr-FR" dirty="0" err="1"/>
              <a:t>liabilities</a:t>
            </a:r>
            <a:r>
              <a:rPr lang="fr-FR" dirty="0"/>
              <a:t> = (-2,000,000 + 3,000,000) – 0 = 1,000,000</a:t>
            </a:r>
          </a:p>
          <a:p>
            <a:pPr marL="0" indent="0">
              <a:buNone/>
            </a:pPr>
            <a:r>
              <a:rPr lang="fr-FR" b="1" dirty="0"/>
              <a:t>Working capital requirement </a:t>
            </a:r>
            <a:r>
              <a:rPr lang="fr-FR" dirty="0"/>
              <a:t>= €3,000,000 (</a:t>
            </a:r>
            <a:r>
              <a:rPr lang="fr-FR" dirty="0" err="1"/>
              <a:t>current</a:t>
            </a:r>
            <a:r>
              <a:rPr lang="fr-FR" dirty="0"/>
              <a:t> operating assets: </a:t>
            </a:r>
            <a:r>
              <a:rPr lang="fr-FR" dirty="0" err="1"/>
              <a:t>accounts</a:t>
            </a:r>
            <a:r>
              <a:rPr lang="fr-FR" dirty="0"/>
              <a:t> </a:t>
            </a:r>
            <a:r>
              <a:rPr lang="fr-FR" dirty="0" err="1"/>
              <a:t>receivable</a:t>
            </a:r>
            <a:r>
              <a:rPr lang="fr-FR" dirty="0"/>
              <a:t>) – 0 (</a:t>
            </a:r>
            <a:r>
              <a:rPr lang="fr-FR" dirty="0" err="1"/>
              <a:t>nothing</a:t>
            </a:r>
            <a:r>
              <a:rPr lang="fr-FR" dirty="0"/>
              <a:t> in </a:t>
            </a:r>
            <a:r>
              <a:rPr lang="fr-FR" dirty="0" err="1"/>
              <a:t>current</a:t>
            </a:r>
            <a:r>
              <a:rPr lang="fr-FR" dirty="0"/>
              <a:t> operating </a:t>
            </a:r>
            <a:r>
              <a:rPr lang="fr-FR" dirty="0" err="1"/>
              <a:t>liabilities</a:t>
            </a:r>
            <a:r>
              <a:rPr lang="fr-FR" dirty="0"/>
              <a:t>)</a:t>
            </a:r>
          </a:p>
          <a:p>
            <a:pPr marL="0" indent="0">
              <a:buNone/>
            </a:pPr>
            <a:r>
              <a:rPr lang="fr-FR" dirty="0"/>
              <a:t>WC – WC requirement = Net cash = - 2,000,000</a:t>
            </a:r>
          </a:p>
          <a:p>
            <a:pPr marL="0" indent="0">
              <a:buNone/>
            </a:pPr>
            <a:r>
              <a:rPr lang="fr-FR" dirty="0"/>
              <a:t>Net cash = Cash + </a:t>
            </a:r>
            <a:r>
              <a:rPr lang="fr-FR" dirty="0" err="1"/>
              <a:t>Marketable</a:t>
            </a:r>
            <a:r>
              <a:rPr lang="fr-FR" dirty="0"/>
              <a:t> </a:t>
            </a:r>
            <a:r>
              <a:rPr lang="fr-FR" dirty="0" err="1"/>
              <a:t>securities</a:t>
            </a:r>
            <a:r>
              <a:rPr lang="fr-FR" dirty="0"/>
              <a:t> – </a:t>
            </a:r>
            <a:r>
              <a:rPr lang="fr-FR" dirty="0" err="1"/>
              <a:t>current</a:t>
            </a:r>
            <a:r>
              <a:rPr lang="fr-FR" dirty="0"/>
              <a:t> </a:t>
            </a:r>
            <a:r>
              <a:rPr lang="fr-FR" dirty="0" err="1"/>
              <a:t>debt</a:t>
            </a:r>
            <a:r>
              <a:rPr lang="fr-FR"/>
              <a:t> = -2,000,000 + 0 – 0</a:t>
            </a:r>
            <a:endParaRPr lang="fr-FR" dirty="0"/>
          </a:p>
        </p:txBody>
      </p:sp>
      <p:sp>
        <p:nvSpPr>
          <p:cNvPr id="5" name="Slide Number Placeholder 4">
            <a:extLst>
              <a:ext uri="{FF2B5EF4-FFF2-40B4-BE49-F238E27FC236}">
                <a16:creationId xmlns:a16="http://schemas.microsoft.com/office/drawing/2014/main" id="{3D80F116-4345-40FF-ADC5-D05679155216}"/>
              </a:ext>
            </a:extLst>
          </p:cNvPr>
          <p:cNvSpPr>
            <a:spLocks noGrp="1"/>
          </p:cNvSpPr>
          <p:nvPr>
            <p:ph type="sldNum" sz="quarter" idx="10"/>
          </p:nvPr>
        </p:nvSpPr>
        <p:spPr/>
        <p:txBody>
          <a:bodyPr/>
          <a:lstStyle/>
          <a:p>
            <a:fld id="{307C7597-8D70-4701-8085-9524B0B5C72B}" type="slidenum">
              <a:rPr lang="fr-FR" smtClean="0"/>
              <a:pPr/>
              <a:t>122</a:t>
            </a:fld>
            <a:endParaRPr lang="fr-FR" dirty="0"/>
          </a:p>
        </p:txBody>
      </p:sp>
    </p:spTree>
    <p:extLst>
      <p:ext uri="{BB962C8B-B14F-4D97-AF65-F5344CB8AC3E}">
        <p14:creationId xmlns:p14="http://schemas.microsoft.com/office/powerpoint/2010/main" val="225314200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765E73-C6B7-4C20-9606-EC514042963F}"/>
              </a:ext>
            </a:extLst>
          </p:cNvPr>
          <p:cNvSpPr>
            <a:spLocks noGrp="1"/>
          </p:cNvSpPr>
          <p:nvPr>
            <p:ph type="title"/>
          </p:nvPr>
        </p:nvSpPr>
        <p:spPr/>
        <p:txBody>
          <a:bodyPr/>
          <a:lstStyle/>
          <a:p>
            <a:r>
              <a:rPr lang="fr-FR" dirty="0"/>
              <a:t>Example 2</a:t>
            </a:r>
          </a:p>
        </p:txBody>
      </p:sp>
      <p:sp>
        <p:nvSpPr>
          <p:cNvPr id="2" name="Content Placeholder 1">
            <a:extLst>
              <a:ext uri="{FF2B5EF4-FFF2-40B4-BE49-F238E27FC236}">
                <a16:creationId xmlns:a16="http://schemas.microsoft.com/office/drawing/2014/main" id="{61A9B75F-4F06-4AEC-A154-D913F8B5DD69}"/>
              </a:ext>
            </a:extLst>
          </p:cNvPr>
          <p:cNvSpPr>
            <a:spLocks noGrp="1"/>
          </p:cNvSpPr>
          <p:nvPr>
            <p:ph idx="1"/>
          </p:nvPr>
        </p:nvSpPr>
        <p:spPr>
          <a:xfrm>
            <a:off x="681228" y="1825625"/>
            <a:ext cx="11247088" cy="4351338"/>
          </a:xfrm>
        </p:spPr>
        <p:txBody>
          <a:bodyPr/>
          <a:lstStyle/>
          <a:p>
            <a:r>
              <a:rPr lang="fr-FR" b="0" dirty="0" err="1"/>
              <a:t>We</a:t>
            </a:r>
            <a:r>
              <a:rPr lang="fr-FR" b="0" dirty="0"/>
              <a:t> </a:t>
            </a:r>
            <a:r>
              <a:rPr lang="fr-FR" b="0" dirty="0" err="1"/>
              <a:t>produce</a:t>
            </a:r>
            <a:r>
              <a:rPr lang="fr-FR" b="0" dirty="0"/>
              <a:t> 120,000 </a:t>
            </a:r>
            <a:r>
              <a:rPr lang="fr-FR" b="0" dirty="0" err="1"/>
              <a:t>products</a:t>
            </a:r>
            <a:r>
              <a:rPr lang="fr-FR" b="0" dirty="0"/>
              <a:t> at a unit production cost of €20.</a:t>
            </a:r>
          </a:p>
          <a:p>
            <a:r>
              <a:rPr lang="fr-FR" b="0" dirty="0"/>
              <a:t>All the production cost </a:t>
            </a:r>
            <a:r>
              <a:rPr lang="fr-FR" b="0" dirty="0" err="1"/>
              <a:t>is</a:t>
            </a:r>
            <a:r>
              <a:rPr lang="fr-FR" b="0" dirty="0"/>
              <a:t> a cash expense (i.e. no </a:t>
            </a:r>
            <a:r>
              <a:rPr lang="fr-FR" b="0" dirty="0" err="1"/>
              <a:t>depreciation</a:t>
            </a:r>
            <a:r>
              <a:rPr lang="fr-FR" b="0" dirty="0"/>
              <a:t> and </a:t>
            </a:r>
            <a:r>
              <a:rPr lang="fr-FR" b="0" dirty="0" err="1"/>
              <a:t>amortization</a:t>
            </a:r>
            <a:r>
              <a:rPr lang="fr-FR" b="0" dirty="0"/>
              <a:t> expense).</a:t>
            </a:r>
          </a:p>
          <a:p>
            <a:r>
              <a:rPr lang="fr-FR" b="0" dirty="0" err="1"/>
              <a:t>We</a:t>
            </a:r>
            <a:r>
              <a:rPr lang="fr-FR" b="0" dirty="0"/>
              <a:t> </a:t>
            </a:r>
            <a:r>
              <a:rPr lang="fr-FR" b="0" dirty="0" err="1"/>
              <a:t>sell</a:t>
            </a:r>
            <a:r>
              <a:rPr lang="fr-FR" b="0" dirty="0"/>
              <a:t> 100,000 </a:t>
            </a:r>
            <a:r>
              <a:rPr lang="fr-FR" b="0" dirty="0" err="1"/>
              <a:t>products</a:t>
            </a:r>
            <a:r>
              <a:rPr lang="fr-FR" b="0" dirty="0"/>
              <a:t> at unit </a:t>
            </a:r>
            <a:r>
              <a:rPr lang="fr-FR" b="0" dirty="0" err="1"/>
              <a:t>selling</a:t>
            </a:r>
            <a:r>
              <a:rPr lang="fr-FR" b="0" dirty="0"/>
              <a:t> </a:t>
            </a:r>
            <a:r>
              <a:rPr lang="fr-FR" b="0" dirty="0" err="1"/>
              <a:t>price</a:t>
            </a:r>
            <a:r>
              <a:rPr lang="fr-FR" b="0" dirty="0"/>
              <a:t> of €30.</a:t>
            </a:r>
          </a:p>
          <a:p>
            <a:r>
              <a:rPr lang="fr-FR" b="0" dirty="0"/>
              <a:t>The </a:t>
            </a:r>
            <a:r>
              <a:rPr lang="fr-FR" b="0" dirty="0" err="1"/>
              <a:t>customer</a:t>
            </a:r>
            <a:r>
              <a:rPr lang="fr-FR" b="0" dirty="0"/>
              <a:t> </a:t>
            </a:r>
            <a:r>
              <a:rPr lang="fr-FR" b="0" dirty="0" err="1"/>
              <a:t>will</a:t>
            </a:r>
            <a:r>
              <a:rPr lang="fr-FR" b="0" dirty="0"/>
              <a:t> </a:t>
            </a:r>
            <a:r>
              <a:rPr lang="fr-FR" b="0" dirty="0" err="1"/>
              <a:t>pay</a:t>
            </a:r>
            <a:r>
              <a:rPr lang="fr-FR" b="0" dirty="0"/>
              <a:t> in one </a:t>
            </a:r>
            <a:r>
              <a:rPr lang="fr-FR" b="0" dirty="0" err="1"/>
              <a:t>month</a:t>
            </a:r>
            <a:r>
              <a:rPr lang="fr-FR" b="0" dirty="0"/>
              <a:t>.</a:t>
            </a:r>
          </a:p>
          <a:p>
            <a:r>
              <a:rPr lang="fr-FR" b="0" dirty="0"/>
              <a:t>What </a:t>
            </a:r>
            <a:r>
              <a:rPr lang="fr-FR" b="0" dirty="0" err="1"/>
              <a:t>is</a:t>
            </a:r>
            <a:r>
              <a:rPr lang="fr-FR" b="0" dirty="0"/>
              <a:t> the impact of the production and the sale of </a:t>
            </a:r>
            <a:r>
              <a:rPr lang="fr-FR" b="0" dirty="0" err="1"/>
              <a:t>products</a:t>
            </a:r>
            <a:r>
              <a:rPr lang="fr-FR" b="0" dirty="0"/>
              <a:t> on the balance </a:t>
            </a:r>
            <a:r>
              <a:rPr lang="fr-FR" b="0" dirty="0" err="1"/>
              <a:t>sheet</a:t>
            </a:r>
            <a:r>
              <a:rPr lang="fr-FR" b="0" dirty="0"/>
              <a:t> (BS)?</a:t>
            </a:r>
          </a:p>
        </p:txBody>
      </p:sp>
      <p:sp>
        <p:nvSpPr>
          <p:cNvPr id="5" name="Slide Number Placeholder 4">
            <a:extLst>
              <a:ext uri="{FF2B5EF4-FFF2-40B4-BE49-F238E27FC236}">
                <a16:creationId xmlns:a16="http://schemas.microsoft.com/office/drawing/2014/main" id="{3D80F116-4345-40FF-ADC5-D05679155216}"/>
              </a:ext>
            </a:extLst>
          </p:cNvPr>
          <p:cNvSpPr>
            <a:spLocks noGrp="1"/>
          </p:cNvSpPr>
          <p:nvPr>
            <p:ph type="sldNum" sz="quarter" idx="10"/>
          </p:nvPr>
        </p:nvSpPr>
        <p:spPr/>
        <p:txBody>
          <a:bodyPr/>
          <a:lstStyle/>
          <a:p>
            <a:fld id="{307C7597-8D70-4701-8085-9524B0B5C72B}" type="slidenum">
              <a:rPr lang="fr-FR" smtClean="0"/>
              <a:pPr/>
              <a:t>123</a:t>
            </a:fld>
            <a:endParaRPr lang="fr-FR" dirty="0"/>
          </a:p>
        </p:txBody>
      </p:sp>
    </p:spTree>
    <p:extLst>
      <p:ext uri="{BB962C8B-B14F-4D97-AF65-F5344CB8AC3E}">
        <p14:creationId xmlns:p14="http://schemas.microsoft.com/office/powerpoint/2010/main" val="31358431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47434B-CE85-424E-8C21-8A6407D02230}"/>
              </a:ext>
            </a:extLst>
          </p:cNvPr>
          <p:cNvSpPr>
            <a:spLocks noGrp="1"/>
          </p:cNvSpPr>
          <p:nvPr>
            <p:ph type="title"/>
          </p:nvPr>
        </p:nvSpPr>
        <p:spPr/>
        <p:txBody>
          <a:bodyPr/>
          <a:lstStyle/>
          <a:p>
            <a:r>
              <a:rPr lang="en-US" dirty="0"/>
              <a:t>Financial analysis: example</a:t>
            </a:r>
          </a:p>
        </p:txBody>
      </p:sp>
      <p:sp>
        <p:nvSpPr>
          <p:cNvPr id="4" name="Subtitle 3">
            <a:extLst>
              <a:ext uri="{FF2B5EF4-FFF2-40B4-BE49-F238E27FC236}">
                <a16:creationId xmlns:a16="http://schemas.microsoft.com/office/drawing/2014/main" id="{BBE71373-15EE-417B-A99F-4B06F5A18896}"/>
              </a:ext>
            </a:extLst>
          </p:cNvPr>
          <p:cNvSpPr>
            <a:spLocks noGrp="1"/>
          </p:cNvSpPr>
          <p:nvPr>
            <p:ph idx="1"/>
          </p:nvPr>
        </p:nvSpPr>
        <p:spPr>
          <a:xfrm>
            <a:off x="618080" y="890210"/>
            <a:ext cx="10829544" cy="424886"/>
          </a:xfrm>
        </p:spPr>
        <p:txBody>
          <a:bodyPr/>
          <a:lstStyle/>
          <a:p>
            <a:pPr marL="0" indent="0">
              <a:buNone/>
            </a:pPr>
            <a:r>
              <a:rPr lang="en-US" dirty="0"/>
              <a:t>Why the operating cash flow is different from profit?</a:t>
            </a:r>
          </a:p>
        </p:txBody>
      </p:sp>
      <p:sp>
        <p:nvSpPr>
          <p:cNvPr id="5" name="Slide Number Placeholder 4">
            <a:extLst>
              <a:ext uri="{FF2B5EF4-FFF2-40B4-BE49-F238E27FC236}">
                <a16:creationId xmlns:a16="http://schemas.microsoft.com/office/drawing/2014/main" id="{3DFC0698-BEF3-44F1-BD96-7A573398ED4E}"/>
              </a:ext>
            </a:extLst>
          </p:cNvPr>
          <p:cNvSpPr>
            <a:spLocks noGrp="1"/>
          </p:cNvSpPr>
          <p:nvPr>
            <p:ph type="sldNum" sz="quarter" idx="10"/>
          </p:nvPr>
        </p:nvSpPr>
        <p:spPr/>
        <p:txBody>
          <a:bodyPr/>
          <a:lstStyle/>
          <a:p>
            <a:fld id="{307C7597-8D70-4701-8085-9524B0B5C72B}" type="slidenum">
              <a:rPr lang="fr-FR" smtClean="0"/>
              <a:pPr/>
              <a:t>124</a:t>
            </a:fld>
            <a:endParaRPr lang="fr-FR" dirty="0"/>
          </a:p>
        </p:txBody>
      </p:sp>
      <p:sp>
        <p:nvSpPr>
          <p:cNvPr id="35" name="TextBox 34">
            <a:extLst>
              <a:ext uri="{FF2B5EF4-FFF2-40B4-BE49-F238E27FC236}">
                <a16:creationId xmlns:a16="http://schemas.microsoft.com/office/drawing/2014/main" id="{D9956592-1443-45B8-B466-050B254BCFFF}"/>
              </a:ext>
            </a:extLst>
          </p:cNvPr>
          <p:cNvSpPr txBox="1"/>
          <p:nvPr/>
        </p:nvSpPr>
        <p:spPr>
          <a:xfrm>
            <a:off x="-77176" y="3228383"/>
            <a:ext cx="1919276" cy="1200329"/>
          </a:xfrm>
          <a:prstGeom prst="rect">
            <a:avLst/>
          </a:prstGeom>
          <a:noFill/>
        </p:spPr>
        <p:txBody>
          <a:bodyPr wrap="square" rtlCol="0">
            <a:spAutoFit/>
          </a:bodyPr>
          <a:lstStyle/>
          <a:p>
            <a:pPr algn="ctr"/>
            <a:r>
              <a:rPr lang="en-US" sz="2400" b="1" dirty="0"/>
              <a:t>Cash</a:t>
            </a:r>
          </a:p>
          <a:p>
            <a:pPr algn="ctr"/>
            <a:r>
              <a:rPr lang="en-US" sz="2400" b="1" dirty="0"/>
              <a:t>-120,000 x €20</a:t>
            </a:r>
            <a:r>
              <a:rPr lang="en-US" sz="2400" dirty="0"/>
              <a:t> </a:t>
            </a:r>
          </a:p>
        </p:txBody>
      </p:sp>
      <p:grpSp>
        <p:nvGrpSpPr>
          <p:cNvPr id="6" name="Group 5">
            <a:extLst>
              <a:ext uri="{FF2B5EF4-FFF2-40B4-BE49-F238E27FC236}">
                <a16:creationId xmlns:a16="http://schemas.microsoft.com/office/drawing/2014/main" id="{BA3C1114-F301-4329-8F56-01394BB736F5}"/>
              </a:ext>
            </a:extLst>
          </p:cNvPr>
          <p:cNvGrpSpPr/>
          <p:nvPr/>
        </p:nvGrpSpPr>
        <p:grpSpPr>
          <a:xfrm>
            <a:off x="817991" y="1989302"/>
            <a:ext cx="11274595" cy="3829222"/>
            <a:chOff x="611560" y="1347614"/>
            <a:chExt cx="8460075" cy="2873319"/>
          </a:xfrm>
        </p:grpSpPr>
        <p:grpSp>
          <p:nvGrpSpPr>
            <p:cNvPr id="2" name="Group 1">
              <a:extLst>
                <a:ext uri="{FF2B5EF4-FFF2-40B4-BE49-F238E27FC236}">
                  <a16:creationId xmlns:a16="http://schemas.microsoft.com/office/drawing/2014/main" id="{0F92FE62-025E-410E-B45A-778998A6939C}"/>
                </a:ext>
              </a:extLst>
            </p:cNvPr>
            <p:cNvGrpSpPr/>
            <p:nvPr/>
          </p:nvGrpSpPr>
          <p:grpSpPr>
            <a:xfrm>
              <a:off x="611560" y="1347614"/>
              <a:ext cx="7632848" cy="2873319"/>
              <a:chOff x="611560" y="1347614"/>
              <a:chExt cx="7632848" cy="2873319"/>
            </a:xfrm>
          </p:grpSpPr>
          <p:sp>
            <p:nvSpPr>
              <p:cNvPr id="30" name="TextBox 29">
                <a:extLst>
                  <a:ext uri="{FF2B5EF4-FFF2-40B4-BE49-F238E27FC236}">
                    <a16:creationId xmlns:a16="http://schemas.microsoft.com/office/drawing/2014/main" id="{AC78F6CA-83D3-4A3C-903F-85A58EB6F801}"/>
                  </a:ext>
                </a:extLst>
              </p:cNvPr>
              <p:cNvSpPr txBox="1"/>
              <p:nvPr/>
            </p:nvSpPr>
            <p:spPr>
              <a:xfrm>
                <a:off x="611560" y="1347614"/>
                <a:ext cx="1440160" cy="807827"/>
              </a:xfrm>
              <a:prstGeom prst="rect">
                <a:avLst/>
              </a:prstGeom>
              <a:noFill/>
            </p:spPr>
            <p:txBody>
              <a:bodyPr wrap="square" rtlCol="0">
                <a:spAutoFit/>
              </a:bodyPr>
              <a:lstStyle/>
              <a:p>
                <a:pPr algn="ctr"/>
                <a:r>
                  <a:rPr lang="en-US" sz="3198" dirty="0"/>
                  <a:t>Assets (A)</a:t>
                </a:r>
              </a:p>
            </p:txBody>
          </p:sp>
          <p:sp>
            <p:nvSpPr>
              <p:cNvPr id="31" name="TextBox 30">
                <a:extLst>
                  <a:ext uri="{FF2B5EF4-FFF2-40B4-BE49-F238E27FC236}">
                    <a16:creationId xmlns:a16="http://schemas.microsoft.com/office/drawing/2014/main" id="{345BBDB7-551C-4FD1-9E05-D4E01BD129D2}"/>
                  </a:ext>
                </a:extLst>
              </p:cNvPr>
              <p:cNvSpPr txBox="1"/>
              <p:nvPr/>
            </p:nvSpPr>
            <p:spPr>
              <a:xfrm>
                <a:off x="2123728" y="1347614"/>
                <a:ext cx="1296144" cy="438555"/>
              </a:xfrm>
              <a:prstGeom prst="rect">
                <a:avLst/>
              </a:prstGeom>
              <a:noFill/>
            </p:spPr>
            <p:txBody>
              <a:bodyPr wrap="square" rtlCol="0">
                <a:spAutoFit/>
              </a:bodyPr>
              <a:lstStyle/>
              <a:p>
                <a:pPr algn="ctr"/>
                <a:r>
                  <a:rPr lang="en-US" sz="3198" dirty="0"/>
                  <a:t>=</a:t>
                </a:r>
              </a:p>
            </p:txBody>
          </p:sp>
          <p:sp>
            <p:nvSpPr>
              <p:cNvPr id="32" name="TextBox 31">
                <a:extLst>
                  <a:ext uri="{FF2B5EF4-FFF2-40B4-BE49-F238E27FC236}">
                    <a16:creationId xmlns:a16="http://schemas.microsoft.com/office/drawing/2014/main" id="{30C23491-18B2-4C8F-AFD9-723767A8D3B2}"/>
                  </a:ext>
                </a:extLst>
              </p:cNvPr>
              <p:cNvSpPr txBox="1"/>
              <p:nvPr/>
            </p:nvSpPr>
            <p:spPr>
              <a:xfrm>
                <a:off x="6804248" y="1347614"/>
                <a:ext cx="1440160" cy="807827"/>
              </a:xfrm>
              <a:prstGeom prst="rect">
                <a:avLst/>
              </a:prstGeom>
              <a:noFill/>
            </p:spPr>
            <p:txBody>
              <a:bodyPr wrap="square" rtlCol="0">
                <a:spAutoFit/>
              </a:bodyPr>
              <a:lstStyle/>
              <a:p>
                <a:pPr algn="ctr"/>
                <a:r>
                  <a:rPr lang="en-US" sz="3198" dirty="0"/>
                  <a:t>Equity (E)</a:t>
                </a:r>
              </a:p>
            </p:txBody>
          </p:sp>
          <p:sp>
            <p:nvSpPr>
              <p:cNvPr id="33" name="TextBox 32">
                <a:extLst>
                  <a:ext uri="{FF2B5EF4-FFF2-40B4-BE49-F238E27FC236}">
                    <a16:creationId xmlns:a16="http://schemas.microsoft.com/office/drawing/2014/main" id="{062619CC-50E0-47D3-80AE-3160B955727A}"/>
                  </a:ext>
                </a:extLst>
              </p:cNvPr>
              <p:cNvSpPr txBox="1"/>
              <p:nvPr/>
            </p:nvSpPr>
            <p:spPr>
              <a:xfrm>
                <a:off x="3491880" y="1347614"/>
                <a:ext cx="1800200" cy="807827"/>
              </a:xfrm>
              <a:prstGeom prst="rect">
                <a:avLst/>
              </a:prstGeom>
              <a:noFill/>
            </p:spPr>
            <p:txBody>
              <a:bodyPr wrap="square" rtlCol="0">
                <a:spAutoFit/>
              </a:bodyPr>
              <a:lstStyle/>
              <a:p>
                <a:pPr algn="ctr"/>
                <a:r>
                  <a:rPr lang="en-US" sz="3198" dirty="0"/>
                  <a:t>Liabilities (L)</a:t>
                </a:r>
              </a:p>
            </p:txBody>
          </p:sp>
          <p:sp>
            <p:nvSpPr>
              <p:cNvPr id="34" name="TextBox 33">
                <a:extLst>
                  <a:ext uri="{FF2B5EF4-FFF2-40B4-BE49-F238E27FC236}">
                    <a16:creationId xmlns:a16="http://schemas.microsoft.com/office/drawing/2014/main" id="{803551A3-093D-4CCE-8E41-AA70DE30A4E0}"/>
                  </a:ext>
                </a:extLst>
              </p:cNvPr>
              <p:cNvSpPr txBox="1"/>
              <p:nvPr/>
            </p:nvSpPr>
            <p:spPr>
              <a:xfrm>
                <a:off x="5364088" y="1347614"/>
                <a:ext cx="1296144" cy="438555"/>
              </a:xfrm>
              <a:prstGeom prst="rect">
                <a:avLst/>
              </a:prstGeom>
              <a:noFill/>
            </p:spPr>
            <p:txBody>
              <a:bodyPr wrap="square" rtlCol="0">
                <a:spAutoFit/>
              </a:bodyPr>
              <a:lstStyle/>
              <a:p>
                <a:pPr algn="ctr"/>
                <a:r>
                  <a:rPr lang="en-US" sz="3198" dirty="0"/>
                  <a:t>+</a:t>
                </a:r>
              </a:p>
            </p:txBody>
          </p:sp>
          <p:sp>
            <p:nvSpPr>
              <p:cNvPr id="36" name="Arrow: Down 35">
                <a:extLst>
                  <a:ext uri="{FF2B5EF4-FFF2-40B4-BE49-F238E27FC236}">
                    <a16:creationId xmlns:a16="http://schemas.microsoft.com/office/drawing/2014/main" id="{C3CFA168-3AAF-4FAC-BE8B-D3A08740B4D1}"/>
                  </a:ext>
                </a:extLst>
              </p:cNvPr>
              <p:cNvSpPr/>
              <p:nvPr/>
            </p:nvSpPr>
            <p:spPr>
              <a:xfrm rot="12735684">
                <a:off x="823327" y="1942794"/>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37" name="Arrow: Down 36">
                <a:extLst>
                  <a:ext uri="{FF2B5EF4-FFF2-40B4-BE49-F238E27FC236}">
                    <a16:creationId xmlns:a16="http://schemas.microsoft.com/office/drawing/2014/main" id="{BE0D13D2-6F13-406B-8598-1F7595BFBE5B}"/>
                  </a:ext>
                </a:extLst>
              </p:cNvPr>
              <p:cNvSpPr/>
              <p:nvPr/>
            </p:nvSpPr>
            <p:spPr>
              <a:xfrm rot="8684022">
                <a:off x="1586828" y="1880801"/>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38" name="TextBox 37">
                <a:extLst>
                  <a:ext uri="{FF2B5EF4-FFF2-40B4-BE49-F238E27FC236}">
                    <a16:creationId xmlns:a16="http://schemas.microsoft.com/office/drawing/2014/main" id="{EB6F801B-0102-4DF3-8757-D3AF7C06B4C0}"/>
                  </a:ext>
                </a:extLst>
              </p:cNvPr>
              <p:cNvSpPr txBox="1"/>
              <p:nvPr/>
            </p:nvSpPr>
            <p:spPr>
              <a:xfrm>
                <a:off x="1403648" y="2211710"/>
                <a:ext cx="2461744" cy="2009223"/>
              </a:xfrm>
              <a:prstGeom prst="rect">
                <a:avLst/>
              </a:prstGeom>
              <a:noFill/>
            </p:spPr>
            <p:txBody>
              <a:bodyPr wrap="square" rtlCol="0">
                <a:spAutoFit/>
              </a:bodyPr>
              <a:lstStyle/>
              <a:p>
                <a:pPr algn="ctr"/>
                <a:r>
                  <a:rPr lang="en-US" sz="2400" dirty="0"/>
                  <a:t>Operating Assets (OA) (means non-financial assets)</a:t>
                </a:r>
              </a:p>
              <a:p>
                <a:pPr algn="ctr"/>
                <a:r>
                  <a:rPr lang="en-US" sz="2400" dirty="0"/>
                  <a:t>Accounts receivable :</a:t>
                </a:r>
              </a:p>
              <a:p>
                <a:pPr algn="ctr"/>
                <a:r>
                  <a:rPr lang="en-US" sz="2400" dirty="0"/>
                  <a:t>+ 100,000 x €30</a:t>
                </a:r>
              </a:p>
              <a:p>
                <a:pPr algn="ctr"/>
                <a:r>
                  <a:rPr lang="en-US" sz="2400" dirty="0"/>
                  <a:t>Inventories : </a:t>
                </a:r>
              </a:p>
              <a:p>
                <a:pPr algn="ctr"/>
                <a:r>
                  <a:rPr lang="en-US" sz="2400" dirty="0"/>
                  <a:t>+20,000 x €20</a:t>
                </a:r>
              </a:p>
            </p:txBody>
          </p:sp>
          <p:sp>
            <p:nvSpPr>
              <p:cNvPr id="41" name="Arrow: Down 40">
                <a:extLst>
                  <a:ext uri="{FF2B5EF4-FFF2-40B4-BE49-F238E27FC236}">
                    <a16:creationId xmlns:a16="http://schemas.microsoft.com/office/drawing/2014/main" id="{A6FCE143-FDA1-40C0-A725-EE97E4790F4D}"/>
                  </a:ext>
                </a:extLst>
              </p:cNvPr>
              <p:cNvSpPr/>
              <p:nvPr/>
            </p:nvSpPr>
            <p:spPr>
              <a:xfrm rot="8684022">
                <a:off x="4572000" y="1905726"/>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42" name="TextBox 41">
                <a:extLst>
                  <a:ext uri="{FF2B5EF4-FFF2-40B4-BE49-F238E27FC236}">
                    <a16:creationId xmlns:a16="http://schemas.microsoft.com/office/drawing/2014/main" id="{881D0817-0C46-415D-9195-B2C356F2A7C0}"/>
                  </a:ext>
                </a:extLst>
              </p:cNvPr>
              <p:cNvSpPr txBox="1"/>
              <p:nvPr/>
            </p:nvSpPr>
            <p:spPr>
              <a:xfrm>
                <a:off x="4499992" y="2234448"/>
                <a:ext cx="1584176" cy="1454954"/>
              </a:xfrm>
              <a:prstGeom prst="rect">
                <a:avLst/>
              </a:prstGeom>
              <a:noFill/>
            </p:spPr>
            <p:txBody>
              <a:bodyPr wrap="square" rtlCol="0">
                <a:spAutoFit/>
              </a:bodyPr>
              <a:lstStyle/>
              <a:p>
                <a:pPr algn="ctr"/>
                <a:r>
                  <a:rPr lang="en-US" sz="2400" dirty="0"/>
                  <a:t>Operating liabilities (OL) (means non-financial liabilities)</a:t>
                </a:r>
              </a:p>
            </p:txBody>
          </p:sp>
          <p:sp>
            <p:nvSpPr>
              <p:cNvPr id="47" name="Arrow: Down 46">
                <a:extLst>
                  <a:ext uri="{FF2B5EF4-FFF2-40B4-BE49-F238E27FC236}">
                    <a16:creationId xmlns:a16="http://schemas.microsoft.com/office/drawing/2014/main" id="{1B8D7DF0-ED20-4FCC-A700-24D242EDF002}"/>
                  </a:ext>
                </a:extLst>
              </p:cNvPr>
              <p:cNvSpPr/>
              <p:nvPr/>
            </p:nvSpPr>
            <p:spPr>
              <a:xfrm rot="8684022">
                <a:off x="7687714" y="2023789"/>
                <a:ext cx="288032" cy="31764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grpSp>
        <p:sp>
          <p:nvSpPr>
            <p:cNvPr id="48" name="TextBox 47">
              <a:extLst>
                <a:ext uri="{FF2B5EF4-FFF2-40B4-BE49-F238E27FC236}">
                  <a16:creationId xmlns:a16="http://schemas.microsoft.com/office/drawing/2014/main" id="{998A2DC4-511C-4E8C-A9D1-8957A0F3F96D}"/>
                </a:ext>
              </a:extLst>
            </p:cNvPr>
            <p:cNvSpPr txBox="1"/>
            <p:nvPr/>
          </p:nvSpPr>
          <p:spPr>
            <a:xfrm>
              <a:off x="6551355" y="2312797"/>
              <a:ext cx="2520280" cy="623552"/>
            </a:xfrm>
            <a:prstGeom prst="rect">
              <a:avLst/>
            </a:prstGeom>
            <a:noFill/>
          </p:spPr>
          <p:txBody>
            <a:bodyPr wrap="square" rtlCol="0">
              <a:spAutoFit/>
            </a:bodyPr>
            <a:lstStyle/>
            <a:p>
              <a:pPr algn="ctr"/>
              <a:r>
                <a:rPr lang="en-US" sz="2400" dirty="0"/>
                <a:t>Profit</a:t>
              </a:r>
            </a:p>
            <a:p>
              <a:pPr algn="ctr"/>
              <a:r>
                <a:rPr lang="en-US" sz="2400" dirty="0"/>
                <a:t>1,000,000</a:t>
              </a:r>
            </a:p>
          </p:txBody>
        </p:sp>
      </p:grpSp>
      <p:sp>
        <p:nvSpPr>
          <p:cNvPr id="7" name="TextBox 6">
            <a:extLst>
              <a:ext uri="{FF2B5EF4-FFF2-40B4-BE49-F238E27FC236}">
                <a16:creationId xmlns:a16="http://schemas.microsoft.com/office/drawing/2014/main" id="{87657A5E-0FE5-4E1F-AC36-9D14FAA20EDC}"/>
              </a:ext>
            </a:extLst>
          </p:cNvPr>
          <p:cNvSpPr txBox="1"/>
          <p:nvPr/>
        </p:nvSpPr>
        <p:spPr>
          <a:xfrm>
            <a:off x="5520217" y="5732131"/>
            <a:ext cx="6429575" cy="1107996"/>
          </a:xfrm>
          <a:prstGeom prst="rect">
            <a:avLst/>
          </a:prstGeom>
          <a:solidFill>
            <a:schemeClr val="bg1"/>
          </a:solidFill>
        </p:spPr>
        <p:txBody>
          <a:bodyPr wrap="square" rtlCol="0">
            <a:spAutoFit/>
          </a:bodyPr>
          <a:lstStyle/>
          <a:p>
            <a:r>
              <a:rPr lang="fr-FR" sz="2200" dirty="0"/>
              <a:t>Sales revenue			100,000 x €30</a:t>
            </a:r>
          </a:p>
          <a:p>
            <a:r>
              <a:rPr lang="fr-FR" sz="2200" dirty="0"/>
              <a:t>Cost of goods </a:t>
            </a:r>
            <a:r>
              <a:rPr lang="fr-FR" sz="2200" dirty="0" err="1"/>
              <a:t>sold</a:t>
            </a:r>
            <a:r>
              <a:rPr lang="fr-FR" sz="2200" dirty="0"/>
              <a:t> (COGS)	100,000 x €20</a:t>
            </a:r>
          </a:p>
          <a:p>
            <a:r>
              <a:rPr lang="fr-FR" sz="2200" dirty="0"/>
              <a:t>Gross profit or </a:t>
            </a:r>
            <a:r>
              <a:rPr lang="fr-FR" sz="2200" dirty="0" err="1"/>
              <a:t>gross</a:t>
            </a:r>
            <a:r>
              <a:rPr lang="fr-FR" sz="2200" dirty="0"/>
              <a:t> </a:t>
            </a:r>
            <a:r>
              <a:rPr lang="fr-FR" sz="2200" dirty="0" err="1"/>
              <a:t>margin</a:t>
            </a:r>
            <a:r>
              <a:rPr lang="fr-FR" sz="2200" dirty="0"/>
              <a:t>	100,000 x €10</a:t>
            </a:r>
          </a:p>
        </p:txBody>
      </p:sp>
      <p:sp>
        <p:nvSpPr>
          <p:cNvPr id="8" name="TextBox 7">
            <a:extLst>
              <a:ext uri="{FF2B5EF4-FFF2-40B4-BE49-F238E27FC236}">
                <a16:creationId xmlns:a16="http://schemas.microsoft.com/office/drawing/2014/main" id="{60A5C9D1-24A2-4616-A46C-FC6977DD0C44}"/>
              </a:ext>
            </a:extLst>
          </p:cNvPr>
          <p:cNvSpPr txBox="1"/>
          <p:nvPr/>
        </p:nvSpPr>
        <p:spPr>
          <a:xfrm>
            <a:off x="157008" y="1428139"/>
            <a:ext cx="4997308" cy="461537"/>
          </a:xfrm>
          <a:prstGeom prst="rect">
            <a:avLst/>
          </a:prstGeom>
          <a:solidFill>
            <a:schemeClr val="accent1">
              <a:lumMod val="20000"/>
              <a:lumOff val="80000"/>
            </a:schemeClr>
          </a:solidFill>
        </p:spPr>
        <p:txBody>
          <a:bodyPr wrap="square" rtlCol="0">
            <a:spAutoFit/>
          </a:bodyPr>
          <a:lstStyle/>
          <a:p>
            <a:r>
              <a:rPr lang="fr-FR" sz="2399" dirty="0"/>
              <a:t>-2,400,000 + 3,000,000 + 400,000</a:t>
            </a:r>
          </a:p>
        </p:txBody>
      </p:sp>
      <p:sp>
        <p:nvSpPr>
          <p:cNvPr id="22" name="TextBox 21">
            <a:extLst>
              <a:ext uri="{FF2B5EF4-FFF2-40B4-BE49-F238E27FC236}">
                <a16:creationId xmlns:a16="http://schemas.microsoft.com/office/drawing/2014/main" id="{C824C319-E34C-4BD5-8726-51B2827B778B}"/>
              </a:ext>
            </a:extLst>
          </p:cNvPr>
          <p:cNvSpPr txBox="1"/>
          <p:nvPr/>
        </p:nvSpPr>
        <p:spPr>
          <a:xfrm>
            <a:off x="8878950" y="1317797"/>
            <a:ext cx="2399096" cy="461537"/>
          </a:xfrm>
          <a:prstGeom prst="rect">
            <a:avLst/>
          </a:prstGeom>
          <a:solidFill>
            <a:schemeClr val="accent1">
              <a:lumMod val="20000"/>
              <a:lumOff val="80000"/>
            </a:schemeClr>
          </a:solidFill>
        </p:spPr>
        <p:txBody>
          <a:bodyPr wrap="square" rtlCol="0">
            <a:spAutoFit/>
          </a:bodyPr>
          <a:lstStyle/>
          <a:p>
            <a:pPr algn="ctr"/>
            <a:r>
              <a:rPr lang="fr-FR" sz="2399" dirty="0"/>
              <a:t>1,000,000</a:t>
            </a:r>
          </a:p>
        </p:txBody>
      </p:sp>
      <p:sp>
        <p:nvSpPr>
          <p:cNvPr id="23" name="TextBox 22">
            <a:extLst>
              <a:ext uri="{FF2B5EF4-FFF2-40B4-BE49-F238E27FC236}">
                <a16:creationId xmlns:a16="http://schemas.microsoft.com/office/drawing/2014/main" id="{3BD3E3AA-4B9B-4EC3-AD71-988950372E24}"/>
              </a:ext>
            </a:extLst>
          </p:cNvPr>
          <p:cNvSpPr txBox="1"/>
          <p:nvPr/>
        </p:nvSpPr>
        <p:spPr>
          <a:xfrm>
            <a:off x="296743" y="5886138"/>
            <a:ext cx="4900470" cy="830740"/>
          </a:xfrm>
          <a:prstGeom prst="rect">
            <a:avLst/>
          </a:prstGeom>
          <a:solidFill>
            <a:schemeClr val="tx1">
              <a:lumMod val="20000"/>
              <a:lumOff val="80000"/>
            </a:schemeClr>
          </a:solidFill>
        </p:spPr>
        <p:txBody>
          <a:bodyPr wrap="square" rtlCol="0">
            <a:spAutoFit/>
          </a:bodyPr>
          <a:lstStyle/>
          <a:p>
            <a:r>
              <a:rPr lang="fr-FR" sz="2399" dirty="0"/>
              <a:t>P&amp;L </a:t>
            </a:r>
            <a:r>
              <a:rPr lang="fr-FR" sz="2399" dirty="0" err="1"/>
              <a:t>with</a:t>
            </a:r>
            <a:r>
              <a:rPr lang="fr-FR" sz="2399" dirty="0"/>
              <a:t> production volume </a:t>
            </a:r>
            <a:r>
              <a:rPr lang="fr-FR" sz="2399" dirty="0" err="1"/>
              <a:t>higher</a:t>
            </a:r>
            <a:r>
              <a:rPr lang="fr-FR" sz="2399" dirty="0"/>
              <a:t> </a:t>
            </a:r>
            <a:r>
              <a:rPr lang="fr-FR" sz="2399" dirty="0" err="1"/>
              <a:t>than</a:t>
            </a:r>
            <a:r>
              <a:rPr lang="fr-FR" sz="2399" dirty="0"/>
              <a:t> sales volume</a:t>
            </a:r>
          </a:p>
        </p:txBody>
      </p:sp>
      <p:sp>
        <p:nvSpPr>
          <p:cNvPr id="9" name="Arrow: Curved Up 8">
            <a:extLst>
              <a:ext uri="{FF2B5EF4-FFF2-40B4-BE49-F238E27FC236}">
                <a16:creationId xmlns:a16="http://schemas.microsoft.com/office/drawing/2014/main" id="{80AAF674-E272-4868-B143-579463D79C7C}"/>
              </a:ext>
            </a:extLst>
          </p:cNvPr>
          <p:cNvSpPr/>
          <p:nvPr/>
        </p:nvSpPr>
        <p:spPr>
          <a:xfrm rot="16200000">
            <a:off x="9894266" y="4932158"/>
            <a:ext cx="3125453" cy="540827"/>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solidFill>
                <a:schemeClr val="tx1"/>
              </a:solidFill>
            </a:endParaRPr>
          </a:p>
        </p:txBody>
      </p:sp>
    </p:spTree>
    <p:extLst>
      <p:ext uri="{BB962C8B-B14F-4D97-AF65-F5344CB8AC3E}">
        <p14:creationId xmlns:p14="http://schemas.microsoft.com/office/powerpoint/2010/main" val="7842344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F2848B-0F83-6718-FBFC-B7F4A2EE6C60}"/>
              </a:ext>
            </a:extLst>
          </p:cNvPr>
          <p:cNvSpPr>
            <a:spLocks noGrp="1"/>
          </p:cNvSpPr>
          <p:nvPr>
            <p:ph type="title"/>
          </p:nvPr>
        </p:nvSpPr>
        <p:spPr>
          <a:xfrm>
            <a:off x="656844" y="487045"/>
            <a:ext cx="10829544" cy="640419"/>
          </a:xfrm>
        </p:spPr>
        <p:txBody>
          <a:bodyPr/>
          <a:lstStyle/>
          <a:p>
            <a:r>
              <a:rPr lang="en-US" dirty="0"/>
              <a:t>Example 2</a:t>
            </a:r>
          </a:p>
        </p:txBody>
      </p:sp>
      <p:sp>
        <p:nvSpPr>
          <p:cNvPr id="2" name="Content Placeholder 1">
            <a:extLst>
              <a:ext uri="{FF2B5EF4-FFF2-40B4-BE49-F238E27FC236}">
                <a16:creationId xmlns:a16="http://schemas.microsoft.com/office/drawing/2014/main" id="{61A9B75F-4F06-4AEC-A154-D913F8B5DD69}"/>
              </a:ext>
            </a:extLst>
          </p:cNvPr>
          <p:cNvSpPr>
            <a:spLocks noGrp="1"/>
          </p:cNvSpPr>
          <p:nvPr>
            <p:ph idx="1"/>
          </p:nvPr>
        </p:nvSpPr>
        <p:spPr>
          <a:xfrm>
            <a:off x="681228" y="1253330"/>
            <a:ext cx="10829544" cy="4872261"/>
          </a:xfrm>
          <a:solidFill>
            <a:schemeClr val="bg1"/>
          </a:solidFill>
        </p:spPr>
        <p:txBody>
          <a:bodyPr>
            <a:normAutofit fontScale="92500" lnSpcReduction="20000"/>
          </a:bodyPr>
          <a:lstStyle/>
          <a:p>
            <a:r>
              <a:rPr lang="fr-FR" b="0" dirty="0" err="1"/>
              <a:t>We</a:t>
            </a:r>
            <a:r>
              <a:rPr lang="fr-FR" b="0" dirty="0"/>
              <a:t> </a:t>
            </a:r>
            <a:r>
              <a:rPr lang="fr-FR" b="0" dirty="0" err="1"/>
              <a:t>produce</a:t>
            </a:r>
            <a:r>
              <a:rPr lang="fr-FR" b="0" dirty="0"/>
              <a:t> 120,000 </a:t>
            </a:r>
            <a:r>
              <a:rPr lang="fr-FR" b="0" dirty="0" err="1"/>
              <a:t>product</a:t>
            </a:r>
            <a:r>
              <a:rPr lang="fr-FR" b="0" dirty="0"/>
              <a:t> at a unit production cost of €20.</a:t>
            </a:r>
          </a:p>
          <a:p>
            <a:r>
              <a:rPr lang="fr-FR" b="0" dirty="0"/>
              <a:t>All the production cost </a:t>
            </a:r>
            <a:r>
              <a:rPr lang="fr-FR" b="0" dirty="0" err="1"/>
              <a:t>is</a:t>
            </a:r>
            <a:r>
              <a:rPr lang="fr-FR" b="0" dirty="0"/>
              <a:t> a cash expense (i.e. no </a:t>
            </a:r>
            <a:r>
              <a:rPr lang="fr-FR" b="0" dirty="0" err="1"/>
              <a:t>depreciation</a:t>
            </a:r>
            <a:r>
              <a:rPr lang="fr-FR" b="0" dirty="0"/>
              <a:t> and </a:t>
            </a:r>
            <a:r>
              <a:rPr lang="fr-FR" b="0" dirty="0" err="1"/>
              <a:t>amortization</a:t>
            </a:r>
            <a:r>
              <a:rPr lang="fr-FR" b="0" dirty="0"/>
              <a:t> expense).</a:t>
            </a:r>
          </a:p>
          <a:p>
            <a:r>
              <a:rPr lang="fr-FR" b="0" dirty="0" err="1"/>
              <a:t>We</a:t>
            </a:r>
            <a:r>
              <a:rPr lang="fr-FR" b="0" dirty="0"/>
              <a:t> </a:t>
            </a:r>
            <a:r>
              <a:rPr lang="fr-FR" b="0" dirty="0" err="1"/>
              <a:t>sell</a:t>
            </a:r>
            <a:r>
              <a:rPr lang="fr-FR" b="0" dirty="0"/>
              <a:t> 100,000 </a:t>
            </a:r>
            <a:r>
              <a:rPr lang="fr-FR" b="0" dirty="0" err="1"/>
              <a:t>products</a:t>
            </a:r>
            <a:r>
              <a:rPr lang="fr-FR" b="0" dirty="0"/>
              <a:t> at unit </a:t>
            </a:r>
            <a:r>
              <a:rPr lang="fr-FR" b="0" dirty="0" err="1"/>
              <a:t>selling</a:t>
            </a:r>
            <a:r>
              <a:rPr lang="fr-FR" b="0" dirty="0"/>
              <a:t> </a:t>
            </a:r>
            <a:r>
              <a:rPr lang="fr-FR" b="0" dirty="0" err="1"/>
              <a:t>price</a:t>
            </a:r>
            <a:r>
              <a:rPr lang="fr-FR" b="0" dirty="0"/>
              <a:t> of €30.</a:t>
            </a:r>
          </a:p>
          <a:p>
            <a:r>
              <a:rPr lang="fr-FR" b="0" dirty="0"/>
              <a:t>The </a:t>
            </a:r>
            <a:r>
              <a:rPr lang="fr-FR" b="0" dirty="0" err="1"/>
              <a:t>customer</a:t>
            </a:r>
            <a:r>
              <a:rPr lang="fr-FR" b="0" dirty="0"/>
              <a:t> </a:t>
            </a:r>
            <a:r>
              <a:rPr lang="fr-FR" b="0" dirty="0" err="1"/>
              <a:t>will</a:t>
            </a:r>
            <a:r>
              <a:rPr lang="fr-FR" b="0" dirty="0"/>
              <a:t> </a:t>
            </a:r>
            <a:r>
              <a:rPr lang="fr-FR" b="0" dirty="0" err="1"/>
              <a:t>pay</a:t>
            </a:r>
            <a:r>
              <a:rPr lang="fr-FR" b="0" dirty="0"/>
              <a:t> in one </a:t>
            </a:r>
            <a:r>
              <a:rPr lang="fr-FR" b="0" dirty="0" err="1"/>
              <a:t>month</a:t>
            </a:r>
            <a:r>
              <a:rPr lang="fr-FR" b="0" dirty="0"/>
              <a:t>.</a:t>
            </a:r>
          </a:p>
          <a:p>
            <a:r>
              <a:rPr lang="fr-FR" b="0" dirty="0"/>
              <a:t>What </a:t>
            </a:r>
            <a:r>
              <a:rPr lang="fr-FR" b="0" dirty="0" err="1"/>
              <a:t>is</a:t>
            </a:r>
            <a:r>
              <a:rPr lang="fr-FR" b="0" dirty="0"/>
              <a:t> the impact of the production and the sale of </a:t>
            </a:r>
            <a:r>
              <a:rPr lang="fr-FR" b="0" dirty="0" err="1"/>
              <a:t>products</a:t>
            </a:r>
            <a:r>
              <a:rPr lang="fr-FR" b="0" dirty="0"/>
              <a:t> on the working capital and working capital requirement (or operating working capital)?</a:t>
            </a:r>
          </a:p>
          <a:p>
            <a:endParaRPr lang="fr-FR" b="0" dirty="0"/>
          </a:p>
          <a:p>
            <a:pPr marL="0" indent="0">
              <a:buNone/>
            </a:pPr>
            <a:r>
              <a:rPr lang="fr-FR" b="1" dirty="0"/>
              <a:t>Working capital </a:t>
            </a:r>
            <a:r>
              <a:rPr lang="fr-FR" dirty="0"/>
              <a:t>= €1,000,000 = </a:t>
            </a:r>
            <a:r>
              <a:rPr lang="fr-FR" dirty="0" err="1"/>
              <a:t>Equity</a:t>
            </a:r>
            <a:r>
              <a:rPr lang="fr-FR" dirty="0"/>
              <a:t> + Non-current liabilities – Non-current assets </a:t>
            </a:r>
          </a:p>
          <a:p>
            <a:pPr marL="0" indent="0">
              <a:buNone/>
            </a:pPr>
            <a:r>
              <a:rPr lang="fr-FR" b="1" dirty="0"/>
              <a:t>Or Working capital </a:t>
            </a:r>
            <a:r>
              <a:rPr lang="fr-FR" dirty="0"/>
              <a:t>= Current assets – Current liabilities = -2,400,000 + 3,000,000 + 400,000 – 0 = €1,000,000</a:t>
            </a:r>
          </a:p>
          <a:p>
            <a:pPr marL="0" indent="0">
              <a:buNone/>
            </a:pPr>
            <a:r>
              <a:rPr lang="fr-FR" dirty="0"/>
              <a:t>Working capital requirement = €3,400,000</a:t>
            </a:r>
          </a:p>
          <a:p>
            <a:pPr marL="0" indent="0">
              <a:buNone/>
            </a:pPr>
            <a:r>
              <a:rPr lang="fr-FR" dirty="0"/>
              <a:t>WC – WC requirement = 1,000,000 – 3,400,000 = Net </a:t>
            </a:r>
            <a:r>
              <a:rPr lang="fr-FR"/>
              <a:t>cash = </a:t>
            </a:r>
            <a:r>
              <a:rPr lang="fr-FR" dirty="0"/>
              <a:t>€(2,400,000)</a:t>
            </a:r>
          </a:p>
        </p:txBody>
      </p:sp>
      <p:sp>
        <p:nvSpPr>
          <p:cNvPr id="5" name="Slide Number Placeholder 4">
            <a:extLst>
              <a:ext uri="{FF2B5EF4-FFF2-40B4-BE49-F238E27FC236}">
                <a16:creationId xmlns:a16="http://schemas.microsoft.com/office/drawing/2014/main" id="{3D80F116-4345-40FF-ADC5-D05679155216}"/>
              </a:ext>
            </a:extLst>
          </p:cNvPr>
          <p:cNvSpPr>
            <a:spLocks noGrp="1"/>
          </p:cNvSpPr>
          <p:nvPr>
            <p:ph type="sldNum" sz="quarter" idx="10"/>
          </p:nvPr>
        </p:nvSpPr>
        <p:spPr/>
        <p:txBody>
          <a:bodyPr/>
          <a:lstStyle/>
          <a:p>
            <a:fld id="{307C7597-8D70-4701-8085-9524B0B5C72B}" type="slidenum">
              <a:rPr lang="fr-FR" smtClean="0"/>
              <a:pPr/>
              <a:t>125</a:t>
            </a:fld>
            <a:endParaRPr lang="fr-FR" dirty="0"/>
          </a:p>
        </p:txBody>
      </p:sp>
    </p:spTree>
    <p:extLst>
      <p:ext uri="{BB962C8B-B14F-4D97-AF65-F5344CB8AC3E}">
        <p14:creationId xmlns:p14="http://schemas.microsoft.com/office/powerpoint/2010/main" val="128854419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EE742AF9-4AC1-ECE8-9348-B48FD57619DF}"/>
              </a:ext>
            </a:extLst>
          </p:cNvPr>
          <p:cNvSpPr>
            <a:spLocks noGrp="1"/>
          </p:cNvSpPr>
          <p:nvPr>
            <p:ph type="ctrTitle"/>
          </p:nvPr>
        </p:nvSpPr>
        <p:spPr/>
        <p:txBody>
          <a:bodyPr/>
          <a:lstStyle/>
          <a:p>
            <a:endParaRPr lang="fr-FR"/>
          </a:p>
        </p:txBody>
      </p:sp>
      <p:sp>
        <p:nvSpPr>
          <p:cNvPr id="6" name="Sous-titre 5">
            <a:extLst>
              <a:ext uri="{FF2B5EF4-FFF2-40B4-BE49-F238E27FC236}">
                <a16:creationId xmlns:a16="http://schemas.microsoft.com/office/drawing/2014/main" id="{E1FA1BC4-7F30-B462-3978-BF4AC4518BA1}"/>
              </a:ext>
            </a:extLst>
          </p:cNvPr>
          <p:cNvSpPr>
            <a:spLocks noGrp="1"/>
          </p:cNvSpPr>
          <p:nvPr>
            <p:ph type="subTitle" idx="1"/>
          </p:nvPr>
        </p:nvSpPr>
        <p:spPr/>
        <p:txBody>
          <a:bodyPr/>
          <a:lstStyle/>
          <a:p>
            <a:endParaRPr lang="fr-FR"/>
          </a:p>
        </p:txBody>
      </p:sp>
      <p:sp>
        <p:nvSpPr>
          <p:cNvPr id="7" name="Espace réservé du contenu 6">
            <a:extLst>
              <a:ext uri="{FF2B5EF4-FFF2-40B4-BE49-F238E27FC236}">
                <a16:creationId xmlns:a16="http://schemas.microsoft.com/office/drawing/2014/main" id="{5ECCA09F-E832-B6D8-919C-24DC1E87456C}"/>
              </a:ext>
            </a:extLst>
          </p:cNvPr>
          <p:cNvSpPr>
            <a:spLocks noGrp="1"/>
          </p:cNvSpPr>
          <p:nvPr>
            <p:ph sz="quarter" idx="10"/>
          </p:nvPr>
        </p:nvSpPr>
        <p:spPr/>
        <p:txBody>
          <a:bodyPr/>
          <a:lstStyle/>
          <a:p>
            <a:endParaRPr lang="fr-FR"/>
          </a:p>
        </p:txBody>
      </p:sp>
    </p:spTree>
    <p:extLst>
      <p:ext uri="{BB962C8B-B14F-4D97-AF65-F5344CB8AC3E}">
        <p14:creationId xmlns:p14="http://schemas.microsoft.com/office/powerpoint/2010/main" val="1242357307"/>
      </p:ext>
    </p:extLst>
  </p:cSld>
  <p:clrMapOvr>
    <a:masterClrMapping/>
  </p:clrMapOvr>
</p:sld>
</file>

<file path=ppt/theme/theme1.xml><?xml version="1.0" encoding="utf-8"?>
<a:theme xmlns:a="http://schemas.openxmlformats.org/drawingml/2006/main" name="Thème Office">
  <a:themeElements>
    <a:clrScheme name="Audencia BS 2023">
      <a:dk1>
        <a:srgbClr val="1F398F"/>
      </a:dk1>
      <a:lt1>
        <a:srgbClr val="FFFFFF"/>
      </a:lt1>
      <a:dk2>
        <a:srgbClr val="1F398F"/>
      </a:dk2>
      <a:lt2>
        <a:srgbClr val="FFFFFF"/>
      </a:lt2>
      <a:accent1>
        <a:srgbClr val="9378B5"/>
      </a:accent1>
      <a:accent2>
        <a:srgbClr val="758BC5"/>
      </a:accent2>
      <a:accent3>
        <a:srgbClr val="BCDCF1"/>
      </a:accent3>
      <a:accent4>
        <a:srgbClr val="85D2FB"/>
      </a:accent4>
      <a:accent5>
        <a:srgbClr val="758BC5"/>
      </a:accent5>
      <a:accent6>
        <a:srgbClr val="9378B5"/>
      </a:accent6>
      <a:hlink>
        <a:srgbClr val="9378B5"/>
      </a:hlink>
      <a:folHlink>
        <a:srgbClr val="758BC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 id="{273C6D82-6008-499B-8041-636859BA9274}" vid="{BBF4AF0D-C3C4-4976-8421-706A0A40D4A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Session 1 Value creation</Template>
  <TotalTime>2260</TotalTime>
  <Words>9272</Words>
  <Application>Microsoft Office PowerPoint</Application>
  <PresentationFormat>Widescreen</PresentationFormat>
  <Paragraphs>1664</Paragraphs>
  <Slides>126</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126</vt:i4>
      </vt:variant>
    </vt:vector>
  </HeadingPairs>
  <TitlesOfParts>
    <vt:vector size="135" baseType="lpstr">
      <vt:lpstr>HelveticaNeueLT Std Med</vt:lpstr>
      <vt:lpstr>Arial</vt:lpstr>
      <vt:lpstr>Arial Black</vt:lpstr>
      <vt:lpstr>Arial Nova</vt:lpstr>
      <vt:lpstr>Arial Nova Cond</vt:lpstr>
      <vt:lpstr>Calibri</vt:lpstr>
      <vt:lpstr>Cambria Math</vt:lpstr>
      <vt:lpstr>Wingdings</vt:lpstr>
      <vt:lpstr>Thème Office</vt:lpstr>
      <vt:lpstr>Sessions 1 and 2: Basic business equation or balance sheet as an equation</vt:lpstr>
      <vt:lpstr>PowerPoint Presentation</vt:lpstr>
      <vt:lpstr>PowerPoint Presentation</vt:lpstr>
      <vt:lpstr>Grade</vt:lpstr>
      <vt:lpstr>Basic business equation or balance sheet as an equation</vt:lpstr>
      <vt:lpstr>Balance sheet (BS) represented as an equation</vt:lpstr>
      <vt:lpstr>Assets at net value = Liabilities + Equity</vt:lpstr>
      <vt:lpstr>Usage (or consumption) = expense (income statement) = reduction in equity (and reduction in assets at net value) Example: depreciation and amortization expense</vt:lpstr>
      <vt:lpstr>Usage (or consumption) = expense (income statement) = reduction in equity (and reduction in assets at net value) Example: depreciation and amortization expense</vt:lpstr>
      <vt:lpstr>Equipment effects on balance sheet</vt:lpstr>
      <vt:lpstr>Equipment effects on balance sheet</vt:lpstr>
      <vt:lpstr>Equipment effects on balance sheet</vt:lpstr>
      <vt:lpstr>Equipment effects on balance sheet</vt:lpstr>
      <vt:lpstr>Basic business equation: all is included in the balance sheet  </vt:lpstr>
      <vt:lpstr>Alibaba</vt:lpstr>
      <vt:lpstr>Alibaba</vt:lpstr>
      <vt:lpstr>Alibaba</vt:lpstr>
      <vt:lpstr>Alibaba</vt:lpstr>
      <vt:lpstr>Alibaba</vt:lpstr>
      <vt:lpstr>Anta Sports</vt:lpstr>
      <vt:lpstr>Anta Sports</vt:lpstr>
      <vt:lpstr>Airbus</vt:lpstr>
      <vt:lpstr>Airbus</vt:lpstr>
      <vt:lpstr>Profit (i.e. change in equity) is not cash flow (i.e. change in assets)</vt:lpstr>
      <vt:lpstr>Example with provision: profit is not cash flow</vt:lpstr>
      <vt:lpstr>Provision for warranty Example: Microsoft</vt:lpstr>
      <vt:lpstr>Under IFRS: IAS 37 Provisions, contingent liabilities and contingent assets </vt:lpstr>
      <vt:lpstr>Income statement (or profit or loss account or P&amp;L): revenue (and other income) - expense</vt:lpstr>
      <vt:lpstr>Income statement (or profit or loss account or P&amp;L): revenue (and other income) - expense</vt:lpstr>
      <vt:lpstr>Impact on balance sheet (or statement of financial position)</vt:lpstr>
      <vt:lpstr>Impact on balance sheet (or statement of financial position)</vt:lpstr>
      <vt:lpstr>Impact on balance sheet (or statement of financial position)</vt:lpstr>
      <vt:lpstr>Profit is not cash flow</vt:lpstr>
      <vt:lpstr>Statement of cash flows and change in balance sheet</vt:lpstr>
      <vt:lpstr>From net income to cash flow</vt:lpstr>
      <vt:lpstr>Example: net income &gt; cash flow</vt:lpstr>
      <vt:lpstr>Example: net income &lt; cash flow</vt:lpstr>
      <vt:lpstr>Change in balance sheet: net income versus cash flow</vt:lpstr>
      <vt:lpstr>Exercise 1</vt:lpstr>
      <vt:lpstr>Exercise 1: answer</vt:lpstr>
      <vt:lpstr>Exercise 1: answer</vt:lpstr>
      <vt:lpstr>Exercise 1: answer</vt:lpstr>
      <vt:lpstr>Exercise 2</vt:lpstr>
      <vt:lpstr>Exercise 2: answer</vt:lpstr>
      <vt:lpstr>Exercise 2: answer</vt:lpstr>
      <vt:lpstr>Exercise 2: answer</vt:lpstr>
      <vt:lpstr>Transactions and impacts on balance sheet: examples</vt:lpstr>
      <vt:lpstr>5 categories directly visible in the balance sheet</vt:lpstr>
      <vt:lpstr>5 categories directly visible in the balance sheet</vt:lpstr>
      <vt:lpstr>What is the effect on the balance sheet of new long-term debt including a short-term portion?</vt:lpstr>
      <vt:lpstr>What is the effect on the balance sheet of new long-term debt including a short-term portion?</vt:lpstr>
      <vt:lpstr>What is the effect on the balance sheet of the repayment of a short-term debt?</vt:lpstr>
      <vt:lpstr>What is the effect on the balance sheet of the repayment of a short-term debt?</vt:lpstr>
      <vt:lpstr>What is the effect on the balance sheet of the repayment of the short-term portion of a long-term debt with annual repayment?</vt:lpstr>
      <vt:lpstr>What is the effect on the balance sheet of the repayment of the short-term portion of a long-term debt with annual repayment?</vt:lpstr>
      <vt:lpstr>What is the effect on the balance sheet of the decision to distribute dividends in the coming months?</vt:lpstr>
      <vt:lpstr>What is the effect on the balance sheet of the decision to distribute dividends in the coming months?</vt:lpstr>
      <vt:lpstr>What is the effect on the balance sheet of the payment of dividends due?</vt:lpstr>
      <vt:lpstr>What is the effect on the balance sheet of the payment of dividends due?</vt:lpstr>
      <vt:lpstr>What is the effect on the balance sheet of the purchase of raw materials on credit?</vt:lpstr>
      <vt:lpstr>What is the effect on the balance sheet of the purchase of raw materials on credit?</vt:lpstr>
      <vt:lpstr>What is the effect on the balance sheet of the purchase of property, plant and equipment (i.e. tangible fixed assets) on credit?</vt:lpstr>
      <vt:lpstr>What is the effect on the balance sheet of the purchase of property, plant and equipment (i.e. tangible fixed assets) on short-term credit?</vt:lpstr>
      <vt:lpstr>What is the effect on the balance sheet of a research and development expenditure capitalized?</vt:lpstr>
      <vt:lpstr>What is the effect on the balance sheet of a research and development expenditure capitalized (during the same period than the spending)?</vt:lpstr>
      <vt:lpstr>What is the effect on the balance sheet of the amortization of an intangible (fixed) asset?</vt:lpstr>
      <vt:lpstr>What is the effect on the balance sheet of the amortization of an intangible (fixed) asset?</vt:lpstr>
      <vt:lpstr>What is the effect on the balance sheet of the depreciation of a tangible (fixed) asset?</vt:lpstr>
      <vt:lpstr>What is the effect on the balance sheet of the depreciation of a tangible (fixed) asset?</vt:lpstr>
      <vt:lpstr>What is the effect on the balance sheet of the depreciation of a tangible (fixed) asset?</vt:lpstr>
      <vt:lpstr>What is the effect on the balance sheet of the recording of interest expense not already paid for a debt?</vt:lpstr>
      <vt:lpstr>What is the effect on the balance sheet of the recording of interest expense not already paid for a debt?</vt:lpstr>
      <vt:lpstr>What is the effect on the balance sheet of the payment of interest already due but not paid?</vt:lpstr>
      <vt:lpstr>What is the effect on the balance sheet of the payment of interest already due not paid?</vt:lpstr>
      <vt:lpstr>What is the effect on the balance sheet of the payment of a quarterly subscription by a customer (used later)?</vt:lpstr>
      <vt:lpstr>What is the effect on the balance sheet of the payment of a quarterly subscription by a customer (used later)?</vt:lpstr>
      <vt:lpstr>What is the effect on the balance sheet of the usage of a quarterly subscription by a customer (already paid)?</vt:lpstr>
      <vt:lpstr>What is the effect on the balance sheet of the usage of a quarterly subscription by a customer (already paid)?</vt:lpstr>
      <vt:lpstr>Revenue recognition</vt:lpstr>
      <vt:lpstr>Revenue recognition</vt:lpstr>
      <vt:lpstr>Revenue recognition and balance sheet</vt:lpstr>
      <vt:lpstr>What is the effect on the balance sheet quarterly subscriptions paid at the beginning and used for one month (Balance sheet as of February 28, 2026)?</vt:lpstr>
      <vt:lpstr>What is the effect on the balance sheet quarterly subscriptions paid at the beginning and used for one month (Balance sheet as of February 28, 2026)?</vt:lpstr>
      <vt:lpstr>What is the effect on the balance sheet quarterly subscriptions paid at the beginning and used for two months (Balance sheet as of March 31, 2026)?</vt:lpstr>
      <vt:lpstr>What is the effect on the balance sheet quarterly subscriptions paid at the beginning and used for two months (Balance sheet as of April 30, 2026)?</vt:lpstr>
      <vt:lpstr>Working capital  (i.e. current assets minus current liabilities)</vt:lpstr>
      <vt:lpstr>Financial analysis: basic analysis</vt:lpstr>
      <vt:lpstr>Financial analysis: basic analysis</vt:lpstr>
      <vt:lpstr>MCQ n°1</vt:lpstr>
      <vt:lpstr>Answer</vt:lpstr>
      <vt:lpstr>Answer</vt:lpstr>
      <vt:lpstr>Balance sheet must be balanced</vt:lpstr>
      <vt:lpstr>Profit = change in equity</vt:lpstr>
      <vt:lpstr>Balance sheet must be balanced</vt:lpstr>
      <vt:lpstr>Financial analysis: basic analysis</vt:lpstr>
      <vt:lpstr>Financial analysis: basic analysis</vt:lpstr>
      <vt:lpstr>Working capital requirement (i.e. current operating assets minus current operating liabilities)</vt:lpstr>
      <vt:lpstr>Financial analysis: basic analysis</vt:lpstr>
      <vt:lpstr>Financial analysis: basic analysis</vt:lpstr>
      <vt:lpstr>Financial analysis: basic analysis</vt:lpstr>
      <vt:lpstr>Financial analysis: example</vt:lpstr>
      <vt:lpstr>MCQ n°2</vt:lpstr>
      <vt:lpstr>MCQ n°2</vt:lpstr>
      <vt:lpstr>MCQ n°2</vt:lpstr>
      <vt:lpstr>MCQ n°2</vt:lpstr>
      <vt:lpstr>MCQ n°2</vt:lpstr>
      <vt:lpstr>Indirect method: operating cash flow calculated from net income </vt:lpstr>
      <vt:lpstr>Indirect method: operating cash flow calculated from net income</vt:lpstr>
      <vt:lpstr>MCQ n°2  Direct method</vt:lpstr>
      <vt:lpstr>Balance sheet categories: operating and nonoperating categories</vt:lpstr>
      <vt:lpstr>Categories in the balance sheet relevant to financial analysis</vt:lpstr>
      <vt:lpstr>Vocabulary</vt:lpstr>
      <vt:lpstr>PowerPoint Presentation</vt:lpstr>
      <vt:lpstr>Working capital = Current assets – Current liabilities</vt:lpstr>
      <vt:lpstr>Working capital requirement  = Current operating assets – current operating liabilities</vt:lpstr>
      <vt:lpstr>Net cash = current nonoperating assets – current debt</vt:lpstr>
      <vt:lpstr>Working capital = Working capital requirement (or operating WC) + Net cash</vt:lpstr>
      <vt:lpstr>Exercise session 2 Income statement or P&amp;L and change in balance sheet</vt:lpstr>
      <vt:lpstr>Exhibit: difference cash flow and profit</vt:lpstr>
      <vt:lpstr>Example 1</vt:lpstr>
      <vt:lpstr>Financial analysis: example</vt:lpstr>
      <vt:lpstr>Example 1</vt:lpstr>
      <vt:lpstr>Example 2</vt:lpstr>
      <vt:lpstr>Financial analysis: example</vt:lpstr>
      <vt:lpstr>Example 2</vt:lpstr>
      <vt:lpstr>PowerPoint Presentation</vt:lpstr>
    </vt:vector>
  </TitlesOfParts>
  <Company>AUDENCIA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MATON Eric</dc:creator>
  <cp:lastModifiedBy>MATON Eric</cp:lastModifiedBy>
  <cp:revision>46</cp:revision>
  <dcterms:created xsi:type="dcterms:W3CDTF">2024-07-31T13:55:45Z</dcterms:created>
  <dcterms:modified xsi:type="dcterms:W3CDTF">2026-03-17T04:04:48Z</dcterms:modified>
</cp:coreProperties>
</file>