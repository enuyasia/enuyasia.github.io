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1"/>
  </p:notesMasterIdLst>
  <p:sldIdLst>
    <p:sldId id="2080" r:id="rId5"/>
    <p:sldId id="2150" r:id="rId6"/>
    <p:sldId id="2151" r:id="rId7"/>
    <p:sldId id="2152" r:id="rId8"/>
    <p:sldId id="1836" r:id="rId9"/>
    <p:sldId id="725" r:id="rId10"/>
    <p:sldId id="726" r:id="rId11"/>
    <p:sldId id="448" r:id="rId12"/>
    <p:sldId id="2049" r:id="rId13"/>
    <p:sldId id="727" r:id="rId14"/>
    <p:sldId id="728" r:id="rId15"/>
    <p:sldId id="729" r:id="rId16"/>
    <p:sldId id="780" r:id="rId17"/>
    <p:sldId id="731" r:id="rId18"/>
    <p:sldId id="732" r:id="rId19"/>
    <p:sldId id="2050" r:id="rId20"/>
    <p:sldId id="1751" r:id="rId21"/>
    <p:sldId id="1753" r:id="rId22"/>
    <p:sldId id="2051" r:id="rId23"/>
    <p:sldId id="1783" r:id="rId24"/>
    <p:sldId id="1785" r:id="rId25"/>
    <p:sldId id="733" r:id="rId26"/>
    <p:sldId id="734" r:id="rId27"/>
    <p:sldId id="735" r:id="rId28"/>
    <p:sldId id="1801" r:id="rId29"/>
    <p:sldId id="1802" r:id="rId30"/>
    <p:sldId id="1810" r:id="rId31"/>
    <p:sldId id="1786" r:id="rId32"/>
    <p:sldId id="2155" r:id="rId33"/>
    <p:sldId id="1767" r:id="rId34"/>
    <p:sldId id="736" r:id="rId35"/>
    <p:sldId id="2153" r:id="rId36"/>
    <p:sldId id="745" r:id="rId37"/>
    <p:sldId id="740" r:id="rId38"/>
    <p:sldId id="741" r:id="rId39"/>
    <p:sldId id="742" r:id="rId40"/>
    <p:sldId id="743" r:id="rId41"/>
    <p:sldId id="744" r:id="rId42"/>
    <p:sldId id="2154" r:id="rId43"/>
    <p:sldId id="746" r:id="rId44"/>
    <p:sldId id="748" r:id="rId45"/>
    <p:sldId id="749" r:id="rId46"/>
    <p:sldId id="750" r:id="rId47"/>
    <p:sldId id="2105" r:id="rId48"/>
    <p:sldId id="1794" r:id="rId49"/>
    <p:sldId id="272" r:id="rId5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78B5"/>
    <a:srgbClr val="22398E"/>
    <a:srgbClr val="BCDCF1"/>
    <a:srgbClr val="758BC5"/>
    <a:srgbClr val="032D5A"/>
    <a:srgbClr val="0B2239"/>
    <a:srgbClr val="49A682"/>
    <a:srgbClr val="AECF9B"/>
    <a:srgbClr val="4AA682"/>
    <a:srgbClr val="0062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34B36E-17FC-4A47-A541-0437A98F7AE9}" v="1" dt="2026-03-25T03:47:21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27"/>
  </p:normalViewPr>
  <p:slideViewPr>
    <p:cSldViewPr snapToGrid="0">
      <p:cViewPr varScale="1">
        <p:scale>
          <a:sx n="66" d="100"/>
          <a:sy n="66" d="100"/>
        </p:scale>
        <p:origin x="564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ON Eric" userId="de02f52b-0ef7-40a3-a4e0-e456b015d87b" providerId="ADAL" clId="{42764042-7A89-4163-BC53-3B04DE20AA88}"/>
    <pc:docChg chg="addSld delSld modSld">
      <pc:chgData name="MATON Eric" userId="de02f52b-0ef7-40a3-a4e0-e456b015d87b" providerId="ADAL" clId="{42764042-7A89-4163-BC53-3B04DE20AA88}" dt="2026-03-25T03:47:21.094" v="5"/>
      <pc:docMkLst>
        <pc:docMk/>
      </pc:docMkLst>
      <pc:sldChg chg="del">
        <pc:chgData name="MATON Eric" userId="de02f52b-0ef7-40a3-a4e0-e456b015d87b" providerId="ADAL" clId="{42764042-7A89-4163-BC53-3B04DE20AA88}" dt="2026-03-25T03:22:27.736" v="0" actId="47"/>
        <pc:sldMkLst>
          <pc:docMk/>
          <pc:sldMk cId="4120453320" sldId="1752"/>
        </pc:sldMkLst>
      </pc:sldChg>
      <pc:sldChg chg="del">
        <pc:chgData name="MATON Eric" userId="de02f52b-0ef7-40a3-a4e0-e456b015d87b" providerId="ADAL" clId="{42764042-7A89-4163-BC53-3B04DE20AA88}" dt="2026-03-25T03:22:29.391" v="1" actId="47"/>
        <pc:sldMkLst>
          <pc:docMk/>
          <pc:sldMk cId="1258276001" sldId="1754"/>
        </pc:sldMkLst>
      </pc:sldChg>
      <pc:sldChg chg="del">
        <pc:chgData name="MATON Eric" userId="de02f52b-0ef7-40a3-a4e0-e456b015d87b" providerId="ADAL" clId="{42764042-7A89-4163-BC53-3B04DE20AA88}" dt="2026-03-25T03:22:36.789" v="2" actId="47"/>
        <pc:sldMkLst>
          <pc:docMk/>
          <pc:sldMk cId="1327343518" sldId="1809"/>
        </pc:sldMkLst>
      </pc:sldChg>
      <pc:sldChg chg="del">
        <pc:chgData name="MATON Eric" userId="de02f52b-0ef7-40a3-a4e0-e456b015d87b" providerId="ADAL" clId="{42764042-7A89-4163-BC53-3B04DE20AA88}" dt="2026-03-25T03:22:39.684" v="4" actId="47"/>
        <pc:sldMkLst>
          <pc:docMk/>
          <pc:sldMk cId="2546965831" sldId="1811"/>
        </pc:sldMkLst>
      </pc:sldChg>
      <pc:sldChg chg="del">
        <pc:chgData name="MATON Eric" userId="de02f52b-0ef7-40a3-a4e0-e456b015d87b" providerId="ADAL" clId="{42764042-7A89-4163-BC53-3B04DE20AA88}" dt="2026-03-25T03:22:38.412" v="3" actId="47"/>
        <pc:sldMkLst>
          <pc:docMk/>
          <pc:sldMk cId="1615583820" sldId="1838"/>
        </pc:sldMkLst>
      </pc:sldChg>
      <pc:sldChg chg="add">
        <pc:chgData name="MATON Eric" userId="de02f52b-0ef7-40a3-a4e0-e456b015d87b" providerId="ADAL" clId="{42764042-7A89-4163-BC53-3B04DE20AA88}" dt="2026-03-25T03:47:21.094" v="5"/>
        <pc:sldMkLst>
          <pc:docMk/>
          <pc:sldMk cId="1792851343" sldId="21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0D27B-2016-174A-B7B7-991520FAB32C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DC170-3469-2B48-8658-1397C6D0E8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5281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200" b="1" noProof="0" dirty="0"/>
              <a:t>(a) détenus en vue de la vente dans le cours normal de l’activité ;</a:t>
            </a:r>
          </a:p>
          <a:p>
            <a:pPr marL="0" indent="0">
              <a:buNone/>
            </a:pPr>
            <a:r>
              <a:rPr lang="fr-FR" sz="1200" b="1" noProof="0" dirty="0"/>
              <a:t>(b) en cours de production pour une telle vente ; ou</a:t>
            </a:r>
          </a:p>
          <a:p>
            <a:pPr marL="0" indent="0">
              <a:buNone/>
            </a:pPr>
            <a:r>
              <a:rPr lang="fr-FR" sz="1200" b="1" noProof="0" dirty="0"/>
              <a:t>(c) sous forme de matières premières ou de fournitures devant être consommées dans le processus de production ou de prestation de services »</a:t>
            </a:r>
            <a:endParaRPr lang="fr-FR" sz="1200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256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Conversion = transformation</a:t>
            </a:r>
          </a:p>
          <a:p>
            <a:r>
              <a:rPr lang="en-GB" dirty="0"/>
              <a:t>Recoverable = </a:t>
            </a:r>
            <a:r>
              <a:rPr lang="en-GB" dirty="0" err="1"/>
              <a:t>récupérable</a:t>
            </a:r>
            <a:endParaRPr lang="en-GB" dirty="0"/>
          </a:p>
          <a:p>
            <a:endParaRPr lang="en-GB" dirty="0"/>
          </a:p>
          <a:p>
            <a:r>
              <a:rPr lang="en-US" sz="1200" b="1" i="1" u="sng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 </a:t>
            </a:r>
            <a:r>
              <a:rPr lang="en-US" sz="1200" b="1" i="1" u="sng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realisable</a:t>
            </a:r>
            <a:r>
              <a:rPr lang="en-US" sz="1200" b="1" i="1" u="sng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value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the estimated selling price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ordinary course of business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less the estimated costs of completion and the estimated costs necessary to make the sale.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958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1204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200" noProof="0" dirty="0"/>
              <a:t>Le coût de transformation des stocks comprennent les </a:t>
            </a:r>
            <a:r>
              <a:rPr lang="fr-FR" sz="1200" b="1" noProof="0" dirty="0"/>
              <a:t>coûts directement liés aux unités produites</a:t>
            </a:r>
            <a:r>
              <a:rPr lang="fr-FR" sz="1200" noProof="0" dirty="0"/>
              <a:t>, tels que la main-d’œuvre directe. Ils comprennent également </a:t>
            </a:r>
            <a:r>
              <a:rPr lang="fr-FR" sz="1200" b="1" noProof="0" dirty="0"/>
              <a:t>l’affectation systématique des frais généraux de production</a:t>
            </a:r>
            <a:r>
              <a:rPr lang="fr-FR" sz="1200" noProof="0" dirty="0"/>
              <a:t> fixes et variables qui sont engagés pour transformer les matières premières en produits finis (…)</a:t>
            </a:r>
          </a:p>
          <a:p>
            <a:pPr marL="0" indent="0">
              <a:buNone/>
            </a:pPr>
            <a:endParaRPr lang="fr-FR" sz="1200" noProof="0" dirty="0"/>
          </a:p>
          <a:p>
            <a:pPr marL="0" indent="0">
              <a:buNone/>
            </a:pPr>
            <a:r>
              <a:rPr lang="fr-FR" sz="1200" noProof="0" dirty="0"/>
              <a:t>L’affectation des frais généraux fixes de production aux coûts de transformation est fondée sur la </a:t>
            </a:r>
            <a:r>
              <a:rPr lang="fr-FR" sz="1200" b="1" noProof="0" dirty="0"/>
              <a:t>capacité normale </a:t>
            </a:r>
            <a:r>
              <a:rPr lang="fr-FR" sz="1200" noProof="0" dirty="0"/>
              <a:t>des installations de production ».</a:t>
            </a:r>
          </a:p>
          <a:p>
            <a:pPr marL="0" indent="0">
              <a:buNone/>
            </a:pPr>
            <a:r>
              <a:rPr lang="fr-FR" sz="1200" noProof="0" dirty="0"/>
              <a:t>=&gt;</a:t>
            </a:r>
            <a:r>
              <a:rPr lang="fr-FR" sz="1200" baseline="0" noProof="0" dirty="0"/>
              <a:t> </a:t>
            </a:r>
            <a:r>
              <a:rPr lang="fr-FR" sz="1200" noProof="0" dirty="0"/>
              <a:t>Imputation rationnelle des charges fixes (coût de sous-activité qui ne peut être imputé au stock)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231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Calculez le coût unitaire de production</a:t>
            </a:r>
          </a:p>
          <a:p>
            <a:endParaRPr lang="fr-FR" dirty="0"/>
          </a:p>
          <a:p>
            <a:r>
              <a:rPr lang="fr-FR" u="sng" dirty="0"/>
              <a:t>How </a:t>
            </a:r>
            <a:r>
              <a:rPr lang="fr-FR" u="sng" dirty="0" err="1"/>
              <a:t>much</a:t>
            </a:r>
            <a:r>
              <a:rPr lang="fr-FR" u="sng" dirty="0"/>
              <a:t> </a:t>
            </a:r>
            <a:r>
              <a:rPr lang="fr-FR" u="sng" dirty="0" err="1"/>
              <a:t>does</a:t>
            </a:r>
            <a:r>
              <a:rPr lang="fr-FR" u="sng" dirty="0"/>
              <a:t> </a:t>
            </a:r>
            <a:r>
              <a:rPr lang="fr-FR" u="sng" dirty="0" err="1"/>
              <a:t>it</a:t>
            </a:r>
            <a:r>
              <a:rPr lang="fr-FR" u="sng" dirty="0"/>
              <a:t> </a:t>
            </a:r>
            <a:r>
              <a:rPr lang="fr-FR" u="sng" dirty="0" err="1"/>
              <a:t>cost</a:t>
            </a:r>
            <a:r>
              <a:rPr lang="fr-FR" u="sng" dirty="0"/>
              <a:t> to </a:t>
            </a:r>
            <a:r>
              <a:rPr lang="fr-FR" u="sng" dirty="0" err="1"/>
              <a:t>produce</a:t>
            </a:r>
            <a:r>
              <a:rPr lang="fr-FR" u="sng" dirty="0"/>
              <a:t> in </a:t>
            </a:r>
            <a:r>
              <a:rPr lang="fr-FR" u="sng" dirty="0" err="1"/>
              <a:t>December</a:t>
            </a:r>
            <a:r>
              <a:rPr lang="fr-FR" u="sng" dirty="0"/>
              <a:t>?</a:t>
            </a:r>
            <a:endParaRPr lang="fr-FR" u="none" dirty="0"/>
          </a:p>
          <a:p>
            <a:r>
              <a:rPr lang="fr-FR" u="none" dirty="0"/>
              <a:t>400 000 + 5€ x 50</a:t>
            </a:r>
            <a:r>
              <a:rPr lang="fr-FR" u="none" baseline="0" dirty="0"/>
              <a:t> 000 = 650 000</a:t>
            </a:r>
          </a:p>
          <a:p>
            <a:endParaRPr lang="fr-FR" u="none" baseline="0" dirty="0"/>
          </a:p>
          <a:p>
            <a:r>
              <a:rPr lang="fr-FR" u="sng" baseline="0" dirty="0"/>
              <a:t>Value of inventories at </a:t>
            </a:r>
            <a:r>
              <a:rPr lang="fr-FR" u="sng" baseline="0" dirty="0" err="1"/>
              <a:t>December</a:t>
            </a:r>
            <a:r>
              <a:rPr lang="fr-FR" u="sng" baseline="0" dirty="0"/>
              <a:t> 31, 19</a:t>
            </a:r>
          </a:p>
          <a:p>
            <a:r>
              <a:rPr lang="fr-FR" u="none" dirty="0"/>
              <a:t>30 000 x 9€ = 270 000</a:t>
            </a:r>
          </a:p>
          <a:p>
            <a:endParaRPr lang="fr-FR" u="none" dirty="0"/>
          </a:p>
          <a:p>
            <a:endParaRPr lang="fr-FR" u="none" dirty="0"/>
          </a:p>
          <a:p>
            <a:r>
              <a:rPr lang="fr-FR" u="none" dirty="0"/>
              <a:t>		Débit		Crédit</a:t>
            </a:r>
          </a:p>
          <a:p>
            <a:endParaRPr lang="fr-FR" u="none" dirty="0"/>
          </a:p>
          <a:p>
            <a:r>
              <a:rPr lang="fr-FR" u="none" dirty="0"/>
              <a:t>#6XXX		650 000		</a:t>
            </a:r>
          </a:p>
          <a:p>
            <a:r>
              <a:rPr lang="fr-FR" u="none" dirty="0"/>
              <a:t>Bank				650 000</a:t>
            </a:r>
          </a:p>
          <a:p>
            <a:endParaRPr lang="fr-FR" u="none" dirty="0"/>
          </a:p>
          <a:p>
            <a:r>
              <a:rPr lang="fr-FR" u="none" dirty="0"/>
              <a:t>#2xxx		270 000</a:t>
            </a:r>
          </a:p>
          <a:p>
            <a:r>
              <a:rPr lang="fr-FR" u="none" dirty="0"/>
              <a:t>#603				270 000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3602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Cost of under-activity is not taken into account </a:t>
            </a:r>
            <a:r>
              <a:rPr lang="en-GB" baseline="0" noProof="0" dirty="0"/>
              <a:t> in the cost of inventories but must be taken into account in the amount of production cost recognised in the P&amp;L.</a:t>
            </a:r>
          </a:p>
          <a:p>
            <a:endParaRPr lang="en-GB" baseline="0" noProof="0" dirty="0"/>
          </a:p>
          <a:p>
            <a:r>
              <a:rPr lang="en-GB" baseline="0" noProof="0" dirty="0"/>
              <a:t>1- The value of inventories manufactured in December 2019: you estimate this value according the unit production cost in normal activity. You do not take into account the under-activity</a:t>
            </a:r>
          </a:p>
          <a:p>
            <a:endParaRPr lang="en-GB" baseline="0" noProof="0" dirty="0"/>
          </a:p>
          <a:p>
            <a:endParaRPr lang="en-GB" baseline="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noProof="0" dirty="0" err="1"/>
              <a:t>Dans</a:t>
            </a:r>
            <a:r>
              <a:rPr lang="en-GB" baseline="0" noProof="0" dirty="0"/>
              <a:t> le P&amp;L final, on </a:t>
            </a:r>
            <a:r>
              <a:rPr lang="en-GB" baseline="0" noProof="0" dirty="0" err="1"/>
              <a:t>comptabilise</a:t>
            </a:r>
            <a:r>
              <a:rPr lang="en-GB" baseline="0" noProof="0" dirty="0"/>
              <a:t> la </a:t>
            </a:r>
            <a:r>
              <a:rPr lang="en-GB" baseline="0" noProof="0" dirty="0" err="1"/>
              <a:t>valeur</a:t>
            </a:r>
            <a:r>
              <a:rPr lang="en-GB" baseline="0" noProof="0" dirty="0"/>
              <a:t> des stocks au 31,12. Si on </a:t>
            </a:r>
            <a:r>
              <a:rPr lang="en-GB" baseline="0" noProof="0" dirty="0" err="1"/>
              <a:t>évalue</a:t>
            </a:r>
            <a:r>
              <a:rPr lang="en-GB" baseline="0" noProof="0" dirty="0"/>
              <a:t> </a:t>
            </a:r>
            <a:r>
              <a:rPr lang="en-GB" baseline="0" noProof="0" dirty="0" err="1"/>
              <a:t>ces</a:t>
            </a:r>
            <a:r>
              <a:rPr lang="en-GB" baseline="0" noProof="0" dirty="0"/>
              <a:t> stocks à 13€, on aura un impact </a:t>
            </a:r>
            <a:r>
              <a:rPr lang="en-GB" baseline="0" noProof="0" dirty="0" err="1"/>
              <a:t>positif</a:t>
            </a:r>
            <a:r>
              <a:rPr lang="en-GB" baseline="0" noProof="0" dirty="0"/>
              <a:t> </a:t>
            </a:r>
            <a:r>
              <a:rPr lang="en-GB" baseline="0" noProof="0" dirty="0" err="1"/>
              <a:t>dans</a:t>
            </a:r>
            <a:r>
              <a:rPr lang="en-GB" baseline="0" noProof="0" dirty="0"/>
              <a:t> le P&amp;L </a:t>
            </a:r>
            <a:r>
              <a:rPr lang="en-GB" baseline="0" noProof="0" dirty="0" err="1"/>
              <a:t>en</a:t>
            </a:r>
            <a:r>
              <a:rPr lang="en-GB" baseline="0" noProof="0" dirty="0"/>
              <a:t> </a:t>
            </a:r>
            <a:r>
              <a:rPr lang="en-GB" baseline="0" noProof="0" dirty="0" err="1"/>
              <a:t>contrepartie</a:t>
            </a:r>
            <a:r>
              <a:rPr lang="en-GB" baseline="0" noProof="0" dirty="0"/>
              <a:t> (grâce au </a:t>
            </a:r>
            <a:r>
              <a:rPr lang="en-GB" baseline="0" noProof="0" dirty="0" err="1"/>
              <a:t>crédit</a:t>
            </a:r>
            <a:r>
              <a:rPr lang="en-GB" baseline="0" noProof="0" dirty="0"/>
              <a:t> de la variation de stock) qui sera </a:t>
            </a:r>
            <a:r>
              <a:rPr lang="en-GB" baseline="0" noProof="0" dirty="0" err="1"/>
              <a:t>supérieur</a:t>
            </a:r>
            <a:r>
              <a:rPr lang="en-GB" baseline="0" noProof="0" dirty="0"/>
              <a:t>.</a:t>
            </a:r>
          </a:p>
          <a:p>
            <a:endParaRPr lang="en-GB" baseline="0" noProof="0" dirty="0"/>
          </a:p>
          <a:p>
            <a:endParaRPr lang="en-GB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977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noProof="0" dirty="0"/>
              <a:t>Les autres coûts ne sont inclus dans le coût des stocks que dans la mesure où ils sont engagés pour amener les stocks à l’endroit et dans l’état où ils se trouvent. Par exemple, il peut être approprié d’inclure dans le coût des stocks </a:t>
            </a:r>
            <a:r>
              <a:rPr lang="fr-FR" sz="1200" b="1" noProof="0" dirty="0"/>
              <a:t>des frais généraux autres que ceux de production </a:t>
            </a:r>
            <a:r>
              <a:rPr lang="fr-FR" sz="1200" noProof="0" dirty="0"/>
              <a:t>ou les coûts de conception de produits à l’usage de clients spécifiques </a:t>
            </a:r>
            <a:r>
              <a:rPr lang="fr-FR" sz="1100" noProof="0" dirty="0"/>
              <a:t>».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100" noProof="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/>
              <a:t>=&gt; </a:t>
            </a:r>
            <a:r>
              <a:rPr lang="en-GB" sz="1100" dirty="0" err="1"/>
              <a:t>Possibilité</a:t>
            </a:r>
            <a:r>
              <a:rPr lang="en-GB" sz="1100" dirty="0"/>
              <a:t> </a:t>
            </a:r>
            <a:r>
              <a:rPr lang="en-GB" sz="1100" dirty="0" err="1"/>
              <a:t>d’inclure</a:t>
            </a:r>
            <a:r>
              <a:rPr lang="en-GB" sz="1100" dirty="0"/>
              <a:t> des </a:t>
            </a:r>
            <a:r>
              <a:rPr lang="en-GB" sz="1100" dirty="0" err="1"/>
              <a:t>coûts</a:t>
            </a:r>
            <a:r>
              <a:rPr lang="en-GB" sz="1100" dirty="0"/>
              <a:t> hors production (</a:t>
            </a:r>
            <a:r>
              <a:rPr lang="en-GB" sz="1100" dirty="0" err="1"/>
              <a:t>voire</a:t>
            </a:r>
            <a:r>
              <a:rPr lang="en-GB" sz="1100" dirty="0"/>
              <a:t> </a:t>
            </a:r>
            <a:r>
              <a:rPr lang="en-GB" sz="1100" dirty="0" err="1"/>
              <a:t>aussi</a:t>
            </a:r>
            <a:r>
              <a:rPr lang="en-GB" sz="1100" dirty="0"/>
              <a:t> des </a:t>
            </a:r>
            <a:r>
              <a:rPr lang="en-GB" sz="1100" dirty="0" err="1"/>
              <a:t>coûts</a:t>
            </a:r>
            <a:r>
              <a:rPr lang="en-GB" sz="1100" dirty="0"/>
              <a:t> financiers </a:t>
            </a:r>
            <a:r>
              <a:rPr lang="en-GB" sz="1100" dirty="0" err="1"/>
              <a:t>si</a:t>
            </a:r>
            <a:r>
              <a:rPr lang="en-GB" sz="1100" dirty="0"/>
              <a:t> </a:t>
            </a:r>
            <a:r>
              <a:rPr lang="en-GB" sz="1100" dirty="0" err="1"/>
              <a:t>c’est</a:t>
            </a:r>
            <a:r>
              <a:rPr lang="en-GB" sz="1100" dirty="0"/>
              <a:t> un « </a:t>
            </a:r>
            <a:r>
              <a:rPr lang="en-GB" sz="1100" dirty="0" err="1"/>
              <a:t>actif</a:t>
            </a:r>
            <a:r>
              <a:rPr lang="en-GB" sz="1100" dirty="0"/>
              <a:t> </a:t>
            </a:r>
            <a:r>
              <a:rPr lang="en-GB" sz="1100" dirty="0" err="1"/>
              <a:t>éligible</a:t>
            </a:r>
            <a:r>
              <a:rPr lang="en-GB" sz="1100" dirty="0"/>
              <a:t> » au </a:t>
            </a:r>
            <a:r>
              <a:rPr lang="en-GB" sz="1100" dirty="0" err="1"/>
              <a:t>sens</a:t>
            </a:r>
            <a:r>
              <a:rPr lang="en-GB" sz="1100" dirty="0"/>
              <a:t> de la </a:t>
            </a:r>
            <a:r>
              <a:rPr lang="en-GB" sz="1100" dirty="0" err="1"/>
              <a:t>norme</a:t>
            </a:r>
            <a:r>
              <a:rPr lang="en-GB" sz="1100" dirty="0"/>
              <a:t> IAS 23)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100" noProof="0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2109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200" dirty="0"/>
              <a:t>« Exemples de coûts exclus du coût des stocks et comptabilisés en charges de la période au cours de laquelle ils sont engagés :</a:t>
            </a:r>
          </a:p>
          <a:p>
            <a:pPr marL="0" indent="0">
              <a:buNone/>
            </a:pPr>
            <a:r>
              <a:rPr lang="fr-FR" sz="1200" dirty="0"/>
              <a:t>(a) montants anormaux de déchets de fabrication, de main-d’œuvre ou d’autres coûts de production ;</a:t>
            </a:r>
          </a:p>
          <a:p>
            <a:pPr marL="0" indent="0">
              <a:buNone/>
            </a:pPr>
            <a:r>
              <a:rPr lang="fr-FR" sz="1200" dirty="0"/>
              <a:t>(b) coûts de stockage, à moins que ces coûts soient nécessaires au processus de production préalablement à une nouvelle étape de la production ;</a:t>
            </a:r>
          </a:p>
          <a:p>
            <a:pPr marL="0" indent="0">
              <a:buNone/>
            </a:pPr>
            <a:r>
              <a:rPr lang="fr-FR" sz="1200" dirty="0"/>
              <a:t>(c) frais généraux administratifs qui ne contribuent pas à amener les stocks à l’endroit et dans l’état où ils se trouvent ; et</a:t>
            </a:r>
          </a:p>
          <a:p>
            <a:pPr marL="0" indent="0">
              <a:buNone/>
            </a:pPr>
            <a:r>
              <a:rPr lang="fr-FR" sz="1200" dirty="0"/>
              <a:t>(d) frais de commercialisation. »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0268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1) </a:t>
            </a:r>
            <a:r>
              <a:rPr lang="fr-FR" dirty="0" err="1"/>
              <a:t>Quantity</a:t>
            </a:r>
            <a:r>
              <a:rPr lang="fr-FR" dirty="0"/>
              <a:t> of </a:t>
            </a:r>
            <a:r>
              <a:rPr lang="fr-FR" dirty="0" err="1"/>
              <a:t>Opening</a:t>
            </a:r>
            <a:r>
              <a:rPr lang="fr-FR" dirty="0"/>
              <a:t> </a:t>
            </a:r>
            <a:r>
              <a:rPr lang="fr-FR" dirty="0" err="1"/>
              <a:t>inventory</a:t>
            </a:r>
            <a:r>
              <a:rPr lang="fr-FR" dirty="0"/>
              <a:t> : 30,000</a:t>
            </a:r>
          </a:p>
          <a:p>
            <a:r>
              <a:rPr lang="fr-FR" dirty="0"/>
              <a:t>2) </a:t>
            </a:r>
            <a:r>
              <a:rPr lang="fr-FR" dirty="0" err="1"/>
              <a:t>Quantity</a:t>
            </a:r>
            <a:r>
              <a:rPr lang="fr-FR" dirty="0"/>
              <a:t> of </a:t>
            </a:r>
            <a:r>
              <a:rPr lang="fr-FR" dirty="0" err="1"/>
              <a:t>Purchases</a:t>
            </a:r>
            <a:r>
              <a:rPr lang="fr-FR" dirty="0"/>
              <a:t> : 20,000</a:t>
            </a:r>
          </a:p>
          <a:p>
            <a:r>
              <a:rPr lang="fr-FR" dirty="0"/>
              <a:t>3) </a:t>
            </a:r>
            <a:r>
              <a:rPr lang="fr-FR" dirty="0" err="1"/>
              <a:t>Quantity</a:t>
            </a:r>
            <a:r>
              <a:rPr lang="fr-FR" dirty="0"/>
              <a:t> of </a:t>
            </a:r>
            <a:r>
              <a:rPr lang="fr-FR" dirty="0" err="1"/>
              <a:t>ending</a:t>
            </a:r>
            <a:r>
              <a:rPr lang="fr-FR" dirty="0"/>
              <a:t> Inventory : 10,000</a:t>
            </a:r>
          </a:p>
          <a:p>
            <a:r>
              <a:rPr lang="fr-FR" dirty="0"/>
              <a:t>4) By </a:t>
            </a:r>
            <a:r>
              <a:rPr lang="fr-FR" dirty="0" err="1"/>
              <a:t>deduction</a:t>
            </a:r>
            <a:r>
              <a:rPr lang="fr-FR" dirty="0"/>
              <a:t>, the </a:t>
            </a:r>
            <a:r>
              <a:rPr lang="fr-FR" dirty="0" err="1"/>
              <a:t>quantity</a:t>
            </a:r>
            <a:r>
              <a:rPr lang="fr-FR" dirty="0"/>
              <a:t> of </a:t>
            </a:r>
            <a:r>
              <a:rPr lang="fr-FR" baseline="0" dirty="0"/>
              <a:t>COGS </a:t>
            </a:r>
            <a:r>
              <a:rPr lang="fr-FR" baseline="0" dirty="0" err="1"/>
              <a:t>is</a:t>
            </a:r>
            <a:r>
              <a:rPr lang="fr-FR" baseline="0" dirty="0"/>
              <a:t>: 30 000 + 20 000 – 10 000 = </a:t>
            </a:r>
            <a:r>
              <a:rPr lang="fr-FR" b="1" baseline="0" dirty="0"/>
              <a:t>40 000 </a:t>
            </a:r>
          </a:p>
          <a:p>
            <a:endParaRPr lang="fr-FR" baseline="0" dirty="0"/>
          </a:p>
          <a:p>
            <a:r>
              <a:rPr lang="fr-FR" baseline="0" dirty="0"/>
              <a:t>5) </a:t>
            </a:r>
            <a:r>
              <a:rPr lang="fr-FR" baseline="0" dirty="0" err="1"/>
              <a:t>What</a:t>
            </a:r>
            <a:r>
              <a:rPr lang="fr-FR" baseline="0" dirty="0"/>
              <a:t> </a:t>
            </a:r>
            <a:r>
              <a:rPr lang="fr-FR" baseline="0" dirty="0" err="1"/>
              <a:t>is</a:t>
            </a:r>
            <a:r>
              <a:rPr lang="fr-FR" baseline="0" dirty="0"/>
              <a:t> the unit </a:t>
            </a:r>
            <a:r>
              <a:rPr lang="fr-FR" baseline="0" dirty="0" err="1"/>
              <a:t>cost</a:t>
            </a:r>
            <a:r>
              <a:rPr lang="fr-FR" baseline="0" dirty="0"/>
              <a:t> of </a:t>
            </a:r>
            <a:r>
              <a:rPr lang="fr-FR" baseline="0" dirty="0" err="1"/>
              <a:t>opening</a:t>
            </a:r>
            <a:r>
              <a:rPr lang="fr-FR" baseline="0" dirty="0"/>
              <a:t> </a:t>
            </a:r>
            <a:r>
              <a:rPr lang="fr-FR" baseline="0" dirty="0" err="1"/>
              <a:t>inventory</a:t>
            </a:r>
            <a:r>
              <a:rPr lang="fr-FR" baseline="0" dirty="0"/>
              <a:t> ? $5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6) </a:t>
            </a:r>
            <a:r>
              <a:rPr lang="fr-FR" baseline="0" dirty="0" err="1"/>
              <a:t>What</a:t>
            </a:r>
            <a:r>
              <a:rPr lang="fr-FR" baseline="0" dirty="0"/>
              <a:t> </a:t>
            </a:r>
            <a:r>
              <a:rPr lang="fr-FR" baseline="0" dirty="0" err="1"/>
              <a:t>is</a:t>
            </a:r>
            <a:r>
              <a:rPr lang="fr-FR" baseline="0" dirty="0"/>
              <a:t> the unit </a:t>
            </a:r>
            <a:r>
              <a:rPr lang="fr-FR" baseline="0" dirty="0" err="1"/>
              <a:t>cost</a:t>
            </a:r>
            <a:r>
              <a:rPr lang="fr-FR" baseline="0" dirty="0"/>
              <a:t> of </a:t>
            </a:r>
            <a:r>
              <a:rPr lang="fr-FR" baseline="0" dirty="0" err="1"/>
              <a:t>purchases</a:t>
            </a:r>
            <a:r>
              <a:rPr lang="fr-FR" baseline="0" dirty="0"/>
              <a:t> ? $8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7) </a:t>
            </a:r>
            <a:r>
              <a:rPr lang="fr-FR" baseline="0" dirty="0" err="1"/>
              <a:t>What</a:t>
            </a:r>
            <a:r>
              <a:rPr lang="fr-FR" baseline="0" dirty="0"/>
              <a:t> </a:t>
            </a:r>
            <a:r>
              <a:rPr lang="fr-FR" baseline="0" dirty="0" err="1"/>
              <a:t>is</a:t>
            </a:r>
            <a:r>
              <a:rPr lang="fr-FR" baseline="0" dirty="0"/>
              <a:t> the total </a:t>
            </a:r>
            <a:r>
              <a:rPr lang="fr-FR" baseline="0" dirty="0" err="1"/>
              <a:t>amount</a:t>
            </a:r>
            <a:r>
              <a:rPr lang="fr-FR" baseline="0" dirty="0"/>
              <a:t> of the </a:t>
            </a:r>
            <a:r>
              <a:rPr lang="fr-FR" baseline="0" dirty="0" err="1"/>
              <a:t>available</a:t>
            </a:r>
            <a:r>
              <a:rPr lang="fr-FR" baseline="0" dirty="0"/>
              <a:t> </a:t>
            </a:r>
            <a:r>
              <a:rPr lang="fr-FR" baseline="0" dirty="0" err="1"/>
              <a:t>inventory</a:t>
            </a:r>
            <a:r>
              <a:rPr lang="fr-FR" baseline="0" dirty="0"/>
              <a:t>: 30 000 x 5$ + 20 000 x 8$ = 310 000 $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aseline="0" dirty="0"/>
          </a:p>
          <a:p>
            <a:r>
              <a:rPr lang="fr-FR" baseline="0" dirty="0"/>
              <a:t>8) </a:t>
            </a:r>
            <a:r>
              <a:rPr lang="fr-FR" baseline="0" dirty="0" err="1"/>
              <a:t>What</a:t>
            </a:r>
            <a:r>
              <a:rPr lang="fr-FR" baseline="0" dirty="0"/>
              <a:t> </a:t>
            </a:r>
            <a:r>
              <a:rPr lang="fr-FR" baseline="0" dirty="0" err="1"/>
              <a:t>is</a:t>
            </a:r>
            <a:r>
              <a:rPr lang="fr-FR" baseline="0" dirty="0"/>
              <a:t> the unit </a:t>
            </a:r>
            <a:r>
              <a:rPr lang="fr-FR" baseline="0" dirty="0" err="1"/>
              <a:t>cost</a:t>
            </a:r>
            <a:r>
              <a:rPr lang="fr-FR" baseline="0" dirty="0"/>
              <a:t> of COGS and </a:t>
            </a:r>
            <a:r>
              <a:rPr lang="fr-FR" baseline="0" dirty="0" err="1"/>
              <a:t>Ending</a:t>
            </a:r>
            <a:r>
              <a:rPr lang="fr-FR" baseline="0" dirty="0"/>
              <a:t> Inventory =&gt; </a:t>
            </a:r>
            <a:r>
              <a:rPr lang="fr-FR" baseline="0" dirty="0" err="1"/>
              <a:t>depending</a:t>
            </a:r>
            <a:r>
              <a:rPr lang="fr-FR" baseline="0" dirty="0"/>
              <a:t> on the </a:t>
            </a:r>
            <a:r>
              <a:rPr lang="fr-FR" baseline="0" dirty="0" err="1"/>
              <a:t>chosen</a:t>
            </a:r>
            <a:r>
              <a:rPr lang="fr-FR" baseline="0" dirty="0"/>
              <a:t> </a:t>
            </a:r>
            <a:r>
              <a:rPr lang="fr-FR" baseline="0" dirty="0" err="1"/>
              <a:t>method</a:t>
            </a:r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928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u="sng" noProof="0" dirty="0"/>
              <a:t>FIFO</a:t>
            </a:r>
            <a:r>
              <a:rPr lang="en-GB" noProof="0" dirty="0"/>
              <a:t> : </a:t>
            </a:r>
            <a:r>
              <a:rPr lang="en-GB" baseline="0" noProof="0" dirty="0"/>
              <a:t>The merchandise entered first in the inventory, is the first out</a:t>
            </a:r>
          </a:p>
          <a:p>
            <a:r>
              <a:rPr lang="en-GB" baseline="0" noProof="0" dirty="0"/>
              <a:t>	- COGS: 30 000 x 5$ + 10 000 x 8$ = 230 000$</a:t>
            </a:r>
          </a:p>
          <a:p>
            <a:r>
              <a:rPr lang="en-GB" baseline="0" noProof="0" dirty="0"/>
              <a:t>	- Ending inventory: it remains in the inventory 10,000 products that come from purchases made during the year =&gt; 10,000 x 8$ = 80,000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noProof="0" dirty="0"/>
              <a:t>	- Available inventory: same amount as slide before : 30,000 x 5$ + 20,000 x 8$ = $310,000</a:t>
            </a:r>
          </a:p>
          <a:p>
            <a:endParaRPr lang="en-GB" baseline="0" noProof="0" dirty="0"/>
          </a:p>
          <a:p>
            <a:endParaRPr lang="en-GB" baseline="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u="sng" baseline="0" noProof="0" dirty="0"/>
              <a:t>LIFO</a:t>
            </a:r>
            <a:r>
              <a:rPr lang="en-GB" baseline="0" noProof="0" dirty="0"/>
              <a:t> : The merchandise entered last in the inventory, is the first out</a:t>
            </a:r>
          </a:p>
          <a:p>
            <a:r>
              <a:rPr lang="en-GB" baseline="0" noProof="0" dirty="0"/>
              <a:t>	- COGS: 20 000 x 8$ + 20 000 x 5$ = 260 000$</a:t>
            </a:r>
          </a:p>
          <a:p>
            <a:r>
              <a:rPr lang="en-GB" baseline="0" noProof="0" dirty="0"/>
              <a:t>	- Ending inventory: it remains in the inventory 10,000 products that come from opening inventory =&gt; 10,000 x 5$ = 50,000</a:t>
            </a:r>
          </a:p>
          <a:p>
            <a:r>
              <a:rPr lang="en-GB" baseline="0" noProof="0" dirty="0"/>
              <a:t>	- Available inventory: same amount as slide before : 30,000 x 5$ + 20,000 x 8$ = $310,000</a:t>
            </a:r>
          </a:p>
          <a:p>
            <a:r>
              <a:rPr lang="en-GB" baseline="0" noProof="0" dirty="0"/>
              <a:t>=&gt; LIFO is prohibited under IFRS because </a:t>
            </a:r>
            <a:r>
              <a:rPr lang="en-US" dirty="0"/>
              <a:t>LIFO cause </a:t>
            </a:r>
            <a:r>
              <a:rPr lang="en-US" b="1" dirty="0"/>
              <a:t>reduction in tax burden</a:t>
            </a:r>
            <a:r>
              <a:rPr lang="en-US" dirty="0"/>
              <a:t> under </a:t>
            </a:r>
            <a:r>
              <a:rPr lang="en-US" u="sng" dirty="0">
                <a:effectLst/>
              </a:rPr>
              <a:t>inflationary economies i.e. in the times of rising prices</a:t>
            </a:r>
            <a:r>
              <a:rPr lang="en-US" u="none" dirty="0">
                <a:effectLst/>
              </a:rPr>
              <a:t>. LIFO is permitted under the US GAAP</a:t>
            </a:r>
            <a:endParaRPr lang="en-GB" baseline="0" noProof="0" dirty="0"/>
          </a:p>
          <a:p>
            <a:endParaRPr lang="en-GB" baseline="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u="sng" baseline="0" noProof="0" dirty="0"/>
              <a:t>Average cost</a:t>
            </a:r>
            <a:r>
              <a:rPr lang="en-GB" baseline="0" noProof="0" dirty="0"/>
              <a:t> : you calculate the average cost of the merchandise that are in the inventory before leaving the stock of inventories</a:t>
            </a:r>
          </a:p>
          <a:p>
            <a:r>
              <a:rPr lang="en-GB" baseline="0" noProof="0" dirty="0"/>
              <a:t>	- COGS: </a:t>
            </a:r>
            <a:r>
              <a:rPr lang="en-GB" u="sng" baseline="0" noProof="0" dirty="0"/>
              <a:t>(30 000 x 5$ + 20 000 x 8$)</a:t>
            </a:r>
            <a:r>
              <a:rPr lang="en-GB" u="none" baseline="0" noProof="0" dirty="0"/>
              <a:t> = 6,2$ =&gt; 6,2$ x 40 000 = 248 000 $</a:t>
            </a:r>
          </a:p>
          <a:p>
            <a:r>
              <a:rPr lang="en-GB" u="none" baseline="0" noProof="0" dirty="0"/>
              <a:t>		50 000</a:t>
            </a:r>
          </a:p>
          <a:p>
            <a:r>
              <a:rPr lang="en-GB" baseline="0" noProof="0" dirty="0"/>
              <a:t>	- Ending inventory: it remains in the inventory 10,000 products measured according the COGS=&gt; 10,000 x 6,2$ = 62,000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noProof="0" dirty="0"/>
              <a:t>	- Available inventory: same amount as slide before : 30,000 x 5$ + 20,000 x 8$ = $310,000</a:t>
            </a:r>
          </a:p>
          <a:p>
            <a:endParaRPr lang="en-GB" baseline="0" noProof="0" dirty="0"/>
          </a:p>
          <a:p>
            <a:endParaRPr lang="en-GB" baseline="0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5793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dirty="0"/>
              <a:t>We can (see we must) impair the inventories when it</a:t>
            </a:r>
            <a:r>
              <a:rPr lang="en-US" sz="1000" baseline="0" dirty="0"/>
              <a:t> becomes probable that their estimated selling price will be lower than their costs </a:t>
            </a:r>
            <a:endParaRPr lang="en-US" sz="1000" dirty="0"/>
          </a:p>
          <a:p>
            <a:endParaRPr lang="fr-FR" sz="1000" baseline="0" dirty="0"/>
          </a:p>
          <a:p>
            <a:pPr marL="0" indent="0" algn="just">
              <a:buNone/>
            </a:pPr>
            <a:r>
              <a:rPr lang="en-GB" sz="1000" i="1" dirty="0"/>
              <a:t>“</a:t>
            </a:r>
            <a:r>
              <a:rPr lang="en-GB" sz="1000" b="1" i="1" dirty="0"/>
              <a:t>Net realisable value </a:t>
            </a:r>
            <a:r>
              <a:rPr lang="en-GB" sz="1000" dirty="0"/>
              <a:t>is the </a:t>
            </a:r>
            <a:r>
              <a:rPr lang="en-GB" sz="1000" u="sng" dirty="0"/>
              <a:t>estimated selling price</a:t>
            </a:r>
            <a:r>
              <a:rPr lang="en-GB" sz="1000" dirty="0"/>
              <a:t> in the ordinary course of business </a:t>
            </a:r>
            <a:r>
              <a:rPr lang="en-GB" sz="1000" u="sng" dirty="0"/>
              <a:t>less the estimated costs of completion</a:t>
            </a:r>
            <a:r>
              <a:rPr lang="en-GB" sz="1000" dirty="0"/>
              <a:t> and the estimated </a:t>
            </a:r>
            <a:r>
              <a:rPr lang="en-GB" sz="1000" u="sng" dirty="0"/>
              <a:t>costs necessary to make the sale</a:t>
            </a:r>
            <a:r>
              <a:rPr lang="en-GB" sz="1000" dirty="0"/>
              <a:t>”.</a:t>
            </a:r>
          </a:p>
          <a:p>
            <a:pPr marL="0" indent="0">
              <a:buNone/>
            </a:pPr>
            <a:endParaRPr lang="en-GB" sz="1000" dirty="0"/>
          </a:p>
          <a:p>
            <a:pPr marL="0" indent="0" algn="just">
              <a:buNone/>
            </a:pPr>
            <a:r>
              <a:rPr lang="en-GB" sz="1000" b="1" dirty="0"/>
              <a:t>“</a:t>
            </a:r>
            <a:r>
              <a:rPr lang="en-GB" sz="1000" dirty="0"/>
              <a:t>Inventories shall be measured at </a:t>
            </a:r>
            <a:r>
              <a:rPr lang="en-GB" sz="1000" b="1" dirty="0"/>
              <a:t>the lower of cost and net realizable value ».</a:t>
            </a:r>
          </a:p>
          <a:p>
            <a:pPr marL="0" indent="0" algn="just">
              <a:buNone/>
            </a:pPr>
            <a:r>
              <a:rPr lang="en-GB" sz="1000" dirty="0"/>
              <a:t>	Recognition of impairment if stock value &gt; Net realisable value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550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28A3D-D15E-AF5F-1DBC-26678BB4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B1B542-9024-3CB8-2C47-706A945EA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576BFBF-BBF4-9A10-76D1-826BDDE8F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dirty="0"/>
              <a:t>We can (see we must) impair the inventories when it</a:t>
            </a:r>
            <a:r>
              <a:rPr lang="en-US" sz="1000" baseline="0" dirty="0"/>
              <a:t> becomes probable that their estimated selling price will be lower than their costs </a:t>
            </a:r>
            <a:endParaRPr lang="en-US" sz="1000" dirty="0"/>
          </a:p>
          <a:p>
            <a:endParaRPr lang="fr-FR" sz="1000" baseline="0" dirty="0"/>
          </a:p>
          <a:p>
            <a:pPr marL="0" indent="0" algn="just">
              <a:buNone/>
            </a:pPr>
            <a:r>
              <a:rPr lang="en-GB" sz="1000" i="1" dirty="0"/>
              <a:t>“</a:t>
            </a:r>
            <a:r>
              <a:rPr lang="en-GB" sz="1000" b="1" i="1" dirty="0"/>
              <a:t>Net realisable value </a:t>
            </a:r>
            <a:r>
              <a:rPr lang="en-GB" sz="1000" dirty="0"/>
              <a:t>is the </a:t>
            </a:r>
            <a:r>
              <a:rPr lang="en-GB" sz="1000" u="sng" dirty="0"/>
              <a:t>estimated selling price</a:t>
            </a:r>
            <a:r>
              <a:rPr lang="en-GB" sz="1000" dirty="0"/>
              <a:t> in the ordinary course of business </a:t>
            </a:r>
            <a:r>
              <a:rPr lang="en-GB" sz="1000" u="sng" dirty="0"/>
              <a:t>less the estimated costs of completion</a:t>
            </a:r>
            <a:r>
              <a:rPr lang="en-GB" sz="1000" dirty="0"/>
              <a:t> and the estimated </a:t>
            </a:r>
            <a:r>
              <a:rPr lang="en-GB" sz="1000" u="sng" dirty="0"/>
              <a:t>costs necessary to make the sale</a:t>
            </a:r>
            <a:r>
              <a:rPr lang="en-GB" sz="1000" dirty="0"/>
              <a:t>”.</a:t>
            </a:r>
          </a:p>
          <a:p>
            <a:pPr marL="0" indent="0">
              <a:buNone/>
            </a:pPr>
            <a:endParaRPr lang="en-GB" sz="1000" dirty="0"/>
          </a:p>
          <a:p>
            <a:pPr marL="0" indent="0" algn="just">
              <a:buNone/>
            </a:pPr>
            <a:r>
              <a:rPr lang="en-GB" sz="1000" b="1" dirty="0"/>
              <a:t>“</a:t>
            </a:r>
            <a:r>
              <a:rPr lang="en-GB" sz="1000" dirty="0"/>
              <a:t>Inventories shall be measured at </a:t>
            </a:r>
            <a:r>
              <a:rPr lang="en-GB" sz="1000" b="1" dirty="0"/>
              <a:t>the lower of cost and net realizable value ».</a:t>
            </a:r>
          </a:p>
          <a:p>
            <a:pPr marL="0" indent="0" algn="just">
              <a:buNone/>
            </a:pPr>
            <a:r>
              <a:rPr lang="en-GB" sz="1000" dirty="0"/>
              <a:t>	Recognition of impairment if stock value &gt; Net realisable value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B765B0-B6AB-B6B1-2057-8348540E5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548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i="1" dirty="0"/>
              <a:t>In IFRS “</a:t>
            </a:r>
            <a:r>
              <a:rPr lang="en-GB" sz="1200" b="1" i="1" dirty="0"/>
              <a:t>Net realisable value </a:t>
            </a:r>
            <a:r>
              <a:rPr lang="en-GB" sz="1200" dirty="0"/>
              <a:t>is the </a:t>
            </a:r>
            <a:r>
              <a:rPr lang="en-GB" sz="1200" u="sng" dirty="0"/>
              <a:t>estimated selling price</a:t>
            </a:r>
            <a:r>
              <a:rPr lang="en-GB" sz="1200" dirty="0"/>
              <a:t> in the ordinary course of business </a:t>
            </a:r>
            <a:r>
              <a:rPr lang="en-GB" sz="1200" u="sng" dirty="0"/>
              <a:t>less the estimated costs of completion</a:t>
            </a:r>
            <a:r>
              <a:rPr lang="en-GB" sz="1200" dirty="0"/>
              <a:t> and the estimated </a:t>
            </a:r>
            <a:r>
              <a:rPr lang="en-GB" sz="1200" u="sng" dirty="0"/>
              <a:t>costs necessary to make the sale</a:t>
            </a:r>
            <a:r>
              <a:rPr lang="en-GB" sz="1200" dirty="0"/>
              <a:t>”.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911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noProof="0" dirty="0"/>
              <a:t>=&gt; LIFO is prohibited under IFRS because </a:t>
            </a:r>
            <a:r>
              <a:rPr lang="en-US" dirty="0"/>
              <a:t>LIFO cause </a:t>
            </a:r>
            <a:r>
              <a:rPr lang="en-US" b="1" dirty="0"/>
              <a:t>reduction in tax burden</a:t>
            </a:r>
            <a:r>
              <a:rPr lang="en-US" dirty="0"/>
              <a:t> under </a:t>
            </a:r>
            <a:r>
              <a:rPr lang="en-US" u="sng" dirty="0">
                <a:effectLst/>
              </a:rPr>
              <a:t>inflationary economies i.e. in the times of rising prices</a:t>
            </a:r>
            <a:r>
              <a:rPr lang="en-US" u="none" dirty="0">
                <a:effectLst/>
              </a:rPr>
              <a:t>. LIFO is permitted under the US GAAP</a:t>
            </a:r>
            <a:endParaRPr lang="en-GB" baseline="0" noProof="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296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Floor</a:t>
            </a:r>
            <a:r>
              <a:rPr lang="fr-FR" baseline="0" dirty="0"/>
              <a:t> = plancher</a:t>
            </a:r>
          </a:p>
          <a:p>
            <a:endParaRPr lang="fr-FR" baseline="0" dirty="0"/>
          </a:p>
          <a:p>
            <a:r>
              <a:rPr lang="fr-FR" dirty="0"/>
              <a:t>Toutefois, les normes diffèrent en ce qui concerne la base de la réduction et le «plancher» en bas à laquelle l'inventaire peut être effectué.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979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000" i="1" dirty="0"/>
              <a:t>In IFRS “</a:t>
            </a:r>
            <a:r>
              <a:rPr lang="en-GB" sz="1000" b="1" i="1" dirty="0"/>
              <a:t>Net realisable value </a:t>
            </a:r>
            <a:r>
              <a:rPr lang="en-GB" sz="1000" dirty="0"/>
              <a:t>is the </a:t>
            </a:r>
            <a:r>
              <a:rPr lang="en-GB" sz="1000" u="sng" dirty="0"/>
              <a:t>estimated selling price</a:t>
            </a:r>
            <a:r>
              <a:rPr lang="en-GB" sz="1000" dirty="0"/>
              <a:t> in the ordinary course of business </a:t>
            </a:r>
            <a:r>
              <a:rPr lang="en-GB" sz="1000" u="sng" dirty="0"/>
              <a:t>less the estimated costs of completion</a:t>
            </a:r>
            <a:r>
              <a:rPr lang="en-GB" sz="1000" dirty="0"/>
              <a:t> and the estimated </a:t>
            </a:r>
            <a:r>
              <a:rPr lang="en-GB" sz="1000" u="sng" dirty="0"/>
              <a:t>costs necessary to make the sale</a:t>
            </a:r>
            <a:r>
              <a:rPr lang="en-GB" sz="1000" dirty="0"/>
              <a:t>”.</a:t>
            </a:r>
          </a:p>
          <a:p>
            <a:endParaRPr lang="fr-FR" sz="1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effectLst/>
              </a:rPr>
              <a:t>La</a:t>
            </a:r>
            <a:r>
              <a:rPr lang="fr-FR" sz="1000" baseline="0" dirty="0">
                <a:effectLst/>
              </a:rPr>
              <a:t> valeur de marché ne doit pas </a:t>
            </a:r>
          </a:p>
          <a:p>
            <a:pPr marL="171450" marR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fr-FR" sz="1000" baseline="0" dirty="0">
                <a:effectLst/>
              </a:rPr>
              <a:t>excéder la valeur nette de réalisation </a:t>
            </a:r>
          </a:p>
          <a:p>
            <a:pPr marL="171450" marR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fr-FR" sz="1000" baseline="0" dirty="0">
                <a:effectLst/>
              </a:rPr>
              <a:t>Être inférieure à la valeur nette de réalisation de laquelle on déduit une provision correspondant à la marge bénéficiaire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000" dirty="0">
              <a:effectLst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fr-FR" sz="1000" baseline="0" dirty="0"/>
              <a:t>Prix de vente – marge &lt; coût de remplacement actuel = </a:t>
            </a:r>
            <a:r>
              <a:rPr lang="fr-FR" sz="1000" baseline="0" dirty="0" err="1"/>
              <a:t>market</a:t>
            </a:r>
            <a:r>
              <a:rPr lang="fr-FR" sz="1000" baseline="0" dirty="0"/>
              <a:t>&lt; prix de vente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fr-FR" sz="1000" baseline="0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fr-FR" sz="1000" baseline="0" dirty="0"/>
          </a:p>
          <a:p>
            <a:pPr marL="0" indent="0">
              <a:buFont typeface="Symbol" panose="05050102010706020507" pitchFamily="18" charset="2"/>
              <a:buNone/>
            </a:pPr>
            <a:r>
              <a:rPr lang="fr-FR" sz="1000" baseline="0" dirty="0"/>
              <a:t> </a:t>
            </a:r>
            <a:r>
              <a:rPr lang="fr-FR" sz="1000" b="1" baseline="0" dirty="0">
                <a:solidFill>
                  <a:srgbClr val="FF0000"/>
                </a:solidFill>
              </a:rPr>
              <a:t>Net </a:t>
            </a:r>
            <a:r>
              <a:rPr lang="fr-FR" sz="1000" b="1" baseline="0" dirty="0" err="1">
                <a:solidFill>
                  <a:srgbClr val="FF0000"/>
                </a:solidFill>
              </a:rPr>
              <a:t>realizable</a:t>
            </a:r>
            <a:r>
              <a:rPr lang="fr-FR" sz="1000" b="1" baseline="0" dirty="0">
                <a:solidFill>
                  <a:srgbClr val="FF0000"/>
                </a:solidFill>
              </a:rPr>
              <a:t> value </a:t>
            </a:r>
            <a:r>
              <a:rPr lang="fr-FR" sz="1000" b="1" baseline="0" dirty="0" err="1">
                <a:solidFill>
                  <a:srgbClr val="FF0000"/>
                </a:solidFill>
              </a:rPr>
              <a:t>reduced</a:t>
            </a:r>
            <a:r>
              <a:rPr lang="fr-FR" sz="1000" b="1" baseline="0" dirty="0">
                <a:solidFill>
                  <a:srgbClr val="FF0000"/>
                </a:solidFill>
              </a:rPr>
              <a:t> by a normal profit </a:t>
            </a:r>
            <a:r>
              <a:rPr lang="fr-FR" sz="1000" b="1" baseline="0" dirty="0" err="1">
                <a:solidFill>
                  <a:srgbClr val="FF0000"/>
                </a:solidFill>
              </a:rPr>
              <a:t>margin</a:t>
            </a:r>
            <a:r>
              <a:rPr lang="fr-FR" sz="1000" b="1" baseline="0" dirty="0">
                <a:solidFill>
                  <a:srgbClr val="FF0000"/>
                </a:solidFill>
              </a:rPr>
              <a:t>           &lt; MARKET &lt;       Net </a:t>
            </a:r>
            <a:r>
              <a:rPr lang="fr-FR" sz="1000" b="1" baseline="0" dirty="0" err="1">
                <a:solidFill>
                  <a:srgbClr val="FF0000"/>
                </a:solidFill>
              </a:rPr>
              <a:t>realizable</a:t>
            </a:r>
            <a:r>
              <a:rPr lang="fr-FR" sz="1000" b="1" baseline="0" dirty="0">
                <a:solidFill>
                  <a:srgbClr val="FF0000"/>
                </a:solidFill>
              </a:rPr>
              <a:t> value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fr-FR" sz="1000" b="1" baseline="0" dirty="0">
              <a:solidFill>
                <a:srgbClr val="FF0000"/>
              </a:solidFill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fr-FR" sz="1000" b="0" baseline="0" dirty="0">
                <a:solidFill>
                  <a:srgbClr val="FF0000"/>
                </a:solidFill>
              </a:rPr>
              <a:t>Compris entre = </a:t>
            </a:r>
            <a:r>
              <a:rPr lang="fr-FR" sz="1000" b="0" baseline="0" dirty="0" err="1">
                <a:solidFill>
                  <a:srgbClr val="FF0000"/>
                </a:solidFill>
              </a:rPr>
              <a:t>contained</a:t>
            </a:r>
            <a:r>
              <a:rPr lang="fr-FR" sz="1000" b="0" baseline="0" dirty="0">
                <a:solidFill>
                  <a:srgbClr val="FF0000"/>
                </a:solidFill>
              </a:rPr>
              <a:t> </a:t>
            </a:r>
            <a:r>
              <a:rPr lang="fr-FR" sz="1000" b="0" baseline="0" dirty="0" err="1">
                <a:solidFill>
                  <a:srgbClr val="FF0000"/>
                </a:solidFill>
              </a:rPr>
              <a:t>between</a:t>
            </a:r>
            <a:endParaRPr lang="fr-FR" sz="1000" b="0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032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000" i="1" dirty="0"/>
              <a:t>In IFRS “</a:t>
            </a:r>
            <a:r>
              <a:rPr lang="en-GB" sz="1000" b="1" i="1" dirty="0"/>
              <a:t>Net realisable value </a:t>
            </a:r>
            <a:r>
              <a:rPr lang="en-GB" sz="1000" dirty="0"/>
              <a:t>is the </a:t>
            </a:r>
            <a:r>
              <a:rPr lang="en-GB" sz="1000" u="sng" dirty="0"/>
              <a:t>estimated selling price</a:t>
            </a:r>
            <a:r>
              <a:rPr lang="en-GB" sz="1000" dirty="0"/>
              <a:t> in the ordinary course of business </a:t>
            </a:r>
            <a:r>
              <a:rPr lang="en-GB" sz="1000" u="sng" dirty="0"/>
              <a:t>less the estimated costs of completion</a:t>
            </a:r>
            <a:r>
              <a:rPr lang="en-GB" sz="1000" dirty="0"/>
              <a:t> and the estimated </a:t>
            </a:r>
            <a:r>
              <a:rPr lang="en-GB" sz="1000" u="sng" dirty="0"/>
              <a:t>costs necessary to make the sale</a:t>
            </a:r>
            <a:r>
              <a:rPr lang="en-GB" sz="1000" dirty="0"/>
              <a:t>”.</a:t>
            </a:r>
          </a:p>
          <a:p>
            <a:endParaRPr lang="fr-FR" sz="1000" dirty="0"/>
          </a:p>
          <a:p>
            <a:r>
              <a:rPr lang="fr-FR" sz="1000" dirty="0" err="1"/>
              <a:t>Boundaries</a:t>
            </a:r>
            <a:r>
              <a:rPr lang="fr-FR" sz="1000" dirty="0"/>
              <a:t> = limites</a:t>
            </a:r>
          </a:p>
          <a:p>
            <a:endParaRPr lang="fr-FR" sz="1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effectLst/>
              </a:rPr>
              <a:t>En US GAAP, le coût résultant de la réduction de la valeur d'inventaire doit produire une marge de profit normale lorsqu'il est vendu. Cela se fait en définissant des limites pour la valeur comptable.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000" dirty="0">
              <a:effectLst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effectLst/>
              </a:rPr>
              <a:t>US GAAP exige que les </a:t>
            </a:r>
            <a:r>
              <a:rPr lang="fr-FR" sz="1000" u="sng" dirty="0">
                <a:solidFill>
                  <a:srgbClr val="FF0000"/>
                </a:solidFill>
                <a:effectLst/>
              </a:rPr>
              <a:t>stocks soient comptabilisés au minimum</a:t>
            </a:r>
            <a:r>
              <a:rPr lang="fr-FR" sz="1000" u="sng" baseline="0" dirty="0">
                <a:solidFill>
                  <a:srgbClr val="FF0000"/>
                </a:solidFill>
                <a:effectLst/>
              </a:rPr>
              <a:t> </a:t>
            </a:r>
            <a:r>
              <a:rPr lang="fr-FR" sz="1000" u="sng" dirty="0">
                <a:solidFill>
                  <a:srgbClr val="FF0000"/>
                </a:solidFill>
                <a:effectLst/>
              </a:rPr>
              <a:t>du coût ou de la valeur de marché</a:t>
            </a:r>
            <a:r>
              <a:rPr lang="fr-FR" sz="1000" dirty="0">
                <a:effectLst/>
              </a:rPr>
              <a:t>, mais la</a:t>
            </a:r>
            <a:r>
              <a:rPr lang="fr-FR" sz="1000" baseline="0" dirty="0">
                <a:effectLst/>
              </a:rPr>
              <a:t> valeur de</a:t>
            </a:r>
            <a:r>
              <a:rPr lang="fr-FR" sz="1000" dirty="0">
                <a:effectLst/>
              </a:rPr>
              <a:t> marché ne peut pas être supérieure à NRV, ni ne peut être inférieure à NRV moins une marge bénéficiaire normale.</a:t>
            </a:r>
          </a:p>
          <a:p>
            <a:endParaRPr lang="fr-FR" sz="1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389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Ceiling</a:t>
            </a:r>
            <a:r>
              <a:rPr lang="fr-FR" dirty="0"/>
              <a:t> = plafond</a:t>
            </a:r>
          </a:p>
          <a:p>
            <a:r>
              <a:rPr lang="fr-FR" dirty="0" err="1"/>
              <a:t>Floor</a:t>
            </a:r>
            <a:r>
              <a:rPr lang="fr-FR" dirty="0"/>
              <a:t> = plancher</a:t>
            </a:r>
          </a:p>
          <a:p>
            <a:endParaRPr lang="fr-FR" dirty="0"/>
          </a:p>
          <a:p>
            <a:r>
              <a:rPr lang="en-US" sz="1200" i="1" dirty="0"/>
              <a:t>NRV = Estimated selling price less reasonably predictable costs of completion and disposal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1562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i="1" dirty="0"/>
              <a:t>In IFRS “</a:t>
            </a:r>
            <a:r>
              <a:rPr lang="en-GB" sz="1200" b="1" i="1" dirty="0"/>
              <a:t>Net realisable value </a:t>
            </a:r>
            <a:r>
              <a:rPr lang="en-GB" sz="1200" dirty="0"/>
              <a:t>is the </a:t>
            </a:r>
            <a:r>
              <a:rPr lang="en-GB" sz="1200" u="sng" dirty="0"/>
              <a:t>estimated selling price</a:t>
            </a:r>
            <a:r>
              <a:rPr lang="en-GB" sz="1200" dirty="0"/>
              <a:t> in the ordinary course of business </a:t>
            </a:r>
            <a:r>
              <a:rPr lang="en-GB" sz="1200" u="sng" dirty="0"/>
              <a:t>less the estimated costs of completion</a:t>
            </a:r>
            <a:r>
              <a:rPr lang="en-GB" sz="1200" dirty="0"/>
              <a:t> and the estimated </a:t>
            </a:r>
            <a:r>
              <a:rPr lang="en-GB" sz="1200" u="sng" dirty="0"/>
              <a:t>costs necessary to make the sale</a:t>
            </a:r>
            <a:r>
              <a:rPr lang="en-GB" sz="1200" dirty="0"/>
              <a:t>”.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911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noProof="0" dirty="0"/>
              <a:t>US GAAP : 	1) lower of cost or market (market</a:t>
            </a:r>
            <a:r>
              <a:rPr lang="en-GB" sz="1200" b="1" baseline="0" noProof="0" dirty="0"/>
              <a:t> = replacement cost)</a:t>
            </a:r>
            <a:r>
              <a:rPr lang="en-GB" sz="1200" b="1" noProof="0" dirty="0"/>
              <a:t>, </a:t>
            </a:r>
          </a:p>
          <a:p>
            <a:r>
              <a:rPr lang="en-GB" sz="1200" b="1" noProof="0" dirty="0"/>
              <a:t>	2) </a:t>
            </a:r>
            <a:r>
              <a:rPr lang="en-GB" sz="1200" b="0" baseline="0" noProof="0" dirty="0"/>
              <a:t>NRV</a:t>
            </a:r>
            <a:r>
              <a:rPr lang="en-GB" sz="1200" baseline="0" noProof="0" dirty="0"/>
              <a:t> – normal profit margin &lt; market = replacement cost&lt; NRV</a:t>
            </a:r>
            <a:endParaRPr lang="en-GB" sz="1200" noProof="0" dirty="0"/>
          </a:p>
          <a:p>
            <a:endParaRPr lang="en-GB" noProof="0" dirty="0"/>
          </a:p>
          <a:p>
            <a:r>
              <a:rPr lang="en-GB" b="1" noProof="0" dirty="0"/>
              <a:t>IFRS </a:t>
            </a:r>
            <a:r>
              <a:rPr lang="en-GB" noProof="0" dirty="0"/>
              <a:t>: </a:t>
            </a:r>
            <a:r>
              <a:rPr lang="en-GB" b="1" noProof="0" dirty="0"/>
              <a:t>lower cost or NRV</a:t>
            </a:r>
          </a:p>
          <a:p>
            <a:endParaRPr lang="en-GB" b="1" noProof="0" dirty="0"/>
          </a:p>
          <a:p>
            <a:r>
              <a:rPr lang="en-GB" b="1" u="sng" noProof="0" dirty="0"/>
              <a:t>Examples</a:t>
            </a:r>
            <a:r>
              <a:rPr lang="en-GB" b="1" noProof="0" dirty="0"/>
              <a:t>: </a:t>
            </a:r>
          </a:p>
          <a:p>
            <a:pPr marL="171450" indent="-171450">
              <a:buFontTx/>
              <a:buChar char="-"/>
            </a:pPr>
            <a:r>
              <a:rPr lang="en-GB" b="0" noProof="0" dirty="0"/>
              <a:t>the replacement cost shall not exceed the NRV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b="0" noProof="0" dirty="0"/>
              <a:t>the replacement cost shall not be lower</a:t>
            </a:r>
            <a:r>
              <a:rPr lang="en-GB" b="0" baseline="0" noProof="0" dirty="0"/>
              <a:t> than </a:t>
            </a:r>
            <a:r>
              <a:rPr lang="en-GB" b="0" noProof="0" dirty="0"/>
              <a:t>NRV less normal profit margin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noProof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Þ"/>
              <a:tabLst/>
              <a:defRPr/>
            </a:pPr>
            <a:r>
              <a:rPr lang="en-GB" b="0" noProof="0" dirty="0"/>
              <a:t>The inventory will be recorded for which amount according US GAAP ?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Þ"/>
              <a:tabLst/>
              <a:defRPr/>
            </a:pPr>
            <a:r>
              <a:rPr lang="en-GB" b="0" noProof="0" dirty="0"/>
              <a:t>The inventory will be recorded for which amount according IFRS ?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Þ"/>
              <a:tabLst/>
              <a:defRPr/>
            </a:pPr>
            <a:endParaRPr lang="en-GB" b="0" noProof="0" dirty="0"/>
          </a:p>
          <a:p>
            <a:pPr marL="171450" indent="-171450">
              <a:buFontTx/>
              <a:buChar char="-"/>
            </a:pPr>
            <a:endParaRPr lang="en-GB" b="0" noProof="0" dirty="0"/>
          </a:p>
          <a:p>
            <a:endParaRPr lang="en-GB" b="1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914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i="0" u="sng" dirty="0"/>
              <a:t>NRV</a:t>
            </a:r>
            <a:r>
              <a:rPr lang="fr-FR" b="1" i="0" dirty="0"/>
              <a:t> = </a:t>
            </a:r>
            <a:r>
              <a:rPr lang="fr-FR" b="1" i="0" dirty="0" err="1"/>
              <a:t>estimated</a:t>
            </a:r>
            <a:r>
              <a:rPr lang="fr-FR" b="1" i="0" dirty="0"/>
              <a:t> </a:t>
            </a:r>
            <a:r>
              <a:rPr lang="fr-FR" b="1" i="0" dirty="0" err="1"/>
              <a:t>selling</a:t>
            </a:r>
            <a:r>
              <a:rPr lang="fr-FR" b="1" i="0" dirty="0"/>
              <a:t> </a:t>
            </a:r>
            <a:r>
              <a:rPr lang="fr-FR" b="1" i="0" dirty="0" err="1"/>
              <a:t>price</a:t>
            </a:r>
            <a:r>
              <a:rPr lang="fr-FR" b="1" i="0" dirty="0"/>
              <a:t> </a:t>
            </a:r>
            <a:r>
              <a:rPr lang="en-US" sz="1200" b="1" i="0" dirty="0"/>
              <a:t>less reasonably predictable costs of completion and disposal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i="0" u="sng" dirty="0"/>
              <a:t>NRV </a:t>
            </a:r>
            <a:r>
              <a:rPr lang="fr-FR" b="1" i="0" u="sng" dirty="0" err="1"/>
              <a:t>less</a:t>
            </a:r>
            <a:r>
              <a:rPr lang="fr-FR" b="1" i="0" u="sng" dirty="0"/>
              <a:t> normal profit</a:t>
            </a:r>
            <a:r>
              <a:rPr lang="fr-FR" b="1" i="0" dirty="0"/>
              <a:t> = </a:t>
            </a:r>
            <a:r>
              <a:rPr lang="fr-FR" b="1" i="0" dirty="0" err="1"/>
              <a:t>estimated</a:t>
            </a:r>
            <a:r>
              <a:rPr lang="fr-FR" b="1" i="0" dirty="0"/>
              <a:t> </a:t>
            </a:r>
            <a:r>
              <a:rPr lang="fr-FR" b="1" i="0" dirty="0" err="1"/>
              <a:t>selling</a:t>
            </a:r>
            <a:r>
              <a:rPr lang="fr-FR" b="1" i="0" dirty="0"/>
              <a:t> </a:t>
            </a:r>
            <a:r>
              <a:rPr lang="fr-FR" b="1" i="0" dirty="0" err="1"/>
              <a:t>price</a:t>
            </a:r>
            <a:r>
              <a:rPr lang="fr-FR" b="1" i="0" dirty="0"/>
              <a:t> </a:t>
            </a:r>
            <a:r>
              <a:rPr lang="en-US" sz="1200" b="1" i="0" dirty="0"/>
              <a:t>less reasonably predictable costs of completion and disposal, less normal profit margin</a:t>
            </a:r>
          </a:p>
          <a:p>
            <a:endParaRPr lang="fr-FR" b="1" i="0" dirty="0"/>
          </a:p>
          <a:p>
            <a:endParaRPr lang="fr-FR" dirty="0"/>
          </a:p>
          <a:p>
            <a:r>
              <a:rPr lang="fr-FR" dirty="0"/>
              <a:t>NRV = </a:t>
            </a:r>
            <a:r>
              <a:rPr lang="fr-FR" dirty="0" err="1"/>
              <a:t>selling</a:t>
            </a:r>
            <a:r>
              <a:rPr lang="fr-FR" dirty="0"/>
              <a:t> </a:t>
            </a:r>
            <a:r>
              <a:rPr lang="fr-FR" dirty="0" err="1"/>
              <a:t>price</a:t>
            </a:r>
            <a:r>
              <a:rPr lang="fr-FR" dirty="0"/>
              <a:t> – S,G,A </a:t>
            </a:r>
            <a:r>
              <a:rPr lang="fr-FR" dirty="0" err="1"/>
              <a:t>expenses</a:t>
            </a:r>
            <a:r>
              <a:rPr lang="fr-FR" dirty="0"/>
              <a:t> (20% of sales) =&gt; 200 – 20% x 200 = 160</a:t>
            </a:r>
          </a:p>
          <a:p>
            <a:r>
              <a:rPr lang="fr-FR" dirty="0"/>
              <a:t>NRV – normal</a:t>
            </a:r>
            <a:r>
              <a:rPr lang="fr-FR" baseline="0" dirty="0"/>
              <a:t> profit = NRV – profit </a:t>
            </a:r>
            <a:r>
              <a:rPr lang="fr-FR" baseline="0" dirty="0" err="1"/>
              <a:t>margin</a:t>
            </a:r>
            <a:r>
              <a:rPr lang="fr-FR" baseline="0" dirty="0"/>
              <a:t> (15% of sales) =&gt; 160 – 15% x 200 = 130</a:t>
            </a:r>
          </a:p>
          <a:p>
            <a:endParaRPr lang="fr-FR" baseline="0" dirty="0"/>
          </a:p>
          <a:p>
            <a:r>
              <a:rPr lang="fr-FR" dirty="0"/>
              <a:t>NRV = </a:t>
            </a:r>
            <a:r>
              <a:rPr lang="fr-FR" dirty="0" err="1"/>
              <a:t>selling</a:t>
            </a:r>
            <a:r>
              <a:rPr lang="fr-FR" dirty="0"/>
              <a:t> </a:t>
            </a:r>
            <a:r>
              <a:rPr lang="fr-FR" dirty="0" err="1"/>
              <a:t>price</a:t>
            </a:r>
            <a:r>
              <a:rPr lang="fr-FR" dirty="0"/>
              <a:t> – S,G,A </a:t>
            </a:r>
            <a:r>
              <a:rPr lang="fr-FR" dirty="0" err="1"/>
              <a:t>expenses</a:t>
            </a:r>
            <a:r>
              <a:rPr lang="fr-FR" dirty="0"/>
              <a:t> (20% of sales) =&gt; 150 – 20% x 150 = 120</a:t>
            </a:r>
          </a:p>
          <a:p>
            <a:r>
              <a:rPr lang="fr-FR" dirty="0"/>
              <a:t>NRV – normal</a:t>
            </a:r>
            <a:r>
              <a:rPr lang="fr-FR" baseline="0" dirty="0"/>
              <a:t> profit = NRV – profit </a:t>
            </a:r>
            <a:r>
              <a:rPr lang="fr-FR" baseline="0" dirty="0" err="1"/>
              <a:t>margin</a:t>
            </a:r>
            <a:r>
              <a:rPr lang="fr-FR" baseline="0" dirty="0"/>
              <a:t> (15% of sales) =&gt; 120 – 15% x 150 = 97,5</a:t>
            </a:r>
          </a:p>
          <a:p>
            <a:endParaRPr lang="fr-FR" baseline="0" dirty="0"/>
          </a:p>
          <a:p>
            <a:r>
              <a:rPr lang="fr-FR" dirty="0"/>
              <a:t>NRV = </a:t>
            </a:r>
            <a:r>
              <a:rPr lang="fr-FR" dirty="0" err="1"/>
              <a:t>selling</a:t>
            </a:r>
            <a:r>
              <a:rPr lang="fr-FR" dirty="0"/>
              <a:t> </a:t>
            </a:r>
            <a:r>
              <a:rPr lang="fr-FR" dirty="0" err="1"/>
              <a:t>price</a:t>
            </a:r>
            <a:r>
              <a:rPr lang="fr-FR" dirty="0"/>
              <a:t> – S,G,A </a:t>
            </a:r>
            <a:r>
              <a:rPr lang="fr-FR" dirty="0" err="1"/>
              <a:t>expenses</a:t>
            </a:r>
            <a:r>
              <a:rPr lang="fr-FR" dirty="0"/>
              <a:t> (20% of sales) =&gt; 120 – 20% x 120 = 96</a:t>
            </a:r>
          </a:p>
          <a:p>
            <a:r>
              <a:rPr lang="fr-FR" dirty="0"/>
              <a:t>NRV – normal</a:t>
            </a:r>
            <a:r>
              <a:rPr lang="fr-FR" baseline="0" dirty="0"/>
              <a:t> profit = NRV – profit </a:t>
            </a:r>
            <a:r>
              <a:rPr lang="fr-FR" baseline="0" dirty="0" err="1"/>
              <a:t>margin</a:t>
            </a:r>
            <a:r>
              <a:rPr lang="fr-FR" baseline="0" dirty="0"/>
              <a:t> (15% of sales) =&gt; 96 – 15% x 120 = 78</a:t>
            </a:r>
          </a:p>
          <a:p>
            <a:endParaRPr lang="fr-FR" baseline="0" dirty="0"/>
          </a:p>
          <a:p>
            <a:r>
              <a:rPr lang="fr-FR" dirty="0"/>
              <a:t>NRV = </a:t>
            </a:r>
            <a:r>
              <a:rPr lang="fr-FR" dirty="0" err="1"/>
              <a:t>selling</a:t>
            </a:r>
            <a:r>
              <a:rPr lang="fr-FR" dirty="0"/>
              <a:t> </a:t>
            </a:r>
            <a:r>
              <a:rPr lang="fr-FR" dirty="0" err="1"/>
              <a:t>price</a:t>
            </a:r>
            <a:r>
              <a:rPr lang="fr-FR" dirty="0"/>
              <a:t> – S,G,A </a:t>
            </a:r>
            <a:r>
              <a:rPr lang="fr-FR" dirty="0" err="1"/>
              <a:t>expenses</a:t>
            </a:r>
            <a:r>
              <a:rPr lang="fr-FR" dirty="0"/>
              <a:t> (20% of sales) =&gt; 90 – 20% x 90 = 72</a:t>
            </a:r>
          </a:p>
          <a:p>
            <a:r>
              <a:rPr lang="fr-FR" dirty="0"/>
              <a:t>NRV – normal</a:t>
            </a:r>
            <a:r>
              <a:rPr lang="fr-FR" baseline="0" dirty="0"/>
              <a:t> profit = NRV – profit </a:t>
            </a:r>
            <a:r>
              <a:rPr lang="fr-FR" baseline="0" dirty="0" err="1"/>
              <a:t>margin</a:t>
            </a:r>
            <a:r>
              <a:rPr lang="fr-FR" baseline="0" dirty="0"/>
              <a:t> (15% of sales) =&gt; 72 – 15% x 90 = 58,5</a:t>
            </a:r>
          </a:p>
          <a:p>
            <a:endParaRPr lang="fr-FR" baseline="0" dirty="0"/>
          </a:p>
          <a:p>
            <a:r>
              <a:rPr lang="fr-FR" baseline="0" dirty="0" err="1"/>
              <a:t>Ceiling</a:t>
            </a:r>
            <a:r>
              <a:rPr lang="fr-FR" baseline="0" dirty="0"/>
              <a:t> : plafond</a:t>
            </a:r>
          </a:p>
          <a:p>
            <a:pPr marL="0" indent="0">
              <a:buFontTx/>
              <a:buNone/>
            </a:pPr>
            <a:endParaRPr lang="fr-FR" b="0" baseline="0" noProof="0" dirty="0"/>
          </a:p>
          <a:p>
            <a:pPr marL="0" indent="0">
              <a:buFontTx/>
              <a:buNone/>
            </a:pPr>
            <a:r>
              <a:rPr lang="fr-FR" b="0" baseline="0" noProof="0" dirty="0"/>
              <a:t>T</a:t>
            </a:r>
            <a:r>
              <a:rPr lang="en-GB" b="0" noProof="0" dirty="0"/>
              <a:t>he replacement cost shall not exceed the NRV</a:t>
            </a:r>
          </a:p>
          <a:p>
            <a:pPr marL="0" indent="0">
              <a:buFontTx/>
              <a:buNone/>
            </a:pPr>
            <a:r>
              <a:rPr lang="en-GB" b="0" noProof="0" dirty="0"/>
              <a:t>The replacement cost shall not be lower</a:t>
            </a:r>
            <a:r>
              <a:rPr lang="en-GB" b="0" baseline="0" noProof="0" dirty="0"/>
              <a:t> than </a:t>
            </a:r>
            <a:r>
              <a:rPr lang="en-GB" b="0" noProof="0" dirty="0"/>
              <a:t>NRV less normal profit margin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4504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dirty="0">
                <a:effectLst/>
              </a:rPr>
              <a:t>Cette disparité en matière de dépréciation des inversions montre que les IFRS en apprennent plus sur la pertinence que la fiabilité. </a:t>
            </a:r>
          </a:p>
          <a:p>
            <a:endParaRPr lang="fr-FR" sz="1000" dirty="0">
              <a:effectLst/>
            </a:endParaRPr>
          </a:p>
          <a:p>
            <a:r>
              <a:rPr lang="fr-FR" sz="1000" dirty="0">
                <a:effectLst/>
              </a:rPr>
              <a:t>En fait, les dépréciations des P, P &amp; E et des instruments financiers peuvent être restaurés en vertu des IFRS, alors qu'aucun sont en mesure d'être repris en US GAAP.</a:t>
            </a:r>
            <a:endParaRPr lang="fr-FR" sz="1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C6FC8-8AB3-4B31-A35F-35916D8CB3B4}" type="slidenum">
              <a:rPr lang="fr-FR" smtClean="0"/>
              <a:pPr>
                <a:defRPr/>
              </a:pPr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284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gradFill>
          <a:gsLst>
            <a:gs pos="100000">
              <a:srgbClr val="22398E"/>
            </a:gs>
            <a:gs pos="0">
              <a:srgbClr val="9378B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que 29">
            <a:extLst>
              <a:ext uri="{FF2B5EF4-FFF2-40B4-BE49-F238E27FC236}">
                <a16:creationId xmlns:a16="http://schemas.microsoft.com/office/drawing/2014/main" id="{ACDAC0E6-336F-D65D-6BB5-E94D37DA346B}"/>
              </a:ext>
            </a:extLst>
          </p:cNvPr>
          <p:cNvSpPr/>
          <p:nvPr userDrawn="1"/>
        </p:nvSpPr>
        <p:spPr>
          <a:xfrm>
            <a:off x="0" y="358120"/>
            <a:ext cx="6451041" cy="7878285"/>
          </a:xfrm>
          <a:custGeom>
            <a:avLst/>
            <a:gdLst>
              <a:gd name="connsiteX0" fmla="*/ 3641377 w 3685056"/>
              <a:gd name="connsiteY0" fmla="*/ 502156 h 4500347"/>
              <a:gd name="connsiteX1" fmla="*/ 3485068 w 3685056"/>
              <a:gd name="connsiteY1" fmla="*/ 267241 h 4500347"/>
              <a:gd name="connsiteX2" fmla="*/ 1912951 w 3685056"/>
              <a:gd name="connsiteY2" fmla="*/ 40437 h 4500347"/>
              <a:gd name="connsiteX3" fmla="*/ 0 w 3685056"/>
              <a:gd name="connsiteY3" fmla="*/ 300905 h 4500347"/>
              <a:gd name="connsiteX4" fmla="*/ 0 w 3685056"/>
              <a:gd name="connsiteY4" fmla="*/ 1274412 h 4500347"/>
              <a:gd name="connsiteX5" fmla="*/ 1858654 w 3685056"/>
              <a:gd name="connsiteY5" fmla="*/ 556494 h 4500347"/>
              <a:gd name="connsiteX6" fmla="*/ 3161174 w 3685056"/>
              <a:gd name="connsiteY6" fmla="*/ 585584 h 4500347"/>
              <a:gd name="connsiteX7" fmla="*/ 2778657 w 3685056"/>
              <a:gd name="connsiteY7" fmla="*/ 1898779 h 4500347"/>
              <a:gd name="connsiteX8" fmla="*/ 740171 w 3685056"/>
              <a:gd name="connsiteY8" fmla="*/ 4500348 h 4500347"/>
              <a:gd name="connsiteX9" fmla="*/ 2033185 w 3685056"/>
              <a:gd name="connsiteY9" fmla="*/ 4500348 h 4500347"/>
              <a:gd name="connsiteX10" fmla="*/ 2730149 w 3685056"/>
              <a:gd name="connsiteY10" fmla="*/ 3167028 h 4500347"/>
              <a:gd name="connsiteX11" fmla="*/ 3485129 w 3685056"/>
              <a:gd name="connsiteY11" fmla="*/ 1567507 h 4500347"/>
              <a:gd name="connsiteX12" fmla="*/ 3641438 w 3685056"/>
              <a:gd name="connsiteY12" fmla="*/ 502278 h 450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85056" h="4500347">
                <a:moveTo>
                  <a:pt x="3641377" y="502156"/>
                </a:moveTo>
                <a:cubicBezTo>
                  <a:pt x="3598842" y="408239"/>
                  <a:pt x="3546494" y="330849"/>
                  <a:pt x="3485068" y="267241"/>
                </a:cubicBezTo>
                <a:cubicBezTo>
                  <a:pt x="3171595" y="-57261"/>
                  <a:pt x="2620336" y="-19938"/>
                  <a:pt x="1912951" y="40437"/>
                </a:cubicBezTo>
                <a:cubicBezTo>
                  <a:pt x="1067050" y="112582"/>
                  <a:pt x="0" y="300905"/>
                  <a:pt x="0" y="300905"/>
                </a:cubicBezTo>
                <a:lnTo>
                  <a:pt x="0" y="1274412"/>
                </a:lnTo>
                <a:cubicBezTo>
                  <a:pt x="0" y="1274412"/>
                  <a:pt x="1204956" y="769698"/>
                  <a:pt x="1858654" y="556494"/>
                </a:cubicBezTo>
                <a:cubicBezTo>
                  <a:pt x="2512352" y="343290"/>
                  <a:pt x="2927654" y="276267"/>
                  <a:pt x="3161174" y="585584"/>
                </a:cubicBezTo>
                <a:cubicBezTo>
                  <a:pt x="3421508" y="930455"/>
                  <a:pt x="2986887" y="1593487"/>
                  <a:pt x="2778657" y="1898779"/>
                </a:cubicBezTo>
                <a:cubicBezTo>
                  <a:pt x="2570427" y="2204071"/>
                  <a:pt x="2098695" y="2843562"/>
                  <a:pt x="740171" y="4500348"/>
                </a:cubicBezTo>
                <a:lnTo>
                  <a:pt x="2033185" y="4500348"/>
                </a:lnTo>
                <a:cubicBezTo>
                  <a:pt x="2033185" y="4500348"/>
                  <a:pt x="2463844" y="3709796"/>
                  <a:pt x="2730149" y="3167028"/>
                </a:cubicBezTo>
                <a:cubicBezTo>
                  <a:pt x="2930457" y="2758732"/>
                  <a:pt x="3269586" y="2131316"/>
                  <a:pt x="3485129" y="1567507"/>
                </a:cubicBezTo>
                <a:cubicBezTo>
                  <a:pt x="3652286" y="1130243"/>
                  <a:pt x="3745157" y="731217"/>
                  <a:pt x="3641438" y="502278"/>
                </a:cubicBezTo>
                <a:close/>
              </a:path>
            </a:pathLst>
          </a:custGeom>
          <a:solidFill>
            <a:srgbClr val="758BC5">
              <a:alpha val="70000"/>
            </a:srgbClr>
          </a:solidFill>
          <a:ln w="6093" cap="flat">
            <a:noFill/>
            <a:prstDash val="solid"/>
            <a:miter/>
          </a:ln>
        </p:spPr>
        <p:txBody>
          <a:bodyPr rtlCol="0" anchor="ctr"/>
          <a:lstStyle/>
          <a:p>
            <a:endParaRPr lang="fr-FR">
              <a:solidFill>
                <a:schemeClr val="accent2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4675E09-98F4-CB40-847A-223EE4FF2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5281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BCDCF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CA446D-6137-3B12-BD1E-2599511A0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1852"/>
            <a:ext cx="9144000" cy="1655762"/>
          </a:xfrm>
        </p:spPr>
        <p:txBody>
          <a:bodyPr/>
          <a:lstStyle>
            <a:lvl1pPr marL="0" indent="0" algn="ctr">
              <a:buNone/>
              <a:defRPr sz="2400" b="0" i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983B729-1067-981B-92A3-93D88B6F605E}"/>
              </a:ext>
            </a:extLst>
          </p:cNvPr>
          <p:cNvGrpSpPr/>
          <p:nvPr userDrawn="1"/>
        </p:nvGrpSpPr>
        <p:grpSpPr>
          <a:xfrm>
            <a:off x="640333" y="537230"/>
            <a:ext cx="1460543" cy="1648190"/>
            <a:chOff x="5706531" y="490797"/>
            <a:chExt cx="1100669" cy="1242080"/>
          </a:xfrm>
          <a:solidFill>
            <a:srgbClr val="BCDCF1"/>
          </a:solidFill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20F5A30A-B8B9-76A8-E1F3-D39A5F61B0D0}"/>
                </a:ext>
              </a:extLst>
            </p:cNvPr>
            <p:cNvGrpSpPr/>
            <p:nvPr/>
          </p:nvGrpSpPr>
          <p:grpSpPr>
            <a:xfrm>
              <a:off x="5812721" y="490797"/>
              <a:ext cx="890009" cy="889269"/>
              <a:chOff x="2571750" y="2711450"/>
              <a:chExt cx="1439148" cy="1437951"/>
            </a:xfrm>
            <a:grpFill/>
          </p:grpSpPr>
          <p:sp>
            <p:nvSpPr>
              <p:cNvPr id="25" name="Forme libre 24">
                <a:extLst>
                  <a:ext uri="{FF2B5EF4-FFF2-40B4-BE49-F238E27FC236}">
                    <a16:creationId xmlns:a16="http://schemas.microsoft.com/office/drawing/2014/main" id="{293068B8-BCDD-3640-F482-C23282BE3F39}"/>
                  </a:ext>
                </a:extLst>
              </p:cNvPr>
              <p:cNvSpPr/>
              <p:nvPr/>
            </p:nvSpPr>
            <p:spPr>
              <a:xfrm>
                <a:off x="2821538" y="2890124"/>
                <a:ext cx="715298" cy="646365"/>
              </a:xfrm>
              <a:custGeom>
                <a:avLst/>
                <a:gdLst>
                  <a:gd name="connsiteX0" fmla="*/ 0 w 715298"/>
                  <a:gd name="connsiteY0" fmla="*/ 646270 h 646365"/>
                  <a:gd name="connsiteX1" fmla="*/ 173121 w 715298"/>
                  <a:gd name="connsiteY1" fmla="*/ 392704 h 646365"/>
                  <a:gd name="connsiteX2" fmla="*/ 173977 w 715298"/>
                  <a:gd name="connsiteY2" fmla="*/ 391469 h 646365"/>
                  <a:gd name="connsiteX3" fmla="*/ 411495 w 715298"/>
                  <a:gd name="connsiteY3" fmla="*/ 79928 h 646365"/>
                  <a:gd name="connsiteX4" fmla="*/ 574534 w 715298"/>
                  <a:gd name="connsiteY4" fmla="*/ 0 h 646365"/>
                  <a:gd name="connsiteX5" fmla="*/ 692389 w 715298"/>
                  <a:gd name="connsiteY5" fmla="*/ 97131 h 646365"/>
                  <a:gd name="connsiteX6" fmla="*/ 712269 w 715298"/>
                  <a:gd name="connsiteY6" fmla="*/ 437183 h 646365"/>
                  <a:gd name="connsiteX7" fmla="*/ 0 w 715298"/>
                  <a:gd name="connsiteY7" fmla="*/ 646365 h 646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5298" h="646365">
                    <a:moveTo>
                      <a:pt x="0" y="646270"/>
                    </a:moveTo>
                    <a:cubicBezTo>
                      <a:pt x="27966" y="604738"/>
                      <a:pt x="84848" y="521103"/>
                      <a:pt x="173121" y="392704"/>
                    </a:cubicBezTo>
                    <a:lnTo>
                      <a:pt x="173977" y="391469"/>
                    </a:lnTo>
                    <a:cubicBezTo>
                      <a:pt x="250835" y="279702"/>
                      <a:pt x="323508" y="174018"/>
                      <a:pt x="411495" y="79928"/>
                    </a:cubicBezTo>
                    <a:cubicBezTo>
                      <a:pt x="457534" y="30603"/>
                      <a:pt x="520029" y="0"/>
                      <a:pt x="574534" y="0"/>
                    </a:cubicBezTo>
                    <a:cubicBezTo>
                      <a:pt x="614960" y="0"/>
                      <a:pt x="668323" y="16822"/>
                      <a:pt x="692389" y="97131"/>
                    </a:cubicBezTo>
                    <a:cubicBezTo>
                      <a:pt x="723494" y="200154"/>
                      <a:pt x="714743" y="392704"/>
                      <a:pt x="712269" y="437183"/>
                    </a:cubicBezTo>
                    <a:cubicBezTo>
                      <a:pt x="660809" y="456286"/>
                      <a:pt x="388857" y="555127"/>
                      <a:pt x="0" y="646365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 25">
                <a:extLst>
                  <a:ext uri="{FF2B5EF4-FFF2-40B4-BE49-F238E27FC236}">
                    <a16:creationId xmlns:a16="http://schemas.microsoft.com/office/drawing/2014/main" id="{3573FEFB-A28F-E91E-B749-75CAA07CBB9F}"/>
                  </a:ext>
                </a:extLst>
              </p:cNvPr>
              <p:cNvSpPr/>
              <p:nvPr/>
            </p:nvSpPr>
            <p:spPr>
              <a:xfrm>
                <a:off x="2571750" y="2711450"/>
                <a:ext cx="1384492" cy="709566"/>
              </a:xfrm>
              <a:custGeom>
                <a:avLst/>
                <a:gdLst>
                  <a:gd name="connsiteX0" fmla="*/ 0 w 1384492"/>
                  <a:gd name="connsiteY0" fmla="*/ 704910 h 709566"/>
                  <a:gd name="connsiteX1" fmla="*/ 215926 w 1384492"/>
                  <a:gd name="connsiteY1" fmla="*/ 205381 h 709566"/>
                  <a:gd name="connsiteX2" fmla="*/ 719213 w 1384492"/>
                  <a:gd name="connsiteY2" fmla="*/ 0 h 709566"/>
                  <a:gd name="connsiteX3" fmla="*/ 733577 w 1384492"/>
                  <a:gd name="connsiteY3" fmla="*/ 95 h 709566"/>
                  <a:gd name="connsiteX4" fmla="*/ 1384493 w 1384492"/>
                  <a:gd name="connsiteY4" fmla="*/ 443836 h 709566"/>
                  <a:gd name="connsiteX5" fmla="*/ 1104265 w 1384492"/>
                  <a:gd name="connsiteY5" fmla="*/ 562065 h 709566"/>
                  <a:gd name="connsiteX6" fmla="*/ 1037204 w 1384492"/>
                  <a:gd name="connsiteY6" fmla="*/ 206997 h 709566"/>
                  <a:gd name="connsiteX7" fmla="*/ 854381 w 1384492"/>
                  <a:gd name="connsiteY7" fmla="*/ 61491 h 709566"/>
                  <a:gd name="connsiteX8" fmla="*/ 689535 w 1384492"/>
                  <a:gd name="connsiteY8" fmla="*/ 110911 h 709566"/>
                  <a:gd name="connsiteX9" fmla="*/ 327218 w 1384492"/>
                  <a:gd name="connsiteY9" fmla="*/ 398787 h 709566"/>
                  <a:gd name="connsiteX10" fmla="*/ 0 w 1384492"/>
                  <a:gd name="connsiteY10" fmla="*/ 709567 h 709566"/>
                  <a:gd name="connsiteX11" fmla="*/ 0 w 1384492"/>
                  <a:gd name="connsiteY11" fmla="*/ 704910 h 709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84492" h="709566">
                    <a:moveTo>
                      <a:pt x="0" y="704910"/>
                    </a:moveTo>
                    <a:cubicBezTo>
                      <a:pt x="3710" y="515400"/>
                      <a:pt x="80378" y="337961"/>
                      <a:pt x="215926" y="205381"/>
                    </a:cubicBezTo>
                    <a:cubicBezTo>
                      <a:pt x="351284" y="72991"/>
                      <a:pt x="529922" y="0"/>
                      <a:pt x="719213" y="0"/>
                    </a:cubicBezTo>
                    <a:cubicBezTo>
                      <a:pt x="723969" y="0"/>
                      <a:pt x="728821" y="0"/>
                      <a:pt x="733577" y="95"/>
                    </a:cubicBezTo>
                    <a:cubicBezTo>
                      <a:pt x="1020844" y="5702"/>
                      <a:pt x="1274913" y="179435"/>
                      <a:pt x="1384493" y="443836"/>
                    </a:cubicBezTo>
                    <a:cubicBezTo>
                      <a:pt x="1346730" y="461323"/>
                      <a:pt x="1245330" y="507132"/>
                      <a:pt x="1104265" y="562065"/>
                    </a:cubicBezTo>
                    <a:cubicBezTo>
                      <a:pt x="1084955" y="435092"/>
                      <a:pt x="1060414" y="285499"/>
                      <a:pt x="1037204" y="206997"/>
                    </a:cubicBezTo>
                    <a:cubicBezTo>
                      <a:pt x="1009809" y="114523"/>
                      <a:pt x="943224" y="61491"/>
                      <a:pt x="854381" y="61491"/>
                    </a:cubicBezTo>
                    <a:cubicBezTo>
                      <a:pt x="803871" y="61491"/>
                      <a:pt x="748416" y="78123"/>
                      <a:pt x="689535" y="110911"/>
                    </a:cubicBezTo>
                    <a:cubicBezTo>
                      <a:pt x="621333" y="149022"/>
                      <a:pt x="499483" y="245773"/>
                      <a:pt x="327218" y="398787"/>
                    </a:cubicBezTo>
                    <a:cubicBezTo>
                      <a:pt x="189767" y="520818"/>
                      <a:pt x="60783" y="648456"/>
                      <a:pt x="0" y="709567"/>
                    </a:cubicBezTo>
                    <a:cubicBezTo>
                      <a:pt x="0" y="708046"/>
                      <a:pt x="0" y="706525"/>
                      <a:pt x="0" y="704910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 26">
                <a:extLst>
                  <a:ext uri="{FF2B5EF4-FFF2-40B4-BE49-F238E27FC236}">
                    <a16:creationId xmlns:a16="http://schemas.microsoft.com/office/drawing/2014/main" id="{81A99EC4-B92E-BFB4-9985-4EB2259E196D}"/>
                  </a:ext>
                </a:extLst>
              </p:cNvPr>
              <p:cNvSpPr/>
              <p:nvPr/>
            </p:nvSpPr>
            <p:spPr>
              <a:xfrm>
                <a:off x="2666966" y="3498474"/>
                <a:ext cx="858280" cy="650927"/>
              </a:xfrm>
              <a:custGeom>
                <a:avLst/>
                <a:gdLst>
                  <a:gd name="connsiteX0" fmla="*/ 624568 w 858280"/>
                  <a:gd name="connsiteY0" fmla="*/ 650927 h 650927"/>
                  <a:gd name="connsiteX1" fmla="*/ 610299 w 858280"/>
                  <a:gd name="connsiteY1" fmla="*/ 650737 h 650927"/>
                  <a:gd name="connsiteX2" fmla="*/ 0 w 858280"/>
                  <a:gd name="connsiteY2" fmla="*/ 289681 h 650927"/>
                  <a:gd name="connsiteX3" fmla="*/ 858281 w 858280"/>
                  <a:gd name="connsiteY3" fmla="*/ 0 h 650927"/>
                  <a:gd name="connsiteX4" fmla="*/ 803206 w 858280"/>
                  <a:gd name="connsiteY4" fmla="*/ 628403 h 650927"/>
                  <a:gd name="connsiteX5" fmla="*/ 624568 w 858280"/>
                  <a:gd name="connsiteY5" fmla="*/ 650832 h 65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58280" h="650927">
                    <a:moveTo>
                      <a:pt x="624568" y="650927"/>
                    </a:moveTo>
                    <a:cubicBezTo>
                      <a:pt x="619811" y="650927"/>
                      <a:pt x="615055" y="650927"/>
                      <a:pt x="610299" y="650737"/>
                    </a:cubicBezTo>
                    <a:cubicBezTo>
                      <a:pt x="357942" y="645890"/>
                      <a:pt x="125560" y="507987"/>
                      <a:pt x="0" y="289681"/>
                    </a:cubicBezTo>
                    <a:cubicBezTo>
                      <a:pt x="93409" y="249859"/>
                      <a:pt x="427666" y="112622"/>
                      <a:pt x="858281" y="0"/>
                    </a:cubicBezTo>
                    <a:lnTo>
                      <a:pt x="803206" y="628403"/>
                    </a:lnTo>
                    <a:cubicBezTo>
                      <a:pt x="745086" y="643324"/>
                      <a:pt x="685065" y="650832"/>
                      <a:pt x="624568" y="650832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8" name="Forme libre 27">
                <a:extLst>
                  <a:ext uri="{FF2B5EF4-FFF2-40B4-BE49-F238E27FC236}">
                    <a16:creationId xmlns:a16="http://schemas.microsoft.com/office/drawing/2014/main" id="{57037F43-6B5B-9FDF-5977-22ED2CBF4585}"/>
                  </a:ext>
                </a:extLst>
              </p:cNvPr>
              <p:cNvSpPr/>
              <p:nvPr/>
            </p:nvSpPr>
            <p:spPr>
              <a:xfrm>
                <a:off x="3700746" y="3401343"/>
                <a:ext cx="310152" cy="574420"/>
              </a:xfrm>
              <a:custGeom>
                <a:avLst/>
                <a:gdLst>
                  <a:gd name="connsiteX0" fmla="*/ 59546 w 310152"/>
                  <a:gd name="connsiteY0" fmla="*/ 574420 h 574420"/>
                  <a:gd name="connsiteX1" fmla="*/ 0 w 310152"/>
                  <a:gd name="connsiteY1" fmla="*/ 55978 h 574420"/>
                  <a:gd name="connsiteX2" fmla="*/ 309525 w 310152"/>
                  <a:gd name="connsiteY2" fmla="*/ 0 h 574420"/>
                  <a:gd name="connsiteX3" fmla="*/ 310001 w 310152"/>
                  <a:gd name="connsiteY3" fmla="*/ 43243 h 574420"/>
                  <a:gd name="connsiteX4" fmla="*/ 59546 w 310152"/>
                  <a:gd name="connsiteY4" fmla="*/ 574420 h 574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52" h="574420">
                    <a:moveTo>
                      <a:pt x="59546" y="574420"/>
                    </a:moveTo>
                    <a:cubicBezTo>
                      <a:pt x="50034" y="483277"/>
                      <a:pt x="24446" y="241686"/>
                      <a:pt x="0" y="55978"/>
                    </a:cubicBezTo>
                    <a:cubicBezTo>
                      <a:pt x="164370" y="23190"/>
                      <a:pt x="266435" y="6653"/>
                      <a:pt x="309525" y="0"/>
                    </a:cubicBezTo>
                    <a:cubicBezTo>
                      <a:pt x="310191" y="14446"/>
                      <a:pt x="310286" y="28892"/>
                      <a:pt x="310001" y="43243"/>
                    </a:cubicBezTo>
                    <a:cubicBezTo>
                      <a:pt x="306006" y="248814"/>
                      <a:pt x="214974" y="440889"/>
                      <a:pt x="59546" y="574420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8ED9B721-A267-4F9A-C8FB-4EDF9035D0FC}"/>
                </a:ext>
              </a:extLst>
            </p:cNvPr>
            <p:cNvGrpSpPr/>
            <p:nvPr/>
          </p:nvGrpSpPr>
          <p:grpSpPr>
            <a:xfrm>
              <a:off x="5706531" y="1530040"/>
              <a:ext cx="1100669" cy="202837"/>
              <a:chOff x="4227814" y="2908087"/>
              <a:chExt cx="5388249" cy="992975"/>
            </a:xfrm>
            <a:grpFill/>
          </p:grpSpPr>
          <p:sp>
            <p:nvSpPr>
              <p:cNvPr id="17" name="Forme libre 16">
                <a:extLst>
                  <a:ext uri="{FF2B5EF4-FFF2-40B4-BE49-F238E27FC236}">
                    <a16:creationId xmlns:a16="http://schemas.microsoft.com/office/drawing/2014/main" id="{954C32A8-2448-2ED4-5AA6-BF5FBA02FF11}"/>
                  </a:ext>
                </a:extLst>
              </p:cNvPr>
              <p:cNvSpPr/>
              <p:nvPr/>
            </p:nvSpPr>
            <p:spPr>
              <a:xfrm>
                <a:off x="4227814" y="2917686"/>
                <a:ext cx="986885" cy="967029"/>
              </a:xfrm>
              <a:custGeom>
                <a:avLst/>
                <a:gdLst>
                  <a:gd name="connsiteX0" fmla="*/ 639692 w 986885"/>
                  <a:gd name="connsiteY0" fmla="*/ 598180 h 967029"/>
                  <a:gd name="connsiteX1" fmla="*/ 490732 w 986885"/>
                  <a:gd name="connsiteY1" fmla="*/ 204906 h 967029"/>
                  <a:gd name="connsiteX2" fmla="*/ 339013 w 986885"/>
                  <a:gd name="connsiteY2" fmla="*/ 598180 h 967029"/>
                  <a:gd name="connsiteX3" fmla="*/ 639787 w 986885"/>
                  <a:gd name="connsiteY3" fmla="*/ 598180 h 967029"/>
                  <a:gd name="connsiteX4" fmla="*/ 421008 w 986885"/>
                  <a:gd name="connsiteY4" fmla="*/ 0 h 967029"/>
                  <a:gd name="connsiteX5" fmla="*/ 569968 w 986885"/>
                  <a:gd name="connsiteY5" fmla="*/ 0 h 967029"/>
                  <a:gd name="connsiteX6" fmla="*/ 986885 w 986885"/>
                  <a:gd name="connsiteY6" fmla="*/ 967029 h 967029"/>
                  <a:gd name="connsiteX7" fmla="*/ 790079 w 986885"/>
                  <a:gd name="connsiteY7" fmla="*/ 967029 h 967029"/>
                  <a:gd name="connsiteX8" fmla="*/ 699904 w 986885"/>
                  <a:gd name="connsiteY8" fmla="*/ 745777 h 967029"/>
                  <a:gd name="connsiteX9" fmla="*/ 280228 w 986885"/>
                  <a:gd name="connsiteY9" fmla="*/ 745777 h 967029"/>
                  <a:gd name="connsiteX10" fmla="*/ 192716 w 986885"/>
                  <a:gd name="connsiteY10" fmla="*/ 967029 h 967029"/>
                  <a:gd name="connsiteX11" fmla="*/ 0 w 986885"/>
                  <a:gd name="connsiteY11" fmla="*/ 967029 h 967029"/>
                  <a:gd name="connsiteX12" fmla="*/ 421008 w 986885"/>
                  <a:gd name="connsiteY12" fmla="*/ 0 h 9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6885" h="967029">
                    <a:moveTo>
                      <a:pt x="639692" y="598180"/>
                    </a:moveTo>
                    <a:lnTo>
                      <a:pt x="490732" y="204906"/>
                    </a:lnTo>
                    <a:lnTo>
                      <a:pt x="339013" y="598180"/>
                    </a:lnTo>
                    <a:lnTo>
                      <a:pt x="639787" y="598180"/>
                    </a:lnTo>
                    <a:close/>
                    <a:moveTo>
                      <a:pt x="421008" y="0"/>
                    </a:moveTo>
                    <a:lnTo>
                      <a:pt x="569968" y="0"/>
                    </a:lnTo>
                    <a:lnTo>
                      <a:pt x="986885" y="967029"/>
                    </a:lnTo>
                    <a:lnTo>
                      <a:pt x="790079" y="967029"/>
                    </a:lnTo>
                    <a:lnTo>
                      <a:pt x="699904" y="745777"/>
                    </a:lnTo>
                    <a:lnTo>
                      <a:pt x="280228" y="745777"/>
                    </a:lnTo>
                    <a:lnTo>
                      <a:pt x="192716" y="967029"/>
                    </a:lnTo>
                    <a:lnTo>
                      <a:pt x="0" y="967029"/>
                    </a:lnTo>
                    <a:lnTo>
                      <a:pt x="421008" y="0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8" name="Forme libre 17">
                <a:extLst>
                  <a:ext uri="{FF2B5EF4-FFF2-40B4-BE49-F238E27FC236}">
                    <a16:creationId xmlns:a16="http://schemas.microsoft.com/office/drawing/2014/main" id="{E1893580-A1DE-E5E8-0239-182FC8F0EA96}"/>
                  </a:ext>
                </a:extLst>
              </p:cNvPr>
              <p:cNvSpPr/>
              <p:nvPr/>
            </p:nvSpPr>
            <p:spPr>
              <a:xfrm>
                <a:off x="5239146" y="3229036"/>
                <a:ext cx="598789" cy="671930"/>
              </a:xfrm>
              <a:custGeom>
                <a:avLst/>
                <a:gdLst>
                  <a:gd name="connsiteX0" fmla="*/ 598789 w 598789"/>
                  <a:gd name="connsiteY0" fmla="*/ 655584 h 671930"/>
                  <a:gd name="connsiteX1" fmla="*/ 442980 w 598789"/>
                  <a:gd name="connsiteY1" fmla="*/ 655584 h 671930"/>
                  <a:gd name="connsiteX2" fmla="*/ 442980 w 598789"/>
                  <a:gd name="connsiteY2" fmla="*/ 550375 h 671930"/>
                  <a:gd name="connsiteX3" fmla="*/ 440222 w 598789"/>
                  <a:gd name="connsiteY3" fmla="*/ 550375 h 671930"/>
                  <a:gd name="connsiteX4" fmla="*/ 239230 w 598789"/>
                  <a:gd name="connsiteY4" fmla="*/ 671931 h 671930"/>
                  <a:gd name="connsiteX5" fmla="*/ 0 w 598789"/>
                  <a:gd name="connsiteY5" fmla="*/ 413803 h 671930"/>
                  <a:gd name="connsiteX6" fmla="*/ 0 w 598789"/>
                  <a:gd name="connsiteY6" fmla="*/ 0 h 671930"/>
                  <a:gd name="connsiteX7" fmla="*/ 163989 w 598789"/>
                  <a:gd name="connsiteY7" fmla="*/ 0 h 671930"/>
                  <a:gd name="connsiteX8" fmla="*/ 163989 w 598789"/>
                  <a:gd name="connsiteY8" fmla="*/ 331879 h 671930"/>
                  <a:gd name="connsiteX9" fmla="*/ 284318 w 598789"/>
                  <a:gd name="connsiteY9" fmla="*/ 524429 h 671930"/>
                  <a:gd name="connsiteX10" fmla="*/ 434705 w 598789"/>
                  <a:gd name="connsiteY10" fmla="*/ 357825 h 671930"/>
                  <a:gd name="connsiteX11" fmla="*/ 434705 w 598789"/>
                  <a:gd name="connsiteY11" fmla="*/ 0 h 671930"/>
                  <a:gd name="connsiteX12" fmla="*/ 598694 w 598789"/>
                  <a:gd name="connsiteY12" fmla="*/ 0 h 671930"/>
                  <a:gd name="connsiteX13" fmla="*/ 598694 w 598789"/>
                  <a:gd name="connsiteY13" fmla="*/ 655584 h 671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98789" h="671930">
                    <a:moveTo>
                      <a:pt x="598789" y="655584"/>
                    </a:moveTo>
                    <a:lnTo>
                      <a:pt x="442980" y="655584"/>
                    </a:lnTo>
                    <a:lnTo>
                      <a:pt x="442980" y="550375"/>
                    </a:lnTo>
                    <a:lnTo>
                      <a:pt x="440222" y="550375"/>
                    </a:lnTo>
                    <a:cubicBezTo>
                      <a:pt x="410164" y="615858"/>
                      <a:pt x="348620" y="671931"/>
                      <a:pt x="239230" y="671931"/>
                    </a:cubicBezTo>
                    <a:cubicBezTo>
                      <a:pt x="62875" y="671931"/>
                      <a:pt x="0" y="547619"/>
                      <a:pt x="0" y="413803"/>
                    </a:cubicBezTo>
                    <a:lnTo>
                      <a:pt x="0" y="0"/>
                    </a:lnTo>
                    <a:lnTo>
                      <a:pt x="163989" y="0"/>
                    </a:lnTo>
                    <a:lnTo>
                      <a:pt x="163989" y="331879"/>
                    </a:lnTo>
                    <a:cubicBezTo>
                      <a:pt x="163989" y="404299"/>
                      <a:pt x="169506" y="524429"/>
                      <a:pt x="284318" y="524429"/>
                    </a:cubicBezTo>
                    <a:cubicBezTo>
                      <a:pt x="392281" y="524429"/>
                      <a:pt x="434705" y="445261"/>
                      <a:pt x="434705" y="357825"/>
                    </a:cubicBezTo>
                    <a:lnTo>
                      <a:pt x="434705" y="0"/>
                    </a:lnTo>
                    <a:lnTo>
                      <a:pt x="598694" y="0"/>
                    </a:lnTo>
                    <a:lnTo>
                      <a:pt x="598694" y="655584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9" name="Forme libre 18">
                <a:extLst>
                  <a:ext uri="{FF2B5EF4-FFF2-40B4-BE49-F238E27FC236}">
                    <a16:creationId xmlns:a16="http://schemas.microsoft.com/office/drawing/2014/main" id="{47D9A284-3B86-756D-99A2-E8BCFF28C157}"/>
                  </a:ext>
                </a:extLst>
              </p:cNvPr>
              <p:cNvSpPr/>
              <p:nvPr/>
            </p:nvSpPr>
            <p:spPr>
              <a:xfrm>
                <a:off x="5922688" y="2917686"/>
                <a:ext cx="708084" cy="983376"/>
              </a:xfrm>
              <a:custGeom>
                <a:avLst/>
                <a:gdLst>
                  <a:gd name="connsiteX0" fmla="*/ 356801 w 708084"/>
                  <a:gd name="connsiteY0" fmla="*/ 835779 h 983376"/>
                  <a:gd name="connsiteX1" fmla="*/ 549517 w 708084"/>
                  <a:gd name="connsiteY1" fmla="*/ 639142 h 983376"/>
                  <a:gd name="connsiteX2" fmla="*/ 356801 w 708084"/>
                  <a:gd name="connsiteY2" fmla="*/ 442505 h 983376"/>
                  <a:gd name="connsiteX3" fmla="*/ 164085 w 708084"/>
                  <a:gd name="connsiteY3" fmla="*/ 639142 h 983376"/>
                  <a:gd name="connsiteX4" fmla="*/ 356801 w 708084"/>
                  <a:gd name="connsiteY4" fmla="*/ 835779 h 983376"/>
                  <a:gd name="connsiteX5" fmla="*/ 552275 w 708084"/>
                  <a:gd name="connsiteY5" fmla="*/ 868568 h 983376"/>
                  <a:gd name="connsiteX6" fmla="*/ 549517 w 708084"/>
                  <a:gd name="connsiteY6" fmla="*/ 868568 h 983376"/>
                  <a:gd name="connsiteX7" fmla="*/ 323984 w 708084"/>
                  <a:gd name="connsiteY7" fmla="*/ 983376 h 983376"/>
                  <a:gd name="connsiteX8" fmla="*/ 0 w 708084"/>
                  <a:gd name="connsiteY8" fmla="*/ 639237 h 983376"/>
                  <a:gd name="connsiteX9" fmla="*/ 317135 w 708084"/>
                  <a:gd name="connsiteY9" fmla="*/ 295003 h 983376"/>
                  <a:gd name="connsiteX10" fmla="*/ 540004 w 708084"/>
                  <a:gd name="connsiteY10" fmla="*/ 394700 h 983376"/>
                  <a:gd name="connsiteX11" fmla="*/ 544000 w 708084"/>
                  <a:gd name="connsiteY11" fmla="*/ 394700 h 983376"/>
                  <a:gd name="connsiteX12" fmla="*/ 544000 w 708084"/>
                  <a:gd name="connsiteY12" fmla="*/ 0 h 983376"/>
                  <a:gd name="connsiteX13" fmla="*/ 708084 w 708084"/>
                  <a:gd name="connsiteY13" fmla="*/ 0 h 983376"/>
                  <a:gd name="connsiteX14" fmla="*/ 708084 w 708084"/>
                  <a:gd name="connsiteY14" fmla="*/ 966934 h 983376"/>
                  <a:gd name="connsiteX15" fmla="*/ 552275 w 708084"/>
                  <a:gd name="connsiteY15" fmla="*/ 966934 h 983376"/>
                  <a:gd name="connsiteX16" fmla="*/ 552275 w 708084"/>
                  <a:gd name="connsiteY16" fmla="*/ 868568 h 983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08084" h="983376">
                    <a:moveTo>
                      <a:pt x="356801" y="835779"/>
                    </a:moveTo>
                    <a:cubicBezTo>
                      <a:pt x="477129" y="835779"/>
                      <a:pt x="549517" y="741595"/>
                      <a:pt x="549517" y="639142"/>
                    </a:cubicBezTo>
                    <a:cubicBezTo>
                      <a:pt x="549517" y="536689"/>
                      <a:pt x="477034" y="442505"/>
                      <a:pt x="356801" y="442505"/>
                    </a:cubicBezTo>
                    <a:cubicBezTo>
                      <a:pt x="236567" y="442505"/>
                      <a:pt x="164085" y="536689"/>
                      <a:pt x="164085" y="639142"/>
                    </a:cubicBezTo>
                    <a:cubicBezTo>
                      <a:pt x="164085" y="741595"/>
                      <a:pt x="236567" y="835779"/>
                      <a:pt x="356801" y="835779"/>
                    </a:cubicBezTo>
                    <a:moveTo>
                      <a:pt x="552275" y="868568"/>
                    </a:moveTo>
                    <a:lnTo>
                      <a:pt x="549517" y="868568"/>
                    </a:lnTo>
                    <a:cubicBezTo>
                      <a:pt x="501670" y="947831"/>
                      <a:pt x="415586" y="983376"/>
                      <a:pt x="323984" y="983376"/>
                    </a:cubicBezTo>
                    <a:cubicBezTo>
                      <a:pt x="121660" y="983376"/>
                      <a:pt x="0" y="833118"/>
                      <a:pt x="0" y="639237"/>
                    </a:cubicBezTo>
                    <a:cubicBezTo>
                      <a:pt x="0" y="445356"/>
                      <a:pt x="129841" y="295003"/>
                      <a:pt x="317135" y="295003"/>
                    </a:cubicBezTo>
                    <a:cubicBezTo>
                      <a:pt x="440127" y="295003"/>
                      <a:pt x="505761" y="352407"/>
                      <a:pt x="540004" y="394700"/>
                    </a:cubicBezTo>
                    <a:lnTo>
                      <a:pt x="544000" y="394700"/>
                    </a:lnTo>
                    <a:lnTo>
                      <a:pt x="544000" y="0"/>
                    </a:lnTo>
                    <a:lnTo>
                      <a:pt x="708084" y="0"/>
                    </a:lnTo>
                    <a:lnTo>
                      <a:pt x="708084" y="966934"/>
                    </a:lnTo>
                    <a:lnTo>
                      <a:pt x="552275" y="966934"/>
                    </a:lnTo>
                    <a:lnTo>
                      <a:pt x="552275" y="868568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0" name="Forme libre 19">
                <a:extLst>
                  <a:ext uri="{FF2B5EF4-FFF2-40B4-BE49-F238E27FC236}">
                    <a16:creationId xmlns:a16="http://schemas.microsoft.com/office/drawing/2014/main" id="{5AF49FFC-8EB0-33B2-8409-0EB674281EE3}"/>
                  </a:ext>
                </a:extLst>
              </p:cNvPr>
              <p:cNvSpPr/>
              <p:nvPr/>
            </p:nvSpPr>
            <p:spPr>
              <a:xfrm>
                <a:off x="6715430" y="3212594"/>
                <a:ext cx="664328" cy="688372"/>
              </a:xfrm>
              <a:custGeom>
                <a:avLst/>
                <a:gdLst>
                  <a:gd name="connsiteX0" fmla="*/ 500339 w 664328"/>
                  <a:gd name="connsiteY0" fmla="*/ 278657 h 688372"/>
                  <a:gd name="connsiteX1" fmla="*/ 333591 w 664328"/>
                  <a:gd name="connsiteY1" fmla="*/ 122981 h 688372"/>
                  <a:gd name="connsiteX2" fmla="*/ 164085 w 664328"/>
                  <a:gd name="connsiteY2" fmla="*/ 278657 h 688372"/>
                  <a:gd name="connsiteX3" fmla="*/ 500339 w 664328"/>
                  <a:gd name="connsiteY3" fmla="*/ 278657 h 688372"/>
                  <a:gd name="connsiteX4" fmla="*/ 164085 w 664328"/>
                  <a:gd name="connsiteY4" fmla="*/ 401543 h 688372"/>
                  <a:gd name="connsiteX5" fmla="*/ 340440 w 664328"/>
                  <a:gd name="connsiteY5" fmla="*/ 557218 h 688372"/>
                  <a:gd name="connsiteX6" fmla="*/ 516795 w 664328"/>
                  <a:gd name="connsiteY6" fmla="*/ 468451 h 688372"/>
                  <a:gd name="connsiteX7" fmla="*/ 634365 w 664328"/>
                  <a:gd name="connsiteY7" fmla="*/ 557218 h 688372"/>
                  <a:gd name="connsiteX8" fmla="*/ 356801 w 664328"/>
                  <a:gd name="connsiteY8" fmla="*/ 688373 h 688372"/>
                  <a:gd name="connsiteX9" fmla="*/ 0 w 664328"/>
                  <a:gd name="connsiteY9" fmla="*/ 344234 h 688372"/>
                  <a:gd name="connsiteX10" fmla="*/ 356801 w 664328"/>
                  <a:gd name="connsiteY10" fmla="*/ 0 h 688372"/>
                  <a:gd name="connsiteX11" fmla="*/ 664328 w 664328"/>
                  <a:gd name="connsiteY11" fmla="*/ 356494 h 688372"/>
                  <a:gd name="connsiteX12" fmla="*/ 664328 w 664328"/>
                  <a:gd name="connsiteY12" fmla="*/ 401543 h 688372"/>
                  <a:gd name="connsiteX13" fmla="*/ 163989 w 664328"/>
                  <a:gd name="connsiteY13" fmla="*/ 401543 h 688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64328" h="688372">
                    <a:moveTo>
                      <a:pt x="500339" y="278657"/>
                    </a:moveTo>
                    <a:cubicBezTo>
                      <a:pt x="498912" y="183047"/>
                      <a:pt x="436037" y="122981"/>
                      <a:pt x="333591" y="122981"/>
                    </a:cubicBezTo>
                    <a:cubicBezTo>
                      <a:pt x="236472" y="122981"/>
                      <a:pt x="176355" y="184472"/>
                      <a:pt x="164085" y="278657"/>
                    </a:cubicBezTo>
                    <a:lnTo>
                      <a:pt x="500339" y="278657"/>
                    </a:lnTo>
                    <a:close/>
                    <a:moveTo>
                      <a:pt x="164085" y="401543"/>
                    </a:moveTo>
                    <a:cubicBezTo>
                      <a:pt x="175023" y="498578"/>
                      <a:pt x="248838" y="557218"/>
                      <a:pt x="340440" y="557218"/>
                    </a:cubicBezTo>
                    <a:cubicBezTo>
                      <a:pt x="422434" y="557218"/>
                      <a:pt x="475703" y="519012"/>
                      <a:pt x="516795" y="468451"/>
                    </a:cubicBezTo>
                    <a:lnTo>
                      <a:pt x="634365" y="557218"/>
                    </a:lnTo>
                    <a:cubicBezTo>
                      <a:pt x="557792" y="651402"/>
                      <a:pt x="460673" y="688373"/>
                      <a:pt x="356801" y="688373"/>
                    </a:cubicBezTo>
                    <a:cubicBezTo>
                      <a:pt x="158568" y="688373"/>
                      <a:pt x="0" y="550470"/>
                      <a:pt x="0" y="344234"/>
                    </a:cubicBezTo>
                    <a:cubicBezTo>
                      <a:pt x="0" y="137998"/>
                      <a:pt x="158568" y="0"/>
                      <a:pt x="356801" y="0"/>
                    </a:cubicBezTo>
                    <a:cubicBezTo>
                      <a:pt x="540005" y="0"/>
                      <a:pt x="664328" y="128399"/>
                      <a:pt x="664328" y="356494"/>
                    </a:cubicBezTo>
                    <a:lnTo>
                      <a:pt x="664328" y="401543"/>
                    </a:lnTo>
                    <a:lnTo>
                      <a:pt x="163989" y="401543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1" name="Forme libre 20">
                <a:extLst>
                  <a:ext uri="{FF2B5EF4-FFF2-40B4-BE49-F238E27FC236}">
                    <a16:creationId xmlns:a16="http://schemas.microsoft.com/office/drawing/2014/main" id="{82B2538B-6B25-0FBA-ADDC-F8ADDE9460DB}"/>
                  </a:ext>
                </a:extLst>
              </p:cNvPr>
              <p:cNvSpPr/>
              <p:nvPr/>
            </p:nvSpPr>
            <p:spPr>
              <a:xfrm>
                <a:off x="7464417" y="3212689"/>
                <a:ext cx="598789" cy="672025"/>
              </a:xfrm>
              <a:custGeom>
                <a:avLst/>
                <a:gdLst>
                  <a:gd name="connsiteX0" fmla="*/ 95 w 598789"/>
                  <a:gd name="connsiteY0" fmla="*/ 16347 h 672025"/>
                  <a:gd name="connsiteX1" fmla="*/ 155904 w 598789"/>
                  <a:gd name="connsiteY1" fmla="*/ 16347 h 672025"/>
                  <a:gd name="connsiteX2" fmla="*/ 155904 w 598789"/>
                  <a:gd name="connsiteY2" fmla="*/ 121556 h 672025"/>
                  <a:gd name="connsiteX3" fmla="*/ 158568 w 598789"/>
                  <a:gd name="connsiteY3" fmla="*/ 121556 h 672025"/>
                  <a:gd name="connsiteX4" fmla="*/ 359559 w 598789"/>
                  <a:gd name="connsiteY4" fmla="*/ 0 h 672025"/>
                  <a:gd name="connsiteX5" fmla="*/ 598790 w 598789"/>
                  <a:gd name="connsiteY5" fmla="*/ 258128 h 672025"/>
                  <a:gd name="connsiteX6" fmla="*/ 598790 w 598789"/>
                  <a:gd name="connsiteY6" fmla="*/ 672026 h 672025"/>
                  <a:gd name="connsiteX7" fmla="*/ 434705 w 598789"/>
                  <a:gd name="connsiteY7" fmla="*/ 672026 h 672025"/>
                  <a:gd name="connsiteX8" fmla="*/ 434705 w 598789"/>
                  <a:gd name="connsiteY8" fmla="*/ 340147 h 672025"/>
                  <a:gd name="connsiteX9" fmla="*/ 314376 w 598789"/>
                  <a:gd name="connsiteY9" fmla="*/ 147597 h 672025"/>
                  <a:gd name="connsiteX10" fmla="*/ 163989 w 598789"/>
                  <a:gd name="connsiteY10" fmla="*/ 314201 h 672025"/>
                  <a:gd name="connsiteX11" fmla="*/ 163989 w 598789"/>
                  <a:gd name="connsiteY11" fmla="*/ 672026 h 672025"/>
                  <a:gd name="connsiteX12" fmla="*/ 0 w 598789"/>
                  <a:gd name="connsiteY12" fmla="*/ 672026 h 672025"/>
                  <a:gd name="connsiteX13" fmla="*/ 0 w 598789"/>
                  <a:gd name="connsiteY13" fmla="*/ 16347 h 672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98789" h="672025">
                    <a:moveTo>
                      <a:pt x="95" y="16347"/>
                    </a:moveTo>
                    <a:lnTo>
                      <a:pt x="155904" y="16347"/>
                    </a:lnTo>
                    <a:lnTo>
                      <a:pt x="155904" y="121556"/>
                    </a:lnTo>
                    <a:lnTo>
                      <a:pt x="158568" y="121556"/>
                    </a:lnTo>
                    <a:cubicBezTo>
                      <a:pt x="188721" y="56073"/>
                      <a:pt x="250265" y="0"/>
                      <a:pt x="359559" y="0"/>
                    </a:cubicBezTo>
                    <a:cubicBezTo>
                      <a:pt x="535915" y="0"/>
                      <a:pt x="598790" y="124312"/>
                      <a:pt x="598790" y="258128"/>
                    </a:cubicBezTo>
                    <a:lnTo>
                      <a:pt x="598790" y="672026"/>
                    </a:lnTo>
                    <a:lnTo>
                      <a:pt x="434705" y="672026"/>
                    </a:lnTo>
                    <a:lnTo>
                      <a:pt x="434705" y="340147"/>
                    </a:lnTo>
                    <a:cubicBezTo>
                      <a:pt x="434705" y="267822"/>
                      <a:pt x="429283" y="147597"/>
                      <a:pt x="314376" y="147597"/>
                    </a:cubicBezTo>
                    <a:cubicBezTo>
                      <a:pt x="206414" y="147597"/>
                      <a:pt x="163989" y="226860"/>
                      <a:pt x="163989" y="314201"/>
                    </a:cubicBezTo>
                    <a:lnTo>
                      <a:pt x="163989" y="672026"/>
                    </a:lnTo>
                    <a:lnTo>
                      <a:pt x="0" y="672026"/>
                    </a:lnTo>
                    <a:lnTo>
                      <a:pt x="0" y="16347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2" name="Forme libre 21">
                <a:extLst>
                  <a:ext uri="{FF2B5EF4-FFF2-40B4-BE49-F238E27FC236}">
                    <a16:creationId xmlns:a16="http://schemas.microsoft.com/office/drawing/2014/main" id="{B45DE06D-7DB7-7CE6-B62B-FF889C4BEE14}"/>
                  </a:ext>
                </a:extLst>
              </p:cNvPr>
              <p:cNvSpPr/>
              <p:nvPr/>
            </p:nvSpPr>
            <p:spPr>
              <a:xfrm>
                <a:off x="8147865" y="3212689"/>
                <a:ext cx="594603" cy="688372"/>
              </a:xfrm>
              <a:custGeom>
                <a:avLst/>
                <a:gdLst>
                  <a:gd name="connsiteX0" fmla="*/ 481219 w 594603"/>
                  <a:gd name="connsiteY0" fmla="*/ 213079 h 688372"/>
                  <a:gd name="connsiteX1" fmla="*/ 356800 w 594603"/>
                  <a:gd name="connsiteY1" fmla="*/ 147502 h 688372"/>
                  <a:gd name="connsiteX2" fmla="*/ 163989 w 594603"/>
                  <a:gd name="connsiteY2" fmla="*/ 344139 h 688372"/>
                  <a:gd name="connsiteX3" fmla="*/ 356800 w 594603"/>
                  <a:gd name="connsiteY3" fmla="*/ 540776 h 688372"/>
                  <a:gd name="connsiteX4" fmla="*/ 483883 w 594603"/>
                  <a:gd name="connsiteY4" fmla="*/ 479380 h 688372"/>
                  <a:gd name="connsiteX5" fmla="*/ 593273 w 594603"/>
                  <a:gd name="connsiteY5" fmla="*/ 596850 h 688372"/>
                  <a:gd name="connsiteX6" fmla="*/ 356800 w 594603"/>
                  <a:gd name="connsiteY6" fmla="*/ 688373 h 688372"/>
                  <a:gd name="connsiteX7" fmla="*/ 0 w 594603"/>
                  <a:gd name="connsiteY7" fmla="*/ 344139 h 688372"/>
                  <a:gd name="connsiteX8" fmla="*/ 356800 w 594603"/>
                  <a:gd name="connsiteY8" fmla="*/ 0 h 688372"/>
                  <a:gd name="connsiteX9" fmla="*/ 594604 w 594603"/>
                  <a:gd name="connsiteY9" fmla="*/ 99697 h 688372"/>
                  <a:gd name="connsiteX10" fmla="*/ 481124 w 594603"/>
                  <a:gd name="connsiteY10" fmla="*/ 212984 h 688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94603" h="688372">
                    <a:moveTo>
                      <a:pt x="481219" y="213079"/>
                    </a:moveTo>
                    <a:cubicBezTo>
                      <a:pt x="442885" y="173447"/>
                      <a:pt x="400556" y="147502"/>
                      <a:pt x="356800" y="147502"/>
                    </a:cubicBezTo>
                    <a:cubicBezTo>
                      <a:pt x="236472" y="147502"/>
                      <a:pt x="163989" y="241686"/>
                      <a:pt x="163989" y="344139"/>
                    </a:cubicBezTo>
                    <a:cubicBezTo>
                      <a:pt x="163989" y="446592"/>
                      <a:pt x="236472" y="540776"/>
                      <a:pt x="356800" y="540776"/>
                    </a:cubicBezTo>
                    <a:cubicBezTo>
                      <a:pt x="407310" y="540776"/>
                      <a:pt x="453824" y="519012"/>
                      <a:pt x="483883" y="479380"/>
                    </a:cubicBezTo>
                    <a:lnTo>
                      <a:pt x="593273" y="596850"/>
                    </a:lnTo>
                    <a:cubicBezTo>
                      <a:pt x="526307" y="663758"/>
                      <a:pt x="414159" y="688373"/>
                      <a:pt x="356800" y="688373"/>
                    </a:cubicBezTo>
                    <a:cubicBezTo>
                      <a:pt x="158567" y="688373"/>
                      <a:pt x="0" y="550375"/>
                      <a:pt x="0" y="344139"/>
                    </a:cubicBezTo>
                    <a:cubicBezTo>
                      <a:pt x="0" y="137903"/>
                      <a:pt x="158567" y="0"/>
                      <a:pt x="356800" y="0"/>
                    </a:cubicBezTo>
                    <a:cubicBezTo>
                      <a:pt x="440222" y="0"/>
                      <a:pt x="531729" y="30033"/>
                      <a:pt x="594604" y="99697"/>
                    </a:cubicBezTo>
                    <a:lnTo>
                      <a:pt x="481124" y="212984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3" name="Forme libre 22">
                <a:extLst>
                  <a:ext uri="{FF2B5EF4-FFF2-40B4-BE49-F238E27FC236}">
                    <a16:creationId xmlns:a16="http://schemas.microsoft.com/office/drawing/2014/main" id="{12BD76DA-1C9F-5902-44E1-4A5F7B9829C5}"/>
                  </a:ext>
                </a:extLst>
              </p:cNvPr>
              <p:cNvSpPr/>
              <p:nvPr/>
            </p:nvSpPr>
            <p:spPr>
              <a:xfrm>
                <a:off x="8750745" y="2908087"/>
                <a:ext cx="210408" cy="976533"/>
              </a:xfrm>
              <a:custGeom>
                <a:avLst/>
                <a:gdLst>
                  <a:gd name="connsiteX0" fmla="*/ 23210 w 210408"/>
                  <a:gd name="connsiteY0" fmla="*/ 320949 h 976533"/>
                  <a:gd name="connsiteX1" fmla="*/ 187294 w 210408"/>
                  <a:gd name="connsiteY1" fmla="*/ 320949 h 976533"/>
                  <a:gd name="connsiteX2" fmla="*/ 187294 w 210408"/>
                  <a:gd name="connsiteY2" fmla="*/ 976533 h 976533"/>
                  <a:gd name="connsiteX3" fmla="*/ 23210 w 210408"/>
                  <a:gd name="connsiteY3" fmla="*/ 976533 h 976533"/>
                  <a:gd name="connsiteX4" fmla="*/ 23210 w 210408"/>
                  <a:gd name="connsiteY4" fmla="*/ 320949 h 976533"/>
                  <a:gd name="connsiteX5" fmla="*/ 103872 w 210408"/>
                  <a:gd name="connsiteY5" fmla="*/ 0 h 976533"/>
                  <a:gd name="connsiteX6" fmla="*/ 210409 w 210408"/>
                  <a:gd name="connsiteY6" fmla="*/ 98271 h 976533"/>
                  <a:gd name="connsiteX7" fmla="*/ 103872 w 210408"/>
                  <a:gd name="connsiteY7" fmla="*/ 196637 h 976533"/>
                  <a:gd name="connsiteX8" fmla="*/ 0 w 210408"/>
                  <a:gd name="connsiteY8" fmla="*/ 98271 h 976533"/>
                  <a:gd name="connsiteX9" fmla="*/ 103872 w 210408"/>
                  <a:gd name="connsiteY9" fmla="*/ 0 h 976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408" h="976533">
                    <a:moveTo>
                      <a:pt x="23210" y="320949"/>
                    </a:moveTo>
                    <a:lnTo>
                      <a:pt x="187294" y="320949"/>
                    </a:lnTo>
                    <a:lnTo>
                      <a:pt x="187294" y="976533"/>
                    </a:lnTo>
                    <a:lnTo>
                      <a:pt x="23210" y="976533"/>
                    </a:lnTo>
                    <a:lnTo>
                      <a:pt x="23210" y="320949"/>
                    </a:lnTo>
                    <a:close/>
                    <a:moveTo>
                      <a:pt x="103872" y="0"/>
                    </a:moveTo>
                    <a:cubicBezTo>
                      <a:pt x="163989" y="0"/>
                      <a:pt x="210409" y="42293"/>
                      <a:pt x="210409" y="98271"/>
                    </a:cubicBezTo>
                    <a:cubicBezTo>
                      <a:pt x="210409" y="154249"/>
                      <a:pt x="163989" y="196637"/>
                      <a:pt x="103872" y="196637"/>
                    </a:cubicBezTo>
                    <a:cubicBezTo>
                      <a:pt x="43756" y="196637"/>
                      <a:pt x="0" y="150163"/>
                      <a:pt x="0" y="98271"/>
                    </a:cubicBezTo>
                    <a:cubicBezTo>
                      <a:pt x="0" y="46379"/>
                      <a:pt x="43756" y="0"/>
                      <a:pt x="103872" y="0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4" name="Forme libre 23">
                <a:extLst>
                  <a:ext uri="{FF2B5EF4-FFF2-40B4-BE49-F238E27FC236}">
                    <a16:creationId xmlns:a16="http://schemas.microsoft.com/office/drawing/2014/main" id="{3B09702B-0C60-4631-33F5-3FA7D541CC4A}"/>
                  </a:ext>
                </a:extLst>
              </p:cNvPr>
              <p:cNvSpPr/>
              <p:nvPr/>
            </p:nvSpPr>
            <p:spPr>
              <a:xfrm>
                <a:off x="9014611" y="3212499"/>
                <a:ext cx="601452" cy="688467"/>
              </a:xfrm>
              <a:custGeom>
                <a:avLst/>
                <a:gdLst>
                  <a:gd name="connsiteX0" fmla="*/ 444217 w 601452"/>
                  <a:gd name="connsiteY0" fmla="*/ 378448 h 688467"/>
                  <a:gd name="connsiteX1" fmla="*/ 410068 w 601452"/>
                  <a:gd name="connsiteY1" fmla="*/ 378448 h 688467"/>
                  <a:gd name="connsiteX2" fmla="*/ 163989 w 601452"/>
                  <a:gd name="connsiteY2" fmla="*/ 479571 h 688467"/>
                  <a:gd name="connsiteX3" fmla="*/ 278801 w 601452"/>
                  <a:gd name="connsiteY3" fmla="*/ 565582 h 688467"/>
                  <a:gd name="connsiteX4" fmla="*/ 444217 w 601452"/>
                  <a:gd name="connsiteY4" fmla="*/ 415419 h 688467"/>
                  <a:gd name="connsiteX5" fmla="*/ 444217 w 601452"/>
                  <a:gd name="connsiteY5" fmla="*/ 378543 h 688467"/>
                  <a:gd name="connsiteX6" fmla="*/ 453824 w 601452"/>
                  <a:gd name="connsiteY6" fmla="*/ 581928 h 688467"/>
                  <a:gd name="connsiteX7" fmla="*/ 449734 w 601452"/>
                  <a:gd name="connsiteY7" fmla="*/ 581928 h 688467"/>
                  <a:gd name="connsiteX8" fmla="*/ 239230 w 601452"/>
                  <a:gd name="connsiteY8" fmla="*/ 688468 h 688467"/>
                  <a:gd name="connsiteX9" fmla="*/ 0 w 601452"/>
                  <a:gd name="connsiteY9" fmla="*/ 491736 h 688467"/>
                  <a:gd name="connsiteX10" fmla="*/ 412827 w 601452"/>
                  <a:gd name="connsiteY10" fmla="*/ 263640 h 688467"/>
                  <a:gd name="connsiteX11" fmla="*/ 453824 w 601452"/>
                  <a:gd name="connsiteY11" fmla="*/ 263640 h 688467"/>
                  <a:gd name="connsiteX12" fmla="*/ 453824 w 601452"/>
                  <a:gd name="connsiteY12" fmla="*/ 245868 h 688467"/>
                  <a:gd name="connsiteX13" fmla="*/ 303437 w 601452"/>
                  <a:gd name="connsiteY13" fmla="*/ 122981 h 688467"/>
                  <a:gd name="connsiteX14" fmla="*/ 128509 w 601452"/>
                  <a:gd name="connsiteY14" fmla="*/ 191220 h 688467"/>
                  <a:gd name="connsiteX15" fmla="*/ 42424 w 601452"/>
                  <a:gd name="connsiteY15" fmla="*/ 105209 h 688467"/>
                  <a:gd name="connsiteX16" fmla="*/ 321225 w 601452"/>
                  <a:gd name="connsiteY16" fmla="*/ 0 h 688467"/>
                  <a:gd name="connsiteX17" fmla="*/ 601453 w 601452"/>
                  <a:gd name="connsiteY17" fmla="*/ 295003 h 688467"/>
                  <a:gd name="connsiteX18" fmla="*/ 601453 w 601452"/>
                  <a:gd name="connsiteY18" fmla="*/ 672026 h 688467"/>
                  <a:gd name="connsiteX19" fmla="*/ 453824 w 601452"/>
                  <a:gd name="connsiteY19" fmla="*/ 672026 h 688467"/>
                  <a:gd name="connsiteX20" fmla="*/ 453824 w 601452"/>
                  <a:gd name="connsiteY20" fmla="*/ 581833 h 688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01452" h="688467">
                    <a:moveTo>
                      <a:pt x="444217" y="378448"/>
                    </a:moveTo>
                    <a:lnTo>
                      <a:pt x="410068" y="378448"/>
                    </a:lnTo>
                    <a:cubicBezTo>
                      <a:pt x="319798" y="378448"/>
                      <a:pt x="163989" y="385291"/>
                      <a:pt x="163989" y="479571"/>
                    </a:cubicBezTo>
                    <a:cubicBezTo>
                      <a:pt x="163989" y="539636"/>
                      <a:pt x="225438" y="565582"/>
                      <a:pt x="278801" y="565582"/>
                    </a:cubicBezTo>
                    <a:cubicBezTo>
                      <a:pt x="390854" y="565582"/>
                      <a:pt x="444217" y="506847"/>
                      <a:pt x="444217" y="415419"/>
                    </a:cubicBezTo>
                    <a:lnTo>
                      <a:pt x="444217" y="378543"/>
                    </a:lnTo>
                    <a:close/>
                    <a:moveTo>
                      <a:pt x="453824" y="581928"/>
                    </a:moveTo>
                    <a:lnTo>
                      <a:pt x="449734" y="581928"/>
                    </a:lnTo>
                    <a:cubicBezTo>
                      <a:pt x="403315" y="655679"/>
                      <a:pt x="326742" y="688468"/>
                      <a:pt x="239230" y="688468"/>
                    </a:cubicBezTo>
                    <a:cubicBezTo>
                      <a:pt x="117570" y="688468"/>
                      <a:pt x="0" y="621560"/>
                      <a:pt x="0" y="491736"/>
                    </a:cubicBezTo>
                    <a:cubicBezTo>
                      <a:pt x="0" y="278752"/>
                      <a:pt x="248837" y="263640"/>
                      <a:pt x="412827" y="263640"/>
                    </a:cubicBezTo>
                    <a:lnTo>
                      <a:pt x="453824" y="263640"/>
                    </a:lnTo>
                    <a:lnTo>
                      <a:pt x="453824" y="245868"/>
                    </a:lnTo>
                    <a:cubicBezTo>
                      <a:pt x="453824" y="165274"/>
                      <a:pt x="390949" y="122981"/>
                      <a:pt x="303437" y="122981"/>
                    </a:cubicBezTo>
                    <a:cubicBezTo>
                      <a:pt x="235140" y="122981"/>
                      <a:pt x="172265" y="150258"/>
                      <a:pt x="128509" y="191220"/>
                    </a:cubicBezTo>
                    <a:lnTo>
                      <a:pt x="42424" y="105209"/>
                    </a:lnTo>
                    <a:cubicBezTo>
                      <a:pt x="114906" y="31458"/>
                      <a:pt x="217352" y="0"/>
                      <a:pt x="321225" y="0"/>
                    </a:cubicBezTo>
                    <a:cubicBezTo>
                      <a:pt x="601453" y="0"/>
                      <a:pt x="601453" y="202149"/>
                      <a:pt x="601453" y="295003"/>
                    </a:cubicBezTo>
                    <a:lnTo>
                      <a:pt x="601453" y="672026"/>
                    </a:lnTo>
                    <a:lnTo>
                      <a:pt x="453824" y="672026"/>
                    </a:lnTo>
                    <a:lnTo>
                      <a:pt x="453824" y="581833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1325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e libre 12">
            <a:extLst>
              <a:ext uri="{FF2B5EF4-FFF2-40B4-BE49-F238E27FC236}">
                <a16:creationId xmlns:a16="http://schemas.microsoft.com/office/drawing/2014/main" id="{7B7A42F2-EFD8-3532-7665-4DC98020AA81}"/>
              </a:ext>
            </a:extLst>
          </p:cNvPr>
          <p:cNvSpPr/>
          <p:nvPr userDrawn="1"/>
        </p:nvSpPr>
        <p:spPr>
          <a:xfrm>
            <a:off x="7573546" y="-665032"/>
            <a:ext cx="6215606" cy="7349692"/>
          </a:xfrm>
          <a:custGeom>
            <a:avLst/>
            <a:gdLst>
              <a:gd name="connsiteX0" fmla="*/ 1390897 w 2413380"/>
              <a:gd name="connsiteY0" fmla="*/ 416515 h 2853720"/>
              <a:gd name="connsiteX1" fmla="*/ 607531 w 2413380"/>
              <a:gd name="connsiteY1" fmla="*/ 752523 h 2853720"/>
              <a:gd name="connsiteX2" fmla="*/ 305194 w 2413380"/>
              <a:gd name="connsiteY2" fmla="*/ 916697 h 2853720"/>
              <a:gd name="connsiteX3" fmla="*/ 224726 w 2413380"/>
              <a:gd name="connsiteY3" fmla="*/ 970672 h 2853720"/>
              <a:gd name="connsiteX4" fmla="*/ 182349 w 2413380"/>
              <a:gd name="connsiteY4" fmla="*/ 1002759 h 2853720"/>
              <a:gd name="connsiteX5" fmla="*/ 139138 w 2413380"/>
              <a:gd name="connsiteY5" fmla="*/ 1039964 h 2853720"/>
              <a:gd name="connsiteX6" fmla="*/ 61175 w 2413380"/>
              <a:gd name="connsiteY6" fmla="*/ 1127586 h 2853720"/>
              <a:gd name="connsiteX7" fmla="*/ 9140 w 2413380"/>
              <a:gd name="connsiteY7" fmla="*/ 1237350 h 2853720"/>
              <a:gd name="connsiteX8" fmla="*/ 5726 w 2413380"/>
              <a:gd name="connsiteY8" fmla="*/ 1364320 h 2853720"/>
              <a:gd name="connsiteX9" fmla="*/ 57181 w 2413380"/>
              <a:gd name="connsiteY9" fmla="*/ 1488458 h 2853720"/>
              <a:gd name="connsiteX10" fmla="*/ 97960 w 2413380"/>
              <a:gd name="connsiteY10" fmla="*/ 1546425 h 2853720"/>
              <a:gd name="connsiteX11" fmla="*/ 121599 w 2413380"/>
              <a:gd name="connsiteY11" fmla="*/ 1574156 h 2853720"/>
              <a:gd name="connsiteX12" fmla="*/ 146073 w 2413380"/>
              <a:gd name="connsiteY12" fmla="*/ 1601125 h 2853720"/>
              <a:gd name="connsiteX13" fmla="*/ 196366 w 2413380"/>
              <a:gd name="connsiteY13" fmla="*/ 1650018 h 2853720"/>
              <a:gd name="connsiteX14" fmla="*/ 221712 w 2413380"/>
              <a:gd name="connsiteY14" fmla="*/ 1673067 h 2853720"/>
              <a:gd name="connsiteX15" fmla="*/ 247966 w 2413380"/>
              <a:gd name="connsiteY15" fmla="*/ 1695136 h 2853720"/>
              <a:gd name="connsiteX16" fmla="*/ 745300 w 2413380"/>
              <a:gd name="connsiteY16" fmla="*/ 2025699 h 2853720"/>
              <a:gd name="connsiteX17" fmla="*/ 2043394 w 2413380"/>
              <a:gd name="connsiteY17" fmla="*/ 2691107 h 2853720"/>
              <a:gd name="connsiteX18" fmla="*/ 2154946 w 2413380"/>
              <a:gd name="connsiteY18" fmla="*/ 2744792 h 2853720"/>
              <a:gd name="connsiteX19" fmla="*/ 2413381 w 2413380"/>
              <a:gd name="connsiteY19" fmla="*/ 2853721 h 2853720"/>
              <a:gd name="connsiteX20" fmla="*/ 2413381 w 2413380"/>
              <a:gd name="connsiteY20" fmla="*/ 2218766 h 2853720"/>
              <a:gd name="connsiteX21" fmla="*/ 2331642 w 2413380"/>
              <a:gd name="connsiteY21" fmla="*/ 2202541 h 2853720"/>
              <a:gd name="connsiteX22" fmla="*/ 2138641 w 2413380"/>
              <a:gd name="connsiteY22" fmla="*/ 2165989 h 2853720"/>
              <a:gd name="connsiteX23" fmla="*/ 1686916 w 2413380"/>
              <a:gd name="connsiteY23" fmla="*/ 2069728 h 2853720"/>
              <a:gd name="connsiteX24" fmla="*/ 841528 w 2413380"/>
              <a:gd name="connsiteY24" fmla="*/ 1822614 h 2853720"/>
              <a:gd name="connsiteX25" fmla="*/ 338202 w 2413380"/>
              <a:gd name="connsiteY25" fmla="*/ 1576733 h 2853720"/>
              <a:gd name="connsiteX26" fmla="*/ 312892 w 2413380"/>
              <a:gd name="connsiteY26" fmla="*/ 1559202 h 2853720"/>
              <a:gd name="connsiteX27" fmla="*/ 288999 w 2413380"/>
              <a:gd name="connsiteY27" fmla="*/ 1541016 h 2853720"/>
              <a:gd name="connsiteX28" fmla="*/ 245715 w 2413380"/>
              <a:gd name="connsiteY28" fmla="*/ 1505517 h 2853720"/>
              <a:gd name="connsiteX29" fmla="*/ 178391 w 2413380"/>
              <a:gd name="connsiteY29" fmla="*/ 1433358 h 2853720"/>
              <a:gd name="connsiteX30" fmla="*/ 135797 w 2413380"/>
              <a:gd name="connsiteY30" fmla="*/ 1349329 h 2853720"/>
              <a:gd name="connsiteX31" fmla="*/ 135398 w 2413380"/>
              <a:gd name="connsiteY31" fmla="*/ 1259819 h 2853720"/>
              <a:gd name="connsiteX32" fmla="*/ 173743 w 2413380"/>
              <a:gd name="connsiteY32" fmla="*/ 1182940 h 2853720"/>
              <a:gd name="connsiteX33" fmla="*/ 230826 w 2413380"/>
              <a:gd name="connsiteY33" fmla="*/ 1123376 h 2853720"/>
              <a:gd name="connsiteX34" fmla="*/ 262237 w 2413380"/>
              <a:gd name="connsiteY34" fmla="*/ 1098585 h 2853720"/>
              <a:gd name="connsiteX35" fmla="*/ 296733 w 2413380"/>
              <a:gd name="connsiteY35" fmla="*/ 1074882 h 2853720"/>
              <a:gd name="connsiteX36" fmla="*/ 371791 w 2413380"/>
              <a:gd name="connsiteY36" fmla="*/ 1030708 h 2853720"/>
              <a:gd name="connsiteX37" fmla="*/ 1283776 w 2413380"/>
              <a:gd name="connsiteY37" fmla="*/ 697641 h 2853720"/>
              <a:gd name="connsiteX38" fmla="*/ 2413381 w 2413380"/>
              <a:gd name="connsiteY38" fmla="*/ 379093 h 2853720"/>
              <a:gd name="connsiteX39" fmla="*/ 2413381 w 2413380"/>
              <a:gd name="connsiteY39" fmla="*/ 0 h 2853720"/>
              <a:gd name="connsiteX40" fmla="*/ 1390934 w 2413380"/>
              <a:gd name="connsiteY40" fmla="*/ 416515 h 285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413380" h="2853720">
                <a:moveTo>
                  <a:pt x="1390897" y="416515"/>
                </a:moveTo>
                <a:cubicBezTo>
                  <a:pt x="1286572" y="457133"/>
                  <a:pt x="663016" y="725554"/>
                  <a:pt x="607531" y="752523"/>
                </a:cubicBezTo>
                <a:cubicBezTo>
                  <a:pt x="512538" y="799673"/>
                  <a:pt x="411698" y="850454"/>
                  <a:pt x="305194" y="916697"/>
                </a:cubicBezTo>
                <a:cubicBezTo>
                  <a:pt x="278650" y="933466"/>
                  <a:pt x="251742" y="951252"/>
                  <a:pt x="224726" y="970672"/>
                </a:cubicBezTo>
                <a:cubicBezTo>
                  <a:pt x="211181" y="980145"/>
                  <a:pt x="196548" y="991978"/>
                  <a:pt x="182349" y="1002759"/>
                </a:cubicBezTo>
                <a:cubicBezTo>
                  <a:pt x="168151" y="1014664"/>
                  <a:pt x="153300" y="1027042"/>
                  <a:pt x="139138" y="1039964"/>
                </a:cubicBezTo>
                <a:cubicBezTo>
                  <a:pt x="111141" y="1066352"/>
                  <a:pt x="84161" y="1094955"/>
                  <a:pt x="61175" y="1127586"/>
                </a:cubicBezTo>
                <a:cubicBezTo>
                  <a:pt x="38625" y="1160399"/>
                  <a:pt x="19852" y="1197024"/>
                  <a:pt x="9140" y="1237350"/>
                </a:cubicBezTo>
                <a:cubicBezTo>
                  <a:pt x="-1682" y="1277604"/>
                  <a:pt x="-2989" y="1321379"/>
                  <a:pt x="5726" y="1364320"/>
                </a:cubicBezTo>
                <a:cubicBezTo>
                  <a:pt x="14477" y="1407332"/>
                  <a:pt x="33033" y="1448857"/>
                  <a:pt x="57181" y="1488458"/>
                </a:cubicBezTo>
                <a:cubicBezTo>
                  <a:pt x="68873" y="1508566"/>
                  <a:pt x="83471" y="1527260"/>
                  <a:pt x="97960" y="1546425"/>
                </a:cubicBezTo>
                <a:cubicBezTo>
                  <a:pt x="105113" y="1556116"/>
                  <a:pt x="113683" y="1564791"/>
                  <a:pt x="121599" y="1574156"/>
                </a:cubicBezTo>
                <a:cubicBezTo>
                  <a:pt x="129660" y="1583231"/>
                  <a:pt x="137722" y="1593140"/>
                  <a:pt x="146073" y="1601125"/>
                </a:cubicBezTo>
                <a:cubicBezTo>
                  <a:pt x="162668" y="1617968"/>
                  <a:pt x="179844" y="1635536"/>
                  <a:pt x="196366" y="1650018"/>
                </a:cubicBezTo>
                <a:cubicBezTo>
                  <a:pt x="204754" y="1657641"/>
                  <a:pt x="213215" y="1665336"/>
                  <a:pt x="221712" y="1673067"/>
                </a:cubicBezTo>
                <a:cubicBezTo>
                  <a:pt x="230391" y="1680363"/>
                  <a:pt x="239178" y="1687732"/>
                  <a:pt x="247966" y="1695136"/>
                </a:cubicBezTo>
                <a:cubicBezTo>
                  <a:pt x="389693" y="1812486"/>
                  <a:pt x="557202" y="1916624"/>
                  <a:pt x="745300" y="2025699"/>
                </a:cubicBezTo>
                <a:cubicBezTo>
                  <a:pt x="1097566" y="2227296"/>
                  <a:pt x="1524890" y="2441053"/>
                  <a:pt x="2043394" y="2691107"/>
                </a:cubicBezTo>
                <a:cubicBezTo>
                  <a:pt x="2080142" y="2708821"/>
                  <a:pt x="2117254" y="2726679"/>
                  <a:pt x="2154946" y="2744792"/>
                </a:cubicBezTo>
                <a:cubicBezTo>
                  <a:pt x="2221833" y="2776806"/>
                  <a:pt x="2309418" y="2813648"/>
                  <a:pt x="2413381" y="2853721"/>
                </a:cubicBezTo>
                <a:lnTo>
                  <a:pt x="2413381" y="2218766"/>
                </a:lnTo>
                <a:cubicBezTo>
                  <a:pt x="2383895" y="2212487"/>
                  <a:pt x="2356588" y="2207042"/>
                  <a:pt x="2331642" y="2202541"/>
                </a:cubicBezTo>
                <a:cubicBezTo>
                  <a:pt x="2265844" y="2190490"/>
                  <a:pt x="2201680" y="2178294"/>
                  <a:pt x="2138641" y="2165989"/>
                </a:cubicBezTo>
                <a:cubicBezTo>
                  <a:pt x="1979702" y="2134955"/>
                  <a:pt x="1829151" y="2102940"/>
                  <a:pt x="1686916" y="2069728"/>
                </a:cubicBezTo>
                <a:cubicBezTo>
                  <a:pt x="1364389" y="1994374"/>
                  <a:pt x="1083876" y="1912922"/>
                  <a:pt x="841528" y="1822614"/>
                </a:cubicBezTo>
                <a:cubicBezTo>
                  <a:pt x="646676" y="1749002"/>
                  <a:pt x="475136" y="1669982"/>
                  <a:pt x="338202" y="1576733"/>
                </a:cubicBezTo>
                <a:cubicBezTo>
                  <a:pt x="329705" y="1570853"/>
                  <a:pt x="321281" y="1565009"/>
                  <a:pt x="312892" y="1559202"/>
                </a:cubicBezTo>
                <a:cubicBezTo>
                  <a:pt x="304867" y="1553104"/>
                  <a:pt x="296915" y="1547042"/>
                  <a:pt x="288999" y="1541016"/>
                </a:cubicBezTo>
                <a:cubicBezTo>
                  <a:pt x="272404" y="1528748"/>
                  <a:pt x="259259" y="1517205"/>
                  <a:pt x="245715" y="1505517"/>
                </a:cubicBezTo>
                <a:cubicBezTo>
                  <a:pt x="220114" y="1482541"/>
                  <a:pt x="197346" y="1459782"/>
                  <a:pt x="178391" y="1433358"/>
                </a:cubicBezTo>
                <a:cubicBezTo>
                  <a:pt x="159473" y="1407405"/>
                  <a:pt x="143786" y="1379311"/>
                  <a:pt x="135797" y="1349329"/>
                </a:cubicBezTo>
                <a:cubicBezTo>
                  <a:pt x="127772" y="1319419"/>
                  <a:pt x="127881" y="1288349"/>
                  <a:pt x="135398" y="1259819"/>
                </a:cubicBezTo>
                <a:cubicBezTo>
                  <a:pt x="142878" y="1231289"/>
                  <a:pt x="157076" y="1205626"/>
                  <a:pt x="173743" y="1182940"/>
                </a:cubicBezTo>
                <a:cubicBezTo>
                  <a:pt x="190810" y="1160472"/>
                  <a:pt x="210528" y="1141017"/>
                  <a:pt x="230826" y="1123376"/>
                </a:cubicBezTo>
                <a:cubicBezTo>
                  <a:pt x="241175" y="1114701"/>
                  <a:pt x="251488" y="1106715"/>
                  <a:pt x="262237" y="1098585"/>
                </a:cubicBezTo>
                <a:cubicBezTo>
                  <a:pt x="274002" y="1090635"/>
                  <a:pt x="284206" y="1082795"/>
                  <a:pt x="296733" y="1074882"/>
                </a:cubicBezTo>
                <a:cubicBezTo>
                  <a:pt x="321389" y="1058875"/>
                  <a:pt x="346554" y="1044320"/>
                  <a:pt x="371791" y="1030708"/>
                </a:cubicBezTo>
                <a:cubicBezTo>
                  <a:pt x="473284" y="976842"/>
                  <a:pt x="947160" y="797423"/>
                  <a:pt x="1283776" y="697641"/>
                </a:cubicBezTo>
                <a:cubicBezTo>
                  <a:pt x="1359632" y="673285"/>
                  <a:pt x="2089438" y="467187"/>
                  <a:pt x="2413381" y="379093"/>
                </a:cubicBezTo>
                <a:lnTo>
                  <a:pt x="2413381" y="0"/>
                </a:lnTo>
                <a:cubicBezTo>
                  <a:pt x="2046154" y="143194"/>
                  <a:pt x="1568901" y="347260"/>
                  <a:pt x="1390934" y="416515"/>
                </a:cubicBezTo>
                <a:close/>
              </a:path>
            </a:pathLst>
          </a:custGeom>
          <a:solidFill>
            <a:srgbClr val="BCDCF1">
              <a:alpha val="30000"/>
            </a:srgbClr>
          </a:solidFill>
          <a:ln w="3628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4154920-9949-FCF9-704E-FC094A43CE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>
            <a:normAutofit/>
          </a:bodyPr>
          <a:lstStyle>
            <a:lvl1pPr>
              <a:defRPr sz="3000" b="1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D1D466-DDE4-E96F-F16E-2F557D2A6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3DDBD6B-6188-A4AB-E0DE-CDCAB82E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076" y="6348616"/>
            <a:ext cx="1330581" cy="270911"/>
          </a:xfrm>
          <a:prstGeom prst="rect">
            <a:avLst/>
          </a:prstGeom>
        </p:spPr>
      </p:pic>
      <p:sp>
        <p:nvSpPr>
          <p:cNvPr id="14" name="Espace réservé du numéro de diapositive 7">
            <a:extLst>
              <a:ext uri="{FF2B5EF4-FFF2-40B4-BE49-F238E27FC236}">
                <a16:creationId xmlns:a16="http://schemas.microsoft.com/office/drawing/2014/main" id="{E84B99AC-AA02-BA5C-E2E2-2BD699853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116" y="6301508"/>
            <a:ext cx="2743200" cy="365125"/>
          </a:xfrm>
        </p:spPr>
        <p:txBody>
          <a:bodyPr/>
          <a:lstStyle/>
          <a:p>
            <a:fld id="{421B1A79-1F45-8F4F-AED5-0EE30DCF0380}" type="slidenum">
              <a:rPr lang="fr-FR" smtClean="0"/>
              <a:t>‹#›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934A03-9BEA-9735-8333-C41CE3731F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2241" y="6146859"/>
            <a:ext cx="4274817" cy="5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Pr>
        <a:gradFill>
          <a:gsLst>
            <a:gs pos="100000">
              <a:schemeClr val="bg1"/>
            </a:gs>
            <a:gs pos="0">
              <a:srgbClr val="BCDCF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e libre 14">
            <a:extLst>
              <a:ext uri="{FF2B5EF4-FFF2-40B4-BE49-F238E27FC236}">
                <a16:creationId xmlns:a16="http://schemas.microsoft.com/office/drawing/2014/main" id="{DB474C30-E7BD-90E6-143C-701D04C351B1}"/>
              </a:ext>
            </a:extLst>
          </p:cNvPr>
          <p:cNvSpPr/>
          <p:nvPr userDrawn="1"/>
        </p:nvSpPr>
        <p:spPr>
          <a:xfrm rot="16200000">
            <a:off x="881235" y="-942197"/>
            <a:ext cx="6857999" cy="8742392"/>
          </a:xfrm>
          <a:custGeom>
            <a:avLst/>
            <a:gdLst>
              <a:gd name="connsiteX0" fmla="*/ 457357 w 2315082"/>
              <a:gd name="connsiteY0" fmla="*/ 2125063 h 2951204"/>
              <a:gd name="connsiteX1" fmla="*/ 1043971 w 2315082"/>
              <a:gd name="connsiteY1" fmla="*/ 1265161 h 2951204"/>
              <a:gd name="connsiteX2" fmla="*/ 1046967 w 2315082"/>
              <a:gd name="connsiteY2" fmla="*/ 1260870 h 2951204"/>
              <a:gd name="connsiteX3" fmla="*/ 1851774 w 2315082"/>
              <a:gd name="connsiteY3" fmla="*/ 204268 h 2951204"/>
              <a:gd name="connsiteX4" fmla="*/ 2129759 w 2315082"/>
              <a:gd name="connsiteY4" fmla="*/ 0 h 2951204"/>
              <a:gd name="connsiteX5" fmla="*/ 1523836 w 2315082"/>
              <a:gd name="connsiteY5" fmla="*/ 0 h 2951204"/>
              <a:gd name="connsiteX6" fmla="*/ 719797 w 2315082"/>
              <a:gd name="connsiteY6" fmla="*/ 679883 h 2951204"/>
              <a:gd name="connsiteX7" fmla="*/ 0 w 2315082"/>
              <a:gd name="connsiteY7" fmla="*/ 1350009 h 2951204"/>
              <a:gd name="connsiteX8" fmla="*/ 0 w 2315082"/>
              <a:gd name="connsiteY8" fmla="*/ 2951205 h 2951204"/>
              <a:gd name="connsiteX9" fmla="*/ 2315082 w 2315082"/>
              <a:gd name="connsiteY9" fmla="*/ 2141985 h 2951204"/>
              <a:gd name="connsiteX10" fmla="*/ 2315082 w 2315082"/>
              <a:gd name="connsiteY10" fmla="*/ 1607753 h 2951204"/>
              <a:gd name="connsiteX11" fmla="*/ 457398 w 2315082"/>
              <a:gd name="connsiteY11" fmla="*/ 2125023 h 2951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082" h="2951204">
                <a:moveTo>
                  <a:pt x="457357" y="2125063"/>
                </a:moveTo>
                <a:cubicBezTo>
                  <a:pt x="552124" y="1984189"/>
                  <a:pt x="744815" y="1700617"/>
                  <a:pt x="1043971" y="1265161"/>
                </a:cubicBezTo>
                <a:lnTo>
                  <a:pt x="1046967" y="1260870"/>
                </a:lnTo>
                <a:cubicBezTo>
                  <a:pt x="1307423" y="881803"/>
                  <a:pt x="1553792" y="523544"/>
                  <a:pt x="1851774" y="204268"/>
                </a:cubicBezTo>
                <a:cubicBezTo>
                  <a:pt x="1933182" y="116991"/>
                  <a:pt x="2029770" y="47039"/>
                  <a:pt x="2129759" y="0"/>
                </a:cubicBezTo>
                <a:lnTo>
                  <a:pt x="1523836" y="0"/>
                </a:lnTo>
                <a:cubicBezTo>
                  <a:pt x="1308314" y="168483"/>
                  <a:pt x="1039720" y="395542"/>
                  <a:pt x="719797" y="679883"/>
                </a:cubicBezTo>
                <a:cubicBezTo>
                  <a:pt x="459098" y="911638"/>
                  <a:pt x="207305" y="1149303"/>
                  <a:pt x="0" y="1350009"/>
                </a:cubicBezTo>
                <a:lnTo>
                  <a:pt x="0" y="2951205"/>
                </a:lnTo>
                <a:cubicBezTo>
                  <a:pt x="337209" y="2809642"/>
                  <a:pt x="1197355" y="2465065"/>
                  <a:pt x="2315082" y="2141985"/>
                </a:cubicBezTo>
                <a:lnTo>
                  <a:pt x="2315082" y="1607753"/>
                </a:lnTo>
                <a:cubicBezTo>
                  <a:pt x="1885495" y="1747697"/>
                  <a:pt x="1241600" y="1940874"/>
                  <a:pt x="457398" y="2125023"/>
                </a:cubicBezTo>
                <a:close/>
              </a:path>
            </a:pathLst>
          </a:custGeom>
          <a:solidFill>
            <a:schemeClr val="bg1">
              <a:alpha val="46660"/>
            </a:schemeClr>
          </a:solidFill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42B15DB-B2FF-2AD9-7DDE-AFEEBC749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758BC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995AF7-062D-1EB8-027A-1C8F10E6F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>
                <a:solidFill>
                  <a:srgbClr val="22398E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Espace réservé du numéro de diapositive 7">
            <a:extLst>
              <a:ext uri="{FF2B5EF4-FFF2-40B4-BE49-F238E27FC236}">
                <a16:creationId xmlns:a16="http://schemas.microsoft.com/office/drawing/2014/main" id="{5B78D361-3D77-D984-4607-B9DA50955C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116" y="630150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1B1A79-1F45-8F4F-AED5-0EE30DCF0380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51A1667B-9499-27BC-564F-580B898B2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076" y="6348616"/>
            <a:ext cx="1330581" cy="27091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FB85534-8162-106E-F827-6F857C683C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2241" y="6146859"/>
            <a:ext cx="4274817" cy="5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773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e libre 12">
            <a:extLst>
              <a:ext uri="{FF2B5EF4-FFF2-40B4-BE49-F238E27FC236}">
                <a16:creationId xmlns:a16="http://schemas.microsoft.com/office/drawing/2014/main" id="{7B7A42F2-EFD8-3532-7665-4DC98020AA81}"/>
              </a:ext>
            </a:extLst>
          </p:cNvPr>
          <p:cNvSpPr/>
          <p:nvPr userDrawn="1"/>
        </p:nvSpPr>
        <p:spPr>
          <a:xfrm>
            <a:off x="7573546" y="-665032"/>
            <a:ext cx="6215606" cy="7349692"/>
          </a:xfrm>
          <a:custGeom>
            <a:avLst/>
            <a:gdLst>
              <a:gd name="connsiteX0" fmla="*/ 1390897 w 2413380"/>
              <a:gd name="connsiteY0" fmla="*/ 416515 h 2853720"/>
              <a:gd name="connsiteX1" fmla="*/ 607531 w 2413380"/>
              <a:gd name="connsiteY1" fmla="*/ 752523 h 2853720"/>
              <a:gd name="connsiteX2" fmla="*/ 305194 w 2413380"/>
              <a:gd name="connsiteY2" fmla="*/ 916697 h 2853720"/>
              <a:gd name="connsiteX3" fmla="*/ 224726 w 2413380"/>
              <a:gd name="connsiteY3" fmla="*/ 970672 h 2853720"/>
              <a:gd name="connsiteX4" fmla="*/ 182349 w 2413380"/>
              <a:gd name="connsiteY4" fmla="*/ 1002759 h 2853720"/>
              <a:gd name="connsiteX5" fmla="*/ 139138 w 2413380"/>
              <a:gd name="connsiteY5" fmla="*/ 1039964 h 2853720"/>
              <a:gd name="connsiteX6" fmla="*/ 61175 w 2413380"/>
              <a:gd name="connsiteY6" fmla="*/ 1127586 h 2853720"/>
              <a:gd name="connsiteX7" fmla="*/ 9140 w 2413380"/>
              <a:gd name="connsiteY7" fmla="*/ 1237350 h 2853720"/>
              <a:gd name="connsiteX8" fmla="*/ 5726 w 2413380"/>
              <a:gd name="connsiteY8" fmla="*/ 1364320 h 2853720"/>
              <a:gd name="connsiteX9" fmla="*/ 57181 w 2413380"/>
              <a:gd name="connsiteY9" fmla="*/ 1488458 h 2853720"/>
              <a:gd name="connsiteX10" fmla="*/ 97960 w 2413380"/>
              <a:gd name="connsiteY10" fmla="*/ 1546425 h 2853720"/>
              <a:gd name="connsiteX11" fmla="*/ 121599 w 2413380"/>
              <a:gd name="connsiteY11" fmla="*/ 1574156 h 2853720"/>
              <a:gd name="connsiteX12" fmla="*/ 146073 w 2413380"/>
              <a:gd name="connsiteY12" fmla="*/ 1601125 h 2853720"/>
              <a:gd name="connsiteX13" fmla="*/ 196366 w 2413380"/>
              <a:gd name="connsiteY13" fmla="*/ 1650018 h 2853720"/>
              <a:gd name="connsiteX14" fmla="*/ 221712 w 2413380"/>
              <a:gd name="connsiteY14" fmla="*/ 1673067 h 2853720"/>
              <a:gd name="connsiteX15" fmla="*/ 247966 w 2413380"/>
              <a:gd name="connsiteY15" fmla="*/ 1695136 h 2853720"/>
              <a:gd name="connsiteX16" fmla="*/ 745300 w 2413380"/>
              <a:gd name="connsiteY16" fmla="*/ 2025699 h 2853720"/>
              <a:gd name="connsiteX17" fmla="*/ 2043394 w 2413380"/>
              <a:gd name="connsiteY17" fmla="*/ 2691107 h 2853720"/>
              <a:gd name="connsiteX18" fmla="*/ 2154946 w 2413380"/>
              <a:gd name="connsiteY18" fmla="*/ 2744792 h 2853720"/>
              <a:gd name="connsiteX19" fmla="*/ 2413381 w 2413380"/>
              <a:gd name="connsiteY19" fmla="*/ 2853721 h 2853720"/>
              <a:gd name="connsiteX20" fmla="*/ 2413381 w 2413380"/>
              <a:gd name="connsiteY20" fmla="*/ 2218766 h 2853720"/>
              <a:gd name="connsiteX21" fmla="*/ 2331642 w 2413380"/>
              <a:gd name="connsiteY21" fmla="*/ 2202541 h 2853720"/>
              <a:gd name="connsiteX22" fmla="*/ 2138641 w 2413380"/>
              <a:gd name="connsiteY22" fmla="*/ 2165989 h 2853720"/>
              <a:gd name="connsiteX23" fmla="*/ 1686916 w 2413380"/>
              <a:gd name="connsiteY23" fmla="*/ 2069728 h 2853720"/>
              <a:gd name="connsiteX24" fmla="*/ 841528 w 2413380"/>
              <a:gd name="connsiteY24" fmla="*/ 1822614 h 2853720"/>
              <a:gd name="connsiteX25" fmla="*/ 338202 w 2413380"/>
              <a:gd name="connsiteY25" fmla="*/ 1576733 h 2853720"/>
              <a:gd name="connsiteX26" fmla="*/ 312892 w 2413380"/>
              <a:gd name="connsiteY26" fmla="*/ 1559202 h 2853720"/>
              <a:gd name="connsiteX27" fmla="*/ 288999 w 2413380"/>
              <a:gd name="connsiteY27" fmla="*/ 1541016 h 2853720"/>
              <a:gd name="connsiteX28" fmla="*/ 245715 w 2413380"/>
              <a:gd name="connsiteY28" fmla="*/ 1505517 h 2853720"/>
              <a:gd name="connsiteX29" fmla="*/ 178391 w 2413380"/>
              <a:gd name="connsiteY29" fmla="*/ 1433358 h 2853720"/>
              <a:gd name="connsiteX30" fmla="*/ 135797 w 2413380"/>
              <a:gd name="connsiteY30" fmla="*/ 1349329 h 2853720"/>
              <a:gd name="connsiteX31" fmla="*/ 135398 w 2413380"/>
              <a:gd name="connsiteY31" fmla="*/ 1259819 h 2853720"/>
              <a:gd name="connsiteX32" fmla="*/ 173743 w 2413380"/>
              <a:gd name="connsiteY32" fmla="*/ 1182940 h 2853720"/>
              <a:gd name="connsiteX33" fmla="*/ 230826 w 2413380"/>
              <a:gd name="connsiteY33" fmla="*/ 1123376 h 2853720"/>
              <a:gd name="connsiteX34" fmla="*/ 262237 w 2413380"/>
              <a:gd name="connsiteY34" fmla="*/ 1098585 h 2853720"/>
              <a:gd name="connsiteX35" fmla="*/ 296733 w 2413380"/>
              <a:gd name="connsiteY35" fmla="*/ 1074882 h 2853720"/>
              <a:gd name="connsiteX36" fmla="*/ 371791 w 2413380"/>
              <a:gd name="connsiteY36" fmla="*/ 1030708 h 2853720"/>
              <a:gd name="connsiteX37" fmla="*/ 1283776 w 2413380"/>
              <a:gd name="connsiteY37" fmla="*/ 697641 h 2853720"/>
              <a:gd name="connsiteX38" fmla="*/ 2413381 w 2413380"/>
              <a:gd name="connsiteY38" fmla="*/ 379093 h 2853720"/>
              <a:gd name="connsiteX39" fmla="*/ 2413381 w 2413380"/>
              <a:gd name="connsiteY39" fmla="*/ 0 h 2853720"/>
              <a:gd name="connsiteX40" fmla="*/ 1390934 w 2413380"/>
              <a:gd name="connsiteY40" fmla="*/ 416515 h 285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413380" h="2853720">
                <a:moveTo>
                  <a:pt x="1390897" y="416515"/>
                </a:moveTo>
                <a:cubicBezTo>
                  <a:pt x="1286572" y="457133"/>
                  <a:pt x="663016" y="725554"/>
                  <a:pt x="607531" y="752523"/>
                </a:cubicBezTo>
                <a:cubicBezTo>
                  <a:pt x="512538" y="799673"/>
                  <a:pt x="411698" y="850454"/>
                  <a:pt x="305194" y="916697"/>
                </a:cubicBezTo>
                <a:cubicBezTo>
                  <a:pt x="278650" y="933466"/>
                  <a:pt x="251742" y="951252"/>
                  <a:pt x="224726" y="970672"/>
                </a:cubicBezTo>
                <a:cubicBezTo>
                  <a:pt x="211181" y="980145"/>
                  <a:pt x="196548" y="991978"/>
                  <a:pt x="182349" y="1002759"/>
                </a:cubicBezTo>
                <a:cubicBezTo>
                  <a:pt x="168151" y="1014664"/>
                  <a:pt x="153300" y="1027042"/>
                  <a:pt x="139138" y="1039964"/>
                </a:cubicBezTo>
                <a:cubicBezTo>
                  <a:pt x="111141" y="1066352"/>
                  <a:pt x="84161" y="1094955"/>
                  <a:pt x="61175" y="1127586"/>
                </a:cubicBezTo>
                <a:cubicBezTo>
                  <a:pt x="38625" y="1160399"/>
                  <a:pt x="19852" y="1197024"/>
                  <a:pt x="9140" y="1237350"/>
                </a:cubicBezTo>
                <a:cubicBezTo>
                  <a:pt x="-1682" y="1277604"/>
                  <a:pt x="-2989" y="1321379"/>
                  <a:pt x="5726" y="1364320"/>
                </a:cubicBezTo>
                <a:cubicBezTo>
                  <a:pt x="14477" y="1407332"/>
                  <a:pt x="33033" y="1448857"/>
                  <a:pt x="57181" y="1488458"/>
                </a:cubicBezTo>
                <a:cubicBezTo>
                  <a:pt x="68873" y="1508566"/>
                  <a:pt x="83471" y="1527260"/>
                  <a:pt x="97960" y="1546425"/>
                </a:cubicBezTo>
                <a:cubicBezTo>
                  <a:pt x="105113" y="1556116"/>
                  <a:pt x="113683" y="1564791"/>
                  <a:pt x="121599" y="1574156"/>
                </a:cubicBezTo>
                <a:cubicBezTo>
                  <a:pt x="129660" y="1583231"/>
                  <a:pt x="137722" y="1593140"/>
                  <a:pt x="146073" y="1601125"/>
                </a:cubicBezTo>
                <a:cubicBezTo>
                  <a:pt x="162668" y="1617968"/>
                  <a:pt x="179844" y="1635536"/>
                  <a:pt x="196366" y="1650018"/>
                </a:cubicBezTo>
                <a:cubicBezTo>
                  <a:pt x="204754" y="1657641"/>
                  <a:pt x="213215" y="1665336"/>
                  <a:pt x="221712" y="1673067"/>
                </a:cubicBezTo>
                <a:cubicBezTo>
                  <a:pt x="230391" y="1680363"/>
                  <a:pt x="239178" y="1687732"/>
                  <a:pt x="247966" y="1695136"/>
                </a:cubicBezTo>
                <a:cubicBezTo>
                  <a:pt x="389693" y="1812486"/>
                  <a:pt x="557202" y="1916624"/>
                  <a:pt x="745300" y="2025699"/>
                </a:cubicBezTo>
                <a:cubicBezTo>
                  <a:pt x="1097566" y="2227296"/>
                  <a:pt x="1524890" y="2441053"/>
                  <a:pt x="2043394" y="2691107"/>
                </a:cubicBezTo>
                <a:cubicBezTo>
                  <a:pt x="2080142" y="2708821"/>
                  <a:pt x="2117254" y="2726679"/>
                  <a:pt x="2154946" y="2744792"/>
                </a:cubicBezTo>
                <a:cubicBezTo>
                  <a:pt x="2221833" y="2776806"/>
                  <a:pt x="2309418" y="2813648"/>
                  <a:pt x="2413381" y="2853721"/>
                </a:cubicBezTo>
                <a:lnTo>
                  <a:pt x="2413381" y="2218766"/>
                </a:lnTo>
                <a:cubicBezTo>
                  <a:pt x="2383895" y="2212487"/>
                  <a:pt x="2356588" y="2207042"/>
                  <a:pt x="2331642" y="2202541"/>
                </a:cubicBezTo>
                <a:cubicBezTo>
                  <a:pt x="2265844" y="2190490"/>
                  <a:pt x="2201680" y="2178294"/>
                  <a:pt x="2138641" y="2165989"/>
                </a:cubicBezTo>
                <a:cubicBezTo>
                  <a:pt x="1979702" y="2134955"/>
                  <a:pt x="1829151" y="2102940"/>
                  <a:pt x="1686916" y="2069728"/>
                </a:cubicBezTo>
                <a:cubicBezTo>
                  <a:pt x="1364389" y="1994374"/>
                  <a:pt x="1083876" y="1912922"/>
                  <a:pt x="841528" y="1822614"/>
                </a:cubicBezTo>
                <a:cubicBezTo>
                  <a:pt x="646676" y="1749002"/>
                  <a:pt x="475136" y="1669982"/>
                  <a:pt x="338202" y="1576733"/>
                </a:cubicBezTo>
                <a:cubicBezTo>
                  <a:pt x="329705" y="1570853"/>
                  <a:pt x="321281" y="1565009"/>
                  <a:pt x="312892" y="1559202"/>
                </a:cubicBezTo>
                <a:cubicBezTo>
                  <a:pt x="304867" y="1553104"/>
                  <a:pt x="296915" y="1547042"/>
                  <a:pt x="288999" y="1541016"/>
                </a:cubicBezTo>
                <a:cubicBezTo>
                  <a:pt x="272404" y="1528748"/>
                  <a:pt x="259259" y="1517205"/>
                  <a:pt x="245715" y="1505517"/>
                </a:cubicBezTo>
                <a:cubicBezTo>
                  <a:pt x="220114" y="1482541"/>
                  <a:pt x="197346" y="1459782"/>
                  <a:pt x="178391" y="1433358"/>
                </a:cubicBezTo>
                <a:cubicBezTo>
                  <a:pt x="159473" y="1407405"/>
                  <a:pt x="143786" y="1379311"/>
                  <a:pt x="135797" y="1349329"/>
                </a:cubicBezTo>
                <a:cubicBezTo>
                  <a:pt x="127772" y="1319419"/>
                  <a:pt x="127881" y="1288349"/>
                  <a:pt x="135398" y="1259819"/>
                </a:cubicBezTo>
                <a:cubicBezTo>
                  <a:pt x="142878" y="1231289"/>
                  <a:pt x="157076" y="1205626"/>
                  <a:pt x="173743" y="1182940"/>
                </a:cubicBezTo>
                <a:cubicBezTo>
                  <a:pt x="190810" y="1160472"/>
                  <a:pt x="210528" y="1141017"/>
                  <a:pt x="230826" y="1123376"/>
                </a:cubicBezTo>
                <a:cubicBezTo>
                  <a:pt x="241175" y="1114701"/>
                  <a:pt x="251488" y="1106715"/>
                  <a:pt x="262237" y="1098585"/>
                </a:cubicBezTo>
                <a:cubicBezTo>
                  <a:pt x="274002" y="1090635"/>
                  <a:pt x="284206" y="1082795"/>
                  <a:pt x="296733" y="1074882"/>
                </a:cubicBezTo>
                <a:cubicBezTo>
                  <a:pt x="321389" y="1058875"/>
                  <a:pt x="346554" y="1044320"/>
                  <a:pt x="371791" y="1030708"/>
                </a:cubicBezTo>
                <a:cubicBezTo>
                  <a:pt x="473284" y="976842"/>
                  <a:pt x="947160" y="797423"/>
                  <a:pt x="1283776" y="697641"/>
                </a:cubicBezTo>
                <a:cubicBezTo>
                  <a:pt x="1359632" y="673285"/>
                  <a:pt x="2089438" y="467187"/>
                  <a:pt x="2413381" y="379093"/>
                </a:cubicBezTo>
                <a:lnTo>
                  <a:pt x="2413381" y="0"/>
                </a:lnTo>
                <a:cubicBezTo>
                  <a:pt x="2046154" y="143194"/>
                  <a:pt x="1568901" y="347260"/>
                  <a:pt x="1390934" y="416515"/>
                </a:cubicBezTo>
                <a:close/>
              </a:path>
            </a:pathLst>
          </a:custGeom>
          <a:solidFill>
            <a:srgbClr val="BCDCF1">
              <a:alpha val="30000"/>
            </a:srgbClr>
          </a:solidFill>
          <a:ln w="3628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4154920-9949-FCF9-704E-FC094A43CE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D1D466-DDE4-E96F-F16E-2F557D2A6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227" y="1691513"/>
            <a:ext cx="3231325" cy="191731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14" name="Espace réservé du numéro de diapositive 7">
            <a:extLst>
              <a:ext uri="{FF2B5EF4-FFF2-40B4-BE49-F238E27FC236}">
                <a16:creationId xmlns:a16="http://schemas.microsoft.com/office/drawing/2014/main" id="{E84B99AC-AA02-BA5C-E2E2-2BD699853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116" y="6301508"/>
            <a:ext cx="2743200" cy="365125"/>
          </a:xfrm>
        </p:spPr>
        <p:txBody>
          <a:bodyPr/>
          <a:lstStyle/>
          <a:p>
            <a:fld id="{421B1A79-1F45-8F4F-AED5-0EE30DCF0380}" type="slidenum">
              <a:rPr lang="fr-FR" smtClean="0"/>
              <a:t>‹#›</a:t>
            </a:fld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09C727D-B712-B94C-7098-479215E4F7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7223" y="3949700"/>
            <a:ext cx="3231325" cy="1792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7C7D3B94-AE84-36FA-FADA-2CFCC04CB7C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43761" y="1691513"/>
            <a:ext cx="3231325" cy="191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7004F46C-A404-141B-17A8-B6D556CCBD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3761" y="3949700"/>
            <a:ext cx="3231325" cy="1792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18" name="Espace réservé du contenu 17">
            <a:extLst>
              <a:ext uri="{FF2B5EF4-FFF2-40B4-BE49-F238E27FC236}">
                <a16:creationId xmlns:a16="http://schemas.microsoft.com/office/drawing/2014/main" id="{8EE922BB-A190-2728-D047-00A4411D66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49126" y="1691513"/>
            <a:ext cx="3231325" cy="191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20" name="Espace réservé du contenu 19">
            <a:extLst>
              <a:ext uri="{FF2B5EF4-FFF2-40B4-BE49-F238E27FC236}">
                <a16:creationId xmlns:a16="http://schemas.microsoft.com/office/drawing/2014/main" id="{B52B9146-EB1B-EDE0-4D4C-C4EBE3ADE6C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49126" y="3949700"/>
            <a:ext cx="3231325" cy="1792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1201FAF-8B3A-56F1-A4B2-08E669E1C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076" y="6348616"/>
            <a:ext cx="1330581" cy="27091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1A0D38F-42C7-14F9-3A18-EF8728E28F8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2241" y="6146859"/>
            <a:ext cx="4274817" cy="5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7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e libre 14">
            <a:extLst>
              <a:ext uri="{FF2B5EF4-FFF2-40B4-BE49-F238E27FC236}">
                <a16:creationId xmlns:a16="http://schemas.microsoft.com/office/drawing/2014/main" id="{1CDB4142-90B4-4C8E-BB29-02FF908623E5}"/>
              </a:ext>
            </a:extLst>
          </p:cNvPr>
          <p:cNvSpPr/>
          <p:nvPr userDrawn="1"/>
        </p:nvSpPr>
        <p:spPr>
          <a:xfrm>
            <a:off x="5010912" y="-1757073"/>
            <a:ext cx="7181089" cy="10148557"/>
          </a:xfrm>
          <a:custGeom>
            <a:avLst/>
            <a:gdLst>
              <a:gd name="connsiteX0" fmla="*/ 2315042 w 2315041"/>
              <a:gd name="connsiteY0" fmla="*/ 1673212 h 3271694"/>
              <a:gd name="connsiteX1" fmla="*/ 2315042 w 2315041"/>
              <a:gd name="connsiteY1" fmla="*/ 947504 h 3271694"/>
              <a:gd name="connsiteX2" fmla="*/ 1901485 w 2315041"/>
              <a:gd name="connsiteY2" fmla="*/ 1114044 h 3271694"/>
              <a:gd name="connsiteX3" fmla="*/ 1698715 w 2315041"/>
              <a:gd name="connsiteY3" fmla="*/ 0 h 3271694"/>
              <a:gd name="connsiteX4" fmla="*/ 1290138 w 2315041"/>
              <a:gd name="connsiteY4" fmla="*/ 0 h 3271694"/>
              <a:gd name="connsiteX5" fmla="*/ 1352357 w 2315041"/>
              <a:gd name="connsiteY5" fmla="*/ 142737 h 3271694"/>
              <a:gd name="connsiteX6" fmla="*/ 1419597 w 2315041"/>
              <a:gd name="connsiteY6" fmla="*/ 1296088 h 3271694"/>
              <a:gd name="connsiteX7" fmla="*/ 0 w 2315041"/>
              <a:gd name="connsiteY7" fmla="*/ 1749357 h 3271694"/>
              <a:gd name="connsiteX8" fmla="*/ 0 w 2315041"/>
              <a:gd name="connsiteY8" fmla="*/ 2290955 h 3271694"/>
              <a:gd name="connsiteX9" fmla="*/ 1390410 w 2315041"/>
              <a:gd name="connsiteY9" fmla="*/ 1877277 h 3271694"/>
              <a:gd name="connsiteX10" fmla="*/ 1268359 w 2315041"/>
              <a:gd name="connsiteY10" fmla="*/ 3271695 h 3271694"/>
              <a:gd name="connsiteX11" fmla="*/ 2163440 w 2315041"/>
              <a:gd name="connsiteY11" fmla="*/ 3271695 h 3271694"/>
              <a:gd name="connsiteX12" fmla="*/ 1985160 w 2315041"/>
              <a:gd name="connsiteY12" fmla="*/ 1737496 h 3271694"/>
              <a:gd name="connsiteX13" fmla="*/ 2315042 w 2315041"/>
              <a:gd name="connsiteY13" fmla="*/ 1673252 h 3271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15041" h="3271694">
                <a:moveTo>
                  <a:pt x="2315042" y="1673212"/>
                </a:moveTo>
                <a:lnTo>
                  <a:pt x="2315042" y="947504"/>
                </a:lnTo>
                <a:cubicBezTo>
                  <a:pt x="2192586" y="998470"/>
                  <a:pt x="2053897" y="1054699"/>
                  <a:pt x="1901485" y="1114044"/>
                </a:cubicBezTo>
                <a:cubicBezTo>
                  <a:pt x="1842747" y="728096"/>
                  <a:pt x="1769840" y="280454"/>
                  <a:pt x="1698715" y="0"/>
                </a:cubicBezTo>
                <a:lnTo>
                  <a:pt x="1290138" y="0"/>
                </a:lnTo>
                <a:cubicBezTo>
                  <a:pt x="1314264" y="39307"/>
                  <a:pt x="1335436" y="86387"/>
                  <a:pt x="1352357" y="142737"/>
                </a:cubicBezTo>
                <a:cubicBezTo>
                  <a:pt x="1457690" y="492252"/>
                  <a:pt x="1428017" y="1145093"/>
                  <a:pt x="1419597" y="1296088"/>
                </a:cubicBezTo>
                <a:cubicBezTo>
                  <a:pt x="1293457" y="1343087"/>
                  <a:pt x="775904" y="1531527"/>
                  <a:pt x="0" y="1749357"/>
                </a:cubicBezTo>
                <a:lnTo>
                  <a:pt x="0" y="2290955"/>
                </a:lnTo>
                <a:cubicBezTo>
                  <a:pt x="409549" y="2154655"/>
                  <a:pt x="879981" y="2010866"/>
                  <a:pt x="1390410" y="1877277"/>
                </a:cubicBezTo>
                <a:lnTo>
                  <a:pt x="1268359" y="3271695"/>
                </a:lnTo>
                <a:lnTo>
                  <a:pt x="2163440" y="3271695"/>
                </a:lnTo>
                <a:cubicBezTo>
                  <a:pt x="2122351" y="2884977"/>
                  <a:pt x="2052480" y="2248815"/>
                  <a:pt x="1985160" y="1737496"/>
                </a:cubicBezTo>
                <a:cubicBezTo>
                  <a:pt x="2104863" y="1713612"/>
                  <a:pt x="2214770" y="1692278"/>
                  <a:pt x="2315042" y="1673252"/>
                </a:cubicBezTo>
                <a:close/>
              </a:path>
            </a:pathLst>
          </a:custGeom>
          <a:solidFill>
            <a:srgbClr val="BCDCF1">
              <a:alpha val="30000"/>
            </a:srgbClr>
          </a:solidFill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BD135C-0101-1A72-D87E-662ACBA105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fr-FR" dirty="0"/>
              <a:t>MODIFIEZ LE STYLE </a:t>
            </a:r>
            <a:br>
              <a:rPr lang="fr-FR" dirty="0"/>
            </a:br>
            <a:r>
              <a:rPr lang="fr-FR" dirty="0"/>
              <a:t>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A47285-1552-385D-542B-13A644CAB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6844" y="1825625"/>
            <a:ext cx="384199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3B2D614-B3C1-A49B-82A4-F0E36CD97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7650" y="1316736"/>
            <a:ext cx="6062454" cy="486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96B65B4D-BA4F-553A-C02D-62A13E016A2A}"/>
              </a:ext>
            </a:extLst>
          </p:cNvPr>
          <p:cNvCxnSpPr>
            <a:cxnSpLocks/>
          </p:cNvCxnSpPr>
          <p:nvPr userDrawn="1"/>
        </p:nvCxnSpPr>
        <p:spPr>
          <a:xfrm>
            <a:off x="5010912" y="1475232"/>
            <a:ext cx="0" cy="4720299"/>
          </a:xfrm>
          <a:prstGeom prst="line">
            <a:avLst/>
          </a:prstGeom>
          <a:ln w="12700">
            <a:solidFill>
              <a:srgbClr val="BCD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que 17">
            <a:extLst>
              <a:ext uri="{FF2B5EF4-FFF2-40B4-BE49-F238E27FC236}">
                <a16:creationId xmlns:a16="http://schemas.microsoft.com/office/drawing/2014/main" id="{7CAE346F-6A2B-5092-05A3-ACA2843D9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076" y="6348616"/>
            <a:ext cx="1330581" cy="270911"/>
          </a:xfrm>
          <a:prstGeom prst="rect">
            <a:avLst/>
          </a:prstGeom>
        </p:spPr>
      </p:pic>
      <p:sp>
        <p:nvSpPr>
          <p:cNvPr id="19" name="Espace réservé du numéro de diapositive 7">
            <a:extLst>
              <a:ext uri="{FF2B5EF4-FFF2-40B4-BE49-F238E27FC236}">
                <a16:creationId xmlns:a16="http://schemas.microsoft.com/office/drawing/2014/main" id="{06E95967-9FA4-4CF3-E31F-8B1142D1A6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116" y="6301508"/>
            <a:ext cx="2743200" cy="365125"/>
          </a:xfrm>
        </p:spPr>
        <p:txBody>
          <a:bodyPr/>
          <a:lstStyle>
            <a:lvl1pPr>
              <a:defRPr>
                <a:solidFill>
                  <a:srgbClr val="032D5A"/>
                </a:solidFill>
              </a:defRPr>
            </a:lvl1pPr>
          </a:lstStyle>
          <a:p>
            <a:fld id="{421B1A79-1F45-8F4F-AED5-0EE30DCF0380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3FB1B7-5B9B-E7FA-F2D8-1E0534ACC5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2241" y="6146859"/>
            <a:ext cx="4274817" cy="5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1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e libre 21">
            <a:extLst>
              <a:ext uri="{FF2B5EF4-FFF2-40B4-BE49-F238E27FC236}">
                <a16:creationId xmlns:a16="http://schemas.microsoft.com/office/drawing/2014/main" id="{C2183F65-BB78-5561-45CA-3C3490148531}"/>
              </a:ext>
            </a:extLst>
          </p:cNvPr>
          <p:cNvSpPr/>
          <p:nvPr userDrawn="1"/>
        </p:nvSpPr>
        <p:spPr>
          <a:xfrm>
            <a:off x="5998465" y="-1868641"/>
            <a:ext cx="6193536" cy="7895352"/>
          </a:xfrm>
          <a:custGeom>
            <a:avLst/>
            <a:gdLst>
              <a:gd name="connsiteX0" fmla="*/ 457357 w 2315082"/>
              <a:gd name="connsiteY0" fmla="*/ 2125063 h 2951204"/>
              <a:gd name="connsiteX1" fmla="*/ 1043971 w 2315082"/>
              <a:gd name="connsiteY1" fmla="*/ 1265161 h 2951204"/>
              <a:gd name="connsiteX2" fmla="*/ 1046967 w 2315082"/>
              <a:gd name="connsiteY2" fmla="*/ 1260870 h 2951204"/>
              <a:gd name="connsiteX3" fmla="*/ 1851774 w 2315082"/>
              <a:gd name="connsiteY3" fmla="*/ 204268 h 2951204"/>
              <a:gd name="connsiteX4" fmla="*/ 2129759 w 2315082"/>
              <a:gd name="connsiteY4" fmla="*/ 0 h 2951204"/>
              <a:gd name="connsiteX5" fmla="*/ 1523836 w 2315082"/>
              <a:gd name="connsiteY5" fmla="*/ 0 h 2951204"/>
              <a:gd name="connsiteX6" fmla="*/ 719797 w 2315082"/>
              <a:gd name="connsiteY6" fmla="*/ 679883 h 2951204"/>
              <a:gd name="connsiteX7" fmla="*/ 0 w 2315082"/>
              <a:gd name="connsiteY7" fmla="*/ 1350009 h 2951204"/>
              <a:gd name="connsiteX8" fmla="*/ 0 w 2315082"/>
              <a:gd name="connsiteY8" fmla="*/ 2951205 h 2951204"/>
              <a:gd name="connsiteX9" fmla="*/ 2315082 w 2315082"/>
              <a:gd name="connsiteY9" fmla="*/ 2141985 h 2951204"/>
              <a:gd name="connsiteX10" fmla="*/ 2315082 w 2315082"/>
              <a:gd name="connsiteY10" fmla="*/ 1607753 h 2951204"/>
              <a:gd name="connsiteX11" fmla="*/ 457398 w 2315082"/>
              <a:gd name="connsiteY11" fmla="*/ 2125023 h 2951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082" h="2951204">
                <a:moveTo>
                  <a:pt x="457357" y="2125063"/>
                </a:moveTo>
                <a:cubicBezTo>
                  <a:pt x="552124" y="1984189"/>
                  <a:pt x="744815" y="1700617"/>
                  <a:pt x="1043971" y="1265161"/>
                </a:cubicBezTo>
                <a:lnTo>
                  <a:pt x="1046967" y="1260870"/>
                </a:lnTo>
                <a:cubicBezTo>
                  <a:pt x="1307423" y="881803"/>
                  <a:pt x="1553792" y="523544"/>
                  <a:pt x="1851774" y="204268"/>
                </a:cubicBezTo>
                <a:cubicBezTo>
                  <a:pt x="1933182" y="116991"/>
                  <a:pt x="2029770" y="47039"/>
                  <a:pt x="2129759" y="0"/>
                </a:cubicBezTo>
                <a:lnTo>
                  <a:pt x="1523836" y="0"/>
                </a:lnTo>
                <a:cubicBezTo>
                  <a:pt x="1308314" y="168483"/>
                  <a:pt x="1039720" y="395542"/>
                  <a:pt x="719797" y="679883"/>
                </a:cubicBezTo>
                <a:cubicBezTo>
                  <a:pt x="459098" y="911638"/>
                  <a:pt x="207305" y="1149303"/>
                  <a:pt x="0" y="1350009"/>
                </a:cubicBezTo>
                <a:lnTo>
                  <a:pt x="0" y="2951205"/>
                </a:lnTo>
                <a:cubicBezTo>
                  <a:pt x="337209" y="2809642"/>
                  <a:pt x="1197355" y="2465065"/>
                  <a:pt x="2315082" y="2141985"/>
                </a:cubicBezTo>
                <a:lnTo>
                  <a:pt x="2315082" y="1607753"/>
                </a:lnTo>
                <a:cubicBezTo>
                  <a:pt x="1885495" y="1747697"/>
                  <a:pt x="1241600" y="1940874"/>
                  <a:pt x="457398" y="2125023"/>
                </a:cubicBezTo>
                <a:close/>
              </a:path>
            </a:pathLst>
          </a:custGeom>
          <a:solidFill>
            <a:srgbClr val="BCDCF1">
              <a:alpha val="30000"/>
            </a:srgbClr>
          </a:solidFill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81C86A-2901-F551-7CD6-19B32114F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20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C6B5F4-8C12-8F6D-BBAD-6D2402383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20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D7B779E-95A3-2F7B-C851-739E72C68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D8DCD14-AEAD-C7FC-C8BD-18DEB5D98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29B85A54-2849-A9C7-EE9E-6BAF98C83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844" y="487045"/>
            <a:ext cx="10829544" cy="1460500"/>
          </a:xfrm>
        </p:spPr>
        <p:txBody>
          <a:bodyPr anchor="t"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19" name="Espace réservé du numéro de diapositive 7">
            <a:extLst>
              <a:ext uri="{FF2B5EF4-FFF2-40B4-BE49-F238E27FC236}">
                <a16:creationId xmlns:a16="http://schemas.microsoft.com/office/drawing/2014/main" id="{6393D292-054C-2F16-E5A0-A5CA3900B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116" y="6301508"/>
            <a:ext cx="2743200" cy="365125"/>
          </a:xfrm>
        </p:spPr>
        <p:txBody>
          <a:bodyPr/>
          <a:lstStyle/>
          <a:p>
            <a:fld id="{421B1A79-1F45-8F4F-AED5-0EE30DCF0380}" type="slidenum">
              <a:rPr lang="fr-FR" smtClean="0"/>
              <a:t>‹#›</a:t>
            </a:fld>
            <a:endParaRPr lang="fr-FR"/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B0F99DD8-9ED9-7755-2CD2-9EB36037EEB1}"/>
              </a:ext>
            </a:extLst>
          </p:cNvPr>
          <p:cNvCxnSpPr>
            <a:cxnSpLocks/>
          </p:cNvCxnSpPr>
          <p:nvPr userDrawn="1"/>
        </p:nvCxnSpPr>
        <p:spPr>
          <a:xfrm>
            <a:off x="5998465" y="1518132"/>
            <a:ext cx="0" cy="4720299"/>
          </a:xfrm>
          <a:prstGeom prst="line">
            <a:avLst/>
          </a:prstGeom>
          <a:ln w="12700">
            <a:solidFill>
              <a:srgbClr val="BCD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que 8">
            <a:extLst>
              <a:ext uri="{FF2B5EF4-FFF2-40B4-BE49-F238E27FC236}">
                <a16:creationId xmlns:a16="http://schemas.microsoft.com/office/drawing/2014/main" id="{B41A8859-4045-E6AD-2F38-6F1D622510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076" y="6348616"/>
            <a:ext cx="1330581" cy="27091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F7BA188-422D-5BC2-959F-9125E368708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2241" y="6146859"/>
            <a:ext cx="4274817" cy="5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7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que 29">
            <a:extLst>
              <a:ext uri="{FF2B5EF4-FFF2-40B4-BE49-F238E27FC236}">
                <a16:creationId xmlns:a16="http://schemas.microsoft.com/office/drawing/2014/main" id="{7BB8904F-A3B1-6CB7-032E-AB2277BA290A}"/>
              </a:ext>
            </a:extLst>
          </p:cNvPr>
          <p:cNvSpPr/>
          <p:nvPr userDrawn="1"/>
        </p:nvSpPr>
        <p:spPr>
          <a:xfrm>
            <a:off x="-3322669" y="523621"/>
            <a:ext cx="5216782" cy="6370956"/>
          </a:xfrm>
          <a:custGeom>
            <a:avLst/>
            <a:gdLst>
              <a:gd name="connsiteX0" fmla="*/ 3641377 w 3685056"/>
              <a:gd name="connsiteY0" fmla="*/ 502156 h 4500347"/>
              <a:gd name="connsiteX1" fmla="*/ 3485068 w 3685056"/>
              <a:gd name="connsiteY1" fmla="*/ 267241 h 4500347"/>
              <a:gd name="connsiteX2" fmla="*/ 1912951 w 3685056"/>
              <a:gd name="connsiteY2" fmla="*/ 40437 h 4500347"/>
              <a:gd name="connsiteX3" fmla="*/ 0 w 3685056"/>
              <a:gd name="connsiteY3" fmla="*/ 300905 h 4500347"/>
              <a:gd name="connsiteX4" fmla="*/ 0 w 3685056"/>
              <a:gd name="connsiteY4" fmla="*/ 1274412 h 4500347"/>
              <a:gd name="connsiteX5" fmla="*/ 1858654 w 3685056"/>
              <a:gd name="connsiteY5" fmla="*/ 556494 h 4500347"/>
              <a:gd name="connsiteX6" fmla="*/ 3161174 w 3685056"/>
              <a:gd name="connsiteY6" fmla="*/ 585584 h 4500347"/>
              <a:gd name="connsiteX7" fmla="*/ 2778657 w 3685056"/>
              <a:gd name="connsiteY7" fmla="*/ 1898779 h 4500347"/>
              <a:gd name="connsiteX8" fmla="*/ 740171 w 3685056"/>
              <a:gd name="connsiteY8" fmla="*/ 4500348 h 4500347"/>
              <a:gd name="connsiteX9" fmla="*/ 2033185 w 3685056"/>
              <a:gd name="connsiteY9" fmla="*/ 4500348 h 4500347"/>
              <a:gd name="connsiteX10" fmla="*/ 2730149 w 3685056"/>
              <a:gd name="connsiteY10" fmla="*/ 3167028 h 4500347"/>
              <a:gd name="connsiteX11" fmla="*/ 3485129 w 3685056"/>
              <a:gd name="connsiteY11" fmla="*/ 1567507 h 4500347"/>
              <a:gd name="connsiteX12" fmla="*/ 3641438 w 3685056"/>
              <a:gd name="connsiteY12" fmla="*/ 502278 h 450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85056" h="4500347">
                <a:moveTo>
                  <a:pt x="3641377" y="502156"/>
                </a:moveTo>
                <a:cubicBezTo>
                  <a:pt x="3598842" y="408239"/>
                  <a:pt x="3546494" y="330849"/>
                  <a:pt x="3485068" y="267241"/>
                </a:cubicBezTo>
                <a:cubicBezTo>
                  <a:pt x="3171595" y="-57261"/>
                  <a:pt x="2620336" y="-19938"/>
                  <a:pt x="1912951" y="40437"/>
                </a:cubicBezTo>
                <a:cubicBezTo>
                  <a:pt x="1067050" y="112582"/>
                  <a:pt x="0" y="300905"/>
                  <a:pt x="0" y="300905"/>
                </a:cubicBezTo>
                <a:lnTo>
                  <a:pt x="0" y="1274412"/>
                </a:lnTo>
                <a:cubicBezTo>
                  <a:pt x="0" y="1274412"/>
                  <a:pt x="1204956" y="769698"/>
                  <a:pt x="1858654" y="556494"/>
                </a:cubicBezTo>
                <a:cubicBezTo>
                  <a:pt x="2512352" y="343290"/>
                  <a:pt x="2927654" y="276267"/>
                  <a:pt x="3161174" y="585584"/>
                </a:cubicBezTo>
                <a:cubicBezTo>
                  <a:pt x="3421508" y="930455"/>
                  <a:pt x="2986887" y="1593487"/>
                  <a:pt x="2778657" y="1898779"/>
                </a:cubicBezTo>
                <a:cubicBezTo>
                  <a:pt x="2570427" y="2204071"/>
                  <a:pt x="2098695" y="2843562"/>
                  <a:pt x="740171" y="4500348"/>
                </a:cubicBezTo>
                <a:lnTo>
                  <a:pt x="2033185" y="4500348"/>
                </a:lnTo>
                <a:cubicBezTo>
                  <a:pt x="2033185" y="4500348"/>
                  <a:pt x="2463844" y="3709796"/>
                  <a:pt x="2730149" y="3167028"/>
                </a:cubicBezTo>
                <a:cubicBezTo>
                  <a:pt x="2930457" y="2758732"/>
                  <a:pt x="3269586" y="2131316"/>
                  <a:pt x="3485129" y="1567507"/>
                </a:cubicBezTo>
                <a:cubicBezTo>
                  <a:pt x="3652286" y="1130243"/>
                  <a:pt x="3745157" y="731217"/>
                  <a:pt x="3641438" y="502278"/>
                </a:cubicBezTo>
                <a:close/>
              </a:path>
            </a:pathLst>
          </a:custGeom>
          <a:solidFill>
            <a:srgbClr val="BCDCF1">
              <a:alpha val="30000"/>
            </a:srgbClr>
          </a:solidFill>
          <a:ln w="6093" cap="flat">
            <a:noFill/>
            <a:prstDash val="solid"/>
            <a:miter/>
          </a:ln>
        </p:spPr>
        <p:txBody>
          <a:bodyPr rtlCol="0" anchor="ctr"/>
          <a:lstStyle/>
          <a:p>
            <a:endParaRPr lang="fr-FR">
              <a:solidFill>
                <a:schemeClr val="accent2"/>
              </a:solidFill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BB53E869-3755-AB1B-C893-E9081BFD2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844" y="487045"/>
            <a:ext cx="10829544" cy="1460500"/>
          </a:xfrm>
        </p:spPr>
        <p:txBody>
          <a:bodyPr anchor="t"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17" name="Espace réservé du numéro de diapositive 7">
            <a:extLst>
              <a:ext uri="{FF2B5EF4-FFF2-40B4-BE49-F238E27FC236}">
                <a16:creationId xmlns:a16="http://schemas.microsoft.com/office/drawing/2014/main" id="{8E6E5DCA-3A3F-DC3E-31A2-8793C19EE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116" y="6301508"/>
            <a:ext cx="2743200" cy="365125"/>
          </a:xfrm>
        </p:spPr>
        <p:txBody>
          <a:bodyPr/>
          <a:lstStyle/>
          <a:p>
            <a:fld id="{421B1A79-1F45-8F4F-AED5-0EE30DCF0380}" type="slidenum">
              <a:rPr lang="fr-FR" smtClean="0"/>
              <a:t>‹#›</a:t>
            </a:fld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F9ACC368-4F6F-5E4E-82C6-3C4161401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076" y="6348616"/>
            <a:ext cx="1330581" cy="27091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A428B8E-D1C9-ED45-E952-6DA238054AE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2241" y="6146859"/>
            <a:ext cx="4274817" cy="5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8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7">
            <a:extLst>
              <a:ext uri="{FF2B5EF4-FFF2-40B4-BE49-F238E27FC236}">
                <a16:creationId xmlns:a16="http://schemas.microsoft.com/office/drawing/2014/main" id="{932803DF-73DD-8B31-C8A0-6749634F57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116" y="6301508"/>
            <a:ext cx="2743200" cy="365125"/>
          </a:xfrm>
        </p:spPr>
        <p:txBody>
          <a:bodyPr/>
          <a:lstStyle/>
          <a:p>
            <a:fld id="{421B1A79-1F45-8F4F-AED5-0EE30DCF0380}" type="slidenum">
              <a:rPr lang="fr-FR" smtClean="0"/>
              <a:t>‹#›</a:t>
            </a:fld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7451F763-5552-C0BC-7799-A91248C94B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076" y="6348616"/>
            <a:ext cx="1330581" cy="27091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DCB2B8D-6E2A-B2CC-2793-DD19B3B519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2241" y="6146859"/>
            <a:ext cx="4274817" cy="5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9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que 29">
            <a:extLst>
              <a:ext uri="{FF2B5EF4-FFF2-40B4-BE49-F238E27FC236}">
                <a16:creationId xmlns:a16="http://schemas.microsoft.com/office/drawing/2014/main" id="{1DAB2724-EF92-2157-9F53-520C2E74688F}"/>
              </a:ext>
            </a:extLst>
          </p:cNvPr>
          <p:cNvSpPr/>
          <p:nvPr userDrawn="1"/>
        </p:nvSpPr>
        <p:spPr>
          <a:xfrm rot="15300000" flipH="1">
            <a:off x="3262162" y="-2441458"/>
            <a:ext cx="5397791" cy="6592012"/>
          </a:xfrm>
          <a:custGeom>
            <a:avLst/>
            <a:gdLst>
              <a:gd name="connsiteX0" fmla="*/ 3641377 w 3685056"/>
              <a:gd name="connsiteY0" fmla="*/ 502156 h 4500347"/>
              <a:gd name="connsiteX1" fmla="*/ 3485068 w 3685056"/>
              <a:gd name="connsiteY1" fmla="*/ 267241 h 4500347"/>
              <a:gd name="connsiteX2" fmla="*/ 1912951 w 3685056"/>
              <a:gd name="connsiteY2" fmla="*/ 40437 h 4500347"/>
              <a:gd name="connsiteX3" fmla="*/ 0 w 3685056"/>
              <a:gd name="connsiteY3" fmla="*/ 300905 h 4500347"/>
              <a:gd name="connsiteX4" fmla="*/ 0 w 3685056"/>
              <a:gd name="connsiteY4" fmla="*/ 1274412 h 4500347"/>
              <a:gd name="connsiteX5" fmla="*/ 1858654 w 3685056"/>
              <a:gd name="connsiteY5" fmla="*/ 556494 h 4500347"/>
              <a:gd name="connsiteX6" fmla="*/ 3161174 w 3685056"/>
              <a:gd name="connsiteY6" fmla="*/ 585584 h 4500347"/>
              <a:gd name="connsiteX7" fmla="*/ 2778657 w 3685056"/>
              <a:gd name="connsiteY7" fmla="*/ 1898779 h 4500347"/>
              <a:gd name="connsiteX8" fmla="*/ 740171 w 3685056"/>
              <a:gd name="connsiteY8" fmla="*/ 4500348 h 4500347"/>
              <a:gd name="connsiteX9" fmla="*/ 2033185 w 3685056"/>
              <a:gd name="connsiteY9" fmla="*/ 4500348 h 4500347"/>
              <a:gd name="connsiteX10" fmla="*/ 2730149 w 3685056"/>
              <a:gd name="connsiteY10" fmla="*/ 3167028 h 4500347"/>
              <a:gd name="connsiteX11" fmla="*/ 3485129 w 3685056"/>
              <a:gd name="connsiteY11" fmla="*/ 1567507 h 4500347"/>
              <a:gd name="connsiteX12" fmla="*/ 3641438 w 3685056"/>
              <a:gd name="connsiteY12" fmla="*/ 502278 h 450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85056" h="4500347">
                <a:moveTo>
                  <a:pt x="3641377" y="502156"/>
                </a:moveTo>
                <a:cubicBezTo>
                  <a:pt x="3598842" y="408239"/>
                  <a:pt x="3546494" y="330849"/>
                  <a:pt x="3485068" y="267241"/>
                </a:cubicBezTo>
                <a:cubicBezTo>
                  <a:pt x="3171595" y="-57261"/>
                  <a:pt x="2620336" y="-19938"/>
                  <a:pt x="1912951" y="40437"/>
                </a:cubicBezTo>
                <a:cubicBezTo>
                  <a:pt x="1067050" y="112582"/>
                  <a:pt x="0" y="300905"/>
                  <a:pt x="0" y="300905"/>
                </a:cubicBezTo>
                <a:lnTo>
                  <a:pt x="0" y="1274412"/>
                </a:lnTo>
                <a:cubicBezTo>
                  <a:pt x="0" y="1274412"/>
                  <a:pt x="1204956" y="769698"/>
                  <a:pt x="1858654" y="556494"/>
                </a:cubicBezTo>
                <a:cubicBezTo>
                  <a:pt x="2512352" y="343290"/>
                  <a:pt x="2927654" y="276267"/>
                  <a:pt x="3161174" y="585584"/>
                </a:cubicBezTo>
                <a:cubicBezTo>
                  <a:pt x="3421508" y="930455"/>
                  <a:pt x="2986887" y="1593487"/>
                  <a:pt x="2778657" y="1898779"/>
                </a:cubicBezTo>
                <a:cubicBezTo>
                  <a:pt x="2570427" y="2204071"/>
                  <a:pt x="2098695" y="2843562"/>
                  <a:pt x="740171" y="4500348"/>
                </a:cubicBezTo>
                <a:lnTo>
                  <a:pt x="2033185" y="4500348"/>
                </a:lnTo>
                <a:cubicBezTo>
                  <a:pt x="2033185" y="4500348"/>
                  <a:pt x="2463844" y="3709796"/>
                  <a:pt x="2730149" y="3167028"/>
                </a:cubicBezTo>
                <a:cubicBezTo>
                  <a:pt x="2930457" y="2758732"/>
                  <a:pt x="3269586" y="2131316"/>
                  <a:pt x="3485129" y="1567507"/>
                </a:cubicBezTo>
                <a:cubicBezTo>
                  <a:pt x="3652286" y="1130243"/>
                  <a:pt x="3745157" y="731217"/>
                  <a:pt x="3641438" y="502278"/>
                </a:cubicBezTo>
                <a:close/>
              </a:path>
            </a:pathLst>
          </a:custGeom>
          <a:solidFill>
            <a:srgbClr val="BCDCF1">
              <a:alpha val="30000"/>
            </a:srgbClr>
          </a:solidFill>
          <a:ln w="6093" cap="flat">
            <a:noFill/>
            <a:prstDash val="solid"/>
            <a:miter/>
          </a:ln>
        </p:spPr>
        <p:txBody>
          <a:bodyPr rtlCol="0" anchor="ctr"/>
          <a:lstStyle/>
          <a:p>
            <a:endParaRPr lang="fr-FR">
              <a:solidFill>
                <a:schemeClr val="accent2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81A5620-4B18-A7A7-65B8-9660CE18C3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80671E-5FBA-456A-BD86-077C73A8A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1E913D-2339-1BF0-973F-7E73DC866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C2955E95-FDA1-08D1-782B-FCF911A5C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116" y="6301508"/>
            <a:ext cx="2743200" cy="365125"/>
          </a:xfrm>
        </p:spPr>
        <p:txBody>
          <a:bodyPr/>
          <a:lstStyle/>
          <a:p>
            <a:fld id="{421B1A79-1F45-8F4F-AED5-0EE30DCF0380}" type="slidenum">
              <a:rPr lang="fr-FR" smtClean="0"/>
              <a:t>‹#›</a:t>
            </a:fld>
            <a:endParaRPr lang="fr-FR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E2CD9B4C-5392-CBFF-4812-FAB3166778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076" y="6348616"/>
            <a:ext cx="1330581" cy="2709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7F6906B-0649-D5DA-E5F5-ADC0C65D68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2241" y="6146859"/>
            <a:ext cx="4274817" cy="5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9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1DC1B5-5E30-A04E-A86A-13F78DE07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2D374FC-81CD-1FE6-3D7D-4D1E6BA68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820396-D4E8-C3E9-ED3D-F3DFDCC1B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1B88DB15-13F6-76AC-FC18-40AB261CD0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116" y="6301508"/>
            <a:ext cx="2743200" cy="365125"/>
          </a:xfrm>
        </p:spPr>
        <p:txBody>
          <a:bodyPr/>
          <a:lstStyle/>
          <a:p>
            <a:fld id="{421B1A79-1F45-8F4F-AED5-0EE30DCF0380}" type="slidenum">
              <a:rPr lang="fr-FR" smtClean="0"/>
              <a:t>‹#›</a:t>
            </a:fld>
            <a:endParaRPr lang="fr-FR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7BA76EDC-D6A8-6BC1-E7CF-AE951AE081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076" y="6348616"/>
            <a:ext cx="1330581" cy="2709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F395F08-2AB7-9DC6-1DC4-6E738D09055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2241" y="6146859"/>
            <a:ext cx="4274817" cy="5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81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fin">
    <p:bg>
      <p:bgPr>
        <a:gradFill>
          <a:gsLst>
            <a:gs pos="100000">
              <a:srgbClr val="032D5A"/>
            </a:gs>
            <a:gs pos="0">
              <a:srgbClr val="9378B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675E09-98F4-CB40-847A-223EE4FF23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2667" y="3069986"/>
            <a:ext cx="5839968" cy="2387600"/>
          </a:xfrm>
        </p:spPr>
        <p:txBody>
          <a:bodyPr anchor="b">
            <a:normAutofit/>
          </a:bodyPr>
          <a:lstStyle>
            <a:lvl1pPr algn="l">
              <a:defRPr sz="2000">
                <a:solidFill>
                  <a:srgbClr val="BCDCF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Nom du contact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CA446D-6137-3B12-BD1E-2599511A0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2667" y="5549661"/>
            <a:ext cx="5839968" cy="842819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Coordonnées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983B729-1067-981B-92A3-93D88B6F605E}"/>
              </a:ext>
            </a:extLst>
          </p:cNvPr>
          <p:cNvGrpSpPr/>
          <p:nvPr userDrawn="1"/>
        </p:nvGrpSpPr>
        <p:grpSpPr>
          <a:xfrm>
            <a:off x="689674" y="679747"/>
            <a:ext cx="1100669" cy="1242080"/>
            <a:chOff x="5706531" y="490797"/>
            <a:chExt cx="1100669" cy="1242080"/>
          </a:xfrm>
          <a:solidFill>
            <a:srgbClr val="BCDCF1"/>
          </a:solidFill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20F5A30A-B8B9-76A8-E1F3-D39A5F61B0D0}"/>
                </a:ext>
              </a:extLst>
            </p:cNvPr>
            <p:cNvGrpSpPr/>
            <p:nvPr/>
          </p:nvGrpSpPr>
          <p:grpSpPr>
            <a:xfrm>
              <a:off x="5812721" y="490797"/>
              <a:ext cx="890009" cy="889269"/>
              <a:chOff x="2571750" y="2711450"/>
              <a:chExt cx="1439148" cy="1437951"/>
            </a:xfrm>
            <a:grpFill/>
          </p:grpSpPr>
          <p:sp>
            <p:nvSpPr>
              <p:cNvPr id="25" name="Forme libre 24">
                <a:extLst>
                  <a:ext uri="{FF2B5EF4-FFF2-40B4-BE49-F238E27FC236}">
                    <a16:creationId xmlns:a16="http://schemas.microsoft.com/office/drawing/2014/main" id="{293068B8-BCDD-3640-F482-C23282BE3F39}"/>
                  </a:ext>
                </a:extLst>
              </p:cNvPr>
              <p:cNvSpPr/>
              <p:nvPr/>
            </p:nvSpPr>
            <p:spPr>
              <a:xfrm>
                <a:off x="2821538" y="2890124"/>
                <a:ext cx="715298" cy="646365"/>
              </a:xfrm>
              <a:custGeom>
                <a:avLst/>
                <a:gdLst>
                  <a:gd name="connsiteX0" fmla="*/ 0 w 715298"/>
                  <a:gd name="connsiteY0" fmla="*/ 646270 h 646365"/>
                  <a:gd name="connsiteX1" fmla="*/ 173121 w 715298"/>
                  <a:gd name="connsiteY1" fmla="*/ 392704 h 646365"/>
                  <a:gd name="connsiteX2" fmla="*/ 173977 w 715298"/>
                  <a:gd name="connsiteY2" fmla="*/ 391469 h 646365"/>
                  <a:gd name="connsiteX3" fmla="*/ 411495 w 715298"/>
                  <a:gd name="connsiteY3" fmla="*/ 79928 h 646365"/>
                  <a:gd name="connsiteX4" fmla="*/ 574534 w 715298"/>
                  <a:gd name="connsiteY4" fmla="*/ 0 h 646365"/>
                  <a:gd name="connsiteX5" fmla="*/ 692389 w 715298"/>
                  <a:gd name="connsiteY5" fmla="*/ 97131 h 646365"/>
                  <a:gd name="connsiteX6" fmla="*/ 712269 w 715298"/>
                  <a:gd name="connsiteY6" fmla="*/ 437183 h 646365"/>
                  <a:gd name="connsiteX7" fmla="*/ 0 w 715298"/>
                  <a:gd name="connsiteY7" fmla="*/ 646365 h 646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5298" h="646365">
                    <a:moveTo>
                      <a:pt x="0" y="646270"/>
                    </a:moveTo>
                    <a:cubicBezTo>
                      <a:pt x="27966" y="604738"/>
                      <a:pt x="84848" y="521103"/>
                      <a:pt x="173121" y="392704"/>
                    </a:cubicBezTo>
                    <a:lnTo>
                      <a:pt x="173977" y="391469"/>
                    </a:lnTo>
                    <a:cubicBezTo>
                      <a:pt x="250835" y="279702"/>
                      <a:pt x="323508" y="174018"/>
                      <a:pt x="411495" y="79928"/>
                    </a:cubicBezTo>
                    <a:cubicBezTo>
                      <a:pt x="457534" y="30603"/>
                      <a:pt x="520029" y="0"/>
                      <a:pt x="574534" y="0"/>
                    </a:cubicBezTo>
                    <a:cubicBezTo>
                      <a:pt x="614960" y="0"/>
                      <a:pt x="668323" y="16822"/>
                      <a:pt x="692389" y="97131"/>
                    </a:cubicBezTo>
                    <a:cubicBezTo>
                      <a:pt x="723494" y="200154"/>
                      <a:pt x="714743" y="392704"/>
                      <a:pt x="712269" y="437183"/>
                    </a:cubicBezTo>
                    <a:cubicBezTo>
                      <a:pt x="660809" y="456286"/>
                      <a:pt x="388857" y="555127"/>
                      <a:pt x="0" y="646365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 25">
                <a:extLst>
                  <a:ext uri="{FF2B5EF4-FFF2-40B4-BE49-F238E27FC236}">
                    <a16:creationId xmlns:a16="http://schemas.microsoft.com/office/drawing/2014/main" id="{3573FEFB-A28F-E91E-B749-75CAA07CBB9F}"/>
                  </a:ext>
                </a:extLst>
              </p:cNvPr>
              <p:cNvSpPr/>
              <p:nvPr/>
            </p:nvSpPr>
            <p:spPr>
              <a:xfrm>
                <a:off x="2571750" y="2711450"/>
                <a:ext cx="1384492" cy="709566"/>
              </a:xfrm>
              <a:custGeom>
                <a:avLst/>
                <a:gdLst>
                  <a:gd name="connsiteX0" fmla="*/ 0 w 1384492"/>
                  <a:gd name="connsiteY0" fmla="*/ 704910 h 709566"/>
                  <a:gd name="connsiteX1" fmla="*/ 215926 w 1384492"/>
                  <a:gd name="connsiteY1" fmla="*/ 205381 h 709566"/>
                  <a:gd name="connsiteX2" fmla="*/ 719213 w 1384492"/>
                  <a:gd name="connsiteY2" fmla="*/ 0 h 709566"/>
                  <a:gd name="connsiteX3" fmla="*/ 733577 w 1384492"/>
                  <a:gd name="connsiteY3" fmla="*/ 95 h 709566"/>
                  <a:gd name="connsiteX4" fmla="*/ 1384493 w 1384492"/>
                  <a:gd name="connsiteY4" fmla="*/ 443836 h 709566"/>
                  <a:gd name="connsiteX5" fmla="*/ 1104265 w 1384492"/>
                  <a:gd name="connsiteY5" fmla="*/ 562065 h 709566"/>
                  <a:gd name="connsiteX6" fmla="*/ 1037204 w 1384492"/>
                  <a:gd name="connsiteY6" fmla="*/ 206997 h 709566"/>
                  <a:gd name="connsiteX7" fmla="*/ 854381 w 1384492"/>
                  <a:gd name="connsiteY7" fmla="*/ 61491 h 709566"/>
                  <a:gd name="connsiteX8" fmla="*/ 689535 w 1384492"/>
                  <a:gd name="connsiteY8" fmla="*/ 110911 h 709566"/>
                  <a:gd name="connsiteX9" fmla="*/ 327218 w 1384492"/>
                  <a:gd name="connsiteY9" fmla="*/ 398787 h 709566"/>
                  <a:gd name="connsiteX10" fmla="*/ 0 w 1384492"/>
                  <a:gd name="connsiteY10" fmla="*/ 709567 h 709566"/>
                  <a:gd name="connsiteX11" fmla="*/ 0 w 1384492"/>
                  <a:gd name="connsiteY11" fmla="*/ 704910 h 709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84492" h="709566">
                    <a:moveTo>
                      <a:pt x="0" y="704910"/>
                    </a:moveTo>
                    <a:cubicBezTo>
                      <a:pt x="3710" y="515400"/>
                      <a:pt x="80378" y="337961"/>
                      <a:pt x="215926" y="205381"/>
                    </a:cubicBezTo>
                    <a:cubicBezTo>
                      <a:pt x="351284" y="72991"/>
                      <a:pt x="529922" y="0"/>
                      <a:pt x="719213" y="0"/>
                    </a:cubicBezTo>
                    <a:cubicBezTo>
                      <a:pt x="723969" y="0"/>
                      <a:pt x="728821" y="0"/>
                      <a:pt x="733577" y="95"/>
                    </a:cubicBezTo>
                    <a:cubicBezTo>
                      <a:pt x="1020844" y="5702"/>
                      <a:pt x="1274913" y="179435"/>
                      <a:pt x="1384493" y="443836"/>
                    </a:cubicBezTo>
                    <a:cubicBezTo>
                      <a:pt x="1346730" y="461323"/>
                      <a:pt x="1245330" y="507132"/>
                      <a:pt x="1104265" y="562065"/>
                    </a:cubicBezTo>
                    <a:cubicBezTo>
                      <a:pt x="1084955" y="435092"/>
                      <a:pt x="1060414" y="285499"/>
                      <a:pt x="1037204" y="206997"/>
                    </a:cubicBezTo>
                    <a:cubicBezTo>
                      <a:pt x="1009809" y="114523"/>
                      <a:pt x="943224" y="61491"/>
                      <a:pt x="854381" y="61491"/>
                    </a:cubicBezTo>
                    <a:cubicBezTo>
                      <a:pt x="803871" y="61491"/>
                      <a:pt x="748416" y="78123"/>
                      <a:pt x="689535" y="110911"/>
                    </a:cubicBezTo>
                    <a:cubicBezTo>
                      <a:pt x="621333" y="149022"/>
                      <a:pt x="499483" y="245773"/>
                      <a:pt x="327218" y="398787"/>
                    </a:cubicBezTo>
                    <a:cubicBezTo>
                      <a:pt x="189767" y="520818"/>
                      <a:pt x="60783" y="648456"/>
                      <a:pt x="0" y="709567"/>
                    </a:cubicBezTo>
                    <a:cubicBezTo>
                      <a:pt x="0" y="708046"/>
                      <a:pt x="0" y="706525"/>
                      <a:pt x="0" y="704910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 26">
                <a:extLst>
                  <a:ext uri="{FF2B5EF4-FFF2-40B4-BE49-F238E27FC236}">
                    <a16:creationId xmlns:a16="http://schemas.microsoft.com/office/drawing/2014/main" id="{81A99EC4-B92E-BFB4-9985-4EB2259E196D}"/>
                  </a:ext>
                </a:extLst>
              </p:cNvPr>
              <p:cNvSpPr/>
              <p:nvPr/>
            </p:nvSpPr>
            <p:spPr>
              <a:xfrm>
                <a:off x="2666966" y="3498474"/>
                <a:ext cx="858280" cy="650927"/>
              </a:xfrm>
              <a:custGeom>
                <a:avLst/>
                <a:gdLst>
                  <a:gd name="connsiteX0" fmla="*/ 624568 w 858280"/>
                  <a:gd name="connsiteY0" fmla="*/ 650927 h 650927"/>
                  <a:gd name="connsiteX1" fmla="*/ 610299 w 858280"/>
                  <a:gd name="connsiteY1" fmla="*/ 650737 h 650927"/>
                  <a:gd name="connsiteX2" fmla="*/ 0 w 858280"/>
                  <a:gd name="connsiteY2" fmla="*/ 289681 h 650927"/>
                  <a:gd name="connsiteX3" fmla="*/ 858281 w 858280"/>
                  <a:gd name="connsiteY3" fmla="*/ 0 h 650927"/>
                  <a:gd name="connsiteX4" fmla="*/ 803206 w 858280"/>
                  <a:gd name="connsiteY4" fmla="*/ 628403 h 650927"/>
                  <a:gd name="connsiteX5" fmla="*/ 624568 w 858280"/>
                  <a:gd name="connsiteY5" fmla="*/ 650832 h 65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58280" h="650927">
                    <a:moveTo>
                      <a:pt x="624568" y="650927"/>
                    </a:moveTo>
                    <a:cubicBezTo>
                      <a:pt x="619811" y="650927"/>
                      <a:pt x="615055" y="650927"/>
                      <a:pt x="610299" y="650737"/>
                    </a:cubicBezTo>
                    <a:cubicBezTo>
                      <a:pt x="357942" y="645890"/>
                      <a:pt x="125560" y="507987"/>
                      <a:pt x="0" y="289681"/>
                    </a:cubicBezTo>
                    <a:cubicBezTo>
                      <a:pt x="93409" y="249859"/>
                      <a:pt x="427666" y="112622"/>
                      <a:pt x="858281" y="0"/>
                    </a:cubicBezTo>
                    <a:lnTo>
                      <a:pt x="803206" y="628403"/>
                    </a:lnTo>
                    <a:cubicBezTo>
                      <a:pt x="745086" y="643324"/>
                      <a:pt x="685065" y="650832"/>
                      <a:pt x="624568" y="650832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8" name="Forme libre 27">
                <a:extLst>
                  <a:ext uri="{FF2B5EF4-FFF2-40B4-BE49-F238E27FC236}">
                    <a16:creationId xmlns:a16="http://schemas.microsoft.com/office/drawing/2014/main" id="{57037F43-6B5B-9FDF-5977-22ED2CBF4585}"/>
                  </a:ext>
                </a:extLst>
              </p:cNvPr>
              <p:cNvSpPr/>
              <p:nvPr/>
            </p:nvSpPr>
            <p:spPr>
              <a:xfrm>
                <a:off x="3700746" y="3401343"/>
                <a:ext cx="310152" cy="574420"/>
              </a:xfrm>
              <a:custGeom>
                <a:avLst/>
                <a:gdLst>
                  <a:gd name="connsiteX0" fmla="*/ 59546 w 310152"/>
                  <a:gd name="connsiteY0" fmla="*/ 574420 h 574420"/>
                  <a:gd name="connsiteX1" fmla="*/ 0 w 310152"/>
                  <a:gd name="connsiteY1" fmla="*/ 55978 h 574420"/>
                  <a:gd name="connsiteX2" fmla="*/ 309525 w 310152"/>
                  <a:gd name="connsiteY2" fmla="*/ 0 h 574420"/>
                  <a:gd name="connsiteX3" fmla="*/ 310001 w 310152"/>
                  <a:gd name="connsiteY3" fmla="*/ 43243 h 574420"/>
                  <a:gd name="connsiteX4" fmla="*/ 59546 w 310152"/>
                  <a:gd name="connsiteY4" fmla="*/ 574420 h 574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52" h="574420">
                    <a:moveTo>
                      <a:pt x="59546" y="574420"/>
                    </a:moveTo>
                    <a:cubicBezTo>
                      <a:pt x="50034" y="483277"/>
                      <a:pt x="24446" y="241686"/>
                      <a:pt x="0" y="55978"/>
                    </a:cubicBezTo>
                    <a:cubicBezTo>
                      <a:pt x="164370" y="23190"/>
                      <a:pt x="266435" y="6653"/>
                      <a:pt x="309525" y="0"/>
                    </a:cubicBezTo>
                    <a:cubicBezTo>
                      <a:pt x="310191" y="14446"/>
                      <a:pt x="310286" y="28892"/>
                      <a:pt x="310001" y="43243"/>
                    </a:cubicBezTo>
                    <a:cubicBezTo>
                      <a:pt x="306006" y="248814"/>
                      <a:pt x="214974" y="440889"/>
                      <a:pt x="59546" y="574420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8ED9B721-A267-4F9A-C8FB-4EDF9035D0FC}"/>
                </a:ext>
              </a:extLst>
            </p:cNvPr>
            <p:cNvGrpSpPr/>
            <p:nvPr/>
          </p:nvGrpSpPr>
          <p:grpSpPr>
            <a:xfrm>
              <a:off x="5706531" y="1530040"/>
              <a:ext cx="1100669" cy="202837"/>
              <a:chOff x="4227814" y="2908087"/>
              <a:chExt cx="5388249" cy="992975"/>
            </a:xfrm>
            <a:grpFill/>
          </p:grpSpPr>
          <p:sp>
            <p:nvSpPr>
              <p:cNvPr id="17" name="Forme libre 16">
                <a:extLst>
                  <a:ext uri="{FF2B5EF4-FFF2-40B4-BE49-F238E27FC236}">
                    <a16:creationId xmlns:a16="http://schemas.microsoft.com/office/drawing/2014/main" id="{954C32A8-2448-2ED4-5AA6-BF5FBA02FF11}"/>
                  </a:ext>
                </a:extLst>
              </p:cNvPr>
              <p:cNvSpPr/>
              <p:nvPr/>
            </p:nvSpPr>
            <p:spPr>
              <a:xfrm>
                <a:off x="4227814" y="2917686"/>
                <a:ext cx="986885" cy="967029"/>
              </a:xfrm>
              <a:custGeom>
                <a:avLst/>
                <a:gdLst>
                  <a:gd name="connsiteX0" fmla="*/ 639692 w 986885"/>
                  <a:gd name="connsiteY0" fmla="*/ 598180 h 967029"/>
                  <a:gd name="connsiteX1" fmla="*/ 490732 w 986885"/>
                  <a:gd name="connsiteY1" fmla="*/ 204906 h 967029"/>
                  <a:gd name="connsiteX2" fmla="*/ 339013 w 986885"/>
                  <a:gd name="connsiteY2" fmla="*/ 598180 h 967029"/>
                  <a:gd name="connsiteX3" fmla="*/ 639787 w 986885"/>
                  <a:gd name="connsiteY3" fmla="*/ 598180 h 967029"/>
                  <a:gd name="connsiteX4" fmla="*/ 421008 w 986885"/>
                  <a:gd name="connsiteY4" fmla="*/ 0 h 967029"/>
                  <a:gd name="connsiteX5" fmla="*/ 569968 w 986885"/>
                  <a:gd name="connsiteY5" fmla="*/ 0 h 967029"/>
                  <a:gd name="connsiteX6" fmla="*/ 986885 w 986885"/>
                  <a:gd name="connsiteY6" fmla="*/ 967029 h 967029"/>
                  <a:gd name="connsiteX7" fmla="*/ 790079 w 986885"/>
                  <a:gd name="connsiteY7" fmla="*/ 967029 h 967029"/>
                  <a:gd name="connsiteX8" fmla="*/ 699904 w 986885"/>
                  <a:gd name="connsiteY8" fmla="*/ 745777 h 967029"/>
                  <a:gd name="connsiteX9" fmla="*/ 280228 w 986885"/>
                  <a:gd name="connsiteY9" fmla="*/ 745777 h 967029"/>
                  <a:gd name="connsiteX10" fmla="*/ 192716 w 986885"/>
                  <a:gd name="connsiteY10" fmla="*/ 967029 h 967029"/>
                  <a:gd name="connsiteX11" fmla="*/ 0 w 986885"/>
                  <a:gd name="connsiteY11" fmla="*/ 967029 h 967029"/>
                  <a:gd name="connsiteX12" fmla="*/ 421008 w 986885"/>
                  <a:gd name="connsiteY12" fmla="*/ 0 h 9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6885" h="967029">
                    <a:moveTo>
                      <a:pt x="639692" y="598180"/>
                    </a:moveTo>
                    <a:lnTo>
                      <a:pt x="490732" y="204906"/>
                    </a:lnTo>
                    <a:lnTo>
                      <a:pt x="339013" y="598180"/>
                    </a:lnTo>
                    <a:lnTo>
                      <a:pt x="639787" y="598180"/>
                    </a:lnTo>
                    <a:close/>
                    <a:moveTo>
                      <a:pt x="421008" y="0"/>
                    </a:moveTo>
                    <a:lnTo>
                      <a:pt x="569968" y="0"/>
                    </a:lnTo>
                    <a:lnTo>
                      <a:pt x="986885" y="967029"/>
                    </a:lnTo>
                    <a:lnTo>
                      <a:pt x="790079" y="967029"/>
                    </a:lnTo>
                    <a:lnTo>
                      <a:pt x="699904" y="745777"/>
                    </a:lnTo>
                    <a:lnTo>
                      <a:pt x="280228" y="745777"/>
                    </a:lnTo>
                    <a:lnTo>
                      <a:pt x="192716" y="967029"/>
                    </a:lnTo>
                    <a:lnTo>
                      <a:pt x="0" y="967029"/>
                    </a:lnTo>
                    <a:lnTo>
                      <a:pt x="421008" y="0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8" name="Forme libre 17">
                <a:extLst>
                  <a:ext uri="{FF2B5EF4-FFF2-40B4-BE49-F238E27FC236}">
                    <a16:creationId xmlns:a16="http://schemas.microsoft.com/office/drawing/2014/main" id="{E1893580-A1DE-E5E8-0239-182FC8F0EA96}"/>
                  </a:ext>
                </a:extLst>
              </p:cNvPr>
              <p:cNvSpPr/>
              <p:nvPr/>
            </p:nvSpPr>
            <p:spPr>
              <a:xfrm>
                <a:off x="5239146" y="3229036"/>
                <a:ext cx="598789" cy="671930"/>
              </a:xfrm>
              <a:custGeom>
                <a:avLst/>
                <a:gdLst>
                  <a:gd name="connsiteX0" fmla="*/ 598789 w 598789"/>
                  <a:gd name="connsiteY0" fmla="*/ 655584 h 671930"/>
                  <a:gd name="connsiteX1" fmla="*/ 442980 w 598789"/>
                  <a:gd name="connsiteY1" fmla="*/ 655584 h 671930"/>
                  <a:gd name="connsiteX2" fmla="*/ 442980 w 598789"/>
                  <a:gd name="connsiteY2" fmla="*/ 550375 h 671930"/>
                  <a:gd name="connsiteX3" fmla="*/ 440222 w 598789"/>
                  <a:gd name="connsiteY3" fmla="*/ 550375 h 671930"/>
                  <a:gd name="connsiteX4" fmla="*/ 239230 w 598789"/>
                  <a:gd name="connsiteY4" fmla="*/ 671931 h 671930"/>
                  <a:gd name="connsiteX5" fmla="*/ 0 w 598789"/>
                  <a:gd name="connsiteY5" fmla="*/ 413803 h 671930"/>
                  <a:gd name="connsiteX6" fmla="*/ 0 w 598789"/>
                  <a:gd name="connsiteY6" fmla="*/ 0 h 671930"/>
                  <a:gd name="connsiteX7" fmla="*/ 163989 w 598789"/>
                  <a:gd name="connsiteY7" fmla="*/ 0 h 671930"/>
                  <a:gd name="connsiteX8" fmla="*/ 163989 w 598789"/>
                  <a:gd name="connsiteY8" fmla="*/ 331879 h 671930"/>
                  <a:gd name="connsiteX9" fmla="*/ 284318 w 598789"/>
                  <a:gd name="connsiteY9" fmla="*/ 524429 h 671930"/>
                  <a:gd name="connsiteX10" fmla="*/ 434705 w 598789"/>
                  <a:gd name="connsiteY10" fmla="*/ 357825 h 671930"/>
                  <a:gd name="connsiteX11" fmla="*/ 434705 w 598789"/>
                  <a:gd name="connsiteY11" fmla="*/ 0 h 671930"/>
                  <a:gd name="connsiteX12" fmla="*/ 598694 w 598789"/>
                  <a:gd name="connsiteY12" fmla="*/ 0 h 671930"/>
                  <a:gd name="connsiteX13" fmla="*/ 598694 w 598789"/>
                  <a:gd name="connsiteY13" fmla="*/ 655584 h 671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98789" h="671930">
                    <a:moveTo>
                      <a:pt x="598789" y="655584"/>
                    </a:moveTo>
                    <a:lnTo>
                      <a:pt x="442980" y="655584"/>
                    </a:lnTo>
                    <a:lnTo>
                      <a:pt x="442980" y="550375"/>
                    </a:lnTo>
                    <a:lnTo>
                      <a:pt x="440222" y="550375"/>
                    </a:lnTo>
                    <a:cubicBezTo>
                      <a:pt x="410164" y="615858"/>
                      <a:pt x="348620" y="671931"/>
                      <a:pt x="239230" y="671931"/>
                    </a:cubicBezTo>
                    <a:cubicBezTo>
                      <a:pt x="62875" y="671931"/>
                      <a:pt x="0" y="547619"/>
                      <a:pt x="0" y="413803"/>
                    </a:cubicBezTo>
                    <a:lnTo>
                      <a:pt x="0" y="0"/>
                    </a:lnTo>
                    <a:lnTo>
                      <a:pt x="163989" y="0"/>
                    </a:lnTo>
                    <a:lnTo>
                      <a:pt x="163989" y="331879"/>
                    </a:lnTo>
                    <a:cubicBezTo>
                      <a:pt x="163989" y="404299"/>
                      <a:pt x="169506" y="524429"/>
                      <a:pt x="284318" y="524429"/>
                    </a:cubicBezTo>
                    <a:cubicBezTo>
                      <a:pt x="392281" y="524429"/>
                      <a:pt x="434705" y="445261"/>
                      <a:pt x="434705" y="357825"/>
                    </a:cubicBezTo>
                    <a:lnTo>
                      <a:pt x="434705" y="0"/>
                    </a:lnTo>
                    <a:lnTo>
                      <a:pt x="598694" y="0"/>
                    </a:lnTo>
                    <a:lnTo>
                      <a:pt x="598694" y="655584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9" name="Forme libre 18">
                <a:extLst>
                  <a:ext uri="{FF2B5EF4-FFF2-40B4-BE49-F238E27FC236}">
                    <a16:creationId xmlns:a16="http://schemas.microsoft.com/office/drawing/2014/main" id="{47D9A284-3B86-756D-99A2-E8BCFF28C157}"/>
                  </a:ext>
                </a:extLst>
              </p:cNvPr>
              <p:cNvSpPr/>
              <p:nvPr/>
            </p:nvSpPr>
            <p:spPr>
              <a:xfrm>
                <a:off x="5922688" y="2917686"/>
                <a:ext cx="708084" cy="983376"/>
              </a:xfrm>
              <a:custGeom>
                <a:avLst/>
                <a:gdLst>
                  <a:gd name="connsiteX0" fmla="*/ 356801 w 708084"/>
                  <a:gd name="connsiteY0" fmla="*/ 835779 h 983376"/>
                  <a:gd name="connsiteX1" fmla="*/ 549517 w 708084"/>
                  <a:gd name="connsiteY1" fmla="*/ 639142 h 983376"/>
                  <a:gd name="connsiteX2" fmla="*/ 356801 w 708084"/>
                  <a:gd name="connsiteY2" fmla="*/ 442505 h 983376"/>
                  <a:gd name="connsiteX3" fmla="*/ 164085 w 708084"/>
                  <a:gd name="connsiteY3" fmla="*/ 639142 h 983376"/>
                  <a:gd name="connsiteX4" fmla="*/ 356801 w 708084"/>
                  <a:gd name="connsiteY4" fmla="*/ 835779 h 983376"/>
                  <a:gd name="connsiteX5" fmla="*/ 552275 w 708084"/>
                  <a:gd name="connsiteY5" fmla="*/ 868568 h 983376"/>
                  <a:gd name="connsiteX6" fmla="*/ 549517 w 708084"/>
                  <a:gd name="connsiteY6" fmla="*/ 868568 h 983376"/>
                  <a:gd name="connsiteX7" fmla="*/ 323984 w 708084"/>
                  <a:gd name="connsiteY7" fmla="*/ 983376 h 983376"/>
                  <a:gd name="connsiteX8" fmla="*/ 0 w 708084"/>
                  <a:gd name="connsiteY8" fmla="*/ 639237 h 983376"/>
                  <a:gd name="connsiteX9" fmla="*/ 317135 w 708084"/>
                  <a:gd name="connsiteY9" fmla="*/ 295003 h 983376"/>
                  <a:gd name="connsiteX10" fmla="*/ 540004 w 708084"/>
                  <a:gd name="connsiteY10" fmla="*/ 394700 h 983376"/>
                  <a:gd name="connsiteX11" fmla="*/ 544000 w 708084"/>
                  <a:gd name="connsiteY11" fmla="*/ 394700 h 983376"/>
                  <a:gd name="connsiteX12" fmla="*/ 544000 w 708084"/>
                  <a:gd name="connsiteY12" fmla="*/ 0 h 983376"/>
                  <a:gd name="connsiteX13" fmla="*/ 708084 w 708084"/>
                  <a:gd name="connsiteY13" fmla="*/ 0 h 983376"/>
                  <a:gd name="connsiteX14" fmla="*/ 708084 w 708084"/>
                  <a:gd name="connsiteY14" fmla="*/ 966934 h 983376"/>
                  <a:gd name="connsiteX15" fmla="*/ 552275 w 708084"/>
                  <a:gd name="connsiteY15" fmla="*/ 966934 h 983376"/>
                  <a:gd name="connsiteX16" fmla="*/ 552275 w 708084"/>
                  <a:gd name="connsiteY16" fmla="*/ 868568 h 983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08084" h="983376">
                    <a:moveTo>
                      <a:pt x="356801" y="835779"/>
                    </a:moveTo>
                    <a:cubicBezTo>
                      <a:pt x="477129" y="835779"/>
                      <a:pt x="549517" y="741595"/>
                      <a:pt x="549517" y="639142"/>
                    </a:cubicBezTo>
                    <a:cubicBezTo>
                      <a:pt x="549517" y="536689"/>
                      <a:pt x="477034" y="442505"/>
                      <a:pt x="356801" y="442505"/>
                    </a:cubicBezTo>
                    <a:cubicBezTo>
                      <a:pt x="236567" y="442505"/>
                      <a:pt x="164085" y="536689"/>
                      <a:pt x="164085" y="639142"/>
                    </a:cubicBezTo>
                    <a:cubicBezTo>
                      <a:pt x="164085" y="741595"/>
                      <a:pt x="236567" y="835779"/>
                      <a:pt x="356801" y="835779"/>
                    </a:cubicBezTo>
                    <a:moveTo>
                      <a:pt x="552275" y="868568"/>
                    </a:moveTo>
                    <a:lnTo>
                      <a:pt x="549517" y="868568"/>
                    </a:lnTo>
                    <a:cubicBezTo>
                      <a:pt x="501670" y="947831"/>
                      <a:pt x="415586" y="983376"/>
                      <a:pt x="323984" y="983376"/>
                    </a:cubicBezTo>
                    <a:cubicBezTo>
                      <a:pt x="121660" y="983376"/>
                      <a:pt x="0" y="833118"/>
                      <a:pt x="0" y="639237"/>
                    </a:cubicBezTo>
                    <a:cubicBezTo>
                      <a:pt x="0" y="445356"/>
                      <a:pt x="129841" y="295003"/>
                      <a:pt x="317135" y="295003"/>
                    </a:cubicBezTo>
                    <a:cubicBezTo>
                      <a:pt x="440127" y="295003"/>
                      <a:pt x="505761" y="352407"/>
                      <a:pt x="540004" y="394700"/>
                    </a:cubicBezTo>
                    <a:lnTo>
                      <a:pt x="544000" y="394700"/>
                    </a:lnTo>
                    <a:lnTo>
                      <a:pt x="544000" y="0"/>
                    </a:lnTo>
                    <a:lnTo>
                      <a:pt x="708084" y="0"/>
                    </a:lnTo>
                    <a:lnTo>
                      <a:pt x="708084" y="966934"/>
                    </a:lnTo>
                    <a:lnTo>
                      <a:pt x="552275" y="966934"/>
                    </a:lnTo>
                    <a:lnTo>
                      <a:pt x="552275" y="868568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0" name="Forme libre 19">
                <a:extLst>
                  <a:ext uri="{FF2B5EF4-FFF2-40B4-BE49-F238E27FC236}">
                    <a16:creationId xmlns:a16="http://schemas.microsoft.com/office/drawing/2014/main" id="{5AF49FFC-8EB0-33B2-8409-0EB674281EE3}"/>
                  </a:ext>
                </a:extLst>
              </p:cNvPr>
              <p:cNvSpPr/>
              <p:nvPr/>
            </p:nvSpPr>
            <p:spPr>
              <a:xfrm>
                <a:off x="6715430" y="3212594"/>
                <a:ext cx="664328" cy="688372"/>
              </a:xfrm>
              <a:custGeom>
                <a:avLst/>
                <a:gdLst>
                  <a:gd name="connsiteX0" fmla="*/ 500339 w 664328"/>
                  <a:gd name="connsiteY0" fmla="*/ 278657 h 688372"/>
                  <a:gd name="connsiteX1" fmla="*/ 333591 w 664328"/>
                  <a:gd name="connsiteY1" fmla="*/ 122981 h 688372"/>
                  <a:gd name="connsiteX2" fmla="*/ 164085 w 664328"/>
                  <a:gd name="connsiteY2" fmla="*/ 278657 h 688372"/>
                  <a:gd name="connsiteX3" fmla="*/ 500339 w 664328"/>
                  <a:gd name="connsiteY3" fmla="*/ 278657 h 688372"/>
                  <a:gd name="connsiteX4" fmla="*/ 164085 w 664328"/>
                  <a:gd name="connsiteY4" fmla="*/ 401543 h 688372"/>
                  <a:gd name="connsiteX5" fmla="*/ 340440 w 664328"/>
                  <a:gd name="connsiteY5" fmla="*/ 557218 h 688372"/>
                  <a:gd name="connsiteX6" fmla="*/ 516795 w 664328"/>
                  <a:gd name="connsiteY6" fmla="*/ 468451 h 688372"/>
                  <a:gd name="connsiteX7" fmla="*/ 634365 w 664328"/>
                  <a:gd name="connsiteY7" fmla="*/ 557218 h 688372"/>
                  <a:gd name="connsiteX8" fmla="*/ 356801 w 664328"/>
                  <a:gd name="connsiteY8" fmla="*/ 688373 h 688372"/>
                  <a:gd name="connsiteX9" fmla="*/ 0 w 664328"/>
                  <a:gd name="connsiteY9" fmla="*/ 344234 h 688372"/>
                  <a:gd name="connsiteX10" fmla="*/ 356801 w 664328"/>
                  <a:gd name="connsiteY10" fmla="*/ 0 h 688372"/>
                  <a:gd name="connsiteX11" fmla="*/ 664328 w 664328"/>
                  <a:gd name="connsiteY11" fmla="*/ 356494 h 688372"/>
                  <a:gd name="connsiteX12" fmla="*/ 664328 w 664328"/>
                  <a:gd name="connsiteY12" fmla="*/ 401543 h 688372"/>
                  <a:gd name="connsiteX13" fmla="*/ 163989 w 664328"/>
                  <a:gd name="connsiteY13" fmla="*/ 401543 h 688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64328" h="688372">
                    <a:moveTo>
                      <a:pt x="500339" y="278657"/>
                    </a:moveTo>
                    <a:cubicBezTo>
                      <a:pt x="498912" y="183047"/>
                      <a:pt x="436037" y="122981"/>
                      <a:pt x="333591" y="122981"/>
                    </a:cubicBezTo>
                    <a:cubicBezTo>
                      <a:pt x="236472" y="122981"/>
                      <a:pt x="176355" y="184472"/>
                      <a:pt x="164085" y="278657"/>
                    </a:cubicBezTo>
                    <a:lnTo>
                      <a:pt x="500339" y="278657"/>
                    </a:lnTo>
                    <a:close/>
                    <a:moveTo>
                      <a:pt x="164085" y="401543"/>
                    </a:moveTo>
                    <a:cubicBezTo>
                      <a:pt x="175023" y="498578"/>
                      <a:pt x="248838" y="557218"/>
                      <a:pt x="340440" y="557218"/>
                    </a:cubicBezTo>
                    <a:cubicBezTo>
                      <a:pt x="422434" y="557218"/>
                      <a:pt x="475703" y="519012"/>
                      <a:pt x="516795" y="468451"/>
                    </a:cubicBezTo>
                    <a:lnTo>
                      <a:pt x="634365" y="557218"/>
                    </a:lnTo>
                    <a:cubicBezTo>
                      <a:pt x="557792" y="651402"/>
                      <a:pt x="460673" y="688373"/>
                      <a:pt x="356801" y="688373"/>
                    </a:cubicBezTo>
                    <a:cubicBezTo>
                      <a:pt x="158568" y="688373"/>
                      <a:pt x="0" y="550470"/>
                      <a:pt x="0" y="344234"/>
                    </a:cubicBezTo>
                    <a:cubicBezTo>
                      <a:pt x="0" y="137998"/>
                      <a:pt x="158568" y="0"/>
                      <a:pt x="356801" y="0"/>
                    </a:cubicBezTo>
                    <a:cubicBezTo>
                      <a:pt x="540005" y="0"/>
                      <a:pt x="664328" y="128399"/>
                      <a:pt x="664328" y="356494"/>
                    </a:cubicBezTo>
                    <a:lnTo>
                      <a:pt x="664328" y="401543"/>
                    </a:lnTo>
                    <a:lnTo>
                      <a:pt x="163989" y="401543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1" name="Forme libre 20">
                <a:extLst>
                  <a:ext uri="{FF2B5EF4-FFF2-40B4-BE49-F238E27FC236}">
                    <a16:creationId xmlns:a16="http://schemas.microsoft.com/office/drawing/2014/main" id="{82B2538B-6B25-0FBA-ADDC-F8ADDE9460DB}"/>
                  </a:ext>
                </a:extLst>
              </p:cNvPr>
              <p:cNvSpPr/>
              <p:nvPr/>
            </p:nvSpPr>
            <p:spPr>
              <a:xfrm>
                <a:off x="7464417" y="3212689"/>
                <a:ext cx="598789" cy="672025"/>
              </a:xfrm>
              <a:custGeom>
                <a:avLst/>
                <a:gdLst>
                  <a:gd name="connsiteX0" fmla="*/ 95 w 598789"/>
                  <a:gd name="connsiteY0" fmla="*/ 16347 h 672025"/>
                  <a:gd name="connsiteX1" fmla="*/ 155904 w 598789"/>
                  <a:gd name="connsiteY1" fmla="*/ 16347 h 672025"/>
                  <a:gd name="connsiteX2" fmla="*/ 155904 w 598789"/>
                  <a:gd name="connsiteY2" fmla="*/ 121556 h 672025"/>
                  <a:gd name="connsiteX3" fmla="*/ 158568 w 598789"/>
                  <a:gd name="connsiteY3" fmla="*/ 121556 h 672025"/>
                  <a:gd name="connsiteX4" fmla="*/ 359559 w 598789"/>
                  <a:gd name="connsiteY4" fmla="*/ 0 h 672025"/>
                  <a:gd name="connsiteX5" fmla="*/ 598790 w 598789"/>
                  <a:gd name="connsiteY5" fmla="*/ 258128 h 672025"/>
                  <a:gd name="connsiteX6" fmla="*/ 598790 w 598789"/>
                  <a:gd name="connsiteY6" fmla="*/ 672026 h 672025"/>
                  <a:gd name="connsiteX7" fmla="*/ 434705 w 598789"/>
                  <a:gd name="connsiteY7" fmla="*/ 672026 h 672025"/>
                  <a:gd name="connsiteX8" fmla="*/ 434705 w 598789"/>
                  <a:gd name="connsiteY8" fmla="*/ 340147 h 672025"/>
                  <a:gd name="connsiteX9" fmla="*/ 314376 w 598789"/>
                  <a:gd name="connsiteY9" fmla="*/ 147597 h 672025"/>
                  <a:gd name="connsiteX10" fmla="*/ 163989 w 598789"/>
                  <a:gd name="connsiteY10" fmla="*/ 314201 h 672025"/>
                  <a:gd name="connsiteX11" fmla="*/ 163989 w 598789"/>
                  <a:gd name="connsiteY11" fmla="*/ 672026 h 672025"/>
                  <a:gd name="connsiteX12" fmla="*/ 0 w 598789"/>
                  <a:gd name="connsiteY12" fmla="*/ 672026 h 672025"/>
                  <a:gd name="connsiteX13" fmla="*/ 0 w 598789"/>
                  <a:gd name="connsiteY13" fmla="*/ 16347 h 672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98789" h="672025">
                    <a:moveTo>
                      <a:pt x="95" y="16347"/>
                    </a:moveTo>
                    <a:lnTo>
                      <a:pt x="155904" y="16347"/>
                    </a:lnTo>
                    <a:lnTo>
                      <a:pt x="155904" y="121556"/>
                    </a:lnTo>
                    <a:lnTo>
                      <a:pt x="158568" y="121556"/>
                    </a:lnTo>
                    <a:cubicBezTo>
                      <a:pt x="188721" y="56073"/>
                      <a:pt x="250265" y="0"/>
                      <a:pt x="359559" y="0"/>
                    </a:cubicBezTo>
                    <a:cubicBezTo>
                      <a:pt x="535915" y="0"/>
                      <a:pt x="598790" y="124312"/>
                      <a:pt x="598790" y="258128"/>
                    </a:cubicBezTo>
                    <a:lnTo>
                      <a:pt x="598790" y="672026"/>
                    </a:lnTo>
                    <a:lnTo>
                      <a:pt x="434705" y="672026"/>
                    </a:lnTo>
                    <a:lnTo>
                      <a:pt x="434705" y="340147"/>
                    </a:lnTo>
                    <a:cubicBezTo>
                      <a:pt x="434705" y="267822"/>
                      <a:pt x="429283" y="147597"/>
                      <a:pt x="314376" y="147597"/>
                    </a:cubicBezTo>
                    <a:cubicBezTo>
                      <a:pt x="206414" y="147597"/>
                      <a:pt x="163989" y="226860"/>
                      <a:pt x="163989" y="314201"/>
                    </a:cubicBezTo>
                    <a:lnTo>
                      <a:pt x="163989" y="672026"/>
                    </a:lnTo>
                    <a:lnTo>
                      <a:pt x="0" y="672026"/>
                    </a:lnTo>
                    <a:lnTo>
                      <a:pt x="0" y="16347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2" name="Forme libre 21">
                <a:extLst>
                  <a:ext uri="{FF2B5EF4-FFF2-40B4-BE49-F238E27FC236}">
                    <a16:creationId xmlns:a16="http://schemas.microsoft.com/office/drawing/2014/main" id="{B45DE06D-7DB7-7CE6-B62B-FF889C4BEE14}"/>
                  </a:ext>
                </a:extLst>
              </p:cNvPr>
              <p:cNvSpPr/>
              <p:nvPr/>
            </p:nvSpPr>
            <p:spPr>
              <a:xfrm>
                <a:off x="8147865" y="3212689"/>
                <a:ext cx="594603" cy="688372"/>
              </a:xfrm>
              <a:custGeom>
                <a:avLst/>
                <a:gdLst>
                  <a:gd name="connsiteX0" fmla="*/ 481219 w 594603"/>
                  <a:gd name="connsiteY0" fmla="*/ 213079 h 688372"/>
                  <a:gd name="connsiteX1" fmla="*/ 356800 w 594603"/>
                  <a:gd name="connsiteY1" fmla="*/ 147502 h 688372"/>
                  <a:gd name="connsiteX2" fmla="*/ 163989 w 594603"/>
                  <a:gd name="connsiteY2" fmla="*/ 344139 h 688372"/>
                  <a:gd name="connsiteX3" fmla="*/ 356800 w 594603"/>
                  <a:gd name="connsiteY3" fmla="*/ 540776 h 688372"/>
                  <a:gd name="connsiteX4" fmla="*/ 483883 w 594603"/>
                  <a:gd name="connsiteY4" fmla="*/ 479380 h 688372"/>
                  <a:gd name="connsiteX5" fmla="*/ 593273 w 594603"/>
                  <a:gd name="connsiteY5" fmla="*/ 596850 h 688372"/>
                  <a:gd name="connsiteX6" fmla="*/ 356800 w 594603"/>
                  <a:gd name="connsiteY6" fmla="*/ 688373 h 688372"/>
                  <a:gd name="connsiteX7" fmla="*/ 0 w 594603"/>
                  <a:gd name="connsiteY7" fmla="*/ 344139 h 688372"/>
                  <a:gd name="connsiteX8" fmla="*/ 356800 w 594603"/>
                  <a:gd name="connsiteY8" fmla="*/ 0 h 688372"/>
                  <a:gd name="connsiteX9" fmla="*/ 594604 w 594603"/>
                  <a:gd name="connsiteY9" fmla="*/ 99697 h 688372"/>
                  <a:gd name="connsiteX10" fmla="*/ 481124 w 594603"/>
                  <a:gd name="connsiteY10" fmla="*/ 212984 h 688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94603" h="688372">
                    <a:moveTo>
                      <a:pt x="481219" y="213079"/>
                    </a:moveTo>
                    <a:cubicBezTo>
                      <a:pt x="442885" y="173447"/>
                      <a:pt x="400556" y="147502"/>
                      <a:pt x="356800" y="147502"/>
                    </a:cubicBezTo>
                    <a:cubicBezTo>
                      <a:pt x="236472" y="147502"/>
                      <a:pt x="163989" y="241686"/>
                      <a:pt x="163989" y="344139"/>
                    </a:cubicBezTo>
                    <a:cubicBezTo>
                      <a:pt x="163989" y="446592"/>
                      <a:pt x="236472" y="540776"/>
                      <a:pt x="356800" y="540776"/>
                    </a:cubicBezTo>
                    <a:cubicBezTo>
                      <a:pt x="407310" y="540776"/>
                      <a:pt x="453824" y="519012"/>
                      <a:pt x="483883" y="479380"/>
                    </a:cubicBezTo>
                    <a:lnTo>
                      <a:pt x="593273" y="596850"/>
                    </a:lnTo>
                    <a:cubicBezTo>
                      <a:pt x="526307" y="663758"/>
                      <a:pt x="414159" y="688373"/>
                      <a:pt x="356800" y="688373"/>
                    </a:cubicBezTo>
                    <a:cubicBezTo>
                      <a:pt x="158567" y="688373"/>
                      <a:pt x="0" y="550375"/>
                      <a:pt x="0" y="344139"/>
                    </a:cubicBezTo>
                    <a:cubicBezTo>
                      <a:pt x="0" y="137903"/>
                      <a:pt x="158567" y="0"/>
                      <a:pt x="356800" y="0"/>
                    </a:cubicBezTo>
                    <a:cubicBezTo>
                      <a:pt x="440222" y="0"/>
                      <a:pt x="531729" y="30033"/>
                      <a:pt x="594604" y="99697"/>
                    </a:cubicBezTo>
                    <a:lnTo>
                      <a:pt x="481124" y="212984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3" name="Forme libre 22">
                <a:extLst>
                  <a:ext uri="{FF2B5EF4-FFF2-40B4-BE49-F238E27FC236}">
                    <a16:creationId xmlns:a16="http://schemas.microsoft.com/office/drawing/2014/main" id="{12BD76DA-1C9F-5902-44E1-4A5F7B9829C5}"/>
                  </a:ext>
                </a:extLst>
              </p:cNvPr>
              <p:cNvSpPr/>
              <p:nvPr/>
            </p:nvSpPr>
            <p:spPr>
              <a:xfrm>
                <a:off x="8750745" y="2908087"/>
                <a:ext cx="210408" cy="976533"/>
              </a:xfrm>
              <a:custGeom>
                <a:avLst/>
                <a:gdLst>
                  <a:gd name="connsiteX0" fmla="*/ 23210 w 210408"/>
                  <a:gd name="connsiteY0" fmla="*/ 320949 h 976533"/>
                  <a:gd name="connsiteX1" fmla="*/ 187294 w 210408"/>
                  <a:gd name="connsiteY1" fmla="*/ 320949 h 976533"/>
                  <a:gd name="connsiteX2" fmla="*/ 187294 w 210408"/>
                  <a:gd name="connsiteY2" fmla="*/ 976533 h 976533"/>
                  <a:gd name="connsiteX3" fmla="*/ 23210 w 210408"/>
                  <a:gd name="connsiteY3" fmla="*/ 976533 h 976533"/>
                  <a:gd name="connsiteX4" fmla="*/ 23210 w 210408"/>
                  <a:gd name="connsiteY4" fmla="*/ 320949 h 976533"/>
                  <a:gd name="connsiteX5" fmla="*/ 103872 w 210408"/>
                  <a:gd name="connsiteY5" fmla="*/ 0 h 976533"/>
                  <a:gd name="connsiteX6" fmla="*/ 210409 w 210408"/>
                  <a:gd name="connsiteY6" fmla="*/ 98271 h 976533"/>
                  <a:gd name="connsiteX7" fmla="*/ 103872 w 210408"/>
                  <a:gd name="connsiteY7" fmla="*/ 196637 h 976533"/>
                  <a:gd name="connsiteX8" fmla="*/ 0 w 210408"/>
                  <a:gd name="connsiteY8" fmla="*/ 98271 h 976533"/>
                  <a:gd name="connsiteX9" fmla="*/ 103872 w 210408"/>
                  <a:gd name="connsiteY9" fmla="*/ 0 h 976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408" h="976533">
                    <a:moveTo>
                      <a:pt x="23210" y="320949"/>
                    </a:moveTo>
                    <a:lnTo>
                      <a:pt x="187294" y="320949"/>
                    </a:lnTo>
                    <a:lnTo>
                      <a:pt x="187294" y="976533"/>
                    </a:lnTo>
                    <a:lnTo>
                      <a:pt x="23210" y="976533"/>
                    </a:lnTo>
                    <a:lnTo>
                      <a:pt x="23210" y="320949"/>
                    </a:lnTo>
                    <a:close/>
                    <a:moveTo>
                      <a:pt x="103872" y="0"/>
                    </a:moveTo>
                    <a:cubicBezTo>
                      <a:pt x="163989" y="0"/>
                      <a:pt x="210409" y="42293"/>
                      <a:pt x="210409" y="98271"/>
                    </a:cubicBezTo>
                    <a:cubicBezTo>
                      <a:pt x="210409" y="154249"/>
                      <a:pt x="163989" y="196637"/>
                      <a:pt x="103872" y="196637"/>
                    </a:cubicBezTo>
                    <a:cubicBezTo>
                      <a:pt x="43756" y="196637"/>
                      <a:pt x="0" y="150163"/>
                      <a:pt x="0" y="98271"/>
                    </a:cubicBezTo>
                    <a:cubicBezTo>
                      <a:pt x="0" y="46379"/>
                      <a:pt x="43756" y="0"/>
                      <a:pt x="103872" y="0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4" name="Forme libre 23">
                <a:extLst>
                  <a:ext uri="{FF2B5EF4-FFF2-40B4-BE49-F238E27FC236}">
                    <a16:creationId xmlns:a16="http://schemas.microsoft.com/office/drawing/2014/main" id="{3B09702B-0C60-4631-33F5-3FA7D541CC4A}"/>
                  </a:ext>
                </a:extLst>
              </p:cNvPr>
              <p:cNvSpPr/>
              <p:nvPr/>
            </p:nvSpPr>
            <p:spPr>
              <a:xfrm>
                <a:off x="9014611" y="3212499"/>
                <a:ext cx="601452" cy="688467"/>
              </a:xfrm>
              <a:custGeom>
                <a:avLst/>
                <a:gdLst>
                  <a:gd name="connsiteX0" fmla="*/ 444217 w 601452"/>
                  <a:gd name="connsiteY0" fmla="*/ 378448 h 688467"/>
                  <a:gd name="connsiteX1" fmla="*/ 410068 w 601452"/>
                  <a:gd name="connsiteY1" fmla="*/ 378448 h 688467"/>
                  <a:gd name="connsiteX2" fmla="*/ 163989 w 601452"/>
                  <a:gd name="connsiteY2" fmla="*/ 479571 h 688467"/>
                  <a:gd name="connsiteX3" fmla="*/ 278801 w 601452"/>
                  <a:gd name="connsiteY3" fmla="*/ 565582 h 688467"/>
                  <a:gd name="connsiteX4" fmla="*/ 444217 w 601452"/>
                  <a:gd name="connsiteY4" fmla="*/ 415419 h 688467"/>
                  <a:gd name="connsiteX5" fmla="*/ 444217 w 601452"/>
                  <a:gd name="connsiteY5" fmla="*/ 378543 h 688467"/>
                  <a:gd name="connsiteX6" fmla="*/ 453824 w 601452"/>
                  <a:gd name="connsiteY6" fmla="*/ 581928 h 688467"/>
                  <a:gd name="connsiteX7" fmla="*/ 449734 w 601452"/>
                  <a:gd name="connsiteY7" fmla="*/ 581928 h 688467"/>
                  <a:gd name="connsiteX8" fmla="*/ 239230 w 601452"/>
                  <a:gd name="connsiteY8" fmla="*/ 688468 h 688467"/>
                  <a:gd name="connsiteX9" fmla="*/ 0 w 601452"/>
                  <a:gd name="connsiteY9" fmla="*/ 491736 h 688467"/>
                  <a:gd name="connsiteX10" fmla="*/ 412827 w 601452"/>
                  <a:gd name="connsiteY10" fmla="*/ 263640 h 688467"/>
                  <a:gd name="connsiteX11" fmla="*/ 453824 w 601452"/>
                  <a:gd name="connsiteY11" fmla="*/ 263640 h 688467"/>
                  <a:gd name="connsiteX12" fmla="*/ 453824 w 601452"/>
                  <a:gd name="connsiteY12" fmla="*/ 245868 h 688467"/>
                  <a:gd name="connsiteX13" fmla="*/ 303437 w 601452"/>
                  <a:gd name="connsiteY13" fmla="*/ 122981 h 688467"/>
                  <a:gd name="connsiteX14" fmla="*/ 128509 w 601452"/>
                  <a:gd name="connsiteY14" fmla="*/ 191220 h 688467"/>
                  <a:gd name="connsiteX15" fmla="*/ 42424 w 601452"/>
                  <a:gd name="connsiteY15" fmla="*/ 105209 h 688467"/>
                  <a:gd name="connsiteX16" fmla="*/ 321225 w 601452"/>
                  <a:gd name="connsiteY16" fmla="*/ 0 h 688467"/>
                  <a:gd name="connsiteX17" fmla="*/ 601453 w 601452"/>
                  <a:gd name="connsiteY17" fmla="*/ 295003 h 688467"/>
                  <a:gd name="connsiteX18" fmla="*/ 601453 w 601452"/>
                  <a:gd name="connsiteY18" fmla="*/ 672026 h 688467"/>
                  <a:gd name="connsiteX19" fmla="*/ 453824 w 601452"/>
                  <a:gd name="connsiteY19" fmla="*/ 672026 h 688467"/>
                  <a:gd name="connsiteX20" fmla="*/ 453824 w 601452"/>
                  <a:gd name="connsiteY20" fmla="*/ 581833 h 688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01452" h="688467">
                    <a:moveTo>
                      <a:pt x="444217" y="378448"/>
                    </a:moveTo>
                    <a:lnTo>
                      <a:pt x="410068" y="378448"/>
                    </a:lnTo>
                    <a:cubicBezTo>
                      <a:pt x="319798" y="378448"/>
                      <a:pt x="163989" y="385291"/>
                      <a:pt x="163989" y="479571"/>
                    </a:cubicBezTo>
                    <a:cubicBezTo>
                      <a:pt x="163989" y="539636"/>
                      <a:pt x="225438" y="565582"/>
                      <a:pt x="278801" y="565582"/>
                    </a:cubicBezTo>
                    <a:cubicBezTo>
                      <a:pt x="390854" y="565582"/>
                      <a:pt x="444217" y="506847"/>
                      <a:pt x="444217" y="415419"/>
                    </a:cubicBezTo>
                    <a:lnTo>
                      <a:pt x="444217" y="378543"/>
                    </a:lnTo>
                    <a:close/>
                    <a:moveTo>
                      <a:pt x="453824" y="581928"/>
                    </a:moveTo>
                    <a:lnTo>
                      <a:pt x="449734" y="581928"/>
                    </a:lnTo>
                    <a:cubicBezTo>
                      <a:pt x="403315" y="655679"/>
                      <a:pt x="326742" y="688468"/>
                      <a:pt x="239230" y="688468"/>
                    </a:cubicBezTo>
                    <a:cubicBezTo>
                      <a:pt x="117570" y="688468"/>
                      <a:pt x="0" y="621560"/>
                      <a:pt x="0" y="491736"/>
                    </a:cubicBezTo>
                    <a:cubicBezTo>
                      <a:pt x="0" y="278752"/>
                      <a:pt x="248837" y="263640"/>
                      <a:pt x="412827" y="263640"/>
                    </a:cubicBezTo>
                    <a:lnTo>
                      <a:pt x="453824" y="263640"/>
                    </a:lnTo>
                    <a:lnTo>
                      <a:pt x="453824" y="245868"/>
                    </a:lnTo>
                    <a:cubicBezTo>
                      <a:pt x="453824" y="165274"/>
                      <a:pt x="390949" y="122981"/>
                      <a:pt x="303437" y="122981"/>
                    </a:cubicBezTo>
                    <a:cubicBezTo>
                      <a:pt x="235140" y="122981"/>
                      <a:pt x="172265" y="150258"/>
                      <a:pt x="128509" y="191220"/>
                    </a:cubicBezTo>
                    <a:lnTo>
                      <a:pt x="42424" y="105209"/>
                    </a:lnTo>
                    <a:cubicBezTo>
                      <a:pt x="114906" y="31458"/>
                      <a:pt x="217352" y="0"/>
                      <a:pt x="321225" y="0"/>
                    </a:cubicBezTo>
                    <a:cubicBezTo>
                      <a:pt x="601453" y="0"/>
                      <a:pt x="601453" y="202149"/>
                      <a:pt x="601453" y="295003"/>
                    </a:cubicBezTo>
                    <a:lnTo>
                      <a:pt x="601453" y="672026"/>
                    </a:lnTo>
                    <a:lnTo>
                      <a:pt x="453824" y="672026"/>
                    </a:lnTo>
                    <a:lnTo>
                      <a:pt x="453824" y="581833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</p:grpSp>
      <p:sp>
        <p:nvSpPr>
          <p:cNvPr id="6" name="Graphique 29">
            <a:extLst>
              <a:ext uri="{FF2B5EF4-FFF2-40B4-BE49-F238E27FC236}">
                <a16:creationId xmlns:a16="http://schemas.microsoft.com/office/drawing/2014/main" id="{A6048FBC-0B3B-D1FD-CDAC-8C23F578CE90}"/>
              </a:ext>
            </a:extLst>
          </p:cNvPr>
          <p:cNvSpPr/>
          <p:nvPr userDrawn="1"/>
        </p:nvSpPr>
        <p:spPr>
          <a:xfrm flipH="1">
            <a:off x="6794209" y="630692"/>
            <a:ext cx="5397791" cy="6592012"/>
          </a:xfrm>
          <a:custGeom>
            <a:avLst/>
            <a:gdLst>
              <a:gd name="connsiteX0" fmla="*/ 3641377 w 3685056"/>
              <a:gd name="connsiteY0" fmla="*/ 502156 h 4500347"/>
              <a:gd name="connsiteX1" fmla="*/ 3485068 w 3685056"/>
              <a:gd name="connsiteY1" fmla="*/ 267241 h 4500347"/>
              <a:gd name="connsiteX2" fmla="*/ 1912951 w 3685056"/>
              <a:gd name="connsiteY2" fmla="*/ 40437 h 4500347"/>
              <a:gd name="connsiteX3" fmla="*/ 0 w 3685056"/>
              <a:gd name="connsiteY3" fmla="*/ 300905 h 4500347"/>
              <a:gd name="connsiteX4" fmla="*/ 0 w 3685056"/>
              <a:gd name="connsiteY4" fmla="*/ 1274412 h 4500347"/>
              <a:gd name="connsiteX5" fmla="*/ 1858654 w 3685056"/>
              <a:gd name="connsiteY5" fmla="*/ 556494 h 4500347"/>
              <a:gd name="connsiteX6" fmla="*/ 3161174 w 3685056"/>
              <a:gd name="connsiteY6" fmla="*/ 585584 h 4500347"/>
              <a:gd name="connsiteX7" fmla="*/ 2778657 w 3685056"/>
              <a:gd name="connsiteY7" fmla="*/ 1898779 h 4500347"/>
              <a:gd name="connsiteX8" fmla="*/ 740171 w 3685056"/>
              <a:gd name="connsiteY8" fmla="*/ 4500348 h 4500347"/>
              <a:gd name="connsiteX9" fmla="*/ 2033185 w 3685056"/>
              <a:gd name="connsiteY9" fmla="*/ 4500348 h 4500347"/>
              <a:gd name="connsiteX10" fmla="*/ 2730149 w 3685056"/>
              <a:gd name="connsiteY10" fmla="*/ 3167028 h 4500347"/>
              <a:gd name="connsiteX11" fmla="*/ 3485129 w 3685056"/>
              <a:gd name="connsiteY11" fmla="*/ 1567507 h 4500347"/>
              <a:gd name="connsiteX12" fmla="*/ 3641438 w 3685056"/>
              <a:gd name="connsiteY12" fmla="*/ 502278 h 450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85056" h="4500347">
                <a:moveTo>
                  <a:pt x="3641377" y="502156"/>
                </a:moveTo>
                <a:cubicBezTo>
                  <a:pt x="3598842" y="408239"/>
                  <a:pt x="3546494" y="330849"/>
                  <a:pt x="3485068" y="267241"/>
                </a:cubicBezTo>
                <a:cubicBezTo>
                  <a:pt x="3171595" y="-57261"/>
                  <a:pt x="2620336" y="-19938"/>
                  <a:pt x="1912951" y="40437"/>
                </a:cubicBezTo>
                <a:cubicBezTo>
                  <a:pt x="1067050" y="112582"/>
                  <a:pt x="0" y="300905"/>
                  <a:pt x="0" y="300905"/>
                </a:cubicBezTo>
                <a:lnTo>
                  <a:pt x="0" y="1274412"/>
                </a:lnTo>
                <a:cubicBezTo>
                  <a:pt x="0" y="1274412"/>
                  <a:pt x="1204956" y="769698"/>
                  <a:pt x="1858654" y="556494"/>
                </a:cubicBezTo>
                <a:cubicBezTo>
                  <a:pt x="2512352" y="343290"/>
                  <a:pt x="2927654" y="276267"/>
                  <a:pt x="3161174" y="585584"/>
                </a:cubicBezTo>
                <a:cubicBezTo>
                  <a:pt x="3421508" y="930455"/>
                  <a:pt x="2986887" y="1593487"/>
                  <a:pt x="2778657" y="1898779"/>
                </a:cubicBezTo>
                <a:cubicBezTo>
                  <a:pt x="2570427" y="2204071"/>
                  <a:pt x="2098695" y="2843562"/>
                  <a:pt x="740171" y="4500348"/>
                </a:cubicBezTo>
                <a:lnTo>
                  <a:pt x="2033185" y="4500348"/>
                </a:lnTo>
                <a:cubicBezTo>
                  <a:pt x="2033185" y="4500348"/>
                  <a:pt x="2463844" y="3709796"/>
                  <a:pt x="2730149" y="3167028"/>
                </a:cubicBezTo>
                <a:cubicBezTo>
                  <a:pt x="2930457" y="2758732"/>
                  <a:pt x="3269586" y="2131316"/>
                  <a:pt x="3485129" y="1567507"/>
                </a:cubicBezTo>
                <a:cubicBezTo>
                  <a:pt x="3652286" y="1130243"/>
                  <a:pt x="3745157" y="731217"/>
                  <a:pt x="3641438" y="502278"/>
                </a:cubicBezTo>
                <a:close/>
              </a:path>
            </a:pathLst>
          </a:custGeom>
          <a:solidFill>
            <a:srgbClr val="758BC5">
              <a:alpha val="70000"/>
            </a:srgbClr>
          </a:solidFill>
          <a:ln w="6093" cap="flat">
            <a:noFill/>
            <a:prstDash val="solid"/>
            <a:miter/>
          </a:ln>
        </p:spPr>
        <p:txBody>
          <a:bodyPr rtlCol="0" anchor="ctr"/>
          <a:lstStyle/>
          <a:p>
            <a:endParaRPr lang="fr-FR">
              <a:solidFill>
                <a:schemeClr val="accent2"/>
              </a:solidFill>
            </a:endParaRP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4038C916-A98D-A5E7-086C-C33DDEE8D9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2138" y="2613896"/>
            <a:ext cx="5840412" cy="15843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Merci de votre attention.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7912CD0-332F-B3D6-D0FE-14D3A4FBCE9E}"/>
              </a:ext>
            </a:extLst>
          </p:cNvPr>
          <p:cNvSpPr txBox="1"/>
          <p:nvPr userDrawn="1"/>
        </p:nvSpPr>
        <p:spPr>
          <a:xfrm>
            <a:off x="689674" y="2021620"/>
            <a:ext cx="11006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 err="1">
                <a:solidFill>
                  <a:srgbClr val="BCDCF1"/>
                </a:solidFill>
                <a:latin typeface="Arial Nova" panose="020B0504020202020204" pitchFamily="34" charset="0"/>
              </a:rPr>
              <a:t>audencia</a:t>
            </a:r>
            <a:r>
              <a:rPr lang="fr-FR" sz="1000" dirty="0" err="1">
                <a:solidFill>
                  <a:srgbClr val="BCDCF1"/>
                </a:solidFill>
                <a:latin typeface="Arial Nova" panose="020B0504020202020204" pitchFamily="34" charset="0"/>
              </a:rPr>
              <a:t>.com</a:t>
            </a:r>
            <a:endParaRPr lang="fr-FR" sz="1000" dirty="0">
              <a:solidFill>
                <a:srgbClr val="BCDCF1"/>
              </a:solidFill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776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fin">
    <p:bg>
      <p:bgPr>
        <a:gradFill>
          <a:gsLst>
            <a:gs pos="100000">
              <a:srgbClr val="032D5A"/>
            </a:gs>
            <a:gs pos="0">
              <a:srgbClr val="9378B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675E09-98F4-CB40-847A-223EE4FF23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2667" y="3069986"/>
            <a:ext cx="5839968" cy="2387600"/>
          </a:xfrm>
        </p:spPr>
        <p:txBody>
          <a:bodyPr anchor="b">
            <a:normAutofit/>
          </a:bodyPr>
          <a:lstStyle>
            <a:lvl1pPr algn="l">
              <a:defRPr sz="2000">
                <a:solidFill>
                  <a:srgbClr val="BCDCF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Nom du contact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CA446D-6137-3B12-BD1E-2599511A0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2667" y="5549661"/>
            <a:ext cx="5839968" cy="842819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Coordonnées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983B729-1067-981B-92A3-93D88B6F605E}"/>
              </a:ext>
            </a:extLst>
          </p:cNvPr>
          <p:cNvGrpSpPr/>
          <p:nvPr userDrawn="1"/>
        </p:nvGrpSpPr>
        <p:grpSpPr>
          <a:xfrm>
            <a:off x="689674" y="679747"/>
            <a:ext cx="1100669" cy="1242080"/>
            <a:chOff x="5706531" y="490797"/>
            <a:chExt cx="1100669" cy="1242080"/>
          </a:xfrm>
          <a:solidFill>
            <a:srgbClr val="BCDCF1"/>
          </a:solidFill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20F5A30A-B8B9-76A8-E1F3-D39A5F61B0D0}"/>
                </a:ext>
              </a:extLst>
            </p:cNvPr>
            <p:cNvGrpSpPr/>
            <p:nvPr/>
          </p:nvGrpSpPr>
          <p:grpSpPr>
            <a:xfrm>
              <a:off x="5812721" y="490797"/>
              <a:ext cx="890009" cy="889269"/>
              <a:chOff x="2571750" y="2711450"/>
              <a:chExt cx="1439148" cy="1437951"/>
            </a:xfrm>
            <a:grpFill/>
          </p:grpSpPr>
          <p:sp>
            <p:nvSpPr>
              <p:cNvPr id="25" name="Forme libre 24">
                <a:extLst>
                  <a:ext uri="{FF2B5EF4-FFF2-40B4-BE49-F238E27FC236}">
                    <a16:creationId xmlns:a16="http://schemas.microsoft.com/office/drawing/2014/main" id="{293068B8-BCDD-3640-F482-C23282BE3F39}"/>
                  </a:ext>
                </a:extLst>
              </p:cNvPr>
              <p:cNvSpPr/>
              <p:nvPr/>
            </p:nvSpPr>
            <p:spPr>
              <a:xfrm>
                <a:off x="2821538" y="2890124"/>
                <a:ext cx="715298" cy="646365"/>
              </a:xfrm>
              <a:custGeom>
                <a:avLst/>
                <a:gdLst>
                  <a:gd name="connsiteX0" fmla="*/ 0 w 715298"/>
                  <a:gd name="connsiteY0" fmla="*/ 646270 h 646365"/>
                  <a:gd name="connsiteX1" fmla="*/ 173121 w 715298"/>
                  <a:gd name="connsiteY1" fmla="*/ 392704 h 646365"/>
                  <a:gd name="connsiteX2" fmla="*/ 173977 w 715298"/>
                  <a:gd name="connsiteY2" fmla="*/ 391469 h 646365"/>
                  <a:gd name="connsiteX3" fmla="*/ 411495 w 715298"/>
                  <a:gd name="connsiteY3" fmla="*/ 79928 h 646365"/>
                  <a:gd name="connsiteX4" fmla="*/ 574534 w 715298"/>
                  <a:gd name="connsiteY4" fmla="*/ 0 h 646365"/>
                  <a:gd name="connsiteX5" fmla="*/ 692389 w 715298"/>
                  <a:gd name="connsiteY5" fmla="*/ 97131 h 646365"/>
                  <a:gd name="connsiteX6" fmla="*/ 712269 w 715298"/>
                  <a:gd name="connsiteY6" fmla="*/ 437183 h 646365"/>
                  <a:gd name="connsiteX7" fmla="*/ 0 w 715298"/>
                  <a:gd name="connsiteY7" fmla="*/ 646365 h 646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5298" h="646365">
                    <a:moveTo>
                      <a:pt x="0" y="646270"/>
                    </a:moveTo>
                    <a:cubicBezTo>
                      <a:pt x="27966" y="604738"/>
                      <a:pt x="84848" y="521103"/>
                      <a:pt x="173121" y="392704"/>
                    </a:cubicBezTo>
                    <a:lnTo>
                      <a:pt x="173977" y="391469"/>
                    </a:lnTo>
                    <a:cubicBezTo>
                      <a:pt x="250835" y="279702"/>
                      <a:pt x="323508" y="174018"/>
                      <a:pt x="411495" y="79928"/>
                    </a:cubicBezTo>
                    <a:cubicBezTo>
                      <a:pt x="457534" y="30603"/>
                      <a:pt x="520029" y="0"/>
                      <a:pt x="574534" y="0"/>
                    </a:cubicBezTo>
                    <a:cubicBezTo>
                      <a:pt x="614960" y="0"/>
                      <a:pt x="668323" y="16822"/>
                      <a:pt x="692389" y="97131"/>
                    </a:cubicBezTo>
                    <a:cubicBezTo>
                      <a:pt x="723494" y="200154"/>
                      <a:pt x="714743" y="392704"/>
                      <a:pt x="712269" y="437183"/>
                    </a:cubicBezTo>
                    <a:cubicBezTo>
                      <a:pt x="660809" y="456286"/>
                      <a:pt x="388857" y="555127"/>
                      <a:pt x="0" y="646365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 25">
                <a:extLst>
                  <a:ext uri="{FF2B5EF4-FFF2-40B4-BE49-F238E27FC236}">
                    <a16:creationId xmlns:a16="http://schemas.microsoft.com/office/drawing/2014/main" id="{3573FEFB-A28F-E91E-B749-75CAA07CBB9F}"/>
                  </a:ext>
                </a:extLst>
              </p:cNvPr>
              <p:cNvSpPr/>
              <p:nvPr/>
            </p:nvSpPr>
            <p:spPr>
              <a:xfrm>
                <a:off x="2571750" y="2711450"/>
                <a:ext cx="1384492" cy="709566"/>
              </a:xfrm>
              <a:custGeom>
                <a:avLst/>
                <a:gdLst>
                  <a:gd name="connsiteX0" fmla="*/ 0 w 1384492"/>
                  <a:gd name="connsiteY0" fmla="*/ 704910 h 709566"/>
                  <a:gd name="connsiteX1" fmla="*/ 215926 w 1384492"/>
                  <a:gd name="connsiteY1" fmla="*/ 205381 h 709566"/>
                  <a:gd name="connsiteX2" fmla="*/ 719213 w 1384492"/>
                  <a:gd name="connsiteY2" fmla="*/ 0 h 709566"/>
                  <a:gd name="connsiteX3" fmla="*/ 733577 w 1384492"/>
                  <a:gd name="connsiteY3" fmla="*/ 95 h 709566"/>
                  <a:gd name="connsiteX4" fmla="*/ 1384493 w 1384492"/>
                  <a:gd name="connsiteY4" fmla="*/ 443836 h 709566"/>
                  <a:gd name="connsiteX5" fmla="*/ 1104265 w 1384492"/>
                  <a:gd name="connsiteY5" fmla="*/ 562065 h 709566"/>
                  <a:gd name="connsiteX6" fmla="*/ 1037204 w 1384492"/>
                  <a:gd name="connsiteY6" fmla="*/ 206997 h 709566"/>
                  <a:gd name="connsiteX7" fmla="*/ 854381 w 1384492"/>
                  <a:gd name="connsiteY7" fmla="*/ 61491 h 709566"/>
                  <a:gd name="connsiteX8" fmla="*/ 689535 w 1384492"/>
                  <a:gd name="connsiteY8" fmla="*/ 110911 h 709566"/>
                  <a:gd name="connsiteX9" fmla="*/ 327218 w 1384492"/>
                  <a:gd name="connsiteY9" fmla="*/ 398787 h 709566"/>
                  <a:gd name="connsiteX10" fmla="*/ 0 w 1384492"/>
                  <a:gd name="connsiteY10" fmla="*/ 709567 h 709566"/>
                  <a:gd name="connsiteX11" fmla="*/ 0 w 1384492"/>
                  <a:gd name="connsiteY11" fmla="*/ 704910 h 709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84492" h="709566">
                    <a:moveTo>
                      <a:pt x="0" y="704910"/>
                    </a:moveTo>
                    <a:cubicBezTo>
                      <a:pt x="3710" y="515400"/>
                      <a:pt x="80378" y="337961"/>
                      <a:pt x="215926" y="205381"/>
                    </a:cubicBezTo>
                    <a:cubicBezTo>
                      <a:pt x="351284" y="72991"/>
                      <a:pt x="529922" y="0"/>
                      <a:pt x="719213" y="0"/>
                    </a:cubicBezTo>
                    <a:cubicBezTo>
                      <a:pt x="723969" y="0"/>
                      <a:pt x="728821" y="0"/>
                      <a:pt x="733577" y="95"/>
                    </a:cubicBezTo>
                    <a:cubicBezTo>
                      <a:pt x="1020844" y="5702"/>
                      <a:pt x="1274913" y="179435"/>
                      <a:pt x="1384493" y="443836"/>
                    </a:cubicBezTo>
                    <a:cubicBezTo>
                      <a:pt x="1346730" y="461323"/>
                      <a:pt x="1245330" y="507132"/>
                      <a:pt x="1104265" y="562065"/>
                    </a:cubicBezTo>
                    <a:cubicBezTo>
                      <a:pt x="1084955" y="435092"/>
                      <a:pt x="1060414" y="285499"/>
                      <a:pt x="1037204" y="206997"/>
                    </a:cubicBezTo>
                    <a:cubicBezTo>
                      <a:pt x="1009809" y="114523"/>
                      <a:pt x="943224" y="61491"/>
                      <a:pt x="854381" y="61491"/>
                    </a:cubicBezTo>
                    <a:cubicBezTo>
                      <a:pt x="803871" y="61491"/>
                      <a:pt x="748416" y="78123"/>
                      <a:pt x="689535" y="110911"/>
                    </a:cubicBezTo>
                    <a:cubicBezTo>
                      <a:pt x="621333" y="149022"/>
                      <a:pt x="499483" y="245773"/>
                      <a:pt x="327218" y="398787"/>
                    </a:cubicBezTo>
                    <a:cubicBezTo>
                      <a:pt x="189767" y="520818"/>
                      <a:pt x="60783" y="648456"/>
                      <a:pt x="0" y="709567"/>
                    </a:cubicBezTo>
                    <a:cubicBezTo>
                      <a:pt x="0" y="708046"/>
                      <a:pt x="0" y="706525"/>
                      <a:pt x="0" y="704910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 26">
                <a:extLst>
                  <a:ext uri="{FF2B5EF4-FFF2-40B4-BE49-F238E27FC236}">
                    <a16:creationId xmlns:a16="http://schemas.microsoft.com/office/drawing/2014/main" id="{81A99EC4-B92E-BFB4-9985-4EB2259E196D}"/>
                  </a:ext>
                </a:extLst>
              </p:cNvPr>
              <p:cNvSpPr/>
              <p:nvPr/>
            </p:nvSpPr>
            <p:spPr>
              <a:xfrm>
                <a:off x="2666966" y="3498474"/>
                <a:ext cx="858280" cy="650927"/>
              </a:xfrm>
              <a:custGeom>
                <a:avLst/>
                <a:gdLst>
                  <a:gd name="connsiteX0" fmla="*/ 624568 w 858280"/>
                  <a:gd name="connsiteY0" fmla="*/ 650927 h 650927"/>
                  <a:gd name="connsiteX1" fmla="*/ 610299 w 858280"/>
                  <a:gd name="connsiteY1" fmla="*/ 650737 h 650927"/>
                  <a:gd name="connsiteX2" fmla="*/ 0 w 858280"/>
                  <a:gd name="connsiteY2" fmla="*/ 289681 h 650927"/>
                  <a:gd name="connsiteX3" fmla="*/ 858281 w 858280"/>
                  <a:gd name="connsiteY3" fmla="*/ 0 h 650927"/>
                  <a:gd name="connsiteX4" fmla="*/ 803206 w 858280"/>
                  <a:gd name="connsiteY4" fmla="*/ 628403 h 650927"/>
                  <a:gd name="connsiteX5" fmla="*/ 624568 w 858280"/>
                  <a:gd name="connsiteY5" fmla="*/ 650832 h 65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58280" h="650927">
                    <a:moveTo>
                      <a:pt x="624568" y="650927"/>
                    </a:moveTo>
                    <a:cubicBezTo>
                      <a:pt x="619811" y="650927"/>
                      <a:pt x="615055" y="650927"/>
                      <a:pt x="610299" y="650737"/>
                    </a:cubicBezTo>
                    <a:cubicBezTo>
                      <a:pt x="357942" y="645890"/>
                      <a:pt x="125560" y="507987"/>
                      <a:pt x="0" y="289681"/>
                    </a:cubicBezTo>
                    <a:cubicBezTo>
                      <a:pt x="93409" y="249859"/>
                      <a:pt x="427666" y="112622"/>
                      <a:pt x="858281" y="0"/>
                    </a:cubicBezTo>
                    <a:lnTo>
                      <a:pt x="803206" y="628403"/>
                    </a:lnTo>
                    <a:cubicBezTo>
                      <a:pt x="745086" y="643324"/>
                      <a:pt x="685065" y="650832"/>
                      <a:pt x="624568" y="650832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8" name="Forme libre 27">
                <a:extLst>
                  <a:ext uri="{FF2B5EF4-FFF2-40B4-BE49-F238E27FC236}">
                    <a16:creationId xmlns:a16="http://schemas.microsoft.com/office/drawing/2014/main" id="{57037F43-6B5B-9FDF-5977-22ED2CBF4585}"/>
                  </a:ext>
                </a:extLst>
              </p:cNvPr>
              <p:cNvSpPr/>
              <p:nvPr/>
            </p:nvSpPr>
            <p:spPr>
              <a:xfrm>
                <a:off x="3700746" y="3401343"/>
                <a:ext cx="310152" cy="574420"/>
              </a:xfrm>
              <a:custGeom>
                <a:avLst/>
                <a:gdLst>
                  <a:gd name="connsiteX0" fmla="*/ 59546 w 310152"/>
                  <a:gd name="connsiteY0" fmla="*/ 574420 h 574420"/>
                  <a:gd name="connsiteX1" fmla="*/ 0 w 310152"/>
                  <a:gd name="connsiteY1" fmla="*/ 55978 h 574420"/>
                  <a:gd name="connsiteX2" fmla="*/ 309525 w 310152"/>
                  <a:gd name="connsiteY2" fmla="*/ 0 h 574420"/>
                  <a:gd name="connsiteX3" fmla="*/ 310001 w 310152"/>
                  <a:gd name="connsiteY3" fmla="*/ 43243 h 574420"/>
                  <a:gd name="connsiteX4" fmla="*/ 59546 w 310152"/>
                  <a:gd name="connsiteY4" fmla="*/ 574420 h 574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52" h="574420">
                    <a:moveTo>
                      <a:pt x="59546" y="574420"/>
                    </a:moveTo>
                    <a:cubicBezTo>
                      <a:pt x="50034" y="483277"/>
                      <a:pt x="24446" y="241686"/>
                      <a:pt x="0" y="55978"/>
                    </a:cubicBezTo>
                    <a:cubicBezTo>
                      <a:pt x="164370" y="23190"/>
                      <a:pt x="266435" y="6653"/>
                      <a:pt x="309525" y="0"/>
                    </a:cubicBezTo>
                    <a:cubicBezTo>
                      <a:pt x="310191" y="14446"/>
                      <a:pt x="310286" y="28892"/>
                      <a:pt x="310001" y="43243"/>
                    </a:cubicBezTo>
                    <a:cubicBezTo>
                      <a:pt x="306006" y="248814"/>
                      <a:pt x="214974" y="440889"/>
                      <a:pt x="59546" y="574420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8ED9B721-A267-4F9A-C8FB-4EDF9035D0FC}"/>
                </a:ext>
              </a:extLst>
            </p:cNvPr>
            <p:cNvGrpSpPr/>
            <p:nvPr/>
          </p:nvGrpSpPr>
          <p:grpSpPr>
            <a:xfrm>
              <a:off x="5706531" y="1530040"/>
              <a:ext cx="1100669" cy="202837"/>
              <a:chOff x="4227814" y="2908087"/>
              <a:chExt cx="5388249" cy="992975"/>
            </a:xfrm>
            <a:grpFill/>
          </p:grpSpPr>
          <p:sp>
            <p:nvSpPr>
              <p:cNvPr id="17" name="Forme libre 16">
                <a:extLst>
                  <a:ext uri="{FF2B5EF4-FFF2-40B4-BE49-F238E27FC236}">
                    <a16:creationId xmlns:a16="http://schemas.microsoft.com/office/drawing/2014/main" id="{954C32A8-2448-2ED4-5AA6-BF5FBA02FF11}"/>
                  </a:ext>
                </a:extLst>
              </p:cNvPr>
              <p:cNvSpPr/>
              <p:nvPr/>
            </p:nvSpPr>
            <p:spPr>
              <a:xfrm>
                <a:off x="4227814" y="2917686"/>
                <a:ext cx="986885" cy="967029"/>
              </a:xfrm>
              <a:custGeom>
                <a:avLst/>
                <a:gdLst>
                  <a:gd name="connsiteX0" fmla="*/ 639692 w 986885"/>
                  <a:gd name="connsiteY0" fmla="*/ 598180 h 967029"/>
                  <a:gd name="connsiteX1" fmla="*/ 490732 w 986885"/>
                  <a:gd name="connsiteY1" fmla="*/ 204906 h 967029"/>
                  <a:gd name="connsiteX2" fmla="*/ 339013 w 986885"/>
                  <a:gd name="connsiteY2" fmla="*/ 598180 h 967029"/>
                  <a:gd name="connsiteX3" fmla="*/ 639787 w 986885"/>
                  <a:gd name="connsiteY3" fmla="*/ 598180 h 967029"/>
                  <a:gd name="connsiteX4" fmla="*/ 421008 w 986885"/>
                  <a:gd name="connsiteY4" fmla="*/ 0 h 967029"/>
                  <a:gd name="connsiteX5" fmla="*/ 569968 w 986885"/>
                  <a:gd name="connsiteY5" fmla="*/ 0 h 967029"/>
                  <a:gd name="connsiteX6" fmla="*/ 986885 w 986885"/>
                  <a:gd name="connsiteY6" fmla="*/ 967029 h 967029"/>
                  <a:gd name="connsiteX7" fmla="*/ 790079 w 986885"/>
                  <a:gd name="connsiteY7" fmla="*/ 967029 h 967029"/>
                  <a:gd name="connsiteX8" fmla="*/ 699904 w 986885"/>
                  <a:gd name="connsiteY8" fmla="*/ 745777 h 967029"/>
                  <a:gd name="connsiteX9" fmla="*/ 280228 w 986885"/>
                  <a:gd name="connsiteY9" fmla="*/ 745777 h 967029"/>
                  <a:gd name="connsiteX10" fmla="*/ 192716 w 986885"/>
                  <a:gd name="connsiteY10" fmla="*/ 967029 h 967029"/>
                  <a:gd name="connsiteX11" fmla="*/ 0 w 986885"/>
                  <a:gd name="connsiteY11" fmla="*/ 967029 h 967029"/>
                  <a:gd name="connsiteX12" fmla="*/ 421008 w 986885"/>
                  <a:gd name="connsiteY12" fmla="*/ 0 h 9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6885" h="967029">
                    <a:moveTo>
                      <a:pt x="639692" y="598180"/>
                    </a:moveTo>
                    <a:lnTo>
                      <a:pt x="490732" y="204906"/>
                    </a:lnTo>
                    <a:lnTo>
                      <a:pt x="339013" y="598180"/>
                    </a:lnTo>
                    <a:lnTo>
                      <a:pt x="639787" y="598180"/>
                    </a:lnTo>
                    <a:close/>
                    <a:moveTo>
                      <a:pt x="421008" y="0"/>
                    </a:moveTo>
                    <a:lnTo>
                      <a:pt x="569968" y="0"/>
                    </a:lnTo>
                    <a:lnTo>
                      <a:pt x="986885" y="967029"/>
                    </a:lnTo>
                    <a:lnTo>
                      <a:pt x="790079" y="967029"/>
                    </a:lnTo>
                    <a:lnTo>
                      <a:pt x="699904" y="745777"/>
                    </a:lnTo>
                    <a:lnTo>
                      <a:pt x="280228" y="745777"/>
                    </a:lnTo>
                    <a:lnTo>
                      <a:pt x="192716" y="967029"/>
                    </a:lnTo>
                    <a:lnTo>
                      <a:pt x="0" y="967029"/>
                    </a:lnTo>
                    <a:lnTo>
                      <a:pt x="421008" y="0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8" name="Forme libre 17">
                <a:extLst>
                  <a:ext uri="{FF2B5EF4-FFF2-40B4-BE49-F238E27FC236}">
                    <a16:creationId xmlns:a16="http://schemas.microsoft.com/office/drawing/2014/main" id="{E1893580-A1DE-E5E8-0239-182FC8F0EA96}"/>
                  </a:ext>
                </a:extLst>
              </p:cNvPr>
              <p:cNvSpPr/>
              <p:nvPr/>
            </p:nvSpPr>
            <p:spPr>
              <a:xfrm>
                <a:off x="5239146" y="3229036"/>
                <a:ext cx="598789" cy="671930"/>
              </a:xfrm>
              <a:custGeom>
                <a:avLst/>
                <a:gdLst>
                  <a:gd name="connsiteX0" fmla="*/ 598789 w 598789"/>
                  <a:gd name="connsiteY0" fmla="*/ 655584 h 671930"/>
                  <a:gd name="connsiteX1" fmla="*/ 442980 w 598789"/>
                  <a:gd name="connsiteY1" fmla="*/ 655584 h 671930"/>
                  <a:gd name="connsiteX2" fmla="*/ 442980 w 598789"/>
                  <a:gd name="connsiteY2" fmla="*/ 550375 h 671930"/>
                  <a:gd name="connsiteX3" fmla="*/ 440222 w 598789"/>
                  <a:gd name="connsiteY3" fmla="*/ 550375 h 671930"/>
                  <a:gd name="connsiteX4" fmla="*/ 239230 w 598789"/>
                  <a:gd name="connsiteY4" fmla="*/ 671931 h 671930"/>
                  <a:gd name="connsiteX5" fmla="*/ 0 w 598789"/>
                  <a:gd name="connsiteY5" fmla="*/ 413803 h 671930"/>
                  <a:gd name="connsiteX6" fmla="*/ 0 w 598789"/>
                  <a:gd name="connsiteY6" fmla="*/ 0 h 671930"/>
                  <a:gd name="connsiteX7" fmla="*/ 163989 w 598789"/>
                  <a:gd name="connsiteY7" fmla="*/ 0 h 671930"/>
                  <a:gd name="connsiteX8" fmla="*/ 163989 w 598789"/>
                  <a:gd name="connsiteY8" fmla="*/ 331879 h 671930"/>
                  <a:gd name="connsiteX9" fmla="*/ 284318 w 598789"/>
                  <a:gd name="connsiteY9" fmla="*/ 524429 h 671930"/>
                  <a:gd name="connsiteX10" fmla="*/ 434705 w 598789"/>
                  <a:gd name="connsiteY10" fmla="*/ 357825 h 671930"/>
                  <a:gd name="connsiteX11" fmla="*/ 434705 w 598789"/>
                  <a:gd name="connsiteY11" fmla="*/ 0 h 671930"/>
                  <a:gd name="connsiteX12" fmla="*/ 598694 w 598789"/>
                  <a:gd name="connsiteY12" fmla="*/ 0 h 671930"/>
                  <a:gd name="connsiteX13" fmla="*/ 598694 w 598789"/>
                  <a:gd name="connsiteY13" fmla="*/ 655584 h 671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98789" h="671930">
                    <a:moveTo>
                      <a:pt x="598789" y="655584"/>
                    </a:moveTo>
                    <a:lnTo>
                      <a:pt x="442980" y="655584"/>
                    </a:lnTo>
                    <a:lnTo>
                      <a:pt x="442980" y="550375"/>
                    </a:lnTo>
                    <a:lnTo>
                      <a:pt x="440222" y="550375"/>
                    </a:lnTo>
                    <a:cubicBezTo>
                      <a:pt x="410164" y="615858"/>
                      <a:pt x="348620" y="671931"/>
                      <a:pt x="239230" y="671931"/>
                    </a:cubicBezTo>
                    <a:cubicBezTo>
                      <a:pt x="62875" y="671931"/>
                      <a:pt x="0" y="547619"/>
                      <a:pt x="0" y="413803"/>
                    </a:cubicBezTo>
                    <a:lnTo>
                      <a:pt x="0" y="0"/>
                    </a:lnTo>
                    <a:lnTo>
                      <a:pt x="163989" y="0"/>
                    </a:lnTo>
                    <a:lnTo>
                      <a:pt x="163989" y="331879"/>
                    </a:lnTo>
                    <a:cubicBezTo>
                      <a:pt x="163989" y="404299"/>
                      <a:pt x="169506" y="524429"/>
                      <a:pt x="284318" y="524429"/>
                    </a:cubicBezTo>
                    <a:cubicBezTo>
                      <a:pt x="392281" y="524429"/>
                      <a:pt x="434705" y="445261"/>
                      <a:pt x="434705" y="357825"/>
                    </a:cubicBezTo>
                    <a:lnTo>
                      <a:pt x="434705" y="0"/>
                    </a:lnTo>
                    <a:lnTo>
                      <a:pt x="598694" y="0"/>
                    </a:lnTo>
                    <a:lnTo>
                      <a:pt x="598694" y="655584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9" name="Forme libre 18">
                <a:extLst>
                  <a:ext uri="{FF2B5EF4-FFF2-40B4-BE49-F238E27FC236}">
                    <a16:creationId xmlns:a16="http://schemas.microsoft.com/office/drawing/2014/main" id="{47D9A284-3B86-756D-99A2-E8BCFF28C157}"/>
                  </a:ext>
                </a:extLst>
              </p:cNvPr>
              <p:cNvSpPr/>
              <p:nvPr/>
            </p:nvSpPr>
            <p:spPr>
              <a:xfrm>
                <a:off x="5922688" y="2917686"/>
                <a:ext cx="708084" cy="983376"/>
              </a:xfrm>
              <a:custGeom>
                <a:avLst/>
                <a:gdLst>
                  <a:gd name="connsiteX0" fmla="*/ 356801 w 708084"/>
                  <a:gd name="connsiteY0" fmla="*/ 835779 h 983376"/>
                  <a:gd name="connsiteX1" fmla="*/ 549517 w 708084"/>
                  <a:gd name="connsiteY1" fmla="*/ 639142 h 983376"/>
                  <a:gd name="connsiteX2" fmla="*/ 356801 w 708084"/>
                  <a:gd name="connsiteY2" fmla="*/ 442505 h 983376"/>
                  <a:gd name="connsiteX3" fmla="*/ 164085 w 708084"/>
                  <a:gd name="connsiteY3" fmla="*/ 639142 h 983376"/>
                  <a:gd name="connsiteX4" fmla="*/ 356801 w 708084"/>
                  <a:gd name="connsiteY4" fmla="*/ 835779 h 983376"/>
                  <a:gd name="connsiteX5" fmla="*/ 552275 w 708084"/>
                  <a:gd name="connsiteY5" fmla="*/ 868568 h 983376"/>
                  <a:gd name="connsiteX6" fmla="*/ 549517 w 708084"/>
                  <a:gd name="connsiteY6" fmla="*/ 868568 h 983376"/>
                  <a:gd name="connsiteX7" fmla="*/ 323984 w 708084"/>
                  <a:gd name="connsiteY7" fmla="*/ 983376 h 983376"/>
                  <a:gd name="connsiteX8" fmla="*/ 0 w 708084"/>
                  <a:gd name="connsiteY8" fmla="*/ 639237 h 983376"/>
                  <a:gd name="connsiteX9" fmla="*/ 317135 w 708084"/>
                  <a:gd name="connsiteY9" fmla="*/ 295003 h 983376"/>
                  <a:gd name="connsiteX10" fmla="*/ 540004 w 708084"/>
                  <a:gd name="connsiteY10" fmla="*/ 394700 h 983376"/>
                  <a:gd name="connsiteX11" fmla="*/ 544000 w 708084"/>
                  <a:gd name="connsiteY11" fmla="*/ 394700 h 983376"/>
                  <a:gd name="connsiteX12" fmla="*/ 544000 w 708084"/>
                  <a:gd name="connsiteY12" fmla="*/ 0 h 983376"/>
                  <a:gd name="connsiteX13" fmla="*/ 708084 w 708084"/>
                  <a:gd name="connsiteY13" fmla="*/ 0 h 983376"/>
                  <a:gd name="connsiteX14" fmla="*/ 708084 w 708084"/>
                  <a:gd name="connsiteY14" fmla="*/ 966934 h 983376"/>
                  <a:gd name="connsiteX15" fmla="*/ 552275 w 708084"/>
                  <a:gd name="connsiteY15" fmla="*/ 966934 h 983376"/>
                  <a:gd name="connsiteX16" fmla="*/ 552275 w 708084"/>
                  <a:gd name="connsiteY16" fmla="*/ 868568 h 983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08084" h="983376">
                    <a:moveTo>
                      <a:pt x="356801" y="835779"/>
                    </a:moveTo>
                    <a:cubicBezTo>
                      <a:pt x="477129" y="835779"/>
                      <a:pt x="549517" y="741595"/>
                      <a:pt x="549517" y="639142"/>
                    </a:cubicBezTo>
                    <a:cubicBezTo>
                      <a:pt x="549517" y="536689"/>
                      <a:pt x="477034" y="442505"/>
                      <a:pt x="356801" y="442505"/>
                    </a:cubicBezTo>
                    <a:cubicBezTo>
                      <a:pt x="236567" y="442505"/>
                      <a:pt x="164085" y="536689"/>
                      <a:pt x="164085" y="639142"/>
                    </a:cubicBezTo>
                    <a:cubicBezTo>
                      <a:pt x="164085" y="741595"/>
                      <a:pt x="236567" y="835779"/>
                      <a:pt x="356801" y="835779"/>
                    </a:cubicBezTo>
                    <a:moveTo>
                      <a:pt x="552275" y="868568"/>
                    </a:moveTo>
                    <a:lnTo>
                      <a:pt x="549517" y="868568"/>
                    </a:lnTo>
                    <a:cubicBezTo>
                      <a:pt x="501670" y="947831"/>
                      <a:pt x="415586" y="983376"/>
                      <a:pt x="323984" y="983376"/>
                    </a:cubicBezTo>
                    <a:cubicBezTo>
                      <a:pt x="121660" y="983376"/>
                      <a:pt x="0" y="833118"/>
                      <a:pt x="0" y="639237"/>
                    </a:cubicBezTo>
                    <a:cubicBezTo>
                      <a:pt x="0" y="445356"/>
                      <a:pt x="129841" y="295003"/>
                      <a:pt x="317135" y="295003"/>
                    </a:cubicBezTo>
                    <a:cubicBezTo>
                      <a:pt x="440127" y="295003"/>
                      <a:pt x="505761" y="352407"/>
                      <a:pt x="540004" y="394700"/>
                    </a:cubicBezTo>
                    <a:lnTo>
                      <a:pt x="544000" y="394700"/>
                    </a:lnTo>
                    <a:lnTo>
                      <a:pt x="544000" y="0"/>
                    </a:lnTo>
                    <a:lnTo>
                      <a:pt x="708084" y="0"/>
                    </a:lnTo>
                    <a:lnTo>
                      <a:pt x="708084" y="966934"/>
                    </a:lnTo>
                    <a:lnTo>
                      <a:pt x="552275" y="966934"/>
                    </a:lnTo>
                    <a:lnTo>
                      <a:pt x="552275" y="868568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0" name="Forme libre 19">
                <a:extLst>
                  <a:ext uri="{FF2B5EF4-FFF2-40B4-BE49-F238E27FC236}">
                    <a16:creationId xmlns:a16="http://schemas.microsoft.com/office/drawing/2014/main" id="{5AF49FFC-8EB0-33B2-8409-0EB674281EE3}"/>
                  </a:ext>
                </a:extLst>
              </p:cNvPr>
              <p:cNvSpPr/>
              <p:nvPr/>
            </p:nvSpPr>
            <p:spPr>
              <a:xfrm>
                <a:off x="6715430" y="3212594"/>
                <a:ext cx="664328" cy="688372"/>
              </a:xfrm>
              <a:custGeom>
                <a:avLst/>
                <a:gdLst>
                  <a:gd name="connsiteX0" fmla="*/ 500339 w 664328"/>
                  <a:gd name="connsiteY0" fmla="*/ 278657 h 688372"/>
                  <a:gd name="connsiteX1" fmla="*/ 333591 w 664328"/>
                  <a:gd name="connsiteY1" fmla="*/ 122981 h 688372"/>
                  <a:gd name="connsiteX2" fmla="*/ 164085 w 664328"/>
                  <a:gd name="connsiteY2" fmla="*/ 278657 h 688372"/>
                  <a:gd name="connsiteX3" fmla="*/ 500339 w 664328"/>
                  <a:gd name="connsiteY3" fmla="*/ 278657 h 688372"/>
                  <a:gd name="connsiteX4" fmla="*/ 164085 w 664328"/>
                  <a:gd name="connsiteY4" fmla="*/ 401543 h 688372"/>
                  <a:gd name="connsiteX5" fmla="*/ 340440 w 664328"/>
                  <a:gd name="connsiteY5" fmla="*/ 557218 h 688372"/>
                  <a:gd name="connsiteX6" fmla="*/ 516795 w 664328"/>
                  <a:gd name="connsiteY6" fmla="*/ 468451 h 688372"/>
                  <a:gd name="connsiteX7" fmla="*/ 634365 w 664328"/>
                  <a:gd name="connsiteY7" fmla="*/ 557218 h 688372"/>
                  <a:gd name="connsiteX8" fmla="*/ 356801 w 664328"/>
                  <a:gd name="connsiteY8" fmla="*/ 688373 h 688372"/>
                  <a:gd name="connsiteX9" fmla="*/ 0 w 664328"/>
                  <a:gd name="connsiteY9" fmla="*/ 344234 h 688372"/>
                  <a:gd name="connsiteX10" fmla="*/ 356801 w 664328"/>
                  <a:gd name="connsiteY10" fmla="*/ 0 h 688372"/>
                  <a:gd name="connsiteX11" fmla="*/ 664328 w 664328"/>
                  <a:gd name="connsiteY11" fmla="*/ 356494 h 688372"/>
                  <a:gd name="connsiteX12" fmla="*/ 664328 w 664328"/>
                  <a:gd name="connsiteY12" fmla="*/ 401543 h 688372"/>
                  <a:gd name="connsiteX13" fmla="*/ 163989 w 664328"/>
                  <a:gd name="connsiteY13" fmla="*/ 401543 h 688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64328" h="688372">
                    <a:moveTo>
                      <a:pt x="500339" y="278657"/>
                    </a:moveTo>
                    <a:cubicBezTo>
                      <a:pt x="498912" y="183047"/>
                      <a:pt x="436037" y="122981"/>
                      <a:pt x="333591" y="122981"/>
                    </a:cubicBezTo>
                    <a:cubicBezTo>
                      <a:pt x="236472" y="122981"/>
                      <a:pt x="176355" y="184472"/>
                      <a:pt x="164085" y="278657"/>
                    </a:cubicBezTo>
                    <a:lnTo>
                      <a:pt x="500339" y="278657"/>
                    </a:lnTo>
                    <a:close/>
                    <a:moveTo>
                      <a:pt x="164085" y="401543"/>
                    </a:moveTo>
                    <a:cubicBezTo>
                      <a:pt x="175023" y="498578"/>
                      <a:pt x="248838" y="557218"/>
                      <a:pt x="340440" y="557218"/>
                    </a:cubicBezTo>
                    <a:cubicBezTo>
                      <a:pt x="422434" y="557218"/>
                      <a:pt x="475703" y="519012"/>
                      <a:pt x="516795" y="468451"/>
                    </a:cubicBezTo>
                    <a:lnTo>
                      <a:pt x="634365" y="557218"/>
                    </a:lnTo>
                    <a:cubicBezTo>
                      <a:pt x="557792" y="651402"/>
                      <a:pt x="460673" y="688373"/>
                      <a:pt x="356801" y="688373"/>
                    </a:cubicBezTo>
                    <a:cubicBezTo>
                      <a:pt x="158568" y="688373"/>
                      <a:pt x="0" y="550470"/>
                      <a:pt x="0" y="344234"/>
                    </a:cubicBezTo>
                    <a:cubicBezTo>
                      <a:pt x="0" y="137998"/>
                      <a:pt x="158568" y="0"/>
                      <a:pt x="356801" y="0"/>
                    </a:cubicBezTo>
                    <a:cubicBezTo>
                      <a:pt x="540005" y="0"/>
                      <a:pt x="664328" y="128399"/>
                      <a:pt x="664328" y="356494"/>
                    </a:cubicBezTo>
                    <a:lnTo>
                      <a:pt x="664328" y="401543"/>
                    </a:lnTo>
                    <a:lnTo>
                      <a:pt x="163989" y="401543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1" name="Forme libre 20">
                <a:extLst>
                  <a:ext uri="{FF2B5EF4-FFF2-40B4-BE49-F238E27FC236}">
                    <a16:creationId xmlns:a16="http://schemas.microsoft.com/office/drawing/2014/main" id="{82B2538B-6B25-0FBA-ADDC-F8ADDE9460DB}"/>
                  </a:ext>
                </a:extLst>
              </p:cNvPr>
              <p:cNvSpPr/>
              <p:nvPr/>
            </p:nvSpPr>
            <p:spPr>
              <a:xfrm>
                <a:off x="7464417" y="3212689"/>
                <a:ext cx="598789" cy="672025"/>
              </a:xfrm>
              <a:custGeom>
                <a:avLst/>
                <a:gdLst>
                  <a:gd name="connsiteX0" fmla="*/ 95 w 598789"/>
                  <a:gd name="connsiteY0" fmla="*/ 16347 h 672025"/>
                  <a:gd name="connsiteX1" fmla="*/ 155904 w 598789"/>
                  <a:gd name="connsiteY1" fmla="*/ 16347 h 672025"/>
                  <a:gd name="connsiteX2" fmla="*/ 155904 w 598789"/>
                  <a:gd name="connsiteY2" fmla="*/ 121556 h 672025"/>
                  <a:gd name="connsiteX3" fmla="*/ 158568 w 598789"/>
                  <a:gd name="connsiteY3" fmla="*/ 121556 h 672025"/>
                  <a:gd name="connsiteX4" fmla="*/ 359559 w 598789"/>
                  <a:gd name="connsiteY4" fmla="*/ 0 h 672025"/>
                  <a:gd name="connsiteX5" fmla="*/ 598790 w 598789"/>
                  <a:gd name="connsiteY5" fmla="*/ 258128 h 672025"/>
                  <a:gd name="connsiteX6" fmla="*/ 598790 w 598789"/>
                  <a:gd name="connsiteY6" fmla="*/ 672026 h 672025"/>
                  <a:gd name="connsiteX7" fmla="*/ 434705 w 598789"/>
                  <a:gd name="connsiteY7" fmla="*/ 672026 h 672025"/>
                  <a:gd name="connsiteX8" fmla="*/ 434705 w 598789"/>
                  <a:gd name="connsiteY8" fmla="*/ 340147 h 672025"/>
                  <a:gd name="connsiteX9" fmla="*/ 314376 w 598789"/>
                  <a:gd name="connsiteY9" fmla="*/ 147597 h 672025"/>
                  <a:gd name="connsiteX10" fmla="*/ 163989 w 598789"/>
                  <a:gd name="connsiteY10" fmla="*/ 314201 h 672025"/>
                  <a:gd name="connsiteX11" fmla="*/ 163989 w 598789"/>
                  <a:gd name="connsiteY11" fmla="*/ 672026 h 672025"/>
                  <a:gd name="connsiteX12" fmla="*/ 0 w 598789"/>
                  <a:gd name="connsiteY12" fmla="*/ 672026 h 672025"/>
                  <a:gd name="connsiteX13" fmla="*/ 0 w 598789"/>
                  <a:gd name="connsiteY13" fmla="*/ 16347 h 672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98789" h="672025">
                    <a:moveTo>
                      <a:pt x="95" y="16347"/>
                    </a:moveTo>
                    <a:lnTo>
                      <a:pt x="155904" y="16347"/>
                    </a:lnTo>
                    <a:lnTo>
                      <a:pt x="155904" y="121556"/>
                    </a:lnTo>
                    <a:lnTo>
                      <a:pt x="158568" y="121556"/>
                    </a:lnTo>
                    <a:cubicBezTo>
                      <a:pt x="188721" y="56073"/>
                      <a:pt x="250265" y="0"/>
                      <a:pt x="359559" y="0"/>
                    </a:cubicBezTo>
                    <a:cubicBezTo>
                      <a:pt x="535915" y="0"/>
                      <a:pt x="598790" y="124312"/>
                      <a:pt x="598790" y="258128"/>
                    </a:cubicBezTo>
                    <a:lnTo>
                      <a:pt x="598790" y="672026"/>
                    </a:lnTo>
                    <a:lnTo>
                      <a:pt x="434705" y="672026"/>
                    </a:lnTo>
                    <a:lnTo>
                      <a:pt x="434705" y="340147"/>
                    </a:lnTo>
                    <a:cubicBezTo>
                      <a:pt x="434705" y="267822"/>
                      <a:pt x="429283" y="147597"/>
                      <a:pt x="314376" y="147597"/>
                    </a:cubicBezTo>
                    <a:cubicBezTo>
                      <a:pt x="206414" y="147597"/>
                      <a:pt x="163989" y="226860"/>
                      <a:pt x="163989" y="314201"/>
                    </a:cubicBezTo>
                    <a:lnTo>
                      <a:pt x="163989" y="672026"/>
                    </a:lnTo>
                    <a:lnTo>
                      <a:pt x="0" y="672026"/>
                    </a:lnTo>
                    <a:lnTo>
                      <a:pt x="0" y="16347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2" name="Forme libre 21">
                <a:extLst>
                  <a:ext uri="{FF2B5EF4-FFF2-40B4-BE49-F238E27FC236}">
                    <a16:creationId xmlns:a16="http://schemas.microsoft.com/office/drawing/2014/main" id="{B45DE06D-7DB7-7CE6-B62B-FF889C4BEE14}"/>
                  </a:ext>
                </a:extLst>
              </p:cNvPr>
              <p:cNvSpPr/>
              <p:nvPr/>
            </p:nvSpPr>
            <p:spPr>
              <a:xfrm>
                <a:off x="8147865" y="3212689"/>
                <a:ext cx="594603" cy="688372"/>
              </a:xfrm>
              <a:custGeom>
                <a:avLst/>
                <a:gdLst>
                  <a:gd name="connsiteX0" fmla="*/ 481219 w 594603"/>
                  <a:gd name="connsiteY0" fmla="*/ 213079 h 688372"/>
                  <a:gd name="connsiteX1" fmla="*/ 356800 w 594603"/>
                  <a:gd name="connsiteY1" fmla="*/ 147502 h 688372"/>
                  <a:gd name="connsiteX2" fmla="*/ 163989 w 594603"/>
                  <a:gd name="connsiteY2" fmla="*/ 344139 h 688372"/>
                  <a:gd name="connsiteX3" fmla="*/ 356800 w 594603"/>
                  <a:gd name="connsiteY3" fmla="*/ 540776 h 688372"/>
                  <a:gd name="connsiteX4" fmla="*/ 483883 w 594603"/>
                  <a:gd name="connsiteY4" fmla="*/ 479380 h 688372"/>
                  <a:gd name="connsiteX5" fmla="*/ 593273 w 594603"/>
                  <a:gd name="connsiteY5" fmla="*/ 596850 h 688372"/>
                  <a:gd name="connsiteX6" fmla="*/ 356800 w 594603"/>
                  <a:gd name="connsiteY6" fmla="*/ 688373 h 688372"/>
                  <a:gd name="connsiteX7" fmla="*/ 0 w 594603"/>
                  <a:gd name="connsiteY7" fmla="*/ 344139 h 688372"/>
                  <a:gd name="connsiteX8" fmla="*/ 356800 w 594603"/>
                  <a:gd name="connsiteY8" fmla="*/ 0 h 688372"/>
                  <a:gd name="connsiteX9" fmla="*/ 594604 w 594603"/>
                  <a:gd name="connsiteY9" fmla="*/ 99697 h 688372"/>
                  <a:gd name="connsiteX10" fmla="*/ 481124 w 594603"/>
                  <a:gd name="connsiteY10" fmla="*/ 212984 h 688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94603" h="688372">
                    <a:moveTo>
                      <a:pt x="481219" y="213079"/>
                    </a:moveTo>
                    <a:cubicBezTo>
                      <a:pt x="442885" y="173447"/>
                      <a:pt x="400556" y="147502"/>
                      <a:pt x="356800" y="147502"/>
                    </a:cubicBezTo>
                    <a:cubicBezTo>
                      <a:pt x="236472" y="147502"/>
                      <a:pt x="163989" y="241686"/>
                      <a:pt x="163989" y="344139"/>
                    </a:cubicBezTo>
                    <a:cubicBezTo>
                      <a:pt x="163989" y="446592"/>
                      <a:pt x="236472" y="540776"/>
                      <a:pt x="356800" y="540776"/>
                    </a:cubicBezTo>
                    <a:cubicBezTo>
                      <a:pt x="407310" y="540776"/>
                      <a:pt x="453824" y="519012"/>
                      <a:pt x="483883" y="479380"/>
                    </a:cubicBezTo>
                    <a:lnTo>
                      <a:pt x="593273" y="596850"/>
                    </a:lnTo>
                    <a:cubicBezTo>
                      <a:pt x="526307" y="663758"/>
                      <a:pt x="414159" y="688373"/>
                      <a:pt x="356800" y="688373"/>
                    </a:cubicBezTo>
                    <a:cubicBezTo>
                      <a:pt x="158567" y="688373"/>
                      <a:pt x="0" y="550375"/>
                      <a:pt x="0" y="344139"/>
                    </a:cubicBezTo>
                    <a:cubicBezTo>
                      <a:pt x="0" y="137903"/>
                      <a:pt x="158567" y="0"/>
                      <a:pt x="356800" y="0"/>
                    </a:cubicBezTo>
                    <a:cubicBezTo>
                      <a:pt x="440222" y="0"/>
                      <a:pt x="531729" y="30033"/>
                      <a:pt x="594604" y="99697"/>
                    </a:cubicBezTo>
                    <a:lnTo>
                      <a:pt x="481124" y="212984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3" name="Forme libre 22">
                <a:extLst>
                  <a:ext uri="{FF2B5EF4-FFF2-40B4-BE49-F238E27FC236}">
                    <a16:creationId xmlns:a16="http://schemas.microsoft.com/office/drawing/2014/main" id="{12BD76DA-1C9F-5902-44E1-4A5F7B9829C5}"/>
                  </a:ext>
                </a:extLst>
              </p:cNvPr>
              <p:cNvSpPr/>
              <p:nvPr/>
            </p:nvSpPr>
            <p:spPr>
              <a:xfrm>
                <a:off x="8750745" y="2908087"/>
                <a:ext cx="210408" cy="976533"/>
              </a:xfrm>
              <a:custGeom>
                <a:avLst/>
                <a:gdLst>
                  <a:gd name="connsiteX0" fmla="*/ 23210 w 210408"/>
                  <a:gd name="connsiteY0" fmla="*/ 320949 h 976533"/>
                  <a:gd name="connsiteX1" fmla="*/ 187294 w 210408"/>
                  <a:gd name="connsiteY1" fmla="*/ 320949 h 976533"/>
                  <a:gd name="connsiteX2" fmla="*/ 187294 w 210408"/>
                  <a:gd name="connsiteY2" fmla="*/ 976533 h 976533"/>
                  <a:gd name="connsiteX3" fmla="*/ 23210 w 210408"/>
                  <a:gd name="connsiteY3" fmla="*/ 976533 h 976533"/>
                  <a:gd name="connsiteX4" fmla="*/ 23210 w 210408"/>
                  <a:gd name="connsiteY4" fmla="*/ 320949 h 976533"/>
                  <a:gd name="connsiteX5" fmla="*/ 103872 w 210408"/>
                  <a:gd name="connsiteY5" fmla="*/ 0 h 976533"/>
                  <a:gd name="connsiteX6" fmla="*/ 210409 w 210408"/>
                  <a:gd name="connsiteY6" fmla="*/ 98271 h 976533"/>
                  <a:gd name="connsiteX7" fmla="*/ 103872 w 210408"/>
                  <a:gd name="connsiteY7" fmla="*/ 196637 h 976533"/>
                  <a:gd name="connsiteX8" fmla="*/ 0 w 210408"/>
                  <a:gd name="connsiteY8" fmla="*/ 98271 h 976533"/>
                  <a:gd name="connsiteX9" fmla="*/ 103872 w 210408"/>
                  <a:gd name="connsiteY9" fmla="*/ 0 h 976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408" h="976533">
                    <a:moveTo>
                      <a:pt x="23210" y="320949"/>
                    </a:moveTo>
                    <a:lnTo>
                      <a:pt x="187294" y="320949"/>
                    </a:lnTo>
                    <a:lnTo>
                      <a:pt x="187294" y="976533"/>
                    </a:lnTo>
                    <a:lnTo>
                      <a:pt x="23210" y="976533"/>
                    </a:lnTo>
                    <a:lnTo>
                      <a:pt x="23210" y="320949"/>
                    </a:lnTo>
                    <a:close/>
                    <a:moveTo>
                      <a:pt x="103872" y="0"/>
                    </a:moveTo>
                    <a:cubicBezTo>
                      <a:pt x="163989" y="0"/>
                      <a:pt x="210409" y="42293"/>
                      <a:pt x="210409" y="98271"/>
                    </a:cubicBezTo>
                    <a:cubicBezTo>
                      <a:pt x="210409" y="154249"/>
                      <a:pt x="163989" y="196637"/>
                      <a:pt x="103872" y="196637"/>
                    </a:cubicBezTo>
                    <a:cubicBezTo>
                      <a:pt x="43756" y="196637"/>
                      <a:pt x="0" y="150163"/>
                      <a:pt x="0" y="98271"/>
                    </a:cubicBezTo>
                    <a:cubicBezTo>
                      <a:pt x="0" y="46379"/>
                      <a:pt x="43756" y="0"/>
                      <a:pt x="103872" y="0"/>
                    </a:cubicBezTo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4" name="Forme libre 23">
                <a:extLst>
                  <a:ext uri="{FF2B5EF4-FFF2-40B4-BE49-F238E27FC236}">
                    <a16:creationId xmlns:a16="http://schemas.microsoft.com/office/drawing/2014/main" id="{3B09702B-0C60-4631-33F5-3FA7D541CC4A}"/>
                  </a:ext>
                </a:extLst>
              </p:cNvPr>
              <p:cNvSpPr/>
              <p:nvPr/>
            </p:nvSpPr>
            <p:spPr>
              <a:xfrm>
                <a:off x="9014611" y="3212499"/>
                <a:ext cx="601452" cy="688467"/>
              </a:xfrm>
              <a:custGeom>
                <a:avLst/>
                <a:gdLst>
                  <a:gd name="connsiteX0" fmla="*/ 444217 w 601452"/>
                  <a:gd name="connsiteY0" fmla="*/ 378448 h 688467"/>
                  <a:gd name="connsiteX1" fmla="*/ 410068 w 601452"/>
                  <a:gd name="connsiteY1" fmla="*/ 378448 h 688467"/>
                  <a:gd name="connsiteX2" fmla="*/ 163989 w 601452"/>
                  <a:gd name="connsiteY2" fmla="*/ 479571 h 688467"/>
                  <a:gd name="connsiteX3" fmla="*/ 278801 w 601452"/>
                  <a:gd name="connsiteY3" fmla="*/ 565582 h 688467"/>
                  <a:gd name="connsiteX4" fmla="*/ 444217 w 601452"/>
                  <a:gd name="connsiteY4" fmla="*/ 415419 h 688467"/>
                  <a:gd name="connsiteX5" fmla="*/ 444217 w 601452"/>
                  <a:gd name="connsiteY5" fmla="*/ 378543 h 688467"/>
                  <a:gd name="connsiteX6" fmla="*/ 453824 w 601452"/>
                  <a:gd name="connsiteY6" fmla="*/ 581928 h 688467"/>
                  <a:gd name="connsiteX7" fmla="*/ 449734 w 601452"/>
                  <a:gd name="connsiteY7" fmla="*/ 581928 h 688467"/>
                  <a:gd name="connsiteX8" fmla="*/ 239230 w 601452"/>
                  <a:gd name="connsiteY8" fmla="*/ 688468 h 688467"/>
                  <a:gd name="connsiteX9" fmla="*/ 0 w 601452"/>
                  <a:gd name="connsiteY9" fmla="*/ 491736 h 688467"/>
                  <a:gd name="connsiteX10" fmla="*/ 412827 w 601452"/>
                  <a:gd name="connsiteY10" fmla="*/ 263640 h 688467"/>
                  <a:gd name="connsiteX11" fmla="*/ 453824 w 601452"/>
                  <a:gd name="connsiteY11" fmla="*/ 263640 h 688467"/>
                  <a:gd name="connsiteX12" fmla="*/ 453824 w 601452"/>
                  <a:gd name="connsiteY12" fmla="*/ 245868 h 688467"/>
                  <a:gd name="connsiteX13" fmla="*/ 303437 w 601452"/>
                  <a:gd name="connsiteY13" fmla="*/ 122981 h 688467"/>
                  <a:gd name="connsiteX14" fmla="*/ 128509 w 601452"/>
                  <a:gd name="connsiteY14" fmla="*/ 191220 h 688467"/>
                  <a:gd name="connsiteX15" fmla="*/ 42424 w 601452"/>
                  <a:gd name="connsiteY15" fmla="*/ 105209 h 688467"/>
                  <a:gd name="connsiteX16" fmla="*/ 321225 w 601452"/>
                  <a:gd name="connsiteY16" fmla="*/ 0 h 688467"/>
                  <a:gd name="connsiteX17" fmla="*/ 601453 w 601452"/>
                  <a:gd name="connsiteY17" fmla="*/ 295003 h 688467"/>
                  <a:gd name="connsiteX18" fmla="*/ 601453 w 601452"/>
                  <a:gd name="connsiteY18" fmla="*/ 672026 h 688467"/>
                  <a:gd name="connsiteX19" fmla="*/ 453824 w 601452"/>
                  <a:gd name="connsiteY19" fmla="*/ 672026 h 688467"/>
                  <a:gd name="connsiteX20" fmla="*/ 453824 w 601452"/>
                  <a:gd name="connsiteY20" fmla="*/ 581833 h 688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01452" h="688467">
                    <a:moveTo>
                      <a:pt x="444217" y="378448"/>
                    </a:moveTo>
                    <a:lnTo>
                      <a:pt x="410068" y="378448"/>
                    </a:lnTo>
                    <a:cubicBezTo>
                      <a:pt x="319798" y="378448"/>
                      <a:pt x="163989" y="385291"/>
                      <a:pt x="163989" y="479571"/>
                    </a:cubicBezTo>
                    <a:cubicBezTo>
                      <a:pt x="163989" y="539636"/>
                      <a:pt x="225438" y="565582"/>
                      <a:pt x="278801" y="565582"/>
                    </a:cubicBezTo>
                    <a:cubicBezTo>
                      <a:pt x="390854" y="565582"/>
                      <a:pt x="444217" y="506847"/>
                      <a:pt x="444217" y="415419"/>
                    </a:cubicBezTo>
                    <a:lnTo>
                      <a:pt x="444217" y="378543"/>
                    </a:lnTo>
                    <a:close/>
                    <a:moveTo>
                      <a:pt x="453824" y="581928"/>
                    </a:moveTo>
                    <a:lnTo>
                      <a:pt x="449734" y="581928"/>
                    </a:lnTo>
                    <a:cubicBezTo>
                      <a:pt x="403315" y="655679"/>
                      <a:pt x="326742" y="688468"/>
                      <a:pt x="239230" y="688468"/>
                    </a:cubicBezTo>
                    <a:cubicBezTo>
                      <a:pt x="117570" y="688468"/>
                      <a:pt x="0" y="621560"/>
                      <a:pt x="0" y="491736"/>
                    </a:cubicBezTo>
                    <a:cubicBezTo>
                      <a:pt x="0" y="278752"/>
                      <a:pt x="248837" y="263640"/>
                      <a:pt x="412827" y="263640"/>
                    </a:cubicBezTo>
                    <a:lnTo>
                      <a:pt x="453824" y="263640"/>
                    </a:lnTo>
                    <a:lnTo>
                      <a:pt x="453824" y="245868"/>
                    </a:lnTo>
                    <a:cubicBezTo>
                      <a:pt x="453824" y="165274"/>
                      <a:pt x="390949" y="122981"/>
                      <a:pt x="303437" y="122981"/>
                    </a:cubicBezTo>
                    <a:cubicBezTo>
                      <a:pt x="235140" y="122981"/>
                      <a:pt x="172265" y="150258"/>
                      <a:pt x="128509" y="191220"/>
                    </a:cubicBezTo>
                    <a:lnTo>
                      <a:pt x="42424" y="105209"/>
                    </a:lnTo>
                    <a:cubicBezTo>
                      <a:pt x="114906" y="31458"/>
                      <a:pt x="217352" y="0"/>
                      <a:pt x="321225" y="0"/>
                    </a:cubicBezTo>
                    <a:cubicBezTo>
                      <a:pt x="601453" y="0"/>
                      <a:pt x="601453" y="202149"/>
                      <a:pt x="601453" y="295003"/>
                    </a:cubicBezTo>
                    <a:lnTo>
                      <a:pt x="601453" y="672026"/>
                    </a:lnTo>
                    <a:lnTo>
                      <a:pt x="453824" y="672026"/>
                    </a:lnTo>
                    <a:lnTo>
                      <a:pt x="453824" y="581833"/>
                    </a:lnTo>
                    <a:close/>
                  </a:path>
                </a:pathLst>
              </a:custGeom>
              <a:grpFill/>
              <a:ln w="95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CC8D416C-2C88-FB21-AE10-9B5AB8638E0A}"/>
              </a:ext>
            </a:extLst>
          </p:cNvPr>
          <p:cNvSpPr txBox="1"/>
          <p:nvPr userDrawn="1"/>
        </p:nvSpPr>
        <p:spPr>
          <a:xfrm>
            <a:off x="689674" y="2021620"/>
            <a:ext cx="11006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 err="1">
                <a:solidFill>
                  <a:srgbClr val="BCDCF1"/>
                </a:solidFill>
                <a:latin typeface="Arial Nova" panose="020B0504020202020204" pitchFamily="34" charset="0"/>
              </a:rPr>
              <a:t>audencia</a:t>
            </a:r>
            <a:r>
              <a:rPr lang="fr-FR" sz="1000" dirty="0" err="1">
                <a:solidFill>
                  <a:srgbClr val="BCDCF1"/>
                </a:solidFill>
                <a:latin typeface="Arial Nova" panose="020B0504020202020204" pitchFamily="34" charset="0"/>
              </a:rPr>
              <a:t>.com</a:t>
            </a:r>
            <a:endParaRPr lang="fr-FR" sz="1000" dirty="0">
              <a:solidFill>
                <a:srgbClr val="BCDCF1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Graphique 29">
            <a:extLst>
              <a:ext uri="{FF2B5EF4-FFF2-40B4-BE49-F238E27FC236}">
                <a16:creationId xmlns:a16="http://schemas.microsoft.com/office/drawing/2014/main" id="{A6048FBC-0B3B-D1FD-CDAC-8C23F578CE90}"/>
              </a:ext>
            </a:extLst>
          </p:cNvPr>
          <p:cNvSpPr/>
          <p:nvPr userDrawn="1"/>
        </p:nvSpPr>
        <p:spPr>
          <a:xfrm rot="15300000" flipH="1">
            <a:off x="3262162" y="-2441458"/>
            <a:ext cx="5397791" cy="6592012"/>
          </a:xfrm>
          <a:custGeom>
            <a:avLst/>
            <a:gdLst>
              <a:gd name="connsiteX0" fmla="*/ 3641377 w 3685056"/>
              <a:gd name="connsiteY0" fmla="*/ 502156 h 4500347"/>
              <a:gd name="connsiteX1" fmla="*/ 3485068 w 3685056"/>
              <a:gd name="connsiteY1" fmla="*/ 267241 h 4500347"/>
              <a:gd name="connsiteX2" fmla="*/ 1912951 w 3685056"/>
              <a:gd name="connsiteY2" fmla="*/ 40437 h 4500347"/>
              <a:gd name="connsiteX3" fmla="*/ 0 w 3685056"/>
              <a:gd name="connsiteY3" fmla="*/ 300905 h 4500347"/>
              <a:gd name="connsiteX4" fmla="*/ 0 w 3685056"/>
              <a:gd name="connsiteY4" fmla="*/ 1274412 h 4500347"/>
              <a:gd name="connsiteX5" fmla="*/ 1858654 w 3685056"/>
              <a:gd name="connsiteY5" fmla="*/ 556494 h 4500347"/>
              <a:gd name="connsiteX6" fmla="*/ 3161174 w 3685056"/>
              <a:gd name="connsiteY6" fmla="*/ 585584 h 4500347"/>
              <a:gd name="connsiteX7" fmla="*/ 2778657 w 3685056"/>
              <a:gd name="connsiteY7" fmla="*/ 1898779 h 4500347"/>
              <a:gd name="connsiteX8" fmla="*/ 740171 w 3685056"/>
              <a:gd name="connsiteY8" fmla="*/ 4500348 h 4500347"/>
              <a:gd name="connsiteX9" fmla="*/ 2033185 w 3685056"/>
              <a:gd name="connsiteY9" fmla="*/ 4500348 h 4500347"/>
              <a:gd name="connsiteX10" fmla="*/ 2730149 w 3685056"/>
              <a:gd name="connsiteY10" fmla="*/ 3167028 h 4500347"/>
              <a:gd name="connsiteX11" fmla="*/ 3485129 w 3685056"/>
              <a:gd name="connsiteY11" fmla="*/ 1567507 h 4500347"/>
              <a:gd name="connsiteX12" fmla="*/ 3641438 w 3685056"/>
              <a:gd name="connsiteY12" fmla="*/ 502278 h 450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85056" h="4500347">
                <a:moveTo>
                  <a:pt x="3641377" y="502156"/>
                </a:moveTo>
                <a:cubicBezTo>
                  <a:pt x="3598842" y="408239"/>
                  <a:pt x="3546494" y="330849"/>
                  <a:pt x="3485068" y="267241"/>
                </a:cubicBezTo>
                <a:cubicBezTo>
                  <a:pt x="3171595" y="-57261"/>
                  <a:pt x="2620336" y="-19938"/>
                  <a:pt x="1912951" y="40437"/>
                </a:cubicBezTo>
                <a:cubicBezTo>
                  <a:pt x="1067050" y="112582"/>
                  <a:pt x="0" y="300905"/>
                  <a:pt x="0" y="300905"/>
                </a:cubicBezTo>
                <a:lnTo>
                  <a:pt x="0" y="1274412"/>
                </a:lnTo>
                <a:cubicBezTo>
                  <a:pt x="0" y="1274412"/>
                  <a:pt x="1204956" y="769698"/>
                  <a:pt x="1858654" y="556494"/>
                </a:cubicBezTo>
                <a:cubicBezTo>
                  <a:pt x="2512352" y="343290"/>
                  <a:pt x="2927654" y="276267"/>
                  <a:pt x="3161174" y="585584"/>
                </a:cubicBezTo>
                <a:cubicBezTo>
                  <a:pt x="3421508" y="930455"/>
                  <a:pt x="2986887" y="1593487"/>
                  <a:pt x="2778657" y="1898779"/>
                </a:cubicBezTo>
                <a:cubicBezTo>
                  <a:pt x="2570427" y="2204071"/>
                  <a:pt x="2098695" y="2843562"/>
                  <a:pt x="740171" y="4500348"/>
                </a:cubicBezTo>
                <a:lnTo>
                  <a:pt x="2033185" y="4500348"/>
                </a:lnTo>
                <a:cubicBezTo>
                  <a:pt x="2033185" y="4500348"/>
                  <a:pt x="2463844" y="3709796"/>
                  <a:pt x="2730149" y="3167028"/>
                </a:cubicBezTo>
                <a:cubicBezTo>
                  <a:pt x="2930457" y="2758732"/>
                  <a:pt x="3269586" y="2131316"/>
                  <a:pt x="3485129" y="1567507"/>
                </a:cubicBezTo>
                <a:cubicBezTo>
                  <a:pt x="3652286" y="1130243"/>
                  <a:pt x="3745157" y="731217"/>
                  <a:pt x="3641438" y="502278"/>
                </a:cubicBezTo>
                <a:close/>
              </a:path>
            </a:pathLst>
          </a:custGeom>
          <a:solidFill>
            <a:srgbClr val="758BC5">
              <a:alpha val="70000"/>
            </a:srgbClr>
          </a:solidFill>
          <a:ln w="6093" cap="flat">
            <a:noFill/>
            <a:prstDash val="solid"/>
            <a:miter/>
          </a:ln>
        </p:spPr>
        <p:txBody>
          <a:bodyPr rtlCol="0" anchor="ctr"/>
          <a:lstStyle/>
          <a:p>
            <a:endParaRPr lang="fr-FR">
              <a:solidFill>
                <a:schemeClr val="accent2"/>
              </a:solidFill>
            </a:endParaRP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4038C916-A98D-A5E7-086C-C33DDEE8D9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2138" y="2613896"/>
            <a:ext cx="5840412" cy="15843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Merci de votre attention.</a:t>
            </a:r>
          </a:p>
        </p:txBody>
      </p:sp>
      <p:pic>
        <p:nvPicPr>
          <p:cNvPr id="44" name="Image 43" descr="Une image contenant texte, Police, affiche, graphisme&#10;&#10;Description générée automatiquement">
            <a:extLst>
              <a:ext uri="{FF2B5EF4-FFF2-40B4-BE49-F238E27FC236}">
                <a16:creationId xmlns:a16="http://schemas.microsoft.com/office/drawing/2014/main" id="{2E4BAA38-D2BB-76CC-79E8-EEEFE8F799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9626" y="386498"/>
            <a:ext cx="6282965" cy="628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0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472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904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087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9617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9637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982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227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6475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5761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2351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4107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8159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9573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4753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1924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2373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0"/>
            <a:ext cx="12200819" cy="621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5470" y="1765960"/>
            <a:ext cx="11285159" cy="4159317"/>
          </a:xfrm>
          <a:prstGeom prst="rect">
            <a:avLst/>
          </a:prstGeom>
        </p:spPr>
        <p:txBody>
          <a:bodyPr/>
          <a:lstStyle>
            <a:lvl1pPr marL="474121" indent="-474121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667">
                <a:solidFill>
                  <a:srgbClr val="17212F"/>
                </a:solidFill>
                <a:latin typeface="Arial"/>
                <a:cs typeface="Arial"/>
              </a:defRPr>
            </a:lvl1pPr>
            <a:lvl2pPr marL="990575" indent="-38099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17212F"/>
                </a:solidFill>
                <a:latin typeface="Arial"/>
                <a:cs typeface="Arial"/>
              </a:defRPr>
            </a:lvl2pPr>
            <a:lvl3pPr marL="1523962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67">
                <a:solidFill>
                  <a:srgbClr val="17212F"/>
                </a:solidFill>
                <a:latin typeface="Arial"/>
                <a:cs typeface="Arial"/>
              </a:defRPr>
            </a:lvl3pPr>
            <a:lvl4pPr marL="2133547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17212F"/>
                </a:solidFill>
                <a:latin typeface="Arial"/>
                <a:cs typeface="Arial"/>
              </a:defRPr>
            </a:lvl4pPr>
            <a:lvl5pPr marL="2743131" indent="-304792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133">
                <a:solidFill>
                  <a:srgbClr val="404040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Modifiez le 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 hasCustomPrompt="1"/>
          </p:nvPr>
        </p:nvSpPr>
        <p:spPr>
          <a:xfrm>
            <a:off x="474461" y="412026"/>
            <a:ext cx="11286176" cy="633687"/>
          </a:xfrm>
          <a:prstGeom prst="rect">
            <a:avLst/>
          </a:prstGeom>
        </p:spPr>
        <p:txBody>
          <a:bodyPr/>
          <a:lstStyle>
            <a:lvl1pPr algn="l">
              <a:defRPr sz="4000" kern="0" cap="none" spc="0" baseline="0">
                <a:solidFill>
                  <a:srgbClr val="1D2D3F"/>
                </a:solidFill>
                <a:latin typeface="Arial Black"/>
                <a:cs typeface="Arial Black"/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3" hasCustomPrompt="1"/>
          </p:nvPr>
        </p:nvSpPr>
        <p:spPr>
          <a:xfrm>
            <a:off x="484291" y="976817"/>
            <a:ext cx="11276263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i="1" spc="0" baseline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 dirty="0"/>
              <a:t>Modifiez le sous-titre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559" y="6335777"/>
            <a:ext cx="1824203" cy="41373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6" y="6335776"/>
            <a:ext cx="1637105" cy="42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623392" y="356659"/>
            <a:ext cx="960107" cy="96011"/>
          </a:xfrm>
          <a:prstGeom prst="rect">
            <a:avLst/>
          </a:prstGeom>
          <a:solidFill>
            <a:srgbClr val="17212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3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46228" y="6335776"/>
            <a:ext cx="718773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07C7597-8D70-4701-8085-9524B0B5C7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5303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B3CFC1A-F770-9618-CEDA-44AA0B0EB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44" y="487045"/>
            <a:ext cx="10829544" cy="1460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MODIFIEZ </a:t>
            </a:r>
            <a:br>
              <a:rPr lang="fr-FR" dirty="0"/>
            </a:br>
            <a:r>
              <a:rPr lang="fr-FR" dirty="0"/>
              <a:t>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14BD92-D03C-3328-44F8-EA5C097D0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228" y="1825625"/>
            <a:ext cx="1082954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D7268D-6B8C-3C8A-2861-02A0F9700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444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32D5A"/>
                </a:solidFill>
              </a:defRPr>
            </a:lvl1pPr>
          </a:lstStyle>
          <a:p>
            <a:fld id="{421B1A79-1F45-8F4F-AED5-0EE30DCF0380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877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1" r:id="rId11"/>
    <p:sldLayoutId id="2147483663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81" r:id="rId25"/>
    <p:sldLayoutId id="2147483682" r:id="rId26"/>
    <p:sldLayoutId id="2147483692" r:id="rId27"/>
    <p:sldLayoutId id="2147483693" r:id="rId28"/>
    <p:sldLayoutId id="2147483702" r:id="rId29"/>
  </p:sldLayoutIdLst>
  <p:hf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3000" b="1" kern="1200">
          <a:solidFill>
            <a:srgbClr val="9378B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i="1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1" i="1" kern="1200">
          <a:solidFill>
            <a:srgbClr val="22398E"/>
          </a:solidFill>
          <a:latin typeface="Arial Nova Cond" panose="020B0506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articles/stocks/12/history-apple-stock-increases.asp" TargetMode="External"/><Relationship Id="rId2" Type="http://schemas.openxmlformats.org/officeDocument/2006/relationships/hyperlink" Target="https://www.investopedia.com/articles/investing/022316/economics-iphone-aapl.asp" TargetMode="Externa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orme libre 34">
            <a:extLst>
              <a:ext uri="{FF2B5EF4-FFF2-40B4-BE49-F238E27FC236}">
                <a16:creationId xmlns:a16="http://schemas.microsoft.com/office/drawing/2014/main" id="{6BADFA64-1A15-D993-E148-F8053C6F7A02}"/>
              </a:ext>
            </a:extLst>
          </p:cNvPr>
          <p:cNvSpPr/>
          <p:nvPr/>
        </p:nvSpPr>
        <p:spPr>
          <a:xfrm>
            <a:off x="1636077" y="3519885"/>
            <a:ext cx="5078718" cy="4256479"/>
          </a:xfrm>
          <a:custGeom>
            <a:avLst/>
            <a:gdLst>
              <a:gd name="connsiteX0" fmla="*/ 0 w 5078718"/>
              <a:gd name="connsiteY0" fmla="*/ 0 h 4256479"/>
              <a:gd name="connsiteX1" fmla="*/ 5078719 w 5078718"/>
              <a:gd name="connsiteY1" fmla="*/ 0 h 4256479"/>
              <a:gd name="connsiteX2" fmla="*/ 5078719 w 5078718"/>
              <a:gd name="connsiteY2" fmla="*/ 4256480 h 4256479"/>
              <a:gd name="connsiteX3" fmla="*/ 0 w 5078718"/>
              <a:gd name="connsiteY3" fmla="*/ 4256480 h 4256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8718" h="4256479">
                <a:moveTo>
                  <a:pt x="0" y="0"/>
                </a:moveTo>
                <a:lnTo>
                  <a:pt x="5078719" y="0"/>
                </a:lnTo>
                <a:lnTo>
                  <a:pt x="5078719" y="4256480"/>
                </a:lnTo>
                <a:lnTo>
                  <a:pt x="0" y="4256480"/>
                </a:lnTo>
                <a:close/>
              </a:path>
            </a:pathLst>
          </a:custGeom>
          <a:noFill/>
          <a:ln w="3628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5" name="Image 4" descr="Une image contenant Visage humain, personne, habits, sourire&#10;&#10;Description générée automatiquement">
            <a:extLst>
              <a:ext uri="{FF2B5EF4-FFF2-40B4-BE49-F238E27FC236}">
                <a16:creationId xmlns:a16="http://schemas.microsoft.com/office/drawing/2014/main" id="{A60C8D55-D7C6-46C6-3EB4-E7AD640E8B9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72459" y="0"/>
            <a:ext cx="6573173" cy="6858000"/>
          </a:xfrm>
          <a:prstGeom prst="rect">
            <a:avLst/>
          </a:prstGeom>
          <a:effectLst>
            <a:outerShdw blurRad="609600" dist="10160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CDD246A-A70A-E94F-3BF2-83F64E05C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328" y="2318993"/>
            <a:ext cx="7022969" cy="2050876"/>
          </a:xfrm>
        </p:spPr>
        <p:txBody>
          <a:bodyPr>
            <a:normAutofit/>
          </a:bodyPr>
          <a:lstStyle/>
          <a:p>
            <a:r>
              <a:rPr lang="fr-FR" dirty="0"/>
              <a:t>Session 6: Inventories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F66FCA7-2738-B5BA-6CD7-335420B1E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328" y="4494998"/>
            <a:ext cx="7022969" cy="1722922"/>
          </a:xfrm>
        </p:spPr>
        <p:txBody>
          <a:bodyPr>
            <a:normAutofit lnSpcReduction="10000"/>
          </a:bodyPr>
          <a:lstStyle/>
          <a:p>
            <a:r>
              <a:rPr lang="fr-FR" dirty="0"/>
              <a:t>Financial </a:t>
            </a:r>
            <a:r>
              <a:rPr lang="fr-FR" dirty="0" err="1"/>
              <a:t>Analysis</a:t>
            </a:r>
            <a:endParaRPr lang="fr-FR" dirty="0"/>
          </a:p>
          <a:p>
            <a:r>
              <a:rPr lang="fr-FR" dirty="0"/>
              <a:t>BBA FinTech, 2</a:t>
            </a:r>
            <a:r>
              <a:rPr lang="fr-FR" baseline="30000" dirty="0"/>
              <a:t>nd</a:t>
            </a:r>
            <a:r>
              <a:rPr lang="fr-FR" dirty="0"/>
              <a:t> </a:t>
            </a:r>
            <a:r>
              <a:rPr lang="fr-FR" dirty="0" err="1"/>
              <a:t>year</a:t>
            </a:r>
            <a:endParaRPr lang="fr-FR" dirty="0"/>
          </a:p>
          <a:p>
            <a:r>
              <a:rPr lang="fr-FR" dirty="0"/>
              <a:t>2026</a:t>
            </a:r>
          </a:p>
          <a:p>
            <a:r>
              <a:rPr lang="fr-FR" dirty="0"/>
              <a:t>Eric Maton</a:t>
            </a:r>
          </a:p>
        </p:txBody>
      </p:sp>
      <p:pic>
        <p:nvPicPr>
          <p:cNvPr id="4" name="Image 3" descr="Une image contenant texte, Police, capture d’écran, noir&#10;&#10;Description générée automatiquement">
            <a:extLst>
              <a:ext uri="{FF2B5EF4-FFF2-40B4-BE49-F238E27FC236}">
                <a16:creationId xmlns:a16="http://schemas.microsoft.com/office/drawing/2014/main" id="{133B02E7-7249-01AE-9074-508ECC54124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2240" y="6146859"/>
            <a:ext cx="4274820" cy="5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50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B9113-2BE9-BA6C-5030-4654EB7EDE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1B1A79-1F45-8F4F-AED5-0EE30DCF0380}" type="slidenum">
              <a:rPr lang="fr-FR" smtClean="0"/>
              <a:t>2</a:t>
            </a:fld>
            <a:endParaRPr lang="fr-FR"/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76F86979-877B-1E67-1B71-2B52FD175E63}"/>
              </a:ext>
            </a:extLst>
          </p:cNvPr>
          <p:cNvSpPr txBox="1">
            <a:spLocks/>
          </p:cNvSpPr>
          <p:nvPr/>
        </p:nvSpPr>
        <p:spPr>
          <a:xfrm>
            <a:off x="1391935" y="2836212"/>
            <a:ext cx="10460055" cy="122354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i="1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1" i="1" kern="1200">
                <a:solidFill>
                  <a:srgbClr val="22398E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399" dirty="0">
                <a:solidFill>
                  <a:srgbClr val="03050D"/>
                </a:solidFill>
              </a:rPr>
              <a:t>Sessions 3 and 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399" b="0" dirty="0" err="1">
                <a:solidFill>
                  <a:srgbClr val="03050D"/>
                </a:solidFill>
              </a:rPr>
              <a:t>Income</a:t>
            </a:r>
            <a:r>
              <a:rPr lang="fr-FR" sz="2399" b="0" dirty="0">
                <a:solidFill>
                  <a:srgbClr val="03050D"/>
                </a:solidFill>
              </a:rPr>
              <a:t> </a:t>
            </a:r>
            <a:r>
              <a:rPr lang="fr-FR" sz="2399" b="0" dirty="0" err="1">
                <a:solidFill>
                  <a:srgbClr val="03050D"/>
                </a:solidFill>
              </a:rPr>
              <a:t>statement</a:t>
            </a:r>
            <a:r>
              <a:rPr lang="fr-FR" sz="2399" b="0" dirty="0">
                <a:solidFill>
                  <a:srgbClr val="03050D"/>
                </a:solidFill>
              </a:rPr>
              <a:t> (or P&amp;L: profit and </a:t>
            </a:r>
            <a:r>
              <a:rPr lang="fr-FR" sz="2399" b="0" dirty="0" err="1">
                <a:solidFill>
                  <a:srgbClr val="03050D"/>
                </a:solidFill>
              </a:rPr>
              <a:t>loss</a:t>
            </a:r>
            <a:r>
              <a:rPr lang="fr-FR" sz="2399" b="0" dirty="0">
                <a:solidFill>
                  <a:srgbClr val="03050D"/>
                </a:solidFill>
              </a:rPr>
              <a:t> </a:t>
            </a:r>
            <a:r>
              <a:rPr lang="fr-FR" sz="2399" b="0" dirty="0" err="1">
                <a:solidFill>
                  <a:srgbClr val="03050D"/>
                </a:solidFill>
              </a:rPr>
              <a:t>account</a:t>
            </a:r>
            <a:r>
              <a:rPr lang="fr-FR" sz="2399" b="0" dirty="0">
                <a:solidFill>
                  <a:srgbClr val="03050D"/>
                </a:solidFill>
              </a:rPr>
              <a:t>): </a:t>
            </a:r>
            <a:r>
              <a:rPr lang="fr-FR" sz="2399" b="0" dirty="0" err="1">
                <a:solidFill>
                  <a:srgbClr val="03050D"/>
                </a:solidFill>
              </a:rPr>
              <a:t>from</a:t>
            </a:r>
            <a:r>
              <a:rPr lang="fr-FR" sz="2399" b="0" dirty="0">
                <a:solidFill>
                  <a:srgbClr val="03050D"/>
                </a:solidFill>
              </a:rPr>
              <a:t> </a:t>
            </a:r>
            <a:r>
              <a:rPr lang="fr-FR" sz="2399" b="0" dirty="0" err="1">
                <a:solidFill>
                  <a:srgbClr val="03050D"/>
                </a:solidFill>
              </a:rPr>
              <a:t>accounting</a:t>
            </a:r>
            <a:r>
              <a:rPr lang="fr-FR" sz="2399" b="0" dirty="0">
                <a:solidFill>
                  <a:srgbClr val="03050D"/>
                </a:solidFill>
              </a:rPr>
              <a:t> information to </a:t>
            </a:r>
            <a:r>
              <a:rPr lang="fr-FR" sz="2399" b="0" dirty="0" err="1">
                <a:solidFill>
                  <a:srgbClr val="03050D"/>
                </a:solidFill>
              </a:rPr>
              <a:t>financial</a:t>
            </a:r>
            <a:r>
              <a:rPr lang="fr-FR" sz="2399" b="0" dirty="0">
                <a:solidFill>
                  <a:srgbClr val="03050D"/>
                </a:solidFill>
              </a:rPr>
              <a:t> </a:t>
            </a:r>
            <a:r>
              <a:rPr lang="fr-FR" sz="2399" b="0" dirty="0" err="1">
                <a:solidFill>
                  <a:srgbClr val="03050D"/>
                </a:solidFill>
              </a:rPr>
              <a:t>analysis</a:t>
            </a:r>
            <a:endParaRPr lang="fr-FR" sz="2399" b="0" dirty="0">
              <a:solidFill>
                <a:srgbClr val="03050D"/>
              </a:solidFill>
            </a:endParaRPr>
          </a:p>
        </p:txBody>
      </p:sp>
      <p:sp>
        <p:nvSpPr>
          <p:cNvPr id="6" name="ZoneTexte 7">
            <a:extLst>
              <a:ext uri="{FF2B5EF4-FFF2-40B4-BE49-F238E27FC236}">
                <a16:creationId xmlns:a16="http://schemas.microsoft.com/office/drawing/2014/main" id="{1AF846A2-2BF9-5C46-E486-B2C16659863B}"/>
              </a:ext>
            </a:extLst>
          </p:cNvPr>
          <p:cNvSpPr txBox="1"/>
          <p:nvPr/>
        </p:nvSpPr>
        <p:spPr>
          <a:xfrm rot="16200000">
            <a:off x="-1104770" y="3082997"/>
            <a:ext cx="4076940" cy="5844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198" dirty="0"/>
              <a:t>Brief contents</a:t>
            </a:r>
          </a:p>
        </p:txBody>
      </p:sp>
      <p:sp>
        <p:nvSpPr>
          <p:cNvPr id="7" name="Espace réservé du contenu 1">
            <a:extLst>
              <a:ext uri="{FF2B5EF4-FFF2-40B4-BE49-F238E27FC236}">
                <a16:creationId xmlns:a16="http://schemas.microsoft.com/office/drawing/2014/main" id="{640F67F8-9272-A0D8-48F5-90285759AE7F}"/>
              </a:ext>
            </a:extLst>
          </p:cNvPr>
          <p:cNvSpPr txBox="1">
            <a:spLocks/>
          </p:cNvSpPr>
          <p:nvPr/>
        </p:nvSpPr>
        <p:spPr>
          <a:xfrm>
            <a:off x="1395840" y="1336757"/>
            <a:ext cx="10460055" cy="1323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355600" indent="-355600" algn="l" defTabSz="914400" rtl="0" eaLnBrk="1" latinLnBrk="0" hangingPunct="1"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000" kern="1200">
                <a:solidFill>
                  <a:srgbClr val="17212F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 kern="1200">
                <a:solidFill>
                  <a:srgbClr val="17212F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400" kern="1200">
                <a:solidFill>
                  <a:srgbClr val="17212F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200" kern="1200">
                <a:solidFill>
                  <a:srgbClr val="17212F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 kern="12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399" b="1" dirty="0"/>
              <a:t>Sessions 1 and 2</a:t>
            </a:r>
          </a:p>
          <a:p>
            <a:pPr marL="0" indent="0">
              <a:buNone/>
            </a:pPr>
            <a:r>
              <a:rPr lang="fr-FR" sz="2399" dirty="0"/>
              <a:t>Basic business </a:t>
            </a:r>
            <a:r>
              <a:rPr lang="fr-FR" sz="2399" dirty="0" err="1"/>
              <a:t>equation</a:t>
            </a:r>
            <a:r>
              <a:rPr lang="fr-FR" sz="2399" dirty="0"/>
              <a:t> or </a:t>
            </a:r>
            <a:r>
              <a:rPr lang="fr-FR" sz="2399" dirty="0" err="1"/>
              <a:t>fundamental</a:t>
            </a:r>
            <a:r>
              <a:rPr lang="fr-FR" sz="2399" dirty="0"/>
              <a:t> accounting </a:t>
            </a:r>
            <a:r>
              <a:rPr lang="fr-FR" sz="2399" dirty="0" err="1"/>
              <a:t>equation</a:t>
            </a:r>
            <a:r>
              <a:rPr lang="fr-FR" sz="2399" dirty="0"/>
              <a:t> (balance </a:t>
            </a:r>
            <a:r>
              <a:rPr lang="fr-FR" sz="2399" dirty="0" err="1"/>
              <a:t>sheet</a:t>
            </a:r>
            <a:r>
              <a:rPr lang="fr-FR" sz="2399" dirty="0"/>
              <a:t> </a:t>
            </a:r>
            <a:r>
              <a:rPr lang="fr-FR" sz="2399" dirty="0" err="1"/>
              <a:t>represented</a:t>
            </a:r>
            <a:r>
              <a:rPr lang="fr-FR" sz="2399" dirty="0"/>
              <a:t> as an </a:t>
            </a:r>
            <a:r>
              <a:rPr lang="fr-FR" sz="2399" dirty="0" err="1"/>
              <a:t>equation</a:t>
            </a:r>
            <a:r>
              <a:rPr lang="fr-FR" sz="2399" dirty="0"/>
              <a:t>)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883D8B2-E654-7309-72D5-EE1F271BFFBD}"/>
              </a:ext>
            </a:extLst>
          </p:cNvPr>
          <p:cNvSpPr txBox="1">
            <a:spLocks/>
          </p:cNvSpPr>
          <p:nvPr/>
        </p:nvSpPr>
        <p:spPr>
          <a:xfrm>
            <a:off x="1391935" y="4235550"/>
            <a:ext cx="10460055" cy="11781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355600" indent="-355600" algn="l" defTabSz="914400" rtl="0" eaLnBrk="1" latinLnBrk="0" hangingPunct="1"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000" kern="1200">
                <a:solidFill>
                  <a:srgbClr val="17212F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 kern="1200">
                <a:solidFill>
                  <a:srgbClr val="17212F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400" kern="1200">
                <a:solidFill>
                  <a:srgbClr val="17212F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200" kern="1200">
                <a:solidFill>
                  <a:srgbClr val="17212F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 kern="12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399" b="1" dirty="0">
                <a:solidFill>
                  <a:srgbClr val="03050D"/>
                </a:solidFill>
              </a:rPr>
              <a:t>Session 5 and 6</a:t>
            </a:r>
          </a:p>
          <a:p>
            <a:pPr marL="0" indent="0">
              <a:buNone/>
            </a:pPr>
            <a:r>
              <a:rPr lang="fr-FR" sz="2399" kern="0" dirty="0">
                <a:solidFill>
                  <a:srgbClr val="03050D"/>
                </a:solidFill>
              </a:rPr>
              <a:t>Non-</a:t>
            </a:r>
            <a:r>
              <a:rPr lang="fr-FR" sz="2399" kern="0" dirty="0" err="1">
                <a:solidFill>
                  <a:srgbClr val="03050D"/>
                </a:solidFill>
              </a:rPr>
              <a:t>current</a:t>
            </a:r>
            <a:r>
              <a:rPr lang="fr-FR" sz="2399" kern="0" dirty="0">
                <a:solidFill>
                  <a:srgbClr val="03050D"/>
                </a:solidFill>
              </a:rPr>
              <a:t> assets (P,P&amp;E, intangible assets and right-of-use assets) and </a:t>
            </a:r>
            <a:r>
              <a:rPr lang="fr-FR" sz="2399" kern="0" dirty="0" err="1">
                <a:solidFill>
                  <a:srgbClr val="03050D"/>
                </a:solidFill>
              </a:rPr>
              <a:t>current</a:t>
            </a:r>
            <a:r>
              <a:rPr lang="fr-FR" sz="2399" kern="0" dirty="0">
                <a:solidFill>
                  <a:srgbClr val="03050D"/>
                </a:solidFill>
              </a:rPr>
              <a:t> assets (inventories)</a:t>
            </a:r>
          </a:p>
        </p:txBody>
      </p:sp>
    </p:spTree>
    <p:extLst>
      <p:ext uri="{BB962C8B-B14F-4D97-AF65-F5344CB8AC3E}">
        <p14:creationId xmlns:p14="http://schemas.microsoft.com/office/powerpoint/2010/main" val="2549978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7338B-1B75-6D81-60D2-A9B00280A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1B1A79-1F45-8F4F-AED5-0EE30DCF0380}" type="slidenum">
              <a:rPr lang="fr-FR" smtClean="0"/>
              <a:t>3</a:t>
            </a:fld>
            <a:endParaRPr lang="fr-FR"/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6F3931E1-BC68-D72D-AEB7-3C35E0A0DA41}"/>
              </a:ext>
            </a:extLst>
          </p:cNvPr>
          <p:cNvSpPr txBox="1">
            <a:spLocks/>
          </p:cNvSpPr>
          <p:nvPr/>
        </p:nvSpPr>
        <p:spPr>
          <a:xfrm>
            <a:off x="1336973" y="2763677"/>
            <a:ext cx="10460055" cy="13306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i="1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1" i="1" kern="1200">
                <a:solidFill>
                  <a:srgbClr val="22398E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399" dirty="0">
                <a:solidFill>
                  <a:srgbClr val="03050D"/>
                </a:solidFill>
              </a:rPr>
              <a:t>Sessions 8 and 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399" b="0" dirty="0" err="1">
                <a:solidFill>
                  <a:srgbClr val="03050D"/>
                </a:solidFill>
              </a:rPr>
              <a:t>Statement</a:t>
            </a:r>
            <a:r>
              <a:rPr lang="fr-FR" sz="2399" b="0" dirty="0">
                <a:solidFill>
                  <a:srgbClr val="03050D"/>
                </a:solidFill>
              </a:rPr>
              <a:t> of cash flows (operating cash flows, </a:t>
            </a:r>
            <a:r>
              <a:rPr lang="fr-FR" sz="2399" b="0" dirty="0" err="1">
                <a:solidFill>
                  <a:srgbClr val="03050D"/>
                </a:solidFill>
              </a:rPr>
              <a:t>investing</a:t>
            </a:r>
            <a:r>
              <a:rPr lang="fr-FR" sz="2399" b="0" dirty="0">
                <a:solidFill>
                  <a:srgbClr val="03050D"/>
                </a:solidFill>
              </a:rPr>
              <a:t> cash flows and </a:t>
            </a:r>
            <a:r>
              <a:rPr lang="fr-FR" sz="2399" b="0" dirty="0" err="1">
                <a:solidFill>
                  <a:srgbClr val="03050D"/>
                </a:solidFill>
              </a:rPr>
              <a:t>financing</a:t>
            </a:r>
            <a:r>
              <a:rPr lang="fr-FR" sz="2399" b="0" dirty="0">
                <a:solidFill>
                  <a:srgbClr val="03050D"/>
                </a:solidFill>
              </a:rPr>
              <a:t> cash flows) and </a:t>
            </a:r>
            <a:r>
              <a:rPr lang="fr-FR" sz="2399" b="0" dirty="0" err="1">
                <a:solidFill>
                  <a:srgbClr val="03050D"/>
                </a:solidFill>
              </a:rPr>
              <a:t>revision</a:t>
            </a:r>
            <a:endParaRPr lang="fr-FR" sz="2399" b="0" dirty="0">
              <a:solidFill>
                <a:srgbClr val="03050D"/>
              </a:solidFill>
            </a:endParaRPr>
          </a:p>
        </p:txBody>
      </p:sp>
      <p:sp>
        <p:nvSpPr>
          <p:cNvPr id="6" name="ZoneTexte 7">
            <a:extLst>
              <a:ext uri="{FF2B5EF4-FFF2-40B4-BE49-F238E27FC236}">
                <a16:creationId xmlns:a16="http://schemas.microsoft.com/office/drawing/2014/main" id="{B34E4E54-26D4-A802-424B-D4B9EDFFB313}"/>
              </a:ext>
            </a:extLst>
          </p:cNvPr>
          <p:cNvSpPr txBox="1"/>
          <p:nvPr/>
        </p:nvSpPr>
        <p:spPr>
          <a:xfrm rot="16200000">
            <a:off x="-636799" y="2381842"/>
            <a:ext cx="2840504" cy="5844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198" dirty="0"/>
              <a:t>Brief contents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4B2BE17-E38B-FC32-41D4-8AE6978643D5}"/>
              </a:ext>
            </a:extLst>
          </p:cNvPr>
          <p:cNvSpPr txBox="1">
            <a:spLocks/>
          </p:cNvSpPr>
          <p:nvPr/>
        </p:nvSpPr>
        <p:spPr>
          <a:xfrm>
            <a:off x="1383424" y="1253820"/>
            <a:ext cx="10460055" cy="13306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64262" tIns="32131" rIns="64262" bIns="32131" rtlCol="0">
            <a:normAutofit/>
          </a:bodyPr>
          <a:lstStyle>
            <a:lvl1pPr marL="674324" marR="0" indent="-674324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§"/>
              <a:tabLst/>
              <a:defRPr sz="3793" b="0" i="0" cap="none" baseline="0">
                <a:solidFill>
                  <a:srgbClr val="1360AE"/>
                </a:solidFill>
                <a:latin typeface="Arial"/>
                <a:ea typeface="+mn-ea"/>
                <a:cs typeface="Arial"/>
              </a:defRPr>
            </a:lvl1pPr>
            <a:lvl2pPr marL="1408856" indent="-541868">
              <a:buClrTx/>
              <a:buSzPct val="50000"/>
              <a:buFont typeface="Wingdings" panose="05000000000000000000" pitchFamily="2" charset="2"/>
              <a:buChar char="§"/>
              <a:defRPr sz="3034" b="1" i="0">
                <a:solidFill>
                  <a:srgbClr val="1360AE"/>
                </a:solidFill>
                <a:latin typeface="Arial"/>
                <a:ea typeface="+mn-ea"/>
                <a:cs typeface="Arial"/>
              </a:defRPr>
            </a:lvl2pPr>
            <a:lvl3pPr marL="2167471" indent="-433494">
              <a:buClrTx/>
              <a:buSzPct val="50000"/>
              <a:buFont typeface="Wingdings" panose="05000000000000000000" pitchFamily="2" charset="2"/>
              <a:buChar char="§"/>
              <a:defRPr sz="2655" b="0" i="0">
                <a:solidFill>
                  <a:srgbClr val="1360AE"/>
                </a:solidFill>
                <a:latin typeface="Arial"/>
                <a:ea typeface="+mn-ea"/>
                <a:cs typeface="Arial"/>
              </a:defRPr>
            </a:lvl3pPr>
            <a:lvl4pPr marL="3034459" indent="-433494">
              <a:buClrTx/>
              <a:buSzPct val="50000"/>
              <a:buFont typeface="Wingdings" panose="05000000000000000000" pitchFamily="2" charset="2"/>
              <a:buChar char="§"/>
              <a:defRPr sz="2276" b="0" i="0">
                <a:solidFill>
                  <a:srgbClr val="1360AE"/>
                </a:solidFill>
                <a:latin typeface="Arial"/>
                <a:ea typeface="+mn-ea"/>
                <a:cs typeface="Arial"/>
              </a:defRPr>
            </a:lvl4pPr>
            <a:lvl5pPr marL="3901448" marR="0" indent="-433494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tabLst/>
              <a:defRPr sz="3034" b="0" i="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399" b="1" kern="0" dirty="0">
                <a:solidFill>
                  <a:srgbClr val="03050D"/>
                </a:solidFill>
              </a:rPr>
              <a:t>Session 7</a:t>
            </a:r>
          </a:p>
          <a:p>
            <a:pPr marL="0" indent="0">
              <a:buNone/>
            </a:pPr>
            <a:r>
              <a:rPr lang="fr-FR" sz="2399" kern="0" dirty="0">
                <a:solidFill>
                  <a:srgbClr val="03050D"/>
                </a:solidFill>
              </a:rPr>
              <a:t>Financial </a:t>
            </a:r>
            <a:r>
              <a:rPr lang="fr-FR" sz="2399" kern="0" dirty="0" err="1">
                <a:solidFill>
                  <a:srgbClr val="03050D"/>
                </a:solidFill>
              </a:rPr>
              <a:t>analysis</a:t>
            </a:r>
            <a:r>
              <a:rPr lang="fr-FR" sz="2399" kern="0" dirty="0">
                <a:solidFill>
                  <a:srgbClr val="03050D"/>
                </a:solidFill>
              </a:rPr>
              <a:t> techniques:</a:t>
            </a:r>
          </a:p>
          <a:p>
            <a:pPr marL="0" indent="0">
              <a:buNone/>
            </a:pPr>
            <a:r>
              <a:rPr lang="fr-FR" sz="2399" kern="0" dirty="0">
                <a:solidFill>
                  <a:srgbClr val="03050D"/>
                </a:solidFill>
              </a:rPr>
              <a:t>Activity ratios, </a:t>
            </a:r>
            <a:r>
              <a:rPr lang="fr-FR" sz="2399" kern="0" dirty="0" err="1">
                <a:solidFill>
                  <a:srgbClr val="03050D"/>
                </a:solidFill>
              </a:rPr>
              <a:t>solvency</a:t>
            </a:r>
            <a:r>
              <a:rPr lang="fr-FR" sz="2399" kern="0" dirty="0">
                <a:solidFill>
                  <a:srgbClr val="03050D"/>
                </a:solidFill>
              </a:rPr>
              <a:t> ratios and </a:t>
            </a:r>
            <a:r>
              <a:rPr lang="fr-FR" sz="2399" kern="0" dirty="0" err="1">
                <a:solidFill>
                  <a:srgbClr val="03050D"/>
                </a:solidFill>
              </a:rPr>
              <a:t>liquidity</a:t>
            </a:r>
            <a:r>
              <a:rPr lang="fr-FR" sz="2399" kern="0" dirty="0">
                <a:solidFill>
                  <a:srgbClr val="03050D"/>
                </a:solidFill>
              </a:rPr>
              <a:t> ratios</a:t>
            </a:r>
          </a:p>
          <a:p>
            <a:pPr marL="0" indent="0">
              <a:buNone/>
            </a:pPr>
            <a:endParaRPr lang="fr-FR" sz="2399" kern="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898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C08A8-7469-B534-34BD-EBD9681C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95250-F7CB-172A-2AFA-68E3A69C1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10% </a:t>
            </a:r>
            <a:r>
              <a:rPr lang="fr-FR" dirty="0" err="1"/>
              <a:t>Midterm</a:t>
            </a:r>
            <a:r>
              <a:rPr lang="fr-FR" dirty="0"/>
              <a:t> exam 1: MCQ on </a:t>
            </a:r>
            <a:r>
              <a:rPr lang="fr-FR" dirty="0" err="1"/>
              <a:t>Blackboard</a:t>
            </a:r>
            <a:r>
              <a:rPr lang="fr-FR" dirty="0"/>
              <a:t> at the </a:t>
            </a:r>
            <a:r>
              <a:rPr lang="fr-FR" dirty="0" err="1"/>
              <a:t>beginning</a:t>
            </a:r>
            <a:r>
              <a:rPr lang="fr-FR" dirty="0"/>
              <a:t> of session 4 (Tuesday 24 March) (30 minutes) </a:t>
            </a:r>
            <a:r>
              <a:rPr lang="fr-FR" dirty="0" err="1"/>
              <a:t>with</a:t>
            </a:r>
            <a:r>
              <a:rPr lang="fr-FR" dirty="0"/>
              <a:t> simple </a:t>
            </a:r>
            <a:r>
              <a:rPr lang="fr-FR" dirty="0" err="1"/>
              <a:t>calculator</a:t>
            </a:r>
            <a:endParaRPr lang="fr-FR" dirty="0"/>
          </a:p>
          <a:p>
            <a:endParaRPr lang="fr-FR" dirty="0"/>
          </a:p>
          <a:p>
            <a:r>
              <a:rPr lang="fr-FR" dirty="0"/>
              <a:t>20% </a:t>
            </a:r>
            <a:r>
              <a:rPr lang="fr-FR" dirty="0" err="1"/>
              <a:t>Midterm</a:t>
            </a:r>
            <a:r>
              <a:rPr lang="fr-FR" dirty="0"/>
              <a:t> exam 2: MCQ on </a:t>
            </a:r>
            <a:r>
              <a:rPr lang="fr-FR" dirty="0" err="1"/>
              <a:t>Blackboard</a:t>
            </a:r>
            <a:r>
              <a:rPr lang="fr-FR" dirty="0"/>
              <a:t> at the </a:t>
            </a:r>
            <a:r>
              <a:rPr lang="fr-FR" dirty="0" err="1"/>
              <a:t>beginning</a:t>
            </a:r>
            <a:r>
              <a:rPr lang="fr-FR" dirty="0"/>
              <a:t> of session 7 (Tuesday 31 March) (1 </a:t>
            </a:r>
            <a:r>
              <a:rPr lang="fr-FR" dirty="0" err="1"/>
              <a:t>hour</a:t>
            </a:r>
            <a:r>
              <a:rPr lang="fr-FR" dirty="0"/>
              <a:t>) </a:t>
            </a:r>
            <a:r>
              <a:rPr lang="fr-FR" dirty="0" err="1"/>
              <a:t>with</a:t>
            </a:r>
            <a:r>
              <a:rPr lang="fr-FR" dirty="0"/>
              <a:t> simple </a:t>
            </a:r>
            <a:r>
              <a:rPr lang="fr-FR" dirty="0" err="1"/>
              <a:t>calculator</a:t>
            </a:r>
            <a:endParaRPr lang="fr-FR" dirty="0"/>
          </a:p>
          <a:p>
            <a:endParaRPr lang="fr-FR" dirty="0"/>
          </a:p>
          <a:p>
            <a:r>
              <a:rPr lang="fr-FR" dirty="0"/>
              <a:t>10% Attendance</a:t>
            </a:r>
          </a:p>
          <a:p>
            <a:endParaRPr lang="fr-FR" dirty="0"/>
          </a:p>
          <a:p>
            <a:r>
              <a:rPr lang="fr-FR" dirty="0"/>
              <a:t>60% Final </a:t>
            </a:r>
            <a:r>
              <a:rPr lang="fr-FR" dirty="0" err="1"/>
              <a:t>examination</a:t>
            </a:r>
            <a:r>
              <a:rPr lang="fr-FR" dirty="0"/>
              <a:t>: 3 </a:t>
            </a:r>
            <a:r>
              <a:rPr lang="fr-FR" dirty="0" err="1"/>
              <a:t>exercises</a:t>
            </a:r>
            <a:r>
              <a:rPr lang="fr-FR" dirty="0"/>
              <a:t> (2 </a:t>
            </a:r>
            <a:r>
              <a:rPr lang="fr-FR" dirty="0" err="1"/>
              <a:t>hours</a:t>
            </a:r>
            <a:r>
              <a:rPr lang="fr-FR" dirty="0"/>
              <a:t>) (April 29, 14:30-16:30)</a:t>
            </a: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72A96-0D8B-AB3E-03A9-9FF238171C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1B1A79-1F45-8F4F-AED5-0EE30DCF038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305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3C83-1141-A585-FF78-94ACA00F1A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Inventories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6CACC-9BB9-C9CD-CC43-37FF80C709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1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sz="2400" b="0" dirty="0"/>
              <a:t>“Inventories are assets:</a:t>
            </a:r>
          </a:p>
          <a:p>
            <a:pPr marL="0" indent="0" algn="just">
              <a:buNone/>
            </a:pPr>
            <a:endParaRPr lang="en-GB" sz="2400" b="0" dirty="0"/>
          </a:p>
          <a:p>
            <a:pPr marL="0" indent="0" algn="just">
              <a:buNone/>
            </a:pPr>
            <a:r>
              <a:rPr lang="en-GB" sz="2400" b="0" dirty="0"/>
              <a:t>(a)	Held for sale in the ordinary course of business;</a:t>
            </a:r>
          </a:p>
          <a:p>
            <a:pPr algn="just">
              <a:buAutoNum type="alphaLcParenBoth"/>
            </a:pPr>
            <a:endParaRPr lang="en-GB" sz="2400" b="0" dirty="0"/>
          </a:p>
          <a:p>
            <a:pPr marL="0" indent="0" algn="just">
              <a:buNone/>
            </a:pPr>
            <a:r>
              <a:rPr lang="en-GB" sz="2400" b="0" dirty="0"/>
              <a:t>(b) 	In the process of production for such sale; or</a:t>
            </a:r>
          </a:p>
          <a:p>
            <a:pPr marL="0" indent="0" algn="just">
              <a:buNone/>
            </a:pPr>
            <a:endParaRPr lang="en-GB" sz="2400" b="0" dirty="0"/>
          </a:p>
          <a:p>
            <a:pPr marL="0" indent="0" algn="just">
              <a:buNone/>
            </a:pPr>
            <a:r>
              <a:rPr lang="en-GB" sz="2400" b="0" dirty="0"/>
              <a:t>(c) 	In the form of materials or supplies to be consumed in the production 	process or in the rendering of services”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4461" y="441843"/>
            <a:ext cx="11286176" cy="1288783"/>
          </a:xfrm>
        </p:spPr>
        <p:txBody>
          <a:bodyPr/>
          <a:lstStyle/>
          <a:p>
            <a:r>
              <a:rPr lang="en-GB" dirty="0"/>
              <a:t>Current (operating) Assets</a:t>
            </a:r>
            <a:br>
              <a:rPr lang="en-GB" dirty="0"/>
            </a:br>
            <a:r>
              <a:rPr lang="en-GB" dirty="0"/>
              <a:t>IAS 2 - Inventories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152BF34-7A1E-7E42-8FC4-E835152D341F}"/>
              </a:ext>
            </a:extLst>
          </p:cNvPr>
          <p:cNvSpPr/>
          <p:nvPr/>
        </p:nvSpPr>
        <p:spPr>
          <a:xfrm>
            <a:off x="8120269" y="2747623"/>
            <a:ext cx="566531" cy="367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172F0-ED1B-39EF-75F7-BF52784293B3}"/>
              </a:ext>
            </a:extLst>
          </p:cNvPr>
          <p:cNvSpPr txBox="1"/>
          <p:nvPr/>
        </p:nvSpPr>
        <p:spPr>
          <a:xfrm>
            <a:off x="8882784" y="2687945"/>
            <a:ext cx="268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Current</a:t>
            </a:r>
            <a:r>
              <a:rPr lang="fr-FR" sz="2400" dirty="0"/>
              <a:t> assets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5648C8-2C9D-E8EA-092B-86D5C841C864}"/>
              </a:ext>
            </a:extLst>
          </p:cNvPr>
          <p:cNvSpPr txBox="1"/>
          <p:nvPr/>
        </p:nvSpPr>
        <p:spPr>
          <a:xfrm>
            <a:off x="775252" y="5456583"/>
            <a:ext cx="288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Manufacturing</a:t>
            </a:r>
            <a:r>
              <a:rPr lang="fr-FR" dirty="0"/>
              <a:t> </a:t>
            </a:r>
            <a:r>
              <a:rPr lang="fr-FR" dirty="0" err="1"/>
              <a:t>company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B833D-E49C-30CF-368D-B42CAEB45762}"/>
              </a:ext>
            </a:extLst>
          </p:cNvPr>
          <p:cNvSpPr txBox="1"/>
          <p:nvPr/>
        </p:nvSpPr>
        <p:spPr>
          <a:xfrm>
            <a:off x="2514600" y="5925277"/>
            <a:ext cx="214685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Raw </a:t>
            </a:r>
            <a:r>
              <a:rPr lang="fr-FR" dirty="0" err="1"/>
              <a:t>material</a:t>
            </a:r>
            <a:r>
              <a:rPr lang="fr-FR" dirty="0"/>
              <a:t> </a:t>
            </a:r>
            <a:r>
              <a:rPr lang="fr-FR" dirty="0" err="1"/>
              <a:t>inventory</a:t>
            </a:r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757603E-D12A-0923-CFF5-0B79A23FA244}"/>
              </a:ext>
            </a:extLst>
          </p:cNvPr>
          <p:cNvSpPr/>
          <p:nvPr/>
        </p:nvSpPr>
        <p:spPr>
          <a:xfrm>
            <a:off x="4989443" y="6112565"/>
            <a:ext cx="526774" cy="3035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CACEE4-B973-476F-9123-E1824E7228D2}"/>
              </a:ext>
            </a:extLst>
          </p:cNvPr>
          <p:cNvSpPr txBox="1"/>
          <p:nvPr/>
        </p:nvSpPr>
        <p:spPr>
          <a:xfrm>
            <a:off x="5688494" y="5960611"/>
            <a:ext cx="214685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Work in </a:t>
            </a:r>
            <a:r>
              <a:rPr lang="fr-FR" dirty="0" err="1"/>
              <a:t>progress</a:t>
            </a:r>
            <a:r>
              <a:rPr lang="fr-FR" dirty="0"/>
              <a:t> </a:t>
            </a:r>
            <a:r>
              <a:rPr lang="fr-FR" dirty="0" err="1"/>
              <a:t>inventory</a:t>
            </a:r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9610A8D-EE1B-D33F-501F-9B019E0B83E9}"/>
              </a:ext>
            </a:extLst>
          </p:cNvPr>
          <p:cNvSpPr/>
          <p:nvPr/>
        </p:nvSpPr>
        <p:spPr>
          <a:xfrm>
            <a:off x="8120269" y="6117983"/>
            <a:ext cx="526774" cy="3035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2DB585-5F58-99FB-F3FF-C2503509A420}"/>
              </a:ext>
            </a:extLst>
          </p:cNvPr>
          <p:cNvSpPr txBox="1"/>
          <p:nvPr/>
        </p:nvSpPr>
        <p:spPr>
          <a:xfrm>
            <a:off x="8931966" y="5925276"/>
            <a:ext cx="214685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Finished</a:t>
            </a:r>
            <a:r>
              <a:rPr lang="fr-FR" dirty="0"/>
              <a:t> </a:t>
            </a:r>
            <a:r>
              <a:rPr lang="fr-FR" dirty="0" err="1"/>
              <a:t>goods</a:t>
            </a:r>
            <a:r>
              <a:rPr lang="fr-FR" dirty="0"/>
              <a:t> </a:t>
            </a:r>
            <a:r>
              <a:rPr lang="fr-FR" dirty="0" err="1"/>
              <a:t>inventory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3BB7B2-2608-F224-59D8-409654E3504B}"/>
              </a:ext>
            </a:extLst>
          </p:cNvPr>
          <p:cNvCxnSpPr>
            <a:cxnSpLocks/>
          </p:cNvCxnSpPr>
          <p:nvPr/>
        </p:nvCxnSpPr>
        <p:spPr>
          <a:xfrm>
            <a:off x="1461052" y="3115370"/>
            <a:ext cx="168965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8520099-FC6D-F077-B9D1-662806866870}"/>
              </a:ext>
            </a:extLst>
          </p:cNvPr>
          <p:cNvSpPr/>
          <p:nvPr/>
        </p:nvSpPr>
        <p:spPr>
          <a:xfrm rot="19638489">
            <a:off x="2887173" y="2211993"/>
            <a:ext cx="1242391" cy="2882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6A4773-0D34-1D3E-B2FE-FC2898894CDF}"/>
              </a:ext>
            </a:extLst>
          </p:cNvPr>
          <p:cNvSpPr txBox="1"/>
          <p:nvPr/>
        </p:nvSpPr>
        <p:spPr>
          <a:xfrm>
            <a:off x="4293703" y="1765960"/>
            <a:ext cx="3081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Held</a:t>
            </a:r>
            <a:r>
              <a:rPr lang="fr-FR" dirty="0"/>
              <a:t> for usage: P,P&amp;E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20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5470" y="1765961"/>
            <a:ext cx="11285159" cy="50909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 cost of a stock includes the following:</a:t>
            </a:r>
            <a:endParaRPr lang="en-GB" sz="240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4461" y="441843"/>
            <a:ext cx="11286176" cy="633687"/>
          </a:xfrm>
        </p:spPr>
        <p:txBody>
          <a:bodyPr>
            <a:normAutofit fontScale="90000"/>
          </a:bodyPr>
          <a:lstStyle/>
          <a:p>
            <a:r>
              <a:rPr lang="en-GB" dirty="0"/>
              <a:t>Measurement of inventories at their entry date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fr-FR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87856" y="968175"/>
            <a:ext cx="5204144" cy="13874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Inventories shall be measured at the lower of cost and net realizable value (estimated selling price less costs of completion necessary to make the sale) at their acquisition date</a:t>
            </a:r>
            <a:r>
              <a:rPr lang="en-GB" b="1" dirty="0"/>
              <a:t> (under IFRS).</a:t>
            </a:r>
            <a:endParaRPr lang="en-GB" dirty="0"/>
          </a:p>
        </p:txBody>
      </p:sp>
      <p:sp>
        <p:nvSpPr>
          <p:cNvPr id="6" name="Organigramme : Processus 5"/>
          <p:cNvSpPr/>
          <p:nvPr/>
        </p:nvSpPr>
        <p:spPr>
          <a:xfrm>
            <a:off x="2135560" y="3037767"/>
            <a:ext cx="1728192" cy="792088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Cost of an inventory</a:t>
            </a:r>
          </a:p>
        </p:txBody>
      </p:sp>
      <p:sp>
        <p:nvSpPr>
          <p:cNvPr id="7" name="Organigramme : Processus 6"/>
          <p:cNvSpPr/>
          <p:nvPr/>
        </p:nvSpPr>
        <p:spPr>
          <a:xfrm>
            <a:off x="4464224" y="3032955"/>
            <a:ext cx="1728192" cy="792088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Acquisition cost</a:t>
            </a:r>
          </a:p>
        </p:txBody>
      </p:sp>
      <p:sp>
        <p:nvSpPr>
          <p:cNvPr id="8" name="Organigramme : Processus 7"/>
          <p:cNvSpPr/>
          <p:nvPr/>
        </p:nvSpPr>
        <p:spPr>
          <a:xfrm>
            <a:off x="6600056" y="3032955"/>
            <a:ext cx="1728192" cy="792088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Cost of conversion</a:t>
            </a:r>
          </a:p>
        </p:txBody>
      </p:sp>
      <p:sp>
        <p:nvSpPr>
          <p:cNvPr id="9" name="Organigramme : Processus 8"/>
          <p:cNvSpPr/>
          <p:nvPr/>
        </p:nvSpPr>
        <p:spPr>
          <a:xfrm>
            <a:off x="8736135" y="2598741"/>
            <a:ext cx="3168508" cy="1790367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Other costs </a:t>
            </a:r>
            <a:r>
              <a:rPr lang="en-US" sz="2400" dirty="0">
                <a:solidFill>
                  <a:schemeClr val="tx1"/>
                </a:solidFill>
              </a:rPr>
              <a:t>incurred in bringing the inventories to their present location and condition</a:t>
            </a:r>
            <a:r>
              <a:rPr lang="en-GB" sz="2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3935760" y="3212975"/>
            <a:ext cx="4320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=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229120" y="3263293"/>
            <a:ext cx="3352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8369846" y="3279197"/>
            <a:ext cx="334933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</a:p>
        </p:txBody>
      </p:sp>
      <p:sp>
        <p:nvSpPr>
          <p:cNvPr id="13" name="Ellipse 12"/>
          <p:cNvSpPr/>
          <p:nvPr/>
        </p:nvSpPr>
        <p:spPr>
          <a:xfrm>
            <a:off x="815414" y="3933056"/>
            <a:ext cx="4372215" cy="2924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rmAutofit fontScale="62500" lnSpcReduction="20000"/>
          </a:bodyPr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Acquisition cost </a:t>
            </a:r>
          </a:p>
          <a:p>
            <a:pPr algn="ctr"/>
            <a:r>
              <a:rPr lang="en-GB" sz="1467" b="1" dirty="0">
                <a:solidFill>
                  <a:schemeClr val="tx1"/>
                </a:solidFill>
              </a:rPr>
              <a:t>=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GB" sz="2933" dirty="0">
                <a:solidFill>
                  <a:schemeClr val="tx1"/>
                </a:solidFill>
              </a:rPr>
              <a:t>Purchase price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GB" sz="2933" dirty="0">
                <a:solidFill>
                  <a:schemeClr val="tx1"/>
                </a:solidFill>
              </a:rPr>
              <a:t>import duties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GB" sz="2933" dirty="0">
                <a:solidFill>
                  <a:schemeClr val="tx1"/>
                </a:solidFill>
              </a:rPr>
              <a:t>Taxes non recoverable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GB" sz="2933" dirty="0">
                <a:solidFill>
                  <a:schemeClr val="tx1"/>
                </a:solidFill>
              </a:rPr>
              <a:t>Transport, handling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GB" sz="2933" dirty="0">
                <a:solidFill>
                  <a:schemeClr val="tx1"/>
                </a:solidFill>
              </a:rPr>
              <a:t>Trade </a:t>
            </a:r>
            <a:r>
              <a:rPr lang="en-US" sz="2933" dirty="0">
                <a:solidFill>
                  <a:schemeClr val="tx1"/>
                </a:solidFill>
              </a:rPr>
              <a:t>discounts, rebates and other similar items are deducted</a:t>
            </a:r>
            <a:endParaRPr lang="en-GB" sz="2933" dirty="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5422135" y="4148725"/>
            <a:ext cx="5527070" cy="27092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rmAutofit lnSpcReduction="10000"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Cost of conversion </a:t>
            </a:r>
          </a:p>
          <a:p>
            <a:pPr algn="ctr"/>
            <a:r>
              <a:rPr lang="en-GB" sz="1600" b="1" dirty="0">
                <a:solidFill>
                  <a:schemeClr val="tx1"/>
                </a:solidFill>
              </a:rPr>
              <a:t>=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costs directly related to the units of production, such as direct labour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Systematic allocation of fixed and variable production overheads: depreciation of factory, cost of factory management and administration…</a:t>
            </a: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4583832" y="3933056"/>
            <a:ext cx="432048" cy="288032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7248253" y="3865383"/>
            <a:ext cx="215900" cy="28334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54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382" y="451288"/>
            <a:ext cx="11713301" cy="673456"/>
          </a:xfrm>
        </p:spPr>
        <p:txBody>
          <a:bodyPr/>
          <a:lstStyle/>
          <a:p>
            <a:r>
              <a:rPr lang="en-US" sz="3733" dirty="0"/>
              <a:t>From purchases to the cost of sales in P&amp;L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7" name="TextBox 6"/>
          <p:cNvSpPr txBox="1"/>
          <p:nvPr/>
        </p:nvSpPr>
        <p:spPr>
          <a:xfrm>
            <a:off x="1559496" y="6444045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Op. inv.: opening inventory, End. Inv.: ending inventory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A363A6-23CE-40C0-9DD5-4546502273C1}"/>
              </a:ext>
            </a:extLst>
          </p:cNvPr>
          <p:cNvGrpSpPr/>
          <p:nvPr/>
        </p:nvGrpSpPr>
        <p:grpSpPr>
          <a:xfrm>
            <a:off x="3431704" y="1772816"/>
            <a:ext cx="1584176" cy="1676844"/>
            <a:chOff x="2573778" y="1329612"/>
            <a:chExt cx="1188132" cy="1257633"/>
          </a:xfrm>
        </p:grpSpPr>
        <p:sp>
          <p:nvSpPr>
            <p:cNvPr id="5" name="TextBox 4"/>
            <p:cNvSpPr txBox="1"/>
            <p:nvPr/>
          </p:nvSpPr>
          <p:spPr>
            <a:xfrm>
              <a:off x="2573778" y="1329612"/>
              <a:ext cx="594066" cy="715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2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573778" y="2056331"/>
              <a:ext cx="594066" cy="53091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Op.</a:t>
              </a:r>
            </a:p>
            <a:p>
              <a:r>
                <a:rPr lang="en-US" sz="2000" dirty="0"/>
                <a:t>Inv.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67844" y="1329612"/>
              <a:ext cx="594066" cy="7386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End.</a:t>
              </a:r>
            </a:p>
            <a:p>
              <a:r>
                <a:rPr lang="en-US" sz="2000" dirty="0"/>
                <a:t>Inv.</a:t>
              </a:r>
            </a:p>
            <a:p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67844" y="2022109"/>
              <a:ext cx="594066" cy="56159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endParaRPr lang="en-US" sz="2133" dirty="0"/>
            </a:p>
            <a:p>
              <a:endParaRPr lang="en-US" sz="2133" dirty="0"/>
            </a:p>
          </p:txBody>
        </p:sp>
      </p:grpSp>
      <p:sp>
        <p:nvSpPr>
          <p:cNvPr id="10" name="Right Arrow 9"/>
          <p:cNvSpPr/>
          <p:nvPr/>
        </p:nvSpPr>
        <p:spPr>
          <a:xfrm>
            <a:off x="1847528" y="2060848"/>
            <a:ext cx="1944216" cy="43204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1268760"/>
            <a:ext cx="35037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Components purchases including all expenses needed to have components available in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9669" y="1028734"/>
            <a:ext cx="2108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Components inventory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A400C2-E803-437D-8C07-5B7A3DEA9ABE}"/>
              </a:ext>
            </a:extLst>
          </p:cNvPr>
          <p:cNvGrpSpPr/>
          <p:nvPr/>
        </p:nvGrpSpPr>
        <p:grpSpPr>
          <a:xfrm>
            <a:off x="3476819" y="4366847"/>
            <a:ext cx="1584176" cy="1884548"/>
            <a:chOff x="2607614" y="3275134"/>
            <a:chExt cx="1188132" cy="1413411"/>
          </a:xfrm>
        </p:grpSpPr>
        <p:sp>
          <p:nvSpPr>
            <p:cNvPr id="13" name="TextBox 12"/>
            <p:cNvSpPr txBox="1"/>
            <p:nvPr/>
          </p:nvSpPr>
          <p:spPr>
            <a:xfrm>
              <a:off x="2607614" y="3275134"/>
              <a:ext cx="594066" cy="6924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07614" y="3996734"/>
              <a:ext cx="594066" cy="66941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Op.</a:t>
              </a:r>
            </a:p>
            <a:p>
              <a:r>
                <a:rPr lang="en-US" sz="2000" dirty="0"/>
                <a:t>Inv.</a:t>
              </a:r>
            </a:p>
            <a:p>
              <a:endParaRPr lang="en-US" sz="12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1680" y="3275134"/>
              <a:ext cx="594066" cy="53091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End.</a:t>
              </a:r>
            </a:p>
            <a:p>
              <a:r>
                <a:rPr lang="en-US" sz="2000" dirty="0"/>
                <a:t>Inv.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1680" y="3788298"/>
              <a:ext cx="594066" cy="900247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</p:grpSp>
      <p:sp>
        <p:nvSpPr>
          <p:cNvPr id="17" name="Right Arrow 16"/>
          <p:cNvSpPr/>
          <p:nvPr/>
        </p:nvSpPr>
        <p:spPr>
          <a:xfrm>
            <a:off x="1892643" y="4654877"/>
            <a:ext cx="1944216" cy="43204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43339" y="4036807"/>
            <a:ext cx="31894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bikes purchases including all expenses needed to have bikes available in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3686" y="3525011"/>
            <a:ext cx="2064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bikes 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5880" y="3857175"/>
            <a:ext cx="2232248" cy="10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33" dirty="0"/>
              <a:t>Other manufacturing cost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53ABC9-54F3-4D9A-9B44-3FD5E72A366E}"/>
              </a:ext>
            </a:extLst>
          </p:cNvPr>
          <p:cNvGrpSpPr/>
          <p:nvPr/>
        </p:nvGrpSpPr>
        <p:grpSpPr>
          <a:xfrm>
            <a:off x="7543403" y="4221089"/>
            <a:ext cx="3446067" cy="2506680"/>
            <a:chOff x="5436096" y="3165816"/>
            <a:chExt cx="2584550" cy="1880010"/>
          </a:xfrm>
        </p:grpSpPr>
        <p:sp>
          <p:nvSpPr>
            <p:cNvPr id="26" name="TextBox 25"/>
            <p:cNvSpPr txBox="1"/>
            <p:nvPr/>
          </p:nvSpPr>
          <p:spPr>
            <a:xfrm>
              <a:off x="5436096" y="3177814"/>
              <a:ext cx="1288407" cy="16158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r>
                <a:rPr lang="en-US" sz="2000" dirty="0"/>
                <a:t>Cost of goods manufactured (COGM)</a:t>
              </a:r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36096" y="4479276"/>
              <a:ext cx="1296144" cy="53091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Opening</a:t>
              </a:r>
            </a:p>
            <a:p>
              <a:r>
                <a:rPr lang="en-US" sz="2000" dirty="0"/>
                <a:t>Inventory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732240" y="3165816"/>
              <a:ext cx="1288406" cy="96949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Ending</a:t>
              </a:r>
            </a:p>
            <a:p>
              <a:r>
                <a:rPr lang="en-US" sz="2000" dirty="0"/>
                <a:t>Inventory</a:t>
              </a:r>
            </a:p>
            <a:p>
              <a:endParaRPr lang="en-US" sz="2000" dirty="0"/>
            </a:p>
            <a:p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32239" y="4076330"/>
              <a:ext cx="1288407" cy="96949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r>
                <a:rPr lang="en-US" sz="2000" dirty="0"/>
                <a:t>Cost of goods sold (COGS)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603634" y="3700966"/>
            <a:ext cx="3468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Ebikes</a:t>
            </a:r>
            <a:r>
              <a:rPr lang="en-US" sz="2400" dirty="0"/>
              <a:t> (FG) inventory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8181" y="1220755"/>
            <a:ext cx="2760307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P&amp;L</a:t>
            </a:r>
          </a:p>
          <a:p>
            <a:r>
              <a:rPr lang="en-US" sz="2400" dirty="0"/>
              <a:t>Sales revenue</a:t>
            </a:r>
          </a:p>
          <a:p>
            <a:r>
              <a:rPr lang="en-US" sz="2400" dirty="0"/>
              <a:t>Cost of sales</a:t>
            </a:r>
          </a:p>
          <a:p>
            <a:r>
              <a:rPr lang="en-US" sz="2400" dirty="0"/>
              <a:t>Gross profit</a:t>
            </a:r>
          </a:p>
          <a:p>
            <a:r>
              <a:rPr lang="en-US" sz="2400" dirty="0"/>
              <a:t>S,G&amp;A expenses</a:t>
            </a:r>
          </a:p>
          <a:p>
            <a:r>
              <a:rPr lang="en-US" sz="2400" dirty="0"/>
              <a:t>Operating profit</a:t>
            </a:r>
            <a:endParaRPr lang="en-US" dirty="0"/>
          </a:p>
        </p:txBody>
      </p:sp>
      <p:sp>
        <p:nvSpPr>
          <p:cNvPr id="33" name="Curved Up Arrow 32"/>
          <p:cNvSpPr/>
          <p:nvPr/>
        </p:nvSpPr>
        <p:spPr>
          <a:xfrm rot="15632470">
            <a:off x="8412640" y="3487490"/>
            <a:ext cx="3773727" cy="692477"/>
          </a:xfrm>
          <a:prstGeom prst="curvedUpArrow">
            <a:avLst>
              <a:gd name="adj1" fmla="val 0"/>
              <a:gd name="adj2" fmla="val 50000"/>
              <a:gd name="adj3" fmla="val 25000"/>
            </a:avLst>
          </a:prstGeom>
          <a:ln w="476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ight Arrow 33"/>
          <p:cNvSpPr/>
          <p:nvPr/>
        </p:nvSpPr>
        <p:spPr>
          <a:xfrm>
            <a:off x="5445869" y="4808186"/>
            <a:ext cx="1988103" cy="42101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B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4619837" y="5468887"/>
            <a:ext cx="2814135" cy="469360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/>
          <p:nvPr/>
        </p:nvSpPr>
        <p:spPr>
          <a:xfrm rot="1903914">
            <a:off x="4645093" y="3450515"/>
            <a:ext cx="3102811" cy="432048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22"/>
          <p:cNvSpPr txBox="1"/>
          <p:nvPr/>
        </p:nvSpPr>
        <p:spPr>
          <a:xfrm>
            <a:off x="5087888" y="5241588"/>
            <a:ext cx="1893320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33" dirty="0"/>
              <a:t>bikes used for production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390779-A244-4EA2-A3D2-740247BA217E}"/>
              </a:ext>
            </a:extLst>
          </p:cNvPr>
          <p:cNvSpPr txBox="1"/>
          <p:nvPr/>
        </p:nvSpPr>
        <p:spPr>
          <a:xfrm>
            <a:off x="4943873" y="2801363"/>
            <a:ext cx="2358708" cy="10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33" dirty="0"/>
              <a:t>Components used for production</a:t>
            </a:r>
          </a:p>
        </p:txBody>
      </p:sp>
    </p:spTree>
    <p:extLst>
      <p:ext uri="{BB962C8B-B14F-4D97-AF65-F5344CB8AC3E}">
        <p14:creationId xmlns:p14="http://schemas.microsoft.com/office/powerpoint/2010/main" val="364931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0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B901F4-53ED-0AAC-C376-3C02EE707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69" y="633688"/>
            <a:ext cx="11573192" cy="567563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Components used for production (outflow from components inventory) = </a:t>
            </a:r>
            <a:r>
              <a:rPr lang="en-US" sz="2400" b="0" dirty="0"/>
              <a:t>Components purchased during the period (inflow from components inventory) + Opening components inventory – Ending components inventory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COGS (</a:t>
            </a:r>
            <a:r>
              <a:rPr lang="en-US" sz="2400" dirty="0" err="1"/>
              <a:t>ebikes</a:t>
            </a:r>
            <a:r>
              <a:rPr lang="en-US" sz="2400" dirty="0"/>
              <a:t> sold) (outflow from </a:t>
            </a:r>
            <a:r>
              <a:rPr lang="en-US" sz="2400" dirty="0" err="1"/>
              <a:t>ebikes</a:t>
            </a:r>
            <a:r>
              <a:rPr lang="en-US" sz="2400" dirty="0"/>
              <a:t> inventory) = </a:t>
            </a:r>
            <a:r>
              <a:rPr lang="en-US" sz="2400" b="0" dirty="0"/>
              <a:t>COGM (</a:t>
            </a:r>
            <a:r>
              <a:rPr lang="en-US" sz="2400" b="0" dirty="0" err="1"/>
              <a:t>ebikes</a:t>
            </a:r>
            <a:r>
              <a:rPr lang="en-US" sz="2400" b="0" dirty="0"/>
              <a:t> produced during the period) (inflow from </a:t>
            </a:r>
            <a:r>
              <a:rPr lang="en-US" sz="2400" b="0" dirty="0" err="1"/>
              <a:t>ebikes</a:t>
            </a:r>
            <a:r>
              <a:rPr lang="en-US" sz="2400" b="0" dirty="0"/>
              <a:t> inventory) + Opening </a:t>
            </a:r>
            <a:r>
              <a:rPr lang="en-US" sz="2400" b="0" dirty="0" err="1"/>
              <a:t>ebikes</a:t>
            </a:r>
            <a:r>
              <a:rPr lang="en-US" sz="2400" b="0" dirty="0"/>
              <a:t> inventory – Ending </a:t>
            </a:r>
            <a:r>
              <a:rPr lang="en-US" sz="2400" b="0" dirty="0" err="1"/>
              <a:t>ebikes</a:t>
            </a:r>
            <a:r>
              <a:rPr lang="en-US" sz="2400" b="0" dirty="0"/>
              <a:t> inventory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Cost of sales (or cost of revenue) = </a:t>
            </a:r>
            <a:r>
              <a:rPr lang="en-US" sz="2400" b="0" dirty="0"/>
              <a:t>Cost of goods sold (goods produced and sold by the company and goods purchased and directly sold by the company) + Direct cost of services rendered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Gross profit or gross margin = </a:t>
            </a:r>
            <a:r>
              <a:rPr lang="en-US" sz="2400" b="0" dirty="0"/>
              <a:t>Revenue from sale of services and goods minus cost of sales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14C32C-99EE-6FAB-7497-60746502B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0" y="1"/>
            <a:ext cx="11286176" cy="633687"/>
          </a:xfrm>
        </p:spPr>
        <p:txBody>
          <a:bodyPr/>
          <a:lstStyle/>
          <a:p>
            <a:r>
              <a:rPr lang="en-US" dirty="0"/>
              <a:t>P&amp;L equations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ECCE0-5E2C-6614-5C50-9C2B90464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2182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5470" y="1626814"/>
            <a:ext cx="11285159" cy="5092040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en-GB" sz="2800" b="0" dirty="0"/>
              <a:t>“Costs of purchase”</a:t>
            </a:r>
          </a:p>
          <a:p>
            <a:pPr marL="0" indent="0" algn="just">
              <a:buNone/>
            </a:pPr>
            <a:r>
              <a:rPr lang="en-GB" sz="2600" b="0" dirty="0"/>
              <a:t>“The costs of purchase of inventories comprise: </a:t>
            </a:r>
          </a:p>
          <a:p>
            <a:pPr algn="just">
              <a:buFontTx/>
              <a:buChar char="-"/>
            </a:pPr>
            <a:r>
              <a:rPr lang="en-GB" sz="2600" b="0" dirty="0"/>
              <a:t>the purchase price, </a:t>
            </a:r>
          </a:p>
          <a:p>
            <a:pPr algn="just">
              <a:buFontTx/>
              <a:buChar char="-"/>
            </a:pPr>
            <a:r>
              <a:rPr lang="en-GB" sz="2600" b="0" dirty="0"/>
              <a:t>import duties </a:t>
            </a:r>
          </a:p>
          <a:p>
            <a:pPr algn="just">
              <a:buFontTx/>
              <a:buChar char="-"/>
            </a:pPr>
            <a:r>
              <a:rPr lang="en-GB" sz="2600" b="0" dirty="0"/>
              <a:t>and other taxes (other than those subsequently recoverable by the entity from the taxing authorities), and </a:t>
            </a:r>
          </a:p>
          <a:p>
            <a:pPr algn="just">
              <a:buFontTx/>
              <a:buChar char="-"/>
            </a:pPr>
            <a:r>
              <a:rPr lang="en-GB" sz="2600" b="0" dirty="0"/>
              <a:t>transport, handling and other costs directly attributable to the acquisition of finished goods, materials and services.</a:t>
            </a:r>
          </a:p>
          <a:p>
            <a:pPr marL="0" indent="0" algn="just">
              <a:buNone/>
            </a:pPr>
            <a:r>
              <a:rPr lang="en-GB" sz="2600" b="0" dirty="0"/>
              <a:t>Trade discounts, rebates and other similar items are deducted in determining the costs of purchase”.</a:t>
            </a:r>
          </a:p>
          <a:p>
            <a:pPr marL="0" indent="0">
              <a:buNone/>
            </a:pPr>
            <a:r>
              <a:rPr lang="en-GB" sz="2800" b="0" dirty="0"/>
              <a:t>		excluding VAT</a:t>
            </a: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74461" y="451782"/>
            <a:ext cx="11286176" cy="633687"/>
          </a:xfrm>
        </p:spPr>
        <p:txBody>
          <a:bodyPr>
            <a:normAutofit fontScale="90000"/>
          </a:bodyPr>
          <a:lstStyle/>
          <a:p>
            <a:r>
              <a:rPr lang="en-GB" dirty="0"/>
              <a:t>Measurement of inventories at their entry date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  <p:sp>
        <p:nvSpPr>
          <p:cNvPr id="4" name="Flèche droite 3"/>
          <p:cNvSpPr/>
          <p:nvPr/>
        </p:nvSpPr>
        <p:spPr>
          <a:xfrm>
            <a:off x="1781673" y="6191760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1017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b="0" dirty="0"/>
              <a:t>“ </a:t>
            </a:r>
            <a:r>
              <a:rPr lang="en-GB" sz="2700" b="0" dirty="0"/>
              <a:t>Costs of conversion</a:t>
            </a:r>
            <a:r>
              <a:rPr lang="en-GB" sz="2400" b="0" dirty="0"/>
              <a:t>”</a:t>
            </a:r>
          </a:p>
          <a:p>
            <a:pPr marL="0" indent="0" algn="just">
              <a:buNone/>
            </a:pPr>
            <a:r>
              <a:rPr lang="en-GB" sz="2600" b="0" dirty="0"/>
              <a:t>“The costs of conversion of inventories include :</a:t>
            </a:r>
          </a:p>
          <a:p>
            <a:pPr algn="just">
              <a:buFontTx/>
              <a:buChar char="-"/>
            </a:pPr>
            <a:r>
              <a:rPr lang="en-GB" sz="2600" b="0" u="sng" dirty="0"/>
              <a:t>costs directly related to the units of production</a:t>
            </a:r>
            <a:r>
              <a:rPr lang="en-GB" sz="2600" b="0" dirty="0"/>
              <a:t>, such as direct labour. </a:t>
            </a:r>
          </a:p>
          <a:p>
            <a:pPr algn="just">
              <a:buFontTx/>
              <a:buChar char="-"/>
            </a:pPr>
            <a:r>
              <a:rPr lang="en-GB" sz="2600" b="0" dirty="0"/>
              <a:t>They also include a systematic </a:t>
            </a:r>
            <a:r>
              <a:rPr lang="en-GB" sz="2600" b="0" u="sng" dirty="0"/>
              <a:t>allocation of fixed and variable production overheads</a:t>
            </a:r>
            <a:r>
              <a:rPr lang="en-GB" sz="2600" b="0" dirty="0"/>
              <a:t> that are incurred in converting materials into finished goods (…)</a:t>
            </a:r>
          </a:p>
          <a:p>
            <a:pPr marL="0" indent="0" algn="just">
              <a:buNone/>
            </a:pPr>
            <a:r>
              <a:rPr lang="en-GB" sz="2600" b="0" dirty="0"/>
              <a:t>The </a:t>
            </a:r>
            <a:r>
              <a:rPr lang="en-GB" sz="2600" b="0" i="1" dirty="0"/>
              <a:t>allocation of fixed production overheads </a:t>
            </a:r>
            <a:r>
              <a:rPr lang="en-GB" sz="2600" b="0" dirty="0"/>
              <a:t>to the costs of conversion is </a:t>
            </a:r>
            <a:r>
              <a:rPr lang="en-GB" sz="2600" b="0" i="1" dirty="0"/>
              <a:t>based on the </a:t>
            </a:r>
            <a:r>
              <a:rPr lang="en-GB" sz="2600" b="0" i="1" u="sng" dirty="0"/>
              <a:t>normal</a:t>
            </a:r>
            <a:r>
              <a:rPr lang="en-GB" sz="2600" b="0" i="1" dirty="0"/>
              <a:t> capacity </a:t>
            </a:r>
            <a:r>
              <a:rPr lang="en-GB" sz="2600" b="0" dirty="0"/>
              <a:t>of the production facilities”.</a:t>
            </a:r>
          </a:p>
          <a:p>
            <a:pPr marL="901677" indent="0" algn="just">
              <a:buNone/>
            </a:pPr>
            <a:r>
              <a:rPr lang="en-GB" sz="2600" b="0" dirty="0"/>
              <a:t>	Rational allocation of fixed expenses (cost of under-activity which can not be attributed to inventory) </a:t>
            </a: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Measurement of inventories at their entry date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  <p:sp>
        <p:nvSpPr>
          <p:cNvPr id="4" name="Flèche droite 3"/>
          <p:cNvSpPr/>
          <p:nvPr/>
        </p:nvSpPr>
        <p:spPr>
          <a:xfrm>
            <a:off x="861525" y="5105897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7326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5470" y="1765960"/>
            <a:ext cx="11285159" cy="4447349"/>
          </a:xfrm>
        </p:spPr>
        <p:txBody>
          <a:bodyPr>
            <a:normAutofit lnSpcReduction="10000"/>
          </a:bodyPr>
          <a:lstStyle/>
          <a:p>
            <a:r>
              <a:rPr lang="en-GB" sz="2600" b="0" dirty="0"/>
              <a:t>Normal activity: production of 100,000 products per month</a:t>
            </a:r>
          </a:p>
          <a:p>
            <a:r>
              <a:rPr lang="en-GB" sz="2600" b="0" dirty="0"/>
              <a:t>Normal monthly production costs:</a:t>
            </a:r>
          </a:p>
          <a:p>
            <a:pPr>
              <a:buNone/>
            </a:pPr>
            <a:r>
              <a:rPr lang="en-GB" sz="2600" b="0" dirty="0"/>
              <a:t>	- €5 of unit variable cost</a:t>
            </a:r>
          </a:p>
          <a:p>
            <a:pPr>
              <a:buNone/>
            </a:pPr>
            <a:r>
              <a:rPr lang="en-GB" sz="2600" b="0" dirty="0"/>
              <a:t>	- €400,000 of fixed production overheads</a:t>
            </a:r>
          </a:p>
          <a:p>
            <a:pPr algn="just"/>
            <a:r>
              <a:rPr lang="en-GB" sz="2600" b="0" dirty="0"/>
              <a:t>Actual production in February 2026: 50,000 products</a:t>
            </a:r>
          </a:p>
          <a:p>
            <a:pPr marL="0" indent="0">
              <a:buNone/>
            </a:pPr>
            <a:endParaRPr lang="en-GB" sz="1200" b="0" dirty="0"/>
          </a:p>
          <a:p>
            <a:pPr algn="just">
              <a:buFont typeface="Symbol" panose="05050102010706020507" pitchFamily="18" charset="2"/>
              <a:buChar char="Þ"/>
            </a:pPr>
            <a:r>
              <a:rPr lang="en-GB" sz="2800" b="0" dirty="0"/>
              <a:t>What is the value of an inventory of 30,000 products manufactured in February 2026? </a:t>
            </a:r>
          </a:p>
          <a:p>
            <a:pPr algn="just">
              <a:buFont typeface="Symbol" panose="05050102010706020507" pitchFamily="18" charset="2"/>
              <a:buChar char="Þ"/>
            </a:pPr>
            <a:r>
              <a:rPr lang="en-GB" sz="2800" b="0" dirty="0"/>
              <a:t>What is the cost of production (i.e. COGS) to retain in the income statement in February 2026?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4461" y="441843"/>
            <a:ext cx="11286176" cy="633687"/>
          </a:xfrm>
        </p:spPr>
        <p:txBody>
          <a:bodyPr/>
          <a:lstStyle/>
          <a:p>
            <a:r>
              <a:rPr lang="en-GB" dirty="0"/>
              <a:t>Rational allocation of fixed costs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973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29856"/>
            <a:ext cx="12192000" cy="4159317"/>
          </a:xfrm>
        </p:spPr>
        <p:txBody>
          <a:bodyPr>
            <a:normAutofit/>
          </a:bodyPr>
          <a:lstStyle/>
          <a:p>
            <a:r>
              <a:rPr lang="en-GB" sz="2400" b="0" dirty="0"/>
              <a:t>Unit production cost in normal activity:	€5 + [€400,000 / 100,000 products] = €9</a:t>
            </a:r>
          </a:p>
          <a:p>
            <a:r>
              <a:rPr lang="en-GB" sz="2400" b="0" dirty="0"/>
              <a:t>Unit production cost in February 2026: 	€5 + [€400,000 / 50,000 products] = €13</a:t>
            </a:r>
          </a:p>
          <a:p>
            <a:pPr>
              <a:buNone/>
            </a:pPr>
            <a:endParaRPr lang="en-GB" sz="2400" b="0" dirty="0"/>
          </a:p>
          <a:p>
            <a:r>
              <a:rPr lang="en-GB" sz="2400" b="0" dirty="0"/>
              <a:t>February production cost: 	€5 x 50,000 + €400,000 = €650,000	(COGM)</a:t>
            </a:r>
          </a:p>
          <a:p>
            <a:pPr marL="0" indent="0">
              <a:buNone/>
            </a:pPr>
            <a:endParaRPr lang="en-GB" sz="1800" b="0" dirty="0"/>
          </a:p>
          <a:p>
            <a:pPr marL="0" indent="0">
              <a:buNone/>
            </a:pPr>
            <a:endParaRPr lang="en-GB" sz="1800" b="0" dirty="0"/>
          </a:p>
          <a:p>
            <a:pPr marL="0" indent="0">
              <a:buNone/>
            </a:pPr>
            <a:endParaRPr lang="en-GB" sz="1800" b="0" dirty="0"/>
          </a:p>
          <a:p>
            <a:r>
              <a:rPr lang="en-GB" sz="2400" b="0" dirty="0"/>
              <a:t>Valuation of Inventories at the end of February:	</a:t>
            </a:r>
            <a:r>
              <a:rPr lang="en-GB" sz="2400" b="0" dirty="0">
                <a:solidFill>
                  <a:srgbClr val="FF0000"/>
                </a:solidFill>
              </a:rPr>
              <a:t>€9 </a:t>
            </a:r>
            <a:r>
              <a:rPr lang="en-GB" sz="2400" b="0" dirty="0"/>
              <a:t>x 30,000 = €270,000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474461" y="441843"/>
            <a:ext cx="11286176" cy="633687"/>
          </a:xfrm>
        </p:spPr>
        <p:txBody>
          <a:bodyPr/>
          <a:lstStyle/>
          <a:p>
            <a:r>
              <a:rPr lang="en-GB" dirty="0"/>
              <a:t>Rational allocation of fixed costs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930479"/>
              </p:ext>
            </p:extLst>
          </p:nvPr>
        </p:nvGraphicFramePr>
        <p:xfrm>
          <a:off x="1887286" y="2928257"/>
          <a:ext cx="8136905" cy="1088898"/>
        </p:xfrm>
        <a:graphic>
          <a:graphicData uri="http://schemas.openxmlformats.org/drawingml/2006/table">
            <a:tbl>
              <a:tblPr/>
              <a:tblGrid>
                <a:gridCol w="360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5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925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200" u="sng" noProof="0" dirty="0"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Accounting</a:t>
                      </a:r>
                      <a:r>
                        <a:rPr lang="en-GB" sz="2200" u="sng" baseline="0" noProof="0" dirty="0"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 entries for February for the production</a:t>
                      </a:r>
                      <a:endParaRPr lang="en-GB" sz="2200" u="sng" noProof="0" dirty="0">
                        <a:latin typeface="Calibri" panose="020F0502020204030204" pitchFamily="34" charset="0"/>
                        <a:ea typeface="Calibri"/>
                        <a:cs typeface="Times New Roman"/>
                      </a:endParaRPr>
                    </a:p>
                  </a:txBody>
                  <a:tcPr marL="44451" marR="4445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9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200" u="none" noProof="0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Cost of production (P&amp;L)</a:t>
                      </a:r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2200" dirty="0">
                        <a:solidFill>
                          <a:srgbClr val="00B050"/>
                        </a:solidFill>
                      </a:endParaRPr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200" u="none" noProof="0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650,000</a:t>
                      </a:r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200" dirty="0"/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9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200" u="none" noProof="0" dirty="0"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Cash or Payables (BS)</a:t>
                      </a:r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2200" dirty="0"/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200" dirty="0"/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200" u="none" noProof="0" dirty="0"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650,000</a:t>
                      </a:r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078003"/>
              </p:ext>
            </p:extLst>
          </p:nvPr>
        </p:nvGraphicFramePr>
        <p:xfrm>
          <a:off x="1778496" y="4615516"/>
          <a:ext cx="8136905" cy="1088898"/>
        </p:xfrm>
        <a:graphic>
          <a:graphicData uri="http://schemas.openxmlformats.org/drawingml/2006/table">
            <a:tbl>
              <a:tblPr/>
              <a:tblGrid>
                <a:gridCol w="360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5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925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200" u="sng" noProof="0" dirty="0"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Accounting</a:t>
                      </a:r>
                      <a:r>
                        <a:rPr lang="en-GB" sz="2200" u="sng" baseline="0" noProof="0" dirty="0"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 entries for February for the inventories</a:t>
                      </a:r>
                      <a:endParaRPr lang="en-GB" sz="2200" u="sng" noProof="0" dirty="0">
                        <a:latin typeface="Calibri" panose="020F0502020204030204" pitchFamily="34" charset="0"/>
                        <a:ea typeface="Calibri"/>
                        <a:cs typeface="Times New Roman"/>
                      </a:endParaRPr>
                    </a:p>
                  </a:txBody>
                  <a:tcPr marL="44451" marR="4445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9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200" u="none" noProof="0" dirty="0"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Inventories (BS)</a:t>
                      </a:r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200" dirty="0"/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200" u="none" noProof="0" dirty="0"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270,000</a:t>
                      </a:r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200" dirty="0"/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9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200" u="none" noProof="0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Cost of production (P&amp;L)</a:t>
                      </a:r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200" dirty="0">
                        <a:solidFill>
                          <a:srgbClr val="00B050"/>
                        </a:solidFill>
                      </a:endParaRPr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200" dirty="0">
                        <a:solidFill>
                          <a:srgbClr val="00B050"/>
                        </a:solidFill>
                      </a:endParaRPr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200" u="none" noProof="0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270,000</a:t>
                      </a:r>
                    </a:p>
                  </a:txBody>
                  <a:tcPr marL="44451" marR="4445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3119D79-1331-B301-2521-813216D5CE31}"/>
              </a:ext>
            </a:extLst>
          </p:cNvPr>
          <p:cNvSpPr txBox="1"/>
          <p:nvPr/>
        </p:nvSpPr>
        <p:spPr>
          <a:xfrm>
            <a:off x="178904" y="5734880"/>
            <a:ext cx="11827566" cy="1107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200" b="1" dirty="0" err="1"/>
              <a:t>Cost</a:t>
            </a:r>
            <a:r>
              <a:rPr lang="fr-FR" sz="2200" b="1" dirty="0"/>
              <a:t> of </a:t>
            </a:r>
            <a:r>
              <a:rPr lang="fr-FR" sz="2200" b="1" dirty="0" err="1"/>
              <a:t>goods</a:t>
            </a:r>
            <a:r>
              <a:rPr lang="fr-FR" sz="2200" b="1" dirty="0"/>
              <a:t> </a:t>
            </a:r>
            <a:r>
              <a:rPr lang="fr-FR" sz="2200" b="1" dirty="0" err="1"/>
              <a:t>sold</a:t>
            </a:r>
            <a:r>
              <a:rPr lang="fr-FR" sz="2200" b="1" dirty="0"/>
              <a:t> (COGS) = 650,000 – 270,000 = 380,000 </a:t>
            </a:r>
          </a:p>
          <a:p>
            <a:r>
              <a:rPr lang="fr-FR" sz="2200" b="1" dirty="0"/>
              <a:t>= 13 x 20,000 (sales vol.) + (13 – 9) (or 8 – 4: unit </a:t>
            </a:r>
            <a:r>
              <a:rPr lang="fr-FR" sz="2200" b="1" dirty="0" err="1"/>
              <a:t>fixed</a:t>
            </a:r>
            <a:r>
              <a:rPr lang="fr-FR" sz="2200" b="1" dirty="0"/>
              <a:t> </a:t>
            </a:r>
            <a:r>
              <a:rPr lang="fr-FR" sz="2200" b="1" dirty="0" err="1"/>
              <a:t>cost</a:t>
            </a:r>
            <a:r>
              <a:rPr lang="fr-FR" sz="2200" b="1" dirty="0"/>
              <a:t>) x 30,000 (</a:t>
            </a:r>
            <a:r>
              <a:rPr lang="fr-FR" sz="2200" b="1" dirty="0" err="1"/>
              <a:t>excess</a:t>
            </a:r>
            <a:r>
              <a:rPr lang="fr-FR" sz="2200" b="1" dirty="0"/>
              <a:t> of valuation not </a:t>
            </a:r>
            <a:r>
              <a:rPr lang="fr-FR" sz="2200" b="1" dirty="0" err="1"/>
              <a:t>included</a:t>
            </a:r>
            <a:r>
              <a:rPr lang="fr-FR" sz="2200" b="1" dirty="0"/>
              <a:t> in </a:t>
            </a:r>
            <a:r>
              <a:rPr lang="fr-FR" sz="2200" b="1" dirty="0" err="1"/>
              <a:t>ending</a:t>
            </a:r>
            <a:r>
              <a:rPr lang="fr-FR" sz="2200" b="1" dirty="0"/>
              <a:t> </a:t>
            </a:r>
            <a:r>
              <a:rPr lang="fr-FR" sz="2200" b="1" dirty="0" err="1"/>
              <a:t>inventory</a:t>
            </a:r>
            <a:r>
              <a:rPr lang="fr-FR" sz="2200" b="1" dirty="0"/>
              <a:t>)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24806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800" dirty="0"/>
              <a:t>“Other costs”</a:t>
            </a:r>
          </a:p>
          <a:p>
            <a:pPr marL="0" indent="0" algn="just">
              <a:buNone/>
            </a:pPr>
            <a:r>
              <a:rPr lang="en-US" sz="2800" dirty="0"/>
              <a:t>Other costs are </a:t>
            </a:r>
            <a:r>
              <a:rPr lang="en-US" sz="2800" u="sng" dirty="0"/>
              <a:t>included</a:t>
            </a:r>
            <a:r>
              <a:rPr lang="en-US" sz="2800" dirty="0"/>
              <a:t> in the cost of inventories only to the extent that they are incurred </a:t>
            </a:r>
            <a:r>
              <a:rPr lang="en-US" sz="2800" u="sng" dirty="0"/>
              <a:t>in bringing the inventories to their present location and condition</a:t>
            </a:r>
            <a:r>
              <a:rPr lang="en-GB" sz="2800" dirty="0"/>
              <a:t>. </a:t>
            </a:r>
            <a:r>
              <a:rPr lang="en-US" sz="2800" dirty="0"/>
              <a:t>For example, it may be appropriate to include non-production overheads or the costs of designing products for specific customers in the cost of inventories”.</a:t>
            </a:r>
            <a:endParaRPr lang="en-GB" sz="2800" dirty="0"/>
          </a:p>
          <a:p>
            <a:pPr marL="0" indent="0">
              <a:buNone/>
            </a:pPr>
            <a:endParaRPr lang="en-GB" sz="2800" dirty="0"/>
          </a:p>
          <a:p>
            <a:pPr marL="988989" indent="-988989" algn="just">
              <a:buNone/>
            </a:pPr>
            <a:r>
              <a:rPr lang="en-GB" sz="2800" dirty="0"/>
              <a:t>	Ability to include non-production costs (even financial costs according to IAS 23)</a:t>
            </a:r>
          </a:p>
          <a:p>
            <a:pPr marL="0" indent="0">
              <a:buNone/>
            </a:pPr>
            <a:r>
              <a:rPr lang="en-GB" sz="2800" dirty="0"/>
              <a:t>	</a:t>
            </a: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74461" y="461721"/>
            <a:ext cx="11286176" cy="633687"/>
          </a:xfrm>
        </p:spPr>
        <p:txBody>
          <a:bodyPr>
            <a:normAutofit fontScale="90000"/>
          </a:bodyPr>
          <a:lstStyle/>
          <a:p>
            <a:r>
              <a:rPr lang="en-GB" dirty="0"/>
              <a:t>Measurement of inventories at their entry date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  <p:sp>
        <p:nvSpPr>
          <p:cNvPr id="4" name="Flèche droite 3"/>
          <p:cNvSpPr/>
          <p:nvPr/>
        </p:nvSpPr>
        <p:spPr>
          <a:xfrm>
            <a:off x="921363" y="4401818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5311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9350" y="1765960"/>
            <a:ext cx="11521279" cy="4159317"/>
          </a:xfrm>
        </p:spPr>
        <p:txBody>
          <a:bodyPr/>
          <a:lstStyle/>
          <a:p>
            <a:pPr marL="0" indent="0" algn="just">
              <a:buNone/>
            </a:pPr>
            <a:r>
              <a:rPr lang="en-GB" sz="2600" dirty="0"/>
              <a:t>“Examples of costs </a:t>
            </a:r>
            <a:r>
              <a:rPr lang="en-GB" sz="2600" u="sng" dirty="0"/>
              <a:t>excluded</a:t>
            </a:r>
            <a:r>
              <a:rPr lang="en-GB" sz="2600" dirty="0"/>
              <a:t> from the cost of inventories and recognised as expenses in the period in which they are incurred are:</a:t>
            </a:r>
          </a:p>
          <a:p>
            <a:pPr marL="0" indent="0" algn="just">
              <a:buNone/>
            </a:pPr>
            <a:r>
              <a:rPr lang="en-GB" sz="2600" dirty="0"/>
              <a:t>(a) </a:t>
            </a:r>
            <a:r>
              <a:rPr lang="en-US" sz="2600" u="sng" dirty="0"/>
              <a:t>abnormal amounts </a:t>
            </a:r>
            <a:r>
              <a:rPr lang="en-US" sz="2600" dirty="0"/>
              <a:t>of wasted materials, </a:t>
            </a:r>
            <a:r>
              <a:rPr lang="en-US" sz="2600" dirty="0" err="1"/>
              <a:t>labour</a:t>
            </a:r>
            <a:r>
              <a:rPr lang="en-US" sz="2600" dirty="0"/>
              <a:t> or other production costs</a:t>
            </a:r>
            <a:r>
              <a:rPr lang="en-GB" sz="2600" dirty="0"/>
              <a:t> ;</a:t>
            </a:r>
          </a:p>
          <a:p>
            <a:pPr marL="0" indent="0" algn="just">
              <a:buNone/>
            </a:pPr>
            <a:r>
              <a:rPr lang="en-GB" sz="2600" dirty="0"/>
              <a:t>(b) </a:t>
            </a:r>
            <a:r>
              <a:rPr lang="en-US" sz="2600" u="sng" dirty="0"/>
              <a:t>storage costs</a:t>
            </a:r>
            <a:r>
              <a:rPr lang="en-US" sz="2600" dirty="0"/>
              <a:t>, unless those costs are necessary in the production process before a further production stage</a:t>
            </a:r>
            <a:r>
              <a:rPr lang="en-GB" sz="2600" dirty="0"/>
              <a:t>;</a:t>
            </a:r>
          </a:p>
          <a:p>
            <a:pPr marL="0" indent="0" algn="just">
              <a:buNone/>
            </a:pPr>
            <a:r>
              <a:rPr lang="en-GB" sz="2600" dirty="0"/>
              <a:t>(c) </a:t>
            </a:r>
            <a:r>
              <a:rPr lang="en-US" sz="2600" u="sng" dirty="0"/>
              <a:t>administrative overheads</a:t>
            </a:r>
            <a:r>
              <a:rPr lang="en-US" sz="2600" dirty="0"/>
              <a:t> that do not contribute to bringing inventories to their present location and condition; and </a:t>
            </a:r>
          </a:p>
          <a:p>
            <a:pPr marL="0" indent="0">
              <a:buNone/>
            </a:pPr>
            <a:r>
              <a:rPr lang="en-GB" sz="2600" dirty="0"/>
              <a:t>(d) </a:t>
            </a:r>
            <a:r>
              <a:rPr lang="en-GB" sz="2600" u="sng" dirty="0"/>
              <a:t>Selling costs</a:t>
            </a:r>
            <a:r>
              <a:rPr lang="en-GB" sz="2600" dirty="0"/>
              <a:t>.”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474461" y="451782"/>
            <a:ext cx="11286176" cy="633687"/>
          </a:xfrm>
        </p:spPr>
        <p:txBody>
          <a:bodyPr>
            <a:normAutofit fontScale="90000"/>
          </a:bodyPr>
          <a:lstStyle/>
          <a:p>
            <a:r>
              <a:rPr lang="en-GB" dirty="0"/>
              <a:t>Measurement of inventories at their entry date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8044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382" y="451288"/>
            <a:ext cx="11713301" cy="673456"/>
          </a:xfrm>
        </p:spPr>
        <p:txBody>
          <a:bodyPr/>
          <a:lstStyle/>
          <a:p>
            <a:r>
              <a:rPr lang="en-US" sz="3733" dirty="0"/>
              <a:t>From purchases to the cost of sales in P&amp;L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16</a:t>
            </a:fld>
            <a:endParaRPr lang="fr-FR" dirty="0"/>
          </a:p>
        </p:txBody>
      </p:sp>
      <p:sp>
        <p:nvSpPr>
          <p:cNvPr id="7" name="TextBox 6"/>
          <p:cNvSpPr txBox="1"/>
          <p:nvPr/>
        </p:nvSpPr>
        <p:spPr>
          <a:xfrm>
            <a:off x="1559496" y="6444045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Op. inv.: opening inventory, End. Inv.: ending inventory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A363A6-23CE-40C0-9DD5-4546502273C1}"/>
              </a:ext>
            </a:extLst>
          </p:cNvPr>
          <p:cNvGrpSpPr/>
          <p:nvPr/>
        </p:nvGrpSpPr>
        <p:grpSpPr>
          <a:xfrm>
            <a:off x="3431704" y="1772816"/>
            <a:ext cx="1584176" cy="1676844"/>
            <a:chOff x="2573778" y="1329612"/>
            <a:chExt cx="1188132" cy="1257633"/>
          </a:xfrm>
        </p:grpSpPr>
        <p:sp>
          <p:nvSpPr>
            <p:cNvPr id="5" name="TextBox 4"/>
            <p:cNvSpPr txBox="1"/>
            <p:nvPr/>
          </p:nvSpPr>
          <p:spPr>
            <a:xfrm>
              <a:off x="2573778" y="1329612"/>
              <a:ext cx="594066" cy="715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2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573778" y="2056331"/>
              <a:ext cx="594066" cy="53091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Op.</a:t>
              </a:r>
            </a:p>
            <a:p>
              <a:r>
                <a:rPr lang="en-US" sz="2000" dirty="0"/>
                <a:t>Inv.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67844" y="1329612"/>
              <a:ext cx="594066" cy="7386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End.</a:t>
              </a:r>
            </a:p>
            <a:p>
              <a:r>
                <a:rPr lang="en-US" sz="2000" dirty="0"/>
                <a:t>Inv.</a:t>
              </a:r>
            </a:p>
            <a:p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67844" y="2022109"/>
              <a:ext cx="594066" cy="56159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endParaRPr lang="en-US" sz="2133" dirty="0"/>
            </a:p>
            <a:p>
              <a:endParaRPr lang="en-US" sz="2133" dirty="0"/>
            </a:p>
          </p:txBody>
        </p:sp>
      </p:grpSp>
      <p:sp>
        <p:nvSpPr>
          <p:cNvPr id="10" name="Right Arrow 9"/>
          <p:cNvSpPr/>
          <p:nvPr/>
        </p:nvSpPr>
        <p:spPr>
          <a:xfrm>
            <a:off x="1847528" y="2060848"/>
            <a:ext cx="1944216" cy="43204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1268760"/>
            <a:ext cx="35037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Components purchases including all expenses needed to have components available in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9669" y="1028734"/>
            <a:ext cx="2108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Components inventory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A400C2-E803-437D-8C07-5B7A3DEA9ABE}"/>
              </a:ext>
            </a:extLst>
          </p:cNvPr>
          <p:cNvGrpSpPr/>
          <p:nvPr/>
        </p:nvGrpSpPr>
        <p:grpSpPr>
          <a:xfrm>
            <a:off x="3476819" y="4366847"/>
            <a:ext cx="1584176" cy="1884548"/>
            <a:chOff x="2607614" y="3275134"/>
            <a:chExt cx="1188132" cy="1413411"/>
          </a:xfrm>
        </p:grpSpPr>
        <p:sp>
          <p:nvSpPr>
            <p:cNvPr id="13" name="TextBox 12"/>
            <p:cNvSpPr txBox="1"/>
            <p:nvPr/>
          </p:nvSpPr>
          <p:spPr>
            <a:xfrm>
              <a:off x="2607614" y="3275134"/>
              <a:ext cx="594066" cy="6924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07614" y="3996734"/>
              <a:ext cx="594066" cy="66941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Op.</a:t>
              </a:r>
            </a:p>
            <a:p>
              <a:r>
                <a:rPr lang="en-US" sz="2000" dirty="0"/>
                <a:t>Inv.</a:t>
              </a:r>
            </a:p>
            <a:p>
              <a:endParaRPr lang="en-US" sz="12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1680" y="3275134"/>
              <a:ext cx="594066" cy="53091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End.</a:t>
              </a:r>
            </a:p>
            <a:p>
              <a:r>
                <a:rPr lang="en-US" sz="2000" dirty="0"/>
                <a:t>Inv.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1680" y="3788298"/>
              <a:ext cx="594066" cy="900247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</p:grpSp>
      <p:sp>
        <p:nvSpPr>
          <p:cNvPr id="17" name="Right Arrow 16"/>
          <p:cNvSpPr/>
          <p:nvPr/>
        </p:nvSpPr>
        <p:spPr>
          <a:xfrm>
            <a:off x="1892643" y="4654877"/>
            <a:ext cx="1944216" cy="43204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43339" y="4036807"/>
            <a:ext cx="31894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bikes purchases including all expenses needed to have bikes available in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3686" y="3525011"/>
            <a:ext cx="2064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bikes 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5880" y="3857175"/>
            <a:ext cx="2232248" cy="10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33" dirty="0"/>
              <a:t>Other manufacturing cost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53ABC9-54F3-4D9A-9B44-3FD5E72A366E}"/>
              </a:ext>
            </a:extLst>
          </p:cNvPr>
          <p:cNvGrpSpPr/>
          <p:nvPr/>
        </p:nvGrpSpPr>
        <p:grpSpPr>
          <a:xfrm>
            <a:off x="7543403" y="4221089"/>
            <a:ext cx="3446067" cy="2506680"/>
            <a:chOff x="5436096" y="3165816"/>
            <a:chExt cx="2584550" cy="1880010"/>
          </a:xfrm>
        </p:grpSpPr>
        <p:sp>
          <p:nvSpPr>
            <p:cNvPr id="26" name="TextBox 25"/>
            <p:cNvSpPr txBox="1"/>
            <p:nvPr/>
          </p:nvSpPr>
          <p:spPr>
            <a:xfrm>
              <a:off x="5436096" y="3177814"/>
              <a:ext cx="1288407" cy="16158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r>
                <a:rPr lang="en-US" sz="2000" dirty="0"/>
                <a:t>Cost of goods manufactured (COGM)</a:t>
              </a:r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36096" y="4479276"/>
              <a:ext cx="1296144" cy="53091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Opening</a:t>
              </a:r>
            </a:p>
            <a:p>
              <a:r>
                <a:rPr lang="en-US" sz="2000" dirty="0"/>
                <a:t>Inventory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732240" y="3165816"/>
              <a:ext cx="1288406" cy="96949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Ending</a:t>
              </a:r>
            </a:p>
            <a:p>
              <a:r>
                <a:rPr lang="en-US" sz="2000" dirty="0"/>
                <a:t>Inventory</a:t>
              </a:r>
            </a:p>
            <a:p>
              <a:endParaRPr lang="en-US" sz="2000" dirty="0"/>
            </a:p>
            <a:p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32239" y="4076330"/>
              <a:ext cx="1288407" cy="96949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r>
                <a:rPr lang="en-US" sz="2000" dirty="0"/>
                <a:t>Cost of goods sold (COGS)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603634" y="3700966"/>
            <a:ext cx="3468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Ebikes</a:t>
            </a:r>
            <a:r>
              <a:rPr lang="en-US" sz="2400" dirty="0"/>
              <a:t> (FG) inventory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0626" y="1061731"/>
            <a:ext cx="4518218" cy="304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P&amp;L (with operating expense by function)</a:t>
            </a:r>
          </a:p>
          <a:p>
            <a:r>
              <a:rPr lang="en-US" sz="2400" dirty="0"/>
              <a:t>Sales revenue</a:t>
            </a:r>
          </a:p>
          <a:p>
            <a:r>
              <a:rPr lang="en-US" sz="2400" dirty="0"/>
              <a:t>Cost of sales </a:t>
            </a:r>
            <a:r>
              <a:rPr lang="en-US" sz="2400" b="1" dirty="0"/>
              <a:t>(including all storage cost of </a:t>
            </a:r>
            <a:r>
              <a:rPr lang="en-US" sz="2400" b="1" dirty="0" err="1"/>
              <a:t>ebikes</a:t>
            </a:r>
            <a:r>
              <a:rPr lang="en-US" sz="2400" b="1" dirty="0"/>
              <a:t>)</a:t>
            </a:r>
          </a:p>
          <a:p>
            <a:r>
              <a:rPr lang="en-US" sz="2400" dirty="0"/>
              <a:t>Gross profit</a:t>
            </a:r>
          </a:p>
          <a:p>
            <a:r>
              <a:rPr lang="en-US" sz="2400" dirty="0"/>
              <a:t>S,G&amp;A expenses = period cost</a:t>
            </a:r>
          </a:p>
          <a:p>
            <a:r>
              <a:rPr lang="en-US" sz="2400" dirty="0"/>
              <a:t>Operating profit</a:t>
            </a:r>
            <a:endParaRPr lang="en-US" dirty="0"/>
          </a:p>
        </p:txBody>
      </p:sp>
      <p:sp>
        <p:nvSpPr>
          <p:cNvPr id="33" name="Curved Up Arrow 32"/>
          <p:cNvSpPr/>
          <p:nvPr/>
        </p:nvSpPr>
        <p:spPr>
          <a:xfrm rot="15632470">
            <a:off x="8343352" y="3428790"/>
            <a:ext cx="3892745" cy="692477"/>
          </a:xfrm>
          <a:prstGeom prst="curvedUpArrow">
            <a:avLst>
              <a:gd name="adj1" fmla="val 0"/>
              <a:gd name="adj2" fmla="val 50000"/>
              <a:gd name="adj3" fmla="val 25000"/>
            </a:avLst>
          </a:prstGeom>
          <a:ln w="476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ight Arrow 33"/>
          <p:cNvSpPr/>
          <p:nvPr/>
        </p:nvSpPr>
        <p:spPr>
          <a:xfrm>
            <a:off x="5445869" y="4808186"/>
            <a:ext cx="1988103" cy="42101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B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4619837" y="5468887"/>
            <a:ext cx="2814135" cy="469360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/>
          <p:nvPr/>
        </p:nvSpPr>
        <p:spPr>
          <a:xfrm rot="1903914">
            <a:off x="4645093" y="3450515"/>
            <a:ext cx="3102811" cy="432048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22"/>
          <p:cNvSpPr txBox="1"/>
          <p:nvPr/>
        </p:nvSpPr>
        <p:spPr>
          <a:xfrm>
            <a:off x="5284261" y="4934201"/>
            <a:ext cx="1893320" cy="1733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33" dirty="0"/>
              <a:t>bikes used for production (</a:t>
            </a:r>
            <a:r>
              <a:rPr lang="en-US" sz="2133" b="1" dirty="0"/>
              <a:t>including all storage cost of bikes</a:t>
            </a:r>
            <a:r>
              <a:rPr lang="en-US" sz="2133" dirty="0"/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390779-A244-4EA2-A3D2-740247BA217E}"/>
              </a:ext>
            </a:extLst>
          </p:cNvPr>
          <p:cNvSpPr txBox="1"/>
          <p:nvPr/>
        </p:nvSpPr>
        <p:spPr>
          <a:xfrm>
            <a:off x="5112838" y="1421687"/>
            <a:ext cx="2358708" cy="2061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33" dirty="0"/>
              <a:t>Components used for production (</a:t>
            </a:r>
            <a:r>
              <a:rPr lang="en-US" sz="2133" b="1" dirty="0"/>
              <a:t>including all storage cost of components</a:t>
            </a:r>
            <a:r>
              <a:rPr lang="en-US" sz="2133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821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0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BFCC6-D0C6-F935-933C-8069DA611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3BD59-5819-5B50-3A13-14664C91C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Inventory cost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i="1" dirty="0"/>
              <a:t>least </a:t>
            </a:r>
            <a:r>
              <a:rPr lang="fr-FR" i="1" dirty="0" err="1"/>
              <a:t>likely</a:t>
            </a:r>
            <a:r>
              <a:rPr lang="fr-FR" i="1" dirty="0"/>
              <a:t> </a:t>
            </a:r>
            <a:r>
              <a:rPr lang="fr-FR" dirty="0"/>
              <a:t>to </a:t>
            </a:r>
            <a:r>
              <a:rPr lang="fr-FR" dirty="0" err="1"/>
              <a:t>include</a:t>
            </a:r>
            <a:r>
              <a:rPr lang="fr-FR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0" dirty="0"/>
              <a:t>production-</a:t>
            </a:r>
            <a:r>
              <a:rPr lang="fr-FR" b="0" dirty="0" err="1"/>
              <a:t>related</a:t>
            </a:r>
            <a:r>
              <a:rPr lang="fr-FR" b="0" dirty="0"/>
              <a:t> </a:t>
            </a:r>
            <a:r>
              <a:rPr lang="fr-FR" b="0" dirty="0" err="1"/>
              <a:t>storage</a:t>
            </a:r>
            <a:r>
              <a:rPr lang="fr-FR" b="0" dirty="0"/>
              <a:t> </a:t>
            </a:r>
            <a:r>
              <a:rPr lang="fr-FR" b="0" dirty="0" err="1"/>
              <a:t>costs</a:t>
            </a:r>
            <a:r>
              <a:rPr lang="fr-FR" b="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0" dirty="0" err="1"/>
              <a:t>costs</a:t>
            </a:r>
            <a:r>
              <a:rPr lang="fr-FR" b="0" dirty="0"/>
              <a:t> </a:t>
            </a:r>
            <a:r>
              <a:rPr lang="fr-FR" b="0" dirty="0" err="1"/>
              <a:t>incurred</a:t>
            </a:r>
            <a:r>
              <a:rPr lang="fr-FR" b="0" dirty="0"/>
              <a:t> as a </a:t>
            </a:r>
            <a:r>
              <a:rPr lang="fr-FR" b="0" dirty="0" err="1"/>
              <a:t>result</a:t>
            </a:r>
            <a:r>
              <a:rPr lang="fr-FR" b="0" dirty="0"/>
              <a:t> of normal </a:t>
            </a:r>
            <a:r>
              <a:rPr lang="fr-FR" b="0" dirty="0" err="1"/>
              <a:t>waste</a:t>
            </a:r>
            <a:r>
              <a:rPr lang="fr-FR" b="0" dirty="0"/>
              <a:t> of </a:t>
            </a:r>
            <a:r>
              <a:rPr lang="fr-FR" b="0" dirty="0" err="1"/>
              <a:t>materials</a:t>
            </a:r>
            <a:r>
              <a:rPr lang="fr-FR" b="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0" dirty="0"/>
              <a:t>transportation </a:t>
            </a:r>
            <a:r>
              <a:rPr lang="fr-FR" b="0" dirty="0" err="1"/>
              <a:t>costs</a:t>
            </a:r>
            <a:r>
              <a:rPr lang="fr-FR" b="0" dirty="0"/>
              <a:t> of shipping </a:t>
            </a:r>
            <a:r>
              <a:rPr lang="fr-FR" b="0" dirty="0" err="1"/>
              <a:t>inventory</a:t>
            </a:r>
            <a:r>
              <a:rPr lang="fr-FR" b="0" dirty="0"/>
              <a:t> to </a:t>
            </a:r>
            <a:r>
              <a:rPr lang="fr-FR" b="0" dirty="0" err="1"/>
              <a:t>customers</a:t>
            </a:r>
            <a:r>
              <a:rPr lang="fr-FR" b="0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42E6D0-D719-AA55-8F97-159F53953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MCQ n°1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37C0E4E-96D5-F776-B1FF-DBD360FCF088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0F6E9-730B-CBDE-EA63-1D8FC1BA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6774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0DDAB-B898-A891-13F1-EAAE7BFB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B58B58-3CAE-FCCD-A390-9FFA8AC90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0" dirty="0" err="1"/>
              <a:t>Mustard</a:t>
            </a:r>
            <a:r>
              <a:rPr lang="fr-FR" b="0" dirty="0"/>
              <a:t> </a:t>
            </a:r>
            <a:r>
              <a:rPr lang="fr-FR" b="0" dirty="0" err="1"/>
              <a:t>Seed</a:t>
            </a:r>
            <a:r>
              <a:rPr lang="fr-FR" b="0" dirty="0"/>
              <a:t> PLC </a:t>
            </a:r>
            <a:r>
              <a:rPr lang="fr-FR" b="0" dirty="0" err="1"/>
              <a:t>adheres</a:t>
            </a:r>
            <a:r>
              <a:rPr lang="fr-FR" b="0" dirty="0"/>
              <a:t> to IFRS. It </a:t>
            </a:r>
            <a:r>
              <a:rPr lang="fr-FR" b="0" dirty="0" err="1"/>
              <a:t>recently</a:t>
            </a:r>
            <a:r>
              <a:rPr lang="fr-FR" b="0" dirty="0"/>
              <a:t> </a:t>
            </a:r>
            <a:r>
              <a:rPr lang="fr-FR" b="0" dirty="0" err="1"/>
              <a:t>purchased</a:t>
            </a:r>
            <a:r>
              <a:rPr lang="fr-FR" b="0" dirty="0"/>
              <a:t> </a:t>
            </a:r>
            <a:r>
              <a:rPr lang="fr-FR" b="0" dirty="0" err="1"/>
              <a:t>inventory</a:t>
            </a:r>
            <a:r>
              <a:rPr lang="fr-FR" b="0" dirty="0"/>
              <a:t> for €100 million and spent €5 million for </a:t>
            </a:r>
            <a:r>
              <a:rPr lang="fr-FR" b="0" dirty="0" err="1"/>
              <a:t>storage</a:t>
            </a:r>
            <a:r>
              <a:rPr lang="fr-FR" b="0" dirty="0"/>
              <a:t> </a:t>
            </a:r>
            <a:r>
              <a:rPr lang="fr-FR" b="0" dirty="0" err="1"/>
              <a:t>prior</a:t>
            </a:r>
            <a:r>
              <a:rPr lang="fr-FR" b="0" dirty="0"/>
              <a:t> to </a:t>
            </a:r>
            <a:r>
              <a:rPr lang="fr-FR" b="0" dirty="0" err="1"/>
              <a:t>selling</a:t>
            </a:r>
            <a:r>
              <a:rPr lang="fr-FR" b="0" dirty="0"/>
              <a:t> the goods. The </a:t>
            </a:r>
            <a:r>
              <a:rPr lang="fr-FR" b="0" dirty="0" err="1"/>
              <a:t>amount</a:t>
            </a:r>
            <a:r>
              <a:rPr lang="fr-FR" b="0" dirty="0"/>
              <a:t> </a:t>
            </a:r>
            <a:r>
              <a:rPr lang="fr-FR" b="0" dirty="0" err="1"/>
              <a:t>it</a:t>
            </a:r>
            <a:r>
              <a:rPr lang="fr-FR" b="0" dirty="0"/>
              <a:t> </a:t>
            </a:r>
            <a:r>
              <a:rPr lang="fr-FR" b="0" dirty="0" err="1"/>
              <a:t>charged</a:t>
            </a:r>
            <a:r>
              <a:rPr lang="fr-FR" b="0" dirty="0"/>
              <a:t> to </a:t>
            </a:r>
            <a:r>
              <a:rPr lang="fr-FR" b="0" dirty="0" err="1"/>
              <a:t>inventory</a:t>
            </a:r>
            <a:r>
              <a:rPr lang="fr-FR" b="0" dirty="0"/>
              <a:t> expense (€ millions) was </a:t>
            </a:r>
            <a:r>
              <a:rPr lang="fr-FR" b="0" dirty="0" err="1"/>
              <a:t>closest</a:t>
            </a:r>
            <a:r>
              <a:rPr lang="fr-FR" b="0" dirty="0"/>
              <a:t>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0" dirty="0"/>
              <a:t>€95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0" dirty="0"/>
              <a:t>€100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0" dirty="0"/>
              <a:t>€105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AA0A5C-F6DF-22E3-4D9C-75830F87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MCQ n°2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041CA79-1852-3423-C2D8-D4D3A51392C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AF702-0AA3-23ED-7B08-BF492117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3866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959557-5B77-5EE1-2595-96DEBC22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0" dirty="0" err="1"/>
              <a:t>Period</a:t>
            </a:r>
            <a:r>
              <a:rPr lang="fr-FR" b="0" dirty="0"/>
              <a:t> </a:t>
            </a:r>
            <a:r>
              <a:rPr lang="fr-FR" b="0" dirty="0" err="1"/>
              <a:t>cost</a:t>
            </a:r>
            <a:r>
              <a:rPr lang="fr-FR" b="0" dirty="0"/>
              <a:t> = </a:t>
            </a:r>
            <a:r>
              <a:rPr lang="fr-FR" b="0" dirty="0" err="1"/>
              <a:t>included</a:t>
            </a:r>
            <a:r>
              <a:rPr lang="fr-FR" b="0" dirty="0"/>
              <a:t> in </a:t>
            </a:r>
            <a:r>
              <a:rPr lang="fr-FR" b="0" dirty="0" err="1"/>
              <a:t>income</a:t>
            </a:r>
            <a:r>
              <a:rPr lang="fr-FR" b="0" dirty="0"/>
              <a:t> </a:t>
            </a:r>
            <a:r>
              <a:rPr lang="fr-FR" b="0" dirty="0" err="1"/>
              <a:t>statement</a:t>
            </a:r>
            <a:r>
              <a:rPr lang="fr-FR" b="0" dirty="0"/>
              <a:t> (</a:t>
            </a:r>
            <a:r>
              <a:rPr lang="fr-FR" b="0" dirty="0" err="1"/>
              <a:t>example</a:t>
            </a:r>
            <a:r>
              <a:rPr lang="fr-FR" b="0" dirty="0"/>
              <a:t>: commercial </a:t>
            </a:r>
            <a:r>
              <a:rPr lang="fr-FR" b="0" dirty="0" err="1"/>
              <a:t>expense</a:t>
            </a:r>
            <a:r>
              <a:rPr lang="fr-FR" b="0" dirty="0"/>
              <a:t> and administrative </a:t>
            </a:r>
            <a:r>
              <a:rPr lang="fr-FR" b="0" dirty="0" err="1"/>
              <a:t>expense</a:t>
            </a:r>
            <a:r>
              <a:rPr lang="fr-FR" b="0" dirty="0"/>
              <a:t>)</a:t>
            </a:r>
          </a:p>
          <a:p>
            <a:r>
              <a:rPr lang="fr-FR" b="0" dirty="0"/>
              <a:t>Product </a:t>
            </a:r>
            <a:r>
              <a:rPr lang="fr-FR" b="0" dirty="0" err="1"/>
              <a:t>cost</a:t>
            </a:r>
            <a:r>
              <a:rPr lang="fr-FR" b="0" dirty="0"/>
              <a:t>: </a:t>
            </a:r>
            <a:r>
              <a:rPr lang="fr-FR" b="0" dirty="0" err="1"/>
              <a:t>it</a:t>
            </a:r>
            <a:r>
              <a:rPr lang="fr-FR" b="0" dirty="0"/>
              <a:t> </a:t>
            </a:r>
            <a:r>
              <a:rPr lang="fr-FR" b="0" dirty="0" err="1"/>
              <a:t>depends</a:t>
            </a:r>
            <a:r>
              <a:rPr lang="fr-FR" b="0" dirty="0"/>
              <a:t> how </a:t>
            </a:r>
            <a:r>
              <a:rPr lang="fr-FR" b="0" dirty="0" err="1"/>
              <a:t>is</a:t>
            </a:r>
            <a:r>
              <a:rPr lang="fr-FR" b="0" dirty="0"/>
              <a:t> </a:t>
            </a:r>
            <a:r>
              <a:rPr lang="fr-FR" b="0" dirty="0" err="1"/>
              <a:t>used</a:t>
            </a:r>
            <a:r>
              <a:rPr lang="fr-FR" b="0" dirty="0"/>
              <a:t> the </a:t>
            </a:r>
            <a:r>
              <a:rPr lang="fr-FR" b="0" dirty="0" err="1"/>
              <a:t>product</a:t>
            </a:r>
            <a:r>
              <a:rPr lang="fr-FR" b="0" dirty="0"/>
              <a:t> (</a:t>
            </a:r>
            <a:r>
              <a:rPr lang="fr-FR" b="0" dirty="0" err="1"/>
              <a:t>product</a:t>
            </a:r>
            <a:r>
              <a:rPr lang="fr-FR" b="0" dirty="0"/>
              <a:t> </a:t>
            </a:r>
            <a:r>
              <a:rPr lang="fr-FR" b="0" dirty="0" err="1"/>
              <a:t>sold</a:t>
            </a:r>
            <a:r>
              <a:rPr lang="fr-FR" b="0" dirty="0"/>
              <a:t>: </a:t>
            </a:r>
            <a:r>
              <a:rPr lang="fr-FR" b="0" dirty="0" err="1"/>
              <a:t>product</a:t>
            </a:r>
            <a:r>
              <a:rPr lang="fr-FR" b="0" dirty="0"/>
              <a:t> </a:t>
            </a:r>
            <a:r>
              <a:rPr lang="fr-FR" b="0" dirty="0" err="1"/>
              <a:t>cost</a:t>
            </a:r>
            <a:r>
              <a:rPr lang="fr-FR" b="0" dirty="0"/>
              <a:t> in </a:t>
            </a:r>
            <a:r>
              <a:rPr lang="fr-FR" b="0" dirty="0" err="1"/>
              <a:t>income</a:t>
            </a:r>
            <a:r>
              <a:rPr lang="fr-FR" b="0" dirty="0"/>
              <a:t> </a:t>
            </a:r>
            <a:r>
              <a:rPr lang="fr-FR" b="0" dirty="0" err="1"/>
              <a:t>statement</a:t>
            </a:r>
            <a:r>
              <a:rPr lang="fr-FR" b="0" dirty="0"/>
              <a:t>, </a:t>
            </a:r>
            <a:r>
              <a:rPr lang="fr-FR" b="0" dirty="0" err="1"/>
              <a:t>product</a:t>
            </a:r>
            <a:r>
              <a:rPr lang="fr-FR" b="0" dirty="0"/>
              <a:t> </a:t>
            </a:r>
            <a:r>
              <a:rPr lang="fr-FR" b="0" dirty="0" err="1"/>
              <a:t>kept</a:t>
            </a:r>
            <a:r>
              <a:rPr lang="fr-FR" b="0" dirty="0"/>
              <a:t>: </a:t>
            </a:r>
            <a:r>
              <a:rPr lang="fr-FR" b="0" dirty="0" err="1"/>
              <a:t>product</a:t>
            </a:r>
            <a:r>
              <a:rPr lang="fr-FR" b="0" dirty="0"/>
              <a:t> </a:t>
            </a:r>
            <a:r>
              <a:rPr lang="fr-FR" b="0" dirty="0" err="1"/>
              <a:t>cost</a:t>
            </a:r>
            <a:r>
              <a:rPr lang="fr-FR" b="0" dirty="0"/>
              <a:t> in </a:t>
            </a:r>
            <a:r>
              <a:rPr lang="fr-FR" b="0" dirty="0" err="1"/>
              <a:t>inventory</a:t>
            </a:r>
            <a:r>
              <a:rPr lang="fr-FR" b="0" dirty="0"/>
              <a:t>)</a:t>
            </a:r>
            <a:endParaRPr lang="en-US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3A8C3A-E5D7-162E-329D-320E59727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Period</a:t>
            </a:r>
            <a:r>
              <a:rPr lang="fr-FR" dirty="0"/>
              <a:t> versus </a:t>
            </a:r>
            <a:r>
              <a:rPr lang="fr-FR" dirty="0" err="1"/>
              <a:t>product</a:t>
            </a:r>
            <a:r>
              <a:rPr lang="fr-FR" dirty="0"/>
              <a:t> </a:t>
            </a:r>
            <a:r>
              <a:rPr lang="fr-FR" dirty="0" err="1"/>
              <a:t>cost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20D7C44-EF11-3DC3-E83A-9FDF760DA5D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0D8016-2337-9585-94A3-3BB9E4B5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6326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961E1C-5556-4CA4-9EAE-E5D2A0B39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147" y="425816"/>
            <a:ext cx="10792429" cy="367525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9A90DCF-1080-42DB-AEBE-E7E0F75F2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09" y="-19702"/>
            <a:ext cx="11286176" cy="633687"/>
          </a:xfrm>
        </p:spPr>
        <p:txBody>
          <a:bodyPr/>
          <a:lstStyle/>
          <a:p>
            <a:r>
              <a:rPr lang="en-US" dirty="0"/>
              <a:t>Measurement of inventories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A124A-7B34-45B0-81F8-0F00567E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20</a:t>
            </a:fld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390E57-A415-458C-960F-3646555E0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47" y="3933629"/>
            <a:ext cx="10792429" cy="278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70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A90DCF-1080-42DB-AEBE-E7E0F75F2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09" y="-19702"/>
            <a:ext cx="11286176" cy="633687"/>
          </a:xfrm>
        </p:spPr>
        <p:txBody>
          <a:bodyPr/>
          <a:lstStyle/>
          <a:p>
            <a:r>
              <a:rPr lang="en-US" dirty="0"/>
              <a:t>Measurement of inventories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A124A-7B34-45B0-81F8-0F00567E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21</a:t>
            </a:fld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82107-19C4-4F05-80F3-1AAB33CB8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3" y="740701"/>
            <a:ext cx="8618975" cy="606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90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Opening merchandise inventory:</a:t>
            </a:r>
          </a:p>
          <a:p>
            <a:pPr marL="0" indent="0">
              <a:buNone/>
            </a:pPr>
            <a:r>
              <a:rPr lang="en-US" sz="2800" dirty="0"/>
              <a:t>	30,000 units with a unit purchase cost of $5</a:t>
            </a:r>
          </a:p>
          <a:p>
            <a:r>
              <a:rPr lang="en-US" sz="2800" dirty="0"/>
              <a:t>Purchases during the period:</a:t>
            </a:r>
          </a:p>
          <a:p>
            <a:pPr marL="0" indent="0">
              <a:buNone/>
            </a:pPr>
            <a:r>
              <a:rPr lang="en-US" sz="2800" dirty="0"/>
              <a:t>	20,000 units with a unit purchase cost of $8</a:t>
            </a:r>
          </a:p>
          <a:p>
            <a:r>
              <a:rPr lang="en-US" sz="2800" dirty="0"/>
              <a:t>Quantity checked in ending inventory:</a:t>
            </a:r>
          </a:p>
          <a:p>
            <a:pPr marL="0" indent="0">
              <a:buNone/>
            </a:pPr>
            <a:r>
              <a:rPr lang="en-US" sz="2800" dirty="0"/>
              <a:t>	10,000 units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461" y="412026"/>
            <a:ext cx="11286176" cy="1014410"/>
          </a:xfrm>
        </p:spPr>
        <p:txBody>
          <a:bodyPr>
            <a:noAutofit/>
          </a:bodyPr>
          <a:lstStyle/>
          <a:p>
            <a:r>
              <a:rPr lang="en-US" sz="2300" dirty="0"/>
              <a:t>Measurement of inventories </a:t>
            </a:r>
            <a:r>
              <a:rPr lang="en-US" sz="2300" u="sng" dirty="0"/>
              <a:t>after</a:t>
            </a:r>
            <a:r>
              <a:rPr lang="en-US" sz="2300" dirty="0"/>
              <a:t> recognition </a:t>
            </a:r>
            <a:br>
              <a:rPr lang="en-US" sz="2300" dirty="0"/>
            </a:br>
            <a:r>
              <a:rPr lang="en-US" sz="2300" dirty="0"/>
              <a:t>FIFO, LIFO and average cost methods applied to merchandise (goods not produced by the firm ≠ finished goods)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22</a:t>
            </a:fld>
            <a:endParaRPr lang="fr-FR"/>
          </a:p>
        </p:txBody>
      </p:sp>
      <p:sp>
        <p:nvSpPr>
          <p:cNvPr id="5" name="TextBox 4"/>
          <p:cNvSpPr txBox="1"/>
          <p:nvPr/>
        </p:nvSpPr>
        <p:spPr>
          <a:xfrm>
            <a:off x="474461" y="4941169"/>
            <a:ext cx="11094147" cy="9131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667" dirty="0"/>
              <a:t>What is the cost of goods sold (COGS) and the ending inventory value with the three methods (FIFO, LIFO, (weighted) average (unit) cost)?</a:t>
            </a:r>
          </a:p>
        </p:txBody>
      </p:sp>
    </p:spTree>
    <p:extLst>
      <p:ext uri="{BB962C8B-B14F-4D97-AF65-F5344CB8AC3E}">
        <p14:creationId xmlns:p14="http://schemas.microsoft.com/office/powerpoint/2010/main" val="1254242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74461" y="441843"/>
            <a:ext cx="11717539" cy="1340863"/>
          </a:xfrm>
        </p:spPr>
        <p:txBody>
          <a:bodyPr/>
          <a:lstStyle/>
          <a:p>
            <a:r>
              <a:rPr lang="en-US" sz="2667" dirty="0"/>
              <a:t>Measurement of inventories after recognition </a:t>
            </a:r>
            <a:br>
              <a:rPr lang="en-US" sz="2667" dirty="0"/>
            </a:br>
            <a:r>
              <a:rPr lang="en-US" sz="2667" dirty="0"/>
              <a:t>FIFO, LIFO and average cost methods applied to merchandise (goods not produced by the firm ≠ finished goods)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23</a:t>
            </a:fld>
            <a:endParaRPr lang="fr-F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75520" y="1988840"/>
          <a:ext cx="6336704" cy="2617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24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Merchandise inventory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Quantity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Unit cost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Opening inventory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Purchases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COGS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40,000</a:t>
                      </a:r>
                      <a:endParaRPr lang="en-US" sz="2800" b="0" i="0" u="none" strike="noStrike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Ending inventory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909147" y="3717032"/>
            <a:ext cx="1656184" cy="432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 rot="18697012">
            <a:off x="4121711" y="4422063"/>
            <a:ext cx="1141659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919536" y="5050616"/>
            <a:ext cx="814724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By deduction:</a:t>
            </a:r>
          </a:p>
          <a:p>
            <a:r>
              <a:rPr lang="en-US" sz="2400" dirty="0"/>
              <a:t>30,000 + 20,000 = 50,000 (available inventory in volume)</a:t>
            </a:r>
          </a:p>
          <a:p>
            <a:r>
              <a:rPr lang="en-US" sz="2400" dirty="0"/>
              <a:t>50,000 – 10,000 = Outflow (merchandise sold volume)</a:t>
            </a:r>
          </a:p>
        </p:txBody>
      </p:sp>
      <p:sp>
        <p:nvSpPr>
          <p:cNvPr id="10" name="Right Brace 9"/>
          <p:cNvSpPr/>
          <p:nvPr/>
        </p:nvSpPr>
        <p:spPr>
          <a:xfrm>
            <a:off x="8256240" y="3717033"/>
            <a:ext cx="360040" cy="885051"/>
          </a:xfrm>
          <a:prstGeom prst="rightBrace">
            <a:avLst>
              <a:gd name="adj1" fmla="val 43696"/>
              <a:gd name="adj2" fmla="val 50000"/>
            </a:avLst>
          </a:prstGeom>
          <a:ln w="317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688290" y="3573017"/>
            <a:ext cx="1979711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Depends on the chosen method</a:t>
            </a:r>
          </a:p>
        </p:txBody>
      </p:sp>
      <p:sp>
        <p:nvSpPr>
          <p:cNvPr id="12" name="Right Brace 11"/>
          <p:cNvSpPr/>
          <p:nvPr/>
        </p:nvSpPr>
        <p:spPr>
          <a:xfrm>
            <a:off x="8256240" y="2852937"/>
            <a:ext cx="360040" cy="885051"/>
          </a:xfrm>
          <a:prstGeom prst="rightBrace">
            <a:avLst>
              <a:gd name="adj1" fmla="val 43696"/>
              <a:gd name="adj2" fmla="val 50000"/>
            </a:avLst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688290" y="2228671"/>
            <a:ext cx="1872207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Available Inventory =</a:t>
            </a:r>
          </a:p>
          <a:p>
            <a:pPr algn="ctr"/>
            <a:endParaRPr lang="en-US" sz="2400" dirty="0"/>
          </a:p>
        </p:txBody>
      </p:sp>
      <p:sp>
        <p:nvSpPr>
          <p:cNvPr id="3" name="ZoneTexte 2"/>
          <p:cNvSpPr txBox="1"/>
          <p:nvPr/>
        </p:nvSpPr>
        <p:spPr>
          <a:xfrm>
            <a:off x="5125171" y="2781970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30,000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5087888" y="3265821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20,000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5125467" y="4113093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10,000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993605" y="2800408"/>
            <a:ext cx="817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$5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6993604" y="3244713"/>
            <a:ext cx="817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$8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7090699" y="3695719"/>
            <a:ext cx="817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8787985" y="2911162"/>
            <a:ext cx="1844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$310,000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7078445" y="4129916"/>
            <a:ext cx="817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3510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2" grpId="0" animBg="1"/>
      <p:bldP spid="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474461" y="431904"/>
            <a:ext cx="11286176" cy="633687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Measurement of inventories after recognition </a:t>
            </a:r>
            <a:br>
              <a:rPr lang="en-US" sz="2400" dirty="0"/>
            </a:br>
            <a:r>
              <a:rPr lang="en-US" sz="2400" dirty="0"/>
              <a:t>FIFO, LIFO and average cost methods applied to merchandise (goods not produced by the firm ≠ finished goods)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24</a:t>
            </a:fld>
            <a:endParaRPr lang="fr-FR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23392" y="1508787"/>
          <a:ext cx="8538677" cy="2733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4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0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99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Methods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COGS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Ending inventory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34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FIFO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34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LIFO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04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Weighted Average cost (WAC)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own Arrow 2"/>
          <p:cNvSpPr/>
          <p:nvPr/>
        </p:nvSpPr>
        <p:spPr>
          <a:xfrm>
            <a:off x="5554465" y="4005064"/>
            <a:ext cx="360040" cy="504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860093" y="4600966"/>
            <a:ext cx="1728192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Income statement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688997" y="4005064"/>
            <a:ext cx="360040" cy="504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783717" y="4600966"/>
            <a:ext cx="216024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Ending balance sheet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1478" y="5770500"/>
            <a:ext cx="10234559" cy="9131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667" dirty="0"/>
              <a:t>If you want to reduce your income tax the LIFO is preferable in a business with an increasing purchase cost or in inflationary times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5231905" y="2431219"/>
            <a:ext cx="1897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$230,000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5231905" y="2982993"/>
            <a:ext cx="1897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$260,000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5231905" y="3468101"/>
            <a:ext cx="1897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$248,000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7366437" y="2431220"/>
            <a:ext cx="1897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$80,000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7357319" y="2984470"/>
            <a:ext cx="1897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$50,000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7397186" y="3495396"/>
            <a:ext cx="1897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$62,000</a:t>
            </a:r>
          </a:p>
        </p:txBody>
      </p:sp>
    </p:spTree>
    <p:extLst>
      <p:ext uri="{BB962C8B-B14F-4D97-AF65-F5344CB8AC3E}">
        <p14:creationId xmlns:p14="http://schemas.microsoft.com/office/powerpoint/2010/main" val="24305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" grpId="0"/>
      <p:bldP spid="16" grpId="0"/>
      <p:bldP spid="17" grpId="0"/>
      <p:bldP spid="18" grpId="0"/>
      <p:bldP spid="19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D2EB0EC-37CF-469E-A479-F790E924F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293" y="1765300"/>
            <a:ext cx="11247865" cy="415925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656B7F3-5E1C-4ADA-9DB3-E442BE88A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61" y="606392"/>
            <a:ext cx="11286176" cy="1094417"/>
          </a:xfrm>
        </p:spPr>
        <p:txBody>
          <a:bodyPr/>
          <a:lstStyle/>
          <a:p>
            <a:r>
              <a:rPr lang="en-US" dirty="0"/>
              <a:t>Summary table on inventory costing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928AA-B313-4EEF-A134-8EA2592F3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5723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82C1D0-E858-4ED4-A978-057B674F5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91" y="1508787"/>
            <a:ext cx="11285159" cy="4447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/>
              <a:t>During 2021, Accent Toys Plc., which began business in October of that year, purchased 10,000 units of a toy at a cost of £10 per unit in October. The toy sold well in October. In anticipation of heavy December sales, Accent purchased 5,000 additional units in November at a cost of £11 per unit. During 2021, Accent sold 12,000 units at a price of £15 per unit.</a:t>
            </a:r>
          </a:p>
          <a:p>
            <a:pPr marL="0" indent="0">
              <a:buNone/>
            </a:pPr>
            <a:r>
              <a:rPr lang="en-US" b="0" dirty="0"/>
              <a:t>Under the first in, first out (FIFO) method, what is Accent’s cost of goods sold for 2021?</a:t>
            </a:r>
          </a:p>
          <a:p>
            <a:pPr marL="0" indent="0">
              <a:buNone/>
            </a:pPr>
            <a:r>
              <a:rPr lang="en-US" b="0" dirty="0"/>
              <a:t>A	£120,000</a:t>
            </a:r>
          </a:p>
          <a:p>
            <a:pPr marL="0" indent="0">
              <a:buNone/>
            </a:pPr>
            <a:r>
              <a:rPr lang="en-US" b="0" dirty="0"/>
              <a:t>B	£122,000</a:t>
            </a:r>
          </a:p>
          <a:p>
            <a:pPr marL="0" indent="0">
              <a:buNone/>
            </a:pPr>
            <a:r>
              <a:rPr lang="en-US" b="0" dirty="0"/>
              <a:t>C	£124,000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1D7AD9-10C4-431F-BE2D-C0F67528C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78" y="470154"/>
            <a:ext cx="11286176" cy="633687"/>
          </a:xfrm>
        </p:spPr>
        <p:txBody>
          <a:bodyPr/>
          <a:lstStyle/>
          <a:p>
            <a:r>
              <a:rPr lang="en-US" dirty="0"/>
              <a:t>MCQ n°1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5D248-93FF-469C-9DC1-254E9430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1135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82C1D0-E858-4ED4-A978-057B674F5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91" y="1508787"/>
            <a:ext cx="11285159" cy="4447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/>
              <a:t>During 2021, Accent Toys Plc., which began business in October of that year, purchased 10,000 units of a toy at a cost of £10 per unit in October. The toy sold well in October. In anticipation of heavy December sales, Accent purchased 5,000 additional units in November at a cost of £11 per unit. During 2021, Accent sold 12,000 units at a price of £15 per unit.</a:t>
            </a:r>
          </a:p>
          <a:p>
            <a:pPr marL="0" indent="0">
              <a:buNone/>
            </a:pPr>
            <a:r>
              <a:rPr lang="en-US" b="0" dirty="0"/>
              <a:t>Under weighted average cost method, what is Accent’s cost of goods sold for 2021?</a:t>
            </a:r>
          </a:p>
          <a:p>
            <a:pPr marL="0" indent="0">
              <a:buNone/>
            </a:pPr>
            <a:r>
              <a:rPr lang="en-US" b="0" dirty="0"/>
              <a:t>A	£120,000</a:t>
            </a:r>
          </a:p>
          <a:p>
            <a:pPr marL="0" indent="0">
              <a:buNone/>
            </a:pPr>
            <a:r>
              <a:rPr lang="en-US" b="0" dirty="0"/>
              <a:t>B	£122,000</a:t>
            </a:r>
          </a:p>
          <a:p>
            <a:pPr marL="0" indent="0">
              <a:buNone/>
            </a:pPr>
            <a:r>
              <a:rPr lang="en-US" b="0" dirty="0"/>
              <a:t>C	£124,000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1D7AD9-10C4-431F-BE2D-C0F67528C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78" y="532607"/>
            <a:ext cx="11286176" cy="633687"/>
          </a:xfrm>
        </p:spPr>
        <p:txBody>
          <a:bodyPr/>
          <a:lstStyle/>
          <a:p>
            <a:r>
              <a:rPr lang="en-US" dirty="0"/>
              <a:t>MCQ n°2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5D248-93FF-469C-9DC1-254E9430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9219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E89A06-1485-4C81-8B27-83C10B9E7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3199" y="157099"/>
            <a:ext cx="7608803" cy="605621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FD3034A-B642-49D6-AE1F-AC5626E7A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62" y="441843"/>
            <a:ext cx="3413293" cy="3401017"/>
          </a:xfrm>
        </p:spPr>
        <p:txBody>
          <a:bodyPr/>
          <a:lstStyle/>
          <a:p>
            <a:r>
              <a:rPr lang="en-US" dirty="0"/>
              <a:t>Periodic versus permanent inventory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73C1D-3404-483D-B8B8-01B1E573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28</a:t>
            </a:fld>
            <a:endParaRPr lang="fr-FR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B8A8FD3-6053-DC94-6C32-FB170DF0A850}"/>
              </a:ext>
            </a:extLst>
          </p:cNvPr>
          <p:cNvSpPr/>
          <p:nvPr/>
        </p:nvSpPr>
        <p:spPr>
          <a:xfrm>
            <a:off x="4472610" y="3578087"/>
            <a:ext cx="7719390" cy="2757689"/>
          </a:xfrm>
          <a:prstGeom prst="roundRect">
            <a:avLst>
              <a:gd name="adj" fmla="val 10540"/>
            </a:avLst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CE759E-F66F-8BF2-A3D5-41419FAF662B}"/>
              </a:ext>
            </a:extLst>
          </p:cNvPr>
          <p:cNvCxnSpPr/>
          <p:nvPr/>
        </p:nvCxnSpPr>
        <p:spPr>
          <a:xfrm>
            <a:off x="11717538" y="1480930"/>
            <a:ext cx="388323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48F92A-F497-9095-1DEF-DE2D4F6AEF13}"/>
              </a:ext>
            </a:extLst>
          </p:cNvPr>
          <p:cNvCxnSpPr>
            <a:cxnSpLocks/>
          </p:cNvCxnSpPr>
          <p:nvPr/>
        </p:nvCxnSpPr>
        <p:spPr>
          <a:xfrm>
            <a:off x="4583199" y="1732722"/>
            <a:ext cx="7608801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1D409A-A1CE-35A8-C283-D2D408B2462F}"/>
              </a:ext>
            </a:extLst>
          </p:cNvPr>
          <p:cNvSpPr txBox="1"/>
          <p:nvPr/>
        </p:nvSpPr>
        <p:spPr>
          <a:xfrm>
            <a:off x="367748" y="3081130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highlight>
                  <a:srgbClr val="FFFF00"/>
                </a:highlight>
              </a:rPr>
              <a:t>Inflation</a:t>
            </a:r>
            <a:endParaRPr lang="en-U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31238C-13F9-D138-E94F-E80D9F253FCF}"/>
                  </a:ext>
                </a:extLst>
              </p:cNvPr>
              <p:cNvSpPr txBox="1"/>
              <p:nvPr/>
            </p:nvSpPr>
            <p:spPr>
              <a:xfrm>
                <a:off x="96757" y="3754558"/>
                <a:ext cx="4431148" cy="5690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𝐼𝑛𝑣𝑒𝑛𝑡𝑜𝑟𝑦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𝑡𝑢𝑟𝑛𝑜𝑣𝑒𝑟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𝐶𝑂𝐺𝑆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𝐴𝑣𝑒𝑟𝑎𝑔𝑒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𝑖𝑛𝑣𝑒𝑛𝑡𝑜𝑟𝑦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31238C-13F9-D138-E94F-E80D9F253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57" y="3754558"/>
                <a:ext cx="4431148" cy="5690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6F09BA8-4115-45FC-7514-FB32F1BB08E9}"/>
              </a:ext>
            </a:extLst>
          </p:cNvPr>
          <p:cNvSpPr txBox="1"/>
          <p:nvPr/>
        </p:nvSpPr>
        <p:spPr>
          <a:xfrm>
            <a:off x="268355" y="4627656"/>
            <a:ext cx="4045228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000" dirty="0"/>
              <a:t>LIFO </a:t>
            </a:r>
            <a:r>
              <a:rPr lang="fr-FR" sz="2000" dirty="0" err="1"/>
              <a:t>rather</a:t>
            </a:r>
            <a:r>
              <a:rPr lang="fr-FR" sz="2000" dirty="0"/>
              <a:t> </a:t>
            </a:r>
            <a:r>
              <a:rPr lang="fr-FR" sz="2000" dirty="0" err="1"/>
              <a:t>than</a:t>
            </a:r>
            <a:r>
              <a:rPr lang="fr-FR" sz="2000" dirty="0"/>
              <a:t> FIFO:</a:t>
            </a:r>
          </a:p>
          <a:p>
            <a:r>
              <a:rPr lang="fr-FR" sz="2000" dirty="0"/>
              <a:t>LIFO COGS &gt; FIFO COGS</a:t>
            </a:r>
          </a:p>
          <a:p>
            <a:r>
              <a:rPr lang="fr-FR" sz="2000" dirty="0"/>
              <a:t>LIFO </a:t>
            </a:r>
            <a:r>
              <a:rPr lang="fr-FR" sz="2000" dirty="0" err="1"/>
              <a:t>inventory</a:t>
            </a:r>
            <a:r>
              <a:rPr lang="fr-FR" sz="2000" dirty="0"/>
              <a:t> &lt; FIFO </a:t>
            </a:r>
            <a:r>
              <a:rPr lang="fr-FR" sz="2000" dirty="0" err="1"/>
              <a:t>inventory</a:t>
            </a:r>
            <a:endParaRPr lang="fr-FR" sz="2000" dirty="0"/>
          </a:p>
          <a:p>
            <a:r>
              <a:rPr lang="fr-FR" sz="2000" dirty="0"/>
              <a:t>LIFO </a:t>
            </a:r>
            <a:r>
              <a:rPr lang="fr-FR" sz="2000" dirty="0" err="1"/>
              <a:t>inventory</a:t>
            </a:r>
            <a:r>
              <a:rPr lang="fr-FR" sz="2000" dirty="0"/>
              <a:t> turnover &gt; FIFO </a:t>
            </a:r>
            <a:r>
              <a:rPr lang="fr-FR" sz="2000" dirty="0" err="1"/>
              <a:t>inventory</a:t>
            </a:r>
            <a:r>
              <a:rPr lang="fr-FR" sz="2000" dirty="0"/>
              <a:t> turnover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37084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E2AD-EB30-5546-EE8A-C8DBD5F9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30992-5D81-E662-CD59-C9D00D1105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1B1A79-1F45-8F4F-AED5-0EE30DCF0380}" type="slidenum">
              <a:rPr lang="fr-FR" smtClean="0"/>
              <a:t>29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ABF180-29F1-3160-0CA4-D775B4FD791D}"/>
                  </a:ext>
                </a:extLst>
              </p:cNvPr>
              <p:cNvSpPr txBox="1"/>
              <p:nvPr/>
            </p:nvSpPr>
            <p:spPr>
              <a:xfrm>
                <a:off x="1336756" y="1217295"/>
                <a:ext cx="9219960" cy="7023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𝑮𝒓𝒐𝒔𝒔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𝒑𝒓𝒐𝒇𝒊𝒕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𝒎𝒂𝒓𝒈𝒊𝒏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𝐺𝑟𝑜𝑠𝑠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𝑝𝑟𝑜𝑓𝑖𝑡</m:t>
                          </m:r>
                        </m:num>
                        <m:den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𝑅𝑒𝑣𝑒𝑛𝑢𝑒</m:t>
                          </m:r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𝑅𝑒𝑣𝑒𝑛𝑢𝑒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𝐶𝑜𝑠𝑡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𝑠𝑎𝑙𝑒𝑠</m:t>
                          </m:r>
                        </m:num>
                        <m:den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𝑅𝑒𝑣𝑒𝑛𝑢𝑒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ABF180-29F1-3160-0CA4-D775B4FD7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756" y="1217295"/>
                <a:ext cx="9219960" cy="7023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16D364-5F44-DF63-F7C4-90AF6708288F}"/>
                  </a:ext>
                </a:extLst>
              </p:cNvPr>
              <p:cNvSpPr txBox="1"/>
              <p:nvPr/>
            </p:nvSpPr>
            <p:spPr>
              <a:xfrm>
                <a:off x="1002682" y="2416307"/>
                <a:ext cx="10186635" cy="1524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𝑫𝒂𝒚𝒔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𝑰𝒏𝒗𝒆𝒏𝒕𝒐𝒓𝒚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𝒐𝒏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𝑯𝒂𝒏𝒅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𝑫𝑶𝑯</m:t>
                          </m:r>
                        </m:e>
                      </m:d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𝐴𝑣𝑒𝑟𝑎𝑔𝑒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𝐼𝑛𝑣𝑒𝑛𝑡𝑜𝑟𝑖𝑒𝑠</m:t>
                          </m:r>
                        </m:num>
                        <m:den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𝐷𝑎𝑖𝑙𝑦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𝐶𝑜𝑠𝑡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𝑔𝑜𝑜𝑑𝑠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𝑠𝑜𝑙𝑑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𝐶𝑂𝐺𝑆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fr-FR" sz="2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𝐴𝑣𝑒𝑟𝑎𝑔𝑒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𝑖𝑛𝑣𝑒𝑛𝑡𝑜𝑟𝑖𝑒𝑠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𝑑𝑢𝑟𝑖𝑛𝑔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𝑝𝑒𝑟𝑖𝑜𝑑</m:t>
                          </m:r>
                        </m:num>
                        <m:den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𝐶𝑂𝐺𝑆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𝑝𝑒𝑟𝑖𝑜𝑑</m:t>
                          </m:r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𝑑𝑎𝑦𝑠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𝑝𝑒𝑟𝑖𝑜𝑑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16D364-5F44-DF63-F7C4-90AF67082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82" y="2416307"/>
                <a:ext cx="10186635" cy="1524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D1B73B-38D4-A98C-99D2-4CE7497FF008}"/>
                  </a:ext>
                </a:extLst>
              </p:cNvPr>
              <p:cNvSpPr txBox="1"/>
              <p:nvPr/>
            </p:nvSpPr>
            <p:spPr>
              <a:xfrm>
                <a:off x="2216542" y="4409717"/>
                <a:ext cx="6968574" cy="15245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𝑹𝒆𝒕𝒖𝒓𝒏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𝒐𝒏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𝑨𝒔𝒔𝒆𝒕𝒔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𝑹𝑶𝑨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𝑁𝑒𝑡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𝐼𝑛𝑐𝑜𝑚𝑒</m:t>
                          </m:r>
                        </m:num>
                        <m:den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𝐴𝑣𝑒𝑟𝑎𝑔𝑒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𝐴𝑠𝑠𝑒𝑡𝑠</m:t>
                          </m:r>
                        </m:den>
                      </m:f>
                    </m:oMath>
                  </m:oMathPara>
                </a14:m>
                <a:endParaRPr lang="fr-FR" sz="2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𝐼𝑛𝑐𝑜𝑚𝑒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𝑏𝑒𝑓𝑜𝑟𝑒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𝑡𝑎𝑥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(1 −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𝑇𝑎𝑥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𝑟𝑎𝑡𝑒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𝐴𝑣𝑒𝑟𝑎𝑔𝑒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𝐴𝑠𝑠𝑒𝑡𝑠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D1B73B-38D4-A98C-99D2-4CE7497FF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542" y="4409717"/>
                <a:ext cx="6968574" cy="152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2851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E90203-B492-4AEB-AD87-4AFABDBF2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34" y="730532"/>
            <a:ext cx="11716531" cy="4351339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Example of the Retail Inventory Method</a:t>
            </a:r>
          </a:p>
          <a:p>
            <a:pPr marL="0" indent="0">
              <a:buNone/>
            </a:pPr>
            <a:r>
              <a:rPr lang="en-US" b="0" dirty="0">
                <a:solidFill>
                  <a:srgbClr val="111111"/>
                </a:solidFill>
                <a:latin typeface="SourceSansPro"/>
              </a:rPr>
              <a:t>An</a:t>
            </a: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 </a:t>
            </a:r>
            <a:r>
              <a:rPr lang="en-US" b="0" i="0" u="sng" dirty="0">
                <a:solidFill>
                  <a:srgbClr val="2C40D0"/>
                </a:solidFill>
                <a:effectLst/>
                <a:latin typeface="SourceSansPro"/>
                <a:hlinkClick r:id="rId2"/>
              </a:rPr>
              <a:t>iPhone</a:t>
            </a: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 costs $300 to purchase (merchandise cost) and it sells for $500. The cost-to-retail ratio is 60% ($300/$500). Let's say that the </a:t>
            </a:r>
            <a:r>
              <a:rPr lang="en-US" b="0" i="0" u="sng" dirty="0">
                <a:solidFill>
                  <a:srgbClr val="2C40D0"/>
                </a:solidFill>
                <a:effectLst/>
                <a:latin typeface="SourceSansPro"/>
                <a:hlinkClick r:id="rId3"/>
              </a:rPr>
              <a:t>iPhone had total sales</a:t>
            </a: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 of $1,800,000 for the period.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Beginning inventory: $1,000,000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New Purchases: $500,000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Total goods available for sale: $1,500,000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Cost </a:t>
            </a:r>
            <a:r>
              <a:rPr lang="en-US" b="0" dirty="0">
                <a:solidFill>
                  <a:srgbClr val="111111"/>
                </a:solidFill>
                <a:latin typeface="SourceSansPro"/>
              </a:rPr>
              <a:t>of</a:t>
            </a:r>
            <a:r>
              <a:rPr lang="en-US" dirty="0">
                <a:solidFill>
                  <a:srgbClr val="111111"/>
                </a:solidFill>
                <a:latin typeface="SourceSansPro"/>
              </a:rPr>
              <a:t> </a:t>
            </a: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Sales: $1,080,000 (Sales of $1,800,000 x 60% cost-to-retail ratio)              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Ending inventory: $420,000 ($1,500,000 - $1,080,000)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BADC84-D888-4A51-97B3-2698F7A19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392" y="0"/>
            <a:ext cx="11286176" cy="633687"/>
          </a:xfrm>
        </p:spPr>
        <p:txBody>
          <a:bodyPr/>
          <a:lstStyle/>
          <a:p>
            <a:r>
              <a:rPr lang="fr-FR" dirty="0" err="1"/>
              <a:t>Retail</a:t>
            </a:r>
            <a:r>
              <a:rPr lang="fr-FR" dirty="0"/>
              <a:t> </a:t>
            </a:r>
            <a:r>
              <a:rPr lang="fr-FR" dirty="0" err="1"/>
              <a:t>inventory</a:t>
            </a:r>
            <a:r>
              <a:rPr lang="fr-FR" dirty="0"/>
              <a:t> </a:t>
            </a:r>
            <a:r>
              <a:rPr lang="fr-FR" dirty="0" err="1"/>
              <a:t>method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5373D-37F4-430D-A90C-F14917FA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30</a:t>
            </a:fld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9E2B1-18F7-42DE-B86A-41E60695E562}"/>
              </a:ext>
            </a:extLst>
          </p:cNvPr>
          <p:cNvSpPr txBox="1"/>
          <p:nvPr/>
        </p:nvSpPr>
        <p:spPr>
          <a:xfrm>
            <a:off x="7891670" y="2587883"/>
            <a:ext cx="3856926" cy="6669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867" dirty="0"/>
              <a:t>Initial source: www.investopedia.com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6F1FD4-4791-266C-4DCF-65F46E8B0ACF}"/>
                  </a:ext>
                </a:extLst>
              </p:cNvPr>
              <p:cNvSpPr txBox="1"/>
              <p:nvPr/>
            </p:nvSpPr>
            <p:spPr>
              <a:xfrm>
                <a:off x="475468" y="5301391"/>
                <a:ext cx="11716531" cy="1041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/>
                  <a:t>Gross profit </a:t>
                </a:r>
                <a:r>
                  <a:rPr lang="fr-FR" sz="2400" dirty="0" err="1"/>
                  <a:t>margin</a:t>
                </a:r>
                <a:r>
                  <a:rPr lang="fr-FR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𝐺𝑟𝑜𝑠𝑠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𝑝𝑟𝑜𝑓𝑖𝑡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𝑅𝑒𝑣𝑒𝑛𝑢𝑒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=1 − 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𝐶𝑂𝐺𝑆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𝑅𝑒𝑣𝑒𝑛𝑢𝑒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=1 − 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𝑈𝑛𝑖𝑡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𝐶𝑂𝐺𝑆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𝑆𝑎𝑙𝑒𝑠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𝑣𝑜𝑙𝑢𝑚𝑒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𝑆𝑒𝑙𝑙𝑖𝑛𝑔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𝑝𝑟𝑖𝑐𝑒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𝑆𝑎𝑙𝑒𝑠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𝑣𝑜𝑙𝑢𝑚𝑒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=1 −60%=40%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6F1FD4-4791-266C-4DCF-65F46E8B0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68" y="5301391"/>
                <a:ext cx="11716531" cy="1041119"/>
              </a:xfrm>
              <a:prstGeom prst="rect">
                <a:avLst/>
              </a:prstGeom>
              <a:blipFill>
                <a:blip r:embed="rId4"/>
                <a:stretch>
                  <a:fillRect l="-832" b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6785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312" y="57803"/>
            <a:ext cx="1656184" cy="927463"/>
          </a:xfrm>
          <a:prstGeom prst="rect">
            <a:avLst/>
          </a:prstGeom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31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405" y="278516"/>
            <a:ext cx="1571625" cy="533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C9E635-49B9-3424-AD30-CD99C0160AEB}"/>
              </a:ext>
            </a:extLst>
          </p:cNvPr>
          <p:cNvSpPr txBox="1"/>
          <p:nvPr/>
        </p:nvSpPr>
        <p:spPr>
          <a:xfrm>
            <a:off x="217590" y="831435"/>
            <a:ext cx="1341783" cy="5847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IFRS</a:t>
            </a:r>
            <a:endParaRPr lang="en-US" sz="3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23E48F4-1BD6-FD79-E1F7-ADB1C4863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12" y="1540341"/>
            <a:ext cx="11041016" cy="402963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423A157-7E97-C04F-EF57-233167737521}"/>
              </a:ext>
            </a:extLst>
          </p:cNvPr>
          <p:cNvSpPr txBox="1"/>
          <p:nvPr/>
        </p:nvSpPr>
        <p:spPr>
          <a:xfrm>
            <a:off x="3330341" y="1208382"/>
            <a:ext cx="864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FF0000"/>
                </a:solidFill>
              </a:rPr>
              <a:t>Work in progress: aircrafts and helicopters not finished at the end of the period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18A8180-1B1B-93D6-1DF7-B571DC0179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196" y="5435932"/>
            <a:ext cx="10726647" cy="1181265"/>
          </a:xfrm>
          <a:prstGeom prst="rect">
            <a:avLst/>
          </a:prstGeom>
        </p:spPr>
      </p:pic>
      <p:sp>
        <p:nvSpPr>
          <p:cNvPr id="25" name="Rectangle à coins arrondis 7">
            <a:extLst>
              <a:ext uri="{FF2B5EF4-FFF2-40B4-BE49-F238E27FC236}">
                <a16:creationId xmlns:a16="http://schemas.microsoft.com/office/drawing/2014/main" id="{8F368CE4-1D93-1D9D-3214-F8D4F79786E0}"/>
              </a:ext>
            </a:extLst>
          </p:cNvPr>
          <p:cNvSpPr/>
          <p:nvPr/>
        </p:nvSpPr>
        <p:spPr>
          <a:xfrm>
            <a:off x="480196" y="5564865"/>
            <a:ext cx="10726647" cy="687207"/>
          </a:xfrm>
          <a:prstGeom prst="roundRect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0951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A8C85-55D6-330D-6E25-B0A180884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BE0CF0-0E04-80B0-1BFD-C0B7BFB1FD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312" y="57803"/>
            <a:ext cx="1656184" cy="927463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FA8646E-6959-A88C-0987-1C8DC8BC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32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314BB77-071B-871D-4554-C8C2B125B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405" y="278516"/>
            <a:ext cx="1571625" cy="533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FDAECF-0C52-2279-1E58-E8EFA4FCDAFC}"/>
              </a:ext>
            </a:extLst>
          </p:cNvPr>
          <p:cNvSpPr txBox="1"/>
          <p:nvPr/>
        </p:nvSpPr>
        <p:spPr>
          <a:xfrm>
            <a:off x="217590" y="831435"/>
            <a:ext cx="1341783" cy="5847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IFRS</a:t>
            </a:r>
            <a:endParaRPr lang="en-US" sz="3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AC33725-027A-5A54-2C33-C7B8E8379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12" y="1540341"/>
            <a:ext cx="11041016" cy="402963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D67F585-CBC2-312A-F247-03E5B95FD5A0}"/>
              </a:ext>
            </a:extLst>
          </p:cNvPr>
          <p:cNvSpPr txBox="1"/>
          <p:nvPr/>
        </p:nvSpPr>
        <p:spPr>
          <a:xfrm>
            <a:off x="3330341" y="1208382"/>
            <a:ext cx="864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FF0000"/>
                </a:solidFill>
              </a:rPr>
              <a:t>Work in progress: aircrafts and helicopters not finished at the end of the period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2BB4190-7D65-CC58-A252-F22CA618E8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196" y="5435932"/>
            <a:ext cx="10726647" cy="1181265"/>
          </a:xfrm>
          <a:prstGeom prst="rect">
            <a:avLst/>
          </a:prstGeom>
        </p:spPr>
      </p:pic>
      <p:sp>
        <p:nvSpPr>
          <p:cNvPr id="25" name="Rectangle à coins arrondis 7">
            <a:extLst>
              <a:ext uri="{FF2B5EF4-FFF2-40B4-BE49-F238E27FC236}">
                <a16:creationId xmlns:a16="http://schemas.microsoft.com/office/drawing/2014/main" id="{230500FE-8BDD-D178-FF00-8A5B36E5935F}"/>
              </a:ext>
            </a:extLst>
          </p:cNvPr>
          <p:cNvSpPr/>
          <p:nvPr/>
        </p:nvSpPr>
        <p:spPr>
          <a:xfrm>
            <a:off x="480196" y="5564865"/>
            <a:ext cx="10726647" cy="687207"/>
          </a:xfrm>
          <a:prstGeom prst="roundRect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1501C9-45F8-E3BC-69FF-3C9095247F22}"/>
              </a:ext>
            </a:extLst>
          </p:cNvPr>
          <p:cNvSpPr txBox="1"/>
          <p:nvPr/>
        </p:nvSpPr>
        <p:spPr>
          <a:xfrm>
            <a:off x="2830336" y="4834830"/>
            <a:ext cx="4640885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Writedown</a:t>
            </a:r>
            <a:r>
              <a:rPr lang="fr-FR" dirty="0"/>
              <a:t> of inventories if</a:t>
            </a:r>
          </a:p>
          <a:p>
            <a:r>
              <a:rPr lang="fr-FR" dirty="0"/>
              <a:t>Unit </a:t>
            </a:r>
            <a:r>
              <a:rPr lang="fr-FR" dirty="0" err="1"/>
              <a:t>cost</a:t>
            </a:r>
            <a:r>
              <a:rPr lang="fr-FR" dirty="0"/>
              <a:t> in </a:t>
            </a:r>
            <a:r>
              <a:rPr lang="fr-FR" dirty="0" err="1"/>
              <a:t>inventory</a:t>
            </a:r>
            <a:r>
              <a:rPr lang="fr-FR" dirty="0"/>
              <a:t> &gt; Net </a:t>
            </a:r>
            <a:r>
              <a:rPr lang="fr-FR" dirty="0" err="1"/>
              <a:t>realizable</a:t>
            </a:r>
            <a:r>
              <a:rPr lang="fr-FR" dirty="0"/>
              <a:t>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843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400" u="sng" dirty="0"/>
              <a:t>Under IFRS or US GAAP with FIFO and WAC methods</a:t>
            </a:r>
            <a:r>
              <a:rPr lang="en-US" sz="2400" dirty="0"/>
              <a:t>, inventory is written down to </a:t>
            </a:r>
            <a:r>
              <a:rPr lang="en-US" sz="2400" dirty="0">
                <a:solidFill>
                  <a:srgbClr val="00B0F0"/>
                </a:solidFill>
              </a:rPr>
              <a:t>lower of cost or NRV</a:t>
            </a:r>
            <a:r>
              <a:rPr lang="en-US" sz="2400" dirty="0"/>
              <a:t>, and market is not in the equation 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IAS 2 </a:t>
            </a:r>
            <a:r>
              <a:rPr lang="en-US" sz="2400" i="1" dirty="0"/>
              <a:t>Inventories - § </a:t>
            </a:r>
            <a:r>
              <a:rPr lang="en-US" sz="2400" dirty="0"/>
              <a:t>9 : “</a:t>
            </a:r>
            <a:r>
              <a:rPr lang="en-US" sz="2400" i="1" dirty="0"/>
              <a:t>Inventories shall be measured at the lower of cost and net realizable value” (NRV).</a:t>
            </a:r>
          </a:p>
          <a:p>
            <a:pPr marL="0" indent="0" algn="just">
              <a:buNone/>
            </a:pPr>
            <a:endParaRPr lang="en-US" sz="2400" i="1" dirty="0"/>
          </a:p>
          <a:p>
            <a:pPr marL="0" indent="0" algn="just">
              <a:buNone/>
            </a:pPr>
            <a:r>
              <a:rPr lang="en-US" sz="2400" dirty="0"/>
              <a:t>IAS 2 defines NRV as follows: “</a:t>
            </a:r>
            <a:r>
              <a:rPr lang="en-US" sz="2400" i="1" dirty="0"/>
              <a:t>Net realizable value is the </a:t>
            </a:r>
            <a:r>
              <a:rPr lang="en-US" sz="2400" i="1" u="sng" dirty="0"/>
              <a:t>estimated selling price </a:t>
            </a:r>
            <a:r>
              <a:rPr lang="en-US" sz="2400" i="1" dirty="0"/>
              <a:t>in the ordinary course of business less the estimated costs of completion and the estimated costs necessary </a:t>
            </a:r>
            <a:r>
              <a:rPr lang="en-US" sz="2400" i="1"/>
              <a:t>to make</a:t>
            </a:r>
            <a:r>
              <a:rPr lang="en-US" sz="2400" i="1" dirty="0"/>
              <a:t>	the sale”</a:t>
            </a:r>
            <a:endParaRPr lang="en-US" i="1" dirty="0"/>
          </a:p>
          <a:p>
            <a:pPr marL="0" indent="0" algn="just">
              <a:buNone/>
            </a:pPr>
            <a:r>
              <a:rPr lang="en-US" dirty="0"/>
              <a:t>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461" y="451782"/>
            <a:ext cx="11286176" cy="633687"/>
          </a:xfrm>
        </p:spPr>
        <p:txBody>
          <a:bodyPr/>
          <a:lstStyle/>
          <a:p>
            <a:r>
              <a:rPr lang="en-US" sz="2800" dirty="0"/>
              <a:t>Write-down of inventory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33</a:t>
            </a:fld>
            <a:endParaRPr lang="fr-FR" dirty="0"/>
          </a:p>
        </p:txBody>
      </p:sp>
      <p:sp>
        <p:nvSpPr>
          <p:cNvPr id="5" name="TextBox 4"/>
          <p:cNvSpPr txBox="1"/>
          <p:nvPr/>
        </p:nvSpPr>
        <p:spPr>
          <a:xfrm>
            <a:off x="1631504" y="6486398"/>
            <a:ext cx="8640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Source: IFRS and US GAAP, a </a:t>
            </a:r>
            <a:r>
              <a:rPr lang="fr-FR" sz="1600" dirty="0" err="1"/>
              <a:t>comprehensive</a:t>
            </a:r>
            <a:r>
              <a:rPr lang="fr-FR" sz="1600" dirty="0"/>
              <a:t> </a:t>
            </a:r>
            <a:r>
              <a:rPr lang="fr-FR" sz="1600" dirty="0" err="1"/>
              <a:t>comparison</a:t>
            </a:r>
            <a:r>
              <a:rPr lang="fr-FR" sz="1600" dirty="0"/>
              <a:t>, Steven E. </a:t>
            </a:r>
            <a:r>
              <a:rPr lang="fr-FR" sz="1600" dirty="0" err="1"/>
              <a:t>Shamrock</a:t>
            </a:r>
            <a:r>
              <a:rPr lang="fr-FR" sz="1600" dirty="0"/>
              <a:t>, </a:t>
            </a:r>
            <a:r>
              <a:rPr lang="fr-FR" sz="1600" dirty="0" err="1"/>
              <a:t>Wiley</a:t>
            </a:r>
            <a:r>
              <a:rPr lang="fr-FR" sz="1600" dirty="0"/>
              <a:t>, 2012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205756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461" y="491538"/>
            <a:ext cx="11286176" cy="633687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Differences between IFRS and US GAAP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34</a:t>
            </a:fld>
            <a:endParaRPr lang="fr-F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6FA0AB-F1A4-CD75-882B-B2887F343602}"/>
              </a:ext>
            </a:extLst>
          </p:cNvPr>
          <p:cNvGraphicFramePr>
            <a:graphicFrameLocks noGrp="1"/>
          </p:cNvGraphicFramePr>
          <p:nvPr/>
        </p:nvGraphicFramePr>
        <p:xfrm>
          <a:off x="379719" y="1581215"/>
          <a:ext cx="1143256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087">
                  <a:extLst>
                    <a:ext uri="{9D8B030D-6E8A-4147-A177-3AD203B41FA5}">
                      <a16:colId xmlns:a16="http://schemas.microsoft.com/office/drawing/2014/main" val="3992675126"/>
                    </a:ext>
                  </a:extLst>
                </a:gridCol>
                <a:gridCol w="4092890">
                  <a:extLst>
                    <a:ext uri="{9D8B030D-6E8A-4147-A177-3AD203B41FA5}">
                      <a16:colId xmlns:a16="http://schemas.microsoft.com/office/drawing/2014/main" val="894617107"/>
                    </a:ext>
                  </a:extLst>
                </a:gridCol>
                <a:gridCol w="4904585">
                  <a:extLst>
                    <a:ext uri="{9D8B030D-6E8A-4147-A177-3AD203B41FA5}">
                      <a16:colId xmlns:a16="http://schemas.microsoft.com/office/drawing/2014/main" val="3276361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IFRS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US GAAP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676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dirty="0" err="1"/>
                        <a:t>Cost</a:t>
                      </a:r>
                      <a:r>
                        <a:rPr lang="fr-FR" sz="2400" dirty="0"/>
                        <a:t> flow </a:t>
                      </a:r>
                      <a:r>
                        <a:rPr lang="fr-FR" sz="2400" dirty="0" err="1"/>
                        <a:t>assumption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FIFO or WAC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FIFO, LIFO or WAC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109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dirty="0" err="1"/>
                        <a:t>Writedown</a:t>
                      </a:r>
                      <a:r>
                        <a:rPr lang="fr-FR" sz="2400" dirty="0"/>
                        <a:t> or </a:t>
                      </a:r>
                      <a:r>
                        <a:rPr lang="fr-FR" sz="2400" dirty="0" err="1"/>
                        <a:t>write</a:t>
                      </a:r>
                      <a:r>
                        <a:rPr lang="fr-FR" sz="2400" dirty="0"/>
                        <a:t>-off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If </a:t>
                      </a:r>
                      <a:r>
                        <a:rPr lang="fr-FR" sz="2400" dirty="0" err="1"/>
                        <a:t>higher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than</a:t>
                      </a:r>
                      <a:r>
                        <a:rPr lang="fr-FR" sz="2400" dirty="0"/>
                        <a:t> the net </a:t>
                      </a:r>
                      <a:r>
                        <a:rPr lang="fr-FR" sz="2400" dirty="0" err="1"/>
                        <a:t>realizable</a:t>
                      </a:r>
                      <a:r>
                        <a:rPr lang="fr-FR" sz="2400" dirty="0"/>
                        <a:t> value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2 situations:</a:t>
                      </a:r>
                    </a:p>
                    <a:p>
                      <a:r>
                        <a:rPr lang="fr-FR" sz="2400" b="1" dirty="0"/>
                        <a:t>FIFO or WAC</a:t>
                      </a:r>
                      <a:r>
                        <a:rPr lang="fr-FR" sz="2400" dirty="0"/>
                        <a:t>: </a:t>
                      </a:r>
                      <a:r>
                        <a:rPr lang="fr-FR" sz="2400" dirty="0" err="1"/>
                        <a:t>higher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than</a:t>
                      </a:r>
                      <a:r>
                        <a:rPr lang="fr-FR" sz="2400" dirty="0"/>
                        <a:t> the net </a:t>
                      </a:r>
                      <a:r>
                        <a:rPr lang="fr-FR" sz="2400" dirty="0" err="1"/>
                        <a:t>realizable</a:t>
                      </a:r>
                      <a:r>
                        <a:rPr lang="fr-FR" sz="2400" dirty="0"/>
                        <a:t> value</a:t>
                      </a:r>
                    </a:p>
                    <a:p>
                      <a:r>
                        <a:rPr lang="fr-FR" sz="2400" b="1" dirty="0"/>
                        <a:t>LIFO or </a:t>
                      </a:r>
                      <a:r>
                        <a:rPr lang="fr-FR" sz="2400" b="1" dirty="0" err="1"/>
                        <a:t>retail</a:t>
                      </a:r>
                      <a:r>
                        <a:rPr lang="fr-FR" sz="2400" b="1" dirty="0"/>
                        <a:t> </a:t>
                      </a:r>
                      <a:r>
                        <a:rPr lang="fr-FR" sz="2400" b="1" dirty="0" err="1"/>
                        <a:t>inventory</a:t>
                      </a:r>
                      <a:r>
                        <a:rPr lang="fr-FR" sz="2400" b="1" dirty="0"/>
                        <a:t> </a:t>
                      </a:r>
                      <a:r>
                        <a:rPr lang="fr-FR" sz="2400" b="1" dirty="0" err="1"/>
                        <a:t>method</a:t>
                      </a:r>
                      <a:r>
                        <a:rPr lang="fr-FR" sz="2400" dirty="0"/>
                        <a:t>:</a:t>
                      </a:r>
                      <a:r>
                        <a:rPr lang="en-US" sz="2400" dirty="0"/>
                        <a:t> higher than the market value</a:t>
                      </a:r>
                      <a:endParaRPr lang="fr-F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181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dirty="0"/>
                        <a:t>Reversal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err="1"/>
                        <a:t>Permitted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err="1"/>
                        <a:t>Permitted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only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during</a:t>
                      </a:r>
                      <a:r>
                        <a:rPr lang="fr-FR" sz="2400" dirty="0"/>
                        <a:t> the </a:t>
                      </a:r>
                      <a:r>
                        <a:rPr lang="fr-FR" sz="2400" dirty="0" err="1"/>
                        <a:t>same</a:t>
                      </a:r>
                      <a:r>
                        <a:rPr lang="fr-FR" sz="2400" dirty="0"/>
                        <a:t> fiscal </a:t>
                      </a:r>
                      <a:r>
                        <a:rPr lang="fr-FR" sz="2400" dirty="0" err="1"/>
                        <a:t>year</a:t>
                      </a:r>
                      <a:r>
                        <a:rPr lang="fr-FR" sz="2400" dirty="0"/>
                        <a:t> (</a:t>
                      </a:r>
                      <a:r>
                        <a:rPr lang="fr-FR" sz="2400" dirty="0" err="1"/>
                        <a:t>than</a:t>
                      </a:r>
                      <a:r>
                        <a:rPr lang="fr-FR" sz="2400" dirty="0"/>
                        <a:t> the </a:t>
                      </a:r>
                      <a:r>
                        <a:rPr lang="fr-FR" sz="2400" dirty="0" err="1"/>
                        <a:t>inventory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writedown</a:t>
                      </a:r>
                      <a:r>
                        <a:rPr lang="fr-FR" sz="2400" dirty="0"/>
                        <a:t>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17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958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0" dirty="0"/>
              <a:t>Under both IFRS and US GAAP, inventory must be </a:t>
            </a:r>
            <a:r>
              <a:rPr lang="en-US" b="0" u="sng" dirty="0"/>
              <a:t>assessed</a:t>
            </a:r>
            <a:r>
              <a:rPr lang="en-US" b="0" dirty="0"/>
              <a:t> each period </a:t>
            </a:r>
            <a:r>
              <a:rPr lang="en-US" b="0" u="sng" dirty="0"/>
              <a:t>for decreases in value</a:t>
            </a:r>
            <a:r>
              <a:rPr lang="en-US" b="0" dirty="0"/>
              <a:t>. </a:t>
            </a:r>
          </a:p>
          <a:p>
            <a:pPr marL="0" indent="0" algn="just">
              <a:buNone/>
            </a:pPr>
            <a:endParaRPr lang="en-US" b="0" dirty="0"/>
          </a:p>
          <a:p>
            <a:pPr marL="0" indent="0" algn="just">
              <a:buNone/>
            </a:pPr>
            <a:r>
              <a:rPr lang="en-US" b="0" dirty="0"/>
              <a:t>However, </a:t>
            </a:r>
            <a:r>
              <a:rPr lang="en-US" b="0" u="sng" dirty="0"/>
              <a:t>the standards differ</a:t>
            </a:r>
            <a:r>
              <a:rPr lang="en-US" b="0" dirty="0"/>
              <a:t> with regard to </a:t>
            </a:r>
            <a:r>
              <a:rPr lang="en-US" b="0" u="sng" dirty="0"/>
              <a:t>the basis for the reduction</a:t>
            </a:r>
            <a:r>
              <a:rPr lang="en-US" b="0" dirty="0"/>
              <a:t> and </a:t>
            </a:r>
            <a:r>
              <a:rPr lang="en-US" b="0" u="sng" dirty="0"/>
              <a:t>the “floor” down to which inventory can be carried</a:t>
            </a:r>
            <a:r>
              <a:rPr lang="en-US" b="0" dirty="0"/>
              <a:t>.</a:t>
            </a:r>
          </a:p>
          <a:p>
            <a:pPr marL="0" indent="0" algn="just">
              <a:buNone/>
            </a:pPr>
            <a:r>
              <a:rPr lang="fr-FR" b="0" dirty="0"/>
              <a:t>	</a:t>
            </a:r>
            <a:endParaRPr lang="en-US" b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461" y="481599"/>
            <a:ext cx="11286176" cy="633687"/>
          </a:xfrm>
        </p:spPr>
        <p:txBody>
          <a:bodyPr>
            <a:normAutofit/>
          </a:bodyPr>
          <a:lstStyle/>
          <a:p>
            <a:r>
              <a:rPr lang="en-US" sz="3600" dirty="0"/>
              <a:t>Write-down of inventory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35</a:t>
            </a:fld>
            <a:endParaRPr lang="fr-FR" dirty="0"/>
          </a:p>
        </p:txBody>
      </p:sp>
      <p:sp>
        <p:nvSpPr>
          <p:cNvPr id="5" name="TextBox 4"/>
          <p:cNvSpPr txBox="1"/>
          <p:nvPr/>
        </p:nvSpPr>
        <p:spPr>
          <a:xfrm>
            <a:off x="1631504" y="6486398"/>
            <a:ext cx="8640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Source: IFRS and US GAAP, a </a:t>
            </a:r>
            <a:r>
              <a:rPr lang="fr-FR" sz="1600" dirty="0" err="1"/>
              <a:t>comprehensive</a:t>
            </a:r>
            <a:r>
              <a:rPr lang="fr-FR" sz="1600" dirty="0"/>
              <a:t> </a:t>
            </a:r>
            <a:r>
              <a:rPr lang="fr-FR" sz="1600" dirty="0" err="1"/>
              <a:t>comparison</a:t>
            </a:r>
            <a:r>
              <a:rPr lang="fr-FR" sz="1600" dirty="0"/>
              <a:t>, Steven E. </a:t>
            </a:r>
            <a:r>
              <a:rPr lang="fr-FR" sz="1600" dirty="0" err="1"/>
              <a:t>Shamrock</a:t>
            </a:r>
            <a:r>
              <a:rPr lang="fr-FR" sz="1600" dirty="0"/>
              <a:t>, </a:t>
            </a:r>
            <a:r>
              <a:rPr lang="fr-FR" sz="1600" dirty="0" err="1"/>
              <a:t>Wiley</a:t>
            </a:r>
            <a:r>
              <a:rPr lang="fr-FR" sz="1600" dirty="0"/>
              <a:t>, 2012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545607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u="sng" dirty="0"/>
              <a:t>Under US GAAP</a:t>
            </a:r>
            <a:r>
              <a:rPr lang="en-US" sz="2400" dirty="0"/>
              <a:t>, inventory with LIFO method or retail inventory method that has lost value is written down to </a:t>
            </a:r>
            <a:r>
              <a:rPr lang="en-US" sz="2400" u="sng" dirty="0"/>
              <a:t>market otherwise (FIFO and WAC methods) is written down to net realizable value (NRV), similar to IFRS.</a:t>
            </a:r>
            <a:r>
              <a:rPr lang="en-US" sz="2400" dirty="0"/>
              <a:t> The definition of market under US GAAP is as follows (per the ASC):</a:t>
            </a:r>
          </a:p>
          <a:p>
            <a:pPr marL="0" indent="0" algn="just">
              <a:buNone/>
            </a:pPr>
            <a:r>
              <a:rPr lang="en-US" dirty="0"/>
              <a:t>“</a:t>
            </a:r>
            <a:r>
              <a:rPr lang="en-US" sz="2400" i="1" dirty="0"/>
              <a:t>As used in the phrase lower of cost or market,</a:t>
            </a:r>
            <a:r>
              <a:rPr lang="en-US" sz="2400" i="1" dirty="0">
                <a:solidFill>
                  <a:srgbClr val="00B050"/>
                </a:solidFill>
              </a:rPr>
              <a:t> the term market means current replacement cost </a:t>
            </a:r>
            <a:r>
              <a:rPr lang="en-US" sz="2400" i="1" dirty="0"/>
              <a:t>(by purchase or by reproduction, as the case may be) provided that it meets both of the following conditions:</a:t>
            </a:r>
          </a:p>
          <a:p>
            <a:pPr marL="0" indent="0">
              <a:buNone/>
            </a:pPr>
            <a:r>
              <a:rPr lang="en-US" sz="2400" i="1" dirty="0"/>
              <a:t>	a- Market shall not exceed the net realizable value </a:t>
            </a:r>
          </a:p>
          <a:p>
            <a:pPr marL="0" indent="0">
              <a:buNone/>
            </a:pPr>
            <a:r>
              <a:rPr lang="en-US" sz="2400" i="1" dirty="0"/>
              <a:t>	b- Market shall not be less than net realizable value reduced by an allowance for an approximately normal profit margin”</a:t>
            </a:r>
            <a:endParaRPr lang="en-US" i="1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Write-down of inventory in US GAAP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6752C1F-1C3F-484D-BB27-B0273413E83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36</a:t>
            </a:fld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484291" y="3005002"/>
            <a:ext cx="11372349" cy="259228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9658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200" dirty="0"/>
              <a:t>Net realizable value (NRV) is defined in US GAAP (per the Master Glossary) as</a:t>
            </a:r>
          </a:p>
          <a:p>
            <a:pPr marL="898503" indent="-898503" algn="just">
              <a:buNone/>
            </a:pPr>
            <a:r>
              <a:rPr lang="en-US" sz="2200" dirty="0"/>
              <a:t>	“</a:t>
            </a:r>
            <a:r>
              <a:rPr lang="en-US" sz="2200" i="1" u="sng" dirty="0"/>
              <a:t>Estimated selling price </a:t>
            </a:r>
            <a:r>
              <a:rPr lang="en-US" sz="2200" i="1" dirty="0"/>
              <a:t>in the ordinary course of business</a:t>
            </a:r>
          </a:p>
          <a:p>
            <a:pPr marL="898503" indent="-898503" algn="just">
              <a:buNone/>
            </a:pPr>
            <a:r>
              <a:rPr lang="en-US" sz="2200" i="1" dirty="0"/>
              <a:t>	less reasonably predictable costs of completion and disposal”.</a:t>
            </a:r>
          </a:p>
          <a:p>
            <a:pPr marL="0" indent="0" algn="just">
              <a:buNone/>
            </a:pPr>
            <a:endParaRPr lang="en-US" sz="2200" i="1" dirty="0"/>
          </a:p>
          <a:p>
            <a:pPr marL="0" indent="0" algn="just">
              <a:buNone/>
            </a:pPr>
            <a:r>
              <a:rPr lang="en-US" sz="2200" dirty="0"/>
              <a:t>Under US GAAP, </a:t>
            </a:r>
            <a:r>
              <a:rPr lang="en-US" sz="2200" dirty="0">
                <a:solidFill>
                  <a:srgbClr val="00B0F0"/>
                </a:solidFill>
              </a:rPr>
              <a:t>the resulting cost of the reduction in inventory value must produce a normal profit margin when sold</a:t>
            </a:r>
            <a:r>
              <a:rPr lang="en-US" sz="2200" dirty="0"/>
              <a:t>. This is done by defining boundaries for the carrying value. </a:t>
            </a:r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dirty="0"/>
              <a:t>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461" y="412026"/>
            <a:ext cx="11286176" cy="1096761"/>
          </a:xfrm>
        </p:spPr>
        <p:txBody>
          <a:bodyPr/>
          <a:lstStyle/>
          <a:p>
            <a:r>
              <a:rPr lang="en-US" sz="3200" dirty="0"/>
              <a:t>Write-down of inventory in US GAAP under LIFO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37</a:t>
            </a:fld>
            <a:endParaRPr lang="fr-FR" dirty="0"/>
          </a:p>
        </p:txBody>
      </p:sp>
      <p:sp>
        <p:nvSpPr>
          <p:cNvPr id="5" name="TextBox 4"/>
          <p:cNvSpPr txBox="1"/>
          <p:nvPr/>
        </p:nvSpPr>
        <p:spPr>
          <a:xfrm>
            <a:off x="1679509" y="6486398"/>
            <a:ext cx="8592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Source: IFRS and US GAAP, a </a:t>
            </a:r>
            <a:r>
              <a:rPr lang="fr-FR" sz="1600" dirty="0" err="1"/>
              <a:t>comprehensive</a:t>
            </a:r>
            <a:r>
              <a:rPr lang="fr-FR" sz="1600" dirty="0"/>
              <a:t> </a:t>
            </a:r>
            <a:r>
              <a:rPr lang="fr-FR" sz="1600" dirty="0" err="1"/>
              <a:t>comparison</a:t>
            </a:r>
            <a:r>
              <a:rPr lang="fr-FR" sz="1600" dirty="0"/>
              <a:t>, Steven E. </a:t>
            </a:r>
            <a:r>
              <a:rPr lang="fr-FR" sz="1600" dirty="0" err="1"/>
              <a:t>Shamrock</a:t>
            </a:r>
            <a:r>
              <a:rPr lang="fr-FR" sz="1600" dirty="0"/>
              <a:t>, </a:t>
            </a:r>
            <a:r>
              <a:rPr lang="fr-FR" sz="1600" dirty="0" err="1"/>
              <a:t>Wiley</a:t>
            </a:r>
            <a:r>
              <a:rPr lang="fr-FR" sz="1600" dirty="0"/>
              <a:t>, 2012</a:t>
            </a:r>
            <a:endParaRPr lang="en-US" sz="16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807445" y="4565957"/>
            <a:ext cx="8681044" cy="1593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</a:pPr>
            <a:r>
              <a:rPr lang="en-US" sz="2200" b="1" kern="0" dirty="0">
                <a:solidFill>
                  <a:srgbClr val="FF0000"/>
                </a:solidFill>
              </a:rPr>
              <a:t>US GAAP requires inventory to be carried </a:t>
            </a:r>
          </a:p>
          <a:p>
            <a:pPr algn="just">
              <a:buFontTx/>
              <a:buChar char="-"/>
            </a:pPr>
            <a:r>
              <a:rPr lang="en-US" sz="2200" b="1" kern="0" dirty="0">
                <a:solidFill>
                  <a:srgbClr val="FF0000"/>
                </a:solidFill>
              </a:rPr>
              <a:t>at the lower of cost or market, </a:t>
            </a:r>
          </a:p>
          <a:p>
            <a:pPr algn="just">
              <a:buFontTx/>
              <a:buChar char="-"/>
            </a:pPr>
            <a:r>
              <a:rPr lang="en-US" sz="2200" b="1" kern="0" dirty="0">
                <a:solidFill>
                  <a:srgbClr val="FF0000"/>
                </a:solidFill>
              </a:rPr>
              <a:t>but market cannot be greater than NRV, nor can it be less than NRV less a normal profit margin.</a:t>
            </a:r>
            <a:endParaRPr lang="en-US" sz="2200" b="1" i="1" kern="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2200" kern="0" dirty="0">
                <a:solidFill>
                  <a:srgbClr val="FF000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313940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371" y="412026"/>
            <a:ext cx="11329267" cy="1084373"/>
          </a:xfrm>
        </p:spPr>
        <p:txBody>
          <a:bodyPr/>
          <a:lstStyle/>
          <a:p>
            <a:r>
              <a:rPr lang="en-US" sz="3200" dirty="0"/>
              <a:t>Write-down of inventory in US GAAP under LIFO method and retail inventory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38</a:t>
            </a:fld>
            <a:endParaRPr lang="fr-FR" dirty="0"/>
          </a:p>
        </p:txBody>
      </p:sp>
      <p:sp>
        <p:nvSpPr>
          <p:cNvPr id="5" name="TextBox 4"/>
          <p:cNvSpPr txBox="1"/>
          <p:nvPr/>
        </p:nvSpPr>
        <p:spPr>
          <a:xfrm>
            <a:off x="1631504" y="6486398"/>
            <a:ext cx="8640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Source: IFRS and US GAAP, a </a:t>
            </a:r>
            <a:r>
              <a:rPr lang="fr-FR" sz="1600" dirty="0" err="1"/>
              <a:t>comprehensive</a:t>
            </a:r>
            <a:r>
              <a:rPr lang="fr-FR" sz="1600" dirty="0"/>
              <a:t> </a:t>
            </a:r>
            <a:r>
              <a:rPr lang="fr-FR" sz="1600" dirty="0" err="1"/>
              <a:t>comparison</a:t>
            </a:r>
            <a:r>
              <a:rPr lang="fr-FR" sz="1600" dirty="0"/>
              <a:t>, Steven E. </a:t>
            </a:r>
            <a:r>
              <a:rPr lang="fr-FR" sz="1600" dirty="0" err="1"/>
              <a:t>Shamrock</a:t>
            </a:r>
            <a:r>
              <a:rPr lang="fr-FR" sz="1600" dirty="0"/>
              <a:t>, </a:t>
            </a:r>
            <a:r>
              <a:rPr lang="fr-FR" sz="1600" dirty="0" err="1"/>
              <a:t>Wiley</a:t>
            </a:r>
            <a:r>
              <a:rPr lang="fr-FR" sz="1600" dirty="0"/>
              <a:t>, 2012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353895" y="2766119"/>
            <a:ext cx="1584176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Historical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1505" y="2924945"/>
            <a:ext cx="2722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Minimum between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4701" y="2950785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and</a:t>
            </a:r>
            <a:endParaRPr lang="en-US" sz="24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248128" y="4437112"/>
            <a:ext cx="1944216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176120" y="1988840"/>
            <a:ext cx="1944216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12024" y="4583450"/>
            <a:ext cx="3744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Floor: Net realizable value minus normal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1944" y="1316766"/>
            <a:ext cx="5076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Ceiling: Net realizable value (NRV)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8089" y="2780929"/>
            <a:ext cx="270030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Market value = replacement cost</a:t>
            </a:r>
          </a:p>
        </p:txBody>
      </p:sp>
    </p:spTree>
    <p:extLst>
      <p:ext uri="{BB962C8B-B14F-4D97-AF65-F5344CB8AC3E}">
        <p14:creationId xmlns:p14="http://schemas.microsoft.com/office/powerpoint/2010/main" val="30745502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400" u="sng" dirty="0"/>
              <a:t>Under IFRS or US GAAP with FIFO and WAC methods</a:t>
            </a:r>
            <a:r>
              <a:rPr lang="en-US" sz="2400" dirty="0"/>
              <a:t>, inventory is written down to </a:t>
            </a:r>
            <a:r>
              <a:rPr lang="en-US" sz="2400" dirty="0">
                <a:solidFill>
                  <a:srgbClr val="00B0F0"/>
                </a:solidFill>
              </a:rPr>
              <a:t>lower of cost or NRV</a:t>
            </a:r>
            <a:r>
              <a:rPr lang="en-US" sz="2400" dirty="0"/>
              <a:t>, and market is not in the equation 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IAS 2 </a:t>
            </a:r>
            <a:r>
              <a:rPr lang="en-US" sz="2400" i="1" dirty="0"/>
              <a:t>Inventories - § </a:t>
            </a:r>
            <a:r>
              <a:rPr lang="en-US" sz="2400" dirty="0"/>
              <a:t>9 : “</a:t>
            </a:r>
            <a:r>
              <a:rPr lang="en-US" sz="2400" i="1" dirty="0"/>
              <a:t>Inventories shall be measured at the lower of cost and net realizable value” (NRV).</a:t>
            </a:r>
          </a:p>
          <a:p>
            <a:pPr marL="0" indent="0" algn="just">
              <a:buNone/>
            </a:pPr>
            <a:endParaRPr lang="en-US" sz="2400" i="1" dirty="0"/>
          </a:p>
          <a:p>
            <a:pPr marL="0" indent="0" algn="just">
              <a:buNone/>
            </a:pPr>
            <a:r>
              <a:rPr lang="en-US" sz="2400" dirty="0"/>
              <a:t>IAS 2 defines NRV as follows: “</a:t>
            </a:r>
            <a:r>
              <a:rPr lang="en-US" sz="2400" i="1" dirty="0"/>
              <a:t>Net realizable value is the </a:t>
            </a:r>
            <a:r>
              <a:rPr lang="en-US" sz="2400" i="1" u="sng" dirty="0"/>
              <a:t>estimated selling price </a:t>
            </a:r>
            <a:r>
              <a:rPr lang="en-US" sz="2400" i="1" dirty="0"/>
              <a:t>in the ordinary course of business less the estimated costs of completion and the estimated costs necessary to make the sale”</a:t>
            </a:r>
            <a:endParaRPr lang="en-US" i="1" dirty="0"/>
          </a:p>
          <a:p>
            <a:pPr marL="0" indent="0" algn="just">
              <a:buNone/>
            </a:pPr>
            <a:r>
              <a:rPr lang="en-US" dirty="0"/>
              <a:t>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461" y="451782"/>
            <a:ext cx="11286176" cy="633687"/>
          </a:xfrm>
        </p:spPr>
        <p:txBody>
          <a:bodyPr/>
          <a:lstStyle/>
          <a:p>
            <a:r>
              <a:rPr lang="en-US" sz="2800" dirty="0"/>
              <a:t>Write-down of inventory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39</a:t>
            </a:fld>
            <a:endParaRPr lang="fr-FR" dirty="0"/>
          </a:p>
        </p:txBody>
      </p:sp>
      <p:sp>
        <p:nvSpPr>
          <p:cNvPr id="5" name="TextBox 4"/>
          <p:cNvSpPr txBox="1"/>
          <p:nvPr/>
        </p:nvSpPr>
        <p:spPr>
          <a:xfrm>
            <a:off x="1631504" y="6486398"/>
            <a:ext cx="8640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Source: IFRS and US GAAP, a </a:t>
            </a:r>
            <a:r>
              <a:rPr lang="fr-FR" sz="1600" dirty="0" err="1"/>
              <a:t>comprehensive</a:t>
            </a:r>
            <a:r>
              <a:rPr lang="fr-FR" sz="1600" dirty="0"/>
              <a:t> </a:t>
            </a:r>
            <a:r>
              <a:rPr lang="fr-FR" sz="1600" dirty="0" err="1"/>
              <a:t>comparison</a:t>
            </a:r>
            <a:r>
              <a:rPr lang="fr-FR" sz="1600" dirty="0"/>
              <a:t>, Steven E. </a:t>
            </a:r>
            <a:r>
              <a:rPr lang="fr-FR" sz="1600" dirty="0" err="1"/>
              <a:t>Shamrock</a:t>
            </a:r>
            <a:r>
              <a:rPr lang="fr-FR" sz="1600" dirty="0"/>
              <a:t>, </a:t>
            </a:r>
            <a:r>
              <a:rPr lang="fr-FR" sz="1600" dirty="0" err="1"/>
              <a:t>Wiley</a:t>
            </a:r>
            <a:r>
              <a:rPr lang="fr-FR" sz="1600" dirty="0"/>
              <a:t>, 2012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92233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335361" y="1925320"/>
          <a:ext cx="7008348" cy="1524000"/>
        </p:xfrm>
        <a:graphic>
          <a:graphicData uri="http://schemas.openxmlformats.org/drawingml/2006/table">
            <a:tbl>
              <a:tblPr/>
              <a:tblGrid>
                <a:gridCol w="5518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Carrying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$ 100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Replacement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Net realizable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Net realizable value less normal profit 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US GAAP versus IFRS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40</a:t>
            </a:fld>
            <a:endParaRPr lang="fr-FR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74461" y="1384293"/>
            <a:ext cx="11372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en-US" altLang="fr-FR" b="1" i="1" u="sng" dirty="0">
                <a:latin typeface="Arial" pitchFamily="34" charset="0"/>
              </a:rPr>
              <a:t>Example 1 with LIFO method or retail inventory method under US GAAP</a:t>
            </a:r>
            <a:endParaRPr lang="en-US" altLang="fr-FR" b="1" u="sng" dirty="0">
              <a:latin typeface="Arial" pitchFamily="34" charset="0"/>
            </a:endParaRPr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983974" y="4437112"/>
          <a:ext cx="6552186" cy="1803400"/>
        </p:xfrm>
        <a:graphic>
          <a:graphicData uri="http://schemas.openxmlformats.org/drawingml/2006/table">
            <a:tbl>
              <a:tblPr/>
              <a:tblGrid>
                <a:gridCol w="5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Carrying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$ 100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Replacement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Net realizable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105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Net realizable value less normal profit 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noProof="0" dirty="0"/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47528" y="3951151"/>
            <a:ext cx="122413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en-US" altLang="fr-FR" b="1" i="1" u="sng" dirty="0">
                <a:latin typeface="Arial" pitchFamily="34" charset="0"/>
              </a:rPr>
              <a:t>Example 2</a:t>
            </a:r>
            <a:endParaRPr lang="en-US" altLang="fr-FR" b="1" u="sng" dirty="0">
              <a:latin typeface="Arial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80176" y="1916834"/>
            <a:ext cx="291581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fr-FR" sz="1600" dirty="0">
                <a:latin typeface="Arial" pitchFamily="34" charset="0"/>
              </a:rPr>
              <a:t>Inventory would be recorded at 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7567364" y="2276872"/>
            <a:ext cx="361720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44" indent="-285744" algn="ctr"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fr-FR" sz="1600" dirty="0">
                <a:solidFill>
                  <a:srgbClr val="FF0000"/>
                </a:solidFill>
                <a:latin typeface="Arial" pitchFamily="34" charset="0"/>
              </a:rPr>
              <a:t>$90 under U.S GAAP</a:t>
            </a:r>
            <a:r>
              <a:rPr lang="en-US" altLang="fr-FR" sz="1600" dirty="0">
                <a:latin typeface="Arial" pitchFamily="34" charset="0"/>
              </a:rPr>
              <a:t> with LIFO (write-down of 10 is required)</a:t>
            </a:r>
            <a:r>
              <a:rPr lang="en-US" altLang="fr-FR" sz="1600" dirty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en-US" altLang="fr-FR" sz="1600" dirty="0">
                <a:latin typeface="Arial" pitchFamily="34" charset="0"/>
              </a:rPr>
              <a:t>and</a:t>
            </a: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464152" y="2894748"/>
            <a:ext cx="468052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44" indent="-285744" algn="ctr"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fr-FR" sz="1600" dirty="0">
                <a:solidFill>
                  <a:srgbClr val="FF0000"/>
                </a:solidFill>
                <a:latin typeface="Arial" pitchFamily="34" charset="0"/>
              </a:rPr>
              <a:t>$95 under IFRS </a:t>
            </a:r>
            <a:r>
              <a:rPr lang="en-US" altLang="fr-FR" sz="1600" dirty="0">
                <a:latin typeface="Arial" pitchFamily="34" charset="0"/>
              </a:rPr>
              <a:t>(a write-down of 5 is required).</a:t>
            </a: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7640228" y="4177910"/>
            <a:ext cx="291581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fr-FR" sz="1600" dirty="0">
                <a:latin typeface="Arial" pitchFamily="34" charset="0"/>
              </a:rPr>
              <a:t>Inventory would be recorded at 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7645414" y="4618281"/>
            <a:ext cx="344314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44" indent="-285744" algn="ctr"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fr-FR" sz="1600" dirty="0">
                <a:solidFill>
                  <a:srgbClr val="FF0000"/>
                </a:solidFill>
                <a:latin typeface="Arial" pitchFamily="34" charset="0"/>
              </a:rPr>
              <a:t>$95 under U.S GAAP with LIFO </a:t>
            </a:r>
            <a:r>
              <a:rPr lang="en-US" altLang="fr-FR" sz="1600" dirty="0">
                <a:latin typeface="Arial" pitchFamily="34" charset="0"/>
              </a:rPr>
              <a:t>(a write-down of 5 is required) </a:t>
            </a:r>
          </a:p>
          <a:p>
            <a:pPr algn="ctr"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fr-FR" sz="1600" dirty="0">
                <a:latin typeface="Arial" pitchFamily="34" charset="0"/>
              </a:rPr>
              <a:t>and</a:t>
            </a: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7607808" y="5426356"/>
            <a:ext cx="291581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44" indent="-285744" algn="ctr" eaLnBrk="0" hangingPunct="0">
              <a:buFontTx/>
              <a:buChar char="-"/>
            </a:pPr>
            <a:r>
              <a:rPr lang="en-US" altLang="fr-FR" sz="1600" dirty="0">
                <a:solidFill>
                  <a:srgbClr val="FF0000"/>
                </a:solidFill>
                <a:latin typeface="Arial" pitchFamily="34" charset="0"/>
              </a:rPr>
              <a:t>$100 under IFRS </a:t>
            </a:r>
            <a:r>
              <a:rPr lang="en-US" altLang="fr-FR" sz="1600" dirty="0">
                <a:latin typeface="Arial" pitchFamily="34" charset="0"/>
              </a:rPr>
              <a:t>(i.e., no write-down is required).</a:t>
            </a:r>
          </a:p>
        </p:txBody>
      </p:sp>
    </p:spTree>
    <p:extLst>
      <p:ext uri="{BB962C8B-B14F-4D97-AF65-F5344CB8AC3E}">
        <p14:creationId xmlns:p14="http://schemas.microsoft.com/office/powerpoint/2010/main" val="267394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  <p:bldP spid="15" grpId="0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Write-down of inventory: example of an old model of smartphone after the launching of a new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41</a:t>
            </a:fld>
            <a:endParaRPr lang="fr-FR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47530" y="1556792"/>
          <a:ext cx="7824870" cy="40190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6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noProof="0" dirty="0">
                          <a:effectLst/>
                          <a:latin typeface="+mj-lt"/>
                        </a:rPr>
                        <a:t>Selling price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Historical 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  <a:latin typeface="+mj-lt"/>
                        </a:rPr>
                        <a:t>Replacement cost (market)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Net realizable value (NRV)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NRV less normal profit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Ceiling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floor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7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noProof="0" dirty="0">
                          <a:effectLst/>
                          <a:latin typeface="+mj-lt"/>
                        </a:rPr>
                        <a:t>$200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noProof="0" dirty="0">
                          <a:effectLst/>
                          <a:latin typeface="+mj-lt"/>
                        </a:rPr>
                        <a:t>$100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  <a:latin typeface="+mj-lt"/>
                        </a:rPr>
                        <a:t>$180.00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7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noProof="0" dirty="0">
                          <a:effectLst/>
                          <a:latin typeface="+mj-lt"/>
                        </a:rPr>
                        <a:t>$150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noProof="0" dirty="0">
                          <a:effectLst/>
                          <a:latin typeface="+mj-lt"/>
                        </a:rPr>
                        <a:t>$100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  <a:latin typeface="+mj-lt"/>
                        </a:rPr>
                        <a:t>$90.00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7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noProof="0" dirty="0">
                          <a:effectLst/>
                          <a:latin typeface="+mj-lt"/>
                        </a:rPr>
                        <a:t>$120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noProof="0" dirty="0">
                          <a:effectLst/>
                          <a:latin typeface="+mj-lt"/>
                        </a:rPr>
                        <a:t>$100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  <a:latin typeface="+mj-lt"/>
                        </a:rPr>
                        <a:t>$80.00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67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noProof="0" dirty="0">
                          <a:effectLst/>
                          <a:latin typeface="+mj-lt"/>
                        </a:rPr>
                        <a:t>$90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noProof="0" dirty="0">
                          <a:effectLst/>
                          <a:latin typeface="+mj-lt"/>
                        </a:rPr>
                        <a:t>$100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  <a:latin typeface="+mj-lt"/>
                        </a:rPr>
                        <a:t>$80.00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val 2"/>
          <p:cNvSpPr/>
          <p:nvPr/>
        </p:nvSpPr>
        <p:spPr>
          <a:xfrm>
            <a:off x="6600056" y="5013176"/>
            <a:ext cx="1440160" cy="792088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184232" y="3789040"/>
            <a:ext cx="1224136" cy="792088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672064" y="3140968"/>
            <a:ext cx="1296144" cy="792088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55840" y="4365104"/>
            <a:ext cx="1296144" cy="792088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847530" y="5733256"/>
            <a:ext cx="4968550" cy="1080120"/>
          </a:xfrm>
          <a:prstGeom prst="ellipse">
            <a:avLst/>
          </a:prstGeom>
          <a:solidFill>
            <a:schemeClr val="bg1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Value compared with historical cost under US GAAP (with LIFO or retail inventory method)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6816080" y="3323872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$160.00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8258647" y="3318248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$130.00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6816080" y="4005064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$120.00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8400256" y="3964995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$97.50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6834845" y="4541059"/>
            <a:ext cx="989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$96.00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8351657" y="4536584"/>
            <a:ext cx="989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$78.00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6834845" y="5184753"/>
            <a:ext cx="989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$72.00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8371078" y="5180244"/>
            <a:ext cx="989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$58.50</a:t>
            </a:r>
          </a:p>
        </p:txBody>
      </p:sp>
    </p:spTree>
    <p:extLst>
      <p:ext uri="{BB962C8B-B14F-4D97-AF65-F5344CB8AC3E}">
        <p14:creationId xmlns:p14="http://schemas.microsoft.com/office/powerpoint/2010/main" val="307938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10" grpId="0" animBg="1"/>
      <p:bldP spid="5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972488"/>
              </p:ext>
            </p:extLst>
          </p:nvPr>
        </p:nvGraphicFramePr>
        <p:xfrm>
          <a:off x="476252" y="932723"/>
          <a:ext cx="11283945" cy="47510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1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0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3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8968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Selling price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Historical cost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 GAAP (with LIFO method)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IFRS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Effect on the expenses</a:t>
                      </a:r>
                    </a:p>
                    <a:p>
                      <a:pPr algn="ctr" fontAlgn="ctr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(in the P&amp;L)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6405">
                <a:tc vMerge="1">
                  <a:txBody>
                    <a:bodyPr/>
                    <a:lstStyle/>
                    <a:p>
                      <a:pPr algn="ctr" fontAlgn="ctr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 value retained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NRV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 GAAP (with LIFO)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IFRS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$200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$160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$160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$97.5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$96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$90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$72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$72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27381" y="45571"/>
            <a:ext cx="11286176" cy="887152"/>
          </a:xfrm>
          <a:solidFill>
            <a:schemeClr val="bg1"/>
          </a:solidFill>
        </p:spPr>
        <p:txBody>
          <a:bodyPr/>
          <a:lstStyle/>
          <a:p>
            <a:r>
              <a:rPr lang="en-US" sz="2800" dirty="0"/>
              <a:t>Write-down of inventory: example of an old model of smartphone after the launching of a new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42</a:t>
            </a:fld>
            <a:endParaRPr lang="fr-FR" dirty="0"/>
          </a:p>
        </p:txBody>
      </p:sp>
      <p:sp>
        <p:nvSpPr>
          <p:cNvPr id="7" name="Right Brace 6"/>
          <p:cNvSpPr/>
          <p:nvPr/>
        </p:nvSpPr>
        <p:spPr>
          <a:xfrm rot="5400000">
            <a:off x="9747153" y="4630480"/>
            <a:ext cx="648072" cy="2438490"/>
          </a:xfrm>
          <a:prstGeom prst="rightBrace">
            <a:avLst>
              <a:gd name="adj1" fmla="val 22621"/>
              <a:gd name="adj2" fmla="val 50000"/>
            </a:avLst>
          </a:prstGeom>
          <a:ln w="317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9516380" y="6160021"/>
            <a:ext cx="0" cy="76656"/>
          </a:xfrm>
          <a:prstGeom prst="line">
            <a:avLst/>
          </a:prstGeom>
          <a:ln w="317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/>
          <p:cNvSpPr txBox="1"/>
          <p:nvPr/>
        </p:nvSpPr>
        <p:spPr>
          <a:xfrm>
            <a:off x="8822592" y="4278775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$2.5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0681720" y="4267277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$0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8854827" y="4728481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$20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0681720" y="4693629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$4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8854827" y="5144803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$28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10614543" y="5122825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$28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8887060" y="3883258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$0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10681720" y="3886342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$0</a:t>
            </a:r>
          </a:p>
        </p:txBody>
      </p:sp>
      <p:sp>
        <p:nvSpPr>
          <p:cNvPr id="19" name="TextBox 7"/>
          <p:cNvSpPr txBox="1"/>
          <p:nvPr/>
        </p:nvSpPr>
        <p:spPr>
          <a:xfrm>
            <a:off x="2159563" y="5954170"/>
            <a:ext cx="6759031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Expense (per unit) = Historical cost </a:t>
            </a:r>
          </a:p>
          <a:p>
            <a:r>
              <a:rPr lang="en-US" sz="2400" dirty="0"/>
              <a:t>	    	         – New carrying value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8BA20B-C955-4B88-AF58-F7F98DB65B69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8347888" y="6173761"/>
            <a:ext cx="1723301" cy="24588"/>
          </a:xfrm>
          <a:prstGeom prst="line">
            <a:avLst/>
          </a:prstGeom>
          <a:ln w="31750">
            <a:solidFill>
              <a:schemeClr val="accent1">
                <a:lumMod val="50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05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600" u="sng" dirty="0"/>
              <a:t>Under IFRS,</a:t>
            </a:r>
            <a:r>
              <a:rPr lang="en-US" sz="2600" dirty="0"/>
              <a:t> write-downs of inventory can be reversed when market conditions improve. </a:t>
            </a:r>
          </a:p>
          <a:p>
            <a:pPr marL="0" indent="0" algn="just">
              <a:buNone/>
            </a:pPr>
            <a:r>
              <a:rPr lang="en-US" sz="2600" u="sng" dirty="0"/>
              <a:t>Under US GAAP</a:t>
            </a:r>
            <a:r>
              <a:rPr lang="en-US" sz="2600" dirty="0"/>
              <a:t>, write-downs can be reversed only if it is within the same fiscal year. </a:t>
            </a:r>
          </a:p>
          <a:p>
            <a:pPr marL="0" indent="0" algn="just">
              <a:buNone/>
            </a:pPr>
            <a:endParaRPr lang="en-US" sz="2600" dirty="0"/>
          </a:p>
          <a:p>
            <a:pPr marL="0" indent="0" algn="just">
              <a:buNone/>
            </a:pPr>
            <a:r>
              <a:rPr lang="en-US" sz="2600" dirty="0"/>
              <a:t>This disparity with regard to write-down reversals is indicative of IFRS learning more towards relevance than reliability. </a:t>
            </a:r>
          </a:p>
          <a:p>
            <a:pPr marL="0" indent="0" algn="just">
              <a:buNone/>
            </a:pPr>
            <a:r>
              <a:rPr lang="en-US" sz="2600" dirty="0"/>
              <a:t>In fact, P,P&amp;E and financial instrument impairments can be restored under IFRS, whereas none are able to be written back under US GAAP.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Write-down reversals </a:t>
            </a:r>
            <a:br>
              <a:rPr lang="en-US" sz="3200" dirty="0"/>
            </a:br>
            <a:r>
              <a:rPr lang="en-US" sz="3200" dirty="0"/>
              <a:t>under US GAAP and IFRS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7D635-9654-4A76-8214-753D05010126}" type="slidenum">
              <a:rPr lang="fr-FR" smtClean="0"/>
              <a:pPr>
                <a:defRPr/>
              </a:pPr>
              <a:t>43</a:t>
            </a:fld>
            <a:endParaRPr lang="fr-FR"/>
          </a:p>
        </p:txBody>
      </p:sp>
      <p:sp>
        <p:nvSpPr>
          <p:cNvPr id="5" name="TextBox 4"/>
          <p:cNvSpPr txBox="1"/>
          <p:nvPr/>
        </p:nvSpPr>
        <p:spPr>
          <a:xfrm>
            <a:off x="1631504" y="6309321"/>
            <a:ext cx="86409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600" dirty="0"/>
              <a:t>Source: IFRS and US GAAP, a </a:t>
            </a:r>
            <a:r>
              <a:rPr lang="fr-FR" sz="1600" dirty="0" err="1"/>
              <a:t>comprehensive</a:t>
            </a:r>
            <a:r>
              <a:rPr lang="fr-FR" sz="1600" dirty="0"/>
              <a:t> </a:t>
            </a:r>
            <a:r>
              <a:rPr lang="fr-FR" sz="1600" dirty="0" err="1"/>
              <a:t>comparison</a:t>
            </a:r>
            <a:r>
              <a:rPr lang="fr-FR" sz="1600" dirty="0"/>
              <a:t>, Steven E. </a:t>
            </a:r>
            <a:r>
              <a:rPr lang="fr-FR" sz="1600" dirty="0" err="1"/>
              <a:t>Shamrock</a:t>
            </a:r>
            <a:r>
              <a:rPr lang="fr-FR" sz="1600" dirty="0"/>
              <a:t>, </a:t>
            </a:r>
            <a:r>
              <a:rPr lang="fr-FR" sz="1600" dirty="0" err="1"/>
              <a:t>Wiley</a:t>
            </a:r>
            <a:r>
              <a:rPr lang="fr-FR" sz="1600" dirty="0"/>
              <a:t>, 2012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366595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ED47E41-6C38-411E-BD8E-4BB51BF3C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9183" y="348491"/>
            <a:ext cx="8574625" cy="604793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672117F-DDAF-48FB-983D-BA03F04B2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61" y="412026"/>
            <a:ext cx="2741219" cy="633687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016F0-E7FD-4F89-9819-34291CCDA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44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34379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72117F-DDAF-48FB-983D-BA03F04B2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61" y="412026"/>
            <a:ext cx="2741219" cy="633687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016F0-E7FD-4F89-9819-34291CCDA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7597-8D70-4701-8085-9524B0B5C72B}" type="slidenum">
              <a:rPr lang="fr-FR" smtClean="0"/>
              <a:pPr/>
              <a:t>45</a:t>
            </a:fld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67F68B-7BEB-4171-98EF-FF8ABDFC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669" y="269529"/>
            <a:ext cx="8997888" cy="3791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F2D225-C1D2-420A-86A3-914842B17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669" y="4018167"/>
            <a:ext cx="8997888" cy="158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664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E742AF9-4AC1-ECE8-9348-B48FD5761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E1FA1BC4-7F30-B462-3978-BF4AC4518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5ECCA09F-E832-B6D8-919C-24DC1E8745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23573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Audencia BS 2023">
      <a:dk1>
        <a:srgbClr val="1F398F"/>
      </a:dk1>
      <a:lt1>
        <a:srgbClr val="FFFFFF"/>
      </a:lt1>
      <a:dk2>
        <a:srgbClr val="1F398F"/>
      </a:dk2>
      <a:lt2>
        <a:srgbClr val="FFFFFF"/>
      </a:lt2>
      <a:accent1>
        <a:srgbClr val="9378B5"/>
      </a:accent1>
      <a:accent2>
        <a:srgbClr val="758BC5"/>
      </a:accent2>
      <a:accent3>
        <a:srgbClr val="BCDCF1"/>
      </a:accent3>
      <a:accent4>
        <a:srgbClr val="85D2FB"/>
      </a:accent4>
      <a:accent5>
        <a:srgbClr val="758BC5"/>
      </a:accent5>
      <a:accent6>
        <a:srgbClr val="9378B5"/>
      </a:accent6>
      <a:hlink>
        <a:srgbClr val="9378B5"/>
      </a:hlink>
      <a:folHlink>
        <a:srgbClr val="758BC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73C6D82-6008-499B-8041-636859BA9274}" vid="{BBF4AF0D-C3C4-4976-8421-706A0A40D4A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2df8fb2-6fee-4711-b57a-2112678babd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E17CEDC22C6E4C817BE2B85326AFED" ma:contentTypeVersion="18" ma:contentTypeDescription="Crée un document." ma:contentTypeScope="" ma:versionID="ab089feb67861f1b60ae578a1b6a1d54">
  <xsd:schema xmlns:xsd="http://www.w3.org/2001/XMLSchema" xmlns:xs="http://www.w3.org/2001/XMLSchema" xmlns:p="http://schemas.microsoft.com/office/2006/metadata/properties" xmlns:ns3="92df8fb2-6fee-4711-b57a-2112678babd5" xmlns:ns4="68c52cd0-c861-4c82-9a1a-0aa4e6c6a5db" targetNamespace="http://schemas.microsoft.com/office/2006/metadata/properties" ma:root="true" ma:fieldsID="1d339df6e65ebf5105c6e55922bf7e02" ns3:_="" ns4:_="">
    <xsd:import namespace="92df8fb2-6fee-4711-b57a-2112678babd5"/>
    <xsd:import namespace="68c52cd0-c861-4c82-9a1a-0aa4e6c6a5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f8fb2-6fee-4711-b57a-2112678bab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c52cd0-c861-4c82-9a1a-0aa4e6c6a5d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8A855-AF38-4592-9E8F-37C94C03B3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549169-6676-40E5-9E50-4D3FD02992C7}">
  <ds:schemaRefs>
    <ds:schemaRef ds:uri="http://schemas.microsoft.com/office/2006/metadata/properties"/>
    <ds:schemaRef ds:uri="http://purl.org/dc/terms/"/>
    <ds:schemaRef ds:uri="68c52cd0-c861-4c82-9a1a-0aa4e6c6a5db"/>
    <ds:schemaRef ds:uri="http://schemas.openxmlformats.org/package/2006/metadata/core-properties"/>
    <ds:schemaRef ds:uri="92df8fb2-6fee-4711-b57a-2112678babd5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F466402-8D44-4D1A-AB96-C4A399C386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df8fb2-6fee-4711-b57a-2112678babd5"/>
    <ds:schemaRef ds:uri="68c52cd0-c861-4c82-9a1a-0aa4e6c6a5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AUDENCIA_BS (1)</Template>
  <TotalTime>1554</TotalTime>
  <Words>5431</Words>
  <Application>Microsoft Office PowerPoint</Application>
  <PresentationFormat>Widescreen</PresentationFormat>
  <Paragraphs>673</Paragraphs>
  <Slides>46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SourceSansPro</vt:lpstr>
      <vt:lpstr>Arial</vt:lpstr>
      <vt:lpstr>Arial Black</vt:lpstr>
      <vt:lpstr>Arial Nova</vt:lpstr>
      <vt:lpstr>Arial Nova Cond</vt:lpstr>
      <vt:lpstr>Calibri</vt:lpstr>
      <vt:lpstr>Cambria Math</vt:lpstr>
      <vt:lpstr>Symbol</vt:lpstr>
      <vt:lpstr>Wingdings</vt:lpstr>
      <vt:lpstr>Thème Office</vt:lpstr>
      <vt:lpstr>Session 6: Inventories</vt:lpstr>
      <vt:lpstr>PowerPoint Presentation</vt:lpstr>
      <vt:lpstr>PowerPoint Presentation</vt:lpstr>
      <vt:lpstr>Grade</vt:lpstr>
      <vt:lpstr>Inventories</vt:lpstr>
      <vt:lpstr>Current (operating) Assets IAS 2 - Inventories</vt:lpstr>
      <vt:lpstr>Measurement of inventories at their entry date</vt:lpstr>
      <vt:lpstr>From purchases to the cost of sales in P&amp;L </vt:lpstr>
      <vt:lpstr>P&amp;L equations</vt:lpstr>
      <vt:lpstr>Measurement of inventories at their entry date</vt:lpstr>
      <vt:lpstr>Measurement of inventories at their entry date</vt:lpstr>
      <vt:lpstr>Rational allocation of fixed costs</vt:lpstr>
      <vt:lpstr>Rational allocation of fixed costs</vt:lpstr>
      <vt:lpstr>Measurement of inventories at their entry date</vt:lpstr>
      <vt:lpstr>Measurement of inventories at their entry date</vt:lpstr>
      <vt:lpstr>From purchases to the cost of sales in P&amp;L </vt:lpstr>
      <vt:lpstr>MCQ n°1</vt:lpstr>
      <vt:lpstr>MCQ n°2</vt:lpstr>
      <vt:lpstr>Period versus product cost</vt:lpstr>
      <vt:lpstr>Measurement of inventories</vt:lpstr>
      <vt:lpstr>Measurement of inventories</vt:lpstr>
      <vt:lpstr>Measurement of inventories after recognition  FIFO, LIFO and average cost methods applied to merchandise (goods not produced by the firm ≠ finished goods)</vt:lpstr>
      <vt:lpstr>Measurement of inventories after recognition  FIFO, LIFO and average cost methods applied to merchandise (goods not produced by the firm ≠ finished goods)</vt:lpstr>
      <vt:lpstr>Measurement of inventories after recognition  FIFO, LIFO and average cost methods applied to merchandise (goods not produced by the firm ≠ finished goods)</vt:lpstr>
      <vt:lpstr>Summary table on inventory costing methods</vt:lpstr>
      <vt:lpstr>MCQ n°1</vt:lpstr>
      <vt:lpstr>MCQ n°2</vt:lpstr>
      <vt:lpstr>Periodic versus permanent inventory system</vt:lpstr>
      <vt:lpstr>Formulas</vt:lpstr>
      <vt:lpstr>Retail inventory method</vt:lpstr>
      <vt:lpstr>PowerPoint Presentation</vt:lpstr>
      <vt:lpstr>PowerPoint Presentation</vt:lpstr>
      <vt:lpstr>Write-down of inventory</vt:lpstr>
      <vt:lpstr>Differences between IFRS and US GAAP</vt:lpstr>
      <vt:lpstr>Write-down of inventory</vt:lpstr>
      <vt:lpstr>Write-down of inventory in US GAAP</vt:lpstr>
      <vt:lpstr>Write-down of inventory in US GAAP under LIFO method</vt:lpstr>
      <vt:lpstr>Write-down of inventory in US GAAP under LIFO method and retail inventory method</vt:lpstr>
      <vt:lpstr>Write-down of inventory</vt:lpstr>
      <vt:lpstr>Examples US GAAP versus IFRS</vt:lpstr>
      <vt:lpstr>Write-down of inventory: example of an old model of smartphone after the launching of a new model</vt:lpstr>
      <vt:lpstr>Write-down of inventory: example of an old model of smartphone after the launching of a new model</vt:lpstr>
      <vt:lpstr>Write-down reversals  under US GAAP and IFRS</vt:lpstr>
      <vt:lpstr>Example</vt:lpstr>
      <vt:lpstr>Example</vt:lpstr>
      <vt:lpstr>PowerPoint Presentation</vt:lpstr>
    </vt:vector>
  </TitlesOfParts>
  <Company>AUDENCIA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MATON Eric</dc:creator>
  <cp:lastModifiedBy>MATON Eric</cp:lastModifiedBy>
  <cp:revision>9</cp:revision>
  <dcterms:created xsi:type="dcterms:W3CDTF">2024-07-30T13:06:38Z</dcterms:created>
  <dcterms:modified xsi:type="dcterms:W3CDTF">2026-03-25T03:47:23Z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0x0101005DE17CEDC22C6E4C817BE2B85326AFED</vt:lpwstr>
  </property>
</Properties>
</file>