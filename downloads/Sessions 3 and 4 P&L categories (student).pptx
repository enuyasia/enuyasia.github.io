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3"/>
  </p:notesMasterIdLst>
  <p:sldIdLst>
    <p:sldId id="256" r:id="rId2"/>
    <p:sldId id="2150" r:id="rId3"/>
    <p:sldId id="2151" r:id="rId4"/>
    <p:sldId id="2152" r:id="rId5"/>
    <p:sldId id="2072" r:id="rId6"/>
    <p:sldId id="1966" r:id="rId7"/>
    <p:sldId id="448" r:id="rId8"/>
    <p:sldId id="1589" r:id="rId9"/>
    <p:sldId id="382" r:id="rId10"/>
    <p:sldId id="2076" r:id="rId11"/>
    <p:sldId id="1768" r:id="rId12"/>
    <p:sldId id="1769" r:id="rId13"/>
    <p:sldId id="2146" r:id="rId14"/>
    <p:sldId id="1617" r:id="rId15"/>
    <p:sldId id="1740" r:id="rId16"/>
    <p:sldId id="1770" r:id="rId17"/>
    <p:sldId id="2081" r:id="rId18"/>
    <p:sldId id="2082" r:id="rId19"/>
    <p:sldId id="2083" r:id="rId20"/>
    <p:sldId id="2084" r:id="rId21"/>
    <p:sldId id="2085" r:id="rId22"/>
    <p:sldId id="2086" r:id="rId23"/>
    <p:sldId id="2087" r:id="rId24"/>
    <p:sldId id="2137" r:id="rId25"/>
    <p:sldId id="2088" r:id="rId26"/>
    <p:sldId id="1771" r:id="rId27"/>
    <p:sldId id="2089" r:id="rId28"/>
    <p:sldId id="2139" r:id="rId29"/>
    <p:sldId id="2138" r:id="rId30"/>
    <p:sldId id="2091" r:id="rId31"/>
    <p:sldId id="2136" r:id="rId32"/>
    <p:sldId id="2027" r:id="rId33"/>
    <p:sldId id="2148" r:id="rId34"/>
    <p:sldId id="2034" r:id="rId35"/>
    <p:sldId id="2145" r:id="rId36"/>
    <p:sldId id="2031" r:id="rId37"/>
    <p:sldId id="2144" r:id="rId38"/>
    <p:sldId id="1702" r:id="rId39"/>
    <p:sldId id="1703" r:id="rId40"/>
    <p:sldId id="2032" r:id="rId41"/>
    <p:sldId id="2094" r:id="rId42"/>
    <p:sldId id="2095" r:id="rId43"/>
    <p:sldId id="2096" r:id="rId44"/>
    <p:sldId id="2147" r:id="rId45"/>
    <p:sldId id="2097" r:id="rId46"/>
    <p:sldId id="2098" r:id="rId47"/>
    <p:sldId id="2141" r:id="rId48"/>
    <p:sldId id="2092" r:id="rId49"/>
    <p:sldId id="2140" r:id="rId50"/>
    <p:sldId id="2093" r:id="rId51"/>
    <p:sldId id="2036" r:id="rId52"/>
    <p:sldId id="2040" r:id="rId53"/>
    <p:sldId id="2099" r:id="rId54"/>
    <p:sldId id="2100" r:id="rId55"/>
    <p:sldId id="2101" r:id="rId56"/>
    <p:sldId id="2102" r:id="rId57"/>
    <p:sldId id="2104" r:id="rId58"/>
    <p:sldId id="2105" r:id="rId59"/>
    <p:sldId id="2068" r:id="rId60"/>
    <p:sldId id="2106" r:id="rId61"/>
    <p:sldId id="2108" r:id="rId62"/>
    <p:sldId id="2109" r:id="rId63"/>
    <p:sldId id="2114" r:id="rId64"/>
    <p:sldId id="2116" r:id="rId65"/>
    <p:sldId id="2118" r:id="rId66"/>
    <p:sldId id="1686" r:id="rId67"/>
    <p:sldId id="2122" r:id="rId68"/>
    <p:sldId id="2124" r:id="rId69"/>
    <p:sldId id="2126" r:id="rId70"/>
    <p:sldId id="2127" r:id="rId71"/>
    <p:sldId id="2135" r:id="rId7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050D"/>
    <a:srgbClr val="49A682"/>
    <a:srgbClr val="22398E"/>
    <a:srgbClr val="BCDCF1"/>
    <a:srgbClr val="9378B5"/>
    <a:srgbClr val="758BC5"/>
    <a:srgbClr val="032D5A"/>
    <a:srgbClr val="0B2239"/>
    <a:srgbClr val="AECF9B"/>
    <a:srgbClr val="4AA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327"/>
  </p:normalViewPr>
  <p:slideViewPr>
    <p:cSldViewPr snapToGrid="0">
      <p:cViewPr varScale="1">
        <p:scale>
          <a:sx n="66" d="100"/>
          <a:sy n="66" d="100"/>
        </p:scale>
        <p:origin x="632" y="4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ON Eric" userId="de02f52b-0ef7-40a3-a4e0-e456b015d87b" providerId="ADAL" clId="{42764042-7A89-4163-BC53-3B04DE20AA88}"/>
    <pc:docChg chg="delSld modSld">
      <pc:chgData name="MATON Eric" userId="de02f52b-0ef7-40a3-a4e0-e456b015d87b" providerId="ADAL" clId="{42764042-7A89-4163-BC53-3B04DE20AA88}" dt="2026-03-18T06:03:06.696" v="31" actId="47"/>
      <pc:docMkLst>
        <pc:docMk/>
      </pc:docMkLst>
      <pc:sldChg chg="del">
        <pc:chgData name="MATON Eric" userId="de02f52b-0ef7-40a3-a4e0-e456b015d87b" providerId="ADAL" clId="{42764042-7A89-4163-BC53-3B04DE20AA88}" dt="2026-03-18T06:01:27.913" v="0" actId="47"/>
        <pc:sldMkLst>
          <pc:docMk/>
          <pc:sldMk cId="3155614285" sldId="1590"/>
        </pc:sldMkLst>
      </pc:sldChg>
      <pc:sldChg chg="del">
        <pc:chgData name="MATON Eric" userId="de02f52b-0ef7-40a3-a4e0-e456b015d87b" providerId="ADAL" clId="{42764042-7A89-4163-BC53-3B04DE20AA88}" dt="2026-03-18T06:01:34.200" v="3" actId="47"/>
        <pc:sldMkLst>
          <pc:docMk/>
          <pc:sldMk cId="844336803" sldId="1618"/>
        </pc:sldMkLst>
      </pc:sldChg>
      <pc:sldChg chg="del">
        <pc:chgData name="MATON Eric" userId="de02f52b-0ef7-40a3-a4e0-e456b015d87b" providerId="ADAL" clId="{42764042-7A89-4163-BC53-3B04DE20AA88}" dt="2026-03-18T06:01:34.688" v="4" actId="47"/>
        <pc:sldMkLst>
          <pc:docMk/>
          <pc:sldMk cId="1382718922" sldId="1622"/>
        </pc:sldMkLst>
      </pc:sldChg>
      <pc:sldChg chg="del">
        <pc:chgData name="MATON Eric" userId="de02f52b-0ef7-40a3-a4e0-e456b015d87b" providerId="ADAL" clId="{42764042-7A89-4163-BC53-3B04DE20AA88}" dt="2026-03-18T06:01:35.238" v="5" actId="47"/>
        <pc:sldMkLst>
          <pc:docMk/>
          <pc:sldMk cId="3196349086" sldId="1623"/>
        </pc:sldMkLst>
      </pc:sldChg>
      <pc:sldChg chg="del">
        <pc:chgData name="MATON Eric" userId="de02f52b-0ef7-40a3-a4e0-e456b015d87b" providerId="ADAL" clId="{42764042-7A89-4163-BC53-3B04DE20AA88}" dt="2026-03-18T06:01:35.774" v="6" actId="47"/>
        <pc:sldMkLst>
          <pc:docMk/>
          <pc:sldMk cId="464408688" sldId="1625"/>
        </pc:sldMkLst>
      </pc:sldChg>
      <pc:sldChg chg="del">
        <pc:chgData name="MATON Eric" userId="de02f52b-0ef7-40a3-a4e0-e456b015d87b" providerId="ADAL" clId="{42764042-7A89-4163-BC53-3B04DE20AA88}" dt="2026-03-18T06:01:38.232" v="8" actId="47"/>
        <pc:sldMkLst>
          <pc:docMk/>
          <pc:sldMk cId="210109197" sldId="1627"/>
        </pc:sldMkLst>
      </pc:sldChg>
      <pc:sldChg chg="del">
        <pc:chgData name="MATON Eric" userId="de02f52b-0ef7-40a3-a4e0-e456b015d87b" providerId="ADAL" clId="{42764042-7A89-4163-BC53-3B04DE20AA88}" dt="2026-03-18T06:01:28.495" v="1" actId="47"/>
        <pc:sldMkLst>
          <pc:docMk/>
          <pc:sldMk cId="3149243884" sldId="1708"/>
        </pc:sldMkLst>
      </pc:sldChg>
      <pc:sldChg chg="modSp mod">
        <pc:chgData name="MATON Eric" userId="de02f52b-0ef7-40a3-a4e0-e456b015d87b" providerId="ADAL" clId="{42764042-7A89-4163-BC53-3B04DE20AA88}" dt="2026-03-18T06:02:06.084" v="10" actId="20577"/>
        <pc:sldMkLst>
          <pc:docMk/>
          <pc:sldMk cId="1285049294" sldId="2034"/>
        </pc:sldMkLst>
        <pc:spChg chg="mod">
          <ac:chgData name="MATON Eric" userId="de02f52b-0ef7-40a3-a4e0-e456b015d87b" providerId="ADAL" clId="{42764042-7A89-4163-BC53-3B04DE20AA88}" dt="2026-03-18T06:02:06.084" v="10" actId="20577"/>
          <ac:spMkLst>
            <pc:docMk/>
            <pc:sldMk cId="1285049294" sldId="2034"/>
            <ac:spMk id="3" creationId="{7FDFC554-2696-3561-56A9-E2D56D2F9BCA}"/>
          </ac:spMkLst>
        </pc:spChg>
      </pc:sldChg>
      <pc:sldChg chg="del">
        <pc:chgData name="MATON Eric" userId="de02f52b-0ef7-40a3-a4e0-e456b015d87b" providerId="ADAL" clId="{42764042-7A89-4163-BC53-3B04DE20AA88}" dt="2026-03-18T06:01:33.711" v="2" actId="47"/>
        <pc:sldMkLst>
          <pc:docMk/>
          <pc:sldMk cId="3565397766" sldId="2073"/>
        </pc:sldMkLst>
      </pc:sldChg>
      <pc:sldChg chg="del">
        <pc:chgData name="MATON Eric" userId="de02f52b-0ef7-40a3-a4e0-e456b015d87b" providerId="ADAL" clId="{42764042-7A89-4163-BC53-3B04DE20AA88}" dt="2026-03-18T06:01:37.697" v="7" actId="47"/>
        <pc:sldMkLst>
          <pc:docMk/>
          <pc:sldMk cId="2714936349" sldId="2074"/>
        </pc:sldMkLst>
      </pc:sldChg>
      <pc:sldChg chg="del">
        <pc:chgData name="MATON Eric" userId="de02f52b-0ef7-40a3-a4e0-e456b015d87b" providerId="ADAL" clId="{42764042-7A89-4163-BC53-3B04DE20AA88}" dt="2026-03-18T06:02:24.419" v="11" actId="47"/>
        <pc:sldMkLst>
          <pc:docMk/>
          <pc:sldMk cId="722434460" sldId="2103"/>
        </pc:sldMkLst>
      </pc:sldChg>
      <pc:sldChg chg="del">
        <pc:chgData name="MATON Eric" userId="de02f52b-0ef7-40a3-a4e0-e456b015d87b" providerId="ADAL" clId="{42764042-7A89-4163-BC53-3B04DE20AA88}" dt="2026-03-18T06:02:29.353" v="12" actId="47"/>
        <pc:sldMkLst>
          <pc:docMk/>
          <pc:sldMk cId="3870334572" sldId="2107"/>
        </pc:sldMkLst>
      </pc:sldChg>
      <pc:sldChg chg="del">
        <pc:chgData name="MATON Eric" userId="de02f52b-0ef7-40a3-a4e0-e456b015d87b" providerId="ADAL" clId="{42764042-7A89-4163-BC53-3B04DE20AA88}" dt="2026-03-18T06:02:33.493" v="14" actId="47"/>
        <pc:sldMkLst>
          <pc:docMk/>
          <pc:sldMk cId="362131767" sldId="2110"/>
        </pc:sldMkLst>
      </pc:sldChg>
      <pc:sldChg chg="del">
        <pc:chgData name="MATON Eric" userId="de02f52b-0ef7-40a3-a4e0-e456b015d87b" providerId="ADAL" clId="{42764042-7A89-4163-BC53-3B04DE20AA88}" dt="2026-03-18T06:02:34.800" v="15" actId="47"/>
        <pc:sldMkLst>
          <pc:docMk/>
          <pc:sldMk cId="3019863626" sldId="2111"/>
        </pc:sldMkLst>
      </pc:sldChg>
      <pc:sldChg chg="del">
        <pc:chgData name="MATON Eric" userId="de02f52b-0ef7-40a3-a4e0-e456b015d87b" providerId="ADAL" clId="{42764042-7A89-4163-BC53-3B04DE20AA88}" dt="2026-03-18T06:02:40.980" v="16" actId="47"/>
        <pc:sldMkLst>
          <pc:docMk/>
          <pc:sldMk cId="268123074" sldId="2112"/>
        </pc:sldMkLst>
      </pc:sldChg>
      <pc:sldChg chg="del">
        <pc:chgData name="MATON Eric" userId="de02f52b-0ef7-40a3-a4e0-e456b015d87b" providerId="ADAL" clId="{42764042-7A89-4163-BC53-3B04DE20AA88}" dt="2026-03-18T06:02:41.613" v="17" actId="47"/>
        <pc:sldMkLst>
          <pc:docMk/>
          <pc:sldMk cId="3056712852" sldId="2113"/>
        </pc:sldMkLst>
      </pc:sldChg>
      <pc:sldChg chg="del">
        <pc:chgData name="MATON Eric" userId="de02f52b-0ef7-40a3-a4e0-e456b015d87b" providerId="ADAL" clId="{42764042-7A89-4163-BC53-3B04DE20AA88}" dt="2026-03-18T06:02:43.485" v="18" actId="47"/>
        <pc:sldMkLst>
          <pc:docMk/>
          <pc:sldMk cId="3399851661" sldId="2115"/>
        </pc:sldMkLst>
      </pc:sldChg>
      <pc:sldChg chg="del">
        <pc:chgData name="MATON Eric" userId="de02f52b-0ef7-40a3-a4e0-e456b015d87b" providerId="ADAL" clId="{42764042-7A89-4163-BC53-3B04DE20AA88}" dt="2026-03-18T06:02:44.668" v="19" actId="47"/>
        <pc:sldMkLst>
          <pc:docMk/>
          <pc:sldMk cId="4048137633" sldId="2117"/>
        </pc:sldMkLst>
      </pc:sldChg>
      <pc:sldChg chg="del">
        <pc:chgData name="MATON Eric" userId="de02f52b-0ef7-40a3-a4e0-e456b015d87b" providerId="ADAL" clId="{42764042-7A89-4163-BC53-3B04DE20AA88}" dt="2026-03-18T06:02:45.867" v="20" actId="47"/>
        <pc:sldMkLst>
          <pc:docMk/>
          <pc:sldMk cId="3495136126" sldId="2119"/>
        </pc:sldMkLst>
      </pc:sldChg>
      <pc:sldChg chg="del">
        <pc:chgData name="MATON Eric" userId="de02f52b-0ef7-40a3-a4e0-e456b015d87b" providerId="ADAL" clId="{42764042-7A89-4163-BC53-3B04DE20AA88}" dt="2026-03-18T06:02:47.110" v="21" actId="47"/>
        <pc:sldMkLst>
          <pc:docMk/>
          <pc:sldMk cId="3140535608" sldId="2120"/>
        </pc:sldMkLst>
      </pc:sldChg>
      <pc:sldChg chg="del">
        <pc:chgData name="MATON Eric" userId="de02f52b-0ef7-40a3-a4e0-e456b015d87b" providerId="ADAL" clId="{42764042-7A89-4163-BC53-3B04DE20AA88}" dt="2026-03-18T06:02:48.702" v="22" actId="47"/>
        <pc:sldMkLst>
          <pc:docMk/>
          <pc:sldMk cId="3532699558" sldId="2121"/>
        </pc:sldMkLst>
      </pc:sldChg>
      <pc:sldChg chg="del">
        <pc:chgData name="MATON Eric" userId="de02f52b-0ef7-40a3-a4e0-e456b015d87b" providerId="ADAL" clId="{42764042-7A89-4163-BC53-3B04DE20AA88}" dt="2026-03-18T06:02:50.165" v="23" actId="47"/>
        <pc:sldMkLst>
          <pc:docMk/>
          <pc:sldMk cId="3105849510" sldId="2123"/>
        </pc:sldMkLst>
      </pc:sldChg>
      <pc:sldChg chg="del">
        <pc:chgData name="MATON Eric" userId="de02f52b-0ef7-40a3-a4e0-e456b015d87b" providerId="ADAL" clId="{42764042-7A89-4163-BC53-3B04DE20AA88}" dt="2026-03-18T06:02:51.852" v="24" actId="47"/>
        <pc:sldMkLst>
          <pc:docMk/>
          <pc:sldMk cId="155400359" sldId="2125"/>
        </pc:sldMkLst>
      </pc:sldChg>
      <pc:sldChg chg="del">
        <pc:chgData name="MATON Eric" userId="de02f52b-0ef7-40a3-a4e0-e456b015d87b" providerId="ADAL" clId="{42764042-7A89-4163-BC53-3B04DE20AA88}" dt="2026-03-18T06:02:58.148" v="25" actId="47"/>
        <pc:sldMkLst>
          <pc:docMk/>
          <pc:sldMk cId="545052043" sldId="2128"/>
        </pc:sldMkLst>
      </pc:sldChg>
      <pc:sldChg chg="del">
        <pc:chgData name="MATON Eric" userId="de02f52b-0ef7-40a3-a4e0-e456b015d87b" providerId="ADAL" clId="{42764042-7A89-4163-BC53-3B04DE20AA88}" dt="2026-03-18T06:03:00.126" v="26" actId="47"/>
        <pc:sldMkLst>
          <pc:docMk/>
          <pc:sldMk cId="2011110632" sldId="2129"/>
        </pc:sldMkLst>
      </pc:sldChg>
      <pc:sldChg chg="del">
        <pc:chgData name="MATON Eric" userId="de02f52b-0ef7-40a3-a4e0-e456b015d87b" providerId="ADAL" clId="{42764042-7A89-4163-BC53-3B04DE20AA88}" dt="2026-03-18T06:03:01.440" v="27" actId="47"/>
        <pc:sldMkLst>
          <pc:docMk/>
          <pc:sldMk cId="4185981616" sldId="2130"/>
        </pc:sldMkLst>
      </pc:sldChg>
      <pc:sldChg chg="del">
        <pc:chgData name="MATON Eric" userId="de02f52b-0ef7-40a3-a4e0-e456b015d87b" providerId="ADAL" clId="{42764042-7A89-4163-BC53-3B04DE20AA88}" dt="2026-03-18T06:03:02.669" v="28" actId="47"/>
        <pc:sldMkLst>
          <pc:docMk/>
          <pc:sldMk cId="4191175293" sldId="2131"/>
        </pc:sldMkLst>
      </pc:sldChg>
      <pc:sldChg chg="del">
        <pc:chgData name="MATON Eric" userId="de02f52b-0ef7-40a3-a4e0-e456b015d87b" providerId="ADAL" clId="{42764042-7A89-4163-BC53-3B04DE20AA88}" dt="2026-03-18T06:03:03.871" v="29" actId="47"/>
        <pc:sldMkLst>
          <pc:docMk/>
          <pc:sldMk cId="2718822816" sldId="2132"/>
        </pc:sldMkLst>
      </pc:sldChg>
      <pc:sldChg chg="del">
        <pc:chgData name="MATON Eric" userId="de02f52b-0ef7-40a3-a4e0-e456b015d87b" providerId="ADAL" clId="{42764042-7A89-4163-BC53-3B04DE20AA88}" dt="2026-03-18T06:03:04.846" v="30" actId="47"/>
        <pc:sldMkLst>
          <pc:docMk/>
          <pc:sldMk cId="3721220307" sldId="2133"/>
        </pc:sldMkLst>
      </pc:sldChg>
      <pc:sldChg chg="del">
        <pc:chgData name="MATON Eric" userId="de02f52b-0ef7-40a3-a4e0-e456b015d87b" providerId="ADAL" clId="{42764042-7A89-4163-BC53-3B04DE20AA88}" dt="2026-03-18T06:03:06.696" v="31" actId="47"/>
        <pc:sldMkLst>
          <pc:docMk/>
          <pc:sldMk cId="1880765492" sldId="2134"/>
        </pc:sldMkLst>
      </pc:sldChg>
      <pc:sldChg chg="del">
        <pc:chgData name="MATON Eric" userId="de02f52b-0ef7-40a3-a4e0-e456b015d87b" providerId="ADAL" clId="{42764042-7A89-4163-BC53-3B04DE20AA88}" dt="2026-03-18T06:02:30.397" v="13" actId="47"/>
        <pc:sldMkLst>
          <pc:docMk/>
          <pc:sldMk cId="10346231" sldId="2149"/>
        </pc:sldMkLst>
      </pc:sldChg>
      <pc:sldMasterChg chg="delSldLayout">
        <pc:chgData name="MATON Eric" userId="de02f52b-0ef7-40a3-a4e0-e456b015d87b" providerId="ADAL" clId="{42764042-7A89-4163-BC53-3B04DE20AA88}" dt="2026-03-18T06:03:06.696" v="31" actId="47"/>
        <pc:sldMasterMkLst>
          <pc:docMk/>
          <pc:sldMasterMk cId="4198775762" sldId="2147483648"/>
        </pc:sldMasterMkLst>
        <pc:sldLayoutChg chg="del">
          <pc:chgData name="MATON Eric" userId="de02f52b-0ef7-40a3-a4e0-e456b015d87b" providerId="ADAL" clId="{42764042-7A89-4163-BC53-3B04DE20AA88}" dt="2026-03-18T06:02:24.419" v="11" actId="47"/>
          <pc:sldLayoutMkLst>
            <pc:docMk/>
            <pc:sldMasterMk cId="4198775762" sldId="2147483648"/>
            <pc:sldLayoutMk cId="1407680704" sldId="2147483751"/>
          </pc:sldLayoutMkLst>
        </pc:sldLayoutChg>
        <pc:sldLayoutChg chg="del">
          <pc:chgData name="MATON Eric" userId="de02f52b-0ef7-40a3-a4e0-e456b015d87b" providerId="ADAL" clId="{42764042-7A89-4163-BC53-3B04DE20AA88}" dt="2026-03-18T06:02:29.353" v="12" actId="47"/>
          <pc:sldLayoutMkLst>
            <pc:docMk/>
            <pc:sldMasterMk cId="4198775762" sldId="2147483648"/>
            <pc:sldLayoutMk cId="703928973" sldId="2147483755"/>
          </pc:sldLayoutMkLst>
        </pc:sldLayoutChg>
        <pc:sldLayoutChg chg="del">
          <pc:chgData name="MATON Eric" userId="de02f52b-0ef7-40a3-a4e0-e456b015d87b" providerId="ADAL" clId="{42764042-7A89-4163-BC53-3B04DE20AA88}" dt="2026-03-18T06:02:33.493" v="14" actId="47"/>
          <pc:sldLayoutMkLst>
            <pc:docMk/>
            <pc:sldMasterMk cId="4198775762" sldId="2147483648"/>
            <pc:sldLayoutMk cId="2364423405" sldId="2147483758"/>
          </pc:sldLayoutMkLst>
        </pc:sldLayoutChg>
        <pc:sldLayoutChg chg="del">
          <pc:chgData name="MATON Eric" userId="de02f52b-0ef7-40a3-a4e0-e456b015d87b" providerId="ADAL" clId="{42764042-7A89-4163-BC53-3B04DE20AA88}" dt="2026-03-18T06:02:34.800" v="15" actId="47"/>
          <pc:sldLayoutMkLst>
            <pc:docMk/>
            <pc:sldMasterMk cId="4198775762" sldId="2147483648"/>
            <pc:sldLayoutMk cId="4198789531" sldId="2147483759"/>
          </pc:sldLayoutMkLst>
        </pc:sldLayoutChg>
        <pc:sldLayoutChg chg="del">
          <pc:chgData name="MATON Eric" userId="de02f52b-0ef7-40a3-a4e0-e456b015d87b" providerId="ADAL" clId="{42764042-7A89-4163-BC53-3B04DE20AA88}" dt="2026-03-18T06:02:40.980" v="16" actId="47"/>
          <pc:sldLayoutMkLst>
            <pc:docMk/>
            <pc:sldMasterMk cId="4198775762" sldId="2147483648"/>
            <pc:sldLayoutMk cId="2316878727" sldId="2147483760"/>
          </pc:sldLayoutMkLst>
        </pc:sldLayoutChg>
        <pc:sldLayoutChg chg="del">
          <pc:chgData name="MATON Eric" userId="de02f52b-0ef7-40a3-a4e0-e456b015d87b" providerId="ADAL" clId="{42764042-7A89-4163-BC53-3B04DE20AA88}" dt="2026-03-18T06:02:41.613" v="17" actId="47"/>
          <pc:sldLayoutMkLst>
            <pc:docMk/>
            <pc:sldMasterMk cId="4198775762" sldId="2147483648"/>
            <pc:sldLayoutMk cId="513443346" sldId="2147483761"/>
          </pc:sldLayoutMkLst>
        </pc:sldLayoutChg>
        <pc:sldLayoutChg chg="del">
          <pc:chgData name="MATON Eric" userId="de02f52b-0ef7-40a3-a4e0-e456b015d87b" providerId="ADAL" clId="{42764042-7A89-4163-BC53-3B04DE20AA88}" dt="2026-03-18T06:02:43.485" v="18" actId="47"/>
          <pc:sldLayoutMkLst>
            <pc:docMk/>
            <pc:sldMasterMk cId="4198775762" sldId="2147483648"/>
            <pc:sldLayoutMk cId="2851043745" sldId="2147483763"/>
          </pc:sldLayoutMkLst>
        </pc:sldLayoutChg>
        <pc:sldLayoutChg chg="del">
          <pc:chgData name="MATON Eric" userId="de02f52b-0ef7-40a3-a4e0-e456b015d87b" providerId="ADAL" clId="{42764042-7A89-4163-BC53-3B04DE20AA88}" dt="2026-03-18T06:02:44.668" v="19" actId="47"/>
          <pc:sldLayoutMkLst>
            <pc:docMk/>
            <pc:sldMasterMk cId="4198775762" sldId="2147483648"/>
            <pc:sldLayoutMk cId="1966416165" sldId="2147483765"/>
          </pc:sldLayoutMkLst>
        </pc:sldLayoutChg>
        <pc:sldLayoutChg chg="del">
          <pc:chgData name="MATON Eric" userId="de02f52b-0ef7-40a3-a4e0-e456b015d87b" providerId="ADAL" clId="{42764042-7A89-4163-BC53-3B04DE20AA88}" dt="2026-03-18T06:02:45.867" v="20" actId="47"/>
          <pc:sldLayoutMkLst>
            <pc:docMk/>
            <pc:sldMasterMk cId="4198775762" sldId="2147483648"/>
            <pc:sldLayoutMk cId="3007695989" sldId="2147483767"/>
          </pc:sldLayoutMkLst>
        </pc:sldLayoutChg>
        <pc:sldLayoutChg chg="del">
          <pc:chgData name="MATON Eric" userId="de02f52b-0ef7-40a3-a4e0-e456b015d87b" providerId="ADAL" clId="{42764042-7A89-4163-BC53-3B04DE20AA88}" dt="2026-03-18T06:02:48.702" v="22" actId="47"/>
          <pc:sldLayoutMkLst>
            <pc:docMk/>
            <pc:sldMasterMk cId="4198775762" sldId="2147483648"/>
            <pc:sldLayoutMk cId="2284728035" sldId="2147483769"/>
          </pc:sldLayoutMkLst>
        </pc:sldLayoutChg>
        <pc:sldLayoutChg chg="del">
          <pc:chgData name="MATON Eric" userId="de02f52b-0ef7-40a3-a4e0-e456b015d87b" providerId="ADAL" clId="{42764042-7A89-4163-BC53-3B04DE20AA88}" dt="2026-03-18T06:02:50.165" v="23" actId="47"/>
          <pc:sldLayoutMkLst>
            <pc:docMk/>
            <pc:sldMasterMk cId="4198775762" sldId="2147483648"/>
            <pc:sldLayoutMk cId="1999473866" sldId="2147483771"/>
          </pc:sldLayoutMkLst>
        </pc:sldLayoutChg>
        <pc:sldLayoutChg chg="del">
          <pc:chgData name="MATON Eric" userId="de02f52b-0ef7-40a3-a4e0-e456b015d87b" providerId="ADAL" clId="{42764042-7A89-4163-BC53-3B04DE20AA88}" dt="2026-03-18T06:02:51.852" v="24" actId="47"/>
          <pc:sldLayoutMkLst>
            <pc:docMk/>
            <pc:sldMasterMk cId="4198775762" sldId="2147483648"/>
            <pc:sldLayoutMk cId="399087368" sldId="2147483774"/>
          </pc:sldLayoutMkLst>
        </pc:sldLayoutChg>
        <pc:sldLayoutChg chg="del">
          <pc:chgData name="MATON Eric" userId="de02f52b-0ef7-40a3-a4e0-e456b015d87b" providerId="ADAL" clId="{42764042-7A89-4163-BC53-3B04DE20AA88}" dt="2026-03-18T06:02:58.148" v="25" actId="47"/>
          <pc:sldLayoutMkLst>
            <pc:docMk/>
            <pc:sldMasterMk cId="4198775762" sldId="2147483648"/>
            <pc:sldLayoutMk cId="907119938" sldId="2147483776"/>
          </pc:sldLayoutMkLst>
        </pc:sldLayoutChg>
        <pc:sldLayoutChg chg="del">
          <pc:chgData name="MATON Eric" userId="de02f52b-0ef7-40a3-a4e0-e456b015d87b" providerId="ADAL" clId="{42764042-7A89-4163-BC53-3B04DE20AA88}" dt="2026-03-18T06:03:00.126" v="26" actId="47"/>
          <pc:sldLayoutMkLst>
            <pc:docMk/>
            <pc:sldMasterMk cId="4198775762" sldId="2147483648"/>
            <pc:sldLayoutMk cId="542251992" sldId="2147483777"/>
          </pc:sldLayoutMkLst>
        </pc:sldLayoutChg>
        <pc:sldLayoutChg chg="del">
          <pc:chgData name="MATON Eric" userId="de02f52b-0ef7-40a3-a4e0-e456b015d87b" providerId="ADAL" clId="{42764042-7A89-4163-BC53-3B04DE20AA88}" dt="2026-03-18T06:03:01.440" v="27" actId="47"/>
          <pc:sldLayoutMkLst>
            <pc:docMk/>
            <pc:sldMasterMk cId="4198775762" sldId="2147483648"/>
            <pc:sldLayoutMk cId="108069771" sldId="2147483778"/>
          </pc:sldLayoutMkLst>
        </pc:sldLayoutChg>
        <pc:sldLayoutChg chg="del">
          <pc:chgData name="MATON Eric" userId="de02f52b-0ef7-40a3-a4e0-e456b015d87b" providerId="ADAL" clId="{42764042-7A89-4163-BC53-3B04DE20AA88}" dt="2026-03-18T06:03:02.669" v="28" actId="47"/>
          <pc:sldLayoutMkLst>
            <pc:docMk/>
            <pc:sldMasterMk cId="4198775762" sldId="2147483648"/>
            <pc:sldLayoutMk cId="1051283965" sldId="2147483779"/>
          </pc:sldLayoutMkLst>
        </pc:sldLayoutChg>
        <pc:sldLayoutChg chg="del">
          <pc:chgData name="MATON Eric" userId="de02f52b-0ef7-40a3-a4e0-e456b015d87b" providerId="ADAL" clId="{42764042-7A89-4163-BC53-3B04DE20AA88}" dt="2026-03-18T06:03:03.871" v="29" actId="47"/>
          <pc:sldLayoutMkLst>
            <pc:docMk/>
            <pc:sldMasterMk cId="4198775762" sldId="2147483648"/>
            <pc:sldLayoutMk cId="2500098181" sldId="2147483780"/>
          </pc:sldLayoutMkLst>
        </pc:sldLayoutChg>
        <pc:sldLayoutChg chg="del">
          <pc:chgData name="MATON Eric" userId="de02f52b-0ef7-40a3-a4e0-e456b015d87b" providerId="ADAL" clId="{42764042-7A89-4163-BC53-3B04DE20AA88}" dt="2026-03-18T06:03:04.846" v="30" actId="47"/>
          <pc:sldLayoutMkLst>
            <pc:docMk/>
            <pc:sldMasterMk cId="4198775762" sldId="2147483648"/>
            <pc:sldLayoutMk cId="3245132470" sldId="2147483824"/>
          </pc:sldLayoutMkLst>
        </pc:sldLayoutChg>
        <pc:sldLayoutChg chg="del">
          <pc:chgData name="MATON Eric" userId="de02f52b-0ef7-40a3-a4e0-e456b015d87b" providerId="ADAL" clId="{42764042-7A89-4163-BC53-3B04DE20AA88}" dt="2026-03-18T06:03:06.696" v="31" actId="47"/>
          <pc:sldLayoutMkLst>
            <pc:docMk/>
            <pc:sldMasterMk cId="4198775762" sldId="2147483648"/>
            <pc:sldLayoutMk cId="1312668088" sldId="214748382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40D27B-2016-174A-B7B7-991520FAB32C}" type="datetimeFigureOut">
              <a:rPr lang="fr-FR" smtClean="0"/>
              <a:t>18/03/2026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DC170-3469-2B48-8658-1397C6D0E8F0}" type="slidenum">
              <a:rPr lang="fr-FR" smtClean="0"/>
              <a:t>‹#›</a:t>
            </a:fld>
            <a:endParaRPr lang="fr-FR"/>
          </a:p>
        </p:txBody>
      </p:sp>
    </p:spTree>
    <p:extLst>
      <p:ext uri="{BB962C8B-B14F-4D97-AF65-F5344CB8AC3E}">
        <p14:creationId xmlns:p14="http://schemas.microsoft.com/office/powerpoint/2010/main" val="2195281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Tree>
    <p:extLst>
      <p:ext uri="{BB962C8B-B14F-4D97-AF65-F5344CB8AC3E}">
        <p14:creationId xmlns:p14="http://schemas.microsoft.com/office/powerpoint/2010/main" val="2080059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Tree>
    <p:extLst>
      <p:ext uri="{BB962C8B-B14F-4D97-AF65-F5344CB8AC3E}">
        <p14:creationId xmlns:p14="http://schemas.microsoft.com/office/powerpoint/2010/main" val="3092700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gradFill>
          <a:gsLst>
            <a:gs pos="100000">
              <a:srgbClr val="22398E"/>
            </a:gs>
            <a:gs pos="0">
              <a:srgbClr val="9378B5"/>
            </a:gs>
          </a:gsLst>
          <a:lin ang="2700000" scaled="0"/>
        </a:gradFill>
        <a:effectLst/>
      </p:bgPr>
    </p:bg>
    <p:spTree>
      <p:nvGrpSpPr>
        <p:cNvPr id="1" name=""/>
        <p:cNvGrpSpPr/>
        <p:nvPr/>
      </p:nvGrpSpPr>
      <p:grpSpPr>
        <a:xfrm>
          <a:off x="0" y="0"/>
          <a:ext cx="0" cy="0"/>
          <a:chOff x="0" y="0"/>
          <a:chExt cx="0" cy="0"/>
        </a:xfrm>
      </p:grpSpPr>
      <p:sp>
        <p:nvSpPr>
          <p:cNvPr id="29" name="Graphique 29">
            <a:extLst>
              <a:ext uri="{FF2B5EF4-FFF2-40B4-BE49-F238E27FC236}">
                <a16:creationId xmlns:a16="http://schemas.microsoft.com/office/drawing/2014/main" id="{ACDAC0E6-336F-D65D-6BB5-E94D37DA346B}"/>
              </a:ext>
            </a:extLst>
          </p:cNvPr>
          <p:cNvSpPr/>
          <p:nvPr userDrawn="1"/>
        </p:nvSpPr>
        <p:spPr>
          <a:xfrm>
            <a:off x="0" y="358120"/>
            <a:ext cx="6451041" cy="7878285"/>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758BC5">
              <a:alpha val="70000"/>
            </a:srgbClr>
          </a:solidFill>
          <a:ln w="6093" cap="flat">
            <a:noFill/>
            <a:prstDash val="solid"/>
            <a:miter/>
          </a:ln>
        </p:spPr>
        <p:txBody>
          <a:bodyPr rtlCol="0" anchor="ctr"/>
          <a:lstStyle/>
          <a:p>
            <a:endParaRPr lang="fr-FR">
              <a:solidFill>
                <a:schemeClr val="accent2"/>
              </a:solidFill>
            </a:endParaRPr>
          </a:p>
        </p:txBody>
      </p:sp>
      <p:sp>
        <p:nvSpPr>
          <p:cNvPr id="2" name="Titre 1">
            <a:extLst>
              <a:ext uri="{FF2B5EF4-FFF2-40B4-BE49-F238E27FC236}">
                <a16:creationId xmlns:a16="http://schemas.microsoft.com/office/drawing/2014/main" id="{E4675E09-98F4-CB40-847A-223EE4FF2325}"/>
              </a:ext>
            </a:extLst>
          </p:cNvPr>
          <p:cNvSpPr>
            <a:spLocks noGrp="1"/>
          </p:cNvSpPr>
          <p:nvPr>
            <p:ph type="ctrTitle"/>
          </p:nvPr>
        </p:nvSpPr>
        <p:spPr>
          <a:xfrm>
            <a:off x="1524000" y="2105281"/>
            <a:ext cx="9144000" cy="2387600"/>
          </a:xfrm>
        </p:spPr>
        <p:txBody>
          <a:bodyPr anchor="b"/>
          <a:lstStyle>
            <a:lvl1pPr algn="ctr">
              <a:defRPr sz="6000">
                <a:solidFill>
                  <a:srgbClr val="BCDCF1"/>
                </a:solidFill>
                <a:latin typeface="Arial" panose="020B0604020202020204" pitchFamily="34" charset="0"/>
                <a:cs typeface="Arial" panose="020B0604020202020204" pitchFamily="34" charset="0"/>
              </a:defRPr>
            </a:lvl1pPr>
          </a:lstStyle>
          <a:p>
            <a:r>
              <a:rPr lang="en-US"/>
              <a:t>Click to edit Master title style</a:t>
            </a:r>
            <a:endParaRPr lang="fr-FR" dirty="0"/>
          </a:p>
        </p:txBody>
      </p:sp>
      <p:sp>
        <p:nvSpPr>
          <p:cNvPr id="3" name="Sous-titre 2">
            <a:extLst>
              <a:ext uri="{FF2B5EF4-FFF2-40B4-BE49-F238E27FC236}">
                <a16:creationId xmlns:a16="http://schemas.microsoft.com/office/drawing/2014/main" id="{B8CA446D-6137-3B12-BD1E-2599511A02D5}"/>
              </a:ext>
            </a:extLst>
          </p:cNvPr>
          <p:cNvSpPr>
            <a:spLocks noGrp="1"/>
          </p:cNvSpPr>
          <p:nvPr>
            <p:ph type="subTitle" idx="1"/>
          </p:nvPr>
        </p:nvSpPr>
        <p:spPr>
          <a:xfrm>
            <a:off x="1524000" y="4591852"/>
            <a:ext cx="9144000" cy="1655762"/>
          </a:xfrm>
        </p:spPr>
        <p:txBody>
          <a:bodyPr/>
          <a:lstStyle>
            <a:lvl1pPr marL="0" indent="0" algn="ctr">
              <a:buNone/>
              <a:defRPr sz="2400" b="0" i="1">
                <a:solidFill>
                  <a:schemeClr val="bg1"/>
                </a:solidFill>
                <a:latin typeface="Arial Nova Cond" panose="020B0506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dirty="0"/>
          </a:p>
        </p:txBody>
      </p:sp>
      <p:grpSp>
        <p:nvGrpSpPr>
          <p:cNvPr id="14" name="Groupe 13">
            <a:extLst>
              <a:ext uri="{FF2B5EF4-FFF2-40B4-BE49-F238E27FC236}">
                <a16:creationId xmlns:a16="http://schemas.microsoft.com/office/drawing/2014/main" id="{3983B729-1067-981B-92A3-93D88B6F605E}"/>
              </a:ext>
            </a:extLst>
          </p:cNvPr>
          <p:cNvGrpSpPr/>
          <p:nvPr userDrawn="1"/>
        </p:nvGrpSpPr>
        <p:grpSpPr>
          <a:xfrm>
            <a:off x="640333" y="537230"/>
            <a:ext cx="1460543" cy="1648190"/>
            <a:chOff x="5706531" y="490797"/>
            <a:chExt cx="1100669" cy="1242080"/>
          </a:xfrm>
          <a:solidFill>
            <a:srgbClr val="BCDCF1"/>
          </a:solidFill>
        </p:grpSpPr>
        <p:grpSp>
          <p:nvGrpSpPr>
            <p:cNvPr id="15" name="Groupe 14">
              <a:extLst>
                <a:ext uri="{FF2B5EF4-FFF2-40B4-BE49-F238E27FC236}">
                  <a16:creationId xmlns:a16="http://schemas.microsoft.com/office/drawing/2014/main" id="{20F5A30A-B8B9-76A8-E1F3-D39A5F61B0D0}"/>
                </a:ext>
              </a:extLst>
            </p:cNvPr>
            <p:cNvGrpSpPr/>
            <p:nvPr/>
          </p:nvGrpSpPr>
          <p:grpSpPr>
            <a:xfrm>
              <a:off x="5812721" y="490797"/>
              <a:ext cx="890009" cy="889269"/>
              <a:chOff x="2571750" y="2711450"/>
              <a:chExt cx="1439148" cy="1437951"/>
            </a:xfrm>
            <a:grpFill/>
          </p:grpSpPr>
          <p:sp>
            <p:nvSpPr>
              <p:cNvPr id="25" name="Forme libre 24">
                <a:extLst>
                  <a:ext uri="{FF2B5EF4-FFF2-40B4-BE49-F238E27FC236}">
                    <a16:creationId xmlns:a16="http://schemas.microsoft.com/office/drawing/2014/main" id="{293068B8-BCDD-3640-F482-C23282BE3F39}"/>
                  </a:ext>
                </a:extLst>
              </p:cNvPr>
              <p:cNvSpPr/>
              <p:nvPr/>
            </p:nvSpPr>
            <p:spPr>
              <a:xfrm>
                <a:off x="2821538" y="2890124"/>
                <a:ext cx="715298" cy="646365"/>
              </a:xfrm>
              <a:custGeom>
                <a:avLst/>
                <a:gdLst>
                  <a:gd name="connsiteX0" fmla="*/ 0 w 715298"/>
                  <a:gd name="connsiteY0" fmla="*/ 646270 h 646365"/>
                  <a:gd name="connsiteX1" fmla="*/ 173121 w 715298"/>
                  <a:gd name="connsiteY1" fmla="*/ 392704 h 646365"/>
                  <a:gd name="connsiteX2" fmla="*/ 173977 w 715298"/>
                  <a:gd name="connsiteY2" fmla="*/ 391469 h 646365"/>
                  <a:gd name="connsiteX3" fmla="*/ 411495 w 715298"/>
                  <a:gd name="connsiteY3" fmla="*/ 79928 h 646365"/>
                  <a:gd name="connsiteX4" fmla="*/ 574534 w 715298"/>
                  <a:gd name="connsiteY4" fmla="*/ 0 h 646365"/>
                  <a:gd name="connsiteX5" fmla="*/ 692389 w 715298"/>
                  <a:gd name="connsiteY5" fmla="*/ 97131 h 646365"/>
                  <a:gd name="connsiteX6" fmla="*/ 712269 w 715298"/>
                  <a:gd name="connsiteY6" fmla="*/ 437183 h 646365"/>
                  <a:gd name="connsiteX7" fmla="*/ 0 w 715298"/>
                  <a:gd name="connsiteY7" fmla="*/ 646365 h 6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298" h="646365">
                    <a:moveTo>
                      <a:pt x="0" y="646270"/>
                    </a:moveTo>
                    <a:cubicBezTo>
                      <a:pt x="27966" y="604738"/>
                      <a:pt x="84848" y="521103"/>
                      <a:pt x="173121" y="392704"/>
                    </a:cubicBezTo>
                    <a:lnTo>
                      <a:pt x="173977" y="391469"/>
                    </a:lnTo>
                    <a:cubicBezTo>
                      <a:pt x="250835" y="279702"/>
                      <a:pt x="323508" y="174018"/>
                      <a:pt x="411495" y="79928"/>
                    </a:cubicBezTo>
                    <a:cubicBezTo>
                      <a:pt x="457534" y="30603"/>
                      <a:pt x="520029" y="0"/>
                      <a:pt x="574534" y="0"/>
                    </a:cubicBezTo>
                    <a:cubicBezTo>
                      <a:pt x="614960" y="0"/>
                      <a:pt x="668323" y="16822"/>
                      <a:pt x="692389" y="97131"/>
                    </a:cubicBezTo>
                    <a:cubicBezTo>
                      <a:pt x="723494" y="200154"/>
                      <a:pt x="714743" y="392704"/>
                      <a:pt x="712269" y="437183"/>
                    </a:cubicBezTo>
                    <a:cubicBezTo>
                      <a:pt x="660809" y="456286"/>
                      <a:pt x="388857" y="555127"/>
                      <a:pt x="0" y="646365"/>
                    </a:cubicBezTo>
                  </a:path>
                </a:pathLst>
              </a:custGeom>
              <a:grpFill/>
              <a:ln w="9512"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3573FEFB-A28F-E91E-B749-75CAA07CBB9F}"/>
                  </a:ext>
                </a:extLst>
              </p:cNvPr>
              <p:cNvSpPr/>
              <p:nvPr/>
            </p:nvSpPr>
            <p:spPr>
              <a:xfrm>
                <a:off x="2571750" y="2711450"/>
                <a:ext cx="1384492" cy="709566"/>
              </a:xfrm>
              <a:custGeom>
                <a:avLst/>
                <a:gdLst>
                  <a:gd name="connsiteX0" fmla="*/ 0 w 1384492"/>
                  <a:gd name="connsiteY0" fmla="*/ 704910 h 709566"/>
                  <a:gd name="connsiteX1" fmla="*/ 215926 w 1384492"/>
                  <a:gd name="connsiteY1" fmla="*/ 205381 h 709566"/>
                  <a:gd name="connsiteX2" fmla="*/ 719213 w 1384492"/>
                  <a:gd name="connsiteY2" fmla="*/ 0 h 709566"/>
                  <a:gd name="connsiteX3" fmla="*/ 733577 w 1384492"/>
                  <a:gd name="connsiteY3" fmla="*/ 95 h 709566"/>
                  <a:gd name="connsiteX4" fmla="*/ 1384493 w 1384492"/>
                  <a:gd name="connsiteY4" fmla="*/ 443836 h 709566"/>
                  <a:gd name="connsiteX5" fmla="*/ 1104265 w 1384492"/>
                  <a:gd name="connsiteY5" fmla="*/ 562065 h 709566"/>
                  <a:gd name="connsiteX6" fmla="*/ 1037204 w 1384492"/>
                  <a:gd name="connsiteY6" fmla="*/ 206997 h 709566"/>
                  <a:gd name="connsiteX7" fmla="*/ 854381 w 1384492"/>
                  <a:gd name="connsiteY7" fmla="*/ 61491 h 709566"/>
                  <a:gd name="connsiteX8" fmla="*/ 689535 w 1384492"/>
                  <a:gd name="connsiteY8" fmla="*/ 110911 h 709566"/>
                  <a:gd name="connsiteX9" fmla="*/ 327218 w 1384492"/>
                  <a:gd name="connsiteY9" fmla="*/ 398787 h 709566"/>
                  <a:gd name="connsiteX10" fmla="*/ 0 w 1384492"/>
                  <a:gd name="connsiteY10" fmla="*/ 709567 h 709566"/>
                  <a:gd name="connsiteX11" fmla="*/ 0 w 1384492"/>
                  <a:gd name="connsiteY11" fmla="*/ 704910 h 70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4492" h="709566">
                    <a:moveTo>
                      <a:pt x="0" y="704910"/>
                    </a:moveTo>
                    <a:cubicBezTo>
                      <a:pt x="3710" y="515400"/>
                      <a:pt x="80378" y="337961"/>
                      <a:pt x="215926" y="205381"/>
                    </a:cubicBezTo>
                    <a:cubicBezTo>
                      <a:pt x="351284" y="72991"/>
                      <a:pt x="529922" y="0"/>
                      <a:pt x="719213" y="0"/>
                    </a:cubicBezTo>
                    <a:cubicBezTo>
                      <a:pt x="723969" y="0"/>
                      <a:pt x="728821" y="0"/>
                      <a:pt x="733577" y="95"/>
                    </a:cubicBezTo>
                    <a:cubicBezTo>
                      <a:pt x="1020844" y="5702"/>
                      <a:pt x="1274913" y="179435"/>
                      <a:pt x="1384493" y="443836"/>
                    </a:cubicBezTo>
                    <a:cubicBezTo>
                      <a:pt x="1346730" y="461323"/>
                      <a:pt x="1245330" y="507132"/>
                      <a:pt x="1104265" y="562065"/>
                    </a:cubicBezTo>
                    <a:cubicBezTo>
                      <a:pt x="1084955" y="435092"/>
                      <a:pt x="1060414" y="285499"/>
                      <a:pt x="1037204" y="206997"/>
                    </a:cubicBezTo>
                    <a:cubicBezTo>
                      <a:pt x="1009809" y="114523"/>
                      <a:pt x="943224" y="61491"/>
                      <a:pt x="854381" y="61491"/>
                    </a:cubicBezTo>
                    <a:cubicBezTo>
                      <a:pt x="803871" y="61491"/>
                      <a:pt x="748416" y="78123"/>
                      <a:pt x="689535" y="110911"/>
                    </a:cubicBezTo>
                    <a:cubicBezTo>
                      <a:pt x="621333" y="149022"/>
                      <a:pt x="499483" y="245773"/>
                      <a:pt x="327218" y="398787"/>
                    </a:cubicBezTo>
                    <a:cubicBezTo>
                      <a:pt x="189767" y="520818"/>
                      <a:pt x="60783" y="648456"/>
                      <a:pt x="0" y="709567"/>
                    </a:cubicBezTo>
                    <a:cubicBezTo>
                      <a:pt x="0" y="708046"/>
                      <a:pt x="0" y="706525"/>
                      <a:pt x="0" y="704910"/>
                    </a:cubicBezTo>
                  </a:path>
                </a:pathLst>
              </a:custGeom>
              <a:grpFill/>
              <a:ln w="9512"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1A99EC4-B92E-BFB4-9985-4EB2259E196D}"/>
                  </a:ext>
                </a:extLst>
              </p:cNvPr>
              <p:cNvSpPr/>
              <p:nvPr/>
            </p:nvSpPr>
            <p:spPr>
              <a:xfrm>
                <a:off x="2666966" y="3498474"/>
                <a:ext cx="858280" cy="650927"/>
              </a:xfrm>
              <a:custGeom>
                <a:avLst/>
                <a:gdLst>
                  <a:gd name="connsiteX0" fmla="*/ 624568 w 858280"/>
                  <a:gd name="connsiteY0" fmla="*/ 650927 h 650927"/>
                  <a:gd name="connsiteX1" fmla="*/ 610299 w 858280"/>
                  <a:gd name="connsiteY1" fmla="*/ 650737 h 650927"/>
                  <a:gd name="connsiteX2" fmla="*/ 0 w 858280"/>
                  <a:gd name="connsiteY2" fmla="*/ 289681 h 650927"/>
                  <a:gd name="connsiteX3" fmla="*/ 858281 w 858280"/>
                  <a:gd name="connsiteY3" fmla="*/ 0 h 650927"/>
                  <a:gd name="connsiteX4" fmla="*/ 803206 w 858280"/>
                  <a:gd name="connsiteY4" fmla="*/ 628403 h 650927"/>
                  <a:gd name="connsiteX5" fmla="*/ 624568 w 858280"/>
                  <a:gd name="connsiteY5" fmla="*/ 650832 h 65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8280" h="650927">
                    <a:moveTo>
                      <a:pt x="624568" y="650927"/>
                    </a:moveTo>
                    <a:cubicBezTo>
                      <a:pt x="619811" y="650927"/>
                      <a:pt x="615055" y="650927"/>
                      <a:pt x="610299" y="650737"/>
                    </a:cubicBezTo>
                    <a:cubicBezTo>
                      <a:pt x="357942" y="645890"/>
                      <a:pt x="125560" y="507987"/>
                      <a:pt x="0" y="289681"/>
                    </a:cubicBezTo>
                    <a:cubicBezTo>
                      <a:pt x="93409" y="249859"/>
                      <a:pt x="427666" y="112622"/>
                      <a:pt x="858281" y="0"/>
                    </a:cubicBezTo>
                    <a:lnTo>
                      <a:pt x="803206" y="628403"/>
                    </a:lnTo>
                    <a:cubicBezTo>
                      <a:pt x="745086" y="643324"/>
                      <a:pt x="685065" y="650832"/>
                      <a:pt x="624568" y="650832"/>
                    </a:cubicBezTo>
                  </a:path>
                </a:pathLst>
              </a:custGeom>
              <a:grpFill/>
              <a:ln w="9512"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57037F43-6B5B-9FDF-5977-22ED2CBF4585}"/>
                  </a:ext>
                </a:extLst>
              </p:cNvPr>
              <p:cNvSpPr/>
              <p:nvPr/>
            </p:nvSpPr>
            <p:spPr>
              <a:xfrm>
                <a:off x="3700746" y="3401343"/>
                <a:ext cx="310152" cy="574420"/>
              </a:xfrm>
              <a:custGeom>
                <a:avLst/>
                <a:gdLst>
                  <a:gd name="connsiteX0" fmla="*/ 59546 w 310152"/>
                  <a:gd name="connsiteY0" fmla="*/ 574420 h 574420"/>
                  <a:gd name="connsiteX1" fmla="*/ 0 w 310152"/>
                  <a:gd name="connsiteY1" fmla="*/ 55978 h 574420"/>
                  <a:gd name="connsiteX2" fmla="*/ 309525 w 310152"/>
                  <a:gd name="connsiteY2" fmla="*/ 0 h 574420"/>
                  <a:gd name="connsiteX3" fmla="*/ 310001 w 310152"/>
                  <a:gd name="connsiteY3" fmla="*/ 43243 h 574420"/>
                  <a:gd name="connsiteX4" fmla="*/ 59546 w 310152"/>
                  <a:gd name="connsiteY4" fmla="*/ 574420 h 5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152" h="574420">
                    <a:moveTo>
                      <a:pt x="59546" y="574420"/>
                    </a:moveTo>
                    <a:cubicBezTo>
                      <a:pt x="50034" y="483277"/>
                      <a:pt x="24446" y="241686"/>
                      <a:pt x="0" y="55978"/>
                    </a:cubicBezTo>
                    <a:cubicBezTo>
                      <a:pt x="164370" y="23190"/>
                      <a:pt x="266435" y="6653"/>
                      <a:pt x="309525" y="0"/>
                    </a:cubicBezTo>
                    <a:cubicBezTo>
                      <a:pt x="310191" y="14446"/>
                      <a:pt x="310286" y="28892"/>
                      <a:pt x="310001" y="43243"/>
                    </a:cubicBezTo>
                    <a:cubicBezTo>
                      <a:pt x="306006" y="248814"/>
                      <a:pt x="214974" y="440889"/>
                      <a:pt x="59546" y="574420"/>
                    </a:cubicBezTo>
                  </a:path>
                </a:pathLst>
              </a:custGeom>
              <a:grpFill/>
              <a:ln w="9512" cap="flat">
                <a:noFill/>
                <a:prstDash val="solid"/>
                <a:miter/>
              </a:ln>
            </p:spPr>
            <p:txBody>
              <a:bodyPr rtlCol="0" anchor="ctr"/>
              <a:lstStyle/>
              <a:p>
                <a:endParaRPr lang="fr-FR"/>
              </a:p>
            </p:txBody>
          </p:sp>
        </p:grpSp>
        <p:grpSp>
          <p:nvGrpSpPr>
            <p:cNvPr id="16" name="Groupe 15">
              <a:extLst>
                <a:ext uri="{FF2B5EF4-FFF2-40B4-BE49-F238E27FC236}">
                  <a16:creationId xmlns:a16="http://schemas.microsoft.com/office/drawing/2014/main" id="{8ED9B721-A267-4F9A-C8FB-4EDF9035D0FC}"/>
                </a:ext>
              </a:extLst>
            </p:cNvPr>
            <p:cNvGrpSpPr/>
            <p:nvPr/>
          </p:nvGrpSpPr>
          <p:grpSpPr>
            <a:xfrm>
              <a:off x="5706531" y="1530040"/>
              <a:ext cx="1100669" cy="202837"/>
              <a:chOff x="4227814" y="2908087"/>
              <a:chExt cx="5388249" cy="992975"/>
            </a:xfrm>
            <a:grpFill/>
          </p:grpSpPr>
          <p:sp>
            <p:nvSpPr>
              <p:cNvPr id="17" name="Forme libre 16">
                <a:extLst>
                  <a:ext uri="{FF2B5EF4-FFF2-40B4-BE49-F238E27FC236}">
                    <a16:creationId xmlns:a16="http://schemas.microsoft.com/office/drawing/2014/main" id="{954C32A8-2448-2ED4-5AA6-BF5FBA02FF11}"/>
                  </a:ext>
                </a:extLst>
              </p:cNvPr>
              <p:cNvSpPr/>
              <p:nvPr/>
            </p:nvSpPr>
            <p:spPr>
              <a:xfrm>
                <a:off x="4227814" y="2917686"/>
                <a:ext cx="986885" cy="967029"/>
              </a:xfrm>
              <a:custGeom>
                <a:avLst/>
                <a:gdLst>
                  <a:gd name="connsiteX0" fmla="*/ 639692 w 986885"/>
                  <a:gd name="connsiteY0" fmla="*/ 598180 h 967029"/>
                  <a:gd name="connsiteX1" fmla="*/ 490732 w 986885"/>
                  <a:gd name="connsiteY1" fmla="*/ 204906 h 967029"/>
                  <a:gd name="connsiteX2" fmla="*/ 339013 w 986885"/>
                  <a:gd name="connsiteY2" fmla="*/ 598180 h 967029"/>
                  <a:gd name="connsiteX3" fmla="*/ 639787 w 986885"/>
                  <a:gd name="connsiteY3" fmla="*/ 598180 h 967029"/>
                  <a:gd name="connsiteX4" fmla="*/ 421008 w 986885"/>
                  <a:gd name="connsiteY4" fmla="*/ 0 h 967029"/>
                  <a:gd name="connsiteX5" fmla="*/ 569968 w 986885"/>
                  <a:gd name="connsiteY5" fmla="*/ 0 h 967029"/>
                  <a:gd name="connsiteX6" fmla="*/ 986885 w 986885"/>
                  <a:gd name="connsiteY6" fmla="*/ 967029 h 967029"/>
                  <a:gd name="connsiteX7" fmla="*/ 790079 w 986885"/>
                  <a:gd name="connsiteY7" fmla="*/ 967029 h 967029"/>
                  <a:gd name="connsiteX8" fmla="*/ 699904 w 986885"/>
                  <a:gd name="connsiteY8" fmla="*/ 745777 h 967029"/>
                  <a:gd name="connsiteX9" fmla="*/ 280228 w 986885"/>
                  <a:gd name="connsiteY9" fmla="*/ 745777 h 967029"/>
                  <a:gd name="connsiteX10" fmla="*/ 192716 w 986885"/>
                  <a:gd name="connsiteY10" fmla="*/ 967029 h 967029"/>
                  <a:gd name="connsiteX11" fmla="*/ 0 w 986885"/>
                  <a:gd name="connsiteY11" fmla="*/ 967029 h 967029"/>
                  <a:gd name="connsiteX12" fmla="*/ 421008 w 986885"/>
                  <a:gd name="connsiteY12" fmla="*/ 0 h 96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6885" h="967029">
                    <a:moveTo>
                      <a:pt x="639692" y="598180"/>
                    </a:moveTo>
                    <a:lnTo>
                      <a:pt x="490732" y="204906"/>
                    </a:lnTo>
                    <a:lnTo>
                      <a:pt x="339013" y="598180"/>
                    </a:lnTo>
                    <a:lnTo>
                      <a:pt x="639787" y="598180"/>
                    </a:lnTo>
                    <a:close/>
                    <a:moveTo>
                      <a:pt x="421008" y="0"/>
                    </a:moveTo>
                    <a:lnTo>
                      <a:pt x="569968" y="0"/>
                    </a:lnTo>
                    <a:lnTo>
                      <a:pt x="986885" y="967029"/>
                    </a:lnTo>
                    <a:lnTo>
                      <a:pt x="790079" y="967029"/>
                    </a:lnTo>
                    <a:lnTo>
                      <a:pt x="699904" y="745777"/>
                    </a:lnTo>
                    <a:lnTo>
                      <a:pt x="280228" y="745777"/>
                    </a:lnTo>
                    <a:lnTo>
                      <a:pt x="192716" y="967029"/>
                    </a:lnTo>
                    <a:lnTo>
                      <a:pt x="0" y="967029"/>
                    </a:lnTo>
                    <a:lnTo>
                      <a:pt x="421008" y="0"/>
                    </a:lnTo>
                    <a:close/>
                  </a:path>
                </a:pathLst>
              </a:custGeom>
              <a:grpFill/>
              <a:ln w="9512"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E1893580-A1DE-E5E8-0239-182FC8F0EA96}"/>
                  </a:ext>
                </a:extLst>
              </p:cNvPr>
              <p:cNvSpPr/>
              <p:nvPr/>
            </p:nvSpPr>
            <p:spPr>
              <a:xfrm>
                <a:off x="5239146" y="3229036"/>
                <a:ext cx="598789" cy="671930"/>
              </a:xfrm>
              <a:custGeom>
                <a:avLst/>
                <a:gdLst>
                  <a:gd name="connsiteX0" fmla="*/ 598789 w 598789"/>
                  <a:gd name="connsiteY0" fmla="*/ 655584 h 671930"/>
                  <a:gd name="connsiteX1" fmla="*/ 442980 w 598789"/>
                  <a:gd name="connsiteY1" fmla="*/ 655584 h 671930"/>
                  <a:gd name="connsiteX2" fmla="*/ 442980 w 598789"/>
                  <a:gd name="connsiteY2" fmla="*/ 550375 h 671930"/>
                  <a:gd name="connsiteX3" fmla="*/ 440222 w 598789"/>
                  <a:gd name="connsiteY3" fmla="*/ 550375 h 671930"/>
                  <a:gd name="connsiteX4" fmla="*/ 239230 w 598789"/>
                  <a:gd name="connsiteY4" fmla="*/ 671931 h 671930"/>
                  <a:gd name="connsiteX5" fmla="*/ 0 w 598789"/>
                  <a:gd name="connsiteY5" fmla="*/ 413803 h 671930"/>
                  <a:gd name="connsiteX6" fmla="*/ 0 w 598789"/>
                  <a:gd name="connsiteY6" fmla="*/ 0 h 671930"/>
                  <a:gd name="connsiteX7" fmla="*/ 163989 w 598789"/>
                  <a:gd name="connsiteY7" fmla="*/ 0 h 671930"/>
                  <a:gd name="connsiteX8" fmla="*/ 163989 w 598789"/>
                  <a:gd name="connsiteY8" fmla="*/ 331879 h 671930"/>
                  <a:gd name="connsiteX9" fmla="*/ 284318 w 598789"/>
                  <a:gd name="connsiteY9" fmla="*/ 524429 h 671930"/>
                  <a:gd name="connsiteX10" fmla="*/ 434705 w 598789"/>
                  <a:gd name="connsiteY10" fmla="*/ 357825 h 671930"/>
                  <a:gd name="connsiteX11" fmla="*/ 434705 w 598789"/>
                  <a:gd name="connsiteY11" fmla="*/ 0 h 671930"/>
                  <a:gd name="connsiteX12" fmla="*/ 598694 w 598789"/>
                  <a:gd name="connsiteY12" fmla="*/ 0 h 671930"/>
                  <a:gd name="connsiteX13" fmla="*/ 598694 w 598789"/>
                  <a:gd name="connsiteY13" fmla="*/ 655584 h 67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1930">
                    <a:moveTo>
                      <a:pt x="598789" y="655584"/>
                    </a:moveTo>
                    <a:lnTo>
                      <a:pt x="442980" y="655584"/>
                    </a:lnTo>
                    <a:lnTo>
                      <a:pt x="442980" y="550375"/>
                    </a:lnTo>
                    <a:lnTo>
                      <a:pt x="440222" y="550375"/>
                    </a:lnTo>
                    <a:cubicBezTo>
                      <a:pt x="410164" y="615858"/>
                      <a:pt x="348620" y="671931"/>
                      <a:pt x="239230" y="671931"/>
                    </a:cubicBezTo>
                    <a:cubicBezTo>
                      <a:pt x="62875" y="671931"/>
                      <a:pt x="0" y="547619"/>
                      <a:pt x="0" y="413803"/>
                    </a:cubicBezTo>
                    <a:lnTo>
                      <a:pt x="0" y="0"/>
                    </a:lnTo>
                    <a:lnTo>
                      <a:pt x="163989" y="0"/>
                    </a:lnTo>
                    <a:lnTo>
                      <a:pt x="163989" y="331879"/>
                    </a:lnTo>
                    <a:cubicBezTo>
                      <a:pt x="163989" y="404299"/>
                      <a:pt x="169506" y="524429"/>
                      <a:pt x="284318" y="524429"/>
                    </a:cubicBezTo>
                    <a:cubicBezTo>
                      <a:pt x="392281" y="524429"/>
                      <a:pt x="434705" y="445261"/>
                      <a:pt x="434705" y="357825"/>
                    </a:cubicBezTo>
                    <a:lnTo>
                      <a:pt x="434705" y="0"/>
                    </a:lnTo>
                    <a:lnTo>
                      <a:pt x="598694" y="0"/>
                    </a:lnTo>
                    <a:lnTo>
                      <a:pt x="598694" y="655584"/>
                    </a:lnTo>
                    <a:close/>
                  </a:path>
                </a:pathLst>
              </a:custGeom>
              <a:grpFill/>
              <a:ln w="9512"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47D9A284-3B86-756D-99A2-E8BCFF28C157}"/>
                  </a:ext>
                </a:extLst>
              </p:cNvPr>
              <p:cNvSpPr/>
              <p:nvPr/>
            </p:nvSpPr>
            <p:spPr>
              <a:xfrm>
                <a:off x="5922688" y="2917686"/>
                <a:ext cx="708084" cy="983376"/>
              </a:xfrm>
              <a:custGeom>
                <a:avLst/>
                <a:gdLst>
                  <a:gd name="connsiteX0" fmla="*/ 356801 w 708084"/>
                  <a:gd name="connsiteY0" fmla="*/ 835779 h 983376"/>
                  <a:gd name="connsiteX1" fmla="*/ 549517 w 708084"/>
                  <a:gd name="connsiteY1" fmla="*/ 639142 h 983376"/>
                  <a:gd name="connsiteX2" fmla="*/ 356801 w 708084"/>
                  <a:gd name="connsiteY2" fmla="*/ 442505 h 983376"/>
                  <a:gd name="connsiteX3" fmla="*/ 164085 w 708084"/>
                  <a:gd name="connsiteY3" fmla="*/ 639142 h 983376"/>
                  <a:gd name="connsiteX4" fmla="*/ 356801 w 708084"/>
                  <a:gd name="connsiteY4" fmla="*/ 835779 h 983376"/>
                  <a:gd name="connsiteX5" fmla="*/ 552275 w 708084"/>
                  <a:gd name="connsiteY5" fmla="*/ 868568 h 983376"/>
                  <a:gd name="connsiteX6" fmla="*/ 549517 w 708084"/>
                  <a:gd name="connsiteY6" fmla="*/ 868568 h 983376"/>
                  <a:gd name="connsiteX7" fmla="*/ 323984 w 708084"/>
                  <a:gd name="connsiteY7" fmla="*/ 983376 h 983376"/>
                  <a:gd name="connsiteX8" fmla="*/ 0 w 708084"/>
                  <a:gd name="connsiteY8" fmla="*/ 639237 h 983376"/>
                  <a:gd name="connsiteX9" fmla="*/ 317135 w 708084"/>
                  <a:gd name="connsiteY9" fmla="*/ 295003 h 983376"/>
                  <a:gd name="connsiteX10" fmla="*/ 540004 w 708084"/>
                  <a:gd name="connsiteY10" fmla="*/ 394700 h 983376"/>
                  <a:gd name="connsiteX11" fmla="*/ 544000 w 708084"/>
                  <a:gd name="connsiteY11" fmla="*/ 394700 h 983376"/>
                  <a:gd name="connsiteX12" fmla="*/ 544000 w 708084"/>
                  <a:gd name="connsiteY12" fmla="*/ 0 h 983376"/>
                  <a:gd name="connsiteX13" fmla="*/ 708084 w 708084"/>
                  <a:gd name="connsiteY13" fmla="*/ 0 h 983376"/>
                  <a:gd name="connsiteX14" fmla="*/ 708084 w 708084"/>
                  <a:gd name="connsiteY14" fmla="*/ 966934 h 983376"/>
                  <a:gd name="connsiteX15" fmla="*/ 552275 w 708084"/>
                  <a:gd name="connsiteY15" fmla="*/ 966934 h 983376"/>
                  <a:gd name="connsiteX16" fmla="*/ 552275 w 708084"/>
                  <a:gd name="connsiteY16" fmla="*/ 868568 h 9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8084" h="983376">
                    <a:moveTo>
                      <a:pt x="356801" y="835779"/>
                    </a:moveTo>
                    <a:cubicBezTo>
                      <a:pt x="477129" y="835779"/>
                      <a:pt x="549517" y="741595"/>
                      <a:pt x="549517" y="639142"/>
                    </a:cubicBezTo>
                    <a:cubicBezTo>
                      <a:pt x="549517" y="536689"/>
                      <a:pt x="477034" y="442505"/>
                      <a:pt x="356801" y="442505"/>
                    </a:cubicBezTo>
                    <a:cubicBezTo>
                      <a:pt x="236567" y="442505"/>
                      <a:pt x="164085" y="536689"/>
                      <a:pt x="164085" y="639142"/>
                    </a:cubicBezTo>
                    <a:cubicBezTo>
                      <a:pt x="164085" y="741595"/>
                      <a:pt x="236567" y="835779"/>
                      <a:pt x="356801" y="835779"/>
                    </a:cubicBezTo>
                    <a:moveTo>
                      <a:pt x="552275" y="868568"/>
                    </a:moveTo>
                    <a:lnTo>
                      <a:pt x="549517" y="868568"/>
                    </a:lnTo>
                    <a:cubicBezTo>
                      <a:pt x="501670" y="947831"/>
                      <a:pt x="415586" y="983376"/>
                      <a:pt x="323984" y="983376"/>
                    </a:cubicBezTo>
                    <a:cubicBezTo>
                      <a:pt x="121660" y="983376"/>
                      <a:pt x="0" y="833118"/>
                      <a:pt x="0" y="639237"/>
                    </a:cubicBezTo>
                    <a:cubicBezTo>
                      <a:pt x="0" y="445356"/>
                      <a:pt x="129841" y="295003"/>
                      <a:pt x="317135" y="295003"/>
                    </a:cubicBezTo>
                    <a:cubicBezTo>
                      <a:pt x="440127" y="295003"/>
                      <a:pt x="505761" y="352407"/>
                      <a:pt x="540004" y="394700"/>
                    </a:cubicBezTo>
                    <a:lnTo>
                      <a:pt x="544000" y="394700"/>
                    </a:lnTo>
                    <a:lnTo>
                      <a:pt x="544000" y="0"/>
                    </a:lnTo>
                    <a:lnTo>
                      <a:pt x="708084" y="0"/>
                    </a:lnTo>
                    <a:lnTo>
                      <a:pt x="708084" y="966934"/>
                    </a:lnTo>
                    <a:lnTo>
                      <a:pt x="552275" y="966934"/>
                    </a:lnTo>
                    <a:lnTo>
                      <a:pt x="552275" y="868568"/>
                    </a:lnTo>
                    <a:close/>
                  </a:path>
                </a:pathLst>
              </a:custGeom>
              <a:grpFill/>
              <a:ln w="951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5AF49FFC-8EB0-33B2-8409-0EB674281EE3}"/>
                  </a:ext>
                </a:extLst>
              </p:cNvPr>
              <p:cNvSpPr/>
              <p:nvPr/>
            </p:nvSpPr>
            <p:spPr>
              <a:xfrm>
                <a:off x="6715430" y="3212594"/>
                <a:ext cx="664328" cy="688372"/>
              </a:xfrm>
              <a:custGeom>
                <a:avLst/>
                <a:gdLst>
                  <a:gd name="connsiteX0" fmla="*/ 500339 w 664328"/>
                  <a:gd name="connsiteY0" fmla="*/ 278657 h 688372"/>
                  <a:gd name="connsiteX1" fmla="*/ 333591 w 664328"/>
                  <a:gd name="connsiteY1" fmla="*/ 122981 h 688372"/>
                  <a:gd name="connsiteX2" fmla="*/ 164085 w 664328"/>
                  <a:gd name="connsiteY2" fmla="*/ 278657 h 688372"/>
                  <a:gd name="connsiteX3" fmla="*/ 500339 w 664328"/>
                  <a:gd name="connsiteY3" fmla="*/ 278657 h 688372"/>
                  <a:gd name="connsiteX4" fmla="*/ 164085 w 664328"/>
                  <a:gd name="connsiteY4" fmla="*/ 401543 h 688372"/>
                  <a:gd name="connsiteX5" fmla="*/ 340440 w 664328"/>
                  <a:gd name="connsiteY5" fmla="*/ 557218 h 688372"/>
                  <a:gd name="connsiteX6" fmla="*/ 516795 w 664328"/>
                  <a:gd name="connsiteY6" fmla="*/ 468451 h 688372"/>
                  <a:gd name="connsiteX7" fmla="*/ 634365 w 664328"/>
                  <a:gd name="connsiteY7" fmla="*/ 557218 h 688372"/>
                  <a:gd name="connsiteX8" fmla="*/ 356801 w 664328"/>
                  <a:gd name="connsiteY8" fmla="*/ 688373 h 688372"/>
                  <a:gd name="connsiteX9" fmla="*/ 0 w 664328"/>
                  <a:gd name="connsiteY9" fmla="*/ 344234 h 688372"/>
                  <a:gd name="connsiteX10" fmla="*/ 356801 w 664328"/>
                  <a:gd name="connsiteY10" fmla="*/ 0 h 688372"/>
                  <a:gd name="connsiteX11" fmla="*/ 664328 w 664328"/>
                  <a:gd name="connsiteY11" fmla="*/ 356494 h 688372"/>
                  <a:gd name="connsiteX12" fmla="*/ 664328 w 664328"/>
                  <a:gd name="connsiteY12" fmla="*/ 401543 h 688372"/>
                  <a:gd name="connsiteX13" fmla="*/ 163989 w 664328"/>
                  <a:gd name="connsiteY13" fmla="*/ 401543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328" h="688372">
                    <a:moveTo>
                      <a:pt x="500339" y="278657"/>
                    </a:moveTo>
                    <a:cubicBezTo>
                      <a:pt x="498912" y="183047"/>
                      <a:pt x="436037" y="122981"/>
                      <a:pt x="333591" y="122981"/>
                    </a:cubicBezTo>
                    <a:cubicBezTo>
                      <a:pt x="236472" y="122981"/>
                      <a:pt x="176355" y="184472"/>
                      <a:pt x="164085" y="278657"/>
                    </a:cubicBezTo>
                    <a:lnTo>
                      <a:pt x="500339" y="278657"/>
                    </a:lnTo>
                    <a:close/>
                    <a:moveTo>
                      <a:pt x="164085" y="401543"/>
                    </a:moveTo>
                    <a:cubicBezTo>
                      <a:pt x="175023" y="498578"/>
                      <a:pt x="248838" y="557218"/>
                      <a:pt x="340440" y="557218"/>
                    </a:cubicBezTo>
                    <a:cubicBezTo>
                      <a:pt x="422434" y="557218"/>
                      <a:pt x="475703" y="519012"/>
                      <a:pt x="516795" y="468451"/>
                    </a:cubicBezTo>
                    <a:lnTo>
                      <a:pt x="634365" y="557218"/>
                    </a:lnTo>
                    <a:cubicBezTo>
                      <a:pt x="557792" y="651402"/>
                      <a:pt x="460673" y="688373"/>
                      <a:pt x="356801" y="688373"/>
                    </a:cubicBezTo>
                    <a:cubicBezTo>
                      <a:pt x="158568" y="688373"/>
                      <a:pt x="0" y="550470"/>
                      <a:pt x="0" y="344234"/>
                    </a:cubicBezTo>
                    <a:cubicBezTo>
                      <a:pt x="0" y="137998"/>
                      <a:pt x="158568" y="0"/>
                      <a:pt x="356801" y="0"/>
                    </a:cubicBezTo>
                    <a:cubicBezTo>
                      <a:pt x="540005" y="0"/>
                      <a:pt x="664328" y="128399"/>
                      <a:pt x="664328" y="356494"/>
                    </a:cubicBezTo>
                    <a:lnTo>
                      <a:pt x="664328" y="401543"/>
                    </a:lnTo>
                    <a:lnTo>
                      <a:pt x="163989" y="401543"/>
                    </a:lnTo>
                    <a:close/>
                  </a:path>
                </a:pathLst>
              </a:custGeom>
              <a:grpFill/>
              <a:ln w="951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82B2538B-6B25-0FBA-ADDC-F8ADDE9460DB}"/>
                  </a:ext>
                </a:extLst>
              </p:cNvPr>
              <p:cNvSpPr/>
              <p:nvPr/>
            </p:nvSpPr>
            <p:spPr>
              <a:xfrm>
                <a:off x="7464417" y="3212689"/>
                <a:ext cx="598789" cy="672025"/>
              </a:xfrm>
              <a:custGeom>
                <a:avLst/>
                <a:gdLst>
                  <a:gd name="connsiteX0" fmla="*/ 95 w 598789"/>
                  <a:gd name="connsiteY0" fmla="*/ 16347 h 672025"/>
                  <a:gd name="connsiteX1" fmla="*/ 155904 w 598789"/>
                  <a:gd name="connsiteY1" fmla="*/ 16347 h 672025"/>
                  <a:gd name="connsiteX2" fmla="*/ 155904 w 598789"/>
                  <a:gd name="connsiteY2" fmla="*/ 121556 h 672025"/>
                  <a:gd name="connsiteX3" fmla="*/ 158568 w 598789"/>
                  <a:gd name="connsiteY3" fmla="*/ 121556 h 672025"/>
                  <a:gd name="connsiteX4" fmla="*/ 359559 w 598789"/>
                  <a:gd name="connsiteY4" fmla="*/ 0 h 672025"/>
                  <a:gd name="connsiteX5" fmla="*/ 598790 w 598789"/>
                  <a:gd name="connsiteY5" fmla="*/ 258128 h 672025"/>
                  <a:gd name="connsiteX6" fmla="*/ 598790 w 598789"/>
                  <a:gd name="connsiteY6" fmla="*/ 672026 h 672025"/>
                  <a:gd name="connsiteX7" fmla="*/ 434705 w 598789"/>
                  <a:gd name="connsiteY7" fmla="*/ 672026 h 672025"/>
                  <a:gd name="connsiteX8" fmla="*/ 434705 w 598789"/>
                  <a:gd name="connsiteY8" fmla="*/ 340147 h 672025"/>
                  <a:gd name="connsiteX9" fmla="*/ 314376 w 598789"/>
                  <a:gd name="connsiteY9" fmla="*/ 147597 h 672025"/>
                  <a:gd name="connsiteX10" fmla="*/ 163989 w 598789"/>
                  <a:gd name="connsiteY10" fmla="*/ 314201 h 672025"/>
                  <a:gd name="connsiteX11" fmla="*/ 163989 w 598789"/>
                  <a:gd name="connsiteY11" fmla="*/ 672026 h 672025"/>
                  <a:gd name="connsiteX12" fmla="*/ 0 w 598789"/>
                  <a:gd name="connsiteY12" fmla="*/ 672026 h 672025"/>
                  <a:gd name="connsiteX13" fmla="*/ 0 w 598789"/>
                  <a:gd name="connsiteY13" fmla="*/ 16347 h 67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2025">
                    <a:moveTo>
                      <a:pt x="95" y="16347"/>
                    </a:moveTo>
                    <a:lnTo>
                      <a:pt x="155904" y="16347"/>
                    </a:lnTo>
                    <a:lnTo>
                      <a:pt x="155904" y="121556"/>
                    </a:lnTo>
                    <a:lnTo>
                      <a:pt x="158568" y="121556"/>
                    </a:lnTo>
                    <a:cubicBezTo>
                      <a:pt x="188721" y="56073"/>
                      <a:pt x="250265" y="0"/>
                      <a:pt x="359559" y="0"/>
                    </a:cubicBezTo>
                    <a:cubicBezTo>
                      <a:pt x="535915" y="0"/>
                      <a:pt x="598790" y="124312"/>
                      <a:pt x="598790" y="258128"/>
                    </a:cubicBezTo>
                    <a:lnTo>
                      <a:pt x="598790" y="672026"/>
                    </a:lnTo>
                    <a:lnTo>
                      <a:pt x="434705" y="672026"/>
                    </a:lnTo>
                    <a:lnTo>
                      <a:pt x="434705" y="340147"/>
                    </a:lnTo>
                    <a:cubicBezTo>
                      <a:pt x="434705" y="267822"/>
                      <a:pt x="429283" y="147597"/>
                      <a:pt x="314376" y="147597"/>
                    </a:cubicBezTo>
                    <a:cubicBezTo>
                      <a:pt x="206414" y="147597"/>
                      <a:pt x="163989" y="226860"/>
                      <a:pt x="163989" y="314201"/>
                    </a:cubicBezTo>
                    <a:lnTo>
                      <a:pt x="163989" y="672026"/>
                    </a:lnTo>
                    <a:lnTo>
                      <a:pt x="0" y="672026"/>
                    </a:lnTo>
                    <a:lnTo>
                      <a:pt x="0" y="16347"/>
                    </a:lnTo>
                    <a:close/>
                  </a:path>
                </a:pathLst>
              </a:custGeom>
              <a:grpFill/>
              <a:ln w="9512"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B45DE06D-7DB7-7CE6-B62B-FF889C4BEE14}"/>
                  </a:ext>
                </a:extLst>
              </p:cNvPr>
              <p:cNvSpPr/>
              <p:nvPr/>
            </p:nvSpPr>
            <p:spPr>
              <a:xfrm>
                <a:off x="8147865" y="3212689"/>
                <a:ext cx="594603" cy="688372"/>
              </a:xfrm>
              <a:custGeom>
                <a:avLst/>
                <a:gdLst>
                  <a:gd name="connsiteX0" fmla="*/ 481219 w 594603"/>
                  <a:gd name="connsiteY0" fmla="*/ 213079 h 688372"/>
                  <a:gd name="connsiteX1" fmla="*/ 356800 w 594603"/>
                  <a:gd name="connsiteY1" fmla="*/ 147502 h 688372"/>
                  <a:gd name="connsiteX2" fmla="*/ 163989 w 594603"/>
                  <a:gd name="connsiteY2" fmla="*/ 344139 h 688372"/>
                  <a:gd name="connsiteX3" fmla="*/ 356800 w 594603"/>
                  <a:gd name="connsiteY3" fmla="*/ 540776 h 688372"/>
                  <a:gd name="connsiteX4" fmla="*/ 483883 w 594603"/>
                  <a:gd name="connsiteY4" fmla="*/ 479380 h 688372"/>
                  <a:gd name="connsiteX5" fmla="*/ 593273 w 594603"/>
                  <a:gd name="connsiteY5" fmla="*/ 596850 h 688372"/>
                  <a:gd name="connsiteX6" fmla="*/ 356800 w 594603"/>
                  <a:gd name="connsiteY6" fmla="*/ 688373 h 688372"/>
                  <a:gd name="connsiteX7" fmla="*/ 0 w 594603"/>
                  <a:gd name="connsiteY7" fmla="*/ 344139 h 688372"/>
                  <a:gd name="connsiteX8" fmla="*/ 356800 w 594603"/>
                  <a:gd name="connsiteY8" fmla="*/ 0 h 688372"/>
                  <a:gd name="connsiteX9" fmla="*/ 594604 w 594603"/>
                  <a:gd name="connsiteY9" fmla="*/ 99697 h 688372"/>
                  <a:gd name="connsiteX10" fmla="*/ 481124 w 594603"/>
                  <a:gd name="connsiteY10" fmla="*/ 212984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4603" h="688372">
                    <a:moveTo>
                      <a:pt x="481219" y="213079"/>
                    </a:moveTo>
                    <a:cubicBezTo>
                      <a:pt x="442885" y="173447"/>
                      <a:pt x="400556" y="147502"/>
                      <a:pt x="356800" y="147502"/>
                    </a:cubicBezTo>
                    <a:cubicBezTo>
                      <a:pt x="236472" y="147502"/>
                      <a:pt x="163989" y="241686"/>
                      <a:pt x="163989" y="344139"/>
                    </a:cubicBezTo>
                    <a:cubicBezTo>
                      <a:pt x="163989" y="446592"/>
                      <a:pt x="236472" y="540776"/>
                      <a:pt x="356800" y="540776"/>
                    </a:cubicBezTo>
                    <a:cubicBezTo>
                      <a:pt x="407310" y="540776"/>
                      <a:pt x="453824" y="519012"/>
                      <a:pt x="483883" y="479380"/>
                    </a:cubicBezTo>
                    <a:lnTo>
                      <a:pt x="593273" y="596850"/>
                    </a:lnTo>
                    <a:cubicBezTo>
                      <a:pt x="526307" y="663758"/>
                      <a:pt x="414159" y="688373"/>
                      <a:pt x="356800" y="688373"/>
                    </a:cubicBezTo>
                    <a:cubicBezTo>
                      <a:pt x="158567" y="688373"/>
                      <a:pt x="0" y="550375"/>
                      <a:pt x="0" y="344139"/>
                    </a:cubicBezTo>
                    <a:cubicBezTo>
                      <a:pt x="0" y="137903"/>
                      <a:pt x="158567" y="0"/>
                      <a:pt x="356800" y="0"/>
                    </a:cubicBezTo>
                    <a:cubicBezTo>
                      <a:pt x="440222" y="0"/>
                      <a:pt x="531729" y="30033"/>
                      <a:pt x="594604" y="99697"/>
                    </a:cubicBezTo>
                    <a:lnTo>
                      <a:pt x="481124" y="212984"/>
                    </a:lnTo>
                    <a:close/>
                  </a:path>
                </a:pathLst>
              </a:custGeom>
              <a:grpFill/>
              <a:ln w="9512"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12BD76DA-1C9F-5902-44E1-4A5F7B9829C5}"/>
                  </a:ext>
                </a:extLst>
              </p:cNvPr>
              <p:cNvSpPr/>
              <p:nvPr/>
            </p:nvSpPr>
            <p:spPr>
              <a:xfrm>
                <a:off x="8750745" y="2908087"/>
                <a:ext cx="210408" cy="976533"/>
              </a:xfrm>
              <a:custGeom>
                <a:avLst/>
                <a:gdLst>
                  <a:gd name="connsiteX0" fmla="*/ 23210 w 210408"/>
                  <a:gd name="connsiteY0" fmla="*/ 320949 h 976533"/>
                  <a:gd name="connsiteX1" fmla="*/ 187294 w 210408"/>
                  <a:gd name="connsiteY1" fmla="*/ 320949 h 976533"/>
                  <a:gd name="connsiteX2" fmla="*/ 187294 w 210408"/>
                  <a:gd name="connsiteY2" fmla="*/ 976533 h 976533"/>
                  <a:gd name="connsiteX3" fmla="*/ 23210 w 210408"/>
                  <a:gd name="connsiteY3" fmla="*/ 976533 h 976533"/>
                  <a:gd name="connsiteX4" fmla="*/ 23210 w 210408"/>
                  <a:gd name="connsiteY4" fmla="*/ 320949 h 976533"/>
                  <a:gd name="connsiteX5" fmla="*/ 103872 w 210408"/>
                  <a:gd name="connsiteY5" fmla="*/ 0 h 976533"/>
                  <a:gd name="connsiteX6" fmla="*/ 210409 w 210408"/>
                  <a:gd name="connsiteY6" fmla="*/ 98271 h 976533"/>
                  <a:gd name="connsiteX7" fmla="*/ 103872 w 210408"/>
                  <a:gd name="connsiteY7" fmla="*/ 196637 h 976533"/>
                  <a:gd name="connsiteX8" fmla="*/ 0 w 210408"/>
                  <a:gd name="connsiteY8" fmla="*/ 98271 h 976533"/>
                  <a:gd name="connsiteX9" fmla="*/ 103872 w 210408"/>
                  <a:gd name="connsiteY9" fmla="*/ 0 h 97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08" h="976533">
                    <a:moveTo>
                      <a:pt x="23210" y="320949"/>
                    </a:moveTo>
                    <a:lnTo>
                      <a:pt x="187294" y="320949"/>
                    </a:lnTo>
                    <a:lnTo>
                      <a:pt x="187294" y="976533"/>
                    </a:lnTo>
                    <a:lnTo>
                      <a:pt x="23210" y="976533"/>
                    </a:lnTo>
                    <a:lnTo>
                      <a:pt x="23210" y="320949"/>
                    </a:lnTo>
                    <a:close/>
                    <a:moveTo>
                      <a:pt x="103872" y="0"/>
                    </a:moveTo>
                    <a:cubicBezTo>
                      <a:pt x="163989" y="0"/>
                      <a:pt x="210409" y="42293"/>
                      <a:pt x="210409" y="98271"/>
                    </a:cubicBezTo>
                    <a:cubicBezTo>
                      <a:pt x="210409" y="154249"/>
                      <a:pt x="163989" y="196637"/>
                      <a:pt x="103872" y="196637"/>
                    </a:cubicBezTo>
                    <a:cubicBezTo>
                      <a:pt x="43756" y="196637"/>
                      <a:pt x="0" y="150163"/>
                      <a:pt x="0" y="98271"/>
                    </a:cubicBezTo>
                    <a:cubicBezTo>
                      <a:pt x="0" y="46379"/>
                      <a:pt x="43756" y="0"/>
                      <a:pt x="103872" y="0"/>
                    </a:cubicBezTo>
                  </a:path>
                </a:pathLst>
              </a:custGeom>
              <a:grpFill/>
              <a:ln w="9512"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B09702B-0C60-4631-33F5-3FA7D541CC4A}"/>
                  </a:ext>
                </a:extLst>
              </p:cNvPr>
              <p:cNvSpPr/>
              <p:nvPr/>
            </p:nvSpPr>
            <p:spPr>
              <a:xfrm>
                <a:off x="9014611" y="3212499"/>
                <a:ext cx="601452" cy="688467"/>
              </a:xfrm>
              <a:custGeom>
                <a:avLst/>
                <a:gdLst>
                  <a:gd name="connsiteX0" fmla="*/ 444217 w 601452"/>
                  <a:gd name="connsiteY0" fmla="*/ 378448 h 688467"/>
                  <a:gd name="connsiteX1" fmla="*/ 410068 w 601452"/>
                  <a:gd name="connsiteY1" fmla="*/ 378448 h 688467"/>
                  <a:gd name="connsiteX2" fmla="*/ 163989 w 601452"/>
                  <a:gd name="connsiteY2" fmla="*/ 479571 h 688467"/>
                  <a:gd name="connsiteX3" fmla="*/ 278801 w 601452"/>
                  <a:gd name="connsiteY3" fmla="*/ 565582 h 688467"/>
                  <a:gd name="connsiteX4" fmla="*/ 444217 w 601452"/>
                  <a:gd name="connsiteY4" fmla="*/ 415419 h 688467"/>
                  <a:gd name="connsiteX5" fmla="*/ 444217 w 601452"/>
                  <a:gd name="connsiteY5" fmla="*/ 378543 h 688467"/>
                  <a:gd name="connsiteX6" fmla="*/ 453824 w 601452"/>
                  <a:gd name="connsiteY6" fmla="*/ 581928 h 688467"/>
                  <a:gd name="connsiteX7" fmla="*/ 449734 w 601452"/>
                  <a:gd name="connsiteY7" fmla="*/ 581928 h 688467"/>
                  <a:gd name="connsiteX8" fmla="*/ 239230 w 601452"/>
                  <a:gd name="connsiteY8" fmla="*/ 688468 h 688467"/>
                  <a:gd name="connsiteX9" fmla="*/ 0 w 601452"/>
                  <a:gd name="connsiteY9" fmla="*/ 491736 h 688467"/>
                  <a:gd name="connsiteX10" fmla="*/ 412827 w 601452"/>
                  <a:gd name="connsiteY10" fmla="*/ 263640 h 688467"/>
                  <a:gd name="connsiteX11" fmla="*/ 453824 w 601452"/>
                  <a:gd name="connsiteY11" fmla="*/ 263640 h 688467"/>
                  <a:gd name="connsiteX12" fmla="*/ 453824 w 601452"/>
                  <a:gd name="connsiteY12" fmla="*/ 245868 h 688467"/>
                  <a:gd name="connsiteX13" fmla="*/ 303437 w 601452"/>
                  <a:gd name="connsiteY13" fmla="*/ 122981 h 688467"/>
                  <a:gd name="connsiteX14" fmla="*/ 128509 w 601452"/>
                  <a:gd name="connsiteY14" fmla="*/ 191220 h 688467"/>
                  <a:gd name="connsiteX15" fmla="*/ 42424 w 601452"/>
                  <a:gd name="connsiteY15" fmla="*/ 105209 h 688467"/>
                  <a:gd name="connsiteX16" fmla="*/ 321225 w 601452"/>
                  <a:gd name="connsiteY16" fmla="*/ 0 h 688467"/>
                  <a:gd name="connsiteX17" fmla="*/ 601453 w 601452"/>
                  <a:gd name="connsiteY17" fmla="*/ 295003 h 688467"/>
                  <a:gd name="connsiteX18" fmla="*/ 601453 w 601452"/>
                  <a:gd name="connsiteY18" fmla="*/ 672026 h 688467"/>
                  <a:gd name="connsiteX19" fmla="*/ 453824 w 601452"/>
                  <a:gd name="connsiteY19" fmla="*/ 672026 h 688467"/>
                  <a:gd name="connsiteX20" fmla="*/ 453824 w 601452"/>
                  <a:gd name="connsiteY20" fmla="*/ 581833 h 68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1452" h="688467">
                    <a:moveTo>
                      <a:pt x="444217" y="378448"/>
                    </a:moveTo>
                    <a:lnTo>
                      <a:pt x="410068" y="378448"/>
                    </a:lnTo>
                    <a:cubicBezTo>
                      <a:pt x="319798" y="378448"/>
                      <a:pt x="163989" y="385291"/>
                      <a:pt x="163989" y="479571"/>
                    </a:cubicBezTo>
                    <a:cubicBezTo>
                      <a:pt x="163989" y="539636"/>
                      <a:pt x="225438" y="565582"/>
                      <a:pt x="278801" y="565582"/>
                    </a:cubicBezTo>
                    <a:cubicBezTo>
                      <a:pt x="390854" y="565582"/>
                      <a:pt x="444217" y="506847"/>
                      <a:pt x="444217" y="415419"/>
                    </a:cubicBezTo>
                    <a:lnTo>
                      <a:pt x="444217" y="378543"/>
                    </a:lnTo>
                    <a:close/>
                    <a:moveTo>
                      <a:pt x="453824" y="581928"/>
                    </a:moveTo>
                    <a:lnTo>
                      <a:pt x="449734" y="581928"/>
                    </a:lnTo>
                    <a:cubicBezTo>
                      <a:pt x="403315" y="655679"/>
                      <a:pt x="326742" y="688468"/>
                      <a:pt x="239230" y="688468"/>
                    </a:cubicBezTo>
                    <a:cubicBezTo>
                      <a:pt x="117570" y="688468"/>
                      <a:pt x="0" y="621560"/>
                      <a:pt x="0" y="491736"/>
                    </a:cubicBezTo>
                    <a:cubicBezTo>
                      <a:pt x="0" y="278752"/>
                      <a:pt x="248837" y="263640"/>
                      <a:pt x="412827" y="263640"/>
                    </a:cubicBezTo>
                    <a:lnTo>
                      <a:pt x="453824" y="263640"/>
                    </a:lnTo>
                    <a:lnTo>
                      <a:pt x="453824" y="245868"/>
                    </a:lnTo>
                    <a:cubicBezTo>
                      <a:pt x="453824" y="165274"/>
                      <a:pt x="390949" y="122981"/>
                      <a:pt x="303437" y="122981"/>
                    </a:cubicBezTo>
                    <a:cubicBezTo>
                      <a:pt x="235140" y="122981"/>
                      <a:pt x="172265" y="150258"/>
                      <a:pt x="128509" y="191220"/>
                    </a:cubicBezTo>
                    <a:lnTo>
                      <a:pt x="42424" y="105209"/>
                    </a:lnTo>
                    <a:cubicBezTo>
                      <a:pt x="114906" y="31458"/>
                      <a:pt x="217352" y="0"/>
                      <a:pt x="321225" y="0"/>
                    </a:cubicBezTo>
                    <a:cubicBezTo>
                      <a:pt x="601453" y="0"/>
                      <a:pt x="601453" y="202149"/>
                      <a:pt x="601453" y="295003"/>
                    </a:cubicBezTo>
                    <a:lnTo>
                      <a:pt x="601453" y="672026"/>
                    </a:lnTo>
                    <a:lnTo>
                      <a:pt x="453824" y="672026"/>
                    </a:lnTo>
                    <a:lnTo>
                      <a:pt x="453824" y="581833"/>
                    </a:lnTo>
                    <a:close/>
                  </a:path>
                </a:pathLst>
              </a:custGeom>
              <a:grpFill/>
              <a:ln w="9512"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991325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7B7A42F2-EFD8-3532-7665-4DC98020AA81}"/>
              </a:ext>
            </a:extLst>
          </p:cNvPr>
          <p:cNvSpPr/>
          <p:nvPr userDrawn="1"/>
        </p:nvSpPr>
        <p:spPr>
          <a:xfrm>
            <a:off x="7573546" y="-665032"/>
            <a:ext cx="6215606" cy="7349692"/>
          </a:xfrm>
          <a:custGeom>
            <a:avLst/>
            <a:gdLst>
              <a:gd name="connsiteX0" fmla="*/ 1390897 w 2413380"/>
              <a:gd name="connsiteY0" fmla="*/ 416515 h 2853720"/>
              <a:gd name="connsiteX1" fmla="*/ 607531 w 2413380"/>
              <a:gd name="connsiteY1" fmla="*/ 752523 h 2853720"/>
              <a:gd name="connsiteX2" fmla="*/ 305194 w 2413380"/>
              <a:gd name="connsiteY2" fmla="*/ 916697 h 2853720"/>
              <a:gd name="connsiteX3" fmla="*/ 224726 w 2413380"/>
              <a:gd name="connsiteY3" fmla="*/ 970672 h 2853720"/>
              <a:gd name="connsiteX4" fmla="*/ 182349 w 2413380"/>
              <a:gd name="connsiteY4" fmla="*/ 1002759 h 2853720"/>
              <a:gd name="connsiteX5" fmla="*/ 139138 w 2413380"/>
              <a:gd name="connsiteY5" fmla="*/ 1039964 h 2853720"/>
              <a:gd name="connsiteX6" fmla="*/ 61175 w 2413380"/>
              <a:gd name="connsiteY6" fmla="*/ 1127586 h 2853720"/>
              <a:gd name="connsiteX7" fmla="*/ 9140 w 2413380"/>
              <a:gd name="connsiteY7" fmla="*/ 1237350 h 2853720"/>
              <a:gd name="connsiteX8" fmla="*/ 5726 w 2413380"/>
              <a:gd name="connsiteY8" fmla="*/ 1364320 h 2853720"/>
              <a:gd name="connsiteX9" fmla="*/ 57181 w 2413380"/>
              <a:gd name="connsiteY9" fmla="*/ 1488458 h 2853720"/>
              <a:gd name="connsiteX10" fmla="*/ 97960 w 2413380"/>
              <a:gd name="connsiteY10" fmla="*/ 1546425 h 2853720"/>
              <a:gd name="connsiteX11" fmla="*/ 121599 w 2413380"/>
              <a:gd name="connsiteY11" fmla="*/ 1574156 h 2853720"/>
              <a:gd name="connsiteX12" fmla="*/ 146073 w 2413380"/>
              <a:gd name="connsiteY12" fmla="*/ 1601125 h 2853720"/>
              <a:gd name="connsiteX13" fmla="*/ 196366 w 2413380"/>
              <a:gd name="connsiteY13" fmla="*/ 1650018 h 2853720"/>
              <a:gd name="connsiteX14" fmla="*/ 221712 w 2413380"/>
              <a:gd name="connsiteY14" fmla="*/ 1673067 h 2853720"/>
              <a:gd name="connsiteX15" fmla="*/ 247966 w 2413380"/>
              <a:gd name="connsiteY15" fmla="*/ 1695136 h 2853720"/>
              <a:gd name="connsiteX16" fmla="*/ 745300 w 2413380"/>
              <a:gd name="connsiteY16" fmla="*/ 2025699 h 2853720"/>
              <a:gd name="connsiteX17" fmla="*/ 2043394 w 2413380"/>
              <a:gd name="connsiteY17" fmla="*/ 2691107 h 2853720"/>
              <a:gd name="connsiteX18" fmla="*/ 2154946 w 2413380"/>
              <a:gd name="connsiteY18" fmla="*/ 2744792 h 2853720"/>
              <a:gd name="connsiteX19" fmla="*/ 2413381 w 2413380"/>
              <a:gd name="connsiteY19" fmla="*/ 2853721 h 2853720"/>
              <a:gd name="connsiteX20" fmla="*/ 2413381 w 2413380"/>
              <a:gd name="connsiteY20" fmla="*/ 2218766 h 2853720"/>
              <a:gd name="connsiteX21" fmla="*/ 2331642 w 2413380"/>
              <a:gd name="connsiteY21" fmla="*/ 2202541 h 2853720"/>
              <a:gd name="connsiteX22" fmla="*/ 2138641 w 2413380"/>
              <a:gd name="connsiteY22" fmla="*/ 2165989 h 2853720"/>
              <a:gd name="connsiteX23" fmla="*/ 1686916 w 2413380"/>
              <a:gd name="connsiteY23" fmla="*/ 2069728 h 2853720"/>
              <a:gd name="connsiteX24" fmla="*/ 841528 w 2413380"/>
              <a:gd name="connsiteY24" fmla="*/ 1822614 h 2853720"/>
              <a:gd name="connsiteX25" fmla="*/ 338202 w 2413380"/>
              <a:gd name="connsiteY25" fmla="*/ 1576733 h 2853720"/>
              <a:gd name="connsiteX26" fmla="*/ 312892 w 2413380"/>
              <a:gd name="connsiteY26" fmla="*/ 1559202 h 2853720"/>
              <a:gd name="connsiteX27" fmla="*/ 288999 w 2413380"/>
              <a:gd name="connsiteY27" fmla="*/ 1541016 h 2853720"/>
              <a:gd name="connsiteX28" fmla="*/ 245715 w 2413380"/>
              <a:gd name="connsiteY28" fmla="*/ 1505517 h 2853720"/>
              <a:gd name="connsiteX29" fmla="*/ 178391 w 2413380"/>
              <a:gd name="connsiteY29" fmla="*/ 1433358 h 2853720"/>
              <a:gd name="connsiteX30" fmla="*/ 135797 w 2413380"/>
              <a:gd name="connsiteY30" fmla="*/ 1349329 h 2853720"/>
              <a:gd name="connsiteX31" fmla="*/ 135398 w 2413380"/>
              <a:gd name="connsiteY31" fmla="*/ 1259819 h 2853720"/>
              <a:gd name="connsiteX32" fmla="*/ 173743 w 2413380"/>
              <a:gd name="connsiteY32" fmla="*/ 1182940 h 2853720"/>
              <a:gd name="connsiteX33" fmla="*/ 230826 w 2413380"/>
              <a:gd name="connsiteY33" fmla="*/ 1123376 h 2853720"/>
              <a:gd name="connsiteX34" fmla="*/ 262237 w 2413380"/>
              <a:gd name="connsiteY34" fmla="*/ 1098585 h 2853720"/>
              <a:gd name="connsiteX35" fmla="*/ 296733 w 2413380"/>
              <a:gd name="connsiteY35" fmla="*/ 1074882 h 2853720"/>
              <a:gd name="connsiteX36" fmla="*/ 371791 w 2413380"/>
              <a:gd name="connsiteY36" fmla="*/ 1030708 h 2853720"/>
              <a:gd name="connsiteX37" fmla="*/ 1283776 w 2413380"/>
              <a:gd name="connsiteY37" fmla="*/ 697641 h 2853720"/>
              <a:gd name="connsiteX38" fmla="*/ 2413381 w 2413380"/>
              <a:gd name="connsiteY38" fmla="*/ 379093 h 2853720"/>
              <a:gd name="connsiteX39" fmla="*/ 2413381 w 2413380"/>
              <a:gd name="connsiteY39" fmla="*/ 0 h 2853720"/>
              <a:gd name="connsiteX40" fmla="*/ 1390934 w 2413380"/>
              <a:gd name="connsiteY40" fmla="*/ 416515 h 28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13380" h="2853720">
                <a:moveTo>
                  <a:pt x="1390897" y="416515"/>
                </a:moveTo>
                <a:cubicBezTo>
                  <a:pt x="1286572" y="457133"/>
                  <a:pt x="663016" y="725554"/>
                  <a:pt x="607531" y="752523"/>
                </a:cubicBezTo>
                <a:cubicBezTo>
                  <a:pt x="512538" y="799673"/>
                  <a:pt x="411698" y="850454"/>
                  <a:pt x="305194" y="916697"/>
                </a:cubicBezTo>
                <a:cubicBezTo>
                  <a:pt x="278650" y="933466"/>
                  <a:pt x="251742" y="951252"/>
                  <a:pt x="224726" y="970672"/>
                </a:cubicBezTo>
                <a:cubicBezTo>
                  <a:pt x="211181" y="980145"/>
                  <a:pt x="196548" y="991978"/>
                  <a:pt x="182349" y="1002759"/>
                </a:cubicBezTo>
                <a:cubicBezTo>
                  <a:pt x="168151" y="1014664"/>
                  <a:pt x="153300" y="1027042"/>
                  <a:pt x="139138" y="1039964"/>
                </a:cubicBezTo>
                <a:cubicBezTo>
                  <a:pt x="111141" y="1066352"/>
                  <a:pt x="84161" y="1094955"/>
                  <a:pt x="61175" y="1127586"/>
                </a:cubicBezTo>
                <a:cubicBezTo>
                  <a:pt x="38625" y="1160399"/>
                  <a:pt x="19852" y="1197024"/>
                  <a:pt x="9140" y="1237350"/>
                </a:cubicBezTo>
                <a:cubicBezTo>
                  <a:pt x="-1682" y="1277604"/>
                  <a:pt x="-2989" y="1321379"/>
                  <a:pt x="5726" y="1364320"/>
                </a:cubicBezTo>
                <a:cubicBezTo>
                  <a:pt x="14477" y="1407332"/>
                  <a:pt x="33033" y="1448857"/>
                  <a:pt x="57181" y="1488458"/>
                </a:cubicBezTo>
                <a:cubicBezTo>
                  <a:pt x="68873" y="1508566"/>
                  <a:pt x="83471" y="1527260"/>
                  <a:pt x="97960" y="1546425"/>
                </a:cubicBezTo>
                <a:cubicBezTo>
                  <a:pt x="105113" y="1556116"/>
                  <a:pt x="113683" y="1564791"/>
                  <a:pt x="121599" y="1574156"/>
                </a:cubicBezTo>
                <a:cubicBezTo>
                  <a:pt x="129660" y="1583231"/>
                  <a:pt x="137722" y="1593140"/>
                  <a:pt x="146073" y="1601125"/>
                </a:cubicBezTo>
                <a:cubicBezTo>
                  <a:pt x="162668" y="1617968"/>
                  <a:pt x="179844" y="1635536"/>
                  <a:pt x="196366" y="1650018"/>
                </a:cubicBezTo>
                <a:cubicBezTo>
                  <a:pt x="204754" y="1657641"/>
                  <a:pt x="213215" y="1665336"/>
                  <a:pt x="221712" y="1673067"/>
                </a:cubicBezTo>
                <a:cubicBezTo>
                  <a:pt x="230391" y="1680363"/>
                  <a:pt x="239178" y="1687732"/>
                  <a:pt x="247966" y="1695136"/>
                </a:cubicBezTo>
                <a:cubicBezTo>
                  <a:pt x="389693" y="1812486"/>
                  <a:pt x="557202" y="1916624"/>
                  <a:pt x="745300" y="2025699"/>
                </a:cubicBezTo>
                <a:cubicBezTo>
                  <a:pt x="1097566" y="2227296"/>
                  <a:pt x="1524890" y="2441053"/>
                  <a:pt x="2043394" y="2691107"/>
                </a:cubicBezTo>
                <a:cubicBezTo>
                  <a:pt x="2080142" y="2708821"/>
                  <a:pt x="2117254" y="2726679"/>
                  <a:pt x="2154946" y="2744792"/>
                </a:cubicBezTo>
                <a:cubicBezTo>
                  <a:pt x="2221833" y="2776806"/>
                  <a:pt x="2309418" y="2813648"/>
                  <a:pt x="2413381" y="2853721"/>
                </a:cubicBezTo>
                <a:lnTo>
                  <a:pt x="2413381" y="2218766"/>
                </a:lnTo>
                <a:cubicBezTo>
                  <a:pt x="2383895" y="2212487"/>
                  <a:pt x="2356588" y="2207042"/>
                  <a:pt x="2331642" y="2202541"/>
                </a:cubicBezTo>
                <a:cubicBezTo>
                  <a:pt x="2265844" y="2190490"/>
                  <a:pt x="2201680" y="2178294"/>
                  <a:pt x="2138641" y="2165989"/>
                </a:cubicBezTo>
                <a:cubicBezTo>
                  <a:pt x="1979702" y="2134955"/>
                  <a:pt x="1829151" y="2102940"/>
                  <a:pt x="1686916" y="2069728"/>
                </a:cubicBezTo>
                <a:cubicBezTo>
                  <a:pt x="1364389" y="1994374"/>
                  <a:pt x="1083876" y="1912922"/>
                  <a:pt x="841528" y="1822614"/>
                </a:cubicBezTo>
                <a:cubicBezTo>
                  <a:pt x="646676" y="1749002"/>
                  <a:pt x="475136" y="1669982"/>
                  <a:pt x="338202" y="1576733"/>
                </a:cubicBezTo>
                <a:cubicBezTo>
                  <a:pt x="329705" y="1570853"/>
                  <a:pt x="321281" y="1565009"/>
                  <a:pt x="312892" y="1559202"/>
                </a:cubicBezTo>
                <a:cubicBezTo>
                  <a:pt x="304867" y="1553104"/>
                  <a:pt x="296915" y="1547042"/>
                  <a:pt x="288999" y="1541016"/>
                </a:cubicBezTo>
                <a:cubicBezTo>
                  <a:pt x="272404" y="1528748"/>
                  <a:pt x="259259" y="1517205"/>
                  <a:pt x="245715" y="1505517"/>
                </a:cubicBezTo>
                <a:cubicBezTo>
                  <a:pt x="220114" y="1482541"/>
                  <a:pt x="197346" y="1459782"/>
                  <a:pt x="178391" y="1433358"/>
                </a:cubicBezTo>
                <a:cubicBezTo>
                  <a:pt x="159473" y="1407405"/>
                  <a:pt x="143786" y="1379311"/>
                  <a:pt x="135797" y="1349329"/>
                </a:cubicBezTo>
                <a:cubicBezTo>
                  <a:pt x="127772" y="1319419"/>
                  <a:pt x="127881" y="1288349"/>
                  <a:pt x="135398" y="1259819"/>
                </a:cubicBezTo>
                <a:cubicBezTo>
                  <a:pt x="142878" y="1231289"/>
                  <a:pt x="157076" y="1205626"/>
                  <a:pt x="173743" y="1182940"/>
                </a:cubicBezTo>
                <a:cubicBezTo>
                  <a:pt x="190810" y="1160472"/>
                  <a:pt x="210528" y="1141017"/>
                  <a:pt x="230826" y="1123376"/>
                </a:cubicBezTo>
                <a:cubicBezTo>
                  <a:pt x="241175" y="1114701"/>
                  <a:pt x="251488" y="1106715"/>
                  <a:pt x="262237" y="1098585"/>
                </a:cubicBezTo>
                <a:cubicBezTo>
                  <a:pt x="274002" y="1090635"/>
                  <a:pt x="284206" y="1082795"/>
                  <a:pt x="296733" y="1074882"/>
                </a:cubicBezTo>
                <a:cubicBezTo>
                  <a:pt x="321389" y="1058875"/>
                  <a:pt x="346554" y="1044320"/>
                  <a:pt x="371791" y="1030708"/>
                </a:cubicBezTo>
                <a:cubicBezTo>
                  <a:pt x="473284" y="976842"/>
                  <a:pt x="947160" y="797423"/>
                  <a:pt x="1283776" y="697641"/>
                </a:cubicBezTo>
                <a:cubicBezTo>
                  <a:pt x="1359632" y="673285"/>
                  <a:pt x="2089438" y="467187"/>
                  <a:pt x="2413381" y="379093"/>
                </a:cubicBezTo>
                <a:lnTo>
                  <a:pt x="2413381" y="0"/>
                </a:lnTo>
                <a:cubicBezTo>
                  <a:pt x="2046154" y="143194"/>
                  <a:pt x="1568901" y="347260"/>
                  <a:pt x="1390934" y="416515"/>
                </a:cubicBezTo>
                <a:close/>
              </a:path>
            </a:pathLst>
          </a:custGeom>
          <a:solidFill>
            <a:srgbClr val="BCDCF1">
              <a:alpha val="30000"/>
            </a:srgbClr>
          </a:solidFill>
          <a:ln w="362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34154920-9949-FCF9-704E-FC094A43CEDC}"/>
              </a:ext>
            </a:extLst>
          </p:cNvPr>
          <p:cNvSpPr>
            <a:spLocks noGrp="1"/>
          </p:cNvSpPr>
          <p:nvPr>
            <p:ph type="title" hasCustomPrompt="1"/>
          </p:nvPr>
        </p:nvSpPr>
        <p:spPr/>
        <p:txBody>
          <a:bodyPr anchor="t">
            <a:normAutofit/>
          </a:bodyPr>
          <a:lstStyle>
            <a:lvl1pPr>
              <a:defRPr sz="3000" b="1"/>
            </a:lvl1pPr>
          </a:lstStyle>
          <a:p>
            <a:r>
              <a:rPr lang="fr-FR" dirty="0"/>
              <a:t>MODIFIEZ LE STYLE DU TITRE</a:t>
            </a:r>
          </a:p>
        </p:txBody>
      </p:sp>
      <p:sp>
        <p:nvSpPr>
          <p:cNvPr id="3" name="Espace réservé du contenu 2">
            <a:extLst>
              <a:ext uri="{FF2B5EF4-FFF2-40B4-BE49-F238E27FC236}">
                <a16:creationId xmlns:a16="http://schemas.microsoft.com/office/drawing/2014/main" id="{31D1D466-DDE4-E96F-F16E-2F557D2A6E59}"/>
              </a:ext>
            </a:extLst>
          </p:cNvPr>
          <p:cNvSpPr>
            <a:spLocks noGrp="1"/>
          </p:cNvSpPr>
          <p:nvPr>
            <p:ph idx="1"/>
          </p:nvPr>
        </p:nvSpPr>
        <p:spPr/>
        <p:txBody>
          <a:bodyPr/>
          <a:lstStyle>
            <a:lvl1pPr>
              <a:defRPr sz="2400"/>
            </a:lvl1pPr>
            <a:lvl2pPr>
              <a:defRPr sz="20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pic>
        <p:nvPicPr>
          <p:cNvPr id="8" name="Graphique 7">
            <a:extLst>
              <a:ext uri="{FF2B5EF4-FFF2-40B4-BE49-F238E27FC236}">
                <a16:creationId xmlns:a16="http://schemas.microsoft.com/office/drawing/2014/main" id="{D3DDBD6B-6188-A4AB-E0DE-CDCAB82ED4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sp>
        <p:nvSpPr>
          <p:cNvPr id="14" name="Espace réservé du numéro de diapositive 7">
            <a:extLst>
              <a:ext uri="{FF2B5EF4-FFF2-40B4-BE49-F238E27FC236}">
                <a16:creationId xmlns:a16="http://schemas.microsoft.com/office/drawing/2014/main" id="{E84B99AC-AA02-BA5C-E2E2-2BD6998537D7}"/>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5" name="Image 4">
            <a:extLst>
              <a:ext uri="{FF2B5EF4-FFF2-40B4-BE49-F238E27FC236}">
                <a16:creationId xmlns:a16="http://schemas.microsoft.com/office/drawing/2014/main" id="{DB934A03-9BEA-9735-8333-C41CE3731F57}"/>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8210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gradFill>
          <a:gsLst>
            <a:gs pos="100000">
              <a:schemeClr val="bg1"/>
            </a:gs>
            <a:gs pos="0">
              <a:srgbClr val="BCDCF1"/>
            </a:gs>
          </a:gsLst>
          <a:lin ang="2700000" scaled="0"/>
        </a:gradFill>
        <a:effectLst/>
      </p:bgPr>
    </p:bg>
    <p:spTree>
      <p:nvGrpSpPr>
        <p:cNvPr id="1" name=""/>
        <p:cNvGrpSpPr/>
        <p:nvPr/>
      </p:nvGrpSpPr>
      <p:grpSpPr>
        <a:xfrm>
          <a:off x="0" y="0"/>
          <a:ext cx="0" cy="0"/>
          <a:chOff x="0" y="0"/>
          <a:chExt cx="0" cy="0"/>
        </a:xfrm>
      </p:grpSpPr>
      <p:sp>
        <p:nvSpPr>
          <p:cNvPr id="15" name="Forme libre 14">
            <a:extLst>
              <a:ext uri="{FF2B5EF4-FFF2-40B4-BE49-F238E27FC236}">
                <a16:creationId xmlns:a16="http://schemas.microsoft.com/office/drawing/2014/main" id="{DB474C30-E7BD-90E6-143C-701D04C351B1}"/>
              </a:ext>
            </a:extLst>
          </p:cNvPr>
          <p:cNvSpPr/>
          <p:nvPr userDrawn="1"/>
        </p:nvSpPr>
        <p:spPr>
          <a:xfrm rot="16200000">
            <a:off x="881235" y="-942197"/>
            <a:ext cx="6857999" cy="8742392"/>
          </a:xfrm>
          <a:custGeom>
            <a:avLst/>
            <a:gdLst>
              <a:gd name="connsiteX0" fmla="*/ 457357 w 2315082"/>
              <a:gd name="connsiteY0" fmla="*/ 2125063 h 2951204"/>
              <a:gd name="connsiteX1" fmla="*/ 1043971 w 2315082"/>
              <a:gd name="connsiteY1" fmla="*/ 1265161 h 2951204"/>
              <a:gd name="connsiteX2" fmla="*/ 1046967 w 2315082"/>
              <a:gd name="connsiteY2" fmla="*/ 1260870 h 2951204"/>
              <a:gd name="connsiteX3" fmla="*/ 1851774 w 2315082"/>
              <a:gd name="connsiteY3" fmla="*/ 204268 h 2951204"/>
              <a:gd name="connsiteX4" fmla="*/ 2129759 w 2315082"/>
              <a:gd name="connsiteY4" fmla="*/ 0 h 2951204"/>
              <a:gd name="connsiteX5" fmla="*/ 1523836 w 2315082"/>
              <a:gd name="connsiteY5" fmla="*/ 0 h 2951204"/>
              <a:gd name="connsiteX6" fmla="*/ 719797 w 2315082"/>
              <a:gd name="connsiteY6" fmla="*/ 679883 h 2951204"/>
              <a:gd name="connsiteX7" fmla="*/ 0 w 2315082"/>
              <a:gd name="connsiteY7" fmla="*/ 1350009 h 2951204"/>
              <a:gd name="connsiteX8" fmla="*/ 0 w 2315082"/>
              <a:gd name="connsiteY8" fmla="*/ 2951205 h 2951204"/>
              <a:gd name="connsiteX9" fmla="*/ 2315082 w 2315082"/>
              <a:gd name="connsiteY9" fmla="*/ 2141985 h 2951204"/>
              <a:gd name="connsiteX10" fmla="*/ 2315082 w 2315082"/>
              <a:gd name="connsiteY10" fmla="*/ 1607753 h 2951204"/>
              <a:gd name="connsiteX11" fmla="*/ 457398 w 2315082"/>
              <a:gd name="connsiteY11" fmla="*/ 2125023 h 295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082" h="2951204">
                <a:moveTo>
                  <a:pt x="457357" y="2125063"/>
                </a:moveTo>
                <a:cubicBezTo>
                  <a:pt x="552124" y="1984189"/>
                  <a:pt x="744815" y="1700617"/>
                  <a:pt x="1043971" y="1265161"/>
                </a:cubicBezTo>
                <a:lnTo>
                  <a:pt x="1046967" y="1260870"/>
                </a:lnTo>
                <a:cubicBezTo>
                  <a:pt x="1307423" y="881803"/>
                  <a:pt x="1553792" y="523544"/>
                  <a:pt x="1851774" y="204268"/>
                </a:cubicBezTo>
                <a:cubicBezTo>
                  <a:pt x="1933182" y="116991"/>
                  <a:pt x="2029770" y="47039"/>
                  <a:pt x="2129759" y="0"/>
                </a:cubicBezTo>
                <a:lnTo>
                  <a:pt x="1523836" y="0"/>
                </a:lnTo>
                <a:cubicBezTo>
                  <a:pt x="1308314" y="168483"/>
                  <a:pt x="1039720" y="395542"/>
                  <a:pt x="719797" y="679883"/>
                </a:cubicBezTo>
                <a:cubicBezTo>
                  <a:pt x="459098" y="911638"/>
                  <a:pt x="207305" y="1149303"/>
                  <a:pt x="0" y="1350009"/>
                </a:cubicBezTo>
                <a:lnTo>
                  <a:pt x="0" y="2951205"/>
                </a:lnTo>
                <a:cubicBezTo>
                  <a:pt x="337209" y="2809642"/>
                  <a:pt x="1197355" y="2465065"/>
                  <a:pt x="2315082" y="2141985"/>
                </a:cubicBezTo>
                <a:lnTo>
                  <a:pt x="2315082" y="1607753"/>
                </a:lnTo>
                <a:cubicBezTo>
                  <a:pt x="1885495" y="1747697"/>
                  <a:pt x="1241600" y="1940874"/>
                  <a:pt x="457398" y="2125023"/>
                </a:cubicBezTo>
                <a:close/>
              </a:path>
            </a:pathLst>
          </a:custGeom>
          <a:solidFill>
            <a:schemeClr val="bg1">
              <a:alpha val="46660"/>
            </a:schemeClr>
          </a:solidFill>
          <a:ln w="404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942B15DB-B2FF-2AD9-7DDE-AFEEBC749A05}"/>
              </a:ext>
            </a:extLst>
          </p:cNvPr>
          <p:cNvSpPr>
            <a:spLocks noGrp="1"/>
          </p:cNvSpPr>
          <p:nvPr>
            <p:ph type="title"/>
          </p:nvPr>
        </p:nvSpPr>
        <p:spPr>
          <a:xfrm>
            <a:off x="831850" y="1709738"/>
            <a:ext cx="10515600" cy="2852737"/>
          </a:xfrm>
        </p:spPr>
        <p:txBody>
          <a:bodyPr anchor="b"/>
          <a:lstStyle>
            <a:lvl1pPr>
              <a:defRPr sz="6000">
                <a:solidFill>
                  <a:srgbClr val="758BC5"/>
                </a:solidFill>
              </a:defRPr>
            </a:lvl1pPr>
          </a:lstStyle>
          <a:p>
            <a:r>
              <a:rPr lang="en-US"/>
              <a:t>Click to edit Master title style</a:t>
            </a:r>
            <a:endParaRPr lang="fr-FR" dirty="0"/>
          </a:p>
        </p:txBody>
      </p:sp>
      <p:sp>
        <p:nvSpPr>
          <p:cNvPr id="3" name="Espace réservé du texte 2">
            <a:extLst>
              <a:ext uri="{FF2B5EF4-FFF2-40B4-BE49-F238E27FC236}">
                <a16:creationId xmlns:a16="http://schemas.microsoft.com/office/drawing/2014/main" id="{58995AF7-062D-1EB8-027A-1C8F10E6F23C}"/>
              </a:ext>
            </a:extLst>
          </p:cNvPr>
          <p:cNvSpPr>
            <a:spLocks noGrp="1"/>
          </p:cNvSpPr>
          <p:nvPr>
            <p:ph type="body" idx="1"/>
          </p:nvPr>
        </p:nvSpPr>
        <p:spPr>
          <a:xfrm>
            <a:off x="831850" y="4589463"/>
            <a:ext cx="10515600" cy="1500187"/>
          </a:xfrm>
        </p:spPr>
        <p:txBody>
          <a:bodyPr/>
          <a:lstStyle>
            <a:lvl1pPr marL="0" indent="0">
              <a:buNone/>
              <a:defRPr sz="2400" b="0" i="1">
                <a:solidFill>
                  <a:srgbClr val="22398E"/>
                </a:solidFill>
                <a:latin typeface="Arial Nova Cond" panose="020B0506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Espace réservé du numéro de diapositive 7">
            <a:extLst>
              <a:ext uri="{FF2B5EF4-FFF2-40B4-BE49-F238E27FC236}">
                <a16:creationId xmlns:a16="http://schemas.microsoft.com/office/drawing/2014/main" id="{5B78D361-3D77-D984-4607-B9DA50955C97}"/>
              </a:ext>
            </a:extLst>
          </p:cNvPr>
          <p:cNvSpPr>
            <a:spLocks noGrp="1"/>
          </p:cNvSpPr>
          <p:nvPr>
            <p:ph type="sldNum" sz="quarter" idx="10"/>
          </p:nvPr>
        </p:nvSpPr>
        <p:spPr>
          <a:xfrm>
            <a:off x="9185116" y="6301508"/>
            <a:ext cx="2743200" cy="365125"/>
          </a:xfrm>
        </p:spPr>
        <p:txBody>
          <a:bodyPr/>
          <a:lstStyle>
            <a:lvl1pPr>
              <a:defRPr>
                <a:solidFill>
                  <a:schemeClr val="bg1"/>
                </a:solidFill>
              </a:defRPr>
            </a:lvl1pPr>
          </a:lstStyle>
          <a:p>
            <a:fld id="{421B1A79-1F45-8F4F-AED5-0EE30DCF0380}" type="slidenum">
              <a:rPr lang="fr-FR" smtClean="0"/>
              <a:pPr/>
              <a:t>‹#›</a:t>
            </a:fld>
            <a:endParaRPr lang="fr-FR"/>
          </a:p>
        </p:txBody>
      </p:sp>
      <p:pic>
        <p:nvPicPr>
          <p:cNvPr id="7" name="Graphique 6">
            <a:extLst>
              <a:ext uri="{FF2B5EF4-FFF2-40B4-BE49-F238E27FC236}">
                <a16:creationId xmlns:a16="http://schemas.microsoft.com/office/drawing/2014/main" id="{51A1667B-9499-27BC-564F-580B898B2D6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8" name="Image 7">
            <a:extLst>
              <a:ext uri="{FF2B5EF4-FFF2-40B4-BE49-F238E27FC236}">
                <a16:creationId xmlns:a16="http://schemas.microsoft.com/office/drawing/2014/main" id="{0FB85534-8162-106E-F827-6F857C683CD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698773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7B7A42F2-EFD8-3532-7665-4DC98020AA81}"/>
              </a:ext>
            </a:extLst>
          </p:cNvPr>
          <p:cNvSpPr/>
          <p:nvPr userDrawn="1"/>
        </p:nvSpPr>
        <p:spPr>
          <a:xfrm>
            <a:off x="7573546" y="-665032"/>
            <a:ext cx="6215606" cy="7349692"/>
          </a:xfrm>
          <a:custGeom>
            <a:avLst/>
            <a:gdLst>
              <a:gd name="connsiteX0" fmla="*/ 1390897 w 2413380"/>
              <a:gd name="connsiteY0" fmla="*/ 416515 h 2853720"/>
              <a:gd name="connsiteX1" fmla="*/ 607531 w 2413380"/>
              <a:gd name="connsiteY1" fmla="*/ 752523 h 2853720"/>
              <a:gd name="connsiteX2" fmla="*/ 305194 w 2413380"/>
              <a:gd name="connsiteY2" fmla="*/ 916697 h 2853720"/>
              <a:gd name="connsiteX3" fmla="*/ 224726 w 2413380"/>
              <a:gd name="connsiteY3" fmla="*/ 970672 h 2853720"/>
              <a:gd name="connsiteX4" fmla="*/ 182349 w 2413380"/>
              <a:gd name="connsiteY4" fmla="*/ 1002759 h 2853720"/>
              <a:gd name="connsiteX5" fmla="*/ 139138 w 2413380"/>
              <a:gd name="connsiteY5" fmla="*/ 1039964 h 2853720"/>
              <a:gd name="connsiteX6" fmla="*/ 61175 w 2413380"/>
              <a:gd name="connsiteY6" fmla="*/ 1127586 h 2853720"/>
              <a:gd name="connsiteX7" fmla="*/ 9140 w 2413380"/>
              <a:gd name="connsiteY7" fmla="*/ 1237350 h 2853720"/>
              <a:gd name="connsiteX8" fmla="*/ 5726 w 2413380"/>
              <a:gd name="connsiteY8" fmla="*/ 1364320 h 2853720"/>
              <a:gd name="connsiteX9" fmla="*/ 57181 w 2413380"/>
              <a:gd name="connsiteY9" fmla="*/ 1488458 h 2853720"/>
              <a:gd name="connsiteX10" fmla="*/ 97960 w 2413380"/>
              <a:gd name="connsiteY10" fmla="*/ 1546425 h 2853720"/>
              <a:gd name="connsiteX11" fmla="*/ 121599 w 2413380"/>
              <a:gd name="connsiteY11" fmla="*/ 1574156 h 2853720"/>
              <a:gd name="connsiteX12" fmla="*/ 146073 w 2413380"/>
              <a:gd name="connsiteY12" fmla="*/ 1601125 h 2853720"/>
              <a:gd name="connsiteX13" fmla="*/ 196366 w 2413380"/>
              <a:gd name="connsiteY13" fmla="*/ 1650018 h 2853720"/>
              <a:gd name="connsiteX14" fmla="*/ 221712 w 2413380"/>
              <a:gd name="connsiteY14" fmla="*/ 1673067 h 2853720"/>
              <a:gd name="connsiteX15" fmla="*/ 247966 w 2413380"/>
              <a:gd name="connsiteY15" fmla="*/ 1695136 h 2853720"/>
              <a:gd name="connsiteX16" fmla="*/ 745300 w 2413380"/>
              <a:gd name="connsiteY16" fmla="*/ 2025699 h 2853720"/>
              <a:gd name="connsiteX17" fmla="*/ 2043394 w 2413380"/>
              <a:gd name="connsiteY17" fmla="*/ 2691107 h 2853720"/>
              <a:gd name="connsiteX18" fmla="*/ 2154946 w 2413380"/>
              <a:gd name="connsiteY18" fmla="*/ 2744792 h 2853720"/>
              <a:gd name="connsiteX19" fmla="*/ 2413381 w 2413380"/>
              <a:gd name="connsiteY19" fmla="*/ 2853721 h 2853720"/>
              <a:gd name="connsiteX20" fmla="*/ 2413381 w 2413380"/>
              <a:gd name="connsiteY20" fmla="*/ 2218766 h 2853720"/>
              <a:gd name="connsiteX21" fmla="*/ 2331642 w 2413380"/>
              <a:gd name="connsiteY21" fmla="*/ 2202541 h 2853720"/>
              <a:gd name="connsiteX22" fmla="*/ 2138641 w 2413380"/>
              <a:gd name="connsiteY22" fmla="*/ 2165989 h 2853720"/>
              <a:gd name="connsiteX23" fmla="*/ 1686916 w 2413380"/>
              <a:gd name="connsiteY23" fmla="*/ 2069728 h 2853720"/>
              <a:gd name="connsiteX24" fmla="*/ 841528 w 2413380"/>
              <a:gd name="connsiteY24" fmla="*/ 1822614 h 2853720"/>
              <a:gd name="connsiteX25" fmla="*/ 338202 w 2413380"/>
              <a:gd name="connsiteY25" fmla="*/ 1576733 h 2853720"/>
              <a:gd name="connsiteX26" fmla="*/ 312892 w 2413380"/>
              <a:gd name="connsiteY26" fmla="*/ 1559202 h 2853720"/>
              <a:gd name="connsiteX27" fmla="*/ 288999 w 2413380"/>
              <a:gd name="connsiteY27" fmla="*/ 1541016 h 2853720"/>
              <a:gd name="connsiteX28" fmla="*/ 245715 w 2413380"/>
              <a:gd name="connsiteY28" fmla="*/ 1505517 h 2853720"/>
              <a:gd name="connsiteX29" fmla="*/ 178391 w 2413380"/>
              <a:gd name="connsiteY29" fmla="*/ 1433358 h 2853720"/>
              <a:gd name="connsiteX30" fmla="*/ 135797 w 2413380"/>
              <a:gd name="connsiteY30" fmla="*/ 1349329 h 2853720"/>
              <a:gd name="connsiteX31" fmla="*/ 135398 w 2413380"/>
              <a:gd name="connsiteY31" fmla="*/ 1259819 h 2853720"/>
              <a:gd name="connsiteX32" fmla="*/ 173743 w 2413380"/>
              <a:gd name="connsiteY32" fmla="*/ 1182940 h 2853720"/>
              <a:gd name="connsiteX33" fmla="*/ 230826 w 2413380"/>
              <a:gd name="connsiteY33" fmla="*/ 1123376 h 2853720"/>
              <a:gd name="connsiteX34" fmla="*/ 262237 w 2413380"/>
              <a:gd name="connsiteY34" fmla="*/ 1098585 h 2853720"/>
              <a:gd name="connsiteX35" fmla="*/ 296733 w 2413380"/>
              <a:gd name="connsiteY35" fmla="*/ 1074882 h 2853720"/>
              <a:gd name="connsiteX36" fmla="*/ 371791 w 2413380"/>
              <a:gd name="connsiteY36" fmla="*/ 1030708 h 2853720"/>
              <a:gd name="connsiteX37" fmla="*/ 1283776 w 2413380"/>
              <a:gd name="connsiteY37" fmla="*/ 697641 h 2853720"/>
              <a:gd name="connsiteX38" fmla="*/ 2413381 w 2413380"/>
              <a:gd name="connsiteY38" fmla="*/ 379093 h 2853720"/>
              <a:gd name="connsiteX39" fmla="*/ 2413381 w 2413380"/>
              <a:gd name="connsiteY39" fmla="*/ 0 h 2853720"/>
              <a:gd name="connsiteX40" fmla="*/ 1390934 w 2413380"/>
              <a:gd name="connsiteY40" fmla="*/ 416515 h 2853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13380" h="2853720">
                <a:moveTo>
                  <a:pt x="1390897" y="416515"/>
                </a:moveTo>
                <a:cubicBezTo>
                  <a:pt x="1286572" y="457133"/>
                  <a:pt x="663016" y="725554"/>
                  <a:pt x="607531" y="752523"/>
                </a:cubicBezTo>
                <a:cubicBezTo>
                  <a:pt x="512538" y="799673"/>
                  <a:pt x="411698" y="850454"/>
                  <a:pt x="305194" y="916697"/>
                </a:cubicBezTo>
                <a:cubicBezTo>
                  <a:pt x="278650" y="933466"/>
                  <a:pt x="251742" y="951252"/>
                  <a:pt x="224726" y="970672"/>
                </a:cubicBezTo>
                <a:cubicBezTo>
                  <a:pt x="211181" y="980145"/>
                  <a:pt x="196548" y="991978"/>
                  <a:pt x="182349" y="1002759"/>
                </a:cubicBezTo>
                <a:cubicBezTo>
                  <a:pt x="168151" y="1014664"/>
                  <a:pt x="153300" y="1027042"/>
                  <a:pt x="139138" y="1039964"/>
                </a:cubicBezTo>
                <a:cubicBezTo>
                  <a:pt x="111141" y="1066352"/>
                  <a:pt x="84161" y="1094955"/>
                  <a:pt x="61175" y="1127586"/>
                </a:cubicBezTo>
                <a:cubicBezTo>
                  <a:pt x="38625" y="1160399"/>
                  <a:pt x="19852" y="1197024"/>
                  <a:pt x="9140" y="1237350"/>
                </a:cubicBezTo>
                <a:cubicBezTo>
                  <a:pt x="-1682" y="1277604"/>
                  <a:pt x="-2989" y="1321379"/>
                  <a:pt x="5726" y="1364320"/>
                </a:cubicBezTo>
                <a:cubicBezTo>
                  <a:pt x="14477" y="1407332"/>
                  <a:pt x="33033" y="1448857"/>
                  <a:pt x="57181" y="1488458"/>
                </a:cubicBezTo>
                <a:cubicBezTo>
                  <a:pt x="68873" y="1508566"/>
                  <a:pt x="83471" y="1527260"/>
                  <a:pt x="97960" y="1546425"/>
                </a:cubicBezTo>
                <a:cubicBezTo>
                  <a:pt x="105113" y="1556116"/>
                  <a:pt x="113683" y="1564791"/>
                  <a:pt x="121599" y="1574156"/>
                </a:cubicBezTo>
                <a:cubicBezTo>
                  <a:pt x="129660" y="1583231"/>
                  <a:pt x="137722" y="1593140"/>
                  <a:pt x="146073" y="1601125"/>
                </a:cubicBezTo>
                <a:cubicBezTo>
                  <a:pt x="162668" y="1617968"/>
                  <a:pt x="179844" y="1635536"/>
                  <a:pt x="196366" y="1650018"/>
                </a:cubicBezTo>
                <a:cubicBezTo>
                  <a:pt x="204754" y="1657641"/>
                  <a:pt x="213215" y="1665336"/>
                  <a:pt x="221712" y="1673067"/>
                </a:cubicBezTo>
                <a:cubicBezTo>
                  <a:pt x="230391" y="1680363"/>
                  <a:pt x="239178" y="1687732"/>
                  <a:pt x="247966" y="1695136"/>
                </a:cubicBezTo>
                <a:cubicBezTo>
                  <a:pt x="389693" y="1812486"/>
                  <a:pt x="557202" y="1916624"/>
                  <a:pt x="745300" y="2025699"/>
                </a:cubicBezTo>
                <a:cubicBezTo>
                  <a:pt x="1097566" y="2227296"/>
                  <a:pt x="1524890" y="2441053"/>
                  <a:pt x="2043394" y="2691107"/>
                </a:cubicBezTo>
                <a:cubicBezTo>
                  <a:pt x="2080142" y="2708821"/>
                  <a:pt x="2117254" y="2726679"/>
                  <a:pt x="2154946" y="2744792"/>
                </a:cubicBezTo>
                <a:cubicBezTo>
                  <a:pt x="2221833" y="2776806"/>
                  <a:pt x="2309418" y="2813648"/>
                  <a:pt x="2413381" y="2853721"/>
                </a:cubicBezTo>
                <a:lnTo>
                  <a:pt x="2413381" y="2218766"/>
                </a:lnTo>
                <a:cubicBezTo>
                  <a:pt x="2383895" y="2212487"/>
                  <a:pt x="2356588" y="2207042"/>
                  <a:pt x="2331642" y="2202541"/>
                </a:cubicBezTo>
                <a:cubicBezTo>
                  <a:pt x="2265844" y="2190490"/>
                  <a:pt x="2201680" y="2178294"/>
                  <a:pt x="2138641" y="2165989"/>
                </a:cubicBezTo>
                <a:cubicBezTo>
                  <a:pt x="1979702" y="2134955"/>
                  <a:pt x="1829151" y="2102940"/>
                  <a:pt x="1686916" y="2069728"/>
                </a:cubicBezTo>
                <a:cubicBezTo>
                  <a:pt x="1364389" y="1994374"/>
                  <a:pt x="1083876" y="1912922"/>
                  <a:pt x="841528" y="1822614"/>
                </a:cubicBezTo>
                <a:cubicBezTo>
                  <a:pt x="646676" y="1749002"/>
                  <a:pt x="475136" y="1669982"/>
                  <a:pt x="338202" y="1576733"/>
                </a:cubicBezTo>
                <a:cubicBezTo>
                  <a:pt x="329705" y="1570853"/>
                  <a:pt x="321281" y="1565009"/>
                  <a:pt x="312892" y="1559202"/>
                </a:cubicBezTo>
                <a:cubicBezTo>
                  <a:pt x="304867" y="1553104"/>
                  <a:pt x="296915" y="1547042"/>
                  <a:pt x="288999" y="1541016"/>
                </a:cubicBezTo>
                <a:cubicBezTo>
                  <a:pt x="272404" y="1528748"/>
                  <a:pt x="259259" y="1517205"/>
                  <a:pt x="245715" y="1505517"/>
                </a:cubicBezTo>
                <a:cubicBezTo>
                  <a:pt x="220114" y="1482541"/>
                  <a:pt x="197346" y="1459782"/>
                  <a:pt x="178391" y="1433358"/>
                </a:cubicBezTo>
                <a:cubicBezTo>
                  <a:pt x="159473" y="1407405"/>
                  <a:pt x="143786" y="1379311"/>
                  <a:pt x="135797" y="1349329"/>
                </a:cubicBezTo>
                <a:cubicBezTo>
                  <a:pt x="127772" y="1319419"/>
                  <a:pt x="127881" y="1288349"/>
                  <a:pt x="135398" y="1259819"/>
                </a:cubicBezTo>
                <a:cubicBezTo>
                  <a:pt x="142878" y="1231289"/>
                  <a:pt x="157076" y="1205626"/>
                  <a:pt x="173743" y="1182940"/>
                </a:cubicBezTo>
                <a:cubicBezTo>
                  <a:pt x="190810" y="1160472"/>
                  <a:pt x="210528" y="1141017"/>
                  <a:pt x="230826" y="1123376"/>
                </a:cubicBezTo>
                <a:cubicBezTo>
                  <a:pt x="241175" y="1114701"/>
                  <a:pt x="251488" y="1106715"/>
                  <a:pt x="262237" y="1098585"/>
                </a:cubicBezTo>
                <a:cubicBezTo>
                  <a:pt x="274002" y="1090635"/>
                  <a:pt x="284206" y="1082795"/>
                  <a:pt x="296733" y="1074882"/>
                </a:cubicBezTo>
                <a:cubicBezTo>
                  <a:pt x="321389" y="1058875"/>
                  <a:pt x="346554" y="1044320"/>
                  <a:pt x="371791" y="1030708"/>
                </a:cubicBezTo>
                <a:cubicBezTo>
                  <a:pt x="473284" y="976842"/>
                  <a:pt x="947160" y="797423"/>
                  <a:pt x="1283776" y="697641"/>
                </a:cubicBezTo>
                <a:cubicBezTo>
                  <a:pt x="1359632" y="673285"/>
                  <a:pt x="2089438" y="467187"/>
                  <a:pt x="2413381" y="379093"/>
                </a:cubicBezTo>
                <a:lnTo>
                  <a:pt x="2413381" y="0"/>
                </a:lnTo>
                <a:cubicBezTo>
                  <a:pt x="2046154" y="143194"/>
                  <a:pt x="1568901" y="347260"/>
                  <a:pt x="1390934" y="416515"/>
                </a:cubicBezTo>
                <a:close/>
              </a:path>
            </a:pathLst>
          </a:custGeom>
          <a:solidFill>
            <a:srgbClr val="BCDCF1">
              <a:alpha val="30000"/>
            </a:srgbClr>
          </a:solidFill>
          <a:ln w="362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34154920-9949-FCF9-704E-FC094A43CEDC}"/>
              </a:ext>
            </a:extLst>
          </p:cNvPr>
          <p:cNvSpPr>
            <a:spLocks noGrp="1"/>
          </p:cNvSpPr>
          <p:nvPr>
            <p:ph type="title" hasCustomPrompt="1"/>
          </p:nvPr>
        </p:nvSpPr>
        <p:spPr/>
        <p:txBody>
          <a:bodyPr anchor="t">
            <a:normAutofit/>
          </a:bodyPr>
          <a:lstStyle>
            <a:lvl1pPr>
              <a:defRPr sz="3000"/>
            </a:lvl1pPr>
          </a:lstStyle>
          <a:p>
            <a:r>
              <a:rPr lang="fr-FR" dirty="0"/>
              <a:t>MODIFIEZ LE STYLE DU TITRE</a:t>
            </a:r>
          </a:p>
        </p:txBody>
      </p:sp>
      <p:sp>
        <p:nvSpPr>
          <p:cNvPr id="3" name="Espace réservé du contenu 2">
            <a:extLst>
              <a:ext uri="{FF2B5EF4-FFF2-40B4-BE49-F238E27FC236}">
                <a16:creationId xmlns:a16="http://schemas.microsoft.com/office/drawing/2014/main" id="{31D1D466-DDE4-E96F-F16E-2F557D2A6E59}"/>
              </a:ext>
            </a:extLst>
          </p:cNvPr>
          <p:cNvSpPr>
            <a:spLocks noGrp="1"/>
          </p:cNvSpPr>
          <p:nvPr>
            <p:ph idx="1"/>
          </p:nvPr>
        </p:nvSpPr>
        <p:spPr>
          <a:xfrm>
            <a:off x="681227" y="1691513"/>
            <a:ext cx="3231325" cy="1917319"/>
          </a:xfrm>
        </p:spPr>
        <p:txBody>
          <a:bodyPr/>
          <a:lstStyle>
            <a:lvl1pPr>
              <a:defRPr sz="2400"/>
            </a:lvl1pPr>
            <a:lvl2pPr>
              <a:defRPr sz="20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14" name="Espace réservé du numéro de diapositive 7">
            <a:extLst>
              <a:ext uri="{FF2B5EF4-FFF2-40B4-BE49-F238E27FC236}">
                <a16:creationId xmlns:a16="http://schemas.microsoft.com/office/drawing/2014/main" id="{E84B99AC-AA02-BA5C-E2E2-2BD6998537D7}"/>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sp>
        <p:nvSpPr>
          <p:cNvPr id="5" name="Espace réservé du contenu 4">
            <a:extLst>
              <a:ext uri="{FF2B5EF4-FFF2-40B4-BE49-F238E27FC236}">
                <a16:creationId xmlns:a16="http://schemas.microsoft.com/office/drawing/2014/main" id="{D09C727D-B712-B94C-7098-479215E4F799}"/>
              </a:ext>
            </a:extLst>
          </p:cNvPr>
          <p:cNvSpPr>
            <a:spLocks noGrp="1"/>
          </p:cNvSpPr>
          <p:nvPr>
            <p:ph sz="quarter" idx="11"/>
          </p:nvPr>
        </p:nvSpPr>
        <p:spPr>
          <a:xfrm>
            <a:off x="657223" y="3949700"/>
            <a:ext cx="3231325" cy="1792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7" name="Espace réservé du contenu 6">
            <a:extLst>
              <a:ext uri="{FF2B5EF4-FFF2-40B4-BE49-F238E27FC236}">
                <a16:creationId xmlns:a16="http://schemas.microsoft.com/office/drawing/2014/main" id="{7C7D3B94-AE84-36FA-FADA-2CFCC04CB7CE}"/>
              </a:ext>
            </a:extLst>
          </p:cNvPr>
          <p:cNvSpPr>
            <a:spLocks noGrp="1"/>
          </p:cNvSpPr>
          <p:nvPr>
            <p:ph sz="quarter" idx="12"/>
          </p:nvPr>
        </p:nvSpPr>
        <p:spPr>
          <a:xfrm>
            <a:off x="4443761" y="1691513"/>
            <a:ext cx="3231325" cy="1917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6" name="Espace réservé du contenu 15">
            <a:extLst>
              <a:ext uri="{FF2B5EF4-FFF2-40B4-BE49-F238E27FC236}">
                <a16:creationId xmlns:a16="http://schemas.microsoft.com/office/drawing/2014/main" id="{7004F46C-A404-141B-17A8-B6D556CCBDE7}"/>
              </a:ext>
            </a:extLst>
          </p:cNvPr>
          <p:cNvSpPr>
            <a:spLocks noGrp="1"/>
          </p:cNvSpPr>
          <p:nvPr>
            <p:ph sz="quarter" idx="13"/>
          </p:nvPr>
        </p:nvSpPr>
        <p:spPr>
          <a:xfrm>
            <a:off x="4443761" y="3949700"/>
            <a:ext cx="3231325" cy="1792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8" name="Espace réservé du contenu 17">
            <a:extLst>
              <a:ext uri="{FF2B5EF4-FFF2-40B4-BE49-F238E27FC236}">
                <a16:creationId xmlns:a16="http://schemas.microsoft.com/office/drawing/2014/main" id="{8EE922BB-A190-2728-D047-00A4411D6667}"/>
              </a:ext>
            </a:extLst>
          </p:cNvPr>
          <p:cNvSpPr>
            <a:spLocks noGrp="1"/>
          </p:cNvSpPr>
          <p:nvPr>
            <p:ph sz="quarter" idx="14"/>
          </p:nvPr>
        </p:nvSpPr>
        <p:spPr>
          <a:xfrm>
            <a:off x="8249126" y="1691513"/>
            <a:ext cx="3231325" cy="1917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20" name="Espace réservé du contenu 19">
            <a:extLst>
              <a:ext uri="{FF2B5EF4-FFF2-40B4-BE49-F238E27FC236}">
                <a16:creationId xmlns:a16="http://schemas.microsoft.com/office/drawing/2014/main" id="{B52B9146-EB1B-EDE0-4D4C-C4EBE3ADE6C9}"/>
              </a:ext>
            </a:extLst>
          </p:cNvPr>
          <p:cNvSpPr>
            <a:spLocks noGrp="1"/>
          </p:cNvSpPr>
          <p:nvPr>
            <p:ph sz="quarter" idx="15"/>
          </p:nvPr>
        </p:nvSpPr>
        <p:spPr>
          <a:xfrm>
            <a:off x="8249126" y="3949700"/>
            <a:ext cx="3231325" cy="1792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pic>
        <p:nvPicPr>
          <p:cNvPr id="9" name="Graphique 8">
            <a:extLst>
              <a:ext uri="{FF2B5EF4-FFF2-40B4-BE49-F238E27FC236}">
                <a16:creationId xmlns:a16="http://schemas.microsoft.com/office/drawing/2014/main" id="{71201FAF-8B3A-56F1-A4B2-08E669E1C0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8" name="Image 7">
            <a:extLst>
              <a:ext uri="{FF2B5EF4-FFF2-40B4-BE49-F238E27FC236}">
                <a16:creationId xmlns:a16="http://schemas.microsoft.com/office/drawing/2014/main" id="{61A0D38F-42C7-14F9-3A18-EF8728E28F8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763771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5" name="Forme libre 14">
            <a:extLst>
              <a:ext uri="{FF2B5EF4-FFF2-40B4-BE49-F238E27FC236}">
                <a16:creationId xmlns:a16="http://schemas.microsoft.com/office/drawing/2014/main" id="{1CDB4142-90B4-4C8E-BB29-02FF908623E5}"/>
              </a:ext>
            </a:extLst>
          </p:cNvPr>
          <p:cNvSpPr/>
          <p:nvPr userDrawn="1"/>
        </p:nvSpPr>
        <p:spPr>
          <a:xfrm>
            <a:off x="5010912" y="-1757073"/>
            <a:ext cx="7181089" cy="10148557"/>
          </a:xfrm>
          <a:custGeom>
            <a:avLst/>
            <a:gdLst>
              <a:gd name="connsiteX0" fmla="*/ 2315042 w 2315041"/>
              <a:gd name="connsiteY0" fmla="*/ 1673212 h 3271694"/>
              <a:gd name="connsiteX1" fmla="*/ 2315042 w 2315041"/>
              <a:gd name="connsiteY1" fmla="*/ 947504 h 3271694"/>
              <a:gd name="connsiteX2" fmla="*/ 1901485 w 2315041"/>
              <a:gd name="connsiteY2" fmla="*/ 1114044 h 3271694"/>
              <a:gd name="connsiteX3" fmla="*/ 1698715 w 2315041"/>
              <a:gd name="connsiteY3" fmla="*/ 0 h 3271694"/>
              <a:gd name="connsiteX4" fmla="*/ 1290138 w 2315041"/>
              <a:gd name="connsiteY4" fmla="*/ 0 h 3271694"/>
              <a:gd name="connsiteX5" fmla="*/ 1352357 w 2315041"/>
              <a:gd name="connsiteY5" fmla="*/ 142737 h 3271694"/>
              <a:gd name="connsiteX6" fmla="*/ 1419597 w 2315041"/>
              <a:gd name="connsiteY6" fmla="*/ 1296088 h 3271694"/>
              <a:gd name="connsiteX7" fmla="*/ 0 w 2315041"/>
              <a:gd name="connsiteY7" fmla="*/ 1749357 h 3271694"/>
              <a:gd name="connsiteX8" fmla="*/ 0 w 2315041"/>
              <a:gd name="connsiteY8" fmla="*/ 2290955 h 3271694"/>
              <a:gd name="connsiteX9" fmla="*/ 1390410 w 2315041"/>
              <a:gd name="connsiteY9" fmla="*/ 1877277 h 3271694"/>
              <a:gd name="connsiteX10" fmla="*/ 1268359 w 2315041"/>
              <a:gd name="connsiteY10" fmla="*/ 3271695 h 3271694"/>
              <a:gd name="connsiteX11" fmla="*/ 2163440 w 2315041"/>
              <a:gd name="connsiteY11" fmla="*/ 3271695 h 3271694"/>
              <a:gd name="connsiteX12" fmla="*/ 1985160 w 2315041"/>
              <a:gd name="connsiteY12" fmla="*/ 1737496 h 3271694"/>
              <a:gd name="connsiteX13" fmla="*/ 2315042 w 2315041"/>
              <a:gd name="connsiteY13" fmla="*/ 1673252 h 3271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5041" h="3271694">
                <a:moveTo>
                  <a:pt x="2315042" y="1673212"/>
                </a:moveTo>
                <a:lnTo>
                  <a:pt x="2315042" y="947504"/>
                </a:lnTo>
                <a:cubicBezTo>
                  <a:pt x="2192586" y="998470"/>
                  <a:pt x="2053897" y="1054699"/>
                  <a:pt x="1901485" y="1114044"/>
                </a:cubicBezTo>
                <a:cubicBezTo>
                  <a:pt x="1842747" y="728096"/>
                  <a:pt x="1769840" y="280454"/>
                  <a:pt x="1698715" y="0"/>
                </a:cubicBezTo>
                <a:lnTo>
                  <a:pt x="1290138" y="0"/>
                </a:lnTo>
                <a:cubicBezTo>
                  <a:pt x="1314264" y="39307"/>
                  <a:pt x="1335436" y="86387"/>
                  <a:pt x="1352357" y="142737"/>
                </a:cubicBezTo>
                <a:cubicBezTo>
                  <a:pt x="1457690" y="492252"/>
                  <a:pt x="1428017" y="1145093"/>
                  <a:pt x="1419597" y="1296088"/>
                </a:cubicBezTo>
                <a:cubicBezTo>
                  <a:pt x="1293457" y="1343087"/>
                  <a:pt x="775904" y="1531527"/>
                  <a:pt x="0" y="1749357"/>
                </a:cubicBezTo>
                <a:lnTo>
                  <a:pt x="0" y="2290955"/>
                </a:lnTo>
                <a:cubicBezTo>
                  <a:pt x="409549" y="2154655"/>
                  <a:pt x="879981" y="2010866"/>
                  <a:pt x="1390410" y="1877277"/>
                </a:cubicBezTo>
                <a:lnTo>
                  <a:pt x="1268359" y="3271695"/>
                </a:lnTo>
                <a:lnTo>
                  <a:pt x="2163440" y="3271695"/>
                </a:lnTo>
                <a:cubicBezTo>
                  <a:pt x="2122351" y="2884977"/>
                  <a:pt x="2052480" y="2248815"/>
                  <a:pt x="1985160" y="1737496"/>
                </a:cubicBezTo>
                <a:cubicBezTo>
                  <a:pt x="2104863" y="1713612"/>
                  <a:pt x="2214770" y="1692278"/>
                  <a:pt x="2315042" y="1673252"/>
                </a:cubicBezTo>
                <a:close/>
              </a:path>
            </a:pathLst>
          </a:custGeom>
          <a:solidFill>
            <a:srgbClr val="BCDCF1">
              <a:alpha val="30000"/>
            </a:srgbClr>
          </a:solidFill>
          <a:ln w="4048" cap="flat">
            <a:noFill/>
            <a:prstDash val="solid"/>
            <a:miter/>
          </a:ln>
        </p:spPr>
        <p:txBody>
          <a:bodyPr rtlCol="0" anchor="ctr"/>
          <a:lstStyle/>
          <a:p>
            <a:endParaRPr lang="fr-FR" dirty="0"/>
          </a:p>
        </p:txBody>
      </p:sp>
      <p:sp>
        <p:nvSpPr>
          <p:cNvPr id="2" name="Titre 1">
            <a:extLst>
              <a:ext uri="{FF2B5EF4-FFF2-40B4-BE49-F238E27FC236}">
                <a16:creationId xmlns:a16="http://schemas.microsoft.com/office/drawing/2014/main" id="{65BD135C-0101-1A72-D87E-662ACBA10566}"/>
              </a:ext>
            </a:extLst>
          </p:cNvPr>
          <p:cNvSpPr>
            <a:spLocks noGrp="1"/>
          </p:cNvSpPr>
          <p:nvPr>
            <p:ph type="title" hasCustomPrompt="1"/>
          </p:nvPr>
        </p:nvSpPr>
        <p:spPr/>
        <p:txBody>
          <a:bodyPr anchor="t"/>
          <a:lstStyle/>
          <a:p>
            <a:r>
              <a:rPr lang="fr-FR" dirty="0"/>
              <a:t>MODIFIEZ LE STYLE </a:t>
            </a:r>
            <a:br>
              <a:rPr lang="fr-FR" dirty="0"/>
            </a:br>
            <a:r>
              <a:rPr lang="fr-FR" dirty="0"/>
              <a:t>DU TITRE</a:t>
            </a:r>
          </a:p>
        </p:txBody>
      </p:sp>
      <p:sp>
        <p:nvSpPr>
          <p:cNvPr id="3" name="Espace réservé du contenu 2">
            <a:extLst>
              <a:ext uri="{FF2B5EF4-FFF2-40B4-BE49-F238E27FC236}">
                <a16:creationId xmlns:a16="http://schemas.microsoft.com/office/drawing/2014/main" id="{BFA47285-1552-385D-542B-13A644CAB9E4}"/>
              </a:ext>
            </a:extLst>
          </p:cNvPr>
          <p:cNvSpPr>
            <a:spLocks noGrp="1"/>
          </p:cNvSpPr>
          <p:nvPr>
            <p:ph sz="half" idx="1"/>
          </p:nvPr>
        </p:nvSpPr>
        <p:spPr>
          <a:xfrm>
            <a:off x="656844" y="1825625"/>
            <a:ext cx="384199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4" name="Espace réservé du contenu 3">
            <a:extLst>
              <a:ext uri="{FF2B5EF4-FFF2-40B4-BE49-F238E27FC236}">
                <a16:creationId xmlns:a16="http://schemas.microsoft.com/office/drawing/2014/main" id="{E3B2D614-B3C1-A49B-82A4-F0E36CD97016}"/>
              </a:ext>
            </a:extLst>
          </p:cNvPr>
          <p:cNvSpPr>
            <a:spLocks noGrp="1"/>
          </p:cNvSpPr>
          <p:nvPr>
            <p:ph sz="half" idx="2"/>
          </p:nvPr>
        </p:nvSpPr>
        <p:spPr>
          <a:xfrm>
            <a:off x="5437650" y="1316736"/>
            <a:ext cx="6062454" cy="486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cxnSp>
        <p:nvCxnSpPr>
          <p:cNvPr id="17" name="Connecteur droit 16">
            <a:extLst>
              <a:ext uri="{FF2B5EF4-FFF2-40B4-BE49-F238E27FC236}">
                <a16:creationId xmlns:a16="http://schemas.microsoft.com/office/drawing/2014/main" id="{96B65B4D-BA4F-553A-C02D-62A13E016A2A}"/>
              </a:ext>
            </a:extLst>
          </p:cNvPr>
          <p:cNvCxnSpPr>
            <a:cxnSpLocks/>
          </p:cNvCxnSpPr>
          <p:nvPr userDrawn="1"/>
        </p:nvCxnSpPr>
        <p:spPr>
          <a:xfrm>
            <a:off x="5010912" y="1475232"/>
            <a:ext cx="0" cy="4720299"/>
          </a:xfrm>
          <a:prstGeom prst="line">
            <a:avLst/>
          </a:prstGeom>
          <a:ln w="12700">
            <a:solidFill>
              <a:srgbClr val="BCDCF1"/>
            </a:solidFill>
          </a:ln>
        </p:spPr>
        <p:style>
          <a:lnRef idx="1">
            <a:schemeClr val="accent1"/>
          </a:lnRef>
          <a:fillRef idx="0">
            <a:schemeClr val="accent1"/>
          </a:fillRef>
          <a:effectRef idx="0">
            <a:schemeClr val="accent1"/>
          </a:effectRef>
          <a:fontRef idx="minor">
            <a:schemeClr val="tx1"/>
          </a:fontRef>
        </p:style>
      </p:cxnSp>
      <p:pic>
        <p:nvPicPr>
          <p:cNvPr id="18" name="Graphique 17">
            <a:extLst>
              <a:ext uri="{FF2B5EF4-FFF2-40B4-BE49-F238E27FC236}">
                <a16:creationId xmlns:a16="http://schemas.microsoft.com/office/drawing/2014/main" id="{7CAE346F-6A2B-5092-05A3-ACA2843D927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sp>
        <p:nvSpPr>
          <p:cNvPr id="19" name="Espace réservé du numéro de diapositive 7">
            <a:extLst>
              <a:ext uri="{FF2B5EF4-FFF2-40B4-BE49-F238E27FC236}">
                <a16:creationId xmlns:a16="http://schemas.microsoft.com/office/drawing/2014/main" id="{06E95967-9FA4-4CF3-E31F-8B1142D1A6E6}"/>
              </a:ext>
            </a:extLst>
          </p:cNvPr>
          <p:cNvSpPr>
            <a:spLocks noGrp="1"/>
          </p:cNvSpPr>
          <p:nvPr>
            <p:ph type="sldNum" sz="quarter" idx="10"/>
          </p:nvPr>
        </p:nvSpPr>
        <p:spPr>
          <a:xfrm>
            <a:off x="9185116" y="6301508"/>
            <a:ext cx="2743200" cy="365125"/>
          </a:xfrm>
        </p:spPr>
        <p:txBody>
          <a:bodyPr/>
          <a:lstStyle>
            <a:lvl1pPr>
              <a:defRPr>
                <a:solidFill>
                  <a:srgbClr val="032D5A"/>
                </a:solidFill>
              </a:defRPr>
            </a:lvl1pPr>
          </a:lstStyle>
          <a:p>
            <a:fld id="{421B1A79-1F45-8F4F-AED5-0EE30DCF0380}" type="slidenum">
              <a:rPr lang="fr-FR" smtClean="0"/>
              <a:pPr/>
              <a:t>‹#›</a:t>
            </a:fld>
            <a:endParaRPr lang="fr-FR" dirty="0"/>
          </a:p>
        </p:txBody>
      </p:sp>
      <p:pic>
        <p:nvPicPr>
          <p:cNvPr id="5" name="Image 4">
            <a:extLst>
              <a:ext uri="{FF2B5EF4-FFF2-40B4-BE49-F238E27FC236}">
                <a16:creationId xmlns:a16="http://schemas.microsoft.com/office/drawing/2014/main" id="{9E3FB1B7-5B9B-E7FA-F2D8-1E0534ACC5D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3453114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22" name="Forme libre 21">
            <a:extLst>
              <a:ext uri="{FF2B5EF4-FFF2-40B4-BE49-F238E27FC236}">
                <a16:creationId xmlns:a16="http://schemas.microsoft.com/office/drawing/2014/main" id="{C2183F65-BB78-5561-45CA-3C3490148531}"/>
              </a:ext>
            </a:extLst>
          </p:cNvPr>
          <p:cNvSpPr/>
          <p:nvPr userDrawn="1"/>
        </p:nvSpPr>
        <p:spPr>
          <a:xfrm>
            <a:off x="5998465" y="-1868641"/>
            <a:ext cx="6193536" cy="7895352"/>
          </a:xfrm>
          <a:custGeom>
            <a:avLst/>
            <a:gdLst>
              <a:gd name="connsiteX0" fmla="*/ 457357 w 2315082"/>
              <a:gd name="connsiteY0" fmla="*/ 2125063 h 2951204"/>
              <a:gd name="connsiteX1" fmla="*/ 1043971 w 2315082"/>
              <a:gd name="connsiteY1" fmla="*/ 1265161 h 2951204"/>
              <a:gd name="connsiteX2" fmla="*/ 1046967 w 2315082"/>
              <a:gd name="connsiteY2" fmla="*/ 1260870 h 2951204"/>
              <a:gd name="connsiteX3" fmla="*/ 1851774 w 2315082"/>
              <a:gd name="connsiteY3" fmla="*/ 204268 h 2951204"/>
              <a:gd name="connsiteX4" fmla="*/ 2129759 w 2315082"/>
              <a:gd name="connsiteY4" fmla="*/ 0 h 2951204"/>
              <a:gd name="connsiteX5" fmla="*/ 1523836 w 2315082"/>
              <a:gd name="connsiteY5" fmla="*/ 0 h 2951204"/>
              <a:gd name="connsiteX6" fmla="*/ 719797 w 2315082"/>
              <a:gd name="connsiteY6" fmla="*/ 679883 h 2951204"/>
              <a:gd name="connsiteX7" fmla="*/ 0 w 2315082"/>
              <a:gd name="connsiteY7" fmla="*/ 1350009 h 2951204"/>
              <a:gd name="connsiteX8" fmla="*/ 0 w 2315082"/>
              <a:gd name="connsiteY8" fmla="*/ 2951205 h 2951204"/>
              <a:gd name="connsiteX9" fmla="*/ 2315082 w 2315082"/>
              <a:gd name="connsiteY9" fmla="*/ 2141985 h 2951204"/>
              <a:gd name="connsiteX10" fmla="*/ 2315082 w 2315082"/>
              <a:gd name="connsiteY10" fmla="*/ 1607753 h 2951204"/>
              <a:gd name="connsiteX11" fmla="*/ 457398 w 2315082"/>
              <a:gd name="connsiteY11" fmla="*/ 2125023 h 295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082" h="2951204">
                <a:moveTo>
                  <a:pt x="457357" y="2125063"/>
                </a:moveTo>
                <a:cubicBezTo>
                  <a:pt x="552124" y="1984189"/>
                  <a:pt x="744815" y="1700617"/>
                  <a:pt x="1043971" y="1265161"/>
                </a:cubicBezTo>
                <a:lnTo>
                  <a:pt x="1046967" y="1260870"/>
                </a:lnTo>
                <a:cubicBezTo>
                  <a:pt x="1307423" y="881803"/>
                  <a:pt x="1553792" y="523544"/>
                  <a:pt x="1851774" y="204268"/>
                </a:cubicBezTo>
                <a:cubicBezTo>
                  <a:pt x="1933182" y="116991"/>
                  <a:pt x="2029770" y="47039"/>
                  <a:pt x="2129759" y="0"/>
                </a:cubicBezTo>
                <a:lnTo>
                  <a:pt x="1523836" y="0"/>
                </a:lnTo>
                <a:cubicBezTo>
                  <a:pt x="1308314" y="168483"/>
                  <a:pt x="1039720" y="395542"/>
                  <a:pt x="719797" y="679883"/>
                </a:cubicBezTo>
                <a:cubicBezTo>
                  <a:pt x="459098" y="911638"/>
                  <a:pt x="207305" y="1149303"/>
                  <a:pt x="0" y="1350009"/>
                </a:cubicBezTo>
                <a:lnTo>
                  <a:pt x="0" y="2951205"/>
                </a:lnTo>
                <a:cubicBezTo>
                  <a:pt x="337209" y="2809642"/>
                  <a:pt x="1197355" y="2465065"/>
                  <a:pt x="2315082" y="2141985"/>
                </a:cubicBezTo>
                <a:lnTo>
                  <a:pt x="2315082" y="1607753"/>
                </a:lnTo>
                <a:cubicBezTo>
                  <a:pt x="1885495" y="1747697"/>
                  <a:pt x="1241600" y="1940874"/>
                  <a:pt x="457398" y="2125023"/>
                </a:cubicBezTo>
                <a:close/>
              </a:path>
            </a:pathLst>
          </a:custGeom>
          <a:solidFill>
            <a:srgbClr val="BCDCF1">
              <a:alpha val="30000"/>
            </a:srgbClr>
          </a:solidFill>
          <a:ln w="4048" cap="flat">
            <a:noFill/>
            <a:prstDash val="solid"/>
            <a:miter/>
          </a:ln>
        </p:spPr>
        <p:txBody>
          <a:bodyPr rtlCol="0" anchor="ctr"/>
          <a:lstStyle/>
          <a:p>
            <a:endParaRPr lang="fr-FR"/>
          </a:p>
        </p:txBody>
      </p:sp>
      <p:sp>
        <p:nvSpPr>
          <p:cNvPr id="3" name="Espace réservé du texte 2">
            <a:extLst>
              <a:ext uri="{FF2B5EF4-FFF2-40B4-BE49-F238E27FC236}">
                <a16:creationId xmlns:a16="http://schemas.microsoft.com/office/drawing/2014/main" id="{4881C86A-2901-F551-7CD6-19B32114F847}"/>
              </a:ext>
            </a:extLst>
          </p:cNvPr>
          <p:cNvSpPr>
            <a:spLocks noGrp="1"/>
          </p:cNvSpPr>
          <p:nvPr>
            <p:ph type="body" idx="1"/>
          </p:nvPr>
        </p:nvSpPr>
        <p:spPr>
          <a:xfrm>
            <a:off x="65220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Espace réservé du contenu 3">
            <a:extLst>
              <a:ext uri="{FF2B5EF4-FFF2-40B4-BE49-F238E27FC236}">
                <a16:creationId xmlns:a16="http://schemas.microsoft.com/office/drawing/2014/main" id="{87C6B5F4-8C12-8F6D-BBAD-6D240238378A}"/>
              </a:ext>
            </a:extLst>
          </p:cNvPr>
          <p:cNvSpPr>
            <a:spLocks noGrp="1"/>
          </p:cNvSpPr>
          <p:nvPr>
            <p:ph sz="half" idx="2"/>
          </p:nvPr>
        </p:nvSpPr>
        <p:spPr>
          <a:xfrm>
            <a:off x="65220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5" name="Espace réservé du texte 4">
            <a:extLst>
              <a:ext uri="{FF2B5EF4-FFF2-40B4-BE49-F238E27FC236}">
                <a16:creationId xmlns:a16="http://schemas.microsoft.com/office/drawing/2014/main" id="{9D7B779E-95A3-2F7B-C851-739E72C68B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Espace réservé du contenu 5">
            <a:extLst>
              <a:ext uri="{FF2B5EF4-FFF2-40B4-BE49-F238E27FC236}">
                <a16:creationId xmlns:a16="http://schemas.microsoft.com/office/drawing/2014/main" id="{5D8DCD14-AEAD-C7FC-C8BD-18DEB5D98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7" name="Titre 1">
            <a:extLst>
              <a:ext uri="{FF2B5EF4-FFF2-40B4-BE49-F238E27FC236}">
                <a16:creationId xmlns:a16="http://schemas.microsoft.com/office/drawing/2014/main" id="{29B85A54-2849-A9C7-EE9E-6BAF98C83650}"/>
              </a:ext>
            </a:extLst>
          </p:cNvPr>
          <p:cNvSpPr>
            <a:spLocks noGrp="1"/>
          </p:cNvSpPr>
          <p:nvPr>
            <p:ph type="title" hasCustomPrompt="1"/>
          </p:nvPr>
        </p:nvSpPr>
        <p:spPr>
          <a:xfrm>
            <a:off x="656844" y="487045"/>
            <a:ext cx="10829544" cy="1460500"/>
          </a:xfrm>
        </p:spPr>
        <p:txBody>
          <a:bodyPr anchor="t"/>
          <a:lstStyle/>
          <a:p>
            <a:r>
              <a:rPr lang="fr-FR" dirty="0"/>
              <a:t>MODIFIEZ LE STYLE DU TITRE</a:t>
            </a:r>
          </a:p>
        </p:txBody>
      </p:sp>
      <p:sp>
        <p:nvSpPr>
          <p:cNvPr id="19" name="Espace réservé du numéro de diapositive 7">
            <a:extLst>
              <a:ext uri="{FF2B5EF4-FFF2-40B4-BE49-F238E27FC236}">
                <a16:creationId xmlns:a16="http://schemas.microsoft.com/office/drawing/2014/main" id="{6393D292-054C-2F16-E5A0-A5CA3900BE40}"/>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cxnSp>
        <p:nvCxnSpPr>
          <p:cNvPr id="25" name="Connecteur droit 24">
            <a:extLst>
              <a:ext uri="{FF2B5EF4-FFF2-40B4-BE49-F238E27FC236}">
                <a16:creationId xmlns:a16="http://schemas.microsoft.com/office/drawing/2014/main" id="{B0F99DD8-9ED9-7755-2CD2-9EB36037EEB1}"/>
              </a:ext>
            </a:extLst>
          </p:cNvPr>
          <p:cNvCxnSpPr>
            <a:cxnSpLocks/>
          </p:cNvCxnSpPr>
          <p:nvPr userDrawn="1"/>
        </p:nvCxnSpPr>
        <p:spPr>
          <a:xfrm>
            <a:off x="5998465" y="1518132"/>
            <a:ext cx="0" cy="4720299"/>
          </a:xfrm>
          <a:prstGeom prst="line">
            <a:avLst/>
          </a:prstGeom>
          <a:ln w="12700">
            <a:solidFill>
              <a:srgbClr val="BCDCF1"/>
            </a:solidFill>
          </a:ln>
        </p:spPr>
        <p:style>
          <a:lnRef idx="1">
            <a:schemeClr val="accent1"/>
          </a:lnRef>
          <a:fillRef idx="0">
            <a:schemeClr val="accent1"/>
          </a:fillRef>
          <a:effectRef idx="0">
            <a:schemeClr val="accent1"/>
          </a:effectRef>
          <a:fontRef idx="minor">
            <a:schemeClr val="tx1"/>
          </a:fontRef>
        </p:style>
      </p:cxnSp>
      <p:pic>
        <p:nvPicPr>
          <p:cNvPr id="9" name="Graphique 8">
            <a:extLst>
              <a:ext uri="{FF2B5EF4-FFF2-40B4-BE49-F238E27FC236}">
                <a16:creationId xmlns:a16="http://schemas.microsoft.com/office/drawing/2014/main" id="{B41A8859-4045-E6AD-2F38-6F1D6225107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10" name="Image 9">
            <a:extLst>
              <a:ext uri="{FF2B5EF4-FFF2-40B4-BE49-F238E27FC236}">
                <a16:creationId xmlns:a16="http://schemas.microsoft.com/office/drawing/2014/main" id="{4F7BA188-422D-5BC2-959F-9125E3687085}"/>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32687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14" name="Graphique 29">
            <a:extLst>
              <a:ext uri="{FF2B5EF4-FFF2-40B4-BE49-F238E27FC236}">
                <a16:creationId xmlns:a16="http://schemas.microsoft.com/office/drawing/2014/main" id="{7BB8904F-A3B1-6CB7-032E-AB2277BA290A}"/>
              </a:ext>
            </a:extLst>
          </p:cNvPr>
          <p:cNvSpPr/>
          <p:nvPr userDrawn="1"/>
        </p:nvSpPr>
        <p:spPr>
          <a:xfrm>
            <a:off x="-3322669" y="523621"/>
            <a:ext cx="5216782" cy="6370956"/>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BCDCF1">
              <a:alpha val="30000"/>
            </a:srgbClr>
          </a:solidFill>
          <a:ln w="6093" cap="flat">
            <a:noFill/>
            <a:prstDash val="solid"/>
            <a:miter/>
          </a:ln>
        </p:spPr>
        <p:txBody>
          <a:bodyPr rtlCol="0" anchor="ctr"/>
          <a:lstStyle/>
          <a:p>
            <a:endParaRPr lang="fr-FR">
              <a:solidFill>
                <a:schemeClr val="accent2"/>
              </a:solidFill>
            </a:endParaRPr>
          </a:p>
        </p:txBody>
      </p:sp>
      <p:sp>
        <p:nvSpPr>
          <p:cNvPr id="15" name="Titre 1">
            <a:extLst>
              <a:ext uri="{FF2B5EF4-FFF2-40B4-BE49-F238E27FC236}">
                <a16:creationId xmlns:a16="http://schemas.microsoft.com/office/drawing/2014/main" id="{BB53E869-3755-AB1B-C893-E9081BFD2553}"/>
              </a:ext>
            </a:extLst>
          </p:cNvPr>
          <p:cNvSpPr>
            <a:spLocks noGrp="1"/>
          </p:cNvSpPr>
          <p:nvPr>
            <p:ph type="title" hasCustomPrompt="1"/>
          </p:nvPr>
        </p:nvSpPr>
        <p:spPr>
          <a:xfrm>
            <a:off x="656844" y="487045"/>
            <a:ext cx="10829544" cy="1460500"/>
          </a:xfrm>
        </p:spPr>
        <p:txBody>
          <a:bodyPr anchor="t"/>
          <a:lstStyle/>
          <a:p>
            <a:r>
              <a:rPr lang="fr-FR" dirty="0"/>
              <a:t>MODIFIEZ LE STYLE DU TITRE</a:t>
            </a:r>
          </a:p>
        </p:txBody>
      </p:sp>
      <p:sp>
        <p:nvSpPr>
          <p:cNvPr id="17" name="Espace réservé du numéro de diapositive 7">
            <a:extLst>
              <a:ext uri="{FF2B5EF4-FFF2-40B4-BE49-F238E27FC236}">
                <a16:creationId xmlns:a16="http://schemas.microsoft.com/office/drawing/2014/main" id="{8E6E5DCA-3A3F-DC3E-31A2-8793C19EE84E}"/>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5" name="Graphique 4">
            <a:extLst>
              <a:ext uri="{FF2B5EF4-FFF2-40B4-BE49-F238E27FC236}">
                <a16:creationId xmlns:a16="http://schemas.microsoft.com/office/drawing/2014/main" id="{F9ACC368-4F6F-5E4E-82C6-3C4161401CB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7" name="Image 6">
            <a:extLst>
              <a:ext uri="{FF2B5EF4-FFF2-40B4-BE49-F238E27FC236}">
                <a16:creationId xmlns:a16="http://schemas.microsoft.com/office/drawing/2014/main" id="{FA428B8E-D1C9-ED45-E952-6DA238054AEA}"/>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972380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3" name="Espace réservé du numéro de diapositive 7">
            <a:extLst>
              <a:ext uri="{FF2B5EF4-FFF2-40B4-BE49-F238E27FC236}">
                <a16:creationId xmlns:a16="http://schemas.microsoft.com/office/drawing/2014/main" id="{932803DF-73DD-8B31-C8A0-6749634F5717}"/>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5" name="Graphique 4">
            <a:extLst>
              <a:ext uri="{FF2B5EF4-FFF2-40B4-BE49-F238E27FC236}">
                <a16:creationId xmlns:a16="http://schemas.microsoft.com/office/drawing/2014/main" id="{7451F763-5552-C0BC-7799-A91248C94B1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6" name="Image 5">
            <a:extLst>
              <a:ext uri="{FF2B5EF4-FFF2-40B4-BE49-F238E27FC236}">
                <a16:creationId xmlns:a16="http://schemas.microsoft.com/office/drawing/2014/main" id="{BDCB2B8D-6E2A-B2CC-2793-DD19B3B519D0}"/>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168789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7" name="Graphique 29">
            <a:extLst>
              <a:ext uri="{FF2B5EF4-FFF2-40B4-BE49-F238E27FC236}">
                <a16:creationId xmlns:a16="http://schemas.microsoft.com/office/drawing/2014/main" id="{1DAB2724-EF92-2157-9F53-520C2E74688F}"/>
              </a:ext>
            </a:extLst>
          </p:cNvPr>
          <p:cNvSpPr/>
          <p:nvPr userDrawn="1"/>
        </p:nvSpPr>
        <p:spPr>
          <a:xfrm rot="15300000" flipH="1">
            <a:off x="3262162" y="-2441458"/>
            <a:ext cx="5397791" cy="6592012"/>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BCDCF1">
              <a:alpha val="30000"/>
            </a:srgbClr>
          </a:solidFill>
          <a:ln w="6093" cap="flat">
            <a:noFill/>
            <a:prstDash val="solid"/>
            <a:miter/>
          </a:ln>
        </p:spPr>
        <p:txBody>
          <a:bodyPr rtlCol="0" anchor="ctr"/>
          <a:lstStyle/>
          <a:p>
            <a:endParaRPr lang="fr-FR">
              <a:solidFill>
                <a:schemeClr val="accent2"/>
              </a:solidFill>
            </a:endParaRPr>
          </a:p>
        </p:txBody>
      </p:sp>
      <p:sp>
        <p:nvSpPr>
          <p:cNvPr id="2" name="Titre 1">
            <a:extLst>
              <a:ext uri="{FF2B5EF4-FFF2-40B4-BE49-F238E27FC236}">
                <a16:creationId xmlns:a16="http://schemas.microsoft.com/office/drawing/2014/main" id="{F81A5620-4B18-A7A7-65B8-9660CE18C350}"/>
              </a:ext>
            </a:extLst>
          </p:cNvPr>
          <p:cNvSpPr>
            <a:spLocks noGrp="1"/>
          </p:cNvSpPr>
          <p:nvPr>
            <p:ph type="title" hasCustomPrompt="1"/>
          </p:nvPr>
        </p:nvSpPr>
        <p:spPr>
          <a:xfrm>
            <a:off x="839788" y="457200"/>
            <a:ext cx="3932237" cy="1600200"/>
          </a:xfrm>
        </p:spPr>
        <p:txBody>
          <a:bodyPr anchor="b"/>
          <a:lstStyle>
            <a:lvl1pPr>
              <a:defRPr sz="3200"/>
            </a:lvl1pPr>
          </a:lstStyle>
          <a:p>
            <a:r>
              <a:rPr lang="fr-FR" dirty="0"/>
              <a:t>MODIFIEZ LE STYLE DU TITRE</a:t>
            </a:r>
          </a:p>
        </p:txBody>
      </p:sp>
      <p:sp>
        <p:nvSpPr>
          <p:cNvPr id="3" name="Espace réservé du contenu 2">
            <a:extLst>
              <a:ext uri="{FF2B5EF4-FFF2-40B4-BE49-F238E27FC236}">
                <a16:creationId xmlns:a16="http://schemas.microsoft.com/office/drawing/2014/main" id="{4980671E-5FBA-456A-BD86-077C73A8A4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texte 3">
            <a:extLst>
              <a:ext uri="{FF2B5EF4-FFF2-40B4-BE49-F238E27FC236}">
                <a16:creationId xmlns:a16="http://schemas.microsoft.com/office/drawing/2014/main" id="{001E913D-2339-1BF0-973F-7E73DC866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Espace réservé du numéro de diapositive 7">
            <a:extLst>
              <a:ext uri="{FF2B5EF4-FFF2-40B4-BE49-F238E27FC236}">
                <a16:creationId xmlns:a16="http://schemas.microsoft.com/office/drawing/2014/main" id="{C2955E95-FDA1-08D1-782B-FCF911A5C811}"/>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8" name="Graphique 7">
            <a:extLst>
              <a:ext uri="{FF2B5EF4-FFF2-40B4-BE49-F238E27FC236}">
                <a16:creationId xmlns:a16="http://schemas.microsoft.com/office/drawing/2014/main" id="{E2CD9B4C-5392-CBFF-4812-FAB31667780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9" name="Image 8">
            <a:extLst>
              <a:ext uri="{FF2B5EF4-FFF2-40B4-BE49-F238E27FC236}">
                <a16:creationId xmlns:a16="http://schemas.microsoft.com/office/drawing/2014/main" id="{F7F6906B-0649-D5DA-E5F5-ADC0C65D68E4}"/>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2597892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1DC1B5-5E30-A04E-A86A-13F78DE07F7D}"/>
              </a:ext>
            </a:extLst>
          </p:cNvPr>
          <p:cNvSpPr>
            <a:spLocks noGrp="1"/>
          </p:cNvSpPr>
          <p:nvPr>
            <p:ph type="title" hasCustomPrompt="1"/>
          </p:nvPr>
        </p:nvSpPr>
        <p:spPr>
          <a:xfrm>
            <a:off x="839788" y="457200"/>
            <a:ext cx="3932237" cy="1600200"/>
          </a:xfrm>
        </p:spPr>
        <p:txBody>
          <a:bodyPr anchor="t"/>
          <a:lstStyle>
            <a:lvl1pPr>
              <a:defRPr sz="3200"/>
            </a:lvl1pPr>
          </a:lstStyle>
          <a:p>
            <a:r>
              <a:rPr lang="fr-FR" dirty="0"/>
              <a:t>MODIFIEZ LE STYLE DU TITRE</a:t>
            </a:r>
          </a:p>
        </p:txBody>
      </p:sp>
      <p:sp>
        <p:nvSpPr>
          <p:cNvPr id="3" name="Espace réservé pour une image  2">
            <a:extLst>
              <a:ext uri="{FF2B5EF4-FFF2-40B4-BE49-F238E27FC236}">
                <a16:creationId xmlns:a16="http://schemas.microsoft.com/office/drawing/2014/main" id="{42D374FC-81CD-1FE6-3D7D-4D1E6BA68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fr-FR"/>
          </a:p>
        </p:txBody>
      </p:sp>
      <p:sp>
        <p:nvSpPr>
          <p:cNvPr id="4" name="Espace réservé du texte 3">
            <a:extLst>
              <a:ext uri="{FF2B5EF4-FFF2-40B4-BE49-F238E27FC236}">
                <a16:creationId xmlns:a16="http://schemas.microsoft.com/office/drawing/2014/main" id="{E2820396-D4E8-C3E9-ED3D-F3DFDCC1B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Espace réservé du numéro de diapositive 7">
            <a:extLst>
              <a:ext uri="{FF2B5EF4-FFF2-40B4-BE49-F238E27FC236}">
                <a16:creationId xmlns:a16="http://schemas.microsoft.com/office/drawing/2014/main" id="{1B88DB15-13F6-76AC-FC18-40AB261CD026}"/>
              </a:ext>
            </a:extLst>
          </p:cNvPr>
          <p:cNvSpPr>
            <a:spLocks noGrp="1"/>
          </p:cNvSpPr>
          <p:nvPr>
            <p:ph type="sldNum" sz="quarter" idx="10"/>
          </p:nvPr>
        </p:nvSpPr>
        <p:spPr>
          <a:xfrm>
            <a:off x="9185116" y="6301508"/>
            <a:ext cx="2743200" cy="365125"/>
          </a:xfrm>
        </p:spPr>
        <p:txBody>
          <a:bodyPr/>
          <a:lstStyle/>
          <a:p>
            <a:fld id="{421B1A79-1F45-8F4F-AED5-0EE30DCF0380}" type="slidenum">
              <a:rPr lang="fr-FR" smtClean="0"/>
              <a:t>‹#›</a:t>
            </a:fld>
            <a:endParaRPr lang="fr-FR"/>
          </a:p>
        </p:txBody>
      </p:sp>
      <p:pic>
        <p:nvPicPr>
          <p:cNvPr id="8" name="Graphique 7">
            <a:extLst>
              <a:ext uri="{FF2B5EF4-FFF2-40B4-BE49-F238E27FC236}">
                <a16:creationId xmlns:a16="http://schemas.microsoft.com/office/drawing/2014/main" id="{7BA76EDC-D6A8-6BC1-E7CF-AE951AE0811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2076" y="6348616"/>
            <a:ext cx="1330581" cy="270911"/>
          </a:xfrm>
          <a:prstGeom prst="rect">
            <a:avLst/>
          </a:prstGeom>
        </p:spPr>
      </p:pic>
      <p:pic>
        <p:nvPicPr>
          <p:cNvPr id="9" name="Image 8">
            <a:extLst>
              <a:ext uri="{FF2B5EF4-FFF2-40B4-BE49-F238E27FC236}">
                <a16:creationId xmlns:a16="http://schemas.microsoft.com/office/drawing/2014/main" id="{DF395F08-2AB7-9DC6-1DC4-6E738D09055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952241" y="6146859"/>
            <a:ext cx="4274817" cy="550188"/>
          </a:xfrm>
          <a:prstGeom prst="rect">
            <a:avLst/>
          </a:prstGeom>
        </p:spPr>
      </p:pic>
    </p:spTree>
    <p:extLst>
      <p:ext uri="{BB962C8B-B14F-4D97-AF65-F5344CB8AC3E}">
        <p14:creationId xmlns:p14="http://schemas.microsoft.com/office/powerpoint/2010/main" val="3136181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e de fin">
    <p:bg>
      <p:bgPr>
        <a:gradFill>
          <a:gsLst>
            <a:gs pos="100000">
              <a:srgbClr val="032D5A"/>
            </a:gs>
            <a:gs pos="0">
              <a:srgbClr val="9378B5"/>
            </a:gs>
          </a:gsLst>
          <a:lin ang="2700000" scaled="0"/>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675E09-98F4-CB40-847A-223EE4FF2325}"/>
              </a:ext>
            </a:extLst>
          </p:cNvPr>
          <p:cNvSpPr>
            <a:spLocks noGrp="1"/>
          </p:cNvSpPr>
          <p:nvPr>
            <p:ph type="ctrTitle" hasCustomPrompt="1"/>
          </p:nvPr>
        </p:nvSpPr>
        <p:spPr>
          <a:xfrm>
            <a:off x="592667" y="3069986"/>
            <a:ext cx="5839968" cy="2387600"/>
          </a:xfrm>
        </p:spPr>
        <p:txBody>
          <a:bodyPr anchor="b">
            <a:normAutofit/>
          </a:bodyPr>
          <a:lstStyle>
            <a:lvl1pPr algn="l">
              <a:defRPr sz="2000">
                <a:solidFill>
                  <a:srgbClr val="BCDCF1"/>
                </a:solidFill>
                <a:latin typeface="Arial" panose="020B0604020202020204" pitchFamily="34" charset="0"/>
                <a:cs typeface="Arial" panose="020B0604020202020204" pitchFamily="34" charset="0"/>
              </a:defRPr>
            </a:lvl1pPr>
          </a:lstStyle>
          <a:p>
            <a:r>
              <a:rPr lang="fr-FR" dirty="0"/>
              <a:t>Nom du contact</a:t>
            </a:r>
          </a:p>
        </p:txBody>
      </p:sp>
      <p:sp>
        <p:nvSpPr>
          <p:cNvPr id="3" name="Sous-titre 2">
            <a:extLst>
              <a:ext uri="{FF2B5EF4-FFF2-40B4-BE49-F238E27FC236}">
                <a16:creationId xmlns:a16="http://schemas.microsoft.com/office/drawing/2014/main" id="{B8CA446D-6137-3B12-BD1E-2599511A02D5}"/>
              </a:ext>
            </a:extLst>
          </p:cNvPr>
          <p:cNvSpPr>
            <a:spLocks noGrp="1"/>
          </p:cNvSpPr>
          <p:nvPr>
            <p:ph type="subTitle" idx="1" hasCustomPrompt="1"/>
          </p:nvPr>
        </p:nvSpPr>
        <p:spPr>
          <a:xfrm>
            <a:off x="592667" y="5549661"/>
            <a:ext cx="5839968" cy="842819"/>
          </a:xfrm>
        </p:spPr>
        <p:txBody>
          <a:bodyPr>
            <a:normAutofit/>
          </a:bodyPr>
          <a:lstStyle>
            <a:lvl1pPr marL="0" indent="0" algn="l">
              <a:buNone/>
              <a:defRPr sz="1600" b="0" i="1">
                <a:solidFill>
                  <a:schemeClr val="bg1"/>
                </a:solidFill>
                <a:latin typeface="Arial Nova Cond" panose="020B0506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Coordonnées</a:t>
            </a:r>
          </a:p>
        </p:txBody>
      </p:sp>
      <p:grpSp>
        <p:nvGrpSpPr>
          <p:cNvPr id="14" name="Groupe 13">
            <a:extLst>
              <a:ext uri="{FF2B5EF4-FFF2-40B4-BE49-F238E27FC236}">
                <a16:creationId xmlns:a16="http://schemas.microsoft.com/office/drawing/2014/main" id="{3983B729-1067-981B-92A3-93D88B6F605E}"/>
              </a:ext>
            </a:extLst>
          </p:cNvPr>
          <p:cNvGrpSpPr/>
          <p:nvPr userDrawn="1"/>
        </p:nvGrpSpPr>
        <p:grpSpPr>
          <a:xfrm>
            <a:off x="689674" y="679747"/>
            <a:ext cx="1100669" cy="1242080"/>
            <a:chOff x="5706531" y="490797"/>
            <a:chExt cx="1100669" cy="1242080"/>
          </a:xfrm>
          <a:solidFill>
            <a:srgbClr val="BCDCF1"/>
          </a:solidFill>
        </p:grpSpPr>
        <p:grpSp>
          <p:nvGrpSpPr>
            <p:cNvPr id="15" name="Groupe 14">
              <a:extLst>
                <a:ext uri="{FF2B5EF4-FFF2-40B4-BE49-F238E27FC236}">
                  <a16:creationId xmlns:a16="http://schemas.microsoft.com/office/drawing/2014/main" id="{20F5A30A-B8B9-76A8-E1F3-D39A5F61B0D0}"/>
                </a:ext>
              </a:extLst>
            </p:cNvPr>
            <p:cNvGrpSpPr/>
            <p:nvPr/>
          </p:nvGrpSpPr>
          <p:grpSpPr>
            <a:xfrm>
              <a:off x="5812721" y="490797"/>
              <a:ext cx="890009" cy="889269"/>
              <a:chOff x="2571750" y="2711450"/>
              <a:chExt cx="1439148" cy="1437951"/>
            </a:xfrm>
            <a:grpFill/>
          </p:grpSpPr>
          <p:sp>
            <p:nvSpPr>
              <p:cNvPr id="25" name="Forme libre 24">
                <a:extLst>
                  <a:ext uri="{FF2B5EF4-FFF2-40B4-BE49-F238E27FC236}">
                    <a16:creationId xmlns:a16="http://schemas.microsoft.com/office/drawing/2014/main" id="{293068B8-BCDD-3640-F482-C23282BE3F39}"/>
                  </a:ext>
                </a:extLst>
              </p:cNvPr>
              <p:cNvSpPr/>
              <p:nvPr/>
            </p:nvSpPr>
            <p:spPr>
              <a:xfrm>
                <a:off x="2821538" y="2890124"/>
                <a:ext cx="715298" cy="646365"/>
              </a:xfrm>
              <a:custGeom>
                <a:avLst/>
                <a:gdLst>
                  <a:gd name="connsiteX0" fmla="*/ 0 w 715298"/>
                  <a:gd name="connsiteY0" fmla="*/ 646270 h 646365"/>
                  <a:gd name="connsiteX1" fmla="*/ 173121 w 715298"/>
                  <a:gd name="connsiteY1" fmla="*/ 392704 h 646365"/>
                  <a:gd name="connsiteX2" fmla="*/ 173977 w 715298"/>
                  <a:gd name="connsiteY2" fmla="*/ 391469 h 646365"/>
                  <a:gd name="connsiteX3" fmla="*/ 411495 w 715298"/>
                  <a:gd name="connsiteY3" fmla="*/ 79928 h 646365"/>
                  <a:gd name="connsiteX4" fmla="*/ 574534 w 715298"/>
                  <a:gd name="connsiteY4" fmla="*/ 0 h 646365"/>
                  <a:gd name="connsiteX5" fmla="*/ 692389 w 715298"/>
                  <a:gd name="connsiteY5" fmla="*/ 97131 h 646365"/>
                  <a:gd name="connsiteX6" fmla="*/ 712269 w 715298"/>
                  <a:gd name="connsiteY6" fmla="*/ 437183 h 646365"/>
                  <a:gd name="connsiteX7" fmla="*/ 0 w 715298"/>
                  <a:gd name="connsiteY7" fmla="*/ 646365 h 6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298" h="646365">
                    <a:moveTo>
                      <a:pt x="0" y="646270"/>
                    </a:moveTo>
                    <a:cubicBezTo>
                      <a:pt x="27966" y="604738"/>
                      <a:pt x="84848" y="521103"/>
                      <a:pt x="173121" y="392704"/>
                    </a:cubicBezTo>
                    <a:lnTo>
                      <a:pt x="173977" y="391469"/>
                    </a:lnTo>
                    <a:cubicBezTo>
                      <a:pt x="250835" y="279702"/>
                      <a:pt x="323508" y="174018"/>
                      <a:pt x="411495" y="79928"/>
                    </a:cubicBezTo>
                    <a:cubicBezTo>
                      <a:pt x="457534" y="30603"/>
                      <a:pt x="520029" y="0"/>
                      <a:pt x="574534" y="0"/>
                    </a:cubicBezTo>
                    <a:cubicBezTo>
                      <a:pt x="614960" y="0"/>
                      <a:pt x="668323" y="16822"/>
                      <a:pt x="692389" y="97131"/>
                    </a:cubicBezTo>
                    <a:cubicBezTo>
                      <a:pt x="723494" y="200154"/>
                      <a:pt x="714743" y="392704"/>
                      <a:pt x="712269" y="437183"/>
                    </a:cubicBezTo>
                    <a:cubicBezTo>
                      <a:pt x="660809" y="456286"/>
                      <a:pt x="388857" y="555127"/>
                      <a:pt x="0" y="646365"/>
                    </a:cubicBezTo>
                  </a:path>
                </a:pathLst>
              </a:custGeom>
              <a:grpFill/>
              <a:ln w="9512"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3573FEFB-A28F-E91E-B749-75CAA07CBB9F}"/>
                  </a:ext>
                </a:extLst>
              </p:cNvPr>
              <p:cNvSpPr/>
              <p:nvPr/>
            </p:nvSpPr>
            <p:spPr>
              <a:xfrm>
                <a:off x="2571750" y="2711450"/>
                <a:ext cx="1384492" cy="709566"/>
              </a:xfrm>
              <a:custGeom>
                <a:avLst/>
                <a:gdLst>
                  <a:gd name="connsiteX0" fmla="*/ 0 w 1384492"/>
                  <a:gd name="connsiteY0" fmla="*/ 704910 h 709566"/>
                  <a:gd name="connsiteX1" fmla="*/ 215926 w 1384492"/>
                  <a:gd name="connsiteY1" fmla="*/ 205381 h 709566"/>
                  <a:gd name="connsiteX2" fmla="*/ 719213 w 1384492"/>
                  <a:gd name="connsiteY2" fmla="*/ 0 h 709566"/>
                  <a:gd name="connsiteX3" fmla="*/ 733577 w 1384492"/>
                  <a:gd name="connsiteY3" fmla="*/ 95 h 709566"/>
                  <a:gd name="connsiteX4" fmla="*/ 1384493 w 1384492"/>
                  <a:gd name="connsiteY4" fmla="*/ 443836 h 709566"/>
                  <a:gd name="connsiteX5" fmla="*/ 1104265 w 1384492"/>
                  <a:gd name="connsiteY5" fmla="*/ 562065 h 709566"/>
                  <a:gd name="connsiteX6" fmla="*/ 1037204 w 1384492"/>
                  <a:gd name="connsiteY6" fmla="*/ 206997 h 709566"/>
                  <a:gd name="connsiteX7" fmla="*/ 854381 w 1384492"/>
                  <a:gd name="connsiteY7" fmla="*/ 61491 h 709566"/>
                  <a:gd name="connsiteX8" fmla="*/ 689535 w 1384492"/>
                  <a:gd name="connsiteY8" fmla="*/ 110911 h 709566"/>
                  <a:gd name="connsiteX9" fmla="*/ 327218 w 1384492"/>
                  <a:gd name="connsiteY9" fmla="*/ 398787 h 709566"/>
                  <a:gd name="connsiteX10" fmla="*/ 0 w 1384492"/>
                  <a:gd name="connsiteY10" fmla="*/ 709567 h 709566"/>
                  <a:gd name="connsiteX11" fmla="*/ 0 w 1384492"/>
                  <a:gd name="connsiteY11" fmla="*/ 704910 h 70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4492" h="709566">
                    <a:moveTo>
                      <a:pt x="0" y="704910"/>
                    </a:moveTo>
                    <a:cubicBezTo>
                      <a:pt x="3710" y="515400"/>
                      <a:pt x="80378" y="337961"/>
                      <a:pt x="215926" y="205381"/>
                    </a:cubicBezTo>
                    <a:cubicBezTo>
                      <a:pt x="351284" y="72991"/>
                      <a:pt x="529922" y="0"/>
                      <a:pt x="719213" y="0"/>
                    </a:cubicBezTo>
                    <a:cubicBezTo>
                      <a:pt x="723969" y="0"/>
                      <a:pt x="728821" y="0"/>
                      <a:pt x="733577" y="95"/>
                    </a:cubicBezTo>
                    <a:cubicBezTo>
                      <a:pt x="1020844" y="5702"/>
                      <a:pt x="1274913" y="179435"/>
                      <a:pt x="1384493" y="443836"/>
                    </a:cubicBezTo>
                    <a:cubicBezTo>
                      <a:pt x="1346730" y="461323"/>
                      <a:pt x="1245330" y="507132"/>
                      <a:pt x="1104265" y="562065"/>
                    </a:cubicBezTo>
                    <a:cubicBezTo>
                      <a:pt x="1084955" y="435092"/>
                      <a:pt x="1060414" y="285499"/>
                      <a:pt x="1037204" y="206997"/>
                    </a:cubicBezTo>
                    <a:cubicBezTo>
                      <a:pt x="1009809" y="114523"/>
                      <a:pt x="943224" y="61491"/>
                      <a:pt x="854381" y="61491"/>
                    </a:cubicBezTo>
                    <a:cubicBezTo>
                      <a:pt x="803871" y="61491"/>
                      <a:pt x="748416" y="78123"/>
                      <a:pt x="689535" y="110911"/>
                    </a:cubicBezTo>
                    <a:cubicBezTo>
                      <a:pt x="621333" y="149022"/>
                      <a:pt x="499483" y="245773"/>
                      <a:pt x="327218" y="398787"/>
                    </a:cubicBezTo>
                    <a:cubicBezTo>
                      <a:pt x="189767" y="520818"/>
                      <a:pt x="60783" y="648456"/>
                      <a:pt x="0" y="709567"/>
                    </a:cubicBezTo>
                    <a:cubicBezTo>
                      <a:pt x="0" y="708046"/>
                      <a:pt x="0" y="706525"/>
                      <a:pt x="0" y="704910"/>
                    </a:cubicBezTo>
                  </a:path>
                </a:pathLst>
              </a:custGeom>
              <a:grpFill/>
              <a:ln w="9512"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1A99EC4-B92E-BFB4-9985-4EB2259E196D}"/>
                  </a:ext>
                </a:extLst>
              </p:cNvPr>
              <p:cNvSpPr/>
              <p:nvPr/>
            </p:nvSpPr>
            <p:spPr>
              <a:xfrm>
                <a:off x="2666966" y="3498474"/>
                <a:ext cx="858280" cy="650927"/>
              </a:xfrm>
              <a:custGeom>
                <a:avLst/>
                <a:gdLst>
                  <a:gd name="connsiteX0" fmla="*/ 624568 w 858280"/>
                  <a:gd name="connsiteY0" fmla="*/ 650927 h 650927"/>
                  <a:gd name="connsiteX1" fmla="*/ 610299 w 858280"/>
                  <a:gd name="connsiteY1" fmla="*/ 650737 h 650927"/>
                  <a:gd name="connsiteX2" fmla="*/ 0 w 858280"/>
                  <a:gd name="connsiteY2" fmla="*/ 289681 h 650927"/>
                  <a:gd name="connsiteX3" fmla="*/ 858281 w 858280"/>
                  <a:gd name="connsiteY3" fmla="*/ 0 h 650927"/>
                  <a:gd name="connsiteX4" fmla="*/ 803206 w 858280"/>
                  <a:gd name="connsiteY4" fmla="*/ 628403 h 650927"/>
                  <a:gd name="connsiteX5" fmla="*/ 624568 w 858280"/>
                  <a:gd name="connsiteY5" fmla="*/ 650832 h 65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8280" h="650927">
                    <a:moveTo>
                      <a:pt x="624568" y="650927"/>
                    </a:moveTo>
                    <a:cubicBezTo>
                      <a:pt x="619811" y="650927"/>
                      <a:pt x="615055" y="650927"/>
                      <a:pt x="610299" y="650737"/>
                    </a:cubicBezTo>
                    <a:cubicBezTo>
                      <a:pt x="357942" y="645890"/>
                      <a:pt x="125560" y="507987"/>
                      <a:pt x="0" y="289681"/>
                    </a:cubicBezTo>
                    <a:cubicBezTo>
                      <a:pt x="93409" y="249859"/>
                      <a:pt x="427666" y="112622"/>
                      <a:pt x="858281" y="0"/>
                    </a:cubicBezTo>
                    <a:lnTo>
                      <a:pt x="803206" y="628403"/>
                    </a:lnTo>
                    <a:cubicBezTo>
                      <a:pt x="745086" y="643324"/>
                      <a:pt x="685065" y="650832"/>
                      <a:pt x="624568" y="650832"/>
                    </a:cubicBezTo>
                  </a:path>
                </a:pathLst>
              </a:custGeom>
              <a:grpFill/>
              <a:ln w="9512"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57037F43-6B5B-9FDF-5977-22ED2CBF4585}"/>
                  </a:ext>
                </a:extLst>
              </p:cNvPr>
              <p:cNvSpPr/>
              <p:nvPr/>
            </p:nvSpPr>
            <p:spPr>
              <a:xfrm>
                <a:off x="3700746" y="3401343"/>
                <a:ext cx="310152" cy="574420"/>
              </a:xfrm>
              <a:custGeom>
                <a:avLst/>
                <a:gdLst>
                  <a:gd name="connsiteX0" fmla="*/ 59546 w 310152"/>
                  <a:gd name="connsiteY0" fmla="*/ 574420 h 574420"/>
                  <a:gd name="connsiteX1" fmla="*/ 0 w 310152"/>
                  <a:gd name="connsiteY1" fmla="*/ 55978 h 574420"/>
                  <a:gd name="connsiteX2" fmla="*/ 309525 w 310152"/>
                  <a:gd name="connsiteY2" fmla="*/ 0 h 574420"/>
                  <a:gd name="connsiteX3" fmla="*/ 310001 w 310152"/>
                  <a:gd name="connsiteY3" fmla="*/ 43243 h 574420"/>
                  <a:gd name="connsiteX4" fmla="*/ 59546 w 310152"/>
                  <a:gd name="connsiteY4" fmla="*/ 574420 h 5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152" h="574420">
                    <a:moveTo>
                      <a:pt x="59546" y="574420"/>
                    </a:moveTo>
                    <a:cubicBezTo>
                      <a:pt x="50034" y="483277"/>
                      <a:pt x="24446" y="241686"/>
                      <a:pt x="0" y="55978"/>
                    </a:cubicBezTo>
                    <a:cubicBezTo>
                      <a:pt x="164370" y="23190"/>
                      <a:pt x="266435" y="6653"/>
                      <a:pt x="309525" y="0"/>
                    </a:cubicBezTo>
                    <a:cubicBezTo>
                      <a:pt x="310191" y="14446"/>
                      <a:pt x="310286" y="28892"/>
                      <a:pt x="310001" y="43243"/>
                    </a:cubicBezTo>
                    <a:cubicBezTo>
                      <a:pt x="306006" y="248814"/>
                      <a:pt x="214974" y="440889"/>
                      <a:pt x="59546" y="574420"/>
                    </a:cubicBezTo>
                  </a:path>
                </a:pathLst>
              </a:custGeom>
              <a:grpFill/>
              <a:ln w="9512" cap="flat">
                <a:noFill/>
                <a:prstDash val="solid"/>
                <a:miter/>
              </a:ln>
            </p:spPr>
            <p:txBody>
              <a:bodyPr rtlCol="0" anchor="ctr"/>
              <a:lstStyle/>
              <a:p>
                <a:endParaRPr lang="fr-FR"/>
              </a:p>
            </p:txBody>
          </p:sp>
        </p:grpSp>
        <p:grpSp>
          <p:nvGrpSpPr>
            <p:cNvPr id="16" name="Groupe 15">
              <a:extLst>
                <a:ext uri="{FF2B5EF4-FFF2-40B4-BE49-F238E27FC236}">
                  <a16:creationId xmlns:a16="http://schemas.microsoft.com/office/drawing/2014/main" id="{8ED9B721-A267-4F9A-C8FB-4EDF9035D0FC}"/>
                </a:ext>
              </a:extLst>
            </p:cNvPr>
            <p:cNvGrpSpPr/>
            <p:nvPr/>
          </p:nvGrpSpPr>
          <p:grpSpPr>
            <a:xfrm>
              <a:off x="5706531" y="1530040"/>
              <a:ext cx="1100669" cy="202837"/>
              <a:chOff x="4227814" y="2908087"/>
              <a:chExt cx="5388249" cy="992975"/>
            </a:xfrm>
            <a:grpFill/>
          </p:grpSpPr>
          <p:sp>
            <p:nvSpPr>
              <p:cNvPr id="17" name="Forme libre 16">
                <a:extLst>
                  <a:ext uri="{FF2B5EF4-FFF2-40B4-BE49-F238E27FC236}">
                    <a16:creationId xmlns:a16="http://schemas.microsoft.com/office/drawing/2014/main" id="{954C32A8-2448-2ED4-5AA6-BF5FBA02FF11}"/>
                  </a:ext>
                </a:extLst>
              </p:cNvPr>
              <p:cNvSpPr/>
              <p:nvPr/>
            </p:nvSpPr>
            <p:spPr>
              <a:xfrm>
                <a:off x="4227814" y="2917686"/>
                <a:ext cx="986885" cy="967029"/>
              </a:xfrm>
              <a:custGeom>
                <a:avLst/>
                <a:gdLst>
                  <a:gd name="connsiteX0" fmla="*/ 639692 w 986885"/>
                  <a:gd name="connsiteY0" fmla="*/ 598180 h 967029"/>
                  <a:gd name="connsiteX1" fmla="*/ 490732 w 986885"/>
                  <a:gd name="connsiteY1" fmla="*/ 204906 h 967029"/>
                  <a:gd name="connsiteX2" fmla="*/ 339013 w 986885"/>
                  <a:gd name="connsiteY2" fmla="*/ 598180 h 967029"/>
                  <a:gd name="connsiteX3" fmla="*/ 639787 w 986885"/>
                  <a:gd name="connsiteY3" fmla="*/ 598180 h 967029"/>
                  <a:gd name="connsiteX4" fmla="*/ 421008 w 986885"/>
                  <a:gd name="connsiteY4" fmla="*/ 0 h 967029"/>
                  <a:gd name="connsiteX5" fmla="*/ 569968 w 986885"/>
                  <a:gd name="connsiteY5" fmla="*/ 0 h 967029"/>
                  <a:gd name="connsiteX6" fmla="*/ 986885 w 986885"/>
                  <a:gd name="connsiteY6" fmla="*/ 967029 h 967029"/>
                  <a:gd name="connsiteX7" fmla="*/ 790079 w 986885"/>
                  <a:gd name="connsiteY7" fmla="*/ 967029 h 967029"/>
                  <a:gd name="connsiteX8" fmla="*/ 699904 w 986885"/>
                  <a:gd name="connsiteY8" fmla="*/ 745777 h 967029"/>
                  <a:gd name="connsiteX9" fmla="*/ 280228 w 986885"/>
                  <a:gd name="connsiteY9" fmla="*/ 745777 h 967029"/>
                  <a:gd name="connsiteX10" fmla="*/ 192716 w 986885"/>
                  <a:gd name="connsiteY10" fmla="*/ 967029 h 967029"/>
                  <a:gd name="connsiteX11" fmla="*/ 0 w 986885"/>
                  <a:gd name="connsiteY11" fmla="*/ 967029 h 967029"/>
                  <a:gd name="connsiteX12" fmla="*/ 421008 w 986885"/>
                  <a:gd name="connsiteY12" fmla="*/ 0 h 96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6885" h="967029">
                    <a:moveTo>
                      <a:pt x="639692" y="598180"/>
                    </a:moveTo>
                    <a:lnTo>
                      <a:pt x="490732" y="204906"/>
                    </a:lnTo>
                    <a:lnTo>
                      <a:pt x="339013" y="598180"/>
                    </a:lnTo>
                    <a:lnTo>
                      <a:pt x="639787" y="598180"/>
                    </a:lnTo>
                    <a:close/>
                    <a:moveTo>
                      <a:pt x="421008" y="0"/>
                    </a:moveTo>
                    <a:lnTo>
                      <a:pt x="569968" y="0"/>
                    </a:lnTo>
                    <a:lnTo>
                      <a:pt x="986885" y="967029"/>
                    </a:lnTo>
                    <a:lnTo>
                      <a:pt x="790079" y="967029"/>
                    </a:lnTo>
                    <a:lnTo>
                      <a:pt x="699904" y="745777"/>
                    </a:lnTo>
                    <a:lnTo>
                      <a:pt x="280228" y="745777"/>
                    </a:lnTo>
                    <a:lnTo>
                      <a:pt x="192716" y="967029"/>
                    </a:lnTo>
                    <a:lnTo>
                      <a:pt x="0" y="967029"/>
                    </a:lnTo>
                    <a:lnTo>
                      <a:pt x="421008" y="0"/>
                    </a:lnTo>
                    <a:close/>
                  </a:path>
                </a:pathLst>
              </a:custGeom>
              <a:grpFill/>
              <a:ln w="9512"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E1893580-A1DE-E5E8-0239-182FC8F0EA96}"/>
                  </a:ext>
                </a:extLst>
              </p:cNvPr>
              <p:cNvSpPr/>
              <p:nvPr/>
            </p:nvSpPr>
            <p:spPr>
              <a:xfrm>
                <a:off x="5239146" y="3229036"/>
                <a:ext cx="598789" cy="671930"/>
              </a:xfrm>
              <a:custGeom>
                <a:avLst/>
                <a:gdLst>
                  <a:gd name="connsiteX0" fmla="*/ 598789 w 598789"/>
                  <a:gd name="connsiteY0" fmla="*/ 655584 h 671930"/>
                  <a:gd name="connsiteX1" fmla="*/ 442980 w 598789"/>
                  <a:gd name="connsiteY1" fmla="*/ 655584 h 671930"/>
                  <a:gd name="connsiteX2" fmla="*/ 442980 w 598789"/>
                  <a:gd name="connsiteY2" fmla="*/ 550375 h 671930"/>
                  <a:gd name="connsiteX3" fmla="*/ 440222 w 598789"/>
                  <a:gd name="connsiteY3" fmla="*/ 550375 h 671930"/>
                  <a:gd name="connsiteX4" fmla="*/ 239230 w 598789"/>
                  <a:gd name="connsiteY4" fmla="*/ 671931 h 671930"/>
                  <a:gd name="connsiteX5" fmla="*/ 0 w 598789"/>
                  <a:gd name="connsiteY5" fmla="*/ 413803 h 671930"/>
                  <a:gd name="connsiteX6" fmla="*/ 0 w 598789"/>
                  <a:gd name="connsiteY6" fmla="*/ 0 h 671930"/>
                  <a:gd name="connsiteX7" fmla="*/ 163989 w 598789"/>
                  <a:gd name="connsiteY7" fmla="*/ 0 h 671930"/>
                  <a:gd name="connsiteX8" fmla="*/ 163989 w 598789"/>
                  <a:gd name="connsiteY8" fmla="*/ 331879 h 671930"/>
                  <a:gd name="connsiteX9" fmla="*/ 284318 w 598789"/>
                  <a:gd name="connsiteY9" fmla="*/ 524429 h 671930"/>
                  <a:gd name="connsiteX10" fmla="*/ 434705 w 598789"/>
                  <a:gd name="connsiteY10" fmla="*/ 357825 h 671930"/>
                  <a:gd name="connsiteX11" fmla="*/ 434705 w 598789"/>
                  <a:gd name="connsiteY11" fmla="*/ 0 h 671930"/>
                  <a:gd name="connsiteX12" fmla="*/ 598694 w 598789"/>
                  <a:gd name="connsiteY12" fmla="*/ 0 h 671930"/>
                  <a:gd name="connsiteX13" fmla="*/ 598694 w 598789"/>
                  <a:gd name="connsiteY13" fmla="*/ 655584 h 67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1930">
                    <a:moveTo>
                      <a:pt x="598789" y="655584"/>
                    </a:moveTo>
                    <a:lnTo>
                      <a:pt x="442980" y="655584"/>
                    </a:lnTo>
                    <a:lnTo>
                      <a:pt x="442980" y="550375"/>
                    </a:lnTo>
                    <a:lnTo>
                      <a:pt x="440222" y="550375"/>
                    </a:lnTo>
                    <a:cubicBezTo>
                      <a:pt x="410164" y="615858"/>
                      <a:pt x="348620" y="671931"/>
                      <a:pt x="239230" y="671931"/>
                    </a:cubicBezTo>
                    <a:cubicBezTo>
                      <a:pt x="62875" y="671931"/>
                      <a:pt x="0" y="547619"/>
                      <a:pt x="0" y="413803"/>
                    </a:cubicBezTo>
                    <a:lnTo>
                      <a:pt x="0" y="0"/>
                    </a:lnTo>
                    <a:lnTo>
                      <a:pt x="163989" y="0"/>
                    </a:lnTo>
                    <a:lnTo>
                      <a:pt x="163989" y="331879"/>
                    </a:lnTo>
                    <a:cubicBezTo>
                      <a:pt x="163989" y="404299"/>
                      <a:pt x="169506" y="524429"/>
                      <a:pt x="284318" y="524429"/>
                    </a:cubicBezTo>
                    <a:cubicBezTo>
                      <a:pt x="392281" y="524429"/>
                      <a:pt x="434705" y="445261"/>
                      <a:pt x="434705" y="357825"/>
                    </a:cubicBezTo>
                    <a:lnTo>
                      <a:pt x="434705" y="0"/>
                    </a:lnTo>
                    <a:lnTo>
                      <a:pt x="598694" y="0"/>
                    </a:lnTo>
                    <a:lnTo>
                      <a:pt x="598694" y="655584"/>
                    </a:lnTo>
                    <a:close/>
                  </a:path>
                </a:pathLst>
              </a:custGeom>
              <a:grpFill/>
              <a:ln w="9512"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47D9A284-3B86-756D-99A2-E8BCFF28C157}"/>
                  </a:ext>
                </a:extLst>
              </p:cNvPr>
              <p:cNvSpPr/>
              <p:nvPr/>
            </p:nvSpPr>
            <p:spPr>
              <a:xfrm>
                <a:off x="5922688" y="2917686"/>
                <a:ext cx="708084" cy="983376"/>
              </a:xfrm>
              <a:custGeom>
                <a:avLst/>
                <a:gdLst>
                  <a:gd name="connsiteX0" fmla="*/ 356801 w 708084"/>
                  <a:gd name="connsiteY0" fmla="*/ 835779 h 983376"/>
                  <a:gd name="connsiteX1" fmla="*/ 549517 w 708084"/>
                  <a:gd name="connsiteY1" fmla="*/ 639142 h 983376"/>
                  <a:gd name="connsiteX2" fmla="*/ 356801 w 708084"/>
                  <a:gd name="connsiteY2" fmla="*/ 442505 h 983376"/>
                  <a:gd name="connsiteX3" fmla="*/ 164085 w 708084"/>
                  <a:gd name="connsiteY3" fmla="*/ 639142 h 983376"/>
                  <a:gd name="connsiteX4" fmla="*/ 356801 w 708084"/>
                  <a:gd name="connsiteY4" fmla="*/ 835779 h 983376"/>
                  <a:gd name="connsiteX5" fmla="*/ 552275 w 708084"/>
                  <a:gd name="connsiteY5" fmla="*/ 868568 h 983376"/>
                  <a:gd name="connsiteX6" fmla="*/ 549517 w 708084"/>
                  <a:gd name="connsiteY6" fmla="*/ 868568 h 983376"/>
                  <a:gd name="connsiteX7" fmla="*/ 323984 w 708084"/>
                  <a:gd name="connsiteY7" fmla="*/ 983376 h 983376"/>
                  <a:gd name="connsiteX8" fmla="*/ 0 w 708084"/>
                  <a:gd name="connsiteY8" fmla="*/ 639237 h 983376"/>
                  <a:gd name="connsiteX9" fmla="*/ 317135 w 708084"/>
                  <a:gd name="connsiteY9" fmla="*/ 295003 h 983376"/>
                  <a:gd name="connsiteX10" fmla="*/ 540004 w 708084"/>
                  <a:gd name="connsiteY10" fmla="*/ 394700 h 983376"/>
                  <a:gd name="connsiteX11" fmla="*/ 544000 w 708084"/>
                  <a:gd name="connsiteY11" fmla="*/ 394700 h 983376"/>
                  <a:gd name="connsiteX12" fmla="*/ 544000 w 708084"/>
                  <a:gd name="connsiteY12" fmla="*/ 0 h 983376"/>
                  <a:gd name="connsiteX13" fmla="*/ 708084 w 708084"/>
                  <a:gd name="connsiteY13" fmla="*/ 0 h 983376"/>
                  <a:gd name="connsiteX14" fmla="*/ 708084 w 708084"/>
                  <a:gd name="connsiteY14" fmla="*/ 966934 h 983376"/>
                  <a:gd name="connsiteX15" fmla="*/ 552275 w 708084"/>
                  <a:gd name="connsiteY15" fmla="*/ 966934 h 983376"/>
                  <a:gd name="connsiteX16" fmla="*/ 552275 w 708084"/>
                  <a:gd name="connsiteY16" fmla="*/ 868568 h 9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8084" h="983376">
                    <a:moveTo>
                      <a:pt x="356801" y="835779"/>
                    </a:moveTo>
                    <a:cubicBezTo>
                      <a:pt x="477129" y="835779"/>
                      <a:pt x="549517" y="741595"/>
                      <a:pt x="549517" y="639142"/>
                    </a:cubicBezTo>
                    <a:cubicBezTo>
                      <a:pt x="549517" y="536689"/>
                      <a:pt x="477034" y="442505"/>
                      <a:pt x="356801" y="442505"/>
                    </a:cubicBezTo>
                    <a:cubicBezTo>
                      <a:pt x="236567" y="442505"/>
                      <a:pt x="164085" y="536689"/>
                      <a:pt x="164085" y="639142"/>
                    </a:cubicBezTo>
                    <a:cubicBezTo>
                      <a:pt x="164085" y="741595"/>
                      <a:pt x="236567" y="835779"/>
                      <a:pt x="356801" y="835779"/>
                    </a:cubicBezTo>
                    <a:moveTo>
                      <a:pt x="552275" y="868568"/>
                    </a:moveTo>
                    <a:lnTo>
                      <a:pt x="549517" y="868568"/>
                    </a:lnTo>
                    <a:cubicBezTo>
                      <a:pt x="501670" y="947831"/>
                      <a:pt x="415586" y="983376"/>
                      <a:pt x="323984" y="983376"/>
                    </a:cubicBezTo>
                    <a:cubicBezTo>
                      <a:pt x="121660" y="983376"/>
                      <a:pt x="0" y="833118"/>
                      <a:pt x="0" y="639237"/>
                    </a:cubicBezTo>
                    <a:cubicBezTo>
                      <a:pt x="0" y="445356"/>
                      <a:pt x="129841" y="295003"/>
                      <a:pt x="317135" y="295003"/>
                    </a:cubicBezTo>
                    <a:cubicBezTo>
                      <a:pt x="440127" y="295003"/>
                      <a:pt x="505761" y="352407"/>
                      <a:pt x="540004" y="394700"/>
                    </a:cubicBezTo>
                    <a:lnTo>
                      <a:pt x="544000" y="394700"/>
                    </a:lnTo>
                    <a:lnTo>
                      <a:pt x="544000" y="0"/>
                    </a:lnTo>
                    <a:lnTo>
                      <a:pt x="708084" y="0"/>
                    </a:lnTo>
                    <a:lnTo>
                      <a:pt x="708084" y="966934"/>
                    </a:lnTo>
                    <a:lnTo>
                      <a:pt x="552275" y="966934"/>
                    </a:lnTo>
                    <a:lnTo>
                      <a:pt x="552275" y="868568"/>
                    </a:lnTo>
                    <a:close/>
                  </a:path>
                </a:pathLst>
              </a:custGeom>
              <a:grpFill/>
              <a:ln w="951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5AF49FFC-8EB0-33B2-8409-0EB674281EE3}"/>
                  </a:ext>
                </a:extLst>
              </p:cNvPr>
              <p:cNvSpPr/>
              <p:nvPr/>
            </p:nvSpPr>
            <p:spPr>
              <a:xfrm>
                <a:off x="6715430" y="3212594"/>
                <a:ext cx="664328" cy="688372"/>
              </a:xfrm>
              <a:custGeom>
                <a:avLst/>
                <a:gdLst>
                  <a:gd name="connsiteX0" fmla="*/ 500339 w 664328"/>
                  <a:gd name="connsiteY0" fmla="*/ 278657 h 688372"/>
                  <a:gd name="connsiteX1" fmla="*/ 333591 w 664328"/>
                  <a:gd name="connsiteY1" fmla="*/ 122981 h 688372"/>
                  <a:gd name="connsiteX2" fmla="*/ 164085 w 664328"/>
                  <a:gd name="connsiteY2" fmla="*/ 278657 h 688372"/>
                  <a:gd name="connsiteX3" fmla="*/ 500339 w 664328"/>
                  <a:gd name="connsiteY3" fmla="*/ 278657 h 688372"/>
                  <a:gd name="connsiteX4" fmla="*/ 164085 w 664328"/>
                  <a:gd name="connsiteY4" fmla="*/ 401543 h 688372"/>
                  <a:gd name="connsiteX5" fmla="*/ 340440 w 664328"/>
                  <a:gd name="connsiteY5" fmla="*/ 557218 h 688372"/>
                  <a:gd name="connsiteX6" fmla="*/ 516795 w 664328"/>
                  <a:gd name="connsiteY6" fmla="*/ 468451 h 688372"/>
                  <a:gd name="connsiteX7" fmla="*/ 634365 w 664328"/>
                  <a:gd name="connsiteY7" fmla="*/ 557218 h 688372"/>
                  <a:gd name="connsiteX8" fmla="*/ 356801 w 664328"/>
                  <a:gd name="connsiteY8" fmla="*/ 688373 h 688372"/>
                  <a:gd name="connsiteX9" fmla="*/ 0 w 664328"/>
                  <a:gd name="connsiteY9" fmla="*/ 344234 h 688372"/>
                  <a:gd name="connsiteX10" fmla="*/ 356801 w 664328"/>
                  <a:gd name="connsiteY10" fmla="*/ 0 h 688372"/>
                  <a:gd name="connsiteX11" fmla="*/ 664328 w 664328"/>
                  <a:gd name="connsiteY11" fmla="*/ 356494 h 688372"/>
                  <a:gd name="connsiteX12" fmla="*/ 664328 w 664328"/>
                  <a:gd name="connsiteY12" fmla="*/ 401543 h 688372"/>
                  <a:gd name="connsiteX13" fmla="*/ 163989 w 664328"/>
                  <a:gd name="connsiteY13" fmla="*/ 401543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328" h="688372">
                    <a:moveTo>
                      <a:pt x="500339" y="278657"/>
                    </a:moveTo>
                    <a:cubicBezTo>
                      <a:pt x="498912" y="183047"/>
                      <a:pt x="436037" y="122981"/>
                      <a:pt x="333591" y="122981"/>
                    </a:cubicBezTo>
                    <a:cubicBezTo>
                      <a:pt x="236472" y="122981"/>
                      <a:pt x="176355" y="184472"/>
                      <a:pt x="164085" y="278657"/>
                    </a:cubicBezTo>
                    <a:lnTo>
                      <a:pt x="500339" y="278657"/>
                    </a:lnTo>
                    <a:close/>
                    <a:moveTo>
                      <a:pt x="164085" y="401543"/>
                    </a:moveTo>
                    <a:cubicBezTo>
                      <a:pt x="175023" y="498578"/>
                      <a:pt x="248838" y="557218"/>
                      <a:pt x="340440" y="557218"/>
                    </a:cubicBezTo>
                    <a:cubicBezTo>
                      <a:pt x="422434" y="557218"/>
                      <a:pt x="475703" y="519012"/>
                      <a:pt x="516795" y="468451"/>
                    </a:cubicBezTo>
                    <a:lnTo>
                      <a:pt x="634365" y="557218"/>
                    </a:lnTo>
                    <a:cubicBezTo>
                      <a:pt x="557792" y="651402"/>
                      <a:pt x="460673" y="688373"/>
                      <a:pt x="356801" y="688373"/>
                    </a:cubicBezTo>
                    <a:cubicBezTo>
                      <a:pt x="158568" y="688373"/>
                      <a:pt x="0" y="550470"/>
                      <a:pt x="0" y="344234"/>
                    </a:cubicBezTo>
                    <a:cubicBezTo>
                      <a:pt x="0" y="137998"/>
                      <a:pt x="158568" y="0"/>
                      <a:pt x="356801" y="0"/>
                    </a:cubicBezTo>
                    <a:cubicBezTo>
                      <a:pt x="540005" y="0"/>
                      <a:pt x="664328" y="128399"/>
                      <a:pt x="664328" y="356494"/>
                    </a:cubicBezTo>
                    <a:lnTo>
                      <a:pt x="664328" y="401543"/>
                    </a:lnTo>
                    <a:lnTo>
                      <a:pt x="163989" y="401543"/>
                    </a:lnTo>
                    <a:close/>
                  </a:path>
                </a:pathLst>
              </a:custGeom>
              <a:grpFill/>
              <a:ln w="951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82B2538B-6B25-0FBA-ADDC-F8ADDE9460DB}"/>
                  </a:ext>
                </a:extLst>
              </p:cNvPr>
              <p:cNvSpPr/>
              <p:nvPr/>
            </p:nvSpPr>
            <p:spPr>
              <a:xfrm>
                <a:off x="7464417" y="3212689"/>
                <a:ext cx="598789" cy="672025"/>
              </a:xfrm>
              <a:custGeom>
                <a:avLst/>
                <a:gdLst>
                  <a:gd name="connsiteX0" fmla="*/ 95 w 598789"/>
                  <a:gd name="connsiteY0" fmla="*/ 16347 h 672025"/>
                  <a:gd name="connsiteX1" fmla="*/ 155904 w 598789"/>
                  <a:gd name="connsiteY1" fmla="*/ 16347 h 672025"/>
                  <a:gd name="connsiteX2" fmla="*/ 155904 w 598789"/>
                  <a:gd name="connsiteY2" fmla="*/ 121556 h 672025"/>
                  <a:gd name="connsiteX3" fmla="*/ 158568 w 598789"/>
                  <a:gd name="connsiteY3" fmla="*/ 121556 h 672025"/>
                  <a:gd name="connsiteX4" fmla="*/ 359559 w 598789"/>
                  <a:gd name="connsiteY4" fmla="*/ 0 h 672025"/>
                  <a:gd name="connsiteX5" fmla="*/ 598790 w 598789"/>
                  <a:gd name="connsiteY5" fmla="*/ 258128 h 672025"/>
                  <a:gd name="connsiteX6" fmla="*/ 598790 w 598789"/>
                  <a:gd name="connsiteY6" fmla="*/ 672026 h 672025"/>
                  <a:gd name="connsiteX7" fmla="*/ 434705 w 598789"/>
                  <a:gd name="connsiteY7" fmla="*/ 672026 h 672025"/>
                  <a:gd name="connsiteX8" fmla="*/ 434705 w 598789"/>
                  <a:gd name="connsiteY8" fmla="*/ 340147 h 672025"/>
                  <a:gd name="connsiteX9" fmla="*/ 314376 w 598789"/>
                  <a:gd name="connsiteY9" fmla="*/ 147597 h 672025"/>
                  <a:gd name="connsiteX10" fmla="*/ 163989 w 598789"/>
                  <a:gd name="connsiteY10" fmla="*/ 314201 h 672025"/>
                  <a:gd name="connsiteX11" fmla="*/ 163989 w 598789"/>
                  <a:gd name="connsiteY11" fmla="*/ 672026 h 672025"/>
                  <a:gd name="connsiteX12" fmla="*/ 0 w 598789"/>
                  <a:gd name="connsiteY12" fmla="*/ 672026 h 672025"/>
                  <a:gd name="connsiteX13" fmla="*/ 0 w 598789"/>
                  <a:gd name="connsiteY13" fmla="*/ 16347 h 67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2025">
                    <a:moveTo>
                      <a:pt x="95" y="16347"/>
                    </a:moveTo>
                    <a:lnTo>
                      <a:pt x="155904" y="16347"/>
                    </a:lnTo>
                    <a:lnTo>
                      <a:pt x="155904" y="121556"/>
                    </a:lnTo>
                    <a:lnTo>
                      <a:pt x="158568" y="121556"/>
                    </a:lnTo>
                    <a:cubicBezTo>
                      <a:pt x="188721" y="56073"/>
                      <a:pt x="250265" y="0"/>
                      <a:pt x="359559" y="0"/>
                    </a:cubicBezTo>
                    <a:cubicBezTo>
                      <a:pt x="535915" y="0"/>
                      <a:pt x="598790" y="124312"/>
                      <a:pt x="598790" y="258128"/>
                    </a:cubicBezTo>
                    <a:lnTo>
                      <a:pt x="598790" y="672026"/>
                    </a:lnTo>
                    <a:lnTo>
                      <a:pt x="434705" y="672026"/>
                    </a:lnTo>
                    <a:lnTo>
                      <a:pt x="434705" y="340147"/>
                    </a:lnTo>
                    <a:cubicBezTo>
                      <a:pt x="434705" y="267822"/>
                      <a:pt x="429283" y="147597"/>
                      <a:pt x="314376" y="147597"/>
                    </a:cubicBezTo>
                    <a:cubicBezTo>
                      <a:pt x="206414" y="147597"/>
                      <a:pt x="163989" y="226860"/>
                      <a:pt x="163989" y="314201"/>
                    </a:cubicBezTo>
                    <a:lnTo>
                      <a:pt x="163989" y="672026"/>
                    </a:lnTo>
                    <a:lnTo>
                      <a:pt x="0" y="672026"/>
                    </a:lnTo>
                    <a:lnTo>
                      <a:pt x="0" y="16347"/>
                    </a:lnTo>
                    <a:close/>
                  </a:path>
                </a:pathLst>
              </a:custGeom>
              <a:grpFill/>
              <a:ln w="9512"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B45DE06D-7DB7-7CE6-B62B-FF889C4BEE14}"/>
                  </a:ext>
                </a:extLst>
              </p:cNvPr>
              <p:cNvSpPr/>
              <p:nvPr/>
            </p:nvSpPr>
            <p:spPr>
              <a:xfrm>
                <a:off x="8147865" y="3212689"/>
                <a:ext cx="594603" cy="688372"/>
              </a:xfrm>
              <a:custGeom>
                <a:avLst/>
                <a:gdLst>
                  <a:gd name="connsiteX0" fmla="*/ 481219 w 594603"/>
                  <a:gd name="connsiteY0" fmla="*/ 213079 h 688372"/>
                  <a:gd name="connsiteX1" fmla="*/ 356800 w 594603"/>
                  <a:gd name="connsiteY1" fmla="*/ 147502 h 688372"/>
                  <a:gd name="connsiteX2" fmla="*/ 163989 w 594603"/>
                  <a:gd name="connsiteY2" fmla="*/ 344139 h 688372"/>
                  <a:gd name="connsiteX3" fmla="*/ 356800 w 594603"/>
                  <a:gd name="connsiteY3" fmla="*/ 540776 h 688372"/>
                  <a:gd name="connsiteX4" fmla="*/ 483883 w 594603"/>
                  <a:gd name="connsiteY4" fmla="*/ 479380 h 688372"/>
                  <a:gd name="connsiteX5" fmla="*/ 593273 w 594603"/>
                  <a:gd name="connsiteY5" fmla="*/ 596850 h 688372"/>
                  <a:gd name="connsiteX6" fmla="*/ 356800 w 594603"/>
                  <a:gd name="connsiteY6" fmla="*/ 688373 h 688372"/>
                  <a:gd name="connsiteX7" fmla="*/ 0 w 594603"/>
                  <a:gd name="connsiteY7" fmla="*/ 344139 h 688372"/>
                  <a:gd name="connsiteX8" fmla="*/ 356800 w 594603"/>
                  <a:gd name="connsiteY8" fmla="*/ 0 h 688372"/>
                  <a:gd name="connsiteX9" fmla="*/ 594604 w 594603"/>
                  <a:gd name="connsiteY9" fmla="*/ 99697 h 688372"/>
                  <a:gd name="connsiteX10" fmla="*/ 481124 w 594603"/>
                  <a:gd name="connsiteY10" fmla="*/ 212984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4603" h="688372">
                    <a:moveTo>
                      <a:pt x="481219" y="213079"/>
                    </a:moveTo>
                    <a:cubicBezTo>
                      <a:pt x="442885" y="173447"/>
                      <a:pt x="400556" y="147502"/>
                      <a:pt x="356800" y="147502"/>
                    </a:cubicBezTo>
                    <a:cubicBezTo>
                      <a:pt x="236472" y="147502"/>
                      <a:pt x="163989" y="241686"/>
                      <a:pt x="163989" y="344139"/>
                    </a:cubicBezTo>
                    <a:cubicBezTo>
                      <a:pt x="163989" y="446592"/>
                      <a:pt x="236472" y="540776"/>
                      <a:pt x="356800" y="540776"/>
                    </a:cubicBezTo>
                    <a:cubicBezTo>
                      <a:pt x="407310" y="540776"/>
                      <a:pt x="453824" y="519012"/>
                      <a:pt x="483883" y="479380"/>
                    </a:cubicBezTo>
                    <a:lnTo>
                      <a:pt x="593273" y="596850"/>
                    </a:lnTo>
                    <a:cubicBezTo>
                      <a:pt x="526307" y="663758"/>
                      <a:pt x="414159" y="688373"/>
                      <a:pt x="356800" y="688373"/>
                    </a:cubicBezTo>
                    <a:cubicBezTo>
                      <a:pt x="158567" y="688373"/>
                      <a:pt x="0" y="550375"/>
                      <a:pt x="0" y="344139"/>
                    </a:cubicBezTo>
                    <a:cubicBezTo>
                      <a:pt x="0" y="137903"/>
                      <a:pt x="158567" y="0"/>
                      <a:pt x="356800" y="0"/>
                    </a:cubicBezTo>
                    <a:cubicBezTo>
                      <a:pt x="440222" y="0"/>
                      <a:pt x="531729" y="30033"/>
                      <a:pt x="594604" y="99697"/>
                    </a:cubicBezTo>
                    <a:lnTo>
                      <a:pt x="481124" y="212984"/>
                    </a:lnTo>
                    <a:close/>
                  </a:path>
                </a:pathLst>
              </a:custGeom>
              <a:grpFill/>
              <a:ln w="9512"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12BD76DA-1C9F-5902-44E1-4A5F7B9829C5}"/>
                  </a:ext>
                </a:extLst>
              </p:cNvPr>
              <p:cNvSpPr/>
              <p:nvPr/>
            </p:nvSpPr>
            <p:spPr>
              <a:xfrm>
                <a:off x="8750745" y="2908087"/>
                <a:ext cx="210408" cy="976533"/>
              </a:xfrm>
              <a:custGeom>
                <a:avLst/>
                <a:gdLst>
                  <a:gd name="connsiteX0" fmla="*/ 23210 w 210408"/>
                  <a:gd name="connsiteY0" fmla="*/ 320949 h 976533"/>
                  <a:gd name="connsiteX1" fmla="*/ 187294 w 210408"/>
                  <a:gd name="connsiteY1" fmla="*/ 320949 h 976533"/>
                  <a:gd name="connsiteX2" fmla="*/ 187294 w 210408"/>
                  <a:gd name="connsiteY2" fmla="*/ 976533 h 976533"/>
                  <a:gd name="connsiteX3" fmla="*/ 23210 w 210408"/>
                  <a:gd name="connsiteY3" fmla="*/ 976533 h 976533"/>
                  <a:gd name="connsiteX4" fmla="*/ 23210 w 210408"/>
                  <a:gd name="connsiteY4" fmla="*/ 320949 h 976533"/>
                  <a:gd name="connsiteX5" fmla="*/ 103872 w 210408"/>
                  <a:gd name="connsiteY5" fmla="*/ 0 h 976533"/>
                  <a:gd name="connsiteX6" fmla="*/ 210409 w 210408"/>
                  <a:gd name="connsiteY6" fmla="*/ 98271 h 976533"/>
                  <a:gd name="connsiteX7" fmla="*/ 103872 w 210408"/>
                  <a:gd name="connsiteY7" fmla="*/ 196637 h 976533"/>
                  <a:gd name="connsiteX8" fmla="*/ 0 w 210408"/>
                  <a:gd name="connsiteY8" fmla="*/ 98271 h 976533"/>
                  <a:gd name="connsiteX9" fmla="*/ 103872 w 210408"/>
                  <a:gd name="connsiteY9" fmla="*/ 0 h 97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08" h="976533">
                    <a:moveTo>
                      <a:pt x="23210" y="320949"/>
                    </a:moveTo>
                    <a:lnTo>
                      <a:pt x="187294" y="320949"/>
                    </a:lnTo>
                    <a:lnTo>
                      <a:pt x="187294" y="976533"/>
                    </a:lnTo>
                    <a:lnTo>
                      <a:pt x="23210" y="976533"/>
                    </a:lnTo>
                    <a:lnTo>
                      <a:pt x="23210" y="320949"/>
                    </a:lnTo>
                    <a:close/>
                    <a:moveTo>
                      <a:pt x="103872" y="0"/>
                    </a:moveTo>
                    <a:cubicBezTo>
                      <a:pt x="163989" y="0"/>
                      <a:pt x="210409" y="42293"/>
                      <a:pt x="210409" y="98271"/>
                    </a:cubicBezTo>
                    <a:cubicBezTo>
                      <a:pt x="210409" y="154249"/>
                      <a:pt x="163989" y="196637"/>
                      <a:pt x="103872" y="196637"/>
                    </a:cubicBezTo>
                    <a:cubicBezTo>
                      <a:pt x="43756" y="196637"/>
                      <a:pt x="0" y="150163"/>
                      <a:pt x="0" y="98271"/>
                    </a:cubicBezTo>
                    <a:cubicBezTo>
                      <a:pt x="0" y="46379"/>
                      <a:pt x="43756" y="0"/>
                      <a:pt x="103872" y="0"/>
                    </a:cubicBezTo>
                  </a:path>
                </a:pathLst>
              </a:custGeom>
              <a:grpFill/>
              <a:ln w="9512"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B09702B-0C60-4631-33F5-3FA7D541CC4A}"/>
                  </a:ext>
                </a:extLst>
              </p:cNvPr>
              <p:cNvSpPr/>
              <p:nvPr/>
            </p:nvSpPr>
            <p:spPr>
              <a:xfrm>
                <a:off x="9014611" y="3212499"/>
                <a:ext cx="601452" cy="688467"/>
              </a:xfrm>
              <a:custGeom>
                <a:avLst/>
                <a:gdLst>
                  <a:gd name="connsiteX0" fmla="*/ 444217 w 601452"/>
                  <a:gd name="connsiteY0" fmla="*/ 378448 h 688467"/>
                  <a:gd name="connsiteX1" fmla="*/ 410068 w 601452"/>
                  <a:gd name="connsiteY1" fmla="*/ 378448 h 688467"/>
                  <a:gd name="connsiteX2" fmla="*/ 163989 w 601452"/>
                  <a:gd name="connsiteY2" fmla="*/ 479571 h 688467"/>
                  <a:gd name="connsiteX3" fmla="*/ 278801 w 601452"/>
                  <a:gd name="connsiteY3" fmla="*/ 565582 h 688467"/>
                  <a:gd name="connsiteX4" fmla="*/ 444217 w 601452"/>
                  <a:gd name="connsiteY4" fmla="*/ 415419 h 688467"/>
                  <a:gd name="connsiteX5" fmla="*/ 444217 w 601452"/>
                  <a:gd name="connsiteY5" fmla="*/ 378543 h 688467"/>
                  <a:gd name="connsiteX6" fmla="*/ 453824 w 601452"/>
                  <a:gd name="connsiteY6" fmla="*/ 581928 h 688467"/>
                  <a:gd name="connsiteX7" fmla="*/ 449734 w 601452"/>
                  <a:gd name="connsiteY7" fmla="*/ 581928 h 688467"/>
                  <a:gd name="connsiteX8" fmla="*/ 239230 w 601452"/>
                  <a:gd name="connsiteY8" fmla="*/ 688468 h 688467"/>
                  <a:gd name="connsiteX9" fmla="*/ 0 w 601452"/>
                  <a:gd name="connsiteY9" fmla="*/ 491736 h 688467"/>
                  <a:gd name="connsiteX10" fmla="*/ 412827 w 601452"/>
                  <a:gd name="connsiteY10" fmla="*/ 263640 h 688467"/>
                  <a:gd name="connsiteX11" fmla="*/ 453824 w 601452"/>
                  <a:gd name="connsiteY11" fmla="*/ 263640 h 688467"/>
                  <a:gd name="connsiteX12" fmla="*/ 453824 w 601452"/>
                  <a:gd name="connsiteY12" fmla="*/ 245868 h 688467"/>
                  <a:gd name="connsiteX13" fmla="*/ 303437 w 601452"/>
                  <a:gd name="connsiteY13" fmla="*/ 122981 h 688467"/>
                  <a:gd name="connsiteX14" fmla="*/ 128509 w 601452"/>
                  <a:gd name="connsiteY14" fmla="*/ 191220 h 688467"/>
                  <a:gd name="connsiteX15" fmla="*/ 42424 w 601452"/>
                  <a:gd name="connsiteY15" fmla="*/ 105209 h 688467"/>
                  <a:gd name="connsiteX16" fmla="*/ 321225 w 601452"/>
                  <a:gd name="connsiteY16" fmla="*/ 0 h 688467"/>
                  <a:gd name="connsiteX17" fmla="*/ 601453 w 601452"/>
                  <a:gd name="connsiteY17" fmla="*/ 295003 h 688467"/>
                  <a:gd name="connsiteX18" fmla="*/ 601453 w 601452"/>
                  <a:gd name="connsiteY18" fmla="*/ 672026 h 688467"/>
                  <a:gd name="connsiteX19" fmla="*/ 453824 w 601452"/>
                  <a:gd name="connsiteY19" fmla="*/ 672026 h 688467"/>
                  <a:gd name="connsiteX20" fmla="*/ 453824 w 601452"/>
                  <a:gd name="connsiteY20" fmla="*/ 581833 h 68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1452" h="688467">
                    <a:moveTo>
                      <a:pt x="444217" y="378448"/>
                    </a:moveTo>
                    <a:lnTo>
                      <a:pt x="410068" y="378448"/>
                    </a:lnTo>
                    <a:cubicBezTo>
                      <a:pt x="319798" y="378448"/>
                      <a:pt x="163989" y="385291"/>
                      <a:pt x="163989" y="479571"/>
                    </a:cubicBezTo>
                    <a:cubicBezTo>
                      <a:pt x="163989" y="539636"/>
                      <a:pt x="225438" y="565582"/>
                      <a:pt x="278801" y="565582"/>
                    </a:cubicBezTo>
                    <a:cubicBezTo>
                      <a:pt x="390854" y="565582"/>
                      <a:pt x="444217" y="506847"/>
                      <a:pt x="444217" y="415419"/>
                    </a:cubicBezTo>
                    <a:lnTo>
                      <a:pt x="444217" y="378543"/>
                    </a:lnTo>
                    <a:close/>
                    <a:moveTo>
                      <a:pt x="453824" y="581928"/>
                    </a:moveTo>
                    <a:lnTo>
                      <a:pt x="449734" y="581928"/>
                    </a:lnTo>
                    <a:cubicBezTo>
                      <a:pt x="403315" y="655679"/>
                      <a:pt x="326742" y="688468"/>
                      <a:pt x="239230" y="688468"/>
                    </a:cubicBezTo>
                    <a:cubicBezTo>
                      <a:pt x="117570" y="688468"/>
                      <a:pt x="0" y="621560"/>
                      <a:pt x="0" y="491736"/>
                    </a:cubicBezTo>
                    <a:cubicBezTo>
                      <a:pt x="0" y="278752"/>
                      <a:pt x="248837" y="263640"/>
                      <a:pt x="412827" y="263640"/>
                    </a:cubicBezTo>
                    <a:lnTo>
                      <a:pt x="453824" y="263640"/>
                    </a:lnTo>
                    <a:lnTo>
                      <a:pt x="453824" y="245868"/>
                    </a:lnTo>
                    <a:cubicBezTo>
                      <a:pt x="453824" y="165274"/>
                      <a:pt x="390949" y="122981"/>
                      <a:pt x="303437" y="122981"/>
                    </a:cubicBezTo>
                    <a:cubicBezTo>
                      <a:pt x="235140" y="122981"/>
                      <a:pt x="172265" y="150258"/>
                      <a:pt x="128509" y="191220"/>
                    </a:cubicBezTo>
                    <a:lnTo>
                      <a:pt x="42424" y="105209"/>
                    </a:lnTo>
                    <a:cubicBezTo>
                      <a:pt x="114906" y="31458"/>
                      <a:pt x="217352" y="0"/>
                      <a:pt x="321225" y="0"/>
                    </a:cubicBezTo>
                    <a:cubicBezTo>
                      <a:pt x="601453" y="0"/>
                      <a:pt x="601453" y="202149"/>
                      <a:pt x="601453" y="295003"/>
                    </a:cubicBezTo>
                    <a:lnTo>
                      <a:pt x="601453" y="672026"/>
                    </a:lnTo>
                    <a:lnTo>
                      <a:pt x="453824" y="672026"/>
                    </a:lnTo>
                    <a:lnTo>
                      <a:pt x="453824" y="581833"/>
                    </a:lnTo>
                    <a:close/>
                  </a:path>
                </a:pathLst>
              </a:custGeom>
              <a:grpFill/>
              <a:ln w="9512" cap="flat">
                <a:noFill/>
                <a:prstDash val="solid"/>
                <a:miter/>
              </a:ln>
            </p:spPr>
            <p:txBody>
              <a:bodyPr rtlCol="0" anchor="ctr"/>
              <a:lstStyle/>
              <a:p>
                <a:endParaRPr lang="fr-FR"/>
              </a:p>
            </p:txBody>
          </p:sp>
        </p:grpSp>
      </p:grpSp>
      <p:sp>
        <p:nvSpPr>
          <p:cNvPr id="6" name="Graphique 29">
            <a:extLst>
              <a:ext uri="{FF2B5EF4-FFF2-40B4-BE49-F238E27FC236}">
                <a16:creationId xmlns:a16="http://schemas.microsoft.com/office/drawing/2014/main" id="{A6048FBC-0B3B-D1FD-CDAC-8C23F578CE90}"/>
              </a:ext>
            </a:extLst>
          </p:cNvPr>
          <p:cNvSpPr/>
          <p:nvPr userDrawn="1"/>
        </p:nvSpPr>
        <p:spPr>
          <a:xfrm flipH="1">
            <a:off x="6794209" y="630692"/>
            <a:ext cx="5397791" cy="6592012"/>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758BC5">
              <a:alpha val="70000"/>
            </a:srgbClr>
          </a:solidFill>
          <a:ln w="6093" cap="flat">
            <a:noFill/>
            <a:prstDash val="solid"/>
            <a:miter/>
          </a:ln>
        </p:spPr>
        <p:txBody>
          <a:bodyPr rtlCol="0" anchor="ctr"/>
          <a:lstStyle/>
          <a:p>
            <a:endParaRPr lang="fr-FR">
              <a:solidFill>
                <a:schemeClr val="accent2"/>
              </a:solidFill>
            </a:endParaRPr>
          </a:p>
        </p:txBody>
      </p:sp>
      <p:sp>
        <p:nvSpPr>
          <p:cNvPr id="8" name="Espace réservé du contenu 7">
            <a:extLst>
              <a:ext uri="{FF2B5EF4-FFF2-40B4-BE49-F238E27FC236}">
                <a16:creationId xmlns:a16="http://schemas.microsoft.com/office/drawing/2014/main" id="{4038C916-A98D-A5E7-086C-C33DDEE8D942}"/>
              </a:ext>
            </a:extLst>
          </p:cNvPr>
          <p:cNvSpPr>
            <a:spLocks noGrp="1"/>
          </p:cNvSpPr>
          <p:nvPr>
            <p:ph sz="quarter" idx="10" hasCustomPrompt="1"/>
          </p:nvPr>
        </p:nvSpPr>
        <p:spPr>
          <a:xfrm>
            <a:off x="592138" y="2613896"/>
            <a:ext cx="5840412" cy="1584325"/>
          </a:xfrm>
        </p:spPr>
        <p:txBody>
          <a:bodyPr/>
          <a:lstStyle>
            <a:lvl1pPr marL="0" indent="0">
              <a:buNone/>
              <a:defRPr>
                <a:solidFill>
                  <a:schemeClr val="bg1"/>
                </a:solidFill>
              </a:defRPr>
            </a:lvl1pPr>
          </a:lstStyle>
          <a:p>
            <a:pPr lvl="0"/>
            <a:r>
              <a:rPr lang="fr-FR" dirty="0"/>
              <a:t>Merci de votre attention.</a:t>
            </a:r>
          </a:p>
        </p:txBody>
      </p:sp>
      <p:sp>
        <p:nvSpPr>
          <p:cNvPr id="5" name="ZoneTexte 4">
            <a:extLst>
              <a:ext uri="{FF2B5EF4-FFF2-40B4-BE49-F238E27FC236}">
                <a16:creationId xmlns:a16="http://schemas.microsoft.com/office/drawing/2014/main" id="{57912CD0-332F-B3D6-D0FE-14D3A4FBCE9E}"/>
              </a:ext>
            </a:extLst>
          </p:cNvPr>
          <p:cNvSpPr txBox="1"/>
          <p:nvPr userDrawn="1"/>
        </p:nvSpPr>
        <p:spPr>
          <a:xfrm>
            <a:off x="689674" y="2021620"/>
            <a:ext cx="1100669" cy="246221"/>
          </a:xfrm>
          <a:prstGeom prst="rect">
            <a:avLst/>
          </a:prstGeom>
          <a:noFill/>
        </p:spPr>
        <p:txBody>
          <a:bodyPr wrap="square" rtlCol="0">
            <a:spAutoFit/>
          </a:bodyPr>
          <a:lstStyle/>
          <a:p>
            <a:pPr algn="ctr"/>
            <a:r>
              <a:rPr lang="fr-FR" sz="1000" b="1" dirty="0" err="1">
                <a:solidFill>
                  <a:srgbClr val="BCDCF1"/>
                </a:solidFill>
                <a:latin typeface="Arial Nova" panose="020B0504020202020204" pitchFamily="34" charset="0"/>
              </a:rPr>
              <a:t>audencia</a:t>
            </a:r>
            <a:r>
              <a:rPr lang="fr-FR" sz="1000" dirty="0" err="1">
                <a:solidFill>
                  <a:srgbClr val="BCDCF1"/>
                </a:solidFill>
                <a:latin typeface="Arial Nova" panose="020B0504020202020204" pitchFamily="34" charset="0"/>
              </a:rPr>
              <a:t>.com</a:t>
            </a:r>
            <a:endParaRPr lang="fr-FR" sz="1000" dirty="0">
              <a:solidFill>
                <a:srgbClr val="BCDCF1"/>
              </a:solidFill>
              <a:latin typeface="Arial Nova" panose="020B0504020202020204" pitchFamily="34" charset="0"/>
            </a:endParaRPr>
          </a:p>
        </p:txBody>
      </p:sp>
    </p:spTree>
    <p:extLst>
      <p:ext uri="{BB962C8B-B14F-4D97-AF65-F5344CB8AC3E}">
        <p14:creationId xmlns:p14="http://schemas.microsoft.com/office/powerpoint/2010/main" val="154077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Diapositive de fin">
    <p:bg>
      <p:bgPr>
        <a:gradFill>
          <a:gsLst>
            <a:gs pos="100000">
              <a:srgbClr val="032D5A"/>
            </a:gs>
            <a:gs pos="0">
              <a:srgbClr val="9378B5"/>
            </a:gs>
          </a:gsLst>
          <a:lin ang="2700000" scaled="0"/>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675E09-98F4-CB40-847A-223EE4FF2325}"/>
              </a:ext>
            </a:extLst>
          </p:cNvPr>
          <p:cNvSpPr>
            <a:spLocks noGrp="1"/>
          </p:cNvSpPr>
          <p:nvPr>
            <p:ph type="ctrTitle" hasCustomPrompt="1"/>
          </p:nvPr>
        </p:nvSpPr>
        <p:spPr>
          <a:xfrm>
            <a:off x="592667" y="3069986"/>
            <a:ext cx="5839968" cy="2387600"/>
          </a:xfrm>
        </p:spPr>
        <p:txBody>
          <a:bodyPr anchor="b">
            <a:normAutofit/>
          </a:bodyPr>
          <a:lstStyle>
            <a:lvl1pPr algn="l">
              <a:defRPr sz="2000">
                <a:solidFill>
                  <a:srgbClr val="BCDCF1"/>
                </a:solidFill>
                <a:latin typeface="Arial" panose="020B0604020202020204" pitchFamily="34" charset="0"/>
                <a:cs typeface="Arial" panose="020B0604020202020204" pitchFamily="34" charset="0"/>
              </a:defRPr>
            </a:lvl1pPr>
          </a:lstStyle>
          <a:p>
            <a:r>
              <a:rPr lang="fr-FR" dirty="0"/>
              <a:t>Nom du contact</a:t>
            </a:r>
          </a:p>
        </p:txBody>
      </p:sp>
      <p:sp>
        <p:nvSpPr>
          <p:cNvPr id="3" name="Sous-titre 2">
            <a:extLst>
              <a:ext uri="{FF2B5EF4-FFF2-40B4-BE49-F238E27FC236}">
                <a16:creationId xmlns:a16="http://schemas.microsoft.com/office/drawing/2014/main" id="{B8CA446D-6137-3B12-BD1E-2599511A02D5}"/>
              </a:ext>
            </a:extLst>
          </p:cNvPr>
          <p:cNvSpPr>
            <a:spLocks noGrp="1"/>
          </p:cNvSpPr>
          <p:nvPr>
            <p:ph type="subTitle" idx="1" hasCustomPrompt="1"/>
          </p:nvPr>
        </p:nvSpPr>
        <p:spPr>
          <a:xfrm>
            <a:off x="592667" y="5549661"/>
            <a:ext cx="5839968" cy="842819"/>
          </a:xfrm>
        </p:spPr>
        <p:txBody>
          <a:bodyPr>
            <a:normAutofit/>
          </a:bodyPr>
          <a:lstStyle>
            <a:lvl1pPr marL="0" indent="0" algn="l">
              <a:buNone/>
              <a:defRPr sz="1600" b="0" i="1">
                <a:solidFill>
                  <a:schemeClr val="bg1"/>
                </a:solidFill>
                <a:latin typeface="Arial Nova Cond" panose="020B0506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Coordonnées</a:t>
            </a:r>
          </a:p>
        </p:txBody>
      </p:sp>
      <p:grpSp>
        <p:nvGrpSpPr>
          <p:cNvPr id="14" name="Groupe 13">
            <a:extLst>
              <a:ext uri="{FF2B5EF4-FFF2-40B4-BE49-F238E27FC236}">
                <a16:creationId xmlns:a16="http://schemas.microsoft.com/office/drawing/2014/main" id="{3983B729-1067-981B-92A3-93D88B6F605E}"/>
              </a:ext>
            </a:extLst>
          </p:cNvPr>
          <p:cNvGrpSpPr/>
          <p:nvPr userDrawn="1"/>
        </p:nvGrpSpPr>
        <p:grpSpPr>
          <a:xfrm>
            <a:off x="689674" y="679747"/>
            <a:ext cx="1100669" cy="1242080"/>
            <a:chOff x="5706531" y="490797"/>
            <a:chExt cx="1100669" cy="1242080"/>
          </a:xfrm>
          <a:solidFill>
            <a:srgbClr val="BCDCF1"/>
          </a:solidFill>
        </p:grpSpPr>
        <p:grpSp>
          <p:nvGrpSpPr>
            <p:cNvPr id="15" name="Groupe 14">
              <a:extLst>
                <a:ext uri="{FF2B5EF4-FFF2-40B4-BE49-F238E27FC236}">
                  <a16:creationId xmlns:a16="http://schemas.microsoft.com/office/drawing/2014/main" id="{20F5A30A-B8B9-76A8-E1F3-D39A5F61B0D0}"/>
                </a:ext>
              </a:extLst>
            </p:cNvPr>
            <p:cNvGrpSpPr/>
            <p:nvPr/>
          </p:nvGrpSpPr>
          <p:grpSpPr>
            <a:xfrm>
              <a:off x="5812721" y="490797"/>
              <a:ext cx="890009" cy="889269"/>
              <a:chOff x="2571750" y="2711450"/>
              <a:chExt cx="1439148" cy="1437951"/>
            </a:xfrm>
            <a:grpFill/>
          </p:grpSpPr>
          <p:sp>
            <p:nvSpPr>
              <p:cNvPr id="25" name="Forme libre 24">
                <a:extLst>
                  <a:ext uri="{FF2B5EF4-FFF2-40B4-BE49-F238E27FC236}">
                    <a16:creationId xmlns:a16="http://schemas.microsoft.com/office/drawing/2014/main" id="{293068B8-BCDD-3640-F482-C23282BE3F39}"/>
                  </a:ext>
                </a:extLst>
              </p:cNvPr>
              <p:cNvSpPr/>
              <p:nvPr/>
            </p:nvSpPr>
            <p:spPr>
              <a:xfrm>
                <a:off x="2821538" y="2890124"/>
                <a:ext cx="715298" cy="646365"/>
              </a:xfrm>
              <a:custGeom>
                <a:avLst/>
                <a:gdLst>
                  <a:gd name="connsiteX0" fmla="*/ 0 w 715298"/>
                  <a:gd name="connsiteY0" fmla="*/ 646270 h 646365"/>
                  <a:gd name="connsiteX1" fmla="*/ 173121 w 715298"/>
                  <a:gd name="connsiteY1" fmla="*/ 392704 h 646365"/>
                  <a:gd name="connsiteX2" fmla="*/ 173977 w 715298"/>
                  <a:gd name="connsiteY2" fmla="*/ 391469 h 646365"/>
                  <a:gd name="connsiteX3" fmla="*/ 411495 w 715298"/>
                  <a:gd name="connsiteY3" fmla="*/ 79928 h 646365"/>
                  <a:gd name="connsiteX4" fmla="*/ 574534 w 715298"/>
                  <a:gd name="connsiteY4" fmla="*/ 0 h 646365"/>
                  <a:gd name="connsiteX5" fmla="*/ 692389 w 715298"/>
                  <a:gd name="connsiteY5" fmla="*/ 97131 h 646365"/>
                  <a:gd name="connsiteX6" fmla="*/ 712269 w 715298"/>
                  <a:gd name="connsiteY6" fmla="*/ 437183 h 646365"/>
                  <a:gd name="connsiteX7" fmla="*/ 0 w 715298"/>
                  <a:gd name="connsiteY7" fmla="*/ 646365 h 64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298" h="646365">
                    <a:moveTo>
                      <a:pt x="0" y="646270"/>
                    </a:moveTo>
                    <a:cubicBezTo>
                      <a:pt x="27966" y="604738"/>
                      <a:pt x="84848" y="521103"/>
                      <a:pt x="173121" y="392704"/>
                    </a:cubicBezTo>
                    <a:lnTo>
                      <a:pt x="173977" y="391469"/>
                    </a:lnTo>
                    <a:cubicBezTo>
                      <a:pt x="250835" y="279702"/>
                      <a:pt x="323508" y="174018"/>
                      <a:pt x="411495" y="79928"/>
                    </a:cubicBezTo>
                    <a:cubicBezTo>
                      <a:pt x="457534" y="30603"/>
                      <a:pt x="520029" y="0"/>
                      <a:pt x="574534" y="0"/>
                    </a:cubicBezTo>
                    <a:cubicBezTo>
                      <a:pt x="614960" y="0"/>
                      <a:pt x="668323" y="16822"/>
                      <a:pt x="692389" y="97131"/>
                    </a:cubicBezTo>
                    <a:cubicBezTo>
                      <a:pt x="723494" y="200154"/>
                      <a:pt x="714743" y="392704"/>
                      <a:pt x="712269" y="437183"/>
                    </a:cubicBezTo>
                    <a:cubicBezTo>
                      <a:pt x="660809" y="456286"/>
                      <a:pt x="388857" y="555127"/>
                      <a:pt x="0" y="646365"/>
                    </a:cubicBezTo>
                  </a:path>
                </a:pathLst>
              </a:custGeom>
              <a:grpFill/>
              <a:ln w="9512"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3573FEFB-A28F-E91E-B749-75CAA07CBB9F}"/>
                  </a:ext>
                </a:extLst>
              </p:cNvPr>
              <p:cNvSpPr/>
              <p:nvPr/>
            </p:nvSpPr>
            <p:spPr>
              <a:xfrm>
                <a:off x="2571750" y="2711450"/>
                <a:ext cx="1384492" cy="709566"/>
              </a:xfrm>
              <a:custGeom>
                <a:avLst/>
                <a:gdLst>
                  <a:gd name="connsiteX0" fmla="*/ 0 w 1384492"/>
                  <a:gd name="connsiteY0" fmla="*/ 704910 h 709566"/>
                  <a:gd name="connsiteX1" fmla="*/ 215926 w 1384492"/>
                  <a:gd name="connsiteY1" fmla="*/ 205381 h 709566"/>
                  <a:gd name="connsiteX2" fmla="*/ 719213 w 1384492"/>
                  <a:gd name="connsiteY2" fmla="*/ 0 h 709566"/>
                  <a:gd name="connsiteX3" fmla="*/ 733577 w 1384492"/>
                  <a:gd name="connsiteY3" fmla="*/ 95 h 709566"/>
                  <a:gd name="connsiteX4" fmla="*/ 1384493 w 1384492"/>
                  <a:gd name="connsiteY4" fmla="*/ 443836 h 709566"/>
                  <a:gd name="connsiteX5" fmla="*/ 1104265 w 1384492"/>
                  <a:gd name="connsiteY5" fmla="*/ 562065 h 709566"/>
                  <a:gd name="connsiteX6" fmla="*/ 1037204 w 1384492"/>
                  <a:gd name="connsiteY6" fmla="*/ 206997 h 709566"/>
                  <a:gd name="connsiteX7" fmla="*/ 854381 w 1384492"/>
                  <a:gd name="connsiteY7" fmla="*/ 61491 h 709566"/>
                  <a:gd name="connsiteX8" fmla="*/ 689535 w 1384492"/>
                  <a:gd name="connsiteY8" fmla="*/ 110911 h 709566"/>
                  <a:gd name="connsiteX9" fmla="*/ 327218 w 1384492"/>
                  <a:gd name="connsiteY9" fmla="*/ 398787 h 709566"/>
                  <a:gd name="connsiteX10" fmla="*/ 0 w 1384492"/>
                  <a:gd name="connsiteY10" fmla="*/ 709567 h 709566"/>
                  <a:gd name="connsiteX11" fmla="*/ 0 w 1384492"/>
                  <a:gd name="connsiteY11" fmla="*/ 704910 h 70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4492" h="709566">
                    <a:moveTo>
                      <a:pt x="0" y="704910"/>
                    </a:moveTo>
                    <a:cubicBezTo>
                      <a:pt x="3710" y="515400"/>
                      <a:pt x="80378" y="337961"/>
                      <a:pt x="215926" y="205381"/>
                    </a:cubicBezTo>
                    <a:cubicBezTo>
                      <a:pt x="351284" y="72991"/>
                      <a:pt x="529922" y="0"/>
                      <a:pt x="719213" y="0"/>
                    </a:cubicBezTo>
                    <a:cubicBezTo>
                      <a:pt x="723969" y="0"/>
                      <a:pt x="728821" y="0"/>
                      <a:pt x="733577" y="95"/>
                    </a:cubicBezTo>
                    <a:cubicBezTo>
                      <a:pt x="1020844" y="5702"/>
                      <a:pt x="1274913" y="179435"/>
                      <a:pt x="1384493" y="443836"/>
                    </a:cubicBezTo>
                    <a:cubicBezTo>
                      <a:pt x="1346730" y="461323"/>
                      <a:pt x="1245330" y="507132"/>
                      <a:pt x="1104265" y="562065"/>
                    </a:cubicBezTo>
                    <a:cubicBezTo>
                      <a:pt x="1084955" y="435092"/>
                      <a:pt x="1060414" y="285499"/>
                      <a:pt x="1037204" y="206997"/>
                    </a:cubicBezTo>
                    <a:cubicBezTo>
                      <a:pt x="1009809" y="114523"/>
                      <a:pt x="943224" y="61491"/>
                      <a:pt x="854381" y="61491"/>
                    </a:cubicBezTo>
                    <a:cubicBezTo>
                      <a:pt x="803871" y="61491"/>
                      <a:pt x="748416" y="78123"/>
                      <a:pt x="689535" y="110911"/>
                    </a:cubicBezTo>
                    <a:cubicBezTo>
                      <a:pt x="621333" y="149022"/>
                      <a:pt x="499483" y="245773"/>
                      <a:pt x="327218" y="398787"/>
                    </a:cubicBezTo>
                    <a:cubicBezTo>
                      <a:pt x="189767" y="520818"/>
                      <a:pt x="60783" y="648456"/>
                      <a:pt x="0" y="709567"/>
                    </a:cubicBezTo>
                    <a:cubicBezTo>
                      <a:pt x="0" y="708046"/>
                      <a:pt x="0" y="706525"/>
                      <a:pt x="0" y="704910"/>
                    </a:cubicBezTo>
                  </a:path>
                </a:pathLst>
              </a:custGeom>
              <a:grpFill/>
              <a:ln w="9512"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1A99EC4-B92E-BFB4-9985-4EB2259E196D}"/>
                  </a:ext>
                </a:extLst>
              </p:cNvPr>
              <p:cNvSpPr/>
              <p:nvPr/>
            </p:nvSpPr>
            <p:spPr>
              <a:xfrm>
                <a:off x="2666966" y="3498474"/>
                <a:ext cx="858280" cy="650927"/>
              </a:xfrm>
              <a:custGeom>
                <a:avLst/>
                <a:gdLst>
                  <a:gd name="connsiteX0" fmla="*/ 624568 w 858280"/>
                  <a:gd name="connsiteY0" fmla="*/ 650927 h 650927"/>
                  <a:gd name="connsiteX1" fmla="*/ 610299 w 858280"/>
                  <a:gd name="connsiteY1" fmla="*/ 650737 h 650927"/>
                  <a:gd name="connsiteX2" fmla="*/ 0 w 858280"/>
                  <a:gd name="connsiteY2" fmla="*/ 289681 h 650927"/>
                  <a:gd name="connsiteX3" fmla="*/ 858281 w 858280"/>
                  <a:gd name="connsiteY3" fmla="*/ 0 h 650927"/>
                  <a:gd name="connsiteX4" fmla="*/ 803206 w 858280"/>
                  <a:gd name="connsiteY4" fmla="*/ 628403 h 650927"/>
                  <a:gd name="connsiteX5" fmla="*/ 624568 w 858280"/>
                  <a:gd name="connsiteY5" fmla="*/ 650832 h 65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8280" h="650927">
                    <a:moveTo>
                      <a:pt x="624568" y="650927"/>
                    </a:moveTo>
                    <a:cubicBezTo>
                      <a:pt x="619811" y="650927"/>
                      <a:pt x="615055" y="650927"/>
                      <a:pt x="610299" y="650737"/>
                    </a:cubicBezTo>
                    <a:cubicBezTo>
                      <a:pt x="357942" y="645890"/>
                      <a:pt x="125560" y="507987"/>
                      <a:pt x="0" y="289681"/>
                    </a:cubicBezTo>
                    <a:cubicBezTo>
                      <a:pt x="93409" y="249859"/>
                      <a:pt x="427666" y="112622"/>
                      <a:pt x="858281" y="0"/>
                    </a:cubicBezTo>
                    <a:lnTo>
                      <a:pt x="803206" y="628403"/>
                    </a:lnTo>
                    <a:cubicBezTo>
                      <a:pt x="745086" y="643324"/>
                      <a:pt x="685065" y="650832"/>
                      <a:pt x="624568" y="650832"/>
                    </a:cubicBezTo>
                  </a:path>
                </a:pathLst>
              </a:custGeom>
              <a:grpFill/>
              <a:ln w="9512"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57037F43-6B5B-9FDF-5977-22ED2CBF4585}"/>
                  </a:ext>
                </a:extLst>
              </p:cNvPr>
              <p:cNvSpPr/>
              <p:nvPr/>
            </p:nvSpPr>
            <p:spPr>
              <a:xfrm>
                <a:off x="3700746" y="3401343"/>
                <a:ext cx="310152" cy="574420"/>
              </a:xfrm>
              <a:custGeom>
                <a:avLst/>
                <a:gdLst>
                  <a:gd name="connsiteX0" fmla="*/ 59546 w 310152"/>
                  <a:gd name="connsiteY0" fmla="*/ 574420 h 574420"/>
                  <a:gd name="connsiteX1" fmla="*/ 0 w 310152"/>
                  <a:gd name="connsiteY1" fmla="*/ 55978 h 574420"/>
                  <a:gd name="connsiteX2" fmla="*/ 309525 w 310152"/>
                  <a:gd name="connsiteY2" fmla="*/ 0 h 574420"/>
                  <a:gd name="connsiteX3" fmla="*/ 310001 w 310152"/>
                  <a:gd name="connsiteY3" fmla="*/ 43243 h 574420"/>
                  <a:gd name="connsiteX4" fmla="*/ 59546 w 310152"/>
                  <a:gd name="connsiteY4" fmla="*/ 574420 h 5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152" h="574420">
                    <a:moveTo>
                      <a:pt x="59546" y="574420"/>
                    </a:moveTo>
                    <a:cubicBezTo>
                      <a:pt x="50034" y="483277"/>
                      <a:pt x="24446" y="241686"/>
                      <a:pt x="0" y="55978"/>
                    </a:cubicBezTo>
                    <a:cubicBezTo>
                      <a:pt x="164370" y="23190"/>
                      <a:pt x="266435" y="6653"/>
                      <a:pt x="309525" y="0"/>
                    </a:cubicBezTo>
                    <a:cubicBezTo>
                      <a:pt x="310191" y="14446"/>
                      <a:pt x="310286" y="28892"/>
                      <a:pt x="310001" y="43243"/>
                    </a:cubicBezTo>
                    <a:cubicBezTo>
                      <a:pt x="306006" y="248814"/>
                      <a:pt x="214974" y="440889"/>
                      <a:pt x="59546" y="574420"/>
                    </a:cubicBezTo>
                  </a:path>
                </a:pathLst>
              </a:custGeom>
              <a:grpFill/>
              <a:ln w="9512" cap="flat">
                <a:noFill/>
                <a:prstDash val="solid"/>
                <a:miter/>
              </a:ln>
            </p:spPr>
            <p:txBody>
              <a:bodyPr rtlCol="0" anchor="ctr"/>
              <a:lstStyle/>
              <a:p>
                <a:endParaRPr lang="fr-FR"/>
              </a:p>
            </p:txBody>
          </p:sp>
        </p:grpSp>
        <p:grpSp>
          <p:nvGrpSpPr>
            <p:cNvPr id="16" name="Groupe 15">
              <a:extLst>
                <a:ext uri="{FF2B5EF4-FFF2-40B4-BE49-F238E27FC236}">
                  <a16:creationId xmlns:a16="http://schemas.microsoft.com/office/drawing/2014/main" id="{8ED9B721-A267-4F9A-C8FB-4EDF9035D0FC}"/>
                </a:ext>
              </a:extLst>
            </p:cNvPr>
            <p:cNvGrpSpPr/>
            <p:nvPr/>
          </p:nvGrpSpPr>
          <p:grpSpPr>
            <a:xfrm>
              <a:off x="5706531" y="1530040"/>
              <a:ext cx="1100669" cy="202837"/>
              <a:chOff x="4227814" y="2908087"/>
              <a:chExt cx="5388249" cy="992975"/>
            </a:xfrm>
            <a:grpFill/>
          </p:grpSpPr>
          <p:sp>
            <p:nvSpPr>
              <p:cNvPr id="17" name="Forme libre 16">
                <a:extLst>
                  <a:ext uri="{FF2B5EF4-FFF2-40B4-BE49-F238E27FC236}">
                    <a16:creationId xmlns:a16="http://schemas.microsoft.com/office/drawing/2014/main" id="{954C32A8-2448-2ED4-5AA6-BF5FBA02FF11}"/>
                  </a:ext>
                </a:extLst>
              </p:cNvPr>
              <p:cNvSpPr/>
              <p:nvPr/>
            </p:nvSpPr>
            <p:spPr>
              <a:xfrm>
                <a:off x="4227814" y="2917686"/>
                <a:ext cx="986885" cy="967029"/>
              </a:xfrm>
              <a:custGeom>
                <a:avLst/>
                <a:gdLst>
                  <a:gd name="connsiteX0" fmla="*/ 639692 w 986885"/>
                  <a:gd name="connsiteY0" fmla="*/ 598180 h 967029"/>
                  <a:gd name="connsiteX1" fmla="*/ 490732 w 986885"/>
                  <a:gd name="connsiteY1" fmla="*/ 204906 h 967029"/>
                  <a:gd name="connsiteX2" fmla="*/ 339013 w 986885"/>
                  <a:gd name="connsiteY2" fmla="*/ 598180 h 967029"/>
                  <a:gd name="connsiteX3" fmla="*/ 639787 w 986885"/>
                  <a:gd name="connsiteY3" fmla="*/ 598180 h 967029"/>
                  <a:gd name="connsiteX4" fmla="*/ 421008 w 986885"/>
                  <a:gd name="connsiteY4" fmla="*/ 0 h 967029"/>
                  <a:gd name="connsiteX5" fmla="*/ 569968 w 986885"/>
                  <a:gd name="connsiteY5" fmla="*/ 0 h 967029"/>
                  <a:gd name="connsiteX6" fmla="*/ 986885 w 986885"/>
                  <a:gd name="connsiteY6" fmla="*/ 967029 h 967029"/>
                  <a:gd name="connsiteX7" fmla="*/ 790079 w 986885"/>
                  <a:gd name="connsiteY7" fmla="*/ 967029 h 967029"/>
                  <a:gd name="connsiteX8" fmla="*/ 699904 w 986885"/>
                  <a:gd name="connsiteY8" fmla="*/ 745777 h 967029"/>
                  <a:gd name="connsiteX9" fmla="*/ 280228 w 986885"/>
                  <a:gd name="connsiteY9" fmla="*/ 745777 h 967029"/>
                  <a:gd name="connsiteX10" fmla="*/ 192716 w 986885"/>
                  <a:gd name="connsiteY10" fmla="*/ 967029 h 967029"/>
                  <a:gd name="connsiteX11" fmla="*/ 0 w 986885"/>
                  <a:gd name="connsiteY11" fmla="*/ 967029 h 967029"/>
                  <a:gd name="connsiteX12" fmla="*/ 421008 w 986885"/>
                  <a:gd name="connsiteY12" fmla="*/ 0 h 96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6885" h="967029">
                    <a:moveTo>
                      <a:pt x="639692" y="598180"/>
                    </a:moveTo>
                    <a:lnTo>
                      <a:pt x="490732" y="204906"/>
                    </a:lnTo>
                    <a:lnTo>
                      <a:pt x="339013" y="598180"/>
                    </a:lnTo>
                    <a:lnTo>
                      <a:pt x="639787" y="598180"/>
                    </a:lnTo>
                    <a:close/>
                    <a:moveTo>
                      <a:pt x="421008" y="0"/>
                    </a:moveTo>
                    <a:lnTo>
                      <a:pt x="569968" y="0"/>
                    </a:lnTo>
                    <a:lnTo>
                      <a:pt x="986885" y="967029"/>
                    </a:lnTo>
                    <a:lnTo>
                      <a:pt x="790079" y="967029"/>
                    </a:lnTo>
                    <a:lnTo>
                      <a:pt x="699904" y="745777"/>
                    </a:lnTo>
                    <a:lnTo>
                      <a:pt x="280228" y="745777"/>
                    </a:lnTo>
                    <a:lnTo>
                      <a:pt x="192716" y="967029"/>
                    </a:lnTo>
                    <a:lnTo>
                      <a:pt x="0" y="967029"/>
                    </a:lnTo>
                    <a:lnTo>
                      <a:pt x="421008" y="0"/>
                    </a:lnTo>
                    <a:close/>
                  </a:path>
                </a:pathLst>
              </a:custGeom>
              <a:grpFill/>
              <a:ln w="9512"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E1893580-A1DE-E5E8-0239-182FC8F0EA96}"/>
                  </a:ext>
                </a:extLst>
              </p:cNvPr>
              <p:cNvSpPr/>
              <p:nvPr/>
            </p:nvSpPr>
            <p:spPr>
              <a:xfrm>
                <a:off x="5239146" y="3229036"/>
                <a:ext cx="598789" cy="671930"/>
              </a:xfrm>
              <a:custGeom>
                <a:avLst/>
                <a:gdLst>
                  <a:gd name="connsiteX0" fmla="*/ 598789 w 598789"/>
                  <a:gd name="connsiteY0" fmla="*/ 655584 h 671930"/>
                  <a:gd name="connsiteX1" fmla="*/ 442980 w 598789"/>
                  <a:gd name="connsiteY1" fmla="*/ 655584 h 671930"/>
                  <a:gd name="connsiteX2" fmla="*/ 442980 w 598789"/>
                  <a:gd name="connsiteY2" fmla="*/ 550375 h 671930"/>
                  <a:gd name="connsiteX3" fmla="*/ 440222 w 598789"/>
                  <a:gd name="connsiteY3" fmla="*/ 550375 h 671930"/>
                  <a:gd name="connsiteX4" fmla="*/ 239230 w 598789"/>
                  <a:gd name="connsiteY4" fmla="*/ 671931 h 671930"/>
                  <a:gd name="connsiteX5" fmla="*/ 0 w 598789"/>
                  <a:gd name="connsiteY5" fmla="*/ 413803 h 671930"/>
                  <a:gd name="connsiteX6" fmla="*/ 0 w 598789"/>
                  <a:gd name="connsiteY6" fmla="*/ 0 h 671930"/>
                  <a:gd name="connsiteX7" fmla="*/ 163989 w 598789"/>
                  <a:gd name="connsiteY7" fmla="*/ 0 h 671930"/>
                  <a:gd name="connsiteX8" fmla="*/ 163989 w 598789"/>
                  <a:gd name="connsiteY8" fmla="*/ 331879 h 671930"/>
                  <a:gd name="connsiteX9" fmla="*/ 284318 w 598789"/>
                  <a:gd name="connsiteY9" fmla="*/ 524429 h 671930"/>
                  <a:gd name="connsiteX10" fmla="*/ 434705 w 598789"/>
                  <a:gd name="connsiteY10" fmla="*/ 357825 h 671930"/>
                  <a:gd name="connsiteX11" fmla="*/ 434705 w 598789"/>
                  <a:gd name="connsiteY11" fmla="*/ 0 h 671930"/>
                  <a:gd name="connsiteX12" fmla="*/ 598694 w 598789"/>
                  <a:gd name="connsiteY12" fmla="*/ 0 h 671930"/>
                  <a:gd name="connsiteX13" fmla="*/ 598694 w 598789"/>
                  <a:gd name="connsiteY13" fmla="*/ 655584 h 67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1930">
                    <a:moveTo>
                      <a:pt x="598789" y="655584"/>
                    </a:moveTo>
                    <a:lnTo>
                      <a:pt x="442980" y="655584"/>
                    </a:lnTo>
                    <a:lnTo>
                      <a:pt x="442980" y="550375"/>
                    </a:lnTo>
                    <a:lnTo>
                      <a:pt x="440222" y="550375"/>
                    </a:lnTo>
                    <a:cubicBezTo>
                      <a:pt x="410164" y="615858"/>
                      <a:pt x="348620" y="671931"/>
                      <a:pt x="239230" y="671931"/>
                    </a:cubicBezTo>
                    <a:cubicBezTo>
                      <a:pt x="62875" y="671931"/>
                      <a:pt x="0" y="547619"/>
                      <a:pt x="0" y="413803"/>
                    </a:cubicBezTo>
                    <a:lnTo>
                      <a:pt x="0" y="0"/>
                    </a:lnTo>
                    <a:lnTo>
                      <a:pt x="163989" y="0"/>
                    </a:lnTo>
                    <a:lnTo>
                      <a:pt x="163989" y="331879"/>
                    </a:lnTo>
                    <a:cubicBezTo>
                      <a:pt x="163989" y="404299"/>
                      <a:pt x="169506" y="524429"/>
                      <a:pt x="284318" y="524429"/>
                    </a:cubicBezTo>
                    <a:cubicBezTo>
                      <a:pt x="392281" y="524429"/>
                      <a:pt x="434705" y="445261"/>
                      <a:pt x="434705" y="357825"/>
                    </a:cubicBezTo>
                    <a:lnTo>
                      <a:pt x="434705" y="0"/>
                    </a:lnTo>
                    <a:lnTo>
                      <a:pt x="598694" y="0"/>
                    </a:lnTo>
                    <a:lnTo>
                      <a:pt x="598694" y="655584"/>
                    </a:lnTo>
                    <a:close/>
                  </a:path>
                </a:pathLst>
              </a:custGeom>
              <a:grpFill/>
              <a:ln w="9512"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47D9A284-3B86-756D-99A2-E8BCFF28C157}"/>
                  </a:ext>
                </a:extLst>
              </p:cNvPr>
              <p:cNvSpPr/>
              <p:nvPr/>
            </p:nvSpPr>
            <p:spPr>
              <a:xfrm>
                <a:off x="5922688" y="2917686"/>
                <a:ext cx="708084" cy="983376"/>
              </a:xfrm>
              <a:custGeom>
                <a:avLst/>
                <a:gdLst>
                  <a:gd name="connsiteX0" fmla="*/ 356801 w 708084"/>
                  <a:gd name="connsiteY0" fmla="*/ 835779 h 983376"/>
                  <a:gd name="connsiteX1" fmla="*/ 549517 w 708084"/>
                  <a:gd name="connsiteY1" fmla="*/ 639142 h 983376"/>
                  <a:gd name="connsiteX2" fmla="*/ 356801 w 708084"/>
                  <a:gd name="connsiteY2" fmla="*/ 442505 h 983376"/>
                  <a:gd name="connsiteX3" fmla="*/ 164085 w 708084"/>
                  <a:gd name="connsiteY3" fmla="*/ 639142 h 983376"/>
                  <a:gd name="connsiteX4" fmla="*/ 356801 w 708084"/>
                  <a:gd name="connsiteY4" fmla="*/ 835779 h 983376"/>
                  <a:gd name="connsiteX5" fmla="*/ 552275 w 708084"/>
                  <a:gd name="connsiteY5" fmla="*/ 868568 h 983376"/>
                  <a:gd name="connsiteX6" fmla="*/ 549517 w 708084"/>
                  <a:gd name="connsiteY6" fmla="*/ 868568 h 983376"/>
                  <a:gd name="connsiteX7" fmla="*/ 323984 w 708084"/>
                  <a:gd name="connsiteY7" fmla="*/ 983376 h 983376"/>
                  <a:gd name="connsiteX8" fmla="*/ 0 w 708084"/>
                  <a:gd name="connsiteY8" fmla="*/ 639237 h 983376"/>
                  <a:gd name="connsiteX9" fmla="*/ 317135 w 708084"/>
                  <a:gd name="connsiteY9" fmla="*/ 295003 h 983376"/>
                  <a:gd name="connsiteX10" fmla="*/ 540004 w 708084"/>
                  <a:gd name="connsiteY10" fmla="*/ 394700 h 983376"/>
                  <a:gd name="connsiteX11" fmla="*/ 544000 w 708084"/>
                  <a:gd name="connsiteY11" fmla="*/ 394700 h 983376"/>
                  <a:gd name="connsiteX12" fmla="*/ 544000 w 708084"/>
                  <a:gd name="connsiteY12" fmla="*/ 0 h 983376"/>
                  <a:gd name="connsiteX13" fmla="*/ 708084 w 708084"/>
                  <a:gd name="connsiteY13" fmla="*/ 0 h 983376"/>
                  <a:gd name="connsiteX14" fmla="*/ 708084 w 708084"/>
                  <a:gd name="connsiteY14" fmla="*/ 966934 h 983376"/>
                  <a:gd name="connsiteX15" fmla="*/ 552275 w 708084"/>
                  <a:gd name="connsiteY15" fmla="*/ 966934 h 983376"/>
                  <a:gd name="connsiteX16" fmla="*/ 552275 w 708084"/>
                  <a:gd name="connsiteY16" fmla="*/ 868568 h 9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8084" h="983376">
                    <a:moveTo>
                      <a:pt x="356801" y="835779"/>
                    </a:moveTo>
                    <a:cubicBezTo>
                      <a:pt x="477129" y="835779"/>
                      <a:pt x="549517" y="741595"/>
                      <a:pt x="549517" y="639142"/>
                    </a:cubicBezTo>
                    <a:cubicBezTo>
                      <a:pt x="549517" y="536689"/>
                      <a:pt x="477034" y="442505"/>
                      <a:pt x="356801" y="442505"/>
                    </a:cubicBezTo>
                    <a:cubicBezTo>
                      <a:pt x="236567" y="442505"/>
                      <a:pt x="164085" y="536689"/>
                      <a:pt x="164085" y="639142"/>
                    </a:cubicBezTo>
                    <a:cubicBezTo>
                      <a:pt x="164085" y="741595"/>
                      <a:pt x="236567" y="835779"/>
                      <a:pt x="356801" y="835779"/>
                    </a:cubicBezTo>
                    <a:moveTo>
                      <a:pt x="552275" y="868568"/>
                    </a:moveTo>
                    <a:lnTo>
                      <a:pt x="549517" y="868568"/>
                    </a:lnTo>
                    <a:cubicBezTo>
                      <a:pt x="501670" y="947831"/>
                      <a:pt x="415586" y="983376"/>
                      <a:pt x="323984" y="983376"/>
                    </a:cubicBezTo>
                    <a:cubicBezTo>
                      <a:pt x="121660" y="983376"/>
                      <a:pt x="0" y="833118"/>
                      <a:pt x="0" y="639237"/>
                    </a:cubicBezTo>
                    <a:cubicBezTo>
                      <a:pt x="0" y="445356"/>
                      <a:pt x="129841" y="295003"/>
                      <a:pt x="317135" y="295003"/>
                    </a:cubicBezTo>
                    <a:cubicBezTo>
                      <a:pt x="440127" y="295003"/>
                      <a:pt x="505761" y="352407"/>
                      <a:pt x="540004" y="394700"/>
                    </a:cubicBezTo>
                    <a:lnTo>
                      <a:pt x="544000" y="394700"/>
                    </a:lnTo>
                    <a:lnTo>
                      <a:pt x="544000" y="0"/>
                    </a:lnTo>
                    <a:lnTo>
                      <a:pt x="708084" y="0"/>
                    </a:lnTo>
                    <a:lnTo>
                      <a:pt x="708084" y="966934"/>
                    </a:lnTo>
                    <a:lnTo>
                      <a:pt x="552275" y="966934"/>
                    </a:lnTo>
                    <a:lnTo>
                      <a:pt x="552275" y="868568"/>
                    </a:lnTo>
                    <a:close/>
                  </a:path>
                </a:pathLst>
              </a:custGeom>
              <a:grpFill/>
              <a:ln w="951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5AF49FFC-8EB0-33B2-8409-0EB674281EE3}"/>
                  </a:ext>
                </a:extLst>
              </p:cNvPr>
              <p:cNvSpPr/>
              <p:nvPr/>
            </p:nvSpPr>
            <p:spPr>
              <a:xfrm>
                <a:off x="6715430" y="3212594"/>
                <a:ext cx="664328" cy="688372"/>
              </a:xfrm>
              <a:custGeom>
                <a:avLst/>
                <a:gdLst>
                  <a:gd name="connsiteX0" fmla="*/ 500339 w 664328"/>
                  <a:gd name="connsiteY0" fmla="*/ 278657 h 688372"/>
                  <a:gd name="connsiteX1" fmla="*/ 333591 w 664328"/>
                  <a:gd name="connsiteY1" fmla="*/ 122981 h 688372"/>
                  <a:gd name="connsiteX2" fmla="*/ 164085 w 664328"/>
                  <a:gd name="connsiteY2" fmla="*/ 278657 h 688372"/>
                  <a:gd name="connsiteX3" fmla="*/ 500339 w 664328"/>
                  <a:gd name="connsiteY3" fmla="*/ 278657 h 688372"/>
                  <a:gd name="connsiteX4" fmla="*/ 164085 w 664328"/>
                  <a:gd name="connsiteY4" fmla="*/ 401543 h 688372"/>
                  <a:gd name="connsiteX5" fmla="*/ 340440 w 664328"/>
                  <a:gd name="connsiteY5" fmla="*/ 557218 h 688372"/>
                  <a:gd name="connsiteX6" fmla="*/ 516795 w 664328"/>
                  <a:gd name="connsiteY6" fmla="*/ 468451 h 688372"/>
                  <a:gd name="connsiteX7" fmla="*/ 634365 w 664328"/>
                  <a:gd name="connsiteY7" fmla="*/ 557218 h 688372"/>
                  <a:gd name="connsiteX8" fmla="*/ 356801 w 664328"/>
                  <a:gd name="connsiteY8" fmla="*/ 688373 h 688372"/>
                  <a:gd name="connsiteX9" fmla="*/ 0 w 664328"/>
                  <a:gd name="connsiteY9" fmla="*/ 344234 h 688372"/>
                  <a:gd name="connsiteX10" fmla="*/ 356801 w 664328"/>
                  <a:gd name="connsiteY10" fmla="*/ 0 h 688372"/>
                  <a:gd name="connsiteX11" fmla="*/ 664328 w 664328"/>
                  <a:gd name="connsiteY11" fmla="*/ 356494 h 688372"/>
                  <a:gd name="connsiteX12" fmla="*/ 664328 w 664328"/>
                  <a:gd name="connsiteY12" fmla="*/ 401543 h 688372"/>
                  <a:gd name="connsiteX13" fmla="*/ 163989 w 664328"/>
                  <a:gd name="connsiteY13" fmla="*/ 401543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4328" h="688372">
                    <a:moveTo>
                      <a:pt x="500339" y="278657"/>
                    </a:moveTo>
                    <a:cubicBezTo>
                      <a:pt x="498912" y="183047"/>
                      <a:pt x="436037" y="122981"/>
                      <a:pt x="333591" y="122981"/>
                    </a:cubicBezTo>
                    <a:cubicBezTo>
                      <a:pt x="236472" y="122981"/>
                      <a:pt x="176355" y="184472"/>
                      <a:pt x="164085" y="278657"/>
                    </a:cubicBezTo>
                    <a:lnTo>
                      <a:pt x="500339" y="278657"/>
                    </a:lnTo>
                    <a:close/>
                    <a:moveTo>
                      <a:pt x="164085" y="401543"/>
                    </a:moveTo>
                    <a:cubicBezTo>
                      <a:pt x="175023" y="498578"/>
                      <a:pt x="248838" y="557218"/>
                      <a:pt x="340440" y="557218"/>
                    </a:cubicBezTo>
                    <a:cubicBezTo>
                      <a:pt x="422434" y="557218"/>
                      <a:pt x="475703" y="519012"/>
                      <a:pt x="516795" y="468451"/>
                    </a:cubicBezTo>
                    <a:lnTo>
                      <a:pt x="634365" y="557218"/>
                    </a:lnTo>
                    <a:cubicBezTo>
                      <a:pt x="557792" y="651402"/>
                      <a:pt x="460673" y="688373"/>
                      <a:pt x="356801" y="688373"/>
                    </a:cubicBezTo>
                    <a:cubicBezTo>
                      <a:pt x="158568" y="688373"/>
                      <a:pt x="0" y="550470"/>
                      <a:pt x="0" y="344234"/>
                    </a:cubicBezTo>
                    <a:cubicBezTo>
                      <a:pt x="0" y="137998"/>
                      <a:pt x="158568" y="0"/>
                      <a:pt x="356801" y="0"/>
                    </a:cubicBezTo>
                    <a:cubicBezTo>
                      <a:pt x="540005" y="0"/>
                      <a:pt x="664328" y="128399"/>
                      <a:pt x="664328" y="356494"/>
                    </a:cubicBezTo>
                    <a:lnTo>
                      <a:pt x="664328" y="401543"/>
                    </a:lnTo>
                    <a:lnTo>
                      <a:pt x="163989" y="401543"/>
                    </a:lnTo>
                    <a:close/>
                  </a:path>
                </a:pathLst>
              </a:custGeom>
              <a:grpFill/>
              <a:ln w="951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82B2538B-6B25-0FBA-ADDC-F8ADDE9460DB}"/>
                  </a:ext>
                </a:extLst>
              </p:cNvPr>
              <p:cNvSpPr/>
              <p:nvPr/>
            </p:nvSpPr>
            <p:spPr>
              <a:xfrm>
                <a:off x="7464417" y="3212689"/>
                <a:ext cx="598789" cy="672025"/>
              </a:xfrm>
              <a:custGeom>
                <a:avLst/>
                <a:gdLst>
                  <a:gd name="connsiteX0" fmla="*/ 95 w 598789"/>
                  <a:gd name="connsiteY0" fmla="*/ 16347 h 672025"/>
                  <a:gd name="connsiteX1" fmla="*/ 155904 w 598789"/>
                  <a:gd name="connsiteY1" fmla="*/ 16347 h 672025"/>
                  <a:gd name="connsiteX2" fmla="*/ 155904 w 598789"/>
                  <a:gd name="connsiteY2" fmla="*/ 121556 h 672025"/>
                  <a:gd name="connsiteX3" fmla="*/ 158568 w 598789"/>
                  <a:gd name="connsiteY3" fmla="*/ 121556 h 672025"/>
                  <a:gd name="connsiteX4" fmla="*/ 359559 w 598789"/>
                  <a:gd name="connsiteY4" fmla="*/ 0 h 672025"/>
                  <a:gd name="connsiteX5" fmla="*/ 598790 w 598789"/>
                  <a:gd name="connsiteY5" fmla="*/ 258128 h 672025"/>
                  <a:gd name="connsiteX6" fmla="*/ 598790 w 598789"/>
                  <a:gd name="connsiteY6" fmla="*/ 672026 h 672025"/>
                  <a:gd name="connsiteX7" fmla="*/ 434705 w 598789"/>
                  <a:gd name="connsiteY7" fmla="*/ 672026 h 672025"/>
                  <a:gd name="connsiteX8" fmla="*/ 434705 w 598789"/>
                  <a:gd name="connsiteY8" fmla="*/ 340147 h 672025"/>
                  <a:gd name="connsiteX9" fmla="*/ 314376 w 598789"/>
                  <a:gd name="connsiteY9" fmla="*/ 147597 h 672025"/>
                  <a:gd name="connsiteX10" fmla="*/ 163989 w 598789"/>
                  <a:gd name="connsiteY10" fmla="*/ 314201 h 672025"/>
                  <a:gd name="connsiteX11" fmla="*/ 163989 w 598789"/>
                  <a:gd name="connsiteY11" fmla="*/ 672026 h 672025"/>
                  <a:gd name="connsiteX12" fmla="*/ 0 w 598789"/>
                  <a:gd name="connsiteY12" fmla="*/ 672026 h 672025"/>
                  <a:gd name="connsiteX13" fmla="*/ 0 w 598789"/>
                  <a:gd name="connsiteY13" fmla="*/ 16347 h 67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789" h="672025">
                    <a:moveTo>
                      <a:pt x="95" y="16347"/>
                    </a:moveTo>
                    <a:lnTo>
                      <a:pt x="155904" y="16347"/>
                    </a:lnTo>
                    <a:lnTo>
                      <a:pt x="155904" y="121556"/>
                    </a:lnTo>
                    <a:lnTo>
                      <a:pt x="158568" y="121556"/>
                    </a:lnTo>
                    <a:cubicBezTo>
                      <a:pt x="188721" y="56073"/>
                      <a:pt x="250265" y="0"/>
                      <a:pt x="359559" y="0"/>
                    </a:cubicBezTo>
                    <a:cubicBezTo>
                      <a:pt x="535915" y="0"/>
                      <a:pt x="598790" y="124312"/>
                      <a:pt x="598790" y="258128"/>
                    </a:cubicBezTo>
                    <a:lnTo>
                      <a:pt x="598790" y="672026"/>
                    </a:lnTo>
                    <a:lnTo>
                      <a:pt x="434705" y="672026"/>
                    </a:lnTo>
                    <a:lnTo>
                      <a:pt x="434705" y="340147"/>
                    </a:lnTo>
                    <a:cubicBezTo>
                      <a:pt x="434705" y="267822"/>
                      <a:pt x="429283" y="147597"/>
                      <a:pt x="314376" y="147597"/>
                    </a:cubicBezTo>
                    <a:cubicBezTo>
                      <a:pt x="206414" y="147597"/>
                      <a:pt x="163989" y="226860"/>
                      <a:pt x="163989" y="314201"/>
                    </a:cubicBezTo>
                    <a:lnTo>
                      <a:pt x="163989" y="672026"/>
                    </a:lnTo>
                    <a:lnTo>
                      <a:pt x="0" y="672026"/>
                    </a:lnTo>
                    <a:lnTo>
                      <a:pt x="0" y="16347"/>
                    </a:lnTo>
                    <a:close/>
                  </a:path>
                </a:pathLst>
              </a:custGeom>
              <a:grpFill/>
              <a:ln w="9512"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B45DE06D-7DB7-7CE6-B62B-FF889C4BEE14}"/>
                  </a:ext>
                </a:extLst>
              </p:cNvPr>
              <p:cNvSpPr/>
              <p:nvPr/>
            </p:nvSpPr>
            <p:spPr>
              <a:xfrm>
                <a:off x="8147865" y="3212689"/>
                <a:ext cx="594603" cy="688372"/>
              </a:xfrm>
              <a:custGeom>
                <a:avLst/>
                <a:gdLst>
                  <a:gd name="connsiteX0" fmla="*/ 481219 w 594603"/>
                  <a:gd name="connsiteY0" fmla="*/ 213079 h 688372"/>
                  <a:gd name="connsiteX1" fmla="*/ 356800 w 594603"/>
                  <a:gd name="connsiteY1" fmla="*/ 147502 h 688372"/>
                  <a:gd name="connsiteX2" fmla="*/ 163989 w 594603"/>
                  <a:gd name="connsiteY2" fmla="*/ 344139 h 688372"/>
                  <a:gd name="connsiteX3" fmla="*/ 356800 w 594603"/>
                  <a:gd name="connsiteY3" fmla="*/ 540776 h 688372"/>
                  <a:gd name="connsiteX4" fmla="*/ 483883 w 594603"/>
                  <a:gd name="connsiteY4" fmla="*/ 479380 h 688372"/>
                  <a:gd name="connsiteX5" fmla="*/ 593273 w 594603"/>
                  <a:gd name="connsiteY5" fmla="*/ 596850 h 688372"/>
                  <a:gd name="connsiteX6" fmla="*/ 356800 w 594603"/>
                  <a:gd name="connsiteY6" fmla="*/ 688373 h 688372"/>
                  <a:gd name="connsiteX7" fmla="*/ 0 w 594603"/>
                  <a:gd name="connsiteY7" fmla="*/ 344139 h 688372"/>
                  <a:gd name="connsiteX8" fmla="*/ 356800 w 594603"/>
                  <a:gd name="connsiteY8" fmla="*/ 0 h 688372"/>
                  <a:gd name="connsiteX9" fmla="*/ 594604 w 594603"/>
                  <a:gd name="connsiteY9" fmla="*/ 99697 h 688372"/>
                  <a:gd name="connsiteX10" fmla="*/ 481124 w 594603"/>
                  <a:gd name="connsiteY10" fmla="*/ 212984 h 688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4603" h="688372">
                    <a:moveTo>
                      <a:pt x="481219" y="213079"/>
                    </a:moveTo>
                    <a:cubicBezTo>
                      <a:pt x="442885" y="173447"/>
                      <a:pt x="400556" y="147502"/>
                      <a:pt x="356800" y="147502"/>
                    </a:cubicBezTo>
                    <a:cubicBezTo>
                      <a:pt x="236472" y="147502"/>
                      <a:pt x="163989" y="241686"/>
                      <a:pt x="163989" y="344139"/>
                    </a:cubicBezTo>
                    <a:cubicBezTo>
                      <a:pt x="163989" y="446592"/>
                      <a:pt x="236472" y="540776"/>
                      <a:pt x="356800" y="540776"/>
                    </a:cubicBezTo>
                    <a:cubicBezTo>
                      <a:pt x="407310" y="540776"/>
                      <a:pt x="453824" y="519012"/>
                      <a:pt x="483883" y="479380"/>
                    </a:cubicBezTo>
                    <a:lnTo>
                      <a:pt x="593273" y="596850"/>
                    </a:lnTo>
                    <a:cubicBezTo>
                      <a:pt x="526307" y="663758"/>
                      <a:pt x="414159" y="688373"/>
                      <a:pt x="356800" y="688373"/>
                    </a:cubicBezTo>
                    <a:cubicBezTo>
                      <a:pt x="158567" y="688373"/>
                      <a:pt x="0" y="550375"/>
                      <a:pt x="0" y="344139"/>
                    </a:cubicBezTo>
                    <a:cubicBezTo>
                      <a:pt x="0" y="137903"/>
                      <a:pt x="158567" y="0"/>
                      <a:pt x="356800" y="0"/>
                    </a:cubicBezTo>
                    <a:cubicBezTo>
                      <a:pt x="440222" y="0"/>
                      <a:pt x="531729" y="30033"/>
                      <a:pt x="594604" y="99697"/>
                    </a:cubicBezTo>
                    <a:lnTo>
                      <a:pt x="481124" y="212984"/>
                    </a:lnTo>
                    <a:close/>
                  </a:path>
                </a:pathLst>
              </a:custGeom>
              <a:grpFill/>
              <a:ln w="9512"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12BD76DA-1C9F-5902-44E1-4A5F7B9829C5}"/>
                  </a:ext>
                </a:extLst>
              </p:cNvPr>
              <p:cNvSpPr/>
              <p:nvPr/>
            </p:nvSpPr>
            <p:spPr>
              <a:xfrm>
                <a:off x="8750745" y="2908087"/>
                <a:ext cx="210408" cy="976533"/>
              </a:xfrm>
              <a:custGeom>
                <a:avLst/>
                <a:gdLst>
                  <a:gd name="connsiteX0" fmla="*/ 23210 w 210408"/>
                  <a:gd name="connsiteY0" fmla="*/ 320949 h 976533"/>
                  <a:gd name="connsiteX1" fmla="*/ 187294 w 210408"/>
                  <a:gd name="connsiteY1" fmla="*/ 320949 h 976533"/>
                  <a:gd name="connsiteX2" fmla="*/ 187294 w 210408"/>
                  <a:gd name="connsiteY2" fmla="*/ 976533 h 976533"/>
                  <a:gd name="connsiteX3" fmla="*/ 23210 w 210408"/>
                  <a:gd name="connsiteY3" fmla="*/ 976533 h 976533"/>
                  <a:gd name="connsiteX4" fmla="*/ 23210 w 210408"/>
                  <a:gd name="connsiteY4" fmla="*/ 320949 h 976533"/>
                  <a:gd name="connsiteX5" fmla="*/ 103872 w 210408"/>
                  <a:gd name="connsiteY5" fmla="*/ 0 h 976533"/>
                  <a:gd name="connsiteX6" fmla="*/ 210409 w 210408"/>
                  <a:gd name="connsiteY6" fmla="*/ 98271 h 976533"/>
                  <a:gd name="connsiteX7" fmla="*/ 103872 w 210408"/>
                  <a:gd name="connsiteY7" fmla="*/ 196637 h 976533"/>
                  <a:gd name="connsiteX8" fmla="*/ 0 w 210408"/>
                  <a:gd name="connsiteY8" fmla="*/ 98271 h 976533"/>
                  <a:gd name="connsiteX9" fmla="*/ 103872 w 210408"/>
                  <a:gd name="connsiteY9" fmla="*/ 0 h 97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408" h="976533">
                    <a:moveTo>
                      <a:pt x="23210" y="320949"/>
                    </a:moveTo>
                    <a:lnTo>
                      <a:pt x="187294" y="320949"/>
                    </a:lnTo>
                    <a:lnTo>
                      <a:pt x="187294" y="976533"/>
                    </a:lnTo>
                    <a:lnTo>
                      <a:pt x="23210" y="976533"/>
                    </a:lnTo>
                    <a:lnTo>
                      <a:pt x="23210" y="320949"/>
                    </a:lnTo>
                    <a:close/>
                    <a:moveTo>
                      <a:pt x="103872" y="0"/>
                    </a:moveTo>
                    <a:cubicBezTo>
                      <a:pt x="163989" y="0"/>
                      <a:pt x="210409" y="42293"/>
                      <a:pt x="210409" y="98271"/>
                    </a:cubicBezTo>
                    <a:cubicBezTo>
                      <a:pt x="210409" y="154249"/>
                      <a:pt x="163989" y="196637"/>
                      <a:pt x="103872" y="196637"/>
                    </a:cubicBezTo>
                    <a:cubicBezTo>
                      <a:pt x="43756" y="196637"/>
                      <a:pt x="0" y="150163"/>
                      <a:pt x="0" y="98271"/>
                    </a:cubicBezTo>
                    <a:cubicBezTo>
                      <a:pt x="0" y="46379"/>
                      <a:pt x="43756" y="0"/>
                      <a:pt x="103872" y="0"/>
                    </a:cubicBezTo>
                  </a:path>
                </a:pathLst>
              </a:custGeom>
              <a:grpFill/>
              <a:ln w="9512"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B09702B-0C60-4631-33F5-3FA7D541CC4A}"/>
                  </a:ext>
                </a:extLst>
              </p:cNvPr>
              <p:cNvSpPr/>
              <p:nvPr/>
            </p:nvSpPr>
            <p:spPr>
              <a:xfrm>
                <a:off x="9014611" y="3212499"/>
                <a:ext cx="601452" cy="688467"/>
              </a:xfrm>
              <a:custGeom>
                <a:avLst/>
                <a:gdLst>
                  <a:gd name="connsiteX0" fmla="*/ 444217 w 601452"/>
                  <a:gd name="connsiteY0" fmla="*/ 378448 h 688467"/>
                  <a:gd name="connsiteX1" fmla="*/ 410068 w 601452"/>
                  <a:gd name="connsiteY1" fmla="*/ 378448 h 688467"/>
                  <a:gd name="connsiteX2" fmla="*/ 163989 w 601452"/>
                  <a:gd name="connsiteY2" fmla="*/ 479571 h 688467"/>
                  <a:gd name="connsiteX3" fmla="*/ 278801 w 601452"/>
                  <a:gd name="connsiteY3" fmla="*/ 565582 h 688467"/>
                  <a:gd name="connsiteX4" fmla="*/ 444217 w 601452"/>
                  <a:gd name="connsiteY4" fmla="*/ 415419 h 688467"/>
                  <a:gd name="connsiteX5" fmla="*/ 444217 w 601452"/>
                  <a:gd name="connsiteY5" fmla="*/ 378543 h 688467"/>
                  <a:gd name="connsiteX6" fmla="*/ 453824 w 601452"/>
                  <a:gd name="connsiteY6" fmla="*/ 581928 h 688467"/>
                  <a:gd name="connsiteX7" fmla="*/ 449734 w 601452"/>
                  <a:gd name="connsiteY7" fmla="*/ 581928 h 688467"/>
                  <a:gd name="connsiteX8" fmla="*/ 239230 w 601452"/>
                  <a:gd name="connsiteY8" fmla="*/ 688468 h 688467"/>
                  <a:gd name="connsiteX9" fmla="*/ 0 w 601452"/>
                  <a:gd name="connsiteY9" fmla="*/ 491736 h 688467"/>
                  <a:gd name="connsiteX10" fmla="*/ 412827 w 601452"/>
                  <a:gd name="connsiteY10" fmla="*/ 263640 h 688467"/>
                  <a:gd name="connsiteX11" fmla="*/ 453824 w 601452"/>
                  <a:gd name="connsiteY11" fmla="*/ 263640 h 688467"/>
                  <a:gd name="connsiteX12" fmla="*/ 453824 w 601452"/>
                  <a:gd name="connsiteY12" fmla="*/ 245868 h 688467"/>
                  <a:gd name="connsiteX13" fmla="*/ 303437 w 601452"/>
                  <a:gd name="connsiteY13" fmla="*/ 122981 h 688467"/>
                  <a:gd name="connsiteX14" fmla="*/ 128509 w 601452"/>
                  <a:gd name="connsiteY14" fmla="*/ 191220 h 688467"/>
                  <a:gd name="connsiteX15" fmla="*/ 42424 w 601452"/>
                  <a:gd name="connsiteY15" fmla="*/ 105209 h 688467"/>
                  <a:gd name="connsiteX16" fmla="*/ 321225 w 601452"/>
                  <a:gd name="connsiteY16" fmla="*/ 0 h 688467"/>
                  <a:gd name="connsiteX17" fmla="*/ 601453 w 601452"/>
                  <a:gd name="connsiteY17" fmla="*/ 295003 h 688467"/>
                  <a:gd name="connsiteX18" fmla="*/ 601453 w 601452"/>
                  <a:gd name="connsiteY18" fmla="*/ 672026 h 688467"/>
                  <a:gd name="connsiteX19" fmla="*/ 453824 w 601452"/>
                  <a:gd name="connsiteY19" fmla="*/ 672026 h 688467"/>
                  <a:gd name="connsiteX20" fmla="*/ 453824 w 601452"/>
                  <a:gd name="connsiteY20" fmla="*/ 581833 h 68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1452" h="688467">
                    <a:moveTo>
                      <a:pt x="444217" y="378448"/>
                    </a:moveTo>
                    <a:lnTo>
                      <a:pt x="410068" y="378448"/>
                    </a:lnTo>
                    <a:cubicBezTo>
                      <a:pt x="319798" y="378448"/>
                      <a:pt x="163989" y="385291"/>
                      <a:pt x="163989" y="479571"/>
                    </a:cubicBezTo>
                    <a:cubicBezTo>
                      <a:pt x="163989" y="539636"/>
                      <a:pt x="225438" y="565582"/>
                      <a:pt x="278801" y="565582"/>
                    </a:cubicBezTo>
                    <a:cubicBezTo>
                      <a:pt x="390854" y="565582"/>
                      <a:pt x="444217" y="506847"/>
                      <a:pt x="444217" y="415419"/>
                    </a:cubicBezTo>
                    <a:lnTo>
                      <a:pt x="444217" y="378543"/>
                    </a:lnTo>
                    <a:close/>
                    <a:moveTo>
                      <a:pt x="453824" y="581928"/>
                    </a:moveTo>
                    <a:lnTo>
                      <a:pt x="449734" y="581928"/>
                    </a:lnTo>
                    <a:cubicBezTo>
                      <a:pt x="403315" y="655679"/>
                      <a:pt x="326742" y="688468"/>
                      <a:pt x="239230" y="688468"/>
                    </a:cubicBezTo>
                    <a:cubicBezTo>
                      <a:pt x="117570" y="688468"/>
                      <a:pt x="0" y="621560"/>
                      <a:pt x="0" y="491736"/>
                    </a:cubicBezTo>
                    <a:cubicBezTo>
                      <a:pt x="0" y="278752"/>
                      <a:pt x="248837" y="263640"/>
                      <a:pt x="412827" y="263640"/>
                    </a:cubicBezTo>
                    <a:lnTo>
                      <a:pt x="453824" y="263640"/>
                    </a:lnTo>
                    <a:lnTo>
                      <a:pt x="453824" y="245868"/>
                    </a:lnTo>
                    <a:cubicBezTo>
                      <a:pt x="453824" y="165274"/>
                      <a:pt x="390949" y="122981"/>
                      <a:pt x="303437" y="122981"/>
                    </a:cubicBezTo>
                    <a:cubicBezTo>
                      <a:pt x="235140" y="122981"/>
                      <a:pt x="172265" y="150258"/>
                      <a:pt x="128509" y="191220"/>
                    </a:cubicBezTo>
                    <a:lnTo>
                      <a:pt x="42424" y="105209"/>
                    </a:lnTo>
                    <a:cubicBezTo>
                      <a:pt x="114906" y="31458"/>
                      <a:pt x="217352" y="0"/>
                      <a:pt x="321225" y="0"/>
                    </a:cubicBezTo>
                    <a:cubicBezTo>
                      <a:pt x="601453" y="0"/>
                      <a:pt x="601453" y="202149"/>
                      <a:pt x="601453" y="295003"/>
                    </a:cubicBezTo>
                    <a:lnTo>
                      <a:pt x="601453" y="672026"/>
                    </a:lnTo>
                    <a:lnTo>
                      <a:pt x="453824" y="672026"/>
                    </a:lnTo>
                    <a:lnTo>
                      <a:pt x="453824" y="581833"/>
                    </a:lnTo>
                    <a:close/>
                  </a:path>
                </a:pathLst>
              </a:custGeom>
              <a:grpFill/>
              <a:ln w="9512" cap="flat">
                <a:noFill/>
                <a:prstDash val="solid"/>
                <a:miter/>
              </a:ln>
            </p:spPr>
            <p:txBody>
              <a:bodyPr rtlCol="0" anchor="ctr"/>
              <a:lstStyle/>
              <a:p>
                <a:endParaRPr lang="fr-FR"/>
              </a:p>
            </p:txBody>
          </p:sp>
        </p:grpSp>
      </p:grpSp>
      <p:sp>
        <p:nvSpPr>
          <p:cNvPr id="4" name="ZoneTexte 3">
            <a:extLst>
              <a:ext uri="{FF2B5EF4-FFF2-40B4-BE49-F238E27FC236}">
                <a16:creationId xmlns:a16="http://schemas.microsoft.com/office/drawing/2014/main" id="{CC8D416C-2C88-FB21-AE10-9B5AB8638E0A}"/>
              </a:ext>
            </a:extLst>
          </p:cNvPr>
          <p:cNvSpPr txBox="1"/>
          <p:nvPr userDrawn="1"/>
        </p:nvSpPr>
        <p:spPr>
          <a:xfrm>
            <a:off x="689674" y="2021620"/>
            <a:ext cx="1100669" cy="246221"/>
          </a:xfrm>
          <a:prstGeom prst="rect">
            <a:avLst/>
          </a:prstGeom>
          <a:noFill/>
        </p:spPr>
        <p:txBody>
          <a:bodyPr wrap="square" rtlCol="0">
            <a:spAutoFit/>
          </a:bodyPr>
          <a:lstStyle/>
          <a:p>
            <a:pPr algn="ctr"/>
            <a:r>
              <a:rPr lang="fr-FR" sz="1000" b="1" dirty="0" err="1">
                <a:solidFill>
                  <a:srgbClr val="BCDCF1"/>
                </a:solidFill>
                <a:latin typeface="Arial Nova" panose="020B0504020202020204" pitchFamily="34" charset="0"/>
              </a:rPr>
              <a:t>audencia</a:t>
            </a:r>
            <a:r>
              <a:rPr lang="fr-FR" sz="1000" dirty="0" err="1">
                <a:solidFill>
                  <a:srgbClr val="BCDCF1"/>
                </a:solidFill>
                <a:latin typeface="Arial Nova" panose="020B0504020202020204" pitchFamily="34" charset="0"/>
              </a:rPr>
              <a:t>.com</a:t>
            </a:r>
            <a:endParaRPr lang="fr-FR" sz="1000" dirty="0">
              <a:solidFill>
                <a:srgbClr val="BCDCF1"/>
              </a:solidFill>
              <a:latin typeface="Arial Nova" panose="020B0504020202020204" pitchFamily="34" charset="0"/>
            </a:endParaRPr>
          </a:p>
        </p:txBody>
      </p:sp>
      <p:sp>
        <p:nvSpPr>
          <p:cNvPr id="6" name="Graphique 29">
            <a:extLst>
              <a:ext uri="{FF2B5EF4-FFF2-40B4-BE49-F238E27FC236}">
                <a16:creationId xmlns:a16="http://schemas.microsoft.com/office/drawing/2014/main" id="{A6048FBC-0B3B-D1FD-CDAC-8C23F578CE90}"/>
              </a:ext>
            </a:extLst>
          </p:cNvPr>
          <p:cNvSpPr/>
          <p:nvPr userDrawn="1"/>
        </p:nvSpPr>
        <p:spPr>
          <a:xfrm rot="15300000" flipH="1">
            <a:off x="3262162" y="-2441458"/>
            <a:ext cx="5397791" cy="6592012"/>
          </a:xfrm>
          <a:custGeom>
            <a:avLst/>
            <a:gdLst>
              <a:gd name="connsiteX0" fmla="*/ 3641377 w 3685056"/>
              <a:gd name="connsiteY0" fmla="*/ 502156 h 4500347"/>
              <a:gd name="connsiteX1" fmla="*/ 3485068 w 3685056"/>
              <a:gd name="connsiteY1" fmla="*/ 267241 h 4500347"/>
              <a:gd name="connsiteX2" fmla="*/ 1912951 w 3685056"/>
              <a:gd name="connsiteY2" fmla="*/ 40437 h 4500347"/>
              <a:gd name="connsiteX3" fmla="*/ 0 w 3685056"/>
              <a:gd name="connsiteY3" fmla="*/ 300905 h 4500347"/>
              <a:gd name="connsiteX4" fmla="*/ 0 w 3685056"/>
              <a:gd name="connsiteY4" fmla="*/ 1274412 h 4500347"/>
              <a:gd name="connsiteX5" fmla="*/ 1858654 w 3685056"/>
              <a:gd name="connsiteY5" fmla="*/ 556494 h 4500347"/>
              <a:gd name="connsiteX6" fmla="*/ 3161174 w 3685056"/>
              <a:gd name="connsiteY6" fmla="*/ 585584 h 4500347"/>
              <a:gd name="connsiteX7" fmla="*/ 2778657 w 3685056"/>
              <a:gd name="connsiteY7" fmla="*/ 1898779 h 4500347"/>
              <a:gd name="connsiteX8" fmla="*/ 740171 w 3685056"/>
              <a:gd name="connsiteY8" fmla="*/ 4500348 h 4500347"/>
              <a:gd name="connsiteX9" fmla="*/ 2033185 w 3685056"/>
              <a:gd name="connsiteY9" fmla="*/ 4500348 h 4500347"/>
              <a:gd name="connsiteX10" fmla="*/ 2730149 w 3685056"/>
              <a:gd name="connsiteY10" fmla="*/ 3167028 h 4500347"/>
              <a:gd name="connsiteX11" fmla="*/ 3485129 w 3685056"/>
              <a:gd name="connsiteY11" fmla="*/ 1567507 h 4500347"/>
              <a:gd name="connsiteX12" fmla="*/ 3641438 w 3685056"/>
              <a:gd name="connsiteY12" fmla="*/ 502278 h 450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85056" h="4500347">
                <a:moveTo>
                  <a:pt x="3641377" y="502156"/>
                </a:moveTo>
                <a:cubicBezTo>
                  <a:pt x="3598842" y="408239"/>
                  <a:pt x="3546494" y="330849"/>
                  <a:pt x="3485068" y="267241"/>
                </a:cubicBezTo>
                <a:cubicBezTo>
                  <a:pt x="3171595" y="-57261"/>
                  <a:pt x="2620336" y="-19938"/>
                  <a:pt x="1912951" y="40437"/>
                </a:cubicBezTo>
                <a:cubicBezTo>
                  <a:pt x="1067050" y="112582"/>
                  <a:pt x="0" y="300905"/>
                  <a:pt x="0" y="300905"/>
                </a:cubicBezTo>
                <a:lnTo>
                  <a:pt x="0" y="1274412"/>
                </a:lnTo>
                <a:cubicBezTo>
                  <a:pt x="0" y="1274412"/>
                  <a:pt x="1204956" y="769698"/>
                  <a:pt x="1858654" y="556494"/>
                </a:cubicBezTo>
                <a:cubicBezTo>
                  <a:pt x="2512352" y="343290"/>
                  <a:pt x="2927654" y="276267"/>
                  <a:pt x="3161174" y="585584"/>
                </a:cubicBezTo>
                <a:cubicBezTo>
                  <a:pt x="3421508" y="930455"/>
                  <a:pt x="2986887" y="1593487"/>
                  <a:pt x="2778657" y="1898779"/>
                </a:cubicBezTo>
                <a:cubicBezTo>
                  <a:pt x="2570427" y="2204071"/>
                  <a:pt x="2098695" y="2843562"/>
                  <a:pt x="740171" y="4500348"/>
                </a:cubicBezTo>
                <a:lnTo>
                  <a:pt x="2033185" y="4500348"/>
                </a:lnTo>
                <a:cubicBezTo>
                  <a:pt x="2033185" y="4500348"/>
                  <a:pt x="2463844" y="3709796"/>
                  <a:pt x="2730149" y="3167028"/>
                </a:cubicBezTo>
                <a:cubicBezTo>
                  <a:pt x="2930457" y="2758732"/>
                  <a:pt x="3269586" y="2131316"/>
                  <a:pt x="3485129" y="1567507"/>
                </a:cubicBezTo>
                <a:cubicBezTo>
                  <a:pt x="3652286" y="1130243"/>
                  <a:pt x="3745157" y="731217"/>
                  <a:pt x="3641438" y="502278"/>
                </a:cubicBezTo>
                <a:close/>
              </a:path>
            </a:pathLst>
          </a:custGeom>
          <a:solidFill>
            <a:srgbClr val="758BC5">
              <a:alpha val="70000"/>
            </a:srgbClr>
          </a:solidFill>
          <a:ln w="6093" cap="flat">
            <a:noFill/>
            <a:prstDash val="solid"/>
            <a:miter/>
          </a:ln>
        </p:spPr>
        <p:txBody>
          <a:bodyPr rtlCol="0" anchor="ctr"/>
          <a:lstStyle/>
          <a:p>
            <a:endParaRPr lang="fr-FR">
              <a:solidFill>
                <a:schemeClr val="accent2"/>
              </a:solidFill>
            </a:endParaRPr>
          </a:p>
        </p:txBody>
      </p:sp>
      <p:sp>
        <p:nvSpPr>
          <p:cNvPr id="8" name="Espace réservé du contenu 7">
            <a:extLst>
              <a:ext uri="{FF2B5EF4-FFF2-40B4-BE49-F238E27FC236}">
                <a16:creationId xmlns:a16="http://schemas.microsoft.com/office/drawing/2014/main" id="{4038C916-A98D-A5E7-086C-C33DDEE8D942}"/>
              </a:ext>
            </a:extLst>
          </p:cNvPr>
          <p:cNvSpPr>
            <a:spLocks noGrp="1"/>
          </p:cNvSpPr>
          <p:nvPr>
            <p:ph sz="quarter" idx="10" hasCustomPrompt="1"/>
          </p:nvPr>
        </p:nvSpPr>
        <p:spPr>
          <a:xfrm>
            <a:off x="592138" y="2613896"/>
            <a:ext cx="5840412" cy="1584325"/>
          </a:xfrm>
        </p:spPr>
        <p:txBody>
          <a:bodyPr/>
          <a:lstStyle>
            <a:lvl1pPr marL="0" indent="0">
              <a:buNone/>
              <a:defRPr>
                <a:solidFill>
                  <a:schemeClr val="bg1"/>
                </a:solidFill>
              </a:defRPr>
            </a:lvl1pPr>
          </a:lstStyle>
          <a:p>
            <a:pPr lvl="0"/>
            <a:r>
              <a:rPr lang="fr-FR" dirty="0"/>
              <a:t>Merci de votre attention.</a:t>
            </a:r>
          </a:p>
        </p:txBody>
      </p:sp>
      <p:pic>
        <p:nvPicPr>
          <p:cNvPr id="44" name="Image 43" descr="Une image contenant texte, Police, affiche, graphisme&#10;&#10;Description générée automatiquement">
            <a:extLst>
              <a:ext uri="{FF2B5EF4-FFF2-40B4-BE49-F238E27FC236}">
                <a16:creationId xmlns:a16="http://schemas.microsoft.com/office/drawing/2014/main" id="{2E4BAA38-D2BB-76CC-79E8-EEEFE8F799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49626" y="386498"/>
            <a:ext cx="6282965" cy="6282965"/>
          </a:xfrm>
          <a:prstGeom prst="rect">
            <a:avLst/>
          </a:prstGeom>
        </p:spPr>
      </p:pic>
    </p:spTree>
    <p:extLst>
      <p:ext uri="{BB962C8B-B14F-4D97-AF65-F5344CB8AC3E}">
        <p14:creationId xmlns:p14="http://schemas.microsoft.com/office/powerpoint/2010/main" val="229090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78280170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460680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2890175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696495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55098552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262725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8541385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374696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54517395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2607320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63661257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6125195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44104234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0534432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499245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613144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8592964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799267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6254116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9404272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59109901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68769416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2868580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203818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5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290286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0557669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4850892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943725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5094149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22193926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6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9519619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0988773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2123055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8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7118675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8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89694856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4299049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8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99624973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90891928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8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4185535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8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532104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07313040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8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83942958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9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5858429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842595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9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611828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9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86429783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0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6503340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0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1014904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0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8390969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0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3658308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Diapositive de section">
    <p:spTree>
      <p:nvGrpSpPr>
        <p:cNvPr id="1" name=""/>
        <p:cNvGrpSpPr/>
        <p:nvPr/>
      </p:nvGrpSpPr>
      <p:grpSpPr>
        <a:xfrm>
          <a:off x="0" y="0"/>
          <a:ext cx="0" cy="0"/>
          <a:chOff x="0" y="0"/>
          <a:chExt cx="0" cy="0"/>
        </a:xfrm>
      </p:grpSpPr>
      <p:sp>
        <p:nvSpPr>
          <p:cNvPr id="14" name="Sous-titre 2"/>
          <p:cNvSpPr txBox="1">
            <a:spLocks/>
          </p:cNvSpPr>
          <p:nvPr userDrawn="1"/>
        </p:nvSpPr>
        <p:spPr>
          <a:xfrm>
            <a:off x="799405" y="3615627"/>
            <a:ext cx="9144000" cy="1655762"/>
          </a:xfrm>
          <a:prstGeom prst="rect">
            <a:avLst/>
          </a:prstGeom>
        </p:spPr>
        <p:txBody>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endParaRPr lang="fr-FR" sz="3198" dirty="0">
              <a:solidFill>
                <a:schemeClr val="bg1">
                  <a:lumMod val="50000"/>
                </a:schemeClr>
              </a:solidFill>
              <a:latin typeface="HelveticaNeueLT Std Med" panose="020B0604020202020204" pitchFamily="34" charset="0"/>
            </a:endParaRPr>
          </a:p>
        </p:txBody>
      </p:sp>
      <p:sp>
        <p:nvSpPr>
          <p:cNvPr id="17" name="Sous-titre 2"/>
          <p:cNvSpPr>
            <a:spLocks noGrp="1"/>
          </p:cNvSpPr>
          <p:nvPr>
            <p:ph type="subTitle" idx="1" hasCustomPrompt="1"/>
          </p:nvPr>
        </p:nvSpPr>
        <p:spPr>
          <a:xfrm>
            <a:off x="8820" y="3252628"/>
            <a:ext cx="12191999" cy="480671"/>
          </a:xfrm>
          <a:prstGeom prst="rect">
            <a:avLst/>
          </a:prstGeom>
        </p:spPr>
        <p:txBody>
          <a:bodyPr/>
          <a:lstStyle>
            <a:lvl1pPr marL="0" indent="0" algn="ctr">
              <a:buNone/>
              <a:defRPr sz="2666">
                <a:solidFill>
                  <a:schemeClr val="bg1">
                    <a:lumMod val="75000"/>
                  </a:schemeClr>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sp>
        <p:nvSpPr>
          <p:cNvPr id="21" name="Titre 1"/>
          <p:cNvSpPr>
            <a:spLocks noGrp="1"/>
          </p:cNvSpPr>
          <p:nvPr>
            <p:ph type="ctrTitle"/>
          </p:nvPr>
        </p:nvSpPr>
        <p:spPr>
          <a:xfrm>
            <a:off x="16173" y="2615827"/>
            <a:ext cx="12175827" cy="625475"/>
          </a:xfrm>
          <a:prstGeom prst="rect">
            <a:avLst/>
          </a:prstGeom>
        </p:spPr>
        <p:txBody>
          <a:bodyPr anchor="b"/>
          <a:lstStyle>
            <a:lvl1pPr marL="0" indent="0" algn="ctr">
              <a:buFont typeface="+mj-lt"/>
              <a:buAutoNum type="arabicPeriod"/>
              <a:defRPr sz="3332" cap="all" baseline="0">
                <a:solidFill>
                  <a:schemeClr val="bg1"/>
                </a:solidFill>
                <a:latin typeface="Arial Black"/>
                <a:cs typeface="Arial Black"/>
              </a:defRPr>
            </a:lvl1pPr>
          </a:lstStyle>
          <a:p>
            <a:endParaRPr lang="fr-FR" dirty="0"/>
          </a:p>
        </p:txBody>
      </p:sp>
      <p:pic>
        <p:nvPicPr>
          <p:cNvPr id="12" name="Imag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46396" y="2084851"/>
            <a:ext cx="1100952" cy="131928"/>
          </a:xfrm>
          <a:prstGeom prst="rect">
            <a:avLst/>
          </a:prstGeom>
        </p:spPr>
      </p:pic>
      <p:pic>
        <p:nvPicPr>
          <p:cNvPr id="26" name="Imag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46396" y="4257179"/>
            <a:ext cx="1100952" cy="131928"/>
          </a:xfrm>
          <a:prstGeom prst="rect">
            <a:avLst/>
          </a:prstGeom>
        </p:spPr>
      </p:pic>
      <p:sp>
        <p:nvSpPr>
          <p:cNvPr id="31" name="Espace réservé du numéro de diapositive 5"/>
          <p:cNvSpPr>
            <a:spLocks noGrp="1"/>
          </p:cNvSpPr>
          <p:nvPr>
            <p:ph type="sldNum" sz="quarter" idx="12"/>
          </p:nvPr>
        </p:nvSpPr>
        <p:spPr>
          <a:xfrm>
            <a:off x="11376587" y="6309320"/>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pic>
        <p:nvPicPr>
          <p:cNvPr id="9" name="Imag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36765" y="6208244"/>
            <a:ext cx="1920214" cy="435514"/>
          </a:xfrm>
          <a:prstGeom prst="rect">
            <a:avLst/>
          </a:prstGeom>
        </p:spPr>
      </p:pic>
    </p:spTree>
    <p:extLst>
      <p:ext uri="{BB962C8B-B14F-4D97-AF65-F5344CB8AC3E}">
        <p14:creationId xmlns:p14="http://schemas.microsoft.com/office/powerpoint/2010/main" val="30708438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0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9326762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1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2402796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DIAPO SA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D3B49B-C565-8E48-9B94-8D9F09AD9B5E}"/>
              </a:ext>
            </a:extLst>
          </p:cNvPr>
          <p:cNvSpPr/>
          <p:nvPr userDrawn="1"/>
        </p:nvSpPr>
        <p:spPr>
          <a:xfrm>
            <a:off x="0" y="2333"/>
            <a:ext cx="12192000" cy="6858000"/>
          </a:xfrm>
          <a:prstGeom prst="rect">
            <a:avLst/>
          </a:prstGeom>
          <a:solidFill>
            <a:srgbClr val="001A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65"/>
          </a:p>
        </p:txBody>
      </p:sp>
    </p:spTree>
    <p:extLst>
      <p:ext uri="{BB962C8B-B14F-4D97-AF65-F5344CB8AC3E}">
        <p14:creationId xmlns:p14="http://schemas.microsoft.com/office/powerpoint/2010/main" val="962536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7981501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82438445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2594719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13533727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2865583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6503312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2213888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68900420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3550291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3352158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8733639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23700458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60129508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506429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4243359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3834184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29799814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62899024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2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0970691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41275370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0461617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2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24251145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2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14026162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0495428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598637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14408271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2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69186289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2216959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3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32398070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3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9826770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6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8006146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6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621229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6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39397878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6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88477468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7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6449685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7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26298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7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211606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1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7546195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1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32981294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2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11052452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2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4940635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2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75387025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2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59837015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2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28190070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2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75061784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12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033189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2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2548188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2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1165520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12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9112167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3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18397018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3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0885073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3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8043533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13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156706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13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3013668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13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96991365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13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51673021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3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7672533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13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87448382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13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0970037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14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5100916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14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59848246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4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97984650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14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4128167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14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69122590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14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20431962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4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9257677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14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0282122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14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72513209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14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2866399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15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37036574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5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81746028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15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46144895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5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46682540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5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097680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5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7780578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15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92320245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5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1067291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15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2610067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15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46414708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16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52728479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6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63563832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16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96346373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6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1773290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16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50614137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6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45425816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16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416650005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16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6930897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16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54712073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16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18483322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17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90905473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17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8661205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7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62351820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17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0268914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17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3439343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175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3259430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76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75618060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177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76602006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178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04852263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79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115608386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80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03308765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81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65489267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182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75450254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183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203848835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184_Titre et contenu">
    <p:spTree>
      <p:nvGrpSpPr>
        <p:cNvPr id="1" name=""/>
        <p:cNvGrpSpPr/>
        <p:nvPr/>
      </p:nvGrpSpPr>
      <p:grpSpPr>
        <a:xfrm>
          <a:off x="0" y="0"/>
          <a:ext cx="0" cy="0"/>
          <a:chOff x="0" y="0"/>
          <a:chExt cx="0" cy="0"/>
        </a:xfrm>
      </p:grpSpPr>
      <p:sp>
        <p:nvSpPr>
          <p:cNvPr id="16" name="Rectangle 15"/>
          <p:cNvSpPr/>
          <p:nvPr userDrawn="1"/>
        </p:nvSpPr>
        <p:spPr>
          <a:xfrm>
            <a:off x="1" y="0"/>
            <a:ext cx="12200819" cy="62133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399"/>
          </a:p>
        </p:txBody>
      </p:sp>
      <p:sp>
        <p:nvSpPr>
          <p:cNvPr id="19" name="Espace réservé du contenu 2"/>
          <p:cNvSpPr>
            <a:spLocks noGrp="1"/>
          </p:cNvSpPr>
          <p:nvPr>
            <p:ph idx="1" hasCustomPrompt="1"/>
          </p:nvPr>
        </p:nvSpPr>
        <p:spPr>
          <a:xfrm>
            <a:off x="475470" y="1765959"/>
            <a:ext cx="11285158" cy="4159318"/>
          </a:xfrm>
          <a:prstGeom prst="rect">
            <a:avLst/>
          </a:prstGeom>
        </p:spPr>
        <p:txBody>
          <a:bodyPr/>
          <a:lstStyle>
            <a:lvl1pPr marL="473915" indent="-473915">
              <a:buClrTx/>
              <a:buSzPct val="70000"/>
              <a:buFont typeface="Wingdings" panose="05000000000000000000" pitchFamily="2" charset="2"/>
              <a:buChar char="§"/>
              <a:defRPr sz="2666">
                <a:solidFill>
                  <a:srgbClr val="1360AE"/>
                </a:solidFill>
                <a:latin typeface="Arial"/>
                <a:cs typeface="Arial"/>
              </a:defRPr>
            </a:lvl1pPr>
            <a:lvl2pPr marL="990144" indent="-380825">
              <a:buClrTx/>
              <a:buSzPct val="50000"/>
              <a:buFont typeface="Wingdings" panose="05000000000000000000" pitchFamily="2" charset="2"/>
              <a:buChar char="§"/>
              <a:defRPr sz="2132">
                <a:solidFill>
                  <a:srgbClr val="1360AE"/>
                </a:solidFill>
                <a:latin typeface="Arial"/>
                <a:cs typeface="Arial"/>
              </a:defRPr>
            </a:lvl2pPr>
            <a:lvl3pPr marL="1523299" indent="-304660">
              <a:buClrTx/>
              <a:buSzPct val="50000"/>
              <a:buFont typeface="Wingdings" panose="05000000000000000000" pitchFamily="2" charset="2"/>
              <a:buChar char="§"/>
              <a:defRPr sz="1866">
                <a:solidFill>
                  <a:srgbClr val="1360AE"/>
                </a:solidFill>
                <a:latin typeface="Arial"/>
                <a:cs typeface="Arial"/>
              </a:defRPr>
            </a:lvl3pPr>
            <a:lvl4pPr marL="2132618" indent="-304660">
              <a:buClrTx/>
              <a:buSzPct val="50000"/>
              <a:buFont typeface="Wingdings" panose="05000000000000000000" pitchFamily="2" charset="2"/>
              <a:buChar char="§"/>
              <a:defRPr sz="1600">
                <a:solidFill>
                  <a:srgbClr val="1360AE"/>
                </a:solidFill>
                <a:latin typeface="Arial"/>
                <a:cs typeface="Arial"/>
              </a:defRPr>
            </a:lvl4pPr>
            <a:lvl5pPr marL="2741938" indent="-304660">
              <a:buClr>
                <a:schemeClr val="tx1">
                  <a:lumMod val="85000"/>
                  <a:lumOff val="15000"/>
                </a:schemeClr>
              </a:buClr>
              <a:buSzPct val="50000"/>
              <a:buFont typeface="Wingdings" panose="05000000000000000000" pitchFamily="2" charset="2"/>
              <a:buChar char="§"/>
              <a:defRPr sz="2132">
                <a:solidFill>
                  <a:srgbClr val="404040"/>
                </a:solidFill>
                <a:latin typeface="Arial"/>
                <a:cs typeface="Arial"/>
              </a:defRPr>
            </a:lvl5pPr>
          </a:lstStyle>
          <a:p>
            <a:pPr lvl="0"/>
            <a:r>
              <a:rPr lang="fr-FR" dirty="0"/>
              <a:t>Modifiez le premier niveau</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hasCustomPrompt="1"/>
          </p:nvPr>
        </p:nvSpPr>
        <p:spPr>
          <a:xfrm>
            <a:off x="474461" y="412027"/>
            <a:ext cx="11286176" cy="633686"/>
          </a:xfrm>
          <a:prstGeom prst="rect">
            <a:avLst/>
          </a:prstGeom>
        </p:spPr>
        <p:txBody>
          <a:bodyPr/>
          <a:lstStyle>
            <a:lvl1pPr algn="l">
              <a:defRPr sz="3998" kern="0" cap="none" spc="0" baseline="0">
                <a:solidFill>
                  <a:srgbClr val="1360AE"/>
                </a:solidFill>
                <a:latin typeface="Arial Black"/>
                <a:cs typeface="Arial Black"/>
              </a:defRPr>
            </a:lvl1pPr>
          </a:lstStyle>
          <a:p>
            <a:r>
              <a:rPr lang="fr-FR" dirty="0"/>
              <a:t>Modifiez le titre</a:t>
            </a:r>
          </a:p>
        </p:txBody>
      </p:sp>
      <p:sp>
        <p:nvSpPr>
          <p:cNvPr id="20" name="Sous-titre 2"/>
          <p:cNvSpPr>
            <a:spLocks noGrp="1"/>
          </p:cNvSpPr>
          <p:nvPr>
            <p:ph type="subTitle" idx="13" hasCustomPrompt="1"/>
          </p:nvPr>
        </p:nvSpPr>
        <p:spPr>
          <a:xfrm>
            <a:off x="484291" y="976817"/>
            <a:ext cx="11276263" cy="480671"/>
          </a:xfrm>
          <a:prstGeom prst="rect">
            <a:avLst/>
          </a:prstGeom>
        </p:spPr>
        <p:txBody>
          <a:bodyPr/>
          <a:lstStyle>
            <a:lvl1pPr marL="0" indent="0" algn="l">
              <a:buNone/>
              <a:defRPr sz="2666" i="1" spc="0" baseline="0">
                <a:solidFill>
                  <a:srgbClr val="17212F"/>
                </a:solidFill>
                <a:latin typeface="Arial"/>
                <a:cs typeface="Arial"/>
              </a:defRPr>
            </a:lvl1pPr>
            <a:lvl2pPr marL="609319" indent="0" algn="ctr">
              <a:buNone/>
              <a:defRPr sz="2666"/>
            </a:lvl2pPr>
            <a:lvl3pPr marL="1218639" indent="0" algn="ctr">
              <a:buNone/>
              <a:defRPr sz="2399"/>
            </a:lvl3pPr>
            <a:lvl4pPr marL="1827958" indent="0" algn="ctr">
              <a:buNone/>
              <a:defRPr sz="2132"/>
            </a:lvl4pPr>
            <a:lvl5pPr marL="2437277" indent="0" algn="ctr">
              <a:buNone/>
              <a:defRPr sz="2132"/>
            </a:lvl5pPr>
            <a:lvl6pPr marL="3046597" indent="0" algn="ctr">
              <a:buNone/>
              <a:defRPr sz="2132"/>
            </a:lvl6pPr>
            <a:lvl7pPr marL="3655916" indent="0" algn="ctr">
              <a:buNone/>
              <a:defRPr sz="2132"/>
            </a:lvl7pPr>
            <a:lvl8pPr marL="4265236" indent="0" algn="ctr">
              <a:buNone/>
              <a:defRPr sz="2132"/>
            </a:lvl8pPr>
            <a:lvl9pPr marL="4874555" indent="0" algn="ctr">
              <a:buNone/>
              <a:defRPr sz="2132"/>
            </a:lvl9pPr>
          </a:lstStyle>
          <a:p>
            <a:r>
              <a:rPr lang="fr-FR" dirty="0"/>
              <a:t>Modifiez le sous-titre</a:t>
            </a: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8559" y="6335777"/>
            <a:ext cx="1824202" cy="413737"/>
          </a:xfrm>
          <a:prstGeom prst="rect">
            <a:avLst/>
          </a:prstGeom>
        </p:spPr>
      </p:pic>
      <p:pic>
        <p:nvPicPr>
          <p:cNvPr id="24" name="Imag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7236" y="6335776"/>
            <a:ext cx="1637105" cy="420032"/>
          </a:xfrm>
          <a:prstGeom prst="rect">
            <a:avLst/>
          </a:prstGeom>
        </p:spPr>
      </p:pic>
      <p:sp>
        <p:nvSpPr>
          <p:cNvPr id="2" name="Rectangle 1"/>
          <p:cNvSpPr/>
          <p:nvPr userDrawn="1"/>
        </p:nvSpPr>
        <p:spPr>
          <a:xfrm>
            <a:off x="623392" y="356659"/>
            <a:ext cx="960107" cy="96011"/>
          </a:xfrm>
          <a:prstGeom prst="rect">
            <a:avLst/>
          </a:prstGeom>
          <a:solidFill>
            <a:srgbClr val="1360A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399"/>
          </a:p>
        </p:txBody>
      </p:sp>
      <p:sp>
        <p:nvSpPr>
          <p:cNvPr id="30" name="Espace réservé du numéro de diapositive 5"/>
          <p:cNvSpPr>
            <a:spLocks noGrp="1"/>
          </p:cNvSpPr>
          <p:nvPr>
            <p:ph type="sldNum" sz="quarter" idx="12"/>
          </p:nvPr>
        </p:nvSpPr>
        <p:spPr>
          <a:xfrm>
            <a:off x="5746228" y="6335777"/>
            <a:ext cx="718774" cy="365125"/>
          </a:xfrm>
          <a:prstGeom prst="rect">
            <a:avLst/>
          </a:prstGeom>
        </p:spPr>
        <p:txBody>
          <a:bodyPr/>
          <a:lstStyle>
            <a:lvl1pPr algn="ctr">
              <a:defRPr sz="1600">
                <a:solidFill>
                  <a:schemeClr val="bg1">
                    <a:lumMod val="75000"/>
                  </a:schemeClr>
                </a:solidFill>
                <a:latin typeface="Arial"/>
                <a:cs typeface="Arial"/>
              </a:defRPr>
            </a:lvl1pPr>
          </a:lstStyle>
          <a:p>
            <a:fld id="{307C7597-8D70-4701-8085-9524B0B5C72B}" type="slidenum">
              <a:rPr lang="fr-FR" smtClean="0"/>
              <a:pPr/>
              <a:t>‹#›</a:t>
            </a:fld>
            <a:endParaRPr lang="fr-FR" dirty="0"/>
          </a:p>
        </p:txBody>
      </p:sp>
    </p:spTree>
    <p:extLst>
      <p:ext uri="{BB962C8B-B14F-4D97-AF65-F5344CB8AC3E}">
        <p14:creationId xmlns:p14="http://schemas.microsoft.com/office/powerpoint/2010/main" val="331228363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59" Type="http://schemas.openxmlformats.org/officeDocument/2006/relationships/slideLayout" Target="../slideLayouts/slideLayout159.xml"/><Relationship Id="rId170" Type="http://schemas.openxmlformats.org/officeDocument/2006/relationships/slideLayout" Target="../slideLayouts/slideLayout170.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slideLayout" Target="../slideLayouts/slideLayout149.xml"/><Relationship Id="rId5" Type="http://schemas.openxmlformats.org/officeDocument/2006/relationships/slideLayout" Target="../slideLayouts/slideLayout5.xml"/><Relationship Id="rId95" Type="http://schemas.openxmlformats.org/officeDocument/2006/relationships/slideLayout" Target="../slideLayouts/slideLayout95.xml"/><Relationship Id="rId160" Type="http://schemas.openxmlformats.org/officeDocument/2006/relationships/slideLayout" Target="../slideLayouts/slideLayout160.xml"/><Relationship Id="rId22" Type="http://schemas.openxmlformats.org/officeDocument/2006/relationships/slideLayout" Target="../slideLayouts/slideLayout22.xml"/><Relationship Id="rId43" Type="http://schemas.openxmlformats.org/officeDocument/2006/relationships/slideLayout" Target="../slideLayouts/slideLayout43.xml"/><Relationship Id="rId64" Type="http://schemas.openxmlformats.org/officeDocument/2006/relationships/slideLayout" Target="../slideLayouts/slideLayout64.xml"/><Relationship Id="rId118" Type="http://schemas.openxmlformats.org/officeDocument/2006/relationships/slideLayout" Target="../slideLayouts/slideLayout118.xml"/><Relationship Id="rId139" Type="http://schemas.openxmlformats.org/officeDocument/2006/relationships/slideLayout" Target="../slideLayouts/slideLayout139.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71" Type="http://schemas.openxmlformats.org/officeDocument/2006/relationships/theme" Target="../theme/theme1.xml"/><Relationship Id="rId12" Type="http://schemas.openxmlformats.org/officeDocument/2006/relationships/slideLayout" Target="../slideLayouts/slideLayout12.xml"/><Relationship Id="rId33" Type="http://schemas.openxmlformats.org/officeDocument/2006/relationships/slideLayout" Target="../slideLayouts/slideLayout33.xml"/><Relationship Id="rId108" Type="http://schemas.openxmlformats.org/officeDocument/2006/relationships/slideLayout" Target="../slideLayouts/slideLayout108.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slideLayout" Target="../slideLayouts/slideLayout145.xml"/><Relationship Id="rId161" Type="http://schemas.openxmlformats.org/officeDocument/2006/relationships/slideLayout" Target="../slideLayouts/slideLayout161.xml"/><Relationship Id="rId166" Type="http://schemas.openxmlformats.org/officeDocument/2006/relationships/slideLayout" Target="../slideLayouts/slideLayout16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51" Type="http://schemas.openxmlformats.org/officeDocument/2006/relationships/slideLayout" Target="../slideLayouts/slideLayout151.xml"/><Relationship Id="rId156" Type="http://schemas.openxmlformats.org/officeDocument/2006/relationships/slideLayout" Target="../slideLayouts/slideLayout156.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146" Type="http://schemas.openxmlformats.org/officeDocument/2006/relationships/slideLayout" Target="../slideLayouts/slideLayout146.xml"/><Relationship Id="rId167" Type="http://schemas.openxmlformats.org/officeDocument/2006/relationships/slideLayout" Target="../slideLayouts/slideLayout16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162" Type="http://schemas.openxmlformats.org/officeDocument/2006/relationships/slideLayout" Target="../slideLayouts/slideLayout16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157" Type="http://schemas.openxmlformats.org/officeDocument/2006/relationships/slideLayout" Target="../slideLayouts/slideLayout15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52" Type="http://schemas.openxmlformats.org/officeDocument/2006/relationships/slideLayout" Target="../slideLayouts/slideLayout15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168" Type="http://schemas.openxmlformats.org/officeDocument/2006/relationships/slideLayout" Target="../slideLayouts/slideLayout16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163" Type="http://schemas.openxmlformats.org/officeDocument/2006/relationships/slideLayout" Target="../slideLayouts/slideLayout163.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158" Type="http://schemas.openxmlformats.org/officeDocument/2006/relationships/slideLayout" Target="../slideLayouts/slideLayout158.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slideLayout" Target="../slideLayouts/slideLayout153.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slideLayout" Target="../slideLayouts/slideLayout148.xml"/><Relationship Id="rId164" Type="http://schemas.openxmlformats.org/officeDocument/2006/relationships/slideLayout" Target="../slideLayouts/slideLayout164.xml"/><Relationship Id="rId169" Type="http://schemas.openxmlformats.org/officeDocument/2006/relationships/slideLayout" Target="../slideLayouts/slideLayout169.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54" Type="http://schemas.openxmlformats.org/officeDocument/2006/relationships/slideLayout" Target="../slideLayouts/slideLayout154.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 Id="rId165" Type="http://schemas.openxmlformats.org/officeDocument/2006/relationships/slideLayout" Target="../slideLayouts/slideLayout165.xml"/><Relationship Id="rId27" Type="http://schemas.openxmlformats.org/officeDocument/2006/relationships/slideLayout" Target="../slideLayouts/slideLayout27.xml"/><Relationship Id="rId48" Type="http://schemas.openxmlformats.org/officeDocument/2006/relationships/slideLayout" Target="../slideLayouts/slideLayout48.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155" Type="http://schemas.openxmlformats.org/officeDocument/2006/relationships/slideLayout" Target="../slideLayouts/slideLayout155.xml"/><Relationship Id="rId17" Type="http://schemas.openxmlformats.org/officeDocument/2006/relationships/slideLayout" Target="../slideLayouts/slideLayout17.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24"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B3CFC1A-F770-9618-CEDA-44AA0B0EBC33}"/>
              </a:ext>
            </a:extLst>
          </p:cNvPr>
          <p:cNvSpPr>
            <a:spLocks noGrp="1"/>
          </p:cNvSpPr>
          <p:nvPr>
            <p:ph type="title"/>
          </p:nvPr>
        </p:nvSpPr>
        <p:spPr>
          <a:xfrm>
            <a:off x="656844" y="487045"/>
            <a:ext cx="10829544" cy="1460500"/>
          </a:xfrm>
          <a:prstGeom prst="rect">
            <a:avLst/>
          </a:prstGeom>
        </p:spPr>
        <p:txBody>
          <a:bodyPr vert="horz" lIns="91440" tIns="45720" rIns="91440" bIns="45720" rtlCol="0" anchor="t">
            <a:normAutofit/>
          </a:bodyPr>
          <a:lstStyle/>
          <a:p>
            <a:r>
              <a:rPr lang="fr-FR" dirty="0"/>
              <a:t>MODIFIEZ </a:t>
            </a:r>
            <a:br>
              <a:rPr lang="fr-FR" dirty="0"/>
            </a:br>
            <a:r>
              <a:rPr lang="fr-FR" dirty="0"/>
              <a:t>LE STYLE DU TITRE</a:t>
            </a:r>
          </a:p>
        </p:txBody>
      </p:sp>
      <p:sp>
        <p:nvSpPr>
          <p:cNvPr id="3" name="Espace réservé du texte 2">
            <a:extLst>
              <a:ext uri="{FF2B5EF4-FFF2-40B4-BE49-F238E27FC236}">
                <a16:creationId xmlns:a16="http://schemas.microsoft.com/office/drawing/2014/main" id="{9914BD92-D03C-3328-44F8-EA5C097D0355}"/>
              </a:ext>
            </a:extLst>
          </p:cNvPr>
          <p:cNvSpPr>
            <a:spLocks noGrp="1"/>
          </p:cNvSpPr>
          <p:nvPr>
            <p:ph type="body" idx="1"/>
          </p:nvPr>
        </p:nvSpPr>
        <p:spPr>
          <a:xfrm>
            <a:off x="681228" y="1825625"/>
            <a:ext cx="10829544"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numéro de diapositive 5">
            <a:extLst>
              <a:ext uri="{FF2B5EF4-FFF2-40B4-BE49-F238E27FC236}">
                <a16:creationId xmlns:a16="http://schemas.microsoft.com/office/drawing/2014/main" id="{52D7268D-6B8C-3C8A-2861-02A0F970051B}"/>
              </a:ext>
            </a:extLst>
          </p:cNvPr>
          <p:cNvSpPr>
            <a:spLocks noGrp="1"/>
          </p:cNvSpPr>
          <p:nvPr>
            <p:ph type="sldNum" sz="quarter" idx="4"/>
          </p:nvPr>
        </p:nvSpPr>
        <p:spPr>
          <a:xfrm>
            <a:off x="8854440" y="6356350"/>
            <a:ext cx="2743200" cy="365125"/>
          </a:xfrm>
          <a:prstGeom prst="rect">
            <a:avLst/>
          </a:prstGeom>
        </p:spPr>
        <p:txBody>
          <a:bodyPr vert="horz" lIns="91440" tIns="45720" rIns="91440" bIns="45720" rtlCol="0" anchor="ctr"/>
          <a:lstStyle>
            <a:lvl1pPr algn="r">
              <a:defRPr sz="1200">
                <a:solidFill>
                  <a:srgbClr val="032D5A"/>
                </a:solidFill>
              </a:defRPr>
            </a:lvl1pPr>
          </a:lstStyle>
          <a:p>
            <a:fld id="{421B1A79-1F45-8F4F-AED5-0EE30DCF0380}" type="slidenum">
              <a:rPr lang="fr-FR" smtClean="0"/>
              <a:pPr/>
              <a:t>‹#›</a:t>
            </a:fld>
            <a:endParaRPr lang="fr-FR" dirty="0"/>
          </a:p>
        </p:txBody>
      </p:sp>
    </p:spTree>
    <p:extLst>
      <p:ext uri="{BB962C8B-B14F-4D97-AF65-F5344CB8AC3E}">
        <p14:creationId xmlns:p14="http://schemas.microsoft.com/office/powerpoint/2010/main" val="4198775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61" r:id="rId11"/>
    <p:sldLayoutId id="2147483663"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 id="2147483725" r:id="rId42"/>
    <p:sldLayoutId id="2147483726" r:id="rId43"/>
    <p:sldLayoutId id="2147483727" r:id="rId44"/>
    <p:sldLayoutId id="2147483728" r:id="rId45"/>
    <p:sldLayoutId id="2147483744" r:id="rId46"/>
    <p:sldLayoutId id="2147483745" r:id="rId47"/>
    <p:sldLayoutId id="2147483746" r:id="rId48"/>
    <p:sldLayoutId id="2147483747" r:id="rId49"/>
    <p:sldLayoutId id="2147483748" r:id="rId50"/>
    <p:sldLayoutId id="2147483749" r:id="rId51"/>
    <p:sldLayoutId id="2147483750" r:id="rId52"/>
    <p:sldLayoutId id="2147483752" r:id="rId53"/>
    <p:sldLayoutId id="2147483753" r:id="rId54"/>
    <p:sldLayoutId id="2147483754" r:id="rId55"/>
    <p:sldLayoutId id="2147483756" r:id="rId56"/>
    <p:sldLayoutId id="2147483757" r:id="rId57"/>
    <p:sldLayoutId id="2147483762" r:id="rId58"/>
    <p:sldLayoutId id="2147483764" r:id="rId59"/>
    <p:sldLayoutId id="2147483766" r:id="rId60"/>
    <p:sldLayoutId id="2147483768" r:id="rId61"/>
    <p:sldLayoutId id="2147483770" r:id="rId62"/>
    <p:sldLayoutId id="2147483772" r:id="rId63"/>
    <p:sldLayoutId id="2147483773" r:id="rId64"/>
    <p:sldLayoutId id="2147483775" r:id="rId65"/>
    <p:sldLayoutId id="2147483781" r:id="rId66"/>
    <p:sldLayoutId id="2147483782" r:id="rId67"/>
    <p:sldLayoutId id="2147483783" r:id="rId68"/>
    <p:sldLayoutId id="2147483784" r:id="rId69"/>
    <p:sldLayoutId id="2147483785" r:id="rId70"/>
    <p:sldLayoutId id="2147483786" r:id="rId71"/>
    <p:sldLayoutId id="2147483787" r:id="rId72"/>
    <p:sldLayoutId id="2147483788" r:id="rId73"/>
    <p:sldLayoutId id="2147483789" r:id="rId74"/>
    <p:sldLayoutId id="2147483790" r:id="rId75"/>
    <p:sldLayoutId id="2147483791" r:id="rId76"/>
    <p:sldLayoutId id="2147483792" r:id="rId77"/>
    <p:sldLayoutId id="2147483793" r:id="rId78"/>
    <p:sldLayoutId id="2147483794" r:id="rId79"/>
    <p:sldLayoutId id="2147483795" r:id="rId80"/>
    <p:sldLayoutId id="2147483796" r:id="rId81"/>
    <p:sldLayoutId id="2147483797" r:id="rId82"/>
    <p:sldLayoutId id="2147483798" r:id="rId83"/>
    <p:sldLayoutId id="2147483799" r:id="rId84"/>
    <p:sldLayoutId id="2147483800" r:id="rId85"/>
    <p:sldLayoutId id="2147483801" r:id="rId86"/>
    <p:sldLayoutId id="2147483802" r:id="rId87"/>
    <p:sldLayoutId id="2147483803" r:id="rId88"/>
    <p:sldLayoutId id="2147483804" r:id="rId89"/>
    <p:sldLayoutId id="2147483805" r:id="rId90"/>
    <p:sldLayoutId id="2147483806" r:id="rId91"/>
    <p:sldLayoutId id="2147483807" r:id="rId92"/>
    <p:sldLayoutId id="2147483808" r:id="rId93"/>
    <p:sldLayoutId id="2147483809" r:id="rId94"/>
    <p:sldLayoutId id="2147483810" r:id="rId95"/>
    <p:sldLayoutId id="2147483811" r:id="rId96"/>
    <p:sldLayoutId id="2147483812" r:id="rId97"/>
    <p:sldLayoutId id="2147483814" r:id="rId98"/>
    <p:sldLayoutId id="2147483815" r:id="rId99"/>
    <p:sldLayoutId id="2147483816" r:id="rId100"/>
    <p:sldLayoutId id="2147483817" r:id="rId101"/>
    <p:sldLayoutId id="2147483818" r:id="rId102"/>
    <p:sldLayoutId id="2147483822" r:id="rId103"/>
    <p:sldLayoutId id="2147483826" r:id="rId104"/>
    <p:sldLayoutId id="2147483827" r:id="rId105"/>
    <p:sldLayoutId id="2147483828" r:id="rId106"/>
    <p:sldLayoutId id="2147483829" r:id="rId107"/>
    <p:sldLayoutId id="2147483830" r:id="rId108"/>
    <p:sldLayoutId id="2147483831" r:id="rId109"/>
    <p:sldLayoutId id="2147483832" r:id="rId110"/>
    <p:sldLayoutId id="2147483833" r:id="rId111"/>
    <p:sldLayoutId id="2147483834" r:id="rId112"/>
    <p:sldLayoutId id="2147483835" r:id="rId113"/>
    <p:sldLayoutId id="2147483836" r:id="rId114"/>
    <p:sldLayoutId id="2147483837" r:id="rId115"/>
    <p:sldLayoutId id="2147483838" r:id="rId116"/>
    <p:sldLayoutId id="2147483839" r:id="rId117"/>
    <p:sldLayoutId id="2147483840" r:id="rId118"/>
    <p:sldLayoutId id="2147483841" r:id="rId119"/>
    <p:sldLayoutId id="2147483842" r:id="rId120"/>
    <p:sldLayoutId id="2147483843" r:id="rId121"/>
    <p:sldLayoutId id="2147483844" r:id="rId122"/>
    <p:sldLayoutId id="2147483845" r:id="rId123"/>
    <p:sldLayoutId id="2147483846" r:id="rId124"/>
    <p:sldLayoutId id="2147483847" r:id="rId125"/>
    <p:sldLayoutId id="2147483848" r:id="rId126"/>
    <p:sldLayoutId id="2147483849" r:id="rId127"/>
    <p:sldLayoutId id="2147483850" r:id="rId128"/>
    <p:sldLayoutId id="2147483851" r:id="rId129"/>
    <p:sldLayoutId id="2147483852" r:id="rId130"/>
    <p:sldLayoutId id="2147483853" r:id="rId131"/>
    <p:sldLayoutId id="2147483854" r:id="rId132"/>
    <p:sldLayoutId id="2147483855" r:id="rId133"/>
    <p:sldLayoutId id="2147483856" r:id="rId134"/>
    <p:sldLayoutId id="2147483857" r:id="rId135"/>
    <p:sldLayoutId id="2147483858" r:id="rId136"/>
    <p:sldLayoutId id="2147483859" r:id="rId137"/>
    <p:sldLayoutId id="2147483860" r:id="rId138"/>
    <p:sldLayoutId id="2147483861" r:id="rId139"/>
    <p:sldLayoutId id="2147483862" r:id="rId140"/>
    <p:sldLayoutId id="2147483863" r:id="rId141"/>
    <p:sldLayoutId id="2147483864" r:id="rId142"/>
    <p:sldLayoutId id="2147483865" r:id="rId143"/>
    <p:sldLayoutId id="2147483866" r:id="rId144"/>
    <p:sldLayoutId id="2147483867" r:id="rId145"/>
    <p:sldLayoutId id="2147483868" r:id="rId146"/>
    <p:sldLayoutId id="2147483869" r:id="rId147"/>
    <p:sldLayoutId id="2147483870" r:id="rId148"/>
    <p:sldLayoutId id="2147483871" r:id="rId149"/>
    <p:sldLayoutId id="2147483872" r:id="rId150"/>
    <p:sldLayoutId id="2147483873" r:id="rId151"/>
    <p:sldLayoutId id="2147483874" r:id="rId152"/>
    <p:sldLayoutId id="2147483875" r:id="rId153"/>
    <p:sldLayoutId id="2147483876" r:id="rId154"/>
    <p:sldLayoutId id="2147483877" r:id="rId155"/>
    <p:sldLayoutId id="2147483878" r:id="rId156"/>
    <p:sldLayoutId id="2147483879" r:id="rId157"/>
    <p:sldLayoutId id="2147483880" r:id="rId158"/>
    <p:sldLayoutId id="2147483881" r:id="rId159"/>
    <p:sldLayoutId id="2147483882" r:id="rId160"/>
    <p:sldLayoutId id="2147483883" r:id="rId161"/>
    <p:sldLayoutId id="2147483884" r:id="rId162"/>
    <p:sldLayoutId id="2147483885" r:id="rId163"/>
    <p:sldLayoutId id="2147483886" r:id="rId164"/>
    <p:sldLayoutId id="2147483887" r:id="rId165"/>
    <p:sldLayoutId id="2147483888" r:id="rId166"/>
    <p:sldLayoutId id="2147483889" r:id="rId167"/>
    <p:sldLayoutId id="2147483890" r:id="rId168"/>
    <p:sldLayoutId id="2147483891" r:id="rId169"/>
    <p:sldLayoutId id="2147483892" r:id="rId170"/>
  </p:sldLayoutIdLst>
  <p:hf hdr="0" ftr="0" dt="0"/>
  <p:txStyles>
    <p:titleStyle>
      <a:lvl1pPr algn="l" defTabSz="914400" rtl="0" eaLnBrk="1" latinLnBrk="0" hangingPunct="1">
        <a:lnSpc>
          <a:spcPct val="75000"/>
        </a:lnSpc>
        <a:spcBef>
          <a:spcPct val="0"/>
        </a:spcBef>
        <a:buNone/>
        <a:defRPr sz="3000" b="1" kern="1200">
          <a:solidFill>
            <a:srgbClr val="9378B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28.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98.xml"/><Relationship Id="rId4" Type="http://schemas.openxmlformats.org/officeDocument/2006/relationships/image" Target="../media/image14.tmp"/></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7.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99.xml"/></Relationships>
</file>

<file path=ppt/slides/_rels/slide48.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99.xml"/><Relationship Id="rId4" Type="http://schemas.openxmlformats.org/officeDocument/2006/relationships/image" Target="../media/image18.tmp"/></Relationships>
</file>

<file path=ppt/slides/_rels/slide49.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99.xml"/><Relationship Id="rId4" Type="http://schemas.openxmlformats.org/officeDocument/2006/relationships/image" Target="../media/image19.tmp"/></Relationships>
</file>

<file path=ppt/slides/_rels/slide50.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100.xml"/><Relationship Id="rId4" Type="http://schemas.openxmlformats.org/officeDocument/2006/relationships/image" Target="../media/image20.tmp"/></Relationships>
</file>

<file path=ppt/slides/_rels/slide51.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101.xml"/></Relationships>
</file>

<file path=ppt/slides/_rels/slide52.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10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rme libre 34">
            <a:extLst>
              <a:ext uri="{FF2B5EF4-FFF2-40B4-BE49-F238E27FC236}">
                <a16:creationId xmlns:a16="http://schemas.microsoft.com/office/drawing/2014/main" id="{6BADFA64-1A15-D993-E148-F8053C6F7A02}"/>
              </a:ext>
            </a:extLst>
          </p:cNvPr>
          <p:cNvSpPr/>
          <p:nvPr/>
        </p:nvSpPr>
        <p:spPr>
          <a:xfrm>
            <a:off x="1636077" y="3519885"/>
            <a:ext cx="5078718" cy="4256479"/>
          </a:xfrm>
          <a:custGeom>
            <a:avLst/>
            <a:gdLst>
              <a:gd name="connsiteX0" fmla="*/ 0 w 5078718"/>
              <a:gd name="connsiteY0" fmla="*/ 0 h 4256479"/>
              <a:gd name="connsiteX1" fmla="*/ 5078719 w 5078718"/>
              <a:gd name="connsiteY1" fmla="*/ 0 h 4256479"/>
              <a:gd name="connsiteX2" fmla="*/ 5078719 w 5078718"/>
              <a:gd name="connsiteY2" fmla="*/ 4256480 h 4256479"/>
              <a:gd name="connsiteX3" fmla="*/ 0 w 5078718"/>
              <a:gd name="connsiteY3" fmla="*/ 4256480 h 4256479"/>
            </a:gdLst>
            <a:ahLst/>
            <a:cxnLst>
              <a:cxn ang="0">
                <a:pos x="connsiteX0" y="connsiteY0"/>
              </a:cxn>
              <a:cxn ang="0">
                <a:pos x="connsiteX1" y="connsiteY1"/>
              </a:cxn>
              <a:cxn ang="0">
                <a:pos x="connsiteX2" y="connsiteY2"/>
              </a:cxn>
              <a:cxn ang="0">
                <a:pos x="connsiteX3" y="connsiteY3"/>
              </a:cxn>
            </a:cxnLst>
            <a:rect l="l" t="t" r="r" b="b"/>
            <a:pathLst>
              <a:path w="5078718" h="4256479">
                <a:moveTo>
                  <a:pt x="0" y="0"/>
                </a:moveTo>
                <a:lnTo>
                  <a:pt x="5078719" y="0"/>
                </a:lnTo>
                <a:lnTo>
                  <a:pt x="5078719" y="4256480"/>
                </a:lnTo>
                <a:lnTo>
                  <a:pt x="0" y="4256480"/>
                </a:lnTo>
                <a:close/>
              </a:path>
            </a:pathLst>
          </a:custGeom>
          <a:noFill/>
          <a:ln w="3628" cap="flat">
            <a:noFill/>
            <a:prstDash val="solid"/>
            <a:miter/>
          </a:ln>
        </p:spPr>
        <p:txBody>
          <a:bodyPr rtlCol="0" anchor="ctr"/>
          <a:lstStyle/>
          <a:p>
            <a:endParaRPr lang="fr-FR"/>
          </a:p>
        </p:txBody>
      </p:sp>
      <p:pic>
        <p:nvPicPr>
          <p:cNvPr id="5" name="Image 4" descr="Une image contenant Visage humain, personne, habits, sourire&#10;&#10;Description générée automatiquement">
            <a:extLst>
              <a:ext uri="{FF2B5EF4-FFF2-40B4-BE49-F238E27FC236}">
                <a16:creationId xmlns:a16="http://schemas.microsoft.com/office/drawing/2014/main" id="{A60C8D55-D7C6-46C6-3EB4-E7AD640E8B9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372459" y="0"/>
            <a:ext cx="6573173" cy="6858000"/>
          </a:xfrm>
          <a:prstGeom prst="rect">
            <a:avLst/>
          </a:prstGeom>
          <a:effectLst>
            <a:outerShdw blurRad="609600" dist="1016000" dir="8100000" algn="tr" rotWithShape="0">
              <a:prstClr val="black">
                <a:alpha val="40000"/>
              </a:prstClr>
            </a:outerShdw>
          </a:effectLst>
        </p:spPr>
      </p:pic>
      <p:sp>
        <p:nvSpPr>
          <p:cNvPr id="2" name="Titre 1">
            <a:extLst>
              <a:ext uri="{FF2B5EF4-FFF2-40B4-BE49-F238E27FC236}">
                <a16:creationId xmlns:a16="http://schemas.microsoft.com/office/drawing/2014/main" id="{4CDD246A-A70A-E94F-3BF2-83F64E05CFE9}"/>
              </a:ext>
            </a:extLst>
          </p:cNvPr>
          <p:cNvSpPr>
            <a:spLocks noGrp="1"/>
          </p:cNvSpPr>
          <p:nvPr>
            <p:ph type="ctrTitle"/>
          </p:nvPr>
        </p:nvSpPr>
        <p:spPr>
          <a:xfrm>
            <a:off x="537328" y="2318993"/>
            <a:ext cx="7022969" cy="2498104"/>
          </a:xfrm>
        </p:spPr>
        <p:txBody>
          <a:bodyPr>
            <a:normAutofit/>
          </a:bodyPr>
          <a:lstStyle/>
          <a:p>
            <a:r>
              <a:rPr lang="fr-FR" dirty="0"/>
              <a:t>Sessions 3 and 4: </a:t>
            </a:r>
            <a:r>
              <a:rPr lang="fr-FR" dirty="0" err="1"/>
              <a:t>Income</a:t>
            </a:r>
            <a:r>
              <a:rPr lang="fr-FR" dirty="0"/>
              <a:t> </a:t>
            </a:r>
            <a:r>
              <a:rPr lang="fr-FR" dirty="0" err="1"/>
              <a:t>statement</a:t>
            </a:r>
            <a:endParaRPr lang="fr-FR" dirty="0"/>
          </a:p>
        </p:txBody>
      </p:sp>
      <p:sp>
        <p:nvSpPr>
          <p:cNvPr id="3" name="Sous-titre 2">
            <a:extLst>
              <a:ext uri="{FF2B5EF4-FFF2-40B4-BE49-F238E27FC236}">
                <a16:creationId xmlns:a16="http://schemas.microsoft.com/office/drawing/2014/main" id="{CF66FCA7-2738-B5BA-6CD7-335420B1EC29}"/>
              </a:ext>
            </a:extLst>
          </p:cNvPr>
          <p:cNvSpPr>
            <a:spLocks noGrp="1"/>
          </p:cNvSpPr>
          <p:nvPr>
            <p:ph type="subTitle" idx="1"/>
          </p:nvPr>
        </p:nvSpPr>
        <p:spPr>
          <a:xfrm>
            <a:off x="537328" y="4940644"/>
            <a:ext cx="7022969" cy="1469781"/>
          </a:xfrm>
        </p:spPr>
        <p:txBody>
          <a:bodyPr>
            <a:normAutofit fontScale="92500" lnSpcReduction="20000"/>
          </a:bodyPr>
          <a:lstStyle/>
          <a:p>
            <a:r>
              <a:rPr lang="fr-FR" dirty="0"/>
              <a:t>Financial </a:t>
            </a:r>
            <a:r>
              <a:rPr lang="fr-FR" dirty="0" err="1"/>
              <a:t>Analysis</a:t>
            </a:r>
            <a:endParaRPr lang="fr-FR" dirty="0"/>
          </a:p>
          <a:p>
            <a:r>
              <a:rPr lang="fr-FR" dirty="0"/>
              <a:t>BBA FinTech, 2</a:t>
            </a:r>
            <a:r>
              <a:rPr lang="fr-FR" baseline="30000" dirty="0"/>
              <a:t>nd</a:t>
            </a:r>
            <a:r>
              <a:rPr lang="fr-FR" dirty="0"/>
              <a:t> </a:t>
            </a:r>
            <a:r>
              <a:rPr lang="fr-FR" dirty="0" err="1"/>
              <a:t>year</a:t>
            </a:r>
            <a:endParaRPr lang="fr-FR" dirty="0"/>
          </a:p>
          <a:p>
            <a:r>
              <a:rPr lang="fr-FR" dirty="0"/>
              <a:t>March 2026</a:t>
            </a:r>
          </a:p>
          <a:p>
            <a:r>
              <a:rPr lang="fr-FR" dirty="0"/>
              <a:t>Eric Maton</a:t>
            </a:r>
          </a:p>
        </p:txBody>
      </p:sp>
      <p:pic>
        <p:nvPicPr>
          <p:cNvPr id="4" name="Image 3" descr="Une image contenant texte, Police, capture d’écran, noir&#10;&#10;Description générée automatiquement">
            <a:extLst>
              <a:ext uri="{FF2B5EF4-FFF2-40B4-BE49-F238E27FC236}">
                <a16:creationId xmlns:a16="http://schemas.microsoft.com/office/drawing/2014/main" id="{133B02E7-7249-01AE-9074-508ECC5412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52240" y="6146859"/>
            <a:ext cx="4274820" cy="550188"/>
          </a:xfrm>
          <a:prstGeom prst="rect">
            <a:avLst/>
          </a:prstGeom>
        </p:spPr>
      </p:pic>
    </p:spTree>
    <p:extLst>
      <p:ext uri="{BB962C8B-B14F-4D97-AF65-F5344CB8AC3E}">
        <p14:creationId xmlns:p14="http://schemas.microsoft.com/office/powerpoint/2010/main" val="603170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B9113-2BE9-BA6C-5030-4654EB7EDE97}"/>
              </a:ext>
            </a:extLst>
          </p:cNvPr>
          <p:cNvSpPr>
            <a:spLocks noGrp="1"/>
          </p:cNvSpPr>
          <p:nvPr>
            <p:ph type="sldNum" sz="quarter" idx="10"/>
          </p:nvPr>
        </p:nvSpPr>
        <p:spPr/>
        <p:txBody>
          <a:bodyPr/>
          <a:lstStyle/>
          <a:p>
            <a:fld id="{421B1A79-1F45-8F4F-AED5-0EE30DCF0380}" type="slidenum">
              <a:rPr lang="fr-FR" smtClean="0"/>
              <a:t>2</a:t>
            </a:fld>
            <a:endParaRPr lang="fr-FR"/>
          </a:p>
        </p:txBody>
      </p:sp>
      <p:sp>
        <p:nvSpPr>
          <p:cNvPr id="5" name="Espace réservé du contenu 1">
            <a:extLst>
              <a:ext uri="{FF2B5EF4-FFF2-40B4-BE49-F238E27FC236}">
                <a16:creationId xmlns:a16="http://schemas.microsoft.com/office/drawing/2014/main" id="{76F86979-877B-1E67-1B71-2B52FD175E63}"/>
              </a:ext>
            </a:extLst>
          </p:cNvPr>
          <p:cNvSpPr txBox="1">
            <a:spLocks/>
          </p:cNvSpPr>
          <p:nvPr/>
        </p:nvSpPr>
        <p:spPr>
          <a:xfrm>
            <a:off x="1391935" y="2836212"/>
            <a:ext cx="10460055" cy="1223541"/>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399" dirty="0">
                <a:solidFill>
                  <a:srgbClr val="03050D"/>
                </a:solidFill>
              </a:rPr>
              <a:t>Sessions 3 and 4</a:t>
            </a:r>
          </a:p>
          <a:p>
            <a:pPr marL="0" indent="0">
              <a:buFont typeface="Arial" panose="020B0604020202020204" pitchFamily="34" charset="0"/>
              <a:buNone/>
            </a:pPr>
            <a:r>
              <a:rPr lang="fr-FR" sz="2399" b="0" dirty="0" err="1">
                <a:solidFill>
                  <a:srgbClr val="03050D"/>
                </a:solidFill>
              </a:rPr>
              <a:t>Income</a:t>
            </a:r>
            <a:r>
              <a:rPr lang="fr-FR" sz="2399" b="0" dirty="0">
                <a:solidFill>
                  <a:srgbClr val="03050D"/>
                </a:solidFill>
              </a:rPr>
              <a:t> </a:t>
            </a:r>
            <a:r>
              <a:rPr lang="fr-FR" sz="2399" b="0" dirty="0" err="1">
                <a:solidFill>
                  <a:srgbClr val="03050D"/>
                </a:solidFill>
              </a:rPr>
              <a:t>statement</a:t>
            </a:r>
            <a:r>
              <a:rPr lang="fr-FR" sz="2399" b="0" dirty="0">
                <a:solidFill>
                  <a:srgbClr val="03050D"/>
                </a:solidFill>
              </a:rPr>
              <a:t> (or P&amp;L: profit and </a:t>
            </a:r>
            <a:r>
              <a:rPr lang="fr-FR" sz="2399" b="0" dirty="0" err="1">
                <a:solidFill>
                  <a:srgbClr val="03050D"/>
                </a:solidFill>
              </a:rPr>
              <a:t>loss</a:t>
            </a:r>
            <a:r>
              <a:rPr lang="fr-FR" sz="2399" b="0" dirty="0">
                <a:solidFill>
                  <a:srgbClr val="03050D"/>
                </a:solidFill>
              </a:rPr>
              <a:t> </a:t>
            </a:r>
            <a:r>
              <a:rPr lang="fr-FR" sz="2399" b="0" dirty="0" err="1">
                <a:solidFill>
                  <a:srgbClr val="03050D"/>
                </a:solidFill>
              </a:rPr>
              <a:t>account</a:t>
            </a:r>
            <a:r>
              <a:rPr lang="fr-FR" sz="2399" b="0" dirty="0">
                <a:solidFill>
                  <a:srgbClr val="03050D"/>
                </a:solidFill>
              </a:rPr>
              <a:t>): </a:t>
            </a:r>
            <a:r>
              <a:rPr lang="fr-FR" sz="2399" b="0" dirty="0" err="1">
                <a:solidFill>
                  <a:srgbClr val="03050D"/>
                </a:solidFill>
              </a:rPr>
              <a:t>from</a:t>
            </a:r>
            <a:r>
              <a:rPr lang="fr-FR" sz="2399" b="0" dirty="0">
                <a:solidFill>
                  <a:srgbClr val="03050D"/>
                </a:solidFill>
              </a:rPr>
              <a:t> </a:t>
            </a:r>
            <a:r>
              <a:rPr lang="fr-FR" sz="2399" b="0" dirty="0" err="1">
                <a:solidFill>
                  <a:srgbClr val="03050D"/>
                </a:solidFill>
              </a:rPr>
              <a:t>accounting</a:t>
            </a:r>
            <a:r>
              <a:rPr lang="fr-FR" sz="2399" b="0" dirty="0">
                <a:solidFill>
                  <a:srgbClr val="03050D"/>
                </a:solidFill>
              </a:rPr>
              <a:t> information to </a:t>
            </a:r>
            <a:r>
              <a:rPr lang="fr-FR" sz="2399" b="0" dirty="0" err="1">
                <a:solidFill>
                  <a:srgbClr val="03050D"/>
                </a:solidFill>
              </a:rPr>
              <a:t>financial</a:t>
            </a:r>
            <a:r>
              <a:rPr lang="fr-FR" sz="2399" b="0" dirty="0">
                <a:solidFill>
                  <a:srgbClr val="03050D"/>
                </a:solidFill>
              </a:rPr>
              <a:t> </a:t>
            </a:r>
            <a:r>
              <a:rPr lang="fr-FR" sz="2399" b="0" dirty="0" err="1">
                <a:solidFill>
                  <a:srgbClr val="03050D"/>
                </a:solidFill>
              </a:rPr>
              <a:t>analysis</a:t>
            </a:r>
            <a:endParaRPr lang="fr-FR" sz="2399" b="0" dirty="0">
              <a:solidFill>
                <a:srgbClr val="03050D"/>
              </a:solidFill>
            </a:endParaRPr>
          </a:p>
        </p:txBody>
      </p:sp>
      <p:sp>
        <p:nvSpPr>
          <p:cNvPr id="6" name="ZoneTexte 7">
            <a:extLst>
              <a:ext uri="{FF2B5EF4-FFF2-40B4-BE49-F238E27FC236}">
                <a16:creationId xmlns:a16="http://schemas.microsoft.com/office/drawing/2014/main" id="{1AF846A2-2BF9-5C46-E486-B2C16659863B}"/>
              </a:ext>
            </a:extLst>
          </p:cNvPr>
          <p:cNvSpPr txBox="1"/>
          <p:nvPr/>
        </p:nvSpPr>
        <p:spPr>
          <a:xfrm rot="16200000">
            <a:off x="-1104770" y="3082997"/>
            <a:ext cx="4076940" cy="584455"/>
          </a:xfrm>
          <a:prstGeom prst="rect">
            <a:avLst/>
          </a:prstGeom>
          <a:solidFill>
            <a:schemeClr val="accent1">
              <a:lumMod val="40000"/>
              <a:lumOff val="60000"/>
            </a:schemeClr>
          </a:solidFill>
        </p:spPr>
        <p:txBody>
          <a:bodyPr wrap="square" rtlCol="0">
            <a:spAutoFit/>
          </a:bodyPr>
          <a:lstStyle/>
          <a:p>
            <a:pPr algn="ctr"/>
            <a:r>
              <a:rPr lang="fr-FR" sz="3198" dirty="0"/>
              <a:t>Brief contents</a:t>
            </a:r>
          </a:p>
        </p:txBody>
      </p:sp>
      <p:sp>
        <p:nvSpPr>
          <p:cNvPr id="7" name="Espace réservé du contenu 1">
            <a:extLst>
              <a:ext uri="{FF2B5EF4-FFF2-40B4-BE49-F238E27FC236}">
                <a16:creationId xmlns:a16="http://schemas.microsoft.com/office/drawing/2014/main" id="{640F67F8-9272-A0D8-48F5-90285759AE7F}"/>
              </a:ext>
            </a:extLst>
          </p:cNvPr>
          <p:cNvSpPr txBox="1">
            <a:spLocks/>
          </p:cNvSpPr>
          <p:nvPr/>
        </p:nvSpPr>
        <p:spPr>
          <a:xfrm>
            <a:off x="1395840" y="1336757"/>
            <a:ext cx="10460055" cy="1323658"/>
          </a:xfrm>
          <a:prstGeom prst="rect">
            <a:avLst/>
          </a:prstGeom>
          <a:solidFill>
            <a:schemeClr val="bg1">
              <a:lumMod val="85000"/>
            </a:schemeClr>
          </a:solidFill>
        </p:spPr>
        <p:txBody>
          <a:bodyPr/>
          <a:lstStyle>
            <a:lvl1pPr marL="355600" indent="-355600" algn="l" defTabSz="914400" rtl="0" eaLnBrk="1" latinLnBrk="0" hangingPunct="1">
              <a:spcBef>
                <a:spcPct val="20000"/>
              </a:spcBef>
              <a:buClr>
                <a:schemeClr val="tx1">
                  <a:lumMod val="85000"/>
                  <a:lumOff val="15000"/>
                </a:schemeClr>
              </a:buClr>
              <a:buSzPct val="70000"/>
              <a:buFont typeface="Wingdings" panose="05000000000000000000" pitchFamily="2" charset="2"/>
              <a:buChar char="§"/>
              <a:defRPr sz="2000" kern="1200">
                <a:solidFill>
                  <a:srgbClr val="17212F"/>
                </a:solidFill>
                <a:latin typeface="Arial"/>
                <a:ea typeface="+mn-ea"/>
                <a:cs typeface="Arial"/>
              </a:defRPr>
            </a:lvl1pPr>
            <a:lvl2pPr marL="742950" indent="-28575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17212F"/>
                </a:solidFill>
                <a:latin typeface="Arial"/>
                <a:ea typeface="+mn-ea"/>
                <a:cs typeface="Arial"/>
              </a:defRPr>
            </a:lvl2pPr>
            <a:lvl3pPr marL="11430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400" kern="1200">
                <a:solidFill>
                  <a:srgbClr val="17212F"/>
                </a:solidFill>
                <a:latin typeface="Arial"/>
                <a:ea typeface="+mn-ea"/>
                <a:cs typeface="Arial"/>
              </a:defRPr>
            </a:lvl3pPr>
            <a:lvl4pPr marL="16002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200" kern="1200">
                <a:solidFill>
                  <a:srgbClr val="17212F"/>
                </a:solidFill>
                <a:latin typeface="Arial"/>
                <a:ea typeface="+mn-ea"/>
                <a:cs typeface="Arial"/>
              </a:defRPr>
            </a:lvl4pPr>
            <a:lvl5pPr marL="20574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404040"/>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399" b="1" dirty="0"/>
              <a:t>Sessions 1 and 2</a:t>
            </a:r>
          </a:p>
          <a:p>
            <a:pPr marL="0" indent="0">
              <a:buNone/>
            </a:pPr>
            <a:r>
              <a:rPr lang="fr-FR" sz="2399" dirty="0"/>
              <a:t>Basic business </a:t>
            </a:r>
            <a:r>
              <a:rPr lang="fr-FR" sz="2399" dirty="0" err="1"/>
              <a:t>equation</a:t>
            </a:r>
            <a:r>
              <a:rPr lang="fr-FR" sz="2399" dirty="0"/>
              <a:t> or </a:t>
            </a:r>
            <a:r>
              <a:rPr lang="fr-FR" sz="2399" dirty="0" err="1"/>
              <a:t>fundamental</a:t>
            </a:r>
            <a:r>
              <a:rPr lang="fr-FR" sz="2399" dirty="0"/>
              <a:t> accounting </a:t>
            </a:r>
            <a:r>
              <a:rPr lang="fr-FR" sz="2399" dirty="0" err="1"/>
              <a:t>equation</a:t>
            </a:r>
            <a:r>
              <a:rPr lang="fr-FR" sz="2399" dirty="0"/>
              <a:t> (balance </a:t>
            </a:r>
            <a:r>
              <a:rPr lang="fr-FR" sz="2399" dirty="0" err="1"/>
              <a:t>sheet</a:t>
            </a:r>
            <a:r>
              <a:rPr lang="fr-FR" sz="2399" dirty="0"/>
              <a:t> </a:t>
            </a:r>
            <a:r>
              <a:rPr lang="fr-FR" sz="2399" dirty="0" err="1"/>
              <a:t>represented</a:t>
            </a:r>
            <a:r>
              <a:rPr lang="fr-FR" sz="2399" dirty="0"/>
              <a:t> as an </a:t>
            </a:r>
            <a:r>
              <a:rPr lang="fr-FR" sz="2399" dirty="0" err="1"/>
              <a:t>equation</a:t>
            </a:r>
            <a:r>
              <a:rPr lang="fr-FR" sz="2399" dirty="0"/>
              <a:t>)</a:t>
            </a:r>
          </a:p>
        </p:txBody>
      </p:sp>
      <p:sp>
        <p:nvSpPr>
          <p:cNvPr id="2" name="Espace réservé du contenu 1">
            <a:extLst>
              <a:ext uri="{FF2B5EF4-FFF2-40B4-BE49-F238E27FC236}">
                <a16:creationId xmlns:a16="http://schemas.microsoft.com/office/drawing/2014/main" id="{D883D8B2-E654-7309-72D5-EE1F271BFFBD}"/>
              </a:ext>
            </a:extLst>
          </p:cNvPr>
          <p:cNvSpPr txBox="1">
            <a:spLocks/>
          </p:cNvSpPr>
          <p:nvPr/>
        </p:nvSpPr>
        <p:spPr>
          <a:xfrm>
            <a:off x="1391935" y="4235550"/>
            <a:ext cx="10460055" cy="1178143"/>
          </a:xfrm>
          <a:prstGeom prst="rect">
            <a:avLst/>
          </a:prstGeom>
          <a:solidFill>
            <a:schemeClr val="bg1">
              <a:lumMod val="85000"/>
            </a:schemeClr>
          </a:solidFill>
        </p:spPr>
        <p:txBody>
          <a:bodyPr/>
          <a:lstStyle>
            <a:lvl1pPr marL="355600" indent="-355600" algn="l" defTabSz="914400" rtl="0" eaLnBrk="1" latinLnBrk="0" hangingPunct="1">
              <a:spcBef>
                <a:spcPct val="20000"/>
              </a:spcBef>
              <a:buClr>
                <a:schemeClr val="tx1">
                  <a:lumMod val="85000"/>
                  <a:lumOff val="15000"/>
                </a:schemeClr>
              </a:buClr>
              <a:buSzPct val="70000"/>
              <a:buFont typeface="Wingdings" panose="05000000000000000000" pitchFamily="2" charset="2"/>
              <a:buChar char="§"/>
              <a:defRPr sz="2000" kern="1200">
                <a:solidFill>
                  <a:srgbClr val="17212F"/>
                </a:solidFill>
                <a:latin typeface="Arial"/>
                <a:ea typeface="+mn-ea"/>
                <a:cs typeface="Arial"/>
              </a:defRPr>
            </a:lvl1pPr>
            <a:lvl2pPr marL="742950" indent="-28575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17212F"/>
                </a:solidFill>
                <a:latin typeface="Arial"/>
                <a:ea typeface="+mn-ea"/>
                <a:cs typeface="Arial"/>
              </a:defRPr>
            </a:lvl2pPr>
            <a:lvl3pPr marL="11430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400" kern="1200">
                <a:solidFill>
                  <a:srgbClr val="17212F"/>
                </a:solidFill>
                <a:latin typeface="Arial"/>
                <a:ea typeface="+mn-ea"/>
                <a:cs typeface="Arial"/>
              </a:defRPr>
            </a:lvl3pPr>
            <a:lvl4pPr marL="16002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200" kern="1200">
                <a:solidFill>
                  <a:srgbClr val="17212F"/>
                </a:solidFill>
                <a:latin typeface="Arial"/>
                <a:ea typeface="+mn-ea"/>
                <a:cs typeface="Arial"/>
              </a:defRPr>
            </a:lvl4pPr>
            <a:lvl5pPr marL="2057400" indent="-228600" algn="l" defTabSz="914400" rtl="0" eaLnBrk="1" latinLnBrk="0" hangingPunct="1">
              <a:spcBef>
                <a:spcPct val="20000"/>
              </a:spcBef>
              <a:buClr>
                <a:schemeClr val="tx1">
                  <a:lumMod val="85000"/>
                  <a:lumOff val="15000"/>
                </a:schemeClr>
              </a:buClr>
              <a:buSzPct val="50000"/>
              <a:buFont typeface="Wingdings" panose="05000000000000000000" pitchFamily="2" charset="2"/>
              <a:buChar char="§"/>
              <a:defRPr sz="1600" kern="1200">
                <a:solidFill>
                  <a:srgbClr val="404040"/>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399" b="1" dirty="0">
                <a:solidFill>
                  <a:srgbClr val="03050D"/>
                </a:solidFill>
              </a:rPr>
              <a:t>Session 5 and 6</a:t>
            </a:r>
          </a:p>
          <a:p>
            <a:pPr marL="0" indent="0">
              <a:buNone/>
            </a:pPr>
            <a:r>
              <a:rPr lang="fr-FR" sz="2399" kern="0" dirty="0">
                <a:solidFill>
                  <a:srgbClr val="03050D"/>
                </a:solidFill>
              </a:rPr>
              <a:t>Non-</a:t>
            </a:r>
            <a:r>
              <a:rPr lang="fr-FR" sz="2399" kern="0" dirty="0" err="1">
                <a:solidFill>
                  <a:srgbClr val="03050D"/>
                </a:solidFill>
              </a:rPr>
              <a:t>current</a:t>
            </a:r>
            <a:r>
              <a:rPr lang="fr-FR" sz="2399" kern="0" dirty="0">
                <a:solidFill>
                  <a:srgbClr val="03050D"/>
                </a:solidFill>
              </a:rPr>
              <a:t> assets (P,P&amp;E, intangible assets and right-of-use assets) and </a:t>
            </a:r>
            <a:r>
              <a:rPr lang="fr-FR" sz="2399" kern="0" dirty="0" err="1">
                <a:solidFill>
                  <a:srgbClr val="03050D"/>
                </a:solidFill>
              </a:rPr>
              <a:t>current</a:t>
            </a:r>
            <a:r>
              <a:rPr lang="fr-FR" sz="2399" kern="0" dirty="0">
                <a:solidFill>
                  <a:srgbClr val="03050D"/>
                </a:solidFill>
              </a:rPr>
              <a:t> assets (inventories)</a:t>
            </a:r>
          </a:p>
        </p:txBody>
      </p:sp>
    </p:spTree>
    <p:extLst>
      <p:ext uri="{BB962C8B-B14F-4D97-AF65-F5344CB8AC3E}">
        <p14:creationId xmlns:p14="http://schemas.microsoft.com/office/powerpoint/2010/main" val="2549978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A7338B-1B75-6D81-60D2-A9B00280AEC1}"/>
              </a:ext>
            </a:extLst>
          </p:cNvPr>
          <p:cNvSpPr>
            <a:spLocks noGrp="1"/>
          </p:cNvSpPr>
          <p:nvPr>
            <p:ph type="sldNum" sz="quarter" idx="10"/>
          </p:nvPr>
        </p:nvSpPr>
        <p:spPr/>
        <p:txBody>
          <a:bodyPr/>
          <a:lstStyle/>
          <a:p>
            <a:fld id="{421B1A79-1F45-8F4F-AED5-0EE30DCF0380}" type="slidenum">
              <a:rPr lang="fr-FR" smtClean="0"/>
              <a:t>3</a:t>
            </a:fld>
            <a:endParaRPr lang="fr-FR"/>
          </a:p>
        </p:txBody>
      </p:sp>
      <p:sp>
        <p:nvSpPr>
          <p:cNvPr id="5" name="Espace réservé du contenu 1">
            <a:extLst>
              <a:ext uri="{FF2B5EF4-FFF2-40B4-BE49-F238E27FC236}">
                <a16:creationId xmlns:a16="http://schemas.microsoft.com/office/drawing/2014/main" id="{6F3931E1-BC68-D72D-AEB7-3C35E0A0DA41}"/>
              </a:ext>
            </a:extLst>
          </p:cNvPr>
          <p:cNvSpPr txBox="1">
            <a:spLocks/>
          </p:cNvSpPr>
          <p:nvPr/>
        </p:nvSpPr>
        <p:spPr>
          <a:xfrm>
            <a:off x="1336973" y="2763677"/>
            <a:ext cx="10460055" cy="1330645"/>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1" kern="1200">
                <a:solidFill>
                  <a:schemeClr val="tx1"/>
                </a:solidFill>
                <a:latin typeface="Arial Nova"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i="1" kern="1200">
                <a:solidFill>
                  <a:schemeClr val="tx1"/>
                </a:solidFill>
                <a:latin typeface="Arial Nova Cond" panose="020B0506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i="1" kern="1200">
                <a:solidFill>
                  <a:srgbClr val="22398E"/>
                </a:solidFill>
                <a:latin typeface="Arial Nova Cond" panose="020B0506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399" dirty="0">
                <a:solidFill>
                  <a:srgbClr val="03050D"/>
                </a:solidFill>
              </a:rPr>
              <a:t>Sessions 8 and 9</a:t>
            </a:r>
          </a:p>
          <a:p>
            <a:pPr marL="0" indent="0">
              <a:buFont typeface="Arial" panose="020B0604020202020204" pitchFamily="34" charset="0"/>
              <a:buNone/>
            </a:pPr>
            <a:r>
              <a:rPr lang="fr-FR" sz="2399" b="0" dirty="0" err="1">
                <a:solidFill>
                  <a:srgbClr val="03050D"/>
                </a:solidFill>
              </a:rPr>
              <a:t>Statement</a:t>
            </a:r>
            <a:r>
              <a:rPr lang="fr-FR" sz="2399" b="0" dirty="0">
                <a:solidFill>
                  <a:srgbClr val="03050D"/>
                </a:solidFill>
              </a:rPr>
              <a:t> of cash flows (operating cash flows, </a:t>
            </a:r>
            <a:r>
              <a:rPr lang="fr-FR" sz="2399" b="0" dirty="0" err="1">
                <a:solidFill>
                  <a:srgbClr val="03050D"/>
                </a:solidFill>
              </a:rPr>
              <a:t>investing</a:t>
            </a:r>
            <a:r>
              <a:rPr lang="fr-FR" sz="2399" b="0" dirty="0">
                <a:solidFill>
                  <a:srgbClr val="03050D"/>
                </a:solidFill>
              </a:rPr>
              <a:t> cash flows and </a:t>
            </a:r>
            <a:r>
              <a:rPr lang="fr-FR" sz="2399" b="0" dirty="0" err="1">
                <a:solidFill>
                  <a:srgbClr val="03050D"/>
                </a:solidFill>
              </a:rPr>
              <a:t>financing</a:t>
            </a:r>
            <a:r>
              <a:rPr lang="fr-FR" sz="2399" b="0" dirty="0">
                <a:solidFill>
                  <a:srgbClr val="03050D"/>
                </a:solidFill>
              </a:rPr>
              <a:t> cash flows) and </a:t>
            </a:r>
            <a:r>
              <a:rPr lang="fr-FR" sz="2399" b="0" dirty="0" err="1">
                <a:solidFill>
                  <a:srgbClr val="03050D"/>
                </a:solidFill>
              </a:rPr>
              <a:t>revision</a:t>
            </a:r>
            <a:endParaRPr lang="fr-FR" sz="2399" b="0" dirty="0">
              <a:solidFill>
                <a:srgbClr val="03050D"/>
              </a:solidFill>
            </a:endParaRPr>
          </a:p>
        </p:txBody>
      </p:sp>
      <p:sp>
        <p:nvSpPr>
          <p:cNvPr id="6" name="ZoneTexte 7">
            <a:extLst>
              <a:ext uri="{FF2B5EF4-FFF2-40B4-BE49-F238E27FC236}">
                <a16:creationId xmlns:a16="http://schemas.microsoft.com/office/drawing/2014/main" id="{B34E4E54-26D4-A802-424B-D4B9EDFFB313}"/>
              </a:ext>
            </a:extLst>
          </p:cNvPr>
          <p:cNvSpPr txBox="1"/>
          <p:nvPr/>
        </p:nvSpPr>
        <p:spPr>
          <a:xfrm rot="16200000">
            <a:off x="-636799" y="2381842"/>
            <a:ext cx="2840504" cy="584455"/>
          </a:xfrm>
          <a:prstGeom prst="rect">
            <a:avLst/>
          </a:prstGeom>
          <a:solidFill>
            <a:schemeClr val="accent1">
              <a:lumMod val="40000"/>
              <a:lumOff val="60000"/>
            </a:schemeClr>
          </a:solidFill>
        </p:spPr>
        <p:txBody>
          <a:bodyPr wrap="square" rtlCol="0">
            <a:spAutoFit/>
          </a:bodyPr>
          <a:lstStyle/>
          <a:p>
            <a:pPr algn="ctr"/>
            <a:r>
              <a:rPr lang="fr-FR" sz="3198" dirty="0"/>
              <a:t>Brief contents</a:t>
            </a:r>
          </a:p>
        </p:txBody>
      </p:sp>
      <p:sp>
        <p:nvSpPr>
          <p:cNvPr id="2" name="Espace réservé du contenu 1">
            <a:extLst>
              <a:ext uri="{FF2B5EF4-FFF2-40B4-BE49-F238E27FC236}">
                <a16:creationId xmlns:a16="http://schemas.microsoft.com/office/drawing/2014/main" id="{D4B2BE17-E38B-FC32-41D4-8AE6978643D5}"/>
              </a:ext>
            </a:extLst>
          </p:cNvPr>
          <p:cNvSpPr txBox="1">
            <a:spLocks/>
          </p:cNvSpPr>
          <p:nvPr/>
        </p:nvSpPr>
        <p:spPr>
          <a:xfrm>
            <a:off x="1383424" y="1253820"/>
            <a:ext cx="10460055" cy="1330645"/>
          </a:xfrm>
          <a:prstGeom prst="rect">
            <a:avLst/>
          </a:prstGeom>
          <a:solidFill>
            <a:schemeClr val="bg1">
              <a:lumMod val="85000"/>
            </a:schemeClr>
          </a:solidFill>
        </p:spPr>
        <p:txBody>
          <a:bodyPr vert="horz" lIns="64262" tIns="32131" rIns="64262" bIns="32131" rtlCol="0">
            <a:normAutofit/>
          </a:bodyPr>
          <a:lstStyle>
            <a:lvl1pPr marL="674324" marR="0" indent="-674324" defTabSz="914400" eaLnBrk="1" fontAlgn="auto" latinLnBrk="0" hangingPunct="1">
              <a:lnSpc>
                <a:spcPct val="100000"/>
              </a:lnSpc>
              <a:spcBef>
                <a:spcPts val="0"/>
              </a:spcBef>
              <a:spcAft>
                <a:spcPts val="0"/>
              </a:spcAft>
              <a:buClrTx/>
              <a:buSzPct val="70000"/>
              <a:buFont typeface="Wingdings" panose="05000000000000000000" pitchFamily="2" charset="2"/>
              <a:buChar char="§"/>
              <a:tabLst/>
              <a:defRPr sz="3793" b="0" i="0" cap="none" baseline="0">
                <a:solidFill>
                  <a:srgbClr val="1360AE"/>
                </a:solidFill>
                <a:latin typeface="Arial"/>
                <a:ea typeface="+mn-ea"/>
                <a:cs typeface="Arial"/>
              </a:defRPr>
            </a:lvl1pPr>
            <a:lvl2pPr marL="1408856" indent="-541868">
              <a:buClrTx/>
              <a:buSzPct val="50000"/>
              <a:buFont typeface="Wingdings" panose="05000000000000000000" pitchFamily="2" charset="2"/>
              <a:buChar char="§"/>
              <a:defRPr sz="3034" b="1" i="0">
                <a:solidFill>
                  <a:srgbClr val="1360AE"/>
                </a:solidFill>
                <a:latin typeface="Arial"/>
                <a:ea typeface="+mn-ea"/>
                <a:cs typeface="Arial"/>
              </a:defRPr>
            </a:lvl2pPr>
            <a:lvl3pPr marL="2167471" indent="-433494">
              <a:buClrTx/>
              <a:buSzPct val="50000"/>
              <a:buFont typeface="Wingdings" panose="05000000000000000000" pitchFamily="2" charset="2"/>
              <a:buChar char="§"/>
              <a:defRPr sz="2655" b="0" i="0">
                <a:solidFill>
                  <a:srgbClr val="1360AE"/>
                </a:solidFill>
                <a:latin typeface="Arial"/>
                <a:ea typeface="+mn-ea"/>
                <a:cs typeface="Arial"/>
              </a:defRPr>
            </a:lvl3pPr>
            <a:lvl4pPr marL="3034459" indent="-433494">
              <a:buClrTx/>
              <a:buSzPct val="50000"/>
              <a:buFont typeface="Wingdings" panose="05000000000000000000" pitchFamily="2" charset="2"/>
              <a:buChar char="§"/>
              <a:defRPr sz="2276" b="0" i="0">
                <a:solidFill>
                  <a:srgbClr val="1360AE"/>
                </a:solidFill>
                <a:latin typeface="Arial"/>
                <a:ea typeface="+mn-ea"/>
                <a:cs typeface="Arial"/>
              </a:defRPr>
            </a:lvl4pPr>
            <a:lvl5pPr marL="3901448" marR="0" indent="-433494" defTabSz="914400" eaLnBrk="1" fontAlgn="auto" latinLnBrk="0" hangingPunct="1">
              <a:lnSpc>
                <a:spcPct val="100000"/>
              </a:lnSpc>
              <a:spcBef>
                <a:spcPts val="0"/>
              </a:spcBef>
              <a:spcAft>
                <a:spcPts val="0"/>
              </a:spcAft>
              <a:buClr>
                <a:schemeClr val="tx1">
                  <a:lumMod val="85000"/>
                  <a:lumOff val="15000"/>
                </a:schemeClr>
              </a:buClr>
              <a:buSzPct val="50000"/>
              <a:buFont typeface="Wingdings" panose="05000000000000000000" pitchFamily="2" charset="2"/>
              <a:buChar char="§"/>
              <a:tabLst/>
              <a:defRPr sz="3034" b="0" i="0">
                <a:solidFill>
                  <a:srgbClr val="404040"/>
                </a:solidFill>
                <a:latin typeface="Arial"/>
                <a:ea typeface="+mn-ea"/>
                <a:cs typeface="Arial"/>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fr-FR" sz="2399" b="1" kern="0" dirty="0">
                <a:solidFill>
                  <a:srgbClr val="03050D"/>
                </a:solidFill>
              </a:rPr>
              <a:t>Session 7</a:t>
            </a:r>
          </a:p>
          <a:p>
            <a:pPr marL="0" indent="0">
              <a:buNone/>
            </a:pPr>
            <a:r>
              <a:rPr lang="fr-FR" sz="2399" kern="0" dirty="0">
                <a:solidFill>
                  <a:srgbClr val="03050D"/>
                </a:solidFill>
              </a:rPr>
              <a:t>Financial </a:t>
            </a:r>
            <a:r>
              <a:rPr lang="fr-FR" sz="2399" kern="0" dirty="0" err="1">
                <a:solidFill>
                  <a:srgbClr val="03050D"/>
                </a:solidFill>
              </a:rPr>
              <a:t>analysis</a:t>
            </a:r>
            <a:r>
              <a:rPr lang="fr-FR" sz="2399" kern="0" dirty="0">
                <a:solidFill>
                  <a:srgbClr val="03050D"/>
                </a:solidFill>
              </a:rPr>
              <a:t> techniques:</a:t>
            </a:r>
          </a:p>
          <a:p>
            <a:pPr marL="0" indent="0">
              <a:buNone/>
            </a:pPr>
            <a:r>
              <a:rPr lang="fr-FR" sz="2399" kern="0" dirty="0">
                <a:solidFill>
                  <a:srgbClr val="03050D"/>
                </a:solidFill>
              </a:rPr>
              <a:t>Activity ratios, </a:t>
            </a:r>
            <a:r>
              <a:rPr lang="fr-FR" sz="2399" kern="0" dirty="0" err="1">
                <a:solidFill>
                  <a:srgbClr val="03050D"/>
                </a:solidFill>
              </a:rPr>
              <a:t>solvency</a:t>
            </a:r>
            <a:r>
              <a:rPr lang="fr-FR" sz="2399" kern="0" dirty="0">
                <a:solidFill>
                  <a:srgbClr val="03050D"/>
                </a:solidFill>
              </a:rPr>
              <a:t> ratios and </a:t>
            </a:r>
            <a:r>
              <a:rPr lang="fr-FR" sz="2399" kern="0" dirty="0" err="1">
                <a:solidFill>
                  <a:srgbClr val="03050D"/>
                </a:solidFill>
              </a:rPr>
              <a:t>liquidity</a:t>
            </a:r>
            <a:r>
              <a:rPr lang="fr-FR" sz="2399" kern="0" dirty="0">
                <a:solidFill>
                  <a:srgbClr val="03050D"/>
                </a:solidFill>
              </a:rPr>
              <a:t> ratios</a:t>
            </a:r>
          </a:p>
          <a:p>
            <a:pPr marL="0" indent="0">
              <a:buNone/>
            </a:pPr>
            <a:endParaRPr lang="fr-FR" sz="2399" kern="0" dirty="0">
              <a:solidFill>
                <a:schemeClr val="accent6">
                  <a:lumMod val="50000"/>
                </a:schemeClr>
              </a:solidFill>
            </a:endParaRPr>
          </a:p>
        </p:txBody>
      </p:sp>
    </p:spTree>
    <p:extLst>
      <p:ext uri="{BB962C8B-B14F-4D97-AF65-F5344CB8AC3E}">
        <p14:creationId xmlns:p14="http://schemas.microsoft.com/office/powerpoint/2010/main" val="1133898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08A8-7469-B534-34BD-EBD9681C5E07}"/>
              </a:ext>
            </a:extLst>
          </p:cNvPr>
          <p:cNvSpPr>
            <a:spLocks noGrp="1"/>
          </p:cNvSpPr>
          <p:nvPr>
            <p:ph type="title"/>
          </p:nvPr>
        </p:nvSpPr>
        <p:spPr/>
        <p:txBody>
          <a:bodyPr/>
          <a:lstStyle/>
          <a:p>
            <a:r>
              <a:rPr lang="fr-FR" dirty="0"/>
              <a:t>Grade</a:t>
            </a:r>
          </a:p>
        </p:txBody>
      </p:sp>
      <p:sp>
        <p:nvSpPr>
          <p:cNvPr id="3" name="Content Placeholder 2">
            <a:extLst>
              <a:ext uri="{FF2B5EF4-FFF2-40B4-BE49-F238E27FC236}">
                <a16:creationId xmlns:a16="http://schemas.microsoft.com/office/drawing/2014/main" id="{3EC95250-F7CB-172A-2AFA-68E3A69C145C}"/>
              </a:ext>
            </a:extLst>
          </p:cNvPr>
          <p:cNvSpPr>
            <a:spLocks noGrp="1"/>
          </p:cNvSpPr>
          <p:nvPr>
            <p:ph idx="1"/>
          </p:nvPr>
        </p:nvSpPr>
        <p:spPr/>
        <p:txBody>
          <a:bodyPr/>
          <a:lstStyle/>
          <a:p>
            <a:r>
              <a:rPr lang="fr-FR" dirty="0"/>
              <a:t>10% </a:t>
            </a:r>
            <a:r>
              <a:rPr lang="fr-FR" dirty="0" err="1"/>
              <a:t>Midterm</a:t>
            </a:r>
            <a:r>
              <a:rPr lang="fr-FR" dirty="0"/>
              <a:t> exam 1: MCQ on </a:t>
            </a:r>
            <a:r>
              <a:rPr lang="fr-FR" dirty="0" err="1"/>
              <a:t>Blackboard</a:t>
            </a:r>
            <a:r>
              <a:rPr lang="fr-FR" dirty="0"/>
              <a:t> at the </a:t>
            </a:r>
            <a:r>
              <a:rPr lang="fr-FR" dirty="0" err="1"/>
              <a:t>beginning</a:t>
            </a:r>
            <a:r>
              <a:rPr lang="fr-FR" dirty="0"/>
              <a:t> of session 4 (Tuesday 24 March) (30 minutes) </a:t>
            </a:r>
            <a:r>
              <a:rPr lang="fr-FR" dirty="0" err="1"/>
              <a:t>with</a:t>
            </a:r>
            <a:r>
              <a:rPr lang="fr-FR" dirty="0"/>
              <a:t> simple </a:t>
            </a:r>
            <a:r>
              <a:rPr lang="fr-FR" dirty="0" err="1"/>
              <a:t>calculator</a:t>
            </a:r>
            <a:endParaRPr lang="fr-FR" dirty="0"/>
          </a:p>
          <a:p>
            <a:endParaRPr lang="fr-FR" dirty="0"/>
          </a:p>
          <a:p>
            <a:r>
              <a:rPr lang="fr-FR" dirty="0"/>
              <a:t>20% </a:t>
            </a:r>
            <a:r>
              <a:rPr lang="fr-FR" dirty="0" err="1"/>
              <a:t>Midterm</a:t>
            </a:r>
            <a:r>
              <a:rPr lang="fr-FR" dirty="0"/>
              <a:t> exam 2: MCQ on </a:t>
            </a:r>
            <a:r>
              <a:rPr lang="fr-FR" dirty="0" err="1"/>
              <a:t>Blackboard</a:t>
            </a:r>
            <a:r>
              <a:rPr lang="fr-FR" dirty="0"/>
              <a:t> at the </a:t>
            </a:r>
            <a:r>
              <a:rPr lang="fr-FR" dirty="0" err="1"/>
              <a:t>beginning</a:t>
            </a:r>
            <a:r>
              <a:rPr lang="fr-FR" dirty="0"/>
              <a:t> of session 7 (Tuesday 31 March) (1 </a:t>
            </a:r>
            <a:r>
              <a:rPr lang="fr-FR" dirty="0" err="1"/>
              <a:t>hour</a:t>
            </a:r>
            <a:r>
              <a:rPr lang="fr-FR" dirty="0"/>
              <a:t>) </a:t>
            </a:r>
            <a:r>
              <a:rPr lang="fr-FR" dirty="0" err="1"/>
              <a:t>with</a:t>
            </a:r>
            <a:r>
              <a:rPr lang="fr-FR" dirty="0"/>
              <a:t> simple </a:t>
            </a:r>
            <a:r>
              <a:rPr lang="fr-FR" dirty="0" err="1"/>
              <a:t>calculator</a:t>
            </a:r>
            <a:endParaRPr lang="fr-FR" dirty="0"/>
          </a:p>
          <a:p>
            <a:endParaRPr lang="fr-FR" dirty="0"/>
          </a:p>
          <a:p>
            <a:r>
              <a:rPr lang="fr-FR" dirty="0"/>
              <a:t>10% Attendance</a:t>
            </a:r>
          </a:p>
          <a:p>
            <a:endParaRPr lang="fr-FR" dirty="0"/>
          </a:p>
          <a:p>
            <a:r>
              <a:rPr lang="fr-FR" dirty="0"/>
              <a:t>60% Final </a:t>
            </a:r>
            <a:r>
              <a:rPr lang="fr-FR" dirty="0" err="1"/>
              <a:t>examination</a:t>
            </a:r>
            <a:r>
              <a:rPr lang="fr-FR" dirty="0"/>
              <a:t>: 3 </a:t>
            </a:r>
            <a:r>
              <a:rPr lang="fr-FR" dirty="0" err="1"/>
              <a:t>exercises</a:t>
            </a:r>
            <a:r>
              <a:rPr lang="fr-FR" dirty="0"/>
              <a:t> (2 </a:t>
            </a:r>
            <a:r>
              <a:rPr lang="fr-FR" dirty="0" err="1"/>
              <a:t>hours</a:t>
            </a:r>
            <a:r>
              <a:rPr lang="fr-FR" dirty="0"/>
              <a:t>)</a:t>
            </a:r>
          </a:p>
          <a:p>
            <a:endParaRPr lang="fr-FR" dirty="0"/>
          </a:p>
        </p:txBody>
      </p:sp>
      <p:sp>
        <p:nvSpPr>
          <p:cNvPr id="4" name="Slide Number Placeholder 3">
            <a:extLst>
              <a:ext uri="{FF2B5EF4-FFF2-40B4-BE49-F238E27FC236}">
                <a16:creationId xmlns:a16="http://schemas.microsoft.com/office/drawing/2014/main" id="{AF972A96-0D8B-AB3E-03A9-9FF238171C91}"/>
              </a:ext>
            </a:extLst>
          </p:cNvPr>
          <p:cNvSpPr>
            <a:spLocks noGrp="1"/>
          </p:cNvSpPr>
          <p:nvPr>
            <p:ph type="sldNum" sz="quarter" idx="10"/>
          </p:nvPr>
        </p:nvSpPr>
        <p:spPr/>
        <p:txBody>
          <a:bodyPr/>
          <a:lstStyle/>
          <a:p>
            <a:fld id="{421B1A79-1F45-8F4F-AED5-0EE30DCF0380}" type="slidenum">
              <a:rPr lang="fr-FR" smtClean="0"/>
              <a:t>4</a:t>
            </a:fld>
            <a:endParaRPr lang="fr-FR"/>
          </a:p>
        </p:txBody>
      </p:sp>
    </p:spTree>
    <p:extLst>
      <p:ext uri="{BB962C8B-B14F-4D97-AF65-F5344CB8AC3E}">
        <p14:creationId xmlns:p14="http://schemas.microsoft.com/office/powerpoint/2010/main" val="654305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3AA86-0F30-8F12-3952-04CE845A6F53}"/>
              </a:ext>
            </a:extLst>
          </p:cNvPr>
          <p:cNvSpPr>
            <a:spLocks noGrp="1"/>
          </p:cNvSpPr>
          <p:nvPr>
            <p:ph type="ctrTitle"/>
          </p:nvPr>
        </p:nvSpPr>
        <p:spPr/>
        <p:txBody>
          <a:bodyPr/>
          <a:lstStyle/>
          <a:p>
            <a:r>
              <a:rPr lang="en-US" dirty="0"/>
              <a:t>Income statement:</a:t>
            </a:r>
            <a:br>
              <a:rPr lang="en-US" dirty="0"/>
            </a:br>
            <a:r>
              <a:rPr lang="en-US" dirty="0"/>
              <a:t>matching principle and</a:t>
            </a:r>
            <a:br>
              <a:rPr lang="en-US" dirty="0"/>
            </a:br>
            <a:r>
              <a:rPr lang="en-US" dirty="0"/>
              <a:t>full costing method</a:t>
            </a:r>
          </a:p>
        </p:txBody>
      </p:sp>
      <p:sp>
        <p:nvSpPr>
          <p:cNvPr id="3" name="Subtitle 2">
            <a:extLst>
              <a:ext uri="{FF2B5EF4-FFF2-40B4-BE49-F238E27FC236}">
                <a16:creationId xmlns:a16="http://schemas.microsoft.com/office/drawing/2014/main" id="{C6D9C366-283C-424B-6686-11A8A495DB7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4241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p:cNvCxnSpPr/>
          <p:nvPr/>
        </p:nvCxnSpPr>
        <p:spPr>
          <a:xfrm>
            <a:off x="2137493" y="1125869"/>
            <a:ext cx="0" cy="1439457"/>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re 6"/>
          <p:cNvSpPr>
            <a:spLocks noGrp="1"/>
          </p:cNvSpPr>
          <p:nvPr>
            <p:ph type="title"/>
          </p:nvPr>
        </p:nvSpPr>
        <p:spPr/>
        <p:txBody>
          <a:bodyPr/>
          <a:lstStyle/>
          <a:p>
            <a:r>
              <a:rPr lang="fr-FR" dirty="0"/>
              <a:t>P&amp;L or </a:t>
            </a:r>
            <a:r>
              <a:rPr lang="fr-FR" dirty="0" err="1"/>
              <a:t>income</a:t>
            </a:r>
            <a:r>
              <a:rPr lang="fr-FR" dirty="0"/>
              <a:t> </a:t>
            </a:r>
            <a:r>
              <a:rPr lang="fr-FR" dirty="0" err="1"/>
              <a:t>statement</a:t>
            </a:r>
            <a:endParaRPr lang="fr-FR" dirty="0"/>
          </a:p>
        </p:txBody>
      </p:sp>
      <p:sp>
        <p:nvSpPr>
          <p:cNvPr id="6" name="Content Placeholder 5">
            <a:extLst>
              <a:ext uri="{FF2B5EF4-FFF2-40B4-BE49-F238E27FC236}">
                <a16:creationId xmlns:a16="http://schemas.microsoft.com/office/drawing/2014/main" id="{D5FCB802-6951-462B-892E-C6F8359401F5}"/>
              </a:ext>
            </a:extLst>
          </p:cNvPr>
          <p:cNvSpPr>
            <a:spLocks noGrp="1"/>
          </p:cNvSpPr>
          <p:nvPr>
            <p:ph idx="1"/>
          </p:nvPr>
        </p:nvSpPr>
        <p:spPr>
          <a:xfrm>
            <a:off x="681228" y="1648065"/>
            <a:ext cx="10829544" cy="4743851"/>
          </a:xfrm>
        </p:spPr>
        <p:txBody>
          <a:bodyPr>
            <a:normAutofit/>
          </a:bodyPr>
          <a:lstStyle/>
          <a:p>
            <a:pPr marL="355436" lvl="1" indent="-355436">
              <a:buSzPct val="70000"/>
            </a:pPr>
            <a:r>
              <a:rPr lang="fr-FR" sz="2499" dirty="0"/>
              <a:t>Over a </a:t>
            </a:r>
            <a:r>
              <a:rPr lang="fr-FR" sz="2499" dirty="0" err="1"/>
              <a:t>period</a:t>
            </a:r>
            <a:r>
              <a:rPr lang="fr-FR" sz="2499" dirty="0"/>
              <a:t>, are </a:t>
            </a:r>
            <a:r>
              <a:rPr lang="fr-FR" sz="2499" dirty="0" err="1"/>
              <a:t>we</a:t>
            </a:r>
            <a:r>
              <a:rPr lang="fr-FR" sz="2499" dirty="0"/>
              <a:t> profitable i.e. </a:t>
            </a:r>
            <a:r>
              <a:rPr lang="fr-FR" sz="2499" dirty="0" err="1"/>
              <a:t>selling</a:t>
            </a:r>
            <a:r>
              <a:rPr lang="fr-FR" sz="2499" dirty="0"/>
              <a:t> </a:t>
            </a:r>
            <a:r>
              <a:rPr lang="fr-FR" sz="2499" dirty="0" err="1"/>
              <a:t>price</a:t>
            </a:r>
            <a:r>
              <a:rPr lang="fr-FR" sz="2499" dirty="0"/>
              <a:t> </a:t>
            </a:r>
            <a:r>
              <a:rPr lang="fr-FR" sz="2499" dirty="0" err="1"/>
              <a:t>higher</a:t>
            </a:r>
            <a:r>
              <a:rPr lang="fr-FR" sz="2499" dirty="0"/>
              <a:t> than unit cost for the </a:t>
            </a:r>
            <a:r>
              <a:rPr lang="fr-FR" sz="2499" dirty="0" err="1"/>
              <a:t>quantity</a:t>
            </a:r>
            <a:r>
              <a:rPr lang="fr-FR" sz="2499" dirty="0"/>
              <a:t> </a:t>
            </a:r>
            <a:r>
              <a:rPr lang="fr-FR" sz="2499" dirty="0" err="1"/>
              <a:t>sold</a:t>
            </a:r>
            <a:r>
              <a:rPr lang="fr-FR" sz="2499" dirty="0"/>
              <a:t>? 	Yes      operating profit </a:t>
            </a:r>
          </a:p>
          <a:p>
            <a:pPr marL="0" lvl="1" indent="0">
              <a:buSzPct val="70000"/>
              <a:buNone/>
            </a:pPr>
            <a:r>
              <a:rPr lang="fr-FR" sz="2499" dirty="0"/>
              <a:t>			No  	 operating </a:t>
            </a:r>
            <a:r>
              <a:rPr lang="fr-FR" sz="2499" dirty="0" err="1"/>
              <a:t>loss</a:t>
            </a:r>
            <a:endParaRPr lang="fr-FR" sz="2499" dirty="0"/>
          </a:p>
          <a:p>
            <a:pPr marL="0" lvl="1" indent="0" algn="ctr">
              <a:buSzPct val="70000"/>
              <a:buNone/>
            </a:pPr>
            <a:r>
              <a:rPr lang="fr-FR" sz="2499" dirty="0"/>
              <a:t>Profit/(</a:t>
            </a:r>
            <a:r>
              <a:rPr lang="fr-FR" sz="2499" dirty="0" err="1"/>
              <a:t>Loss</a:t>
            </a:r>
            <a:r>
              <a:rPr lang="fr-FR" sz="2499" dirty="0"/>
              <a:t>) or </a:t>
            </a:r>
            <a:r>
              <a:rPr lang="fr-FR" sz="2499" dirty="0" err="1"/>
              <a:t>Earnings</a:t>
            </a:r>
            <a:r>
              <a:rPr lang="fr-FR" sz="2499" dirty="0"/>
              <a:t> = Revenue (or </a:t>
            </a:r>
            <a:r>
              <a:rPr lang="fr-FR" sz="2499" dirty="0" err="1"/>
              <a:t>Income</a:t>
            </a:r>
            <a:r>
              <a:rPr lang="fr-FR" sz="2499" dirty="0"/>
              <a:t>) – Expense</a:t>
            </a:r>
          </a:p>
          <a:p>
            <a:pPr marL="0" lvl="1" indent="0">
              <a:buSzPct val="70000"/>
              <a:buNone/>
            </a:pPr>
            <a:r>
              <a:rPr lang="fr-FR" sz="2499" dirty="0"/>
              <a:t>Profit = </a:t>
            </a:r>
            <a:r>
              <a:rPr lang="fr-FR" sz="2499" dirty="0" err="1"/>
              <a:t>wealth</a:t>
            </a:r>
            <a:r>
              <a:rPr lang="fr-FR" sz="2499" dirty="0"/>
              <a:t> </a:t>
            </a:r>
            <a:r>
              <a:rPr lang="fr-FR" sz="2499" dirty="0" err="1"/>
              <a:t>creation</a:t>
            </a:r>
            <a:r>
              <a:rPr lang="fr-FR" sz="2499" dirty="0"/>
              <a:t> (do </a:t>
            </a:r>
            <a:r>
              <a:rPr lang="fr-FR" sz="2499" dirty="0" err="1"/>
              <a:t>we</a:t>
            </a:r>
            <a:r>
              <a:rPr lang="fr-FR" sz="2499" dirty="0"/>
              <a:t> create more value than </a:t>
            </a:r>
            <a:r>
              <a:rPr lang="fr-FR" sz="2499" dirty="0" err="1"/>
              <a:t>we</a:t>
            </a:r>
            <a:r>
              <a:rPr lang="fr-FR" sz="2499" dirty="0"/>
              <a:t> consume </a:t>
            </a:r>
            <a:r>
              <a:rPr lang="fr-FR" sz="2499" dirty="0" err="1"/>
              <a:t>resources</a:t>
            </a:r>
            <a:r>
              <a:rPr lang="fr-FR" sz="2499" dirty="0"/>
              <a:t>?)	</a:t>
            </a:r>
          </a:p>
          <a:p>
            <a:pPr marL="355436" lvl="1" indent="-355436">
              <a:buSzPct val="70000"/>
            </a:pPr>
            <a:r>
              <a:rPr lang="fr-FR" sz="2499" dirty="0" err="1"/>
              <a:t>We</a:t>
            </a:r>
            <a:r>
              <a:rPr lang="fr-FR" sz="2499" dirty="0"/>
              <a:t> want the full cost of </a:t>
            </a:r>
            <a:r>
              <a:rPr lang="fr-FR" sz="2499" dirty="0" err="1"/>
              <a:t>what</a:t>
            </a:r>
            <a:r>
              <a:rPr lang="fr-FR" sz="2499" dirty="0"/>
              <a:t> </a:t>
            </a:r>
            <a:r>
              <a:rPr lang="fr-FR" sz="2499" dirty="0" err="1"/>
              <a:t>we</a:t>
            </a:r>
            <a:r>
              <a:rPr lang="fr-FR" sz="2499" dirty="0"/>
              <a:t> </a:t>
            </a:r>
            <a:r>
              <a:rPr lang="fr-FR" sz="2499" dirty="0" err="1"/>
              <a:t>sell</a:t>
            </a:r>
            <a:r>
              <a:rPr lang="fr-FR" sz="2499" dirty="0"/>
              <a:t> (all </a:t>
            </a:r>
            <a:r>
              <a:rPr lang="fr-FR" sz="2499" dirty="0" err="1"/>
              <a:t>expenses</a:t>
            </a:r>
            <a:r>
              <a:rPr lang="fr-FR" sz="2499" dirty="0"/>
              <a:t> included in the P&amp;L are </a:t>
            </a:r>
            <a:r>
              <a:rPr lang="fr-FR" sz="2499" dirty="0" err="1"/>
              <a:t>related</a:t>
            </a:r>
            <a:r>
              <a:rPr lang="fr-FR" sz="2499" dirty="0"/>
              <a:t> to sales = </a:t>
            </a:r>
            <a:r>
              <a:rPr lang="fr-FR" sz="2499" b="1" dirty="0" err="1"/>
              <a:t>matching</a:t>
            </a:r>
            <a:r>
              <a:rPr lang="fr-FR" sz="2499" b="1" dirty="0"/>
              <a:t> </a:t>
            </a:r>
            <a:r>
              <a:rPr lang="fr-FR" sz="2499" b="1" dirty="0" err="1"/>
              <a:t>principle</a:t>
            </a:r>
            <a:r>
              <a:rPr lang="fr-FR" sz="2499" b="1" dirty="0"/>
              <a:t> i.e. </a:t>
            </a:r>
            <a:r>
              <a:rPr lang="fr-FR" sz="2499" b="1" dirty="0" err="1"/>
              <a:t>we</a:t>
            </a:r>
            <a:r>
              <a:rPr lang="fr-FR" sz="2499" b="1" dirty="0"/>
              <a:t> match </a:t>
            </a:r>
            <a:r>
              <a:rPr lang="fr-FR" sz="2499" b="1" dirty="0" err="1"/>
              <a:t>expenses</a:t>
            </a:r>
            <a:r>
              <a:rPr lang="fr-FR" sz="2499" b="1" dirty="0"/>
              <a:t> </a:t>
            </a:r>
            <a:r>
              <a:rPr lang="fr-FR" sz="2499" b="1" dirty="0" err="1"/>
              <a:t>against</a:t>
            </a:r>
            <a:r>
              <a:rPr lang="fr-FR" sz="2499" b="1" dirty="0"/>
              <a:t> revenue</a:t>
            </a:r>
            <a:r>
              <a:rPr lang="fr-FR" sz="2499" dirty="0"/>
              <a:t>) in order to </a:t>
            </a:r>
            <a:r>
              <a:rPr lang="fr-FR" sz="2499" dirty="0" err="1"/>
              <a:t>keep</a:t>
            </a:r>
            <a:r>
              <a:rPr lang="fr-FR" sz="2499" dirty="0"/>
              <a:t> the full cost of </a:t>
            </a:r>
            <a:r>
              <a:rPr lang="fr-FR" sz="2499" dirty="0" err="1"/>
              <a:t>what</a:t>
            </a:r>
            <a:r>
              <a:rPr lang="fr-FR" sz="2499" dirty="0"/>
              <a:t> </a:t>
            </a:r>
            <a:r>
              <a:rPr lang="fr-FR" sz="2499" dirty="0" err="1"/>
              <a:t>we</a:t>
            </a:r>
            <a:r>
              <a:rPr lang="fr-FR" sz="2499" dirty="0"/>
              <a:t> </a:t>
            </a:r>
            <a:r>
              <a:rPr lang="fr-FR" sz="2499" dirty="0" err="1"/>
              <a:t>don’t</a:t>
            </a:r>
            <a:r>
              <a:rPr lang="fr-FR" sz="2499" dirty="0"/>
              <a:t> use or </a:t>
            </a:r>
            <a:r>
              <a:rPr lang="fr-FR" sz="2499" dirty="0" err="1"/>
              <a:t>don’t</a:t>
            </a:r>
            <a:r>
              <a:rPr lang="fr-FR" sz="2499" dirty="0"/>
              <a:t> </a:t>
            </a:r>
            <a:r>
              <a:rPr lang="fr-FR" sz="2499" dirty="0" err="1"/>
              <a:t>sell</a:t>
            </a:r>
            <a:r>
              <a:rPr lang="fr-FR" sz="2499" dirty="0"/>
              <a:t> in the inventories (balance </a:t>
            </a:r>
            <a:r>
              <a:rPr lang="fr-FR" sz="2499" dirty="0" err="1"/>
              <a:t>sheet</a:t>
            </a:r>
            <a:r>
              <a:rPr lang="fr-FR" sz="2499" dirty="0"/>
              <a:t>).</a:t>
            </a:r>
          </a:p>
          <a:p>
            <a:pPr marL="355436" lvl="1" indent="-355436">
              <a:buSzPct val="70000"/>
            </a:pPr>
            <a:r>
              <a:rPr lang="fr-FR" sz="2499" b="1" dirty="0"/>
              <a:t>Full </a:t>
            </a:r>
            <a:r>
              <a:rPr lang="fr-FR" sz="2499" b="1" dirty="0" err="1"/>
              <a:t>costing</a:t>
            </a:r>
            <a:r>
              <a:rPr lang="fr-FR" sz="2499" b="1" dirty="0"/>
              <a:t> </a:t>
            </a:r>
            <a:r>
              <a:rPr lang="fr-FR" sz="2499" b="1" dirty="0" err="1"/>
              <a:t>method</a:t>
            </a:r>
            <a:r>
              <a:rPr lang="fr-FR" sz="2499" dirty="0"/>
              <a:t>: </a:t>
            </a:r>
            <a:r>
              <a:rPr lang="fr-FR" sz="2499" dirty="0" err="1"/>
              <a:t>raw</a:t>
            </a:r>
            <a:r>
              <a:rPr lang="fr-FR" sz="2499" dirty="0"/>
              <a:t> </a:t>
            </a:r>
            <a:r>
              <a:rPr lang="fr-FR" sz="2499" dirty="0" err="1"/>
              <a:t>material</a:t>
            </a:r>
            <a:r>
              <a:rPr lang="fr-FR" sz="2499" dirty="0"/>
              <a:t> </a:t>
            </a:r>
            <a:r>
              <a:rPr lang="fr-FR" sz="2499" dirty="0" err="1"/>
              <a:t>inventory</a:t>
            </a:r>
            <a:r>
              <a:rPr lang="fr-FR" sz="2499" dirty="0"/>
              <a:t> </a:t>
            </a:r>
            <a:r>
              <a:rPr lang="fr-FR" sz="2499" dirty="0" err="1"/>
              <a:t>is</a:t>
            </a:r>
            <a:r>
              <a:rPr lang="fr-FR" sz="2499" dirty="0"/>
              <a:t> </a:t>
            </a:r>
            <a:r>
              <a:rPr lang="fr-FR" sz="2499" dirty="0" err="1"/>
              <a:t>valued</a:t>
            </a:r>
            <a:r>
              <a:rPr lang="fr-FR" sz="2499" dirty="0"/>
              <a:t> at the full </a:t>
            </a:r>
            <a:r>
              <a:rPr lang="fr-FR" sz="2499" dirty="0" err="1"/>
              <a:t>purchasing</a:t>
            </a:r>
            <a:r>
              <a:rPr lang="fr-FR" sz="2499" dirty="0"/>
              <a:t> </a:t>
            </a:r>
            <a:r>
              <a:rPr lang="fr-FR" sz="2499" dirty="0" err="1"/>
              <a:t>cost</a:t>
            </a:r>
            <a:r>
              <a:rPr lang="fr-FR" sz="2499" dirty="0"/>
              <a:t> and </a:t>
            </a:r>
            <a:r>
              <a:rPr lang="fr-FR" sz="2499" dirty="0" err="1"/>
              <a:t>finished</a:t>
            </a:r>
            <a:r>
              <a:rPr lang="fr-FR" sz="2499" dirty="0"/>
              <a:t> </a:t>
            </a:r>
            <a:r>
              <a:rPr lang="fr-FR" sz="2499" dirty="0" err="1"/>
              <a:t>goods</a:t>
            </a:r>
            <a:r>
              <a:rPr lang="fr-FR" sz="2499" dirty="0"/>
              <a:t> </a:t>
            </a:r>
            <a:r>
              <a:rPr lang="fr-FR" sz="2499" dirty="0" err="1"/>
              <a:t>inventory</a:t>
            </a:r>
            <a:r>
              <a:rPr lang="fr-FR" sz="2499" dirty="0"/>
              <a:t> </a:t>
            </a:r>
            <a:r>
              <a:rPr lang="fr-FR" sz="2499" dirty="0" err="1"/>
              <a:t>is</a:t>
            </a:r>
            <a:r>
              <a:rPr lang="fr-FR" sz="2499" dirty="0"/>
              <a:t> </a:t>
            </a:r>
            <a:r>
              <a:rPr lang="fr-FR" sz="2499" dirty="0" err="1"/>
              <a:t>valued</a:t>
            </a:r>
            <a:r>
              <a:rPr lang="fr-FR" sz="2499" dirty="0"/>
              <a:t> at the full production </a:t>
            </a:r>
            <a:r>
              <a:rPr lang="fr-FR" sz="2499" dirty="0" err="1"/>
              <a:t>cost</a:t>
            </a:r>
            <a:endParaRPr lang="fr-FR" sz="2499" dirty="0"/>
          </a:p>
        </p:txBody>
      </p:sp>
      <p:sp>
        <p:nvSpPr>
          <p:cNvPr id="4" name="Subtitle 3">
            <a:extLst>
              <a:ext uri="{FF2B5EF4-FFF2-40B4-BE49-F238E27FC236}">
                <a16:creationId xmlns:a16="http://schemas.microsoft.com/office/drawing/2014/main" id="{DD1FF441-A122-4641-A7AB-153A31718233}"/>
              </a:ext>
            </a:extLst>
          </p:cNvPr>
          <p:cNvSpPr>
            <a:spLocks noGrp="1"/>
          </p:cNvSpPr>
          <p:nvPr>
            <p:ph type="subTitle" idx="4294967295"/>
          </p:nvPr>
        </p:nvSpPr>
        <p:spPr>
          <a:xfrm>
            <a:off x="915988" y="976313"/>
            <a:ext cx="11276012" cy="481012"/>
          </a:xfrm>
        </p:spPr>
        <p:txBody>
          <a:bodyPr/>
          <a:lstStyle/>
          <a:p>
            <a:pPr marL="0" indent="0">
              <a:buNone/>
            </a:pPr>
            <a:r>
              <a:rPr lang="fr-FR" dirty="0" err="1"/>
              <a:t>What’s</a:t>
            </a:r>
            <a:r>
              <a:rPr lang="fr-FR" dirty="0"/>
              <a:t> </a:t>
            </a:r>
            <a:r>
              <a:rPr lang="fr-FR" dirty="0" err="1"/>
              <a:t>it</a:t>
            </a:r>
            <a:r>
              <a:rPr lang="fr-FR" dirty="0"/>
              <a:t> for? </a:t>
            </a:r>
            <a:r>
              <a:rPr lang="fr-FR" dirty="0" err="1"/>
              <a:t>What’s</a:t>
            </a:r>
            <a:r>
              <a:rPr lang="fr-FR" dirty="0"/>
              <a:t> </a:t>
            </a:r>
            <a:r>
              <a:rPr lang="fr-FR" dirty="0" err="1"/>
              <a:t>it</a:t>
            </a:r>
            <a:r>
              <a:rPr lang="fr-FR" dirty="0"/>
              <a:t> not for?</a:t>
            </a:r>
          </a:p>
        </p:txBody>
      </p:sp>
      <p:sp>
        <p:nvSpPr>
          <p:cNvPr id="2" name="Arrow: Right 1">
            <a:extLst>
              <a:ext uri="{FF2B5EF4-FFF2-40B4-BE49-F238E27FC236}">
                <a16:creationId xmlns:a16="http://schemas.microsoft.com/office/drawing/2014/main" id="{C49717FB-2AA0-4B40-BB46-FF340EB48F19}"/>
              </a:ext>
            </a:extLst>
          </p:cNvPr>
          <p:cNvSpPr/>
          <p:nvPr/>
        </p:nvSpPr>
        <p:spPr>
          <a:xfrm>
            <a:off x="4137480" y="2129411"/>
            <a:ext cx="287886" cy="1919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8" name="Arrow: Right 7">
            <a:extLst>
              <a:ext uri="{FF2B5EF4-FFF2-40B4-BE49-F238E27FC236}">
                <a16:creationId xmlns:a16="http://schemas.microsoft.com/office/drawing/2014/main" id="{64A07444-B333-4FC4-9363-D29E88C02524}"/>
              </a:ext>
            </a:extLst>
          </p:cNvPr>
          <p:cNvSpPr/>
          <p:nvPr/>
        </p:nvSpPr>
        <p:spPr>
          <a:xfrm>
            <a:off x="4137480" y="2565326"/>
            <a:ext cx="287886" cy="1919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Tree>
    <p:extLst>
      <p:ext uri="{BB962C8B-B14F-4D97-AF65-F5344CB8AC3E}">
        <p14:creationId xmlns:p14="http://schemas.microsoft.com/office/powerpoint/2010/main" val="4115677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732" dirty="0"/>
              <a:t>From purchases to the cost of sales in P&amp;L </a:t>
            </a:r>
          </a:p>
        </p:txBody>
      </p:sp>
      <p:sp>
        <p:nvSpPr>
          <p:cNvPr id="4" name="Slide Number Placeholder 3"/>
          <p:cNvSpPr>
            <a:spLocks noGrp="1"/>
          </p:cNvSpPr>
          <p:nvPr>
            <p:ph type="sldNum" sz="quarter" idx="10"/>
          </p:nvPr>
        </p:nvSpPr>
        <p:spPr/>
        <p:txBody>
          <a:bodyPr/>
          <a:lstStyle/>
          <a:p>
            <a:pPr>
              <a:defRPr/>
            </a:pPr>
            <a:fld id="{A947D635-9654-4A76-8214-753D05010126}" type="slidenum">
              <a:rPr lang="fr-FR" smtClean="0"/>
              <a:pPr>
                <a:defRPr/>
              </a:pPr>
              <a:t>7</a:t>
            </a:fld>
            <a:endParaRPr lang="fr-FR" dirty="0"/>
          </a:p>
        </p:txBody>
      </p:sp>
      <p:sp>
        <p:nvSpPr>
          <p:cNvPr id="7" name="TextBox 6"/>
          <p:cNvSpPr txBox="1"/>
          <p:nvPr/>
        </p:nvSpPr>
        <p:spPr>
          <a:xfrm>
            <a:off x="913955" y="6554879"/>
            <a:ext cx="5757828" cy="369204"/>
          </a:xfrm>
          <a:prstGeom prst="rect">
            <a:avLst/>
          </a:prstGeom>
          <a:noFill/>
        </p:spPr>
        <p:txBody>
          <a:bodyPr wrap="square" rtlCol="0">
            <a:spAutoFit/>
          </a:bodyPr>
          <a:lstStyle/>
          <a:p>
            <a:r>
              <a:rPr lang="en-US" sz="1799" dirty="0"/>
              <a:t>Op. inv.: opening inventory, End. Inv.: ending inventory</a:t>
            </a:r>
          </a:p>
        </p:txBody>
      </p:sp>
      <p:grpSp>
        <p:nvGrpSpPr>
          <p:cNvPr id="3" name="Group 2">
            <a:extLst>
              <a:ext uri="{FF2B5EF4-FFF2-40B4-BE49-F238E27FC236}">
                <a16:creationId xmlns:a16="http://schemas.microsoft.com/office/drawing/2014/main" id="{C3A363A6-23CE-40C0-9DD5-4546502273C1}"/>
              </a:ext>
            </a:extLst>
          </p:cNvPr>
          <p:cNvGrpSpPr/>
          <p:nvPr/>
        </p:nvGrpSpPr>
        <p:grpSpPr>
          <a:xfrm>
            <a:off x="3433004" y="1773625"/>
            <a:ext cx="1583403" cy="1676116"/>
            <a:chOff x="2573778" y="1329612"/>
            <a:chExt cx="1188132" cy="1257701"/>
          </a:xfrm>
        </p:grpSpPr>
        <p:sp>
          <p:nvSpPr>
            <p:cNvPr id="5" name="TextBox 4"/>
            <p:cNvSpPr txBox="1"/>
            <p:nvPr/>
          </p:nvSpPr>
          <p:spPr>
            <a:xfrm>
              <a:off x="2573778" y="1329612"/>
              <a:ext cx="594066" cy="715593"/>
            </a:xfrm>
            <a:prstGeom prst="rect">
              <a:avLst/>
            </a:prstGeom>
            <a:solidFill>
              <a:schemeClr val="accent1">
                <a:lumMod val="20000"/>
                <a:lumOff val="80000"/>
              </a:schemeClr>
            </a:solidFill>
          </p:spPr>
          <p:txBody>
            <a:bodyPr wrap="square" rtlCol="0">
              <a:spAutoFit/>
            </a:bodyPr>
            <a:lstStyle/>
            <a:p>
              <a:endParaRPr lang="en-US" sz="3198" dirty="0"/>
            </a:p>
            <a:p>
              <a:endParaRPr lang="en-US" sz="2399" dirty="0"/>
            </a:p>
          </p:txBody>
        </p:sp>
        <p:sp>
          <p:nvSpPr>
            <p:cNvPr id="6" name="TextBox 5"/>
            <p:cNvSpPr txBox="1"/>
            <p:nvPr/>
          </p:nvSpPr>
          <p:spPr>
            <a:xfrm>
              <a:off x="2573778" y="2056331"/>
              <a:ext cx="594066" cy="530982"/>
            </a:xfrm>
            <a:prstGeom prst="rect">
              <a:avLst/>
            </a:prstGeom>
            <a:solidFill>
              <a:schemeClr val="bg1">
                <a:lumMod val="50000"/>
              </a:schemeClr>
            </a:solidFill>
          </p:spPr>
          <p:txBody>
            <a:bodyPr wrap="square" rtlCol="0">
              <a:spAutoFit/>
            </a:bodyPr>
            <a:lstStyle/>
            <a:p>
              <a:r>
                <a:rPr lang="en-US" sz="1999" dirty="0"/>
                <a:t>Op.</a:t>
              </a:r>
            </a:p>
            <a:p>
              <a:r>
                <a:rPr lang="en-US" sz="1999" dirty="0"/>
                <a:t>Inv.</a:t>
              </a:r>
            </a:p>
          </p:txBody>
        </p:sp>
        <p:sp>
          <p:nvSpPr>
            <p:cNvPr id="8" name="TextBox 7"/>
            <p:cNvSpPr txBox="1"/>
            <p:nvPr/>
          </p:nvSpPr>
          <p:spPr>
            <a:xfrm>
              <a:off x="3167844" y="1329612"/>
              <a:ext cx="594066" cy="738736"/>
            </a:xfrm>
            <a:prstGeom prst="rect">
              <a:avLst/>
            </a:prstGeom>
            <a:solidFill>
              <a:schemeClr val="bg1">
                <a:lumMod val="50000"/>
              </a:schemeClr>
            </a:solidFill>
          </p:spPr>
          <p:txBody>
            <a:bodyPr wrap="square" rtlCol="0">
              <a:spAutoFit/>
            </a:bodyPr>
            <a:lstStyle/>
            <a:p>
              <a:r>
                <a:rPr lang="en-US" sz="1999" dirty="0"/>
                <a:t>End.</a:t>
              </a:r>
            </a:p>
            <a:p>
              <a:r>
                <a:rPr lang="en-US" sz="1999" dirty="0"/>
                <a:t>Inv.</a:t>
              </a:r>
            </a:p>
            <a:p>
              <a:endParaRPr lang="en-US" sz="1799" dirty="0"/>
            </a:p>
          </p:txBody>
        </p:sp>
        <p:sp>
          <p:nvSpPr>
            <p:cNvPr id="9" name="TextBox 8"/>
            <p:cNvSpPr txBox="1"/>
            <p:nvPr/>
          </p:nvSpPr>
          <p:spPr>
            <a:xfrm>
              <a:off x="3167844" y="2022109"/>
              <a:ext cx="594066" cy="561678"/>
            </a:xfrm>
            <a:prstGeom prst="rect">
              <a:avLst/>
            </a:prstGeom>
            <a:solidFill>
              <a:srgbClr val="92D050"/>
            </a:solidFill>
          </p:spPr>
          <p:txBody>
            <a:bodyPr wrap="square" rtlCol="0">
              <a:spAutoFit/>
            </a:bodyPr>
            <a:lstStyle/>
            <a:p>
              <a:endParaRPr lang="en-US" sz="2132" dirty="0"/>
            </a:p>
            <a:p>
              <a:endParaRPr lang="en-US" sz="2132" dirty="0"/>
            </a:p>
          </p:txBody>
        </p:sp>
      </p:grpSp>
      <p:sp>
        <p:nvSpPr>
          <p:cNvPr id="10" name="Right Arrow 9"/>
          <p:cNvSpPr/>
          <p:nvPr/>
        </p:nvSpPr>
        <p:spPr>
          <a:xfrm>
            <a:off x="1849602" y="2061516"/>
            <a:ext cx="1943267" cy="43183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extBox 10"/>
          <p:cNvSpPr txBox="1"/>
          <p:nvPr/>
        </p:nvSpPr>
        <p:spPr>
          <a:xfrm>
            <a:off x="2975" y="1269814"/>
            <a:ext cx="3502002" cy="1938351"/>
          </a:xfrm>
          <a:prstGeom prst="rect">
            <a:avLst/>
          </a:prstGeom>
          <a:noFill/>
        </p:spPr>
        <p:txBody>
          <a:bodyPr wrap="square" rtlCol="0">
            <a:spAutoFit/>
          </a:bodyPr>
          <a:lstStyle/>
          <a:p>
            <a:pPr algn="ctr"/>
            <a:r>
              <a:rPr lang="en-US" sz="2399" dirty="0"/>
              <a:t>Components purchases including all cost needed to have components available in inventory</a:t>
            </a:r>
          </a:p>
        </p:txBody>
      </p:sp>
      <p:sp>
        <p:nvSpPr>
          <p:cNvPr id="12" name="TextBox 11"/>
          <p:cNvSpPr txBox="1"/>
          <p:nvPr/>
        </p:nvSpPr>
        <p:spPr>
          <a:xfrm>
            <a:off x="3121123" y="1029904"/>
            <a:ext cx="2107035" cy="830740"/>
          </a:xfrm>
          <a:prstGeom prst="rect">
            <a:avLst/>
          </a:prstGeom>
          <a:noFill/>
        </p:spPr>
        <p:txBody>
          <a:bodyPr wrap="square" rtlCol="0">
            <a:spAutoFit/>
          </a:bodyPr>
          <a:lstStyle/>
          <a:p>
            <a:pPr algn="ctr"/>
            <a:r>
              <a:rPr lang="en-US" sz="2399" dirty="0"/>
              <a:t>Components inventory</a:t>
            </a:r>
          </a:p>
        </p:txBody>
      </p:sp>
      <p:grpSp>
        <p:nvGrpSpPr>
          <p:cNvPr id="20" name="Group 19">
            <a:extLst>
              <a:ext uri="{FF2B5EF4-FFF2-40B4-BE49-F238E27FC236}">
                <a16:creationId xmlns:a16="http://schemas.microsoft.com/office/drawing/2014/main" id="{5EA400C2-E803-437D-8C07-5B7A3DEA9ABE}"/>
              </a:ext>
            </a:extLst>
          </p:cNvPr>
          <p:cNvGrpSpPr/>
          <p:nvPr/>
        </p:nvGrpSpPr>
        <p:grpSpPr>
          <a:xfrm>
            <a:off x="3478097" y="4366390"/>
            <a:ext cx="1583403" cy="1883701"/>
            <a:chOff x="2607614" y="3275134"/>
            <a:chExt cx="1188132" cy="1413465"/>
          </a:xfrm>
        </p:grpSpPr>
        <p:sp>
          <p:nvSpPr>
            <p:cNvPr id="13" name="TextBox 12"/>
            <p:cNvSpPr txBox="1"/>
            <p:nvPr/>
          </p:nvSpPr>
          <p:spPr>
            <a:xfrm>
              <a:off x="2607614" y="3275134"/>
              <a:ext cx="594066" cy="692547"/>
            </a:xfrm>
            <a:prstGeom prst="rect">
              <a:avLst/>
            </a:prstGeom>
            <a:solidFill>
              <a:schemeClr val="accent1">
                <a:lumMod val="20000"/>
                <a:lumOff val="80000"/>
              </a:schemeClr>
            </a:solidFill>
          </p:spPr>
          <p:txBody>
            <a:bodyPr wrap="square" rtlCol="0">
              <a:spAutoFit/>
            </a:bodyPr>
            <a:lstStyle/>
            <a:p>
              <a:endParaRPr lang="en-US" sz="1799" dirty="0"/>
            </a:p>
            <a:p>
              <a:endParaRPr lang="en-US" sz="1799" dirty="0"/>
            </a:p>
            <a:p>
              <a:endParaRPr lang="en-US" sz="1799" dirty="0"/>
            </a:p>
          </p:txBody>
        </p:sp>
        <p:sp>
          <p:nvSpPr>
            <p:cNvPr id="14" name="TextBox 13"/>
            <p:cNvSpPr txBox="1"/>
            <p:nvPr/>
          </p:nvSpPr>
          <p:spPr>
            <a:xfrm>
              <a:off x="2607614" y="3996734"/>
              <a:ext cx="594066" cy="669549"/>
            </a:xfrm>
            <a:prstGeom prst="rect">
              <a:avLst/>
            </a:prstGeom>
            <a:solidFill>
              <a:schemeClr val="bg1">
                <a:lumMod val="50000"/>
              </a:schemeClr>
            </a:solidFill>
          </p:spPr>
          <p:txBody>
            <a:bodyPr wrap="square" rtlCol="0">
              <a:spAutoFit/>
            </a:bodyPr>
            <a:lstStyle/>
            <a:p>
              <a:r>
                <a:rPr lang="en-US" sz="1999" dirty="0"/>
                <a:t>Op.</a:t>
              </a:r>
            </a:p>
            <a:p>
              <a:r>
                <a:rPr lang="en-US" sz="1999" dirty="0"/>
                <a:t>Inv.</a:t>
              </a:r>
            </a:p>
            <a:p>
              <a:endParaRPr lang="en-US" sz="1200" dirty="0"/>
            </a:p>
          </p:txBody>
        </p:sp>
        <p:sp>
          <p:nvSpPr>
            <p:cNvPr id="15" name="TextBox 14"/>
            <p:cNvSpPr txBox="1"/>
            <p:nvPr/>
          </p:nvSpPr>
          <p:spPr>
            <a:xfrm>
              <a:off x="3201680" y="3275134"/>
              <a:ext cx="594066" cy="530981"/>
            </a:xfrm>
            <a:prstGeom prst="rect">
              <a:avLst/>
            </a:prstGeom>
            <a:solidFill>
              <a:schemeClr val="bg1">
                <a:lumMod val="50000"/>
              </a:schemeClr>
            </a:solidFill>
          </p:spPr>
          <p:txBody>
            <a:bodyPr wrap="square" rtlCol="0">
              <a:spAutoFit/>
            </a:bodyPr>
            <a:lstStyle/>
            <a:p>
              <a:r>
                <a:rPr lang="en-US" sz="1999" dirty="0"/>
                <a:t>End.</a:t>
              </a:r>
            </a:p>
            <a:p>
              <a:r>
                <a:rPr lang="en-US" sz="1999" dirty="0"/>
                <a:t>Inv.</a:t>
              </a:r>
            </a:p>
          </p:txBody>
        </p:sp>
        <p:sp>
          <p:nvSpPr>
            <p:cNvPr id="16" name="TextBox 15"/>
            <p:cNvSpPr txBox="1"/>
            <p:nvPr/>
          </p:nvSpPr>
          <p:spPr>
            <a:xfrm>
              <a:off x="3201680" y="3788298"/>
              <a:ext cx="594066" cy="900301"/>
            </a:xfrm>
            <a:prstGeom prst="rect">
              <a:avLst/>
            </a:prstGeom>
            <a:solidFill>
              <a:srgbClr val="92D050"/>
            </a:solidFill>
          </p:spPr>
          <p:txBody>
            <a:bodyPr wrap="square" rtlCol="0">
              <a:spAutoFit/>
            </a:bodyPr>
            <a:lstStyle/>
            <a:p>
              <a:endParaRPr lang="en-US" sz="1799" dirty="0"/>
            </a:p>
            <a:p>
              <a:endParaRPr lang="en-US" sz="1799" dirty="0"/>
            </a:p>
            <a:p>
              <a:endParaRPr lang="en-US" sz="1799" dirty="0"/>
            </a:p>
            <a:p>
              <a:endParaRPr lang="en-US" sz="1799" dirty="0"/>
            </a:p>
          </p:txBody>
        </p:sp>
      </p:grpSp>
      <p:sp>
        <p:nvSpPr>
          <p:cNvPr id="17" name="Right Arrow 16"/>
          <p:cNvSpPr/>
          <p:nvPr/>
        </p:nvSpPr>
        <p:spPr>
          <a:xfrm>
            <a:off x="1894695" y="4654279"/>
            <a:ext cx="1943267" cy="43183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8" name="TextBox 17"/>
          <p:cNvSpPr txBox="1"/>
          <p:nvPr/>
        </p:nvSpPr>
        <p:spPr>
          <a:xfrm>
            <a:off x="146244" y="4036510"/>
            <a:ext cx="3187908" cy="1569148"/>
          </a:xfrm>
          <a:prstGeom prst="rect">
            <a:avLst/>
          </a:prstGeom>
          <a:noFill/>
        </p:spPr>
        <p:txBody>
          <a:bodyPr wrap="square" rtlCol="0">
            <a:spAutoFit/>
          </a:bodyPr>
          <a:lstStyle/>
          <a:p>
            <a:pPr algn="ctr"/>
            <a:r>
              <a:rPr lang="en-US" sz="2399" dirty="0"/>
              <a:t>bikes purchases including all cost needed to have bikes available in inventory</a:t>
            </a:r>
          </a:p>
        </p:txBody>
      </p:sp>
      <p:sp>
        <p:nvSpPr>
          <p:cNvPr id="19" name="TextBox 18"/>
          <p:cNvSpPr txBox="1"/>
          <p:nvPr/>
        </p:nvSpPr>
        <p:spPr>
          <a:xfrm>
            <a:off x="3265068" y="3524964"/>
            <a:ext cx="2063222" cy="830740"/>
          </a:xfrm>
          <a:prstGeom prst="rect">
            <a:avLst/>
          </a:prstGeom>
          <a:noFill/>
        </p:spPr>
        <p:txBody>
          <a:bodyPr wrap="square" rtlCol="0">
            <a:spAutoFit/>
          </a:bodyPr>
          <a:lstStyle/>
          <a:p>
            <a:pPr algn="ctr"/>
            <a:r>
              <a:rPr lang="en-US" sz="2399" dirty="0"/>
              <a:t>bikes inventory</a:t>
            </a:r>
          </a:p>
        </p:txBody>
      </p:sp>
      <p:sp>
        <p:nvSpPr>
          <p:cNvPr id="25" name="TextBox 24"/>
          <p:cNvSpPr txBox="1"/>
          <p:nvPr/>
        </p:nvSpPr>
        <p:spPr>
          <a:xfrm>
            <a:off x="5016407" y="3856966"/>
            <a:ext cx="2231159" cy="1076641"/>
          </a:xfrm>
          <a:prstGeom prst="rect">
            <a:avLst/>
          </a:prstGeom>
          <a:noFill/>
        </p:spPr>
        <p:txBody>
          <a:bodyPr wrap="square" rtlCol="0">
            <a:spAutoFit/>
          </a:bodyPr>
          <a:lstStyle/>
          <a:p>
            <a:pPr algn="ctr"/>
            <a:r>
              <a:rPr lang="en-US" sz="2132" dirty="0"/>
              <a:t>Other manufacturing cost</a:t>
            </a:r>
          </a:p>
        </p:txBody>
      </p:sp>
      <p:grpSp>
        <p:nvGrpSpPr>
          <p:cNvPr id="21" name="Group 20">
            <a:extLst>
              <a:ext uri="{FF2B5EF4-FFF2-40B4-BE49-F238E27FC236}">
                <a16:creationId xmlns:a16="http://schemas.microsoft.com/office/drawing/2014/main" id="{4653ABC9-54F3-4D9A-9B44-3FD5E72A366E}"/>
              </a:ext>
            </a:extLst>
          </p:cNvPr>
          <p:cNvGrpSpPr/>
          <p:nvPr/>
        </p:nvGrpSpPr>
        <p:grpSpPr>
          <a:xfrm>
            <a:off x="7247566" y="4096413"/>
            <a:ext cx="3558379" cy="2782445"/>
            <a:chOff x="5436096" y="3165816"/>
            <a:chExt cx="2584550" cy="2087853"/>
          </a:xfrm>
        </p:grpSpPr>
        <p:sp>
          <p:nvSpPr>
            <p:cNvPr id="26" name="TextBox 25"/>
            <p:cNvSpPr txBox="1"/>
            <p:nvPr/>
          </p:nvSpPr>
          <p:spPr>
            <a:xfrm>
              <a:off x="5436096" y="3177814"/>
              <a:ext cx="1288407" cy="1615942"/>
            </a:xfrm>
            <a:prstGeom prst="rect">
              <a:avLst/>
            </a:prstGeom>
            <a:solidFill>
              <a:schemeClr val="accent1">
                <a:lumMod val="20000"/>
                <a:lumOff val="80000"/>
              </a:schemeClr>
            </a:solidFill>
          </p:spPr>
          <p:txBody>
            <a:bodyPr wrap="square" rtlCol="0">
              <a:spAutoFit/>
            </a:bodyPr>
            <a:lstStyle/>
            <a:p>
              <a:endParaRPr lang="en-US" sz="1799" dirty="0"/>
            </a:p>
            <a:p>
              <a:r>
                <a:rPr lang="en-US" sz="1999" dirty="0"/>
                <a:t>Cost of goods manufactured (COGM)</a:t>
              </a:r>
            </a:p>
            <a:p>
              <a:endParaRPr lang="en-US" sz="1799" dirty="0"/>
            </a:p>
            <a:p>
              <a:endParaRPr lang="en-US" sz="1799" dirty="0"/>
            </a:p>
          </p:txBody>
        </p:sp>
        <p:sp>
          <p:nvSpPr>
            <p:cNvPr id="27" name="TextBox 26"/>
            <p:cNvSpPr txBox="1"/>
            <p:nvPr/>
          </p:nvSpPr>
          <p:spPr>
            <a:xfrm>
              <a:off x="5436096" y="4479276"/>
              <a:ext cx="1296144" cy="761830"/>
            </a:xfrm>
            <a:prstGeom prst="rect">
              <a:avLst/>
            </a:prstGeom>
            <a:solidFill>
              <a:schemeClr val="bg1">
                <a:lumMod val="50000"/>
              </a:schemeClr>
            </a:solidFill>
          </p:spPr>
          <p:txBody>
            <a:bodyPr wrap="square" rtlCol="0">
              <a:spAutoFit/>
            </a:bodyPr>
            <a:lstStyle/>
            <a:p>
              <a:r>
                <a:rPr lang="en-US" sz="1999" dirty="0"/>
                <a:t>Opening</a:t>
              </a:r>
            </a:p>
            <a:p>
              <a:r>
                <a:rPr lang="en-US" sz="1999" dirty="0"/>
                <a:t>Inventory</a:t>
              </a:r>
            </a:p>
            <a:p>
              <a:endParaRPr lang="en-US" sz="1999" dirty="0"/>
            </a:p>
          </p:txBody>
        </p:sp>
        <p:sp>
          <p:nvSpPr>
            <p:cNvPr id="28" name="TextBox 27"/>
            <p:cNvSpPr txBox="1"/>
            <p:nvPr/>
          </p:nvSpPr>
          <p:spPr>
            <a:xfrm>
              <a:off x="6732240" y="3165816"/>
              <a:ext cx="1288406" cy="969585"/>
            </a:xfrm>
            <a:prstGeom prst="rect">
              <a:avLst/>
            </a:prstGeom>
            <a:solidFill>
              <a:schemeClr val="bg1">
                <a:lumMod val="50000"/>
              </a:schemeClr>
            </a:solidFill>
          </p:spPr>
          <p:txBody>
            <a:bodyPr wrap="square" rtlCol="0">
              <a:spAutoFit/>
            </a:bodyPr>
            <a:lstStyle/>
            <a:p>
              <a:r>
                <a:rPr lang="en-US" sz="1999" dirty="0"/>
                <a:t>Ending</a:t>
              </a:r>
            </a:p>
            <a:p>
              <a:r>
                <a:rPr lang="en-US" sz="1999" dirty="0"/>
                <a:t>Inventory</a:t>
              </a:r>
            </a:p>
            <a:p>
              <a:endParaRPr lang="en-US" sz="1999" dirty="0"/>
            </a:p>
            <a:p>
              <a:endParaRPr lang="en-US" sz="1799" dirty="0"/>
            </a:p>
          </p:txBody>
        </p:sp>
        <p:sp>
          <p:nvSpPr>
            <p:cNvPr id="29" name="TextBox 28"/>
            <p:cNvSpPr txBox="1"/>
            <p:nvPr/>
          </p:nvSpPr>
          <p:spPr>
            <a:xfrm>
              <a:off x="6732239" y="4076330"/>
              <a:ext cx="1288407" cy="1177339"/>
            </a:xfrm>
            <a:prstGeom prst="rect">
              <a:avLst/>
            </a:prstGeom>
            <a:solidFill>
              <a:srgbClr val="92D050"/>
            </a:solidFill>
          </p:spPr>
          <p:txBody>
            <a:bodyPr wrap="square" rtlCol="0">
              <a:spAutoFit/>
            </a:bodyPr>
            <a:lstStyle/>
            <a:p>
              <a:endParaRPr lang="en-US" sz="1799" dirty="0"/>
            </a:p>
            <a:p>
              <a:r>
                <a:rPr lang="en-US" sz="1999" dirty="0"/>
                <a:t>Cost of goods sold (COGS)</a:t>
              </a:r>
            </a:p>
            <a:p>
              <a:endParaRPr lang="en-US" sz="1799" dirty="0"/>
            </a:p>
          </p:txBody>
        </p:sp>
      </p:grpSp>
      <p:sp>
        <p:nvSpPr>
          <p:cNvPr id="30" name="TextBox 29"/>
          <p:cNvSpPr txBox="1"/>
          <p:nvPr/>
        </p:nvSpPr>
        <p:spPr>
          <a:xfrm>
            <a:off x="7602899" y="3700833"/>
            <a:ext cx="2451609" cy="461537"/>
          </a:xfrm>
          <a:prstGeom prst="rect">
            <a:avLst/>
          </a:prstGeom>
          <a:noFill/>
        </p:spPr>
        <p:txBody>
          <a:bodyPr wrap="square" rtlCol="0">
            <a:spAutoFit/>
          </a:bodyPr>
          <a:lstStyle/>
          <a:p>
            <a:pPr algn="ctr"/>
            <a:r>
              <a:rPr lang="en-US" sz="2399" dirty="0" err="1"/>
              <a:t>ebikes</a:t>
            </a:r>
            <a:r>
              <a:rPr lang="en-US" sz="2399" dirty="0"/>
              <a:t> inventory</a:t>
            </a:r>
          </a:p>
        </p:txBody>
      </p:sp>
      <p:sp>
        <p:nvSpPr>
          <p:cNvPr id="32" name="TextBox 31"/>
          <p:cNvSpPr txBox="1"/>
          <p:nvPr/>
        </p:nvSpPr>
        <p:spPr>
          <a:xfrm>
            <a:off x="7727386" y="1221832"/>
            <a:ext cx="2758959" cy="2307555"/>
          </a:xfrm>
          <a:prstGeom prst="rect">
            <a:avLst/>
          </a:prstGeom>
          <a:solidFill>
            <a:schemeClr val="accent1">
              <a:lumMod val="20000"/>
              <a:lumOff val="80000"/>
            </a:schemeClr>
          </a:solidFill>
        </p:spPr>
        <p:txBody>
          <a:bodyPr wrap="square" rtlCol="0">
            <a:spAutoFit/>
          </a:bodyPr>
          <a:lstStyle/>
          <a:p>
            <a:pPr algn="ctr"/>
            <a:r>
              <a:rPr lang="en-US" sz="2399" b="1" dirty="0"/>
              <a:t>P&amp;L</a:t>
            </a:r>
          </a:p>
          <a:p>
            <a:r>
              <a:rPr lang="en-US" sz="2399" dirty="0"/>
              <a:t>Sales revenue</a:t>
            </a:r>
          </a:p>
          <a:p>
            <a:r>
              <a:rPr lang="en-US" sz="2399" dirty="0"/>
              <a:t>Cost of sales</a:t>
            </a:r>
          </a:p>
          <a:p>
            <a:r>
              <a:rPr lang="en-US" sz="2399" dirty="0"/>
              <a:t>Gross profit</a:t>
            </a:r>
          </a:p>
          <a:p>
            <a:r>
              <a:rPr lang="en-US" sz="2399" dirty="0"/>
              <a:t>S,G&amp;A expenses</a:t>
            </a:r>
          </a:p>
          <a:p>
            <a:r>
              <a:rPr lang="en-US" sz="2399" dirty="0"/>
              <a:t>Operating profit</a:t>
            </a:r>
            <a:endParaRPr lang="en-US" sz="1799" dirty="0"/>
          </a:p>
        </p:txBody>
      </p:sp>
      <p:sp>
        <p:nvSpPr>
          <p:cNvPr id="33" name="Curved Up Arrow 32"/>
          <p:cNvSpPr/>
          <p:nvPr/>
        </p:nvSpPr>
        <p:spPr>
          <a:xfrm rot="15632470">
            <a:off x="8268703" y="3487461"/>
            <a:ext cx="3771885" cy="692140"/>
          </a:xfrm>
          <a:prstGeom prst="curvedUpArrow">
            <a:avLst>
              <a:gd name="adj1" fmla="val 0"/>
              <a:gd name="adj2" fmla="val 50000"/>
              <a:gd name="adj3" fmla="val 25000"/>
            </a:avLst>
          </a:prstGeom>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34" name="Right Arrow 33"/>
          <p:cNvSpPr/>
          <p:nvPr/>
        </p:nvSpPr>
        <p:spPr>
          <a:xfrm>
            <a:off x="5446186" y="4807513"/>
            <a:ext cx="1987133" cy="420809"/>
          </a:xfrm>
          <a:prstGeom prst="rightArrow">
            <a:avLst/>
          </a:prstGeom>
          <a:solidFill>
            <a:schemeClr val="accent1">
              <a:lumMod val="20000"/>
              <a:lumOff val="80000"/>
            </a:schemeClr>
          </a:solidFill>
          <a:ln>
            <a:solidFill>
              <a:srgbClr val="0B7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35" name="Right Arrow 34"/>
          <p:cNvSpPr/>
          <p:nvPr/>
        </p:nvSpPr>
        <p:spPr>
          <a:xfrm>
            <a:off x="4620558" y="5456329"/>
            <a:ext cx="2812761" cy="374159"/>
          </a:xfrm>
          <a:prstGeom prst="rightArrow">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36" name="Right Arrow 35"/>
          <p:cNvSpPr/>
          <p:nvPr/>
        </p:nvSpPr>
        <p:spPr>
          <a:xfrm rot="1903914">
            <a:off x="4631701" y="3500116"/>
            <a:ext cx="3101296" cy="378218"/>
          </a:xfrm>
          <a:prstGeom prst="rightArrow">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37" name="TextBox 22"/>
          <p:cNvSpPr txBox="1"/>
          <p:nvPr/>
        </p:nvSpPr>
        <p:spPr>
          <a:xfrm>
            <a:off x="5088380" y="5240703"/>
            <a:ext cx="1892396" cy="748538"/>
          </a:xfrm>
          <a:prstGeom prst="rect">
            <a:avLst/>
          </a:prstGeom>
          <a:noFill/>
        </p:spPr>
        <p:txBody>
          <a:bodyPr wrap="square" rtlCol="0">
            <a:spAutoFit/>
          </a:bodyPr>
          <a:lstStyle/>
          <a:p>
            <a:pPr algn="ctr"/>
            <a:r>
              <a:rPr lang="en-US" sz="2132" dirty="0"/>
              <a:t>bikes used for production</a:t>
            </a:r>
          </a:p>
        </p:txBody>
      </p:sp>
      <p:sp>
        <p:nvSpPr>
          <p:cNvPr id="38" name="TextBox 37">
            <a:extLst>
              <a:ext uri="{FF2B5EF4-FFF2-40B4-BE49-F238E27FC236}">
                <a16:creationId xmlns:a16="http://schemas.microsoft.com/office/drawing/2014/main" id="{20390779-A244-4EA2-A3D2-740247BA217E}"/>
              </a:ext>
            </a:extLst>
          </p:cNvPr>
          <p:cNvSpPr txBox="1"/>
          <p:nvPr/>
        </p:nvSpPr>
        <p:spPr>
          <a:xfrm>
            <a:off x="4944435" y="2641227"/>
            <a:ext cx="2357557" cy="1076641"/>
          </a:xfrm>
          <a:prstGeom prst="rect">
            <a:avLst/>
          </a:prstGeom>
          <a:noFill/>
        </p:spPr>
        <p:txBody>
          <a:bodyPr wrap="square" rtlCol="0">
            <a:spAutoFit/>
          </a:bodyPr>
          <a:lstStyle/>
          <a:p>
            <a:pPr algn="ctr"/>
            <a:r>
              <a:rPr lang="en-US" sz="2132" dirty="0"/>
              <a:t>Components used for production</a:t>
            </a:r>
          </a:p>
        </p:txBody>
      </p:sp>
    </p:spTree>
    <p:extLst>
      <p:ext uri="{BB962C8B-B14F-4D97-AF65-F5344CB8AC3E}">
        <p14:creationId xmlns:p14="http://schemas.microsoft.com/office/powerpoint/2010/main" val="364931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fill="hold"/>
                                        <p:tgtEl>
                                          <p:spTgt spid="30"/>
                                        </p:tgtEl>
                                        <p:attrNameLst>
                                          <p:attrName>ppt_x</p:attrName>
                                        </p:attrNameLst>
                                      </p:cBhvr>
                                      <p:tavLst>
                                        <p:tav tm="0">
                                          <p:val>
                                            <p:strVal val="#ppt_x"/>
                                          </p:val>
                                        </p:tav>
                                        <p:tav tm="100000">
                                          <p:val>
                                            <p:strVal val="#ppt_x"/>
                                          </p:val>
                                        </p:tav>
                                      </p:tavLst>
                                    </p:anim>
                                    <p:anim calcmode="lin" valueType="num">
                                      <p:cBhvr additive="base">
                                        <p:cTn id="3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1000"/>
                                        <p:tgtEl>
                                          <p:spTgt spid="32"/>
                                        </p:tgtEl>
                                      </p:cBhvr>
                                    </p:animEffect>
                                    <p:anim calcmode="lin" valueType="num">
                                      <p:cBhvr>
                                        <p:cTn id="36" dur="1000" fill="hold"/>
                                        <p:tgtEl>
                                          <p:spTgt spid="32"/>
                                        </p:tgtEl>
                                        <p:attrNameLst>
                                          <p:attrName>ppt_x</p:attrName>
                                        </p:attrNameLst>
                                      </p:cBhvr>
                                      <p:tavLst>
                                        <p:tav tm="0">
                                          <p:val>
                                            <p:strVal val="#ppt_x"/>
                                          </p:val>
                                        </p:tav>
                                        <p:tav tm="100000">
                                          <p:val>
                                            <p:strVal val="#ppt_x"/>
                                          </p:val>
                                        </p:tav>
                                      </p:tavLst>
                                    </p:anim>
                                    <p:anim calcmode="lin" valueType="num">
                                      <p:cBhvr>
                                        <p:cTn id="37" dur="1000" fill="hold"/>
                                        <p:tgtEl>
                                          <p:spTgt spid="32"/>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1000"/>
                                        <p:tgtEl>
                                          <p:spTgt spid="33"/>
                                        </p:tgtEl>
                                      </p:cBhvr>
                                    </p:animEffect>
                                    <p:anim calcmode="lin" valueType="num">
                                      <p:cBhvr>
                                        <p:cTn id="41" dur="1000" fill="hold"/>
                                        <p:tgtEl>
                                          <p:spTgt spid="33"/>
                                        </p:tgtEl>
                                        <p:attrNameLst>
                                          <p:attrName>ppt_x</p:attrName>
                                        </p:attrNameLst>
                                      </p:cBhvr>
                                      <p:tavLst>
                                        <p:tav tm="0">
                                          <p:val>
                                            <p:strVal val="#ppt_x"/>
                                          </p:val>
                                        </p:tav>
                                        <p:tav tm="100000">
                                          <p:val>
                                            <p:strVal val="#ppt_x"/>
                                          </p:val>
                                        </p:tav>
                                      </p:tavLst>
                                    </p:anim>
                                    <p:anim calcmode="lin" valueType="num">
                                      <p:cBhvr>
                                        <p:cTn id="4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500" fill="hold"/>
                                        <p:tgtEl>
                                          <p:spTgt spid="38"/>
                                        </p:tgtEl>
                                        <p:attrNameLst>
                                          <p:attrName>ppt_x</p:attrName>
                                        </p:attrNameLst>
                                      </p:cBhvr>
                                      <p:tavLst>
                                        <p:tav tm="0">
                                          <p:val>
                                            <p:strVal val="#ppt_x"/>
                                          </p:val>
                                        </p:tav>
                                        <p:tav tm="100000">
                                          <p:val>
                                            <p:strVal val="#ppt_x"/>
                                          </p:val>
                                        </p:tav>
                                      </p:tavLst>
                                    </p:anim>
                                    <p:anim calcmode="lin" valueType="num">
                                      <p:cBhvr additive="base">
                                        <p:cTn id="4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0" grpId="0"/>
      <p:bldP spid="32" grpId="0" animBg="1"/>
      <p:bldP spid="33" grpId="0" animBg="1"/>
      <p:bldP spid="34" grpId="0" animBg="1"/>
      <p:bldP spid="35" grpId="0" animBg="1"/>
      <p:bldP spid="36" grpId="0" animBg="1"/>
      <p:bldP spid="37"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049286-BF23-48E5-842A-40633B8FC689}"/>
              </a:ext>
            </a:extLst>
          </p:cNvPr>
          <p:cNvSpPr>
            <a:spLocks noGrp="1"/>
          </p:cNvSpPr>
          <p:nvPr>
            <p:ph type="title"/>
          </p:nvPr>
        </p:nvSpPr>
        <p:spPr>
          <a:xfrm>
            <a:off x="656844" y="487045"/>
            <a:ext cx="10829544" cy="684807"/>
          </a:xfrm>
        </p:spPr>
        <p:txBody>
          <a:bodyPr/>
          <a:lstStyle/>
          <a:p>
            <a:r>
              <a:rPr lang="en-US" dirty="0"/>
              <a:t>MCQ n°1: Full costing method</a:t>
            </a:r>
          </a:p>
        </p:txBody>
      </p:sp>
      <p:sp>
        <p:nvSpPr>
          <p:cNvPr id="2" name="Content Placeholder 1">
            <a:extLst>
              <a:ext uri="{FF2B5EF4-FFF2-40B4-BE49-F238E27FC236}">
                <a16:creationId xmlns:a16="http://schemas.microsoft.com/office/drawing/2014/main" id="{1A210F8F-6E7F-426D-9557-8F6523BE3850}"/>
              </a:ext>
            </a:extLst>
          </p:cNvPr>
          <p:cNvSpPr>
            <a:spLocks noGrp="1"/>
          </p:cNvSpPr>
          <p:nvPr>
            <p:ph idx="1"/>
          </p:nvPr>
        </p:nvSpPr>
        <p:spPr/>
        <p:txBody>
          <a:bodyPr>
            <a:normAutofit/>
          </a:bodyPr>
          <a:lstStyle/>
          <a:p>
            <a:pPr marL="0" indent="0">
              <a:buNone/>
            </a:pPr>
            <a:r>
              <a:rPr lang="en-US" i="1" dirty="0"/>
              <a:t>Thin Company </a:t>
            </a:r>
            <a:r>
              <a:rPr lang="en-US" dirty="0"/>
              <a:t>has RMB 100,000 of expense in manufacturing 200 products. The commercial and administrative expense amounts to RMB 150,000. Sales volume is 150 products.</a:t>
            </a:r>
          </a:p>
          <a:p>
            <a:pPr marL="0" indent="0">
              <a:buNone/>
            </a:pPr>
            <a:r>
              <a:rPr lang="en-US" dirty="0"/>
              <a:t>The selling price per product without VAT is RMB 1,800.</a:t>
            </a:r>
          </a:p>
          <a:p>
            <a:pPr marL="0" indent="0">
              <a:buNone/>
            </a:pPr>
            <a:r>
              <a:rPr lang="en-US" dirty="0"/>
              <a:t>What is the operating profit calculation with the </a:t>
            </a:r>
            <a:r>
              <a:rPr lang="en-US" b="1" dirty="0"/>
              <a:t>full costing method</a:t>
            </a:r>
            <a:r>
              <a:rPr lang="en-US" dirty="0"/>
              <a:t>?</a:t>
            </a:r>
          </a:p>
          <a:p>
            <a:pPr marL="0" indent="0">
              <a:buNone/>
            </a:pPr>
            <a:r>
              <a:rPr lang="en-US" b="0" dirty="0"/>
              <a:t>1. Operating profit = (1,8 – 1) x 150 – 100 = 20 in RMB thousands</a:t>
            </a:r>
          </a:p>
          <a:p>
            <a:pPr marL="0" indent="0">
              <a:buNone/>
            </a:pPr>
            <a:r>
              <a:rPr lang="en-US" b="0" dirty="0"/>
              <a:t>2. Operating profit = (1.8 – 1) x 150 + (1.8 – 0.5) x 200 = 380 in RMB thousands</a:t>
            </a:r>
          </a:p>
          <a:p>
            <a:pPr marL="0" indent="0">
              <a:buNone/>
            </a:pPr>
            <a:r>
              <a:rPr lang="en-US" b="0" dirty="0"/>
              <a:t>3. Operating profit = (1.8 – 1.5)  x 150 = 45 in RMB thousands</a:t>
            </a:r>
          </a:p>
          <a:p>
            <a:pPr marL="0" indent="0">
              <a:buNone/>
            </a:pPr>
            <a:r>
              <a:rPr lang="en-US" b="0" dirty="0"/>
              <a:t>4. Operating profit = (1.8 – 1.5) x 200 = 60 in RMB thousands</a:t>
            </a:r>
          </a:p>
          <a:p>
            <a:pPr marL="0" indent="0">
              <a:buNone/>
            </a:pPr>
            <a:endParaRPr lang="en-US" dirty="0"/>
          </a:p>
        </p:txBody>
      </p:sp>
      <p:sp>
        <p:nvSpPr>
          <p:cNvPr id="5" name="Slide Number Placeholder 4">
            <a:extLst>
              <a:ext uri="{FF2B5EF4-FFF2-40B4-BE49-F238E27FC236}">
                <a16:creationId xmlns:a16="http://schemas.microsoft.com/office/drawing/2014/main" id="{0663745E-94D0-4795-9114-3AB247F9D80F}"/>
              </a:ext>
            </a:extLst>
          </p:cNvPr>
          <p:cNvSpPr>
            <a:spLocks noGrp="1"/>
          </p:cNvSpPr>
          <p:nvPr>
            <p:ph type="sldNum" sz="quarter" idx="10"/>
          </p:nvPr>
        </p:nvSpPr>
        <p:spPr/>
        <p:txBody>
          <a:bodyPr/>
          <a:lstStyle/>
          <a:p>
            <a:fld id="{307C7597-8D70-4701-8085-9524B0B5C72B}" type="slidenum">
              <a:rPr lang="fr-FR" smtClean="0"/>
              <a:pPr/>
              <a:t>8</a:t>
            </a:fld>
            <a:endParaRPr lang="fr-FR" dirty="0"/>
          </a:p>
        </p:txBody>
      </p:sp>
    </p:spTree>
    <p:extLst>
      <p:ext uri="{BB962C8B-B14F-4D97-AF65-F5344CB8AC3E}">
        <p14:creationId xmlns:p14="http://schemas.microsoft.com/office/powerpoint/2010/main" val="3402239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p:cNvCxnSpPr/>
          <p:nvPr/>
        </p:nvCxnSpPr>
        <p:spPr>
          <a:xfrm>
            <a:off x="2137493" y="1125869"/>
            <a:ext cx="0" cy="1439457"/>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re 6"/>
          <p:cNvSpPr>
            <a:spLocks noGrp="1"/>
          </p:cNvSpPr>
          <p:nvPr>
            <p:ph type="title"/>
          </p:nvPr>
        </p:nvSpPr>
        <p:spPr/>
        <p:txBody>
          <a:bodyPr/>
          <a:lstStyle/>
          <a:p>
            <a:r>
              <a:rPr lang="fr-FR" dirty="0"/>
              <a:t>P&amp;L or </a:t>
            </a:r>
            <a:r>
              <a:rPr lang="fr-FR" dirty="0" err="1"/>
              <a:t>income</a:t>
            </a:r>
            <a:r>
              <a:rPr lang="fr-FR" dirty="0"/>
              <a:t> </a:t>
            </a:r>
            <a:r>
              <a:rPr lang="fr-FR" dirty="0" err="1"/>
              <a:t>statement</a:t>
            </a:r>
            <a:endParaRPr lang="fr-FR" dirty="0"/>
          </a:p>
        </p:txBody>
      </p:sp>
      <p:sp>
        <p:nvSpPr>
          <p:cNvPr id="6" name="Content Placeholder 5">
            <a:extLst>
              <a:ext uri="{FF2B5EF4-FFF2-40B4-BE49-F238E27FC236}">
                <a16:creationId xmlns:a16="http://schemas.microsoft.com/office/drawing/2014/main" id="{18DD4A0D-B559-4DC0-819A-73632D92B579}"/>
              </a:ext>
            </a:extLst>
          </p:cNvPr>
          <p:cNvSpPr>
            <a:spLocks noGrp="1"/>
          </p:cNvSpPr>
          <p:nvPr>
            <p:ph idx="1"/>
          </p:nvPr>
        </p:nvSpPr>
        <p:spPr/>
        <p:txBody>
          <a:bodyPr>
            <a:normAutofit lnSpcReduction="10000"/>
          </a:bodyPr>
          <a:lstStyle/>
          <a:p>
            <a:pPr marL="0" indent="0">
              <a:buNone/>
            </a:pPr>
            <a:r>
              <a:rPr lang="fr-FR" dirty="0" err="1"/>
              <a:t>Expenses</a:t>
            </a:r>
            <a:r>
              <a:rPr lang="fr-FR" dirty="0"/>
              <a:t> ≠ cash </a:t>
            </a:r>
            <a:r>
              <a:rPr lang="fr-FR" dirty="0" err="1"/>
              <a:t>outflow</a:t>
            </a:r>
            <a:r>
              <a:rPr lang="fr-FR" dirty="0"/>
              <a:t> and revenue (or </a:t>
            </a:r>
            <a:r>
              <a:rPr lang="fr-FR" dirty="0" err="1"/>
              <a:t>Income</a:t>
            </a:r>
            <a:r>
              <a:rPr lang="fr-FR" dirty="0"/>
              <a:t>) ≠ cash </a:t>
            </a:r>
            <a:r>
              <a:rPr lang="fr-FR" dirty="0" err="1"/>
              <a:t>inflow</a:t>
            </a:r>
            <a:r>
              <a:rPr lang="fr-FR" dirty="0"/>
              <a:t> because of </a:t>
            </a:r>
            <a:r>
              <a:rPr lang="fr-FR" dirty="0" err="1"/>
              <a:t>credit</a:t>
            </a:r>
            <a:r>
              <a:rPr lang="fr-FR" dirty="0"/>
              <a:t> </a:t>
            </a:r>
            <a:r>
              <a:rPr lang="fr-FR" dirty="0" err="1"/>
              <a:t>terms</a:t>
            </a:r>
            <a:r>
              <a:rPr lang="fr-FR" dirty="0"/>
              <a:t>, sales volume ≠ production volume and </a:t>
            </a:r>
            <a:r>
              <a:rPr lang="fr-FR" dirty="0" err="1"/>
              <a:t>noncash</a:t>
            </a:r>
            <a:r>
              <a:rPr lang="fr-FR" dirty="0"/>
              <a:t> </a:t>
            </a:r>
            <a:r>
              <a:rPr lang="fr-FR" dirty="0" err="1"/>
              <a:t>expenses</a:t>
            </a:r>
            <a:r>
              <a:rPr lang="fr-FR" dirty="0"/>
              <a:t> (for instance, </a:t>
            </a:r>
            <a:r>
              <a:rPr lang="fr-FR" dirty="0" err="1"/>
              <a:t>depreciation</a:t>
            </a:r>
            <a:r>
              <a:rPr lang="fr-FR" dirty="0"/>
              <a:t> and </a:t>
            </a:r>
            <a:r>
              <a:rPr lang="fr-FR" dirty="0" err="1"/>
              <a:t>amortization</a:t>
            </a:r>
            <a:r>
              <a:rPr lang="fr-FR" dirty="0"/>
              <a:t> </a:t>
            </a:r>
            <a:r>
              <a:rPr lang="fr-FR" dirty="0" err="1"/>
              <a:t>expense</a:t>
            </a:r>
            <a:r>
              <a:rPr lang="fr-FR" dirty="0"/>
              <a:t>) and </a:t>
            </a:r>
            <a:r>
              <a:rPr lang="fr-FR" dirty="0" err="1"/>
              <a:t>noncashrevenue</a:t>
            </a:r>
            <a:r>
              <a:rPr lang="fr-FR" dirty="0"/>
              <a:t> (for instance, reversal of </a:t>
            </a:r>
            <a:r>
              <a:rPr lang="fr-FR" dirty="0" err="1"/>
              <a:t>impairment</a:t>
            </a:r>
            <a:r>
              <a:rPr lang="fr-FR" dirty="0"/>
              <a:t> </a:t>
            </a:r>
            <a:r>
              <a:rPr lang="fr-FR" dirty="0" err="1"/>
              <a:t>losses</a:t>
            </a:r>
            <a:r>
              <a:rPr lang="fr-FR" dirty="0"/>
              <a:t>): </a:t>
            </a:r>
          </a:p>
          <a:p>
            <a:pPr marL="0" indent="0">
              <a:buNone/>
            </a:pPr>
            <a:endParaRPr lang="fr-FR" dirty="0"/>
          </a:p>
          <a:p>
            <a:pPr lvl="1"/>
            <a:r>
              <a:rPr lang="fr-FR" sz="2530" dirty="0" err="1"/>
              <a:t>Manufacturing</a:t>
            </a:r>
            <a:r>
              <a:rPr lang="fr-FR" sz="2530" dirty="0"/>
              <a:t> or production </a:t>
            </a:r>
            <a:r>
              <a:rPr lang="fr-FR" sz="2530" dirty="0" err="1"/>
              <a:t>expenses</a:t>
            </a:r>
            <a:r>
              <a:rPr lang="fr-FR" sz="2530" dirty="0"/>
              <a:t> are </a:t>
            </a:r>
            <a:r>
              <a:rPr lang="fr-FR" sz="2530" dirty="0" err="1"/>
              <a:t>adjusted</a:t>
            </a:r>
            <a:r>
              <a:rPr lang="fr-FR" sz="2530" dirty="0"/>
              <a:t> to sales volume in the P&amp;L</a:t>
            </a:r>
          </a:p>
          <a:p>
            <a:pPr lvl="1"/>
            <a:r>
              <a:rPr lang="fr-FR" sz="2530" dirty="0" err="1"/>
              <a:t>Credit</a:t>
            </a:r>
            <a:r>
              <a:rPr lang="fr-FR" sz="2530" dirty="0"/>
              <a:t> </a:t>
            </a:r>
            <a:r>
              <a:rPr lang="fr-FR" sz="2530" dirty="0" err="1"/>
              <a:t>terms</a:t>
            </a:r>
            <a:r>
              <a:rPr lang="fr-FR" sz="2530" dirty="0"/>
              <a:t> are not </a:t>
            </a:r>
            <a:r>
              <a:rPr lang="fr-FR" sz="2530" dirty="0" err="1"/>
              <a:t>taken</a:t>
            </a:r>
            <a:r>
              <a:rPr lang="fr-FR" sz="2530" dirty="0"/>
              <a:t> into account </a:t>
            </a:r>
            <a:r>
              <a:rPr lang="fr-FR" sz="2530" dirty="0" err="1"/>
              <a:t>inside</a:t>
            </a:r>
            <a:r>
              <a:rPr lang="fr-FR" sz="2530" dirty="0"/>
              <a:t> the P&amp;L</a:t>
            </a:r>
          </a:p>
          <a:p>
            <a:pPr lvl="1"/>
            <a:r>
              <a:rPr lang="fr-FR" sz="2530" dirty="0"/>
              <a:t>Sales are </a:t>
            </a:r>
            <a:r>
              <a:rPr lang="fr-FR" sz="2530" dirty="0" err="1"/>
              <a:t>recorded</a:t>
            </a:r>
            <a:r>
              <a:rPr lang="fr-FR" sz="2530" dirty="0"/>
              <a:t> at the date of </a:t>
            </a:r>
            <a:r>
              <a:rPr lang="fr-FR" sz="2530" dirty="0" err="1"/>
              <a:t>delivering</a:t>
            </a:r>
            <a:r>
              <a:rPr lang="fr-FR" sz="2530" dirty="0"/>
              <a:t> goods or rendering services (≠ date of cash collection from </a:t>
            </a:r>
            <a:r>
              <a:rPr lang="fr-FR" sz="2530" dirty="0" err="1"/>
              <a:t>customers</a:t>
            </a:r>
            <a:r>
              <a:rPr lang="fr-FR" sz="2530" dirty="0"/>
              <a:t>)	</a:t>
            </a:r>
          </a:p>
          <a:p>
            <a:pPr lvl="1"/>
            <a:r>
              <a:rPr lang="fr-FR" sz="2530" dirty="0" err="1"/>
              <a:t>Expenses</a:t>
            </a:r>
            <a:r>
              <a:rPr lang="fr-FR" sz="2530" dirty="0"/>
              <a:t> are </a:t>
            </a:r>
            <a:r>
              <a:rPr lang="fr-FR" sz="2530" dirty="0" err="1"/>
              <a:t>recorded</a:t>
            </a:r>
            <a:r>
              <a:rPr lang="fr-FR" sz="2530" dirty="0"/>
              <a:t> when the </a:t>
            </a:r>
            <a:r>
              <a:rPr lang="fr-FR" sz="2530" dirty="0" err="1"/>
              <a:t>goods</a:t>
            </a:r>
            <a:r>
              <a:rPr lang="fr-FR" sz="2530" dirty="0"/>
              <a:t> or services are </a:t>
            </a:r>
            <a:r>
              <a:rPr lang="fr-FR" sz="2530" dirty="0" err="1"/>
              <a:t>sold</a:t>
            </a:r>
            <a:r>
              <a:rPr lang="fr-FR" sz="2530" dirty="0"/>
              <a:t> (</a:t>
            </a:r>
            <a:r>
              <a:rPr lang="fr-FR" sz="2530" dirty="0" err="1"/>
              <a:t>marching</a:t>
            </a:r>
            <a:r>
              <a:rPr lang="fr-FR" sz="2530" dirty="0"/>
              <a:t> </a:t>
            </a:r>
            <a:r>
              <a:rPr lang="fr-FR" sz="2530" dirty="0" err="1"/>
              <a:t>principle</a:t>
            </a:r>
            <a:r>
              <a:rPr lang="fr-FR" sz="2530" dirty="0"/>
              <a:t>).</a:t>
            </a:r>
          </a:p>
          <a:p>
            <a:endParaRPr lang="en-US" dirty="0"/>
          </a:p>
        </p:txBody>
      </p:sp>
      <p:sp>
        <p:nvSpPr>
          <p:cNvPr id="4" name="Subtitle 3">
            <a:extLst>
              <a:ext uri="{FF2B5EF4-FFF2-40B4-BE49-F238E27FC236}">
                <a16:creationId xmlns:a16="http://schemas.microsoft.com/office/drawing/2014/main" id="{DF95F4AF-D99E-4FED-9C39-824E239DA49B}"/>
              </a:ext>
            </a:extLst>
          </p:cNvPr>
          <p:cNvSpPr>
            <a:spLocks noGrp="1"/>
          </p:cNvSpPr>
          <p:nvPr>
            <p:ph type="subTitle" idx="4294967295"/>
          </p:nvPr>
        </p:nvSpPr>
        <p:spPr>
          <a:xfrm>
            <a:off x="705612" y="915829"/>
            <a:ext cx="11276012" cy="481012"/>
          </a:xfrm>
        </p:spPr>
        <p:txBody>
          <a:bodyPr/>
          <a:lstStyle/>
          <a:p>
            <a:pPr marL="0" indent="0">
              <a:buNone/>
            </a:pPr>
            <a:r>
              <a:rPr lang="fr-FR" dirty="0" err="1"/>
              <a:t>What’s</a:t>
            </a:r>
            <a:r>
              <a:rPr lang="fr-FR" dirty="0"/>
              <a:t> </a:t>
            </a:r>
            <a:r>
              <a:rPr lang="fr-FR" dirty="0" err="1"/>
              <a:t>it</a:t>
            </a:r>
            <a:r>
              <a:rPr lang="fr-FR" dirty="0"/>
              <a:t> for? </a:t>
            </a:r>
            <a:r>
              <a:rPr lang="fr-FR" dirty="0" err="1"/>
              <a:t>What’s</a:t>
            </a:r>
            <a:r>
              <a:rPr lang="fr-FR" dirty="0"/>
              <a:t> </a:t>
            </a:r>
            <a:r>
              <a:rPr lang="fr-FR" dirty="0" err="1"/>
              <a:t>it</a:t>
            </a:r>
            <a:r>
              <a:rPr lang="fr-FR" dirty="0"/>
              <a:t> not for?</a:t>
            </a:r>
          </a:p>
        </p:txBody>
      </p:sp>
    </p:spTree>
    <p:extLst>
      <p:ext uri="{BB962C8B-B14F-4D97-AF65-F5344CB8AC3E}">
        <p14:creationId xmlns:p14="http://schemas.microsoft.com/office/powerpoint/2010/main" val="330552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41835-7087-24B8-E342-80B8446AA691}"/>
              </a:ext>
            </a:extLst>
          </p:cNvPr>
          <p:cNvSpPr>
            <a:spLocks noGrp="1"/>
          </p:cNvSpPr>
          <p:nvPr>
            <p:ph type="ctrTitle"/>
          </p:nvPr>
        </p:nvSpPr>
        <p:spPr/>
        <p:txBody>
          <a:bodyPr>
            <a:normAutofit fontScale="90000"/>
          </a:bodyPr>
          <a:lstStyle/>
          <a:p>
            <a:r>
              <a:rPr lang="en-US" dirty="0"/>
              <a:t>Revenue and expense: categories (operating, non-recurring and financial)</a:t>
            </a:r>
          </a:p>
        </p:txBody>
      </p:sp>
      <p:sp>
        <p:nvSpPr>
          <p:cNvPr id="3" name="Subtitle 2">
            <a:extLst>
              <a:ext uri="{FF2B5EF4-FFF2-40B4-BE49-F238E27FC236}">
                <a16:creationId xmlns:a16="http://schemas.microsoft.com/office/drawing/2014/main" id="{A5531FC8-F865-1F63-E636-0A43A55D77B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62912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r-FR" dirty="0"/>
              <a:t>Income (IFRS) or revenue (US GAAP)</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060972597"/>
              </p:ext>
            </p:extLst>
          </p:nvPr>
        </p:nvGraphicFramePr>
        <p:xfrm>
          <a:off x="681038" y="1115410"/>
          <a:ext cx="10829923" cy="3907732"/>
        </p:xfrm>
        <a:graphic>
          <a:graphicData uri="http://schemas.openxmlformats.org/drawingml/2006/table">
            <a:tbl>
              <a:tblPr firstRow="1" bandRow="1">
                <a:tableStyleId>{5C22544A-7EE6-4342-B048-85BDC9FD1C3A}</a:tableStyleId>
              </a:tblPr>
              <a:tblGrid>
                <a:gridCol w="1890563">
                  <a:extLst>
                    <a:ext uri="{9D8B030D-6E8A-4147-A177-3AD203B41FA5}">
                      <a16:colId xmlns:a16="http://schemas.microsoft.com/office/drawing/2014/main" val="3505073068"/>
                    </a:ext>
                  </a:extLst>
                </a:gridCol>
                <a:gridCol w="4469680">
                  <a:extLst>
                    <a:ext uri="{9D8B030D-6E8A-4147-A177-3AD203B41FA5}">
                      <a16:colId xmlns:a16="http://schemas.microsoft.com/office/drawing/2014/main" val="1189710588"/>
                    </a:ext>
                  </a:extLst>
                </a:gridCol>
                <a:gridCol w="4469680">
                  <a:extLst>
                    <a:ext uri="{9D8B030D-6E8A-4147-A177-3AD203B41FA5}">
                      <a16:colId xmlns:a16="http://schemas.microsoft.com/office/drawing/2014/main" val="2890743652"/>
                    </a:ext>
                  </a:extLst>
                </a:gridCol>
              </a:tblGrid>
              <a:tr h="853023">
                <a:tc rowSpan="5">
                  <a:txBody>
                    <a:bodyPr/>
                    <a:lstStyle/>
                    <a:p>
                      <a:pPr algn="ctr"/>
                      <a:r>
                        <a:rPr lang="fr-FR" sz="2400" dirty="0"/>
                        <a:t>Income</a:t>
                      </a:r>
                    </a:p>
                  </a:txBody>
                  <a:tcPr marL="121860" marR="121860" marT="60930" marB="60930" anchor="ctr"/>
                </a:tc>
                <a:tc>
                  <a:txBody>
                    <a:bodyPr/>
                    <a:lstStyle/>
                    <a:p>
                      <a:r>
                        <a:rPr lang="fr-FR" sz="2400" dirty="0"/>
                        <a:t>Revenue or sales revenue or sales or turnover (net)</a:t>
                      </a:r>
                    </a:p>
                  </a:txBody>
                  <a:tcPr marL="121860" marR="121860" marT="60930" marB="60930"/>
                </a:tc>
                <a:tc>
                  <a:txBody>
                    <a:bodyPr/>
                    <a:lstStyle/>
                    <a:p>
                      <a:r>
                        <a:rPr lang="fr-FR" sz="2400" dirty="0"/>
                        <a:t>Operating </a:t>
                      </a:r>
                      <a:r>
                        <a:rPr lang="fr-FR" sz="2400" dirty="0" err="1"/>
                        <a:t>activity</a:t>
                      </a:r>
                      <a:endParaRPr lang="fr-FR" sz="2400" dirty="0"/>
                    </a:p>
                  </a:txBody>
                  <a:tcPr marL="121860" marR="121860" marT="60930" marB="60930"/>
                </a:tc>
                <a:extLst>
                  <a:ext uri="{0D108BD9-81ED-4DB2-BD59-A6C34878D82A}">
                    <a16:rowId xmlns:a16="http://schemas.microsoft.com/office/drawing/2014/main" val="1839721616"/>
                  </a:ext>
                </a:extLst>
              </a:tr>
              <a:tr h="853023">
                <a:tc vMerge="1">
                  <a:txBody>
                    <a:bodyPr/>
                    <a:lstStyle/>
                    <a:p>
                      <a:pPr algn="ctr"/>
                      <a:endParaRPr lang="fr-FR" dirty="0"/>
                    </a:p>
                  </a:txBody>
                  <a:tcPr anchor="ctr"/>
                </a:tc>
                <a:tc>
                  <a:txBody>
                    <a:bodyPr/>
                    <a:lstStyle/>
                    <a:p>
                      <a:r>
                        <a:rPr lang="fr-FR" sz="2400" dirty="0" err="1"/>
                        <a:t>Other</a:t>
                      </a:r>
                      <a:r>
                        <a:rPr lang="fr-FR" sz="2400" dirty="0"/>
                        <a:t> operating revenue (royalties, </a:t>
                      </a:r>
                      <a:r>
                        <a:rPr lang="fr-FR" sz="2400" dirty="0" err="1"/>
                        <a:t>license</a:t>
                      </a:r>
                      <a:r>
                        <a:rPr lang="fr-FR" sz="2400" dirty="0"/>
                        <a:t> </a:t>
                      </a:r>
                      <a:r>
                        <a:rPr lang="fr-FR" sz="2400" dirty="0" err="1"/>
                        <a:t>fees</a:t>
                      </a:r>
                      <a:r>
                        <a:rPr lang="fr-FR" sz="2400" dirty="0"/>
                        <a:t>, etc.)</a:t>
                      </a:r>
                    </a:p>
                  </a:txBody>
                  <a:tcPr marL="121860" marR="121860" marT="60930" marB="609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t>Operating </a:t>
                      </a:r>
                      <a:r>
                        <a:rPr lang="fr-FR" sz="2400" dirty="0" err="1"/>
                        <a:t>activity</a:t>
                      </a:r>
                      <a:endParaRPr lang="fr-FR" sz="2400" dirty="0"/>
                    </a:p>
                    <a:p>
                      <a:endParaRPr lang="fr-FR" sz="2400" dirty="0"/>
                    </a:p>
                  </a:txBody>
                  <a:tcPr marL="121860" marR="121860" marT="60930" marB="60930"/>
                </a:tc>
                <a:extLst>
                  <a:ext uri="{0D108BD9-81ED-4DB2-BD59-A6C34878D82A}">
                    <a16:rowId xmlns:a16="http://schemas.microsoft.com/office/drawing/2014/main" val="2339918450"/>
                  </a:ext>
                </a:extLst>
              </a:tr>
              <a:tr h="853023">
                <a:tc vMerge="1">
                  <a:txBody>
                    <a:bodyPr/>
                    <a:lstStyle/>
                    <a:p>
                      <a:pPr algn="ctr"/>
                      <a:endParaRPr lang="fr-FR" dirty="0"/>
                    </a:p>
                  </a:txBody>
                  <a:tcPr anchor="ctr"/>
                </a:tc>
                <a:tc>
                  <a:txBody>
                    <a:bodyPr/>
                    <a:lstStyle/>
                    <a:p>
                      <a:r>
                        <a:rPr lang="fr-FR" sz="2400" dirty="0"/>
                        <a:t>Gain on sale of P,P&amp;E</a:t>
                      </a:r>
                      <a:r>
                        <a:rPr lang="fr-FR" sz="2400" baseline="0" dirty="0"/>
                        <a:t> and</a:t>
                      </a:r>
                      <a:r>
                        <a:rPr lang="fr-FR" sz="2400" dirty="0"/>
                        <a:t> intangible </a:t>
                      </a:r>
                      <a:r>
                        <a:rPr lang="fr-FR" sz="2400" dirty="0" err="1"/>
                        <a:t>assets</a:t>
                      </a:r>
                      <a:endParaRPr lang="fr-FR" sz="2400" dirty="0"/>
                    </a:p>
                  </a:txBody>
                  <a:tcPr marL="121860" marR="121860" marT="60930" marB="60930"/>
                </a:tc>
                <a:tc>
                  <a:txBody>
                    <a:bodyPr/>
                    <a:lstStyle/>
                    <a:p>
                      <a:r>
                        <a:rPr lang="fr-FR" sz="2400" dirty="0"/>
                        <a:t>Non-</a:t>
                      </a:r>
                      <a:r>
                        <a:rPr lang="fr-FR" sz="2400" dirty="0" err="1"/>
                        <a:t>recurring</a:t>
                      </a:r>
                      <a:r>
                        <a:rPr lang="fr-FR" sz="2400" dirty="0"/>
                        <a:t> </a:t>
                      </a:r>
                      <a:r>
                        <a:rPr lang="fr-FR" sz="2400" dirty="0" err="1"/>
                        <a:t>activity</a:t>
                      </a:r>
                      <a:endParaRPr lang="fr-FR" sz="2400" dirty="0"/>
                    </a:p>
                  </a:txBody>
                  <a:tcPr marL="121860" marR="121860" marT="60930" marB="60930"/>
                </a:tc>
                <a:extLst>
                  <a:ext uri="{0D108BD9-81ED-4DB2-BD59-A6C34878D82A}">
                    <a16:rowId xmlns:a16="http://schemas.microsoft.com/office/drawing/2014/main" val="4248148731"/>
                  </a:ext>
                </a:extLst>
              </a:tr>
              <a:tr h="494212">
                <a:tc vMerge="1">
                  <a:txBody>
                    <a:bodyPr/>
                    <a:lstStyle/>
                    <a:p>
                      <a:pPr algn="ctr"/>
                      <a:endParaRPr lang="fr-FR"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a:t>Gain on sale of </a:t>
                      </a:r>
                      <a:r>
                        <a:rPr lang="fr-FR" sz="2400" dirty="0" err="1"/>
                        <a:t>financial</a:t>
                      </a:r>
                      <a:r>
                        <a:rPr lang="fr-FR" sz="2400" dirty="0"/>
                        <a:t> </a:t>
                      </a:r>
                      <a:r>
                        <a:rPr lang="fr-FR" sz="2400" dirty="0" err="1"/>
                        <a:t>assets</a:t>
                      </a:r>
                      <a:endParaRPr lang="fr-FR" sz="2400" dirty="0"/>
                    </a:p>
                  </a:txBody>
                  <a:tcPr marL="121860" marR="121860" marT="60930" marB="60930"/>
                </a:tc>
                <a:tc>
                  <a:txBody>
                    <a:bodyPr/>
                    <a:lstStyle/>
                    <a:p>
                      <a:r>
                        <a:rPr lang="fr-FR" sz="2400" dirty="0"/>
                        <a:t>Financial </a:t>
                      </a:r>
                      <a:r>
                        <a:rPr lang="fr-FR" sz="2400" dirty="0" err="1"/>
                        <a:t>activity</a:t>
                      </a:r>
                      <a:endParaRPr lang="fr-FR" sz="2400" dirty="0"/>
                    </a:p>
                  </a:txBody>
                  <a:tcPr marL="121860" marR="121860" marT="60930" marB="60930"/>
                </a:tc>
                <a:extLst>
                  <a:ext uri="{0D108BD9-81ED-4DB2-BD59-A6C34878D82A}">
                    <a16:rowId xmlns:a16="http://schemas.microsoft.com/office/drawing/2014/main" val="790104846"/>
                  </a:ext>
                </a:extLst>
              </a:tr>
              <a:tr h="853023">
                <a:tc vMerge="1">
                  <a:txBody>
                    <a:bodyPr/>
                    <a:lstStyle/>
                    <a:p>
                      <a:pPr algn="ctr"/>
                      <a:endParaRPr lang="fr-FR" dirty="0"/>
                    </a:p>
                  </a:txBody>
                  <a:tcPr anchor="ctr"/>
                </a:tc>
                <a:tc>
                  <a:txBody>
                    <a:bodyPr/>
                    <a:lstStyle/>
                    <a:p>
                      <a:r>
                        <a:rPr lang="fr-FR" sz="2400" dirty="0" err="1"/>
                        <a:t>Other</a:t>
                      </a:r>
                      <a:r>
                        <a:rPr lang="fr-FR" sz="2400" dirty="0"/>
                        <a:t> </a:t>
                      </a:r>
                      <a:r>
                        <a:rPr lang="fr-FR" sz="2400" dirty="0" err="1"/>
                        <a:t>financial</a:t>
                      </a:r>
                      <a:r>
                        <a:rPr lang="fr-FR" sz="2400" dirty="0"/>
                        <a:t> </a:t>
                      </a:r>
                      <a:r>
                        <a:rPr lang="fr-FR" sz="2400" dirty="0" err="1"/>
                        <a:t>income</a:t>
                      </a:r>
                      <a:r>
                        <a:rPr lang="fr-FR" sz="2400" dirty="0"/>
                        <a:t> (</a:t>
                      </a:r>
                      <a:r>
                        <a:rPr lang="fr-FR" sz="2400" dirty="0" err="1"/>
                        <a:t>interest</a:t>
                      </a:r>
                      <a:r>
                        <a:rPr lang="fr-FR" sz="2400" dirty="0"/>
                        <a:t> </a:t>
                      </a:r>
                      <a:r>
                        <a:rPr lang="fr-FR" sz="2400" dirty="0" err="1"/>
                        <a:t>income</a:t>
                      </a:r>
                      <a:r>
                        <a:rPr lang="fr-FR" sz="2400" dirty="0"/>
                        <a:t> and </a:t>
                      </a:r>
                      <a:r>
                        <a:rPr lang="fr-FR" sz="2400" dirty="0" err="1"/>
                        <a:t>dividend</a:t>
                      </a:r>
                      <a:r>
                        <a:rPr lang="fr-FR" sz="2400" dirty="0"/>
                        <a:t> </a:t>
                      </a:r>
                      <a:r>
                        <a:rPr lang="fr-FR" sz="2400" dirty="0" err="1"/>
                        <a:t>income</a:t>
                      </a:r>
                      <a:r>
                        <a:rPr lang="fr-FR" sz="2400" dirty="0"/>
                        <a:t>)</a:t>
                      </a:r>
                    </a:p>
                  </a:txBody>
                  <a:tcPr marL="121860" marR="121860" marT="60930" marB="60930"/>
                </a:tc>
                <a:tc>
                  <a:txBody>
                    <a:bodyPr/>
                    <a:lstStyle/>
                    <a:p>
                      <a:r>
                        <a:rPr lang="fr-FR" sz="2400" dirty="0"/>
                        <a:t>Financial </a:t>
                      </a:r>
                      <a:r>
                        <a:rPr lang="fr-FR" sz="2400" dirty="0" err="1"/>
                        <a:t>activity</a:t>
                      </a:r>
                      <a:endParaRPr lang="fr-FR" sz="2400" dirty="0"/>
                    </a:p>
                  </a:txBody>
                  <a:tcPr marL="121860" marR="121860" marT="60930" marB="60930"/>
                </a:tc>
                <a:extLst>
                  <a:ext uri="{0D108BD9-81ED-4DB2-BD59-A6C34878D82A}">
                    <a16:rowId xmlns:a16="http://schemas.microsoft.com/office/drawing/2014/main" val="3117770151"/>
                  </a:ext>
                </a:extLst>
              </a:tr>
            </a:tbl>
          </a:graphicData>
        </a:graphic>
      </p:graphicFrame>
      <p:sp>
        <p:nvSpPr>
          <p:cNvPr id="5" name="Slide Number Placeholder 4"/>
          <p:cNvSpPr>
            <a:spLocks noGrp="1"/>
          </p:cNvSpPr>
          <p:nvPr>
            <p:ph type="sldNum" sz="quarter" idx="10"/>
          </p:nvPr>
        </p:nvSpPr>
        <p:spPr/>
        <p:txBody>
          <a:bodyPr/>
          <a:lstStyle/>
          <a:p>
            <a:fld id="{307C7597-8D70-4701-8085-9524B0B5C72B}" type="slidenum">
              <a:rPr lang="fr-FR" smtClean="0"/>
              <a:pPr/>
              <a:t>11</a:t>
            </a:fld>
            <a:endParaRPr lang="fr-FR" dirty="0"/>
          </a:p>
        </p:txBody>
      </p:sp>
      <p:sp>
        <p:nvSpPr>
          <p:cNvPr id="7" name="TextBox 6">
            <a:extLst>
              <a:ext uri="{FF2B5EF4-FFF2-40B4-BE49-F238E27FC236}">
                <a16:creationId xmlns:a16="http://schemas.microsoft.com/office/drawing/2014/main" id="{726B5A14-B73C-414D-8896-4E3A42FFD263}"/>
              </a:ext>
            </a:extLst>
          </p:cNvPr>
          <p:cNvSpPr txBox="1"/>
          <p:nvPr/>
        </p:nvSpPr>
        <p:spPr>
          <a:xfrm>
            <a:off x="98179" y="5142663"/>
            <a:ext cx="11698294" cy="1260345"/>
          </a:xfrm>
          <a:prstGeom prst="rect">
            <a:avLst/>
          </a:prstGeom>
          <a:noFill/>
        </p:spPr>
        <p:txBody>
          <a:bodyPr wrap="square" rtlCol="0">
            <a:spAutoFit/>
          </a:bodyPr>
          <a:lstStyle/>
          <a:p>
            <a:pPr algn="ctr"/>
            <a:r>
              <a:rPr lang="fr-FR" sz="3795" dirty="0"/>
              <a:t>Net </a:t>
            </a:r>
            <a:r>
              <a:rPr lang="fr-FR" sz="3795" dirty="0" err="1"/>
              <a:t>income</a:t>
            </a:r>
            <a:r>
              <a:rPr lang="fr-FR" sz="3795" dirty="0"/>
              <a:t> (or net profit/(</a:t>
            </a:r>
            <a:r>
              <a:rPr lang="fr-FR" sz="3795" dirty="0" err="1"/>
              <a:t>loss</a:t>
            </a:r>
            <a:r>
              <a:rPr lang="fr-FR" sz="3795" dirty="0"/>
              <a:t>)) = Income (or revenue </a:t>
            </a:r>
            <a:r>
              <a:rPr lang="fr-FR" sz="3795" dirty="0" err="1"/>
              <a:t>under</a:t>
            </a:r>
            <a:r>
              <a:rPr lang="fr-FR" sz="3795" dirty="0"/>
              <a:t> US GAAP) - Expense</a:t>
            </a:r>
          </a:p>
        </p:txBody>
      </p:sp>
    </p:spTree>
    <p:extLst>
      <p:ext uri="{BB962C8B-B14F-4D97-AF65-F5344CB8AC3E}">
        <p14:creationId xmlns:p14="http://schemas.microsoft.com/office/powerpoint/2010/main" val="4088333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r-FR" dirty="0"/>
              <a:t>Expense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88816544"/>
              </p:ext>
            </p:extLst>
          </p:nvPr>
        </p:nvGraphicFramePr>
        <p:xfrm>
          <a:off x="681038" y="1217295"/>
          <a:ext cx="10829923" cy="3548564"/>
        </p:xfrm>
        <a:graphic>
          <a:graphicData uri="http://schemas.openxmlformats.org/drawingml/2006/table">
            <a:tbl>
              <a:tblPr firstRow="1" bandRow="1">
                <a:tableStyleId>{5C22544A-7EE6-4342-B048-85BDC9FD1C3A}</a:tableStyleId>
              </a:tblPr>
              <a:tblGrid>
                <a:gridCol w="1890563">
                  <a:extLst>
                    <a:ext uri="{9D8B030D-6E8A-4147-A177-3AD203B41FA5}">
                      <a16:colId xmlns:a16="http://schemas.microsoft.com/office/drawing/2014/main" val="3505073068"/>
                    </a:ext>
                  </a:extLst>
                </a:gridCol>
                <a:gridCol w="4469680">
                  <a:extLst>
                    <a:ext uri="{9D8B030D-6E8A-4147-A177-3AD203B41FA5}">
                      <a16:colId xmlns:a16="http://schemas.microsoft.com/office/drawing/2014/main" val="1189710588"/>
                    </a:ext>
                  </a:extLst>
                </a:gridCol>
                <a:gridCol w="4469680">
                  <a:extLst>
                    <a:ext uri="{9D8B030D-6E8A-4147-A177-3AD203B41FA5}">
                      <a16:colId xmlns:a16="http://schemas.microsoft.com/office/drawing/2014/main" val="2890743652"/>
                    </a:ext>
                  </a:extLst>
                </a:gridCol>
              </a:tblGrid>
              <a:tr h="494212">
                <a:tc rowSpan="5">
                  <a:txBody>
                    <a:bodyPr/>
                    <a:lstStyle/>
                    <a:p>
                      <a:pPr algn="ctr"/>
                      <a:r>
                        <a:rPr lang="fr-FR" sz="2400" dirty="0"/>
                        <a:t>Expense</a:t>
                      </a:r>
                    </a:p>
                  </a:txBody>
                  <a:tcPr marL="121860" marR="121860" marT="60930" marB="60930" anchor="ctr"/>
                </a:tc>
                <a:tc>
                  <a:txBody>
                    <a:bodyPr/>
                    <a:lstStyle/>
                    <a:p>
                      <a:r>
                        <a:rPr lang="fr-FR" sz="2400" dirty="0"/>
                        <a:t>Operating </a:t>
                      </a:r>
                      <a:r>
                        <a:rPr lang="fr-FR" sz="2400" dirty="0" err="1"/>
                        <a:t>expense</a:t>
                      </a:r>
                      <a:endParaRPr lang="fr-FR" sz="2400" dirty="0"/>
                    </a:p>
                  </a:txBody>
                  <a:tcPr marL="121860" marR="121860" marT="60930" marB="60930"/>
                </a:tc>
                <a:tc>
                  <a:txBody>
                    <a:bodyPr/>
                    <a:lstStyle/>
                    <a:p>
                      <a:r>
                        <a:rPr lang="fr-FR" sz="2400" dirty="0"/>
                        <a:t>Operating </a:t>
                      </a:r>
                      <a:r>
                        <a:rPr lang="fr-FR" sz="2400" dirty="0" err="1"/>
                        <a:t>activity</a:t>
                      </a:r>
                      <a:endParaRPr lang="fr-FR" sz="2400" dirty="0"/>
                    </a:p>
                  </a:txBody>
                  <a:tcPr marL="121860" marR="121860" marT="60930" marB="60930"/>
                </a:tc>
                <a:extLst>
                  <a:ext uri="{0D108BD9-81ED-4DB2-BD59-A6C34878D82A}">
                    <a16:rowId xmlns:a16="http://schemas.microsoft.com/office/drawing/2014/main" val="1839721616"/>
                  </a:ext>
                </a:extLst>
              </a:tr>
              <a:tr h="853023">
                <a:tc vMerge="1">
                  <a:txBody>
                    <a:bodyPr/>
                    <a:lstStyle/>
                    <a:p>
                      <a:pPr algn="ctr"/>
                      <a:endParaRPr lang="fr-FR" dirty="0"/>
                    </a:p>
                  </a:txBody>
                  <a:tcPr anchor="ctr"/>
                </a:tc>
                <a:tc>
                  <a:txBody>
                    <a:bodyPr/>
                    <a:lstStyle/>
                    <a:p>
                      <a:r>
                        <a:rPr lang="fr-FR" sz="2400" dirty="0" err="1"/>
                        <a:t>Loss</a:t>
                      </a:r>
                      <a:r>
                        <a:rPr lang="fr-FR" sz="2400" dirty="0"/>
                        <a:t> on sale of P,P&amp;E</a:t>
                      </a:r>
                      <a:r>
                        <a:rPr lang="fr-FR" sz="2400" baseline="0" dirty="0"/>
                        <a:t> and</a:t>
                      </a:r>
                      <a:r>
                        <a:rPr lang="fr-FR" sz="2400" dirty="0"/>
                        <a:t> intangible </a:t>
                      </a:r>
                      <a:r>
                        <a:rPr lang="fr-FR" sz="2400" dirty="0" err="1"/>
                        <a:t>assets</a:t>
                      </a:r>
                      <a:endParaRPr lang="fr-FR" sz="2400" dirty="0"/>
                    </a:p>
                  </a:txBody>
                  <a:tcPr marL="121860" marR="121860" marT="60930" marB="60930"/>
                </a:tc>
                <a:tc>
                  <a:txBody>
                    <a:bodyPr/>
                    <a:lstStyle/>
                    <a:p>
                      <a:r>
                        <a:rPr lang="fr-FR" sz="2400" dirty="0"/>
                        <a:t>Non-</a:t>
                      </a:r>
                      <a:r>
                        <a:rPr lang="fr-FR" sz="2400" dirty="0" err="1"/>
                        <a:t>recurring</a:t>
                      </a:r>
                      <a:r>
                        <a:rPr lang="fr-FR" sz="2400" dirty="0"/>
                        <a:t> </a:t>
                      </a:r>
                      <a:r>
                        <a:rPr lang="fr-FR" sz="2400" dirty="0" err="1"/>
                        <a:t>activity</a:t>
                      </a:r>
                      <a:endParaRPr lang="fr-FR" sz="2400" dirty="0"/>
                    </a:p>
                  </a:txBody>
                  <a:tcPr marL="121860" marR="121860" marT="60930" marB="60930"/>
                </a:tc>
                <a:extLst>
                  <a:ext uri="{0D108BD9-81ED-4DB2-BD59-A6C34878D82A}">
                    <a16:rowId xmlns:a16="http://schemas.microsoft.com/office/drawing/2014/main" val="2339918450"/>
                  </a:ext>
                </a:extLst>
              </a:tr>
              <a:tr h="494212">
                <a:tc vMerge="1">
                  <a:txBody>
                    <a:bodyPr/>
                    <a:lstStyle/>
                    <a:p>
                      <a:pPr algn="ctr"/>
                      <a:endParaRPr lang="fr-FR"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dirty="0" err="1"/>
                        <a:t>Loss</a:t>
                      </a:r>
                      <a:r>
                        <a:rPr lang="fr-FR" sz="2400" dirty="0"/>
                        <a:t> on sale of </a:t>
                      </a:r>
                      <a:r>
                        <a:rPr lang="fr-FR" sz="2400" dirty="0" err="1"/>
                        <a:t>financial</a:t>
                      </a:r>
                      <a:r>
                        <a:rPr lang="fr-FR" sz="2400" dirty="0"/>
                        <a:t> </a:t>
                      </a:r>
                      <a:r>
                        <a:rPr lang="fr-FR" sz="2400" dirty="0" err="1"/>
                        <a:t>assets</a:t>
                      </a:r>
                      <a:endParaRPr lang="fr-FR" sz="2400" dirty="0"/>
                    </a:p>
                  </a:txBody>
                  <a:tcPr marL="121860" marR="121860" marT="60930" marB="60930"/>
                </a:tc>
                <a:tc>
                  <a:txBody>
                    <a:bodyPr/>
                    <a:lstStyle/>
                    <a:p>
                      <a:r>
                        <a:rPr lang="fr-FR" sz="2400" dirty="0"/>
                        <a:t>Financial </a:t>
                      </a:r>
                      <a:r>
                        <a:rPr lang="fr-FR" sz="2400" dirty="0" err="1"/>
                        <a:t>activity</a:t>
                      </a:r>
                      <a:endParaRPr lang="fr-FR" sz="2400" dirty="0"/>
                    </a:p>
                  </a:txBody>
                  <a:tcPr marL="121860" marR="121860" marT="60930" marB="60930"/>
                </a:tc>
                <a:extLst>
                  <a:ext uri="{0D108BD9-81ED-4DB2-BD59-A6C34878D82A}">
                    <a16:rowId xmlns:a16="http://schemas.microsoft.com/office/drawing/2014/main" val="4248148731"/>
                  </a:ext>
                </a:extLst>
              </a:tr>
              <a:tr h="850168">
                <a:tc vMerge="1">
                  <a:txBody>
                    <a:bodyPr/>
                    <a:lstStyle/>
                    <a:p>
                      <a:pPr algn="ctr"/>
                      <a:endParaRPr lang="fr-FR" dirty="0"/>
                    </a:p>
                  </a:txBody>
                  <a:tcPr anchor="ctr"/>
                </a:tc>
                <a:tc>
                  <a:txBody>
                    <a:bodyPr/>
                    <a:lstStyle/>
                    <a:p>
                      <a:r>
                        <a:rPr lang="fr-FR" sz="2400" dirty="0" err="1"/>
                        <a:t>Interest</a:t>
                      </a:r>
                      <a:r>
                        <a:rPr lang="fr-FR" sz="2400" dirty="0"/>
                        <a:t> and </a:t>
                      </a:r>
                      <a:r>
                        <a:rPr lang="fr-FR" sz="2400" dirty="0" err="1"/>
                        <a:t>other</a:t>
                      </a:r>
                      <a:r>
                        <a:rPr lang="fr-FR" sz="2400" dirty="0"/>
                        <a:t> </a:t>
                      </a:r>
                      <a:r>
                        <a:rPr lang="fr-FR" sz="2400" dirty="0" err="1"/>
                        <a:t>financial</a:t>
                      </a:r>
                      <a:r>
                        <a:rPr lang="fr-FR" sz="2400" dirty="0"/>
                        <a:t> </a:t>
                      </a:r>
                      <a:r>
                        <a:rPr lang="fr-FR" sz="2400" dirty="0" err="1"/>
                        <a:t>expense</a:t>
                      </a:r>
                      <a:endParaRPr lang="fr-FR" sz="2400" dirty="0"/>
                    </a:p>
                  </a:txBody>
                  <a:tcPr marL="121860" marR="121860" marT="60930" marB="60930"/>
                </a:tc>
                <a:tc>
                  <a:txBody>
                    <a:bodyPr/>
                    <a:lstStyle/>
                    <a:p>
                      <a:r>
                        <a:rPr lang="fr-FR" sz="2400" dirty="0"/>
                        <a:t>Financial </a:t>
                      </a:r>
                      <a:r>
                        <a:rPr lang="fr-FR" sz="2400" dirty="0" err="1"/>
                        <a:t>activity</a:t>
                      </a:r>
                      <a:endParaRPr lang="fr-FR" sz="2400" dirty="0"/>
                    </a:p>
                  </a:txBody>
                  <a:tcPr marL="121860" marR="121860" marT="60930" marB="60930"/>
                </a:tc>
                <a:extLst>
                  <a:ext uri="{0D108BD9-81ED-4DB2-BD59-A6C34878D82A}">
                    <a16:rowId xmlns:a16="http://schemas.microsoft.com/office/drawing/2014/main" val="790104846"/>
                  </a:ext>
                </a:extLst>
              </a:tr>
              <a:tr h="850168">
                <a:tc vMerge="1">
                  <a:txBody>
                    <a:bodyPr/>
                    <a:lstStyle/>
                    <a:p>
                      <a:pPr algn="ctr"/>
                      <a:endParaRPr lang="fr-FR" dirty="0"/>
                    </a:p>
                  </a:txBody>
                  <a:tcPr anchor="ctr"/>
                </a:tc>
                <a:tc>
                  <a:txBody>
                    <a:bodyPr/>
                    <a:lstStyle/>
                    <a:p>
                      <a:r>
                        <a:rPr lang="fr-FR" sz="2400" dirty="0" err="1"/>
                        <a:t>Income</a:t>
                      </a:r>
                      <a:r>
                        <a:rPr lang="fr-FR" sz="2400" dirty="0"/>
                        <a:t> (or </a:t>
                      </a:r>
                      <a:r>
                        <a:rPr lang="fr-FR" sz="2400" dirty="0" err="1"/>
                        <a:t>coporate</a:t>
                      </a:r>
                      <a:r>
                        <a:rPr lang="fr-FR" sz="2400" dirty="0"/>
                        <a:t>) tax expense</a:t>
                      </a:r>
                    </a:p>
                  </a:txBody>
                  <a:tcPr marL="121860" marR="121860" marT="60930" marB="60930"/>
                </a:tc>
                <a:tc>
                  <a:txBody>
                    <a:bodyPr/>
                    <a:lstStyle/>
                    <a:p>
                      <a:endParaRPr lang="fr-FR" sz="2400" dirty="0"/>
                    </a:p>
                  </a:txBody>
                  <a:tcPr marL="121860" marR="121860" marT="60930" marB="60930"/>
                </a:tc>
                <a:extLst>
                  <a:ext uri="{0D108BD9-81ED-4DB2-BD59-A6C34878D82A}">
                    <a16:rowId xmlns:a16="http://schemas.microsoft.com/office/drawing/2014/main" val="3117770151"/>
                  </a:ext>
                </a:extLst>
              </a:tr>
            </a:tbl>
          </a:graphicData>
        </a:graphic>
      </p:graphicFrame>
      <p:sp>
        <p:nvSpPr>
          <p:cNvPr id="5" name="Slide Number Placeholder 4"/>
          <p:cNvSpPr>
            <a:spLocks noGrp="1"/>
          </p:cNvSpPr>
          <p:nvPr>
            <p:ph type="sldNum" sz="quarter" idx="10"/>
          </p:nvPr>
        </p:nvSpPr>
        <p:spPr/>
        <p:txBody>
          <a:bodyPr/>
          <a:lstStyle/>
          <a:p>
            <a:fld id="{307C7597-8D70-4701-8085-9524B0B5C72B}" type="slidenum">
              <a:rPr lang="fr-FR" smtClean="0"/>
              <a:pPr/>
              <a:t>12</a:t>
            </a:fld>
            <a:endParaRPr lang="fr-FR" dirty="0"/>
          </a:p>
        </p:txBody>
      </p:sp>
      <p:sp>
        <p:nvSpPr>
          <p:cNvPr id="2" name="TextBox 1"/>
          <p:cNvSpPr txBox="1"/>
          <p:nvPr/>
        </p:nvSpPr>
        <p:spPr>
          <a:xfrm>
            <a:off x="98179" y="4964421"/>
            <a:ext cx="11888538" cy="1260345"/>
          </a:xfrm>
          <a:prstGeom prst="rect">
            <a:avLst/>
          </a:prstGeom>
          <a:noFill/>
        </p:spPr>
        <p:txBody>
          <a:bodyPr wrap="square" rtlCol="0">
            <a:spAutoFit/>
          </a:bodyPr>
          <a:lstStyle/>
          <a:p>
            <a:pPr algn="ctr"/>
            <a:r>
              <a:rPr lang="fr-FR" sz="3795" dirty="0"/>
              <a:t>Net </a:t>
            </a:r>
            <a:r>
              <a:rPr lang="fr-FR" sz="3795" dirty="0" err="1"/>
              <a:t>income</a:t>
            </a:r>
            <a:r>
              <a:rPr lang="fr-FR" sz="3795" dirty="0"/>
              <a:t> (or net profit/(</a:t>
            </a:r>
            <a:r>
              <a:rPr lang="fr-FR" sz="3795" dirty="0" err="1"/>
              <a:t>loss</a:t>
            </a:r>
            <a:r>
              <a:rPr lang="fr-FR" sz="3795" dirty="0"/>
              <a:t>)) = Income (or revenue </a:t>
            </a:r>
            <a:r>
              <a:rPr lang="fr-FR" sz="3795" dirty="0" err="1"/>
              <a:t>under</a:t>
            </a:r>
            <a:r>
              <a:rPr lang="fr-FR" sz="3795" dirty="0"/>
              <a:t> US GAAP) - Expense</a:t>
            </a:r>
          </a:p>
        </p:txBody>
      </p:sp>
    </p:spTree>
    <p:extLst>
      <p:ext uri="{BB962C8B-B14F-4D97-AF65-F5344CB8AC3E}">
        <p14:creationId xmlns:p14="http://schemas.microsoft.com/office/powerpoint/2010/main" val="1377582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35DE-F7E3-FB1E-5696-3D21F9A39510}"/>
              </a:ext>
            </a:extLst>
          </p:cNvPr>
          <p:cNvSpPr>
            <a:spLocks noGrp="1"/>
          </p:cNvSpPr>
          <p:nvPr>
            <p:ph type="ctrTitle"/>
          </p:nvPr>
        </p:nvSpPr>
        <p:spPr>
          <a:xfrm>
            <a:off x="825625" y="2105281"/>
            <a:ext cx="10401670" cy="2387600"/>
          </a:xfrm>
        </p:spPr>
        <p:txBody>
          <a:bodyPr>
            <a:normAutofit fontScale="90000"/>
          </a:bodyPr>
          <a:lstStyle/>
          <a:p>
            <a:r>
              <a:rPr lang="en-US" dirty="0"/>
              <a:t>Prepaid expense and unearned revenue: when should expense and revenue be recorded?</a:t>
            </a:r>
          </a:p>
        </p:txBody>
      </p:sp>
      <p:sp>
        <p:nvSpPr>
          <p:cNvPr id="3" name="Subtitle 2">
            <a:extLst>
              <a:ext uri="{FF2B5EF4-FFF2-40B4-BE49-F238E27FC236}">
                <a16:creationId xmlns:a16="http://schemas.microsoft.com/office/drawing/2014/main" id="{A55ABF14-3C40-6C27-7362-1419AA318B4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6383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0BE4DC-726E-4DD7-9F66-1A01CE47266C}"/>
              </a:ext>
            </a:extLst>
          </p:cNvPr>
          <p:cNvSpPr>
            <a:spLocks noGrp="1"/>
          </p:cNvSpPr>
          <p:nvPr>
            <p:ph type="title"/>
          </p:nvPr>
        </p:nvSpPr>
        <p:spPr>
          <a:xfrm>
            <a:off x="656844" y="487045"/>
            <a:ext cx="10829544" cy="578275"/>
          </a:xfrm>
        </p:spPr>
        <p:txBody>
          <a:bodyPr/>
          <a:lstStyle/>
          <a:p>
            <a:r>
              <a:rPr lang="en-US" dirty="0"/>
              <a:t>MCQ n°2: prepaid expense</a:t>
            </a:r>
          </a:p>
        </p:txBody>
      </p:sp>
      <p:sp>
        <p:nvSpPr>
          <p:cNvPr id="2" name="Content Placeholder 1">
            <a:extLst>
              <a:ext uri="{FF2B5EF4-FFF2-40B4-BE49-F238E27FC236}">
                <a16:creationId xmlns:a16="http://schemas.microsoft.com/office/drawing/2014/main" id="{C27E5EA4-D85A-44C5-9607-685847063EF9}"/>
              </a:ext>
            </a:extLst>
          </p:cNvPr>
          <p:cNvSpPr>
            <a:spLocks noGrp="1"/>
          </p:cNvSpPr>
          <p:nvPr>
            <p:ph idx="1"/>
          </p:nvPr>
        </p:nvSpPr>
        <p:spPr>
          <a:solidFill>
            <a:schemeClr val="bg1"/>
          </a:solidFill>
        </p:spPr>
        <p:txBody>
          <a:bodyPr/>
          <a:lstStyle/>
          <a:p>
            <a:pPr marL="0" indent="0">
              <a:buNone/>
            </a:pPr>
            <a:r>
              <a:rPr lang="en-US" dirty="0"/>
              <a:t>One insurance is paid at the beginning of February 2025 for one year insurance starting in February 1</a:t>
            </a:r>
            <a:r>
              <a:rPr lang="en-US" baseline="30000" dirty="0"/>
              <a:t>st</a:t>
            </a:r>
            <a:r>
              <a:rPr lang="en-US" dirty="0"/>
              <a:t> 2025. What is the impact of this insurance on assets, liabilities and equity at the end of February 2025 (by comparison with the situation without insurance)?</a:t>
            </a:r>
          </a:p>
          <a:p>
            <a:pPr marL="0" indent="0">
              <a:buNone/>
            </a:pPr>
            <a:r>
              <a:rPr lang="en-US" b="0" dirty="0"/>
              <a:t>1. Decrease in assets, increase in liabilities and decrease in equity</a:t>
            </a:r>
          </a:p>
          <a:p>
            <a:pPr marL="0" indent="0">
              <a:buNone/>
            </a:pPr>
            <a:r>
              <a:rPr lang="en-US" b="0" dirty="0"/>
              <a:t>2. Decrease in assets, decrease in liabilities and increase in equity</a:t>
            </a:r>
          </a:p>
          <a:p>
            <a:pPr marL="0" indent="0">
              <a:buNone/>
            </a:pPr>
            <a:r>
              <a:rPr lang="en-US" b="0" dirty="0"/>
              <a:t>3. Decrease in assets, decrease in liabilities and no change in equity</a:t>
            </a:r>
          </a:p>
          <a:p>
            <a:pPr marL="0" indent="0">
              <a:buNone/>
            </a:pPr>
            <a:r>
              <a:rPr lang="en-US" b="0" dirty="0"/>
              <a:t>4. Decrease in assets, decrease in equity and no change in liabilities</a:t>
            </a:r>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5" name="Slide Number Placeholder 4">
            <a:extLst>
              <a:ext uri="{FF2B5EF4-FFF2-40B4-BE49-F238E27FC236}">
                <a16:creationId xmlns:a16="http://schemas.microsoft.com/office/drawing/2014/main" id="{EFC5F06D-6838-4C35-9AFC-3F2CBDD8BDF6}"/>
              </a:ext>
            </a:extLst>
          </p:cNvPr>
          <p:cNvSpPr>
            <a:spLocks noGrp="1"/>
          </p:cNvSpPr>
          <p:nvPr>
            <p:ph type="sldNum" sz="quarter" idx="10"/>
          </p:nvPr>
        </p:nvSpPr>
        <p:spPr/>
        <p:txBody>
          <a:bodyPr/>
          <a:lstStyle/>
          <a:p>
            <a:fld id="{307C7597-8D70-4701-8085-9524B0B5C72B}" type="slidenum">
              <a:rPr lang="fr-FR" smtClean="0"/>
              <a:pPr/>
              <a:t>14</a:t>
            </a:fld>
            <a:endParaRPr lang="fr-FR" dirty="0"/>
          </a:p>
        </p:txBody>
      </p:sp>
    </p:spTree>
    <p:extLst>
      <p:ext uri="{BB962C8B-B14F-4D97-AF65-F5344CB8AC3E}">
        <p14:creationId xmlns:p14="http://schemas.microsoft.com/office/powerpoint/2010/main" val="785119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84AEDA-FED4-4B67-AC23-BD9076392D2D}"/>
              </a:ext>
            </a:extLst>
          </p:cNvPr>
          <p:cNvSpPr>
            <a:spLocks noGrp="1"/>
          </p:cNvSpPr>
          <p:nvPr>
            <p:ph type="title"/>
          </p:nvPr>
        </p:nvSpPr>
        <p:spPr>
          <a:xfrm>
            <a:off x="656844" y="487045"/>
            <a:ext cx="10829544" cy="622664"/>
          </a:xfrm>
        </p:spPr>
        <p:txBody>
          <a:bodyPr/>
          <a:lstStyle/>
          <a:p>
            <a:r>
              <a:rPr lang="en-US" dirty="0"/>
              <a:t>MCQ n°3: Unearned or deferred revenue</a:t>
            </a:r>
          </a:p>
        </p:txBody>
      </p:sp>
      <p:sp>
        <p:nvSpPr>
          <p:cNvPr id="6" name="Content Placeholder 1">
            <a:extLst>
              <a:ext uri="{FF2B5EF4-FFF2-40B4-BE49-F238E27FC236}">
                <a16:creationId xmlns:a16="http://schemas.microsoft.com/office/drawing/2014/main" id="{6F1F035B-D91C-4349-89B7-EAD562BFB981}"/>
              </a:ext>
            </a:extLst>
          </p:cNvPr>
          <p:cNvSpPr>
            <a:spLocks noGrp="1"/>
          </p:cNvSpPr>
          <p:nvPr>
            <p:ph idx="1"/>
          </p:nvPr>
        </p:nvSpPr>
        <p:spPr>
          <a:xfrm>
            <a:off x="681228" y="1349406"/>
            <a:ext cx="10829544" cy="4827557"/>
          </a:xfrm>
          <a:solidFill>
            <a:schemeClr val="bg1"/>
          </a:solidFill>
        </p:spPr>
        <p:txBody>
          <a:bodyPr/>
          <a:lstStyle/>
          <a:p>
            <a:pPr marL="0" indent="0">
              <a:buNone/>
            </a:pPr>
            <a:r>
              <a:rPr lang="en-US" dirty="0"/>
              <a:t>One annual subscription is sold to a customer at the beginning of February 2025. The subscription starts for the customer at the beginning of February and give right to equal services every month. What is the impact of this annual subscription on assets, liabilities and equity at the end of February 2025 (by comparison with the situation without subscription)?</a:t>
            </a:r>
          </a:p>
          <a:p>
            <a:pPr marL="0" indent="0">
              <a:buNone/>
            </a:pPr>
            <a:r>
              <a:rPr lang="en-US" b="0" dirty="0"/>
              <a:t>1. Increase in assets, increase in liabilities and increase in equity</a:t>
            </a:r>
          </a:p>
          <a:p>
            <a:pPr marL="0" indent="0">
              <a:buNone/>
            </a:pPr>
            <a:r>
              <a:rPr lang="en-US" b="0" dirty="0"/>
              <a:t>2. Increase in assets, increase in liabilities and no change in equity</a:t>
            </a:r>
          </a:p>
          <a:p>
            <a:pPr marL="0" indent="0">
              <a:buNone/>
            </a:pPr>
            <a:r>
              <a:rPr lang="en-US" b="0" dirty="0"/>
              <a:t>3. Increase in assets, increase in equity and no change in liabilities</a:t>
            </a:r>
          </a:p>
          <a:p>
            <a:pPr marL="0" indent="0">
              <a:buNone/>
            </a:pPr>
            <a:r>
              <a:rPr lang="en-US" b="0" dirty="0"/>
              <a:t>4. Increase in assets, decrease in liabilities and no change in equity</a:t>
            </a:r>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5" name="Slide Number Placeholder 4">
            <a:extLst>
              <a:ext uri="{FF2B5EF4-FFF2-40B4-BE49-F238E27FC236}">
                <a16:creationId xmlns:a16="http://schemas.microsoft.com/office/drawing/2014/main" id="{B2E10979-8FEF-43EF-A5A2-1593A5274AD9}"/>
              </a:ext>
            </a:extLst>
          </p:cNvPr>
          <p:cNvSpPr>
            <a:spLocks noGrp="1"/>
          </p:cNvSpPr>
          <p:nvPr>
            <p:ph type="sldNum" sz="quarter" idx="10"/>
          </p:nvPr>
        </p:nvSpPr>
        <p:spPr/>
        <p:txBody>
          <a:bodyPr/>
          <a:lstStyle/>
          <a:p>
            <a:fld id="{307C7597-8D70-4701-8085-9524B0B5C72B}" type="slidenum">
              <a:rPr lang="fr-FR" smtClean="0"/>
              <a:pPr/>
              <a:t>15</a:t>
            </a:fld>
            <a:endParaRPr lang="fr-FR" dirty="0"/>
          </a:p>
        </p:txBody>
      </p:sp>
    </p:spTree>
    <p:extLst>
      <p:ext uri="{BB962C8B-B14F-4D97-AF65-F5344CB8AC3E}">
        <p14:creationId xmlns:p14="http://schemas.microsoft.com/office/powerpoint/2010/main" val="3653777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56844" y="487045"/>
            <a:ext cx="10829544" cy="525009"/>
          </a:xfrm>
        </p:spPr>
        <p:txBody>
          <a:bodyPr/>
          <a:lstStyle/>
          <a:p>
            <a:r>
              <a:rPr lang="fr-FR" dirty="0">
                <a:solidFill>
                  <a:srgbClr val="00B050"/>
                </a:solidFill>
              </a:rPr>
              <a:t>Revenue</a:t>
            </a:r>
            <a:r>
              <a:rPr lang="fr-FR" dirty="0"/>
              <a:t> or </a:t>
            </a:r>
            <a:r>
              <a:rPr lang="fr-FR" dirty="0" err="1">
                <a:solidFill>
                  <a:srgbClr val="03050D"/>
                </a:solidFill>
              </a:rPr>
              <a:t>expense</a:t>
            </a:r>
            <a:r>
              <a:rPr lang="fr-FR" dirty="0"/>
              <a:t> = change in </a:t>
            </a:r>
            <a:r>
              <a:rPr lang="fr-FR" dirty="0" err="1"/>
              <a:t>equity</a:t>
            </a:r>
            <a:endParaRPr lang="fr-FR"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68576689"/>
              </p:ext>
            </p:extLst>
          </p:nvPr>
        </p:nvGraphicFramePr>
        <p:xfrm>
          <a:off x="178478" y="1067735"/>
          <a:ext cx="11786276" cy="5303220"/>
        </p:xfrm>
        <a:graphic>
          <a:graphicData uri="http://schemas.openxmlformats.org/drawingml/2006/table">
            <a:tbl>
              <a:tblPr firstRow="1" bandRow="1">
                <a:tableStyleId>{5C22544A-7EE6-4342-B048-85BDC9FD1C3A}</a:tableStyleId>
              </a:tblPr>
              <a:tblGrid>
                <a:gridCol w="2717891">
                  <a:extLst>
                    <a:ext uri="{9D8B030D-6E8A-4147-A177-3AD203B41FA5}">
                      <a16:colId xmlns:a16="http://schemas.microsoft.com/office/drawing/2014/main" val="245936364"/>
                    </a:ext>
                  </a:extLst>
                </a:gridCol>
                <a:gridCol w="3175247">
                  <a:extLst>
                    <a:ext uri="{9D8B030D-6E8A-4147-A177-3AD203B41FA5}">
                      <a16:colId xmlns:a16="http://schemas.microsoft.com/office/drawing/2014/main" val="334014418"/>
                    </a:ext>
                  </a:extLst>
                </a:gridCol>
                <a:gridCol w="2946569">
                  <a:extLst>
                    <a:ext uri="{9D8B030D-6E8A-4147-A177-3AD203B41FA5}">
                      <a16:colId xmlns:a16="http://schemas.microsoft.com/office/drawing/2014/main" val="700327981"/>
                    </a:ext>
                  </a:extLst>
                </a:gridCol>
                <a:gridCol w="2946569">
                  <a:extLst>
                    <a:ext uri="{9D8B030D-6E8A-4147-A177-3AD203B41FA5}">
                      <a16:colId xmlns:a16="http://schemas.microsoft.com/office/drawing/2014/main" val="2030887642"/>
                    </a:ext>
                  </a:extLst>
                </a:gridCol>
              </a:tblGrid>
              <a:tr h="472647">
                <a:tc>
                  <a:txBody>
                    <a:bodyPr/>
                    <a:lstStyle/>
                    <a:p>
                      <a:pPr algn="ctr"/>
                      <a:r>
                        <a:rPr lang="fr-FR" sz="2200" dirty="0"/>
                        <a:t>Transactions</a:t>
                      </a:r>
                    </a:p>
                  </a:txBody>
                  <a:tcPr marL="121860" marR="121860" marT="60930" marB="60930"/>
                </a:tc>
                <a:tc>
                  <a:txBody>
                    <a:bodyPr/>
                    <a:lstStyle/>
                    <a:p>
                      <a:pPr algn="ctr"/>
                      <a:r>
                        <a:rPr lang="fr-FR" sz="2200" dirty="0" err="1"/>
                        <a:t>Assets</a:t>
                      </a:r>
                      <a:endParaRPr lang="fr-FR" sz="2200" dirty="0"/>
                    </a:p>
                  </a:txBody>
                  <a:tcPr marL="121860" marR="121860" marT="60930" marB="60930"/>
                </a:tc>
                <a:tc>
                  <a:txBody>
                    <a:bodyPr/>
                    <a:lstStyle/>
                    <a:p>
                      <a:pPr algn="ctr"/>
                      <a:r>
                        <a:rPr lang="fr-FR" sz="2200" dirty="0" err="1"/>
                        <a:t>Liabilities</a:t>
                      </a:r>
                      <a:endParaRPr lang="fr-FR" sz="2200" dirty="0"/>
                    </a:p>
                  </a:txBody>
                  <a:tcPr marL="121860" marR="121860" marT="60930" marB="60930"/>
                </a:tc>
                <a:tc>
                  <a:txBody>
                    <a:bodyPr/>
                    <a:lstStyle/>
                    <a:p>
                      <a:pPr algn="ctr"/>
                      <a:r>
                        <a:rPr lang="fr-FR" sz="2200" dirty="0" err="1"/>
                        <a:t>Equity</a:t>
                      </a:r>
                      <a:r>
                        <a:rPr lang="fr-FR" sz="2200" dirty="0"/>
                        <a:t> (= Net </a:t>
                      </a:r>
                      <a:r>
                        <a:rPr lang="fr-FR" sz="2200" dirty="0" err="1"/>
                        <a:t>assets</a:t>
                      </a:r>
                      <a:r>
                        <a:rPr lang="fr-FR" sz="2200" dirty="0"/>
                        <a:t>)</a:t>
                      </a:r>
                    </a:p>
                  </a:txBody>
                  <a:tcPr marL="121860" marR="121860" marT="60930" marB="60930"/>
                </a:tc>
                <a:extLst>
                  <a:ext uri="{0D108BD9-81ED-4DB2-BD59-A6C34878D82A}">
                    <a16:rowId xmlns:a16="http://schemas.microsoft.com/office/drawing/2014/main" val="266824371"/>
                  </a:ext>
                </a:extLst>
              </a:tr>
              <a:tr h="472647">
                <a:tc>
                  <a:txBody>
                    <a:bodyPr/>
                    <a:lstStyle/>
                    <a:p>
                      <a:r>
                        <a:rPr lang="fr-FR" sz="2200" dirty="0"/>
                        <a:t>New </a:t>
                      </a:r>
                      <a:r>
                        <a:rPr lang="fr-FR" sz="2200" dirty="0" err="1"/>
                        <a:t>debt</a:t>
                      </a:r>
                      <a:endParaRPr lang="fr-FR" sz="2200" dirty="0"/>
                    </a:p>
                  </a:txBody>
                  <a:tcPr marL="121860" marR="121860" marT="60930" marB="60930"/>
                </a:tc>
                <a:tc>
                  <a:txBody>
                    <a:bodyPr/>
                    <a:lstStyle/>
                    <a:p>
                      <a:r>
                        <a:rPr lang="fr-FR" sz="2200" dirty="0"/>
                        <a:t>+ Cash</a:t>
                      </a:r>
                    </a:p>
                  </a:txBody>
                  <a:tcPr marL="121860" marR="121860" marT="60930" marB="60930"/>
                </a:tc>
                <a:tc>
                  <a:txBody>
                    <a:bodyPr/>
                    <a:lstStyle/>
                    <a:p>
                      <a:r>
                        <a:rPr lang="fr-FR" sz="2200" dirty="0"/>
                        <a:t>+ </a:t>
                      </a:r>
                      <a:r>
                        <a:rPr lang="fr-FR" sz="2200" dirty="0" err="1"/>
                        <a:t>debt</a:t>
                      </a:r>
                      <a:r>
                        <a:rPr lang="fr-FR" sz="2200" dirty="0"/>
                        <a:t> (or </a:t>
                      </a:r>
                      <a:r>
                        <a:rPr lang="fr-FR" sz="2200" dirty="0" err="1"/>
                        <a:t>financial</a:t>
                      </a:r>
                      <a:r>
                        <a:rPr lang="fr-FR" sz="2200" dirty="0"/>
                        <a:t> </a:t>
                      </a:r>
                      <a:r>
                        <a:rPr lang="fr-FR" sz="2200" dirty="0" err="1"/>
                        <a:t>liabilities</a:t>
                      </a:r>
                      <a:r>
                        <a:rPr lang="fr-FR" sz="2200" dirty="0"/>
                        <a:t>)</a:t>
                      </a:r>
                    </a:p>
                  </a:txBody>
                  <a:tcPr marL="121860" marR="121860" marT="60930" marB="60930"/>
                </a:tc>
                <a:tc>
                  <a:txBody>
                    <a:bodyPr/>
                    <a:lstStyle/>
                    <a:p>
                      <a:endParaRPr lang="fr-FR" sz="2200" dirty="0"/>
                    </a:p>
                  </a:txBody>
                  <a:tcPr marL="121860" marR="121860" marT="60930" marB="60930"/>
                </a:tc>
                <a:extLst>
                  <a:ext uri="{0D108BD9-81ED-4DB2-BD59-A6C34878D82A}">
                    <a16:rowId xmlns:a16="http://schemas.microsoft.com/office/drawing/2014/main" val="268001850"/>
                  </a:ext>
                </a:extLst>
              </a:tr>
              <a:tr h="472647">
                <a:tc>
                  <a:txBody>
                    <a:bodyPr/>
                    <a:lstStyle/>
                    <a:p>
                      <a:r>
                        <a:rPr lang="fr-FR" sz="2200" dirty="0" err="1"/>
                        <a:t>Interest</a:t>
                      </a:r>
                      <a:r>
                        <a:rPr lang="fr-FR" sz="2200" baseline="0" dirty="0"/>
                        <a:t> due but not </a:t>
                      </a:r>
                      <a:r>
                        <a:rPr lang="fr-FR" sz="2200" baseline="0" dirty="0" err="1"/>
                        <a:t>already</a:t>
                      </a:r>
                      <a:r>
                        <a:rPr lang="fr-FR" sz="2200" baseline="0" dirty="0"/>
                        <a:t> </a:t>
                      </a:r>
                      <a:r>
                        <a:rPr lang="fr-FR" sz="2200" baseline="0" dirty="0" err="1"/>
                        <a:t>paid</a:t>
                      </a:r>
                      <a:endParaRPr lang="fr-FR" sz="2200" dirty="0"/>
                    </a:p>
                  </a:txBody>
                  <a:tcPr marL="121860" marR="121860" marT="60930" marB="60930"/>
                </a:tc>
                <a:tc>
                  <a:txBody>
                    <a:bodyPr/>
                    <a:lstStyle/>
                    <a:p>
                      <a:endParaRPr lang="fr-FR" sz="2200"/>
                    </a:p>
                  </a:txBody>
                  <a:tcPr marL="121860" marR="121860" marT="60930" marB="60930"/>
                </a:tc>
                <a:tc>
                  <a:txBody>
                    <a:bodyPr/>
                    <a:lstStyle/>
                    <a:p>
                      <a:r>
                        <a:rPr lang="fr-FR" sz="2200" dirty="0"/>
                        <a:t>+ </a:t>
                      </a:r>
                      <a:r>
                        <a:rPr lang="fr-FR" sz="2200" dirty="0" err="1"/>
                        <a:t>Accrued</a:t>
                      </a:r>
                      <a:r>
                        <a:rPr lang="fr-FR" sz="2200" dirty="0"/>
                        <a:t> </a:t>
                      </a:r>
                      <a:r>
                        <a:rPr lang="fr-FR" sz="2200" dirty="0" err="1"/>
                        <a:t>interest</a:t>
                      </a:r>
                      <a:r>
                        <a:rPr lang="fr-FR" sz="2200" dirty="0"/>
                        <a:t> payable</a:t>
                      </a:r>
                    </a:p>
                  </a:txBody>
                  <a:tcPr marL="121860" marR="121860" marT="60930" marB="60930"/>
                </a:tc>
                <a:tc>
                  <a:txBody>
                    <a:bodyPr/>
                    <a:lstStyle/>
                    <a:p>
                      <a:r>
                        <a:rPr lang="fr-FR" sz="2200" dirty="0">
                          <a:solidFill>
                            <a:srgbClr val="03050D"/>
                          </a:solidFill>
                        </a:rPr>
                        <a:t>- </a:t>
                      </a:r>
                      <a:r>
                        <a:rPr lang="fr-FR" sz="2200" dirty="0" err="1">
                          <a:solidFill>
                            <a:srgbClr val="03050D"/>
                          </a:solidFill>
                        </a:rPr>
                        <a:t>Interest</a:t>
                      </a:r>
                      <a:r>
                        <a:rPr lang="fr-FR" sz="2200" dirty="0">
                          <a:solidFill>
                            <a:srgbClr val="03050D"/>
                          </a:solidFill>
                        </a:rPr>
                        <a:t> </a:t>
                      </a:r>
                      <a:r>
                        <a:rPr lang="fr-FR" sz="2200" dirty="0" err="1">
                          <a:solidFill>
                            <a:srgbClr val="03050D"/>
                          </a:solidFill>
                        </a:rPr>
                        <a:t>expense</a:t>
                      </a:r>
                      <a:r>
                        <a:rPr lang="fr-FR" sz="2200" dirty="0">
                          <a:solidFill>
                            <a:srgbClr val="03050D"/>
                          </a:solidFill>
                        </a:rPr>
                        <a:t> (profit</a:t>
                      </a:r>
                      <a:r>
                        <a:rPr lang="fr-FR" sz="2200" baseline="0" dirty="0">
                          <a:solidFill>
                            <a:srgbClr val="03050D"/>
                          </a:solidFill>
                        </a:rPr>
                        <a:t> </a:t>
                      </a:r>
                      <a:r>
                        <a:rPr lang="fr-FR" sz="2200" baseline="0" dirty="0" err="1">
                          <a:solidFill>
                            <a:srgbClr val="03050D"/>
                          </a:solidFill>
                        </a:rPr>
                        <a:t>reduction</a:t>
                      </a:r>
                      <a:r>
                        <a:rPr lang="fr-FR" sz="2200" baseline="0" dirty="0">
                          <a:solidFill>
                            <a:srgbClr val="03050D"/>
                          </a:solidFill>
                        </a:rPr>
                        <a:t>)</a:t>
                      </a:r>
                      <a:endParaRPr lang="fr-FR" sz="2200" dirty="0">
                        <a:solidFill>
                          <a:srgbClr val="03050D"/>
                        </a:solidFill>
                      </a:endParaRPr>
                    </a:p>
                  </a:txBody>
                  <a:tcPr marL="121860" marR="121860" marT="60930" marB="60930"/>
                </a:tc>
                <a:extLst>
                  <a:ext uri="{0D108BD9-81ED-4DB2-BD59-A6C34878D82A}">
                    <a16:rowId xmlns:a16="http://schemas.microsoft.com/office/drawing/2014/main" val="1564891946"/>
                  </a:ext>
                </a:extLst>
              </a:tr>
              <a:tr h="472647">
                <a:tc>
                  <a:txBody>
                    <a:bodyPr/>
                    <a:lstStyle/>
                    <a:p>
                      <a:r>
                        <a:rPr lang="fr-FR" sz="2200" dirty="0" err="1"/>
                        <a:t>Repayment</a:t>
                      </a:r>
                      <a:r>
                        <a:rPr lang="fr-FR" sz="2200" dirty="0"/>
                        <a:t> of the </a:t>
                      </a:r>
                      <a:r>
                        <a:rPr lang="fr-FR" sz="2200" dirty="0" err="1"/>
                        <a:t>debt</a:t>
                      </a:r>
                      <a:endParaRPr lang="fr-FR" sz="2200" dirty="0"/>
                    </a:p>
                  </a:txBody>
                  <a:tcPr marL="121860" marR="121860" marT="60930" marB="60930"/>
                </a:tc>
                <a:tc>
                  <a:txBody>
                    <a:bodyPr/>
                    <a:lstStyle/>
                    <a:p>
                      <a:r>
                        <a:rPr lang="fr-FR" sz="2200" dirty="0"/>
                        <a:t>- Cash</a:t>
                      </a:r>
                    </a:p>
                  </a:txBody>
                  <a:tcPr marL="121860" marR="121860" marT="60930" marB="60930"/>
                </a:tc>
                <a:tc>
                  <a:txBody>
                    <a:bodyPr/>
                    <a:lstStyle/>
                    <a:p>
                      <a:r>
                        <a:rPr lang="fr-FR" sz="2200" dirty="0"/>
                        <a:t>- </a:t>
                      </a:r>
                      <a:r>
                        <a:rPr lang="fr-FR" sz="2200" dirty="0" err="1"/>
                        <a:t>Debt</a:t>
                      </a:r>
                      <a:r>
                        <a:rPr lang="fr-FR" sz="2200" dirty="0"/>
                        <a:t> (or </a:t>
                      </a:r>
                      <a:r>
                        <a:rPr lang="fr-FR" sz="2200" dirty="0" err="1"/>
                        <a:t>financial</a:t>
                      </a:r>
                      <a:r>
                        <a:rPr lang="fr-FR" sz="2200" dirty="0"/>
                        <a:t> </a:t>
                      </a:r>
                      <a:r>
                        <a:rPr lang="fr-FR" sz="2200" dirty="0" err="1"/>
                        <a:t>liabilities</a:t>
                      </a:r>
                      <a:r>
                        <a:rPr lang="fr-FR" sz="2200" dirty="0"/>
                        <a:t>)</a:t>
                      </a:r>
                    </a:p>
                  </a:txBody>
                  <a:tcPr marL="121860" marR="121860" marT="60930" marB="60930"/>
                </a:tc>
                <a:tc>
                  <a:txBody>
                    <a:bodyPr/>
                    <a:lstStyle/>
                    <a:p>
                      <a:endParaRPr lang="fr-FR" sz="2200" dirty="0"/>
                    </a:p>
                  </a:txBody>
                  <a:tcPr marL="121860" marR="121860" marT="60930" marB="60930"/>
                </a:tc>
                <a:extLst>
                  <a:ext uri="{0D108BD9-81ED-4DB2-BD59-A6C34878D82A}">
                    <a16:rowId xmlns:a16="http://schemas.microsoft.com/office/drawing/2014/main" val="952321645"/>
                  </a:ext>
                </a:extLst>
              </a:tr>
              <a:tr h="1672534">
                <a:tc>
                  <a:txBody>
                    <a:bodyPr/>
                    <a:lstStyle/>
                    <a:p>
                      <a:r>
                        <a:rPr lang="fr-FR" sz="2200" dirty="0"/>
                        <a:t>Sale of P,P&amp;E</a:t>
                      </a:r>
                    </a:p>
                  </a:txBody>
                  <a:tcPr marL="121860" marR="121860" marT="60930" marB="60930"/>
                </a:tc>
                <a:tc>
                  <a:txBody>
                    <a:bodyPr/>
                    <a:lstStyle/>
                    <a:p>
                      <a:r>
                        <a:rPr lang="fr-FR" sz="2200" dirty="0"/>
                        <a:t>+ Cash (portion of sale </a:t>
                      </a:r>
                      <a:r>
                        <a:rPr lang="fr-FR" sz="2200" dirty="0" err="1"/>
                        <a:t>price</a:t>
                      </a:r>
                      <a:r>
                        <a:rPr lang="fr-FR" sz="2200" dirty="0"/>
                        <a:t> cash </a:t>
                      </a:r>
                      <a:r>
                        <a:rPr lang="fr-FR" sz="2200" dirty="0" err="1"/>
                        <a:t>received</a:t>
                      </a:r>
                      <a:r>
                        <a:rPr lang="fr-FR" sz="2200" dirty="0"/>
                        <a:t>)</a:t>
                      </a:r>
                    </a:p>
                    <a:p>
                      <a:r>
                        <a:rPr lang="fr-FR" sz="2200" dirty="0"/>
                        <a:t>+ </a:t>
                      </a:r>
                      <a:r>
                        <a:rPr lang="fr-FR" sz="2200" dirty="0" err="1"/>
                        <a:t>Accounts</a:t>
                      </a:r>
                      <a:r>
                        <a:rPr lang="fr-FR" sz="2200" dirty="0"/>
                        <a:t> </a:t>
                      </a:r>
                      <a:r>
                        <a:rPr lang="fr-FR" sz="2200" dirty="0" err="1"/>
                        <a:t>receivable</a:t>
                      </a:r>
                      <a:r>
                        <a:rPr lang="fr-FR" sz="2200" dirty="0"/>
                        <a:t> (portion</a:t>
                      </a:r>
                      <a:r>
                        <a:rPr lang="fr-FR" sz="2200" baseline="0" dirty="0"/>
                        <a:t> of sale </a:t>
                      </a:r>
                      <a:r>
                        <a:rPr lang="fr-FR" sz="2200" baseline="0" dirty="0" err="1"/>
                        <a:t>price</a:t>
                      </a:r>
                      <a:r>
                        <a:rPr lang="fr-FR" sz="2200" baseline="0" dirty="0"/>
                        <a:t> not cash </a:t>
                      </a:r>
                      <a:r>
                        <a:rPr lang="fr-FR" sz="2200" baseline="0" dirty="0" err="1"/>
                        <a:t>received</a:t>
                      </a:r>
                      <a:r>
                        <a:rPr lang="fr-FR" sz="2200" baseline="0" dirty="0"/>
                        <a:t>)</a:t>
                      </a:r>
                      <a:endParaRPr lang="fr-FR" sz="2200" dirty="0"/>
                    </a:p>
                    <a:p>
                      <a:r>
                        <a:rPr lang="fr-FR" sz="2200" dirty="0"/>
                        <a:t>- P,P&amp;E (at net value)</a:t>
                      </a:r>
                    </a:p>
                  </a:txBody>
                  <a:tcPr marL="121860" marR="121860" marT="60930" marB="60930"/>
                </a:tc>
                <a:tc>
                  <a:txBody>
                    <a:bodyPr/>
                    <a:lstStyle/>
                    <a:p>
                      <a:endParaRPr lang="fr-FR" sz="2200" dirty="0"/>
                    </a:p>
                  </a:txBody>
                  <a:tcPr marL="121860" marR="121860" marT="60930" marB="60930"/>
                </a:tc>
                <a:tc>
                  <a:txBody>
                    <a:bodyPr/>
                    <a:lstStyle/>
                    <a:p>
                      <a:r>
                        <a:rPr lang="fr-FR" sz="2200" dirty="0">
                          <a:solidFill>
                            <a:srgbClr val="00B050"/>
                          </a:solidFill>
                        </a:rPr>
                        <a:t>+ Gain </a:t>
                      </a:r>
                      <a:r>
                        <a:rPr lang="fr-FR" sz="2200" dirty="0"/>
                        <a:t>or </a:t>
                      </a:r>
                      <a:r>
                        <a:rPr lang="fr-FR" sz="2200" dirty="0">
                          <a:solidFill>
                            <a:srgbClr val="03050D"/>
                          </a:solidFill>
                        </a:rPr>
                        <a:t>- </a:t>
                      </a:r>
                      <a:r>
                        <a:rPr lang="fr-FR" sz="2200" dirty="0" err="1">
                          <a:solidFill>
                            <a:srgbClr val="03050D"/>
                          </a:solidFill>
                        </a:rPr>
                        <a:t>Loss</a:t>
                      </a:r>
                      <a:r>
                        <a:rPr lang="fr-FR" sz="2200" dirty="0">
                          <a:solidFill>
                            <a:srgbClr val="03050D"/>
                          </a:solidFill>
                        </a:rPr>
                        <a:t> </a:t>
                      </a:r>
                      <a:r>
                        <a:rPr lang="fr-FR" sz="2200" dirty="0"/>
                        <a:t>(= sale </a:t>
                      </a:r>
                      <a:r>
                        <a:rPr lang="fr-FR" sz="2200" dirty="0" err="1"/>
                        <a:t>price</a:t>
                      </a:r>
                      <a:r>
                        <a:rPr lang="fr-FR" sz="2200" dirty="0"/>
                        <a:t> – Net</a:t>
                      </a:r>
                      <a:r>
                        <a:rPr lang="fr-FR" sz="2200" baseline="0" dirty="0"/>
                        <a:t> book value) (in P&amp;L)</a:t>
                      </a:r>
                      <a:endParaRPr lang="fr-FR" sz="2200" dirty="0"/>
                    </a:p>
                  </a:txBody>
                  <a:tcPr marL="121860" marR="121860" marT="60930" marB="60930"/>
                </a:tc>
                <a:extLst>
                  <a:ext uri="{0D108BD9-81ED-4DB2-BD59-A6C34878D82A}">
                    <a16:rowId xmlns:a16="http://schemas.microsoft.com/office/drawing/2014/main" val="1511530477"/>
                  </a:ext>
                </a:extLst>
              </a:tr>
            </a:tbl>
          </a:graphicData>
        </a:graphic>
      </p:graphicFrame>
      <p:sp>
        <p:nvSpPr>
          <p:cNvPr id="5" name="Slide Number Placeholder 4"/>
          <p:cNvSpPr>
            <a:spLocks noGrp="1"/>
          </p:cNvSpPr>
          <p:nvPr>
            <p:ph type="sldNum" sz="quarter" idx="10"/>
          </p:nvPr>
        </p:nvSpPr>
        <p:spPr/>
        <p:txBody>
          <a:bodyPr/>
          <a:lstStyle/>
          <a:p>
            <a:fld id="{307C7597-8D70-4701-8085-9524B0B5C72B}" type="slidenum">
              <a:rPr lang="fr-FR" smtClean="0"/>
              <a:pPr/>
              <a:t>16</a:t>
            </a:fld>
            <a:endParaRPr lang="fr-FR" dirty="0"/>
          </a:p>
        </p:txBody>
      </p:sp>
    </p:spTree>
    <p:extLst>
      <p:ext uri="{BB962C8B-B14F-4D97-AF65-F5344CB8AC3E}">
        <p14:creationId xmlns:p14="http://schemas.microsoft.com/office/powerpoint/2010/main" val="2584690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31371" y="2219325"/>
            <a:ext cx="11760629" cy="2343150"/>
          </a:xfrm>
        </p:spPr>
        <p:txBody>
          <a:bodyPr>
            <a:normAutofit/>
          </a:bodyPr>
          <a:lstStyle/>
          <a:p>
            <a:r>
              <a:rPr lang="en-US" dirty="0"/>
              <a:t>Operating expense by nature</a:t>
            </a:r>
          </a:p>
        </p:txBody>
      </p:sp>
      <p:sp>
        <p:nvSpPr>
          <p:cNvPr id="5" name="Subtitle 4">
            <a:extLst>
              <a:ext uri="{FF2B5EF4-FFF2-40B4-BE49-F238E27FC236}">
                <a16:creationId xmlns:a16="http://schemas.microsoft.com/office/drawing/2014/main" id="{F18DCD11-A14F-9B08-BD4C-38930AD316A1}"/>
              </a:ext>
            </a:extLst>
          </p:cNvPr>
          <p:cNvSpPr>
            <a:spLocks noGrp="1"/>
          </p:cNvSpPr>
          <p:nvPr>
            <p:ph type="subTitle" idx="1"/>
          </p:nvPr>
        </p:nvSpPr>
        <p:spPr/>
        <p:txBody>
          <a:bodyPr>
            <a:normAutofit/>
          </a:bodyPr>
          <a:lstStyle/>
          <a:p>
            <a:r>
              <a:rPr lang="fr-FR" sz="2800" dirty="0"/>
              <a:t>P&amp;L or </a:t>
            </a:r>
            <a:r>
              <a:rPr lang="fr-FR" sz="2800" dirty="0" err="1"/>
              <a:t>income</a:t>
            </a:r>
            <a:r>
              <a:rPr lang="fr-FR" sz="2800" dirty="0"/>
              <a:t> </a:t>
            </a:r>
            <a:r>
              <a:rPr lang="fr-FR" sz="2800" dirty="0" err="1"/>
              <a:t>statement</a:t>
            </a:r>
            <a:r>
              <a:rPr lang="fr-FR" sz="2800" dirty="0"/>
              <a:t> </a:t>
            </a:r>
            <a:r>
              <a:rPr lang="fr-FR" sz="2800" dirty="0" err="1"/>
              <a:t>categories</a:t>
            </a:r>
            <a:endParaRPr lang="en-US" sz="2800" dirty="0"/>
          </a:p>
        </p:txBody>
      </p:sp>
    </p:spTree>
    <p:extLst>
      <p:ext uri="{BB962C8B-B14F-4D97-AF65-F5344CB8AC3E}">
        <p14:creationId xmlns:p14="http://schemas.microsoft.com/office/powerpoint/2010/main" val="2441876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4461" y="542946"/>
            <a:ext cx="1781112" cy="502767"/>
          </a:xfrm>
        </p:spPr>
        <p:txBody>
          <a:bodyPr>
            <a:normAutofit fontScale="90000"/>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Operating expense by nature</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18</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504980" y="68627"/>
            <a:ext cx="4610819" cy="6647449"/>
            <a:chOff x="5648004" y="51470"/>
            <a:chExt cx="3179783" cy="4985587"/>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3266647"/>
              <a:chOff x="827584" y="1419622"/>
              <a:chExt cx="2952328" cy="3266647"/>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8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68489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Other external services and operating tax</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430919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648004" y="4659982"/>
              <a:ext cx="3172468"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46778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Write-down expense</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D&amp;A expense</a:t>
              </a:r>
            </a:p>
          </p:txBody>
        </p:sp>
      </p:grpSp>
      <p:sp>
        <p:nvSpPr>
          <p:cNvPr id="23" name="TextBox 22">
            <a:extLst>
              <a:ext uri="{FF2B5EF4-FFF2-40B4-BE49-F238E27FC236}">
                <a16:creationId xmlns:a16="http://schemas.microsoft.com/office/drawing/2014/main" id="{25884241-3D92-4857-AC0E-69D3109850A3}"/>
              </a:ext>
            </a:extLst>
          </p:cNvPr>
          <p:cNvSpPr txBox="1"/>
          <p:nvPr/>
        </p:nvSpPr>
        <p:spPr>
          <a:xfrm>
            <a:off x="2447595" y="3236979"/>
            <a:ext cx="3936437" cy="91319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Operating expense </a:t>
            </a:r>
            <a:r>
              <a:rPr lang="en-US" sz="2667" b="1" dirty="0"/>
              <a:t>by nature</a:t>
            </a:r>
          </a:p>
        </p:txBody>
      </p:sp>
      <p:cxnSp>
        <p:nvCxnSpPr>
          <p:cNvPr id="26" name="Straight Arrow Connector 25">
            <a:extLst>
              <a:ext uri="{FF2B5EF4-FFF2-40B4-BE49-F238E27FC236}">
                <a16:creationId xmlns:a16="http://schemas.microsoft.com/office/drawing/2014/main" id="{248477C8-3A30-4D88-95D9-95C622FE5504}"/>
              </a:ext>
            </a:extLst>
          </p:cNvPr>
          <p:cNvCxnSpPr>
            <a:stCxn id="10" idx="1"/>
            <a:endCxn id="23" idx="3"/>
          </p:cNvCxnSpPr>
          <p:nvPr/>
        </p:nvCxnSpPr>
        <p:spPr>
          <a:xfrm flipH="1">
            <a:off x="6384032" y="1034670"/>
            <a:ext cx="1450768" cy="26589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9C9B711-2F8C-43DC-B568-23D0D4492810}"/>
              </a:ext>
            </a:extLst>
          </p:cNvPr>
          <p:cNvCxnSpPr>
            <a:cxnSpLocks/>
            <a:stCxn id="12" idx="1"/>
            <a:endCxn id="23" idx="3"/>
          </p:cNvCxnSpPr>
          <p:nvPr/>
        </p:nvCxnSpPr>
        <p:spPr>
          <a:xfrm flipH="1">
            <a:off x="6384032" y="1706744"/>
            <a:ext cx="1450768" cy="19868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3A71D78-81F2-43E9-A8A3-B57278504867}"/>
              </a:ext>
            </a:extLst>
          </p:cNvPr>
          <p:cNvCxnSpPr>
            <a:cxnSpLocks/>
            <a:stCxn id="13" idx="1"/>
            <a:endCxn id="23" idx="3"/>
          </p:cNvCxnSpPr>
          <p:nvPr/>
        </p:nvCxnSpPr>
        <p:spPr>
          <a:xfrm flipH="1">
            <a:off x="6384032" y="2378819"/>
            <a:ext cx="1450768" cy="13147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B4893E6-B0B8-4CDD-BC81-AB80C0DA874E}"/>
              </a:ext>
            </a:extLst>
          </p:cNvPr>
          <p:cNvCxnSpPr>
            <a:cxnSpLocks/>
            <a:stCxn id="14" idx="1"/>
            <a:endCxn id="23" idx="3"/>
          </p:cNvCxnSpPr>
          <p:nvPr/>
        </p:nvCxnSpPr>
        <p:spPr>
          <a:xfrm flipH="1">
            <a:off x="6384032" y="3256109"/>
            <a:ext cx="1450768" cy="4374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4B3AC26-4825-4A7A-893A-F61D6D524E62}"/>
              </a:ext>
            </a:extLst>
          </p:cNvPr>
          <p:cNvCxnSpPr>
            <a:cxnSpLocks/>
            <a:stCxn id="15" idx="1"/>
            <a:endCxn id="23" idx="3"/>
          </p:cNvCxnSpPr>
          <p:nvPr/>
        </p:nvCxnSpPr>
        <p:spPr>
          <a:xfrm flipH="1" flipV="1">
            <a:off x="6384032" y="3693579"/>
            <a:ext cx="1450768" cy="4791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BC44C70-DEBA-480B-94AA-00450A20D929}"/>
              </a:ext>
            </a:extLst>
          </p:cNvPr>
          <p:cNvCxnSpPr>
            <a:cxnSpLocks/>
            <a:stCxn id="18" idx="1"/>
            <a:endCxn id="23" idx="3"/>
          </p:cNvCxnSpPr>
          <p:nvPr/>
        </p:nvCxnSpPr>
        <p:spPr>
          <a:xfrm flipH="1" flipV="1">
            <a:off x="6384032" y="3693579"/>
            <a:ext cx="1440161" cy="11815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55012C6-C148-43D2-B5AF-8DA685EB2F2B}"/>
              </a:ext>
            </a:extLst>
          </p:cNvPr>
          <p:cNvCxnSpPr>
            <a:cxnSpLocks/>
            <a:stCxn id="20" idx="1"/>
            <a:endCxn id="23" idx="3"/>
          </p:cNvCxnSpPr>
          <p:nvPr/>
        </p:nvCxnSpPr>
        <p:spPr>
          <a:xfrm flipH="1" flipV="1">
            <a:off x="6384032" y="3693579"/>
            <a:ext cx="1440161" cy="2099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030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4461" y="542946"/>
            <a:ext cx="1781112" cy="502767"/>
          </a:xfrm>
        </p:spPr>
        <p:txBody>
          <a:bodyPr>
            <a:normAutofit fontScale="90000"/>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Operating expense by nature</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19</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453223" y="68627"/>
            <a:ext cx="4662577" cy="6647449"/>
            <a:chOff x="5612310" y="51470"/>
            <a:chExt cx="3215477" cy="4985587"/>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3217325"/>
              <a:chOff x="827584" y="1419622"/>
              <a:chExt cx="2952328" cy="3217325"/>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8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68489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Other external services and operating tax</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42598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612310" y="4659982"/>
              <a:ext cx="3208162"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39577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Write-down expense</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D&amp;A expense</a:t>
              </a:r>
            </a:p>
          </p:txBody>
        </p:sp>
      </p:grpSp>
      <p:sp>
        <p:nvSpPr>
          <p:cNvPr id="23" name="TextBox 22">
            <a:extLst>
              <a:ext uri="{FF2B5EF4-FFF2-40B4-BE49-F238E27FC236}">
                <a16:creationId xmlns:a16="http://schemas.microsoft.com/office/drawing/2014/main" id="{25884241-3D92-4857-AC0E-69D3109850A3}"/>
              </a:ext>
            </a:extLst>
          </p:cNvPr>
          <p:cNvSpPr txBox="1"/>
          <p:nvPr/>
        </p:nvSpPr>
        <p:spPr>
          <a:xfrm>
            <a:off x="2447595" y="3236979"/>
            <a:ext cx="3936437" cy="50276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Operating expense</a:t>
            </a:r>
          </a:p>
        </p:txBody>
      </p:sp>
      <p:sp>
        <p:nvSpPr>
          <p:cNvPr id="24" name="TextBox 23">
            <a:extLst>
              <a:ext uri="{FF2B5EF4-FFF2-40B4-BE49-F238E27FC236}">
                <a16:creationId xmlns:a16="http://schemas.microsoft.com/office/drawing/2014/main" id="{32E9F004-F085-49A5-A50D-6BE4DCAAF9DA}"/>
              </a:ext>
            </a:extLst>
          </p:cNvPr>
          <p:cNvSpPr txBox="1"/>
          <p:nvPr/>
        </p:nvSpPr>
        <p:spPr>
          <a:xfrm>
            <a:off x="2447595" y="2084851"/>
            <a:ext cx="3936437" cy="50276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Revenue</a:t>
            </a:r>
          </a:p>
        </p:txBody>
      </p:sp>
      <p:cxnSp>
        <p:nvCxnSpPr>
          <p:cNvPr id="26" name="Straight Arrow Connector 25">
            <a:extLst>
              <a:ext uri="{FF2B5EF4-FFF2-40B4-BE49-F238E27FC236}">
                <a16:creationId xmlns:a16="http://schemas.microsoft.com/office/drawing/2014/main" id="{248477C8-3A30-4D88-95D9-95C622FE5504}"/>
              </a:ext>
            </a:extLst>
          </p:cNvPr>
          <p:cNvCxnSpPr>
            <a:stCxn id="10" idx="1"/>
            <a:endCxn id="23" idx="3"/>
          </p:cNvCxnSpPr>
          <p:nvPr/>
        </p:nvCxnSpPr>
        <p:spPr>
          <a:xfrm flipH="1">
            <a:off x="6384032" y="1034670"/>
            <a:ext cx="1450768" cy="24536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9C9B711-2F8C-43DC-B568-23D0D4492810}"/>
              </a:ext>
            </a:extLst>
          </p:cNvPr>
          <p:cNvCxnSpPr>
            <a:cxnSpLocks/>
            <a:endCxn id="23" idx="3"/>
          </p:cNvCxnSpPr>
          <p:nvPr/>
        </p:nvCxnSpPr>
        <p:spPr>
          <a:xfrm flipH="1">
            <a:off x="6384032" y="1761694"/>
            <a:ext cx="1440163" cy="17266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3A71D78-81F2-43E9-A8A3-B57278504867}"/>
              </a:ext>
            </a:extLst>
          </p:cNvPr>
          <p:cNvCxnSpPr>
            <a:cxnSpLocks/>
            <a:stCxn id="13" idx="1"/>
            <a:endCxn id="23" idx="3"/>
          </p:cNvCxnSpPr>
          <p:nvPr/>
        </p:nvCxnSpPr>
        <p:spPr>
          <a:xfrm flipH="1">
            <a:off x="6384032" y="2378819"/>
            <a:ext cx="1450768" cy="11095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B4893E6-B0B8-4CDD-BC81-AB80C0DA874E}"/>
              </a:ext>
            </a:extLst>
          </p:cNvPr>
          <p:cNvCxnSpPr>
            <a:cxnSpLocks/>
            <a:stCxn id="14" idx="1"/>
            <a:endCxn id="23" idx="3"/>
          </p:cNvCxnSpPr>
          <p:nvPr/>
        </p:nvCxnSpPr>
        <p:spPr>
          <a:xfrm flipH="1">
            <a:off x="6384032" y="3256109"/>
            <a:ext cx="1450768" cy="2322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4B3AC26-4825-4A7A-893A-F61D6D524E62}"/>
              </a:ext>
            </a:extLst>
          </p:cNvPr>
          <p:cNvCxnSpPr>
            <a:cxnSpLocks/>
            <a:stCxn id="15" idx="1"/>
            <a:endCxn id="23" idx="3"/>
          </p:cNvCxnSpPr>
          <p:nvPr/>
        </p:nvCxnSpPr>
        <p:spPr>
          <a:xfrm flipH="1" flipV="1">
            <a:off x="6384032" y="3488362"/>
            <a:ext cx="1450768" cy="6186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BC44C70-DEBA-480B-94AA-00450A20D929}"/>
              </a:ext>
            </a:extLst>
          </p:cNvPr>
          <p:cNvCxnSpPr>
            <a:cxnSpLocks/>
            <a:stCxn id="18" idx="1"/>
            <a:endCxn id="23" idx="3"/>
          </p:cNvCxnSpPr>
          <p:nvPr/>
        </p:nvCxnSpPr>
        <p:spPr>
          <a:xfrm flipH="1" flipV="1">
            <a:off x="6384032" y="3488362"/>
            <a:ext cx="1440161" cy="12907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55012C6-C148-43D2-B5AF-8DA685EB2F2B}"/>
              </a:ext>
            </a:extLst>
          </p:cNvPr>
          <p:cNvCxnSpPr>
            <a:cxnSpLocks/>
            <a:stCxn id="20" idx="1"/>
            <a:endCxn id="23" idx="3"/>
          </p:cNvCxnSpPr>
          <p:nvPr/>
        </p:nvCxnSpPr>
        <p:spPr>
          <a:xfrm flipH="1" flipV="1">
            <a:off x="6384032" y="3488362"/>
            <a:ext cx="1440161" cy="23042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744A7B1-E28F-4BF0-9E98-C17AEA0F8BC7}"/>
              </a:ext>
            </a:extLst>
          </p:cNvPr>
          <p:cNvSpPr txBox="1"/>
          <p:nvPr/>
        </p:nvSpPr>
        <p:spPr>
          <a:xfrm>
            <a:off x="3407701" y="2564904"/>
            <a:ext cx="2112235" cy="748988"/>
          </a:xfrm>
          <a:prstGeom prst="rect">
            <a:avLst/>
          </a:prstGeom>
          <a:noFill/>
        </p:spPr>
        <p:txBody>
          <a:bodyPr wrap="square" rtlCol="0">
            <a:spAutoFit/>
          </a:bodyPr>
          <a:lstStyle/>
          <a:p>
            <a:pPr algn="ctr"/>
            <a:r>
              <a:rPr lang="en-US" sz="4267" dirty="0"/>
              <a:t>–</a:t>
            </a:r>
          </a:p>
        </p:txBody>
      </p:sp>
      <p:sp>
        <p:nvSpPr>
          <p:cNvPr id="45" name="TextBox 44">
            <a:extLst>
              <a:ext uri="{FF2B5EF4-FFF2-40B4-BE49-F238E27FC236}">
                <a16:creationId xmlns:a16="http://schemas.microsoft.com/office/drawing/2014/main" id="{145F87B1-BC6A-4B7D-ABAC-D38832E96471}"/>
              </a:ext>
            </a:extLst>
          </p:cNvPr>
          <p:cNvSpPr txBox="1"/>
          <p:nvPr/>
        </p:nvSpPr>
        <p:spPr>
          <a:xfrm>
            <a:off x="3407701" y="3801428"/>
            <a:ext cx="2112235" cy="748988"/>
          </a:xfrm>
          <a:prstGeom prst="rect">
            <a:avLst/>
          </a:prstGeom>
          <a:noFill/>
        </p:spPr>
        <p:txBody>
          <a:bodyPr wrap="square" rtlCol="0">
            <a:spAutoFit/>
          </a:bodyPr>
          <a:lstStyle/>
          <a:p>
            <a:pPr algn="ctr"/>
            <a:r>
              <a:rPr lang="en-US" sz="4267" dirty="0"/>
              <a:t>=</a:t>
            </a:r>
          </a:p>
        </p:txBody>
      </p:sp>
      <p:sp>
        <p:nvSpPr>
          <p:cNvPr id="46" name="TextBox 45">
            <a:extLst>
              <a:ext uri="{FF2B5EF4-FFF2-40B4-BE49-F238E27FC236}">
                <a16:creationId xmlns:a16="http://schemas.microsoft.com/office/drawing/2014/main" id="{A53BB826-652A-40D4-96BC-703F1D3838BC}"/>
              </a:ext>
            </a:extLst>
          </p:cNvPr>
          <p:cNvSpPr txBox="1"/>
          <p:nvPr/>
        </p:nvSpPr>
        <p:spPr>
          <a:xfrm>
            <a:off x="2277376" y="4623713"/>
            <a:ext cx="4632384" cy="50276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(recurring) Operating income</a:t>
            </a:r>
          </a:p>
        </p:txBody>
      </p:sp>
    </p:spTree>
    <p:extLst>
      <p:ext uri="{BB962C8B-B14F-4D97-AF65-F5344CB8AC3E}">
        <p14:creationId xmlns:p14="http://schemas.microsoft.com/office/powerpoint/2010/main" val="595092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4461" y="542947"/>
            <a:ext cx="1781112" cy="502766"/>
          </a:xfrm>
        </p:spPr>
        <p:txBody>
          <a:bodyPr>
            <a:normAutofit fontScale="90000"/>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Cash expense and non-cash expense</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20</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470474" y="68627"/>
            <a:ext cx="4616750" cy="6647449"/>
            <a:chOff x="5699459" y="51470"/>
            <a:chExt cx="3128328" cy="4985587"/>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3194639"/>
              <a:chOff x="827584" y="1419622"/>
              <a:chExt cx="2952328" cy="3194639"/>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8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68489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Other external services and operating tax</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423718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699459" y="4659982"/>
              <a:ext cx="3121013"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39577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Write-down expense</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D&amp;A expense</a:t>
              </a:r>
            </a:p>
          </p:txBody>
        </p:sp>
      </p:grpSp>
      <p:sp>
        <p:nvSpPr>
          <p:cNvPr id="23" name="TextBox 22">
            <a:extLst>
              <a:ext uri="{FF2B5EF4-FFF2-40B4-BE49-F238E27FC236}">
                <a16:creationId xmlns:a16="http://schemas.microsoft.com/office/drawing/2014/main" id="{25884241-3D92-4857-AC0E-69D3109850A3}"/>
              </a:ext>
            </a:extLst>
          </p:cNvPr>
          <p:cNvSpPr txBox="1"/>
          <p:nvPr/>
        </p:nvSpPr>
        <p:spPr>
          <a:xfrm>
            <a:off x="143339" y="3236979"/>
            <a:ext cx="3936437" cy="50276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7" dirty="0"/>
              <a:t>Operating expense</a:t>
            </a:r>
            <a:endParaRPr lang="en-US" sz="2667" b="1" dirty="0"/>
          </a:p>
        </p:txBody>
      </p:sp>
      <p:cxnSp>
        <p:nvCxnSpPr>
          <p:cNvPr id="26" name="Straight Arrow Connector 25">
            <a:extLst>
              <a:ext uri="{FF2B5EF4-FFF2-40B4-BE49-F238E27FC236}">
                <a16:creationId xmlns:a16="http://schemas.microsoft.com/office/drawing/2014/main" id="{248477C8-3A30-4D88-95D9-95C622FE5504}"/>
              </a:ext>
            </a:extLst>
          </p:cNvPr>
          <p:cNvCxnSpPr>
            <a:cxnSpLocks/>
            <a:stCxn id="25" idx="2"/>
            <a:endCxn id="23" idx="3"/>
          </p:cNvCxnSpPr>
          <p:nvPr/>
        </p:nvCxnSpPr>
        <p:spPr>
          <a:xfrm flipH="1">
            <a:off x="4079776" y="2699901"/>
            <a:ext cx="1728192" cy="7884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F0FB865-E94F-48EC-9F6F-E0B9137DCC32}"/>
              </a:ext>
            </a:extLst>
          </p:cNvPr>
          <p:cNvSpPr txBox="1"/>
          <p:nvPr/>
        </p:nvSpPr>
        <p:spPr>
          <a:xfrm>
            <a:off x="4655840" y="1786702"/>
            <a:ext cx="2304256" cy="91319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7" dirty="0"/>
              <a:t>Cash expense</a:t>
            </a:r>
          </a:p>
        </p:txBody>
      </p:sp>
      <p:sp>
        <p:nvSpPr>
          <p:cNvPr id="28" name="TextBox 27">
            <a:extLst>
              <a:ext uri="{FF2B5EF4-FFF2-40B4-BE49-F238E27FC236}">
                <a16:creationId xmlns:a16="http://schemas.microsoft.com/office/drawing/2014/main" id="{C5AF5EB4-A97C-4D29-A030-B8E107F12662}"/>
              </a:ext>
            </a:extLst>
          </p:cNvPr>
          <p:cNvSpPr txBox="1"/>
          <p:nvPr/>
        </p:nvSpPr>
        <p:spPr>
          <a:xfrm>
            <a:off x="4645827" y="4318390"/>
            <a:ext cx="2304256" cy="91319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7" dirty="0"/>
              <a:t>Non-cash expense</a:t>
            </a:r>
          </a:p>
        </p:txBody>
      </p:sp>
      <p:cxnSp>
        <p:nvCxnSpPr>
          <p:cNvPr id="30" name="Straight Arrow Connector 29">
            <a:extLst>
              <a:ext uri="{FF2B5EF4-FFF2-40B4-BE49-F238E27FC236}">
                <a16:creationId xmlns:a16="http://schemas.microsoft.com/office/drawing/2014/main" id="{9D2B92E6-C5AE-48A8-9B3C-29A290C62B9E}"/>
              </a:ext>
            </a:extLst>
          </p:cNvPr>
          <p:cNvCxnSpPr>
            <a:cxnSpLocks/>
            <a:stCxn id="28" idx="0"/>
            <a:endCxn id="23" idx="3"/>
          </p:cNvCxnSpPr>
          <p:nvPr/>
        </p:nvCxnSpPr>
        <p:spPr>
          <a:xfrm flipH="1" flipV="1">
            <a:off x="4079776" y="3488362"/>
            <a:ext cx="1718179" cy="8300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Left Brace 10">
            <a:extLst>
              <a:ext uri="{FF2B5EF4-FFF2-40B4-BE49-F238E27FC236}">
                <a16:creationId xmlns:a16="http://schemas.microsoft.com/office/drawing/2014/main" id="{2B603329-B3A0-45AC-A7B0-38BE7573896B}"/>
              </a:ext>
            </a:extLst>
          </p:cNvPr>
          <p:cNvSpPr/>
          <p:nvPr/>
        </p:nvSpPr>
        <p:spPr>
          <a:xfrm>
            <a:off x="7152117" y="783285"/>
            <a:ext cx="384043" cy="2933747"/>
          </a:xfrm>
          <a:prstGeom prst="leftBrace">
            <a:avLst>
              <a:gd name="adj1" fmla="val 36541"/>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33" name="Left Brace 32">
            <a:extLst>
              <a:ext uri="{FF2B5EF4-FFF2-40B4-BE49-F238E27FC236}">
                <a16:creationId xmlns:a16="http://schemas.microsoft.com/office/drawing/2014/main" id="{239EBA32-EAB7-4E91-84DD-283B47F594A1}"/>
              </a:ext>
            </a:extLst>
          </p:cNvPr>
          <p:cNvSpPr/>
          <p:nvPr/>
        </p:nvSpPr>
        <p:spPr>
          <a:xfrm>
            <a:off x="7152117" y="3813043"/>
            <a:ext cx="384043" cy="2304256"/>
          </a:xfrm>
          <a:prstGeom prst="leftBrace">
            <a:avLst>
              <a:gd name="adj1" fmla="val 4398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34" name="TextBox 33">
            <a:extLst>
              <a:ext uri="{FF2B5EF4-FFF2-40B4-BE49-F238E27FC236}">
                <a16:creationId xmlns:a16="http://schemas.microsoft.com/office/drawing/2014/main" id="{232D85EC-EF6D-43F3-9EC9-FF4D4F277319}"/>
              </a:ext>
            </a:extLst>
          </p:cNvPr>
          <p:cNvSpPr txBox="1"/>
          <p:nvPr/>
        </p:nvSpPr>
        <p:spPr>
          <a:xfrm>
            <a:off x="4751851" y="3033343"/>
            <a:ext cx="2112235" cy="748988"/>
          </a:xfrm>
          <a:prstGeom prst="rect">
            <a:avLst/>
          </a:prstGeom>
          <a:noFill/>
        </p:spPr>
        <p:txBody>
          <a:bodyPr wrap="square" rtlCol="0">
            <a:spAutoFit/>
          </a:bodyPr>
          <a:lstStyle/>
          <a:p>
            <a:pPr algn="ctr"/>
            <a:r>
              <a:rPr lang="en-US" sz="4267" dirty="0"/>
              <a:t>+</a:t>
            </a:r>
          </a:p>
        </p:txBody>
      </p:sp>
    </p:spTree>
    <p:extLst>
      <p:ext uri="{BB962C8B-B14F-4D97-AF65-F5344CB8AC3E}">
        <p14:creationId xmlns:p14="http://schemas.microsoft.com/office/powerpoint/2010/main" val="3486201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4461" y="412026"/>
            <a:ext cx="1781112" cy="633687"/>
          </a:xfrm>
        </p:spPr>
        <p:txBody>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EBITDA and EBIT</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21</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458075" y="68628"/>
            <a:ext cx="4686598" cy="6575569"/>
            <a:chOff x="5868144" y="51470"/>
            <a:chExt cx="2959643" cy="4931677"/>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2946677"/>
              <a:chOff x="827584" y="1419622"/>
              <a:chExt cx="2952328" cy="2946677"/>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8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Other external services</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398922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868144" y="4659982"/>
              <a:ext cx="2952328"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200"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14781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Write-down expense</a:t>
              </a:r>
            </a:p>
          </p:txBody>
        </p:sp>
        <p:sp>
          <p:nvSpPr>
            <p:cNvPr id="19" name="TextBox 18">
              <a:extLst>
                <a:ext uri="{FF2B5EF4-FFF2-40B4-BE49-F238E27FC236}">
                  <a16:creationId xmlns:a16="http://schemas.microsoft.com/office/drawing/2014/main" id="{6537D5DD-C87F-428F-941A-82E74413B4CC}"/>
                </a:ext>
              </a:extLst>
            </p:cNvPr>
            <p:cNvSpPr txBox="1"/>
            <p:nvPr/>
          </p:nvSpPr>
          <p:spPr>
            <a:xfrm>
              <a:off x="5868144" y="3651870"/>
              <a:ext cx="2952328"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EBITDA</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D&amp;A expense</a:t>
              </a:r>
            </a:p>
          </p:txBody>
        </p:sp>
      </p:grpSp>
      <p:sp>
        <p:nvSpPr>
          <p:cNvPr id="22" name="TextBox 21">
            <a:extLst>
              <a:ext uri="{FF2B5EF4-FFF2-40B4-BE49-F238E27FC236}">
                <a16:creationId xmlns:a16="http://schemas.microsoft.com/office/drawing/2014/main" id="{2BA0C55A-BEAE-4CD4-BFF2-71BC86296D7C}"/>
              </a:ext>
            </a:extLst>
          </p:cNvPr>
          <p:cNvSpPr txBox="1"/>
          <p:nvPr/>
        </p:nvSpPr>
        <p:spPr>
          <a:xfrm>
            <a:off x="47328" y="1508787"/>
            <a:ext cx="7488832" cy="3786229"/>
          </a:xfrm>
          <a:prstGeom prst="rect">
            <a:avLst/>
          </a:prstGeom>
          <a:noFill/>
        </p:spPr>
        <p:txBody>
          <a:bodyPr wrap="square" rtlCol="0">
            <a:spAutoFit/>
          </a:bodyPr>
          <a:lstStyle/>
          <a:p>
            <a:r>
              <a:rPr lang="en-US" sz="2667" b="1" dirty="0"/>
              <a:t>EBITDA</a:t>
            </a:r>
            <a:r>
              <a:rPr lang="en-US" sz="2667" dirty="0"/>
              <a:t>: Earnings Before Interest (expense and income), (income) Tax, Depreciation and Amortization expense</a:t>
            </a:r>
          </a:p>
          <a:p>
            <a:r>
              <a:rPr lang="en-US" sz="2667" b="1" dirty="0"/>
              <a:t>= impact of operating activity (purchasing, production and selling) on P&amp;L without impact of investment decisions on P&amp;L</a:t>
            </a:r>
          </a:p>
          <a:p>
            <a:endParaRPr lang="en-US" sz="2667" dirty="0"/>
          </a:p>
          <a:p>
            <a:r>
              <a:rPr lang="en-US" sz="2667" b="1" dirty="0"/>
              <a:t>EBIT</a:t>
            </a:r>
            <a:r>
              <a:rPr lang="en-US" sz="2667" dirty="0"/>
              <a:t>: Earnings Before Interest (expense and income) and (income) Tax</a:t>
            </a:r>
          </a:p>
        </p:txBody>
      </p:sp>
      <p:sp>
        <p:nvSpPr>
          <p:cNvPr id="2" name="Arrow: Right 1">
            <a:extLst>
              <a:ext uri="{FF2B5EF4-FFF2-40B4-BE49-F238E27FC236}">
                <a16:creationId xmlns:a16="http://schemas.microsoft.com/office/drawing/2014/main" id="{10826AAC-54C1-4B2A-98BC-3A5628DC55CF}"/>
              </a:ext>
            </a:extLst>
          </p:cNvPr>
          <p:cNvSpPr/>
          <p:nvPr/>
        </p:nvSpPr>
        <p:spPr>
          <a:xfrm>
            <a:off x="6951332" y="5637245"/>
            <a:ext cx="480053" cy="341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TextBox 5">
            <a:extLst>
              <a:ext uri="{FF2B5EF4-FFF2-40B4-BE49-F238E27FC236}">
                <a16:creationId xmlns:a16="http://schemas.microsoft.com/office/drawing/2014/main" id="{2303DB9E-4DEB-467E-B6A0-DD1C1A43855C}"/>
              </a:ext>
            </a:extLst>
          </p:cNvPr>
          <p:cNvSpPr txBox="1"/>
          <p:nvPr/>
        </p:nvSpPr>
        <p:spPr>
          <a:xfrm>
            <a:off x="1940488" y="5349213"/>
            <a:ext cx="4800533" cy="913199"/>
          </a:xfrm>
          <a:prstGeom prst="rect">
            <a:avLst/>
          </a:prstGeom>
          <a:solidFill>
            <a:schemeClr val="accent3">
              <a:lumMod val="20000"/>
              <a:lumOff val="80000"/>
            </a:schemeClr>
          </a:solidFill>
        </p:spPr>
        <p:txBody>
          <a:bodyPr wrap="square" rtlCol="0">
            <a:spAutoFit/>
          </a:bodyPr>
          <a:lstStyle/>
          <a:p>
            <a:pPr algn="ctr"/>
            <a:r>
              <a:rPr lang="en-US" sz="2667" dirty="0"/>
              <a:t>Impact of current and past investment decisions</a:t>
            </a:r>
          </a:p>
        </p:txBody>
      </p:sp>
    </p:spTree>
    <p:extLst>
      <p:ext uri="{BB962C8B-B14F-4D97-AF65-F5344CB8AC3E}">
        <p14:creationId xmlns:p14="http://schemas.microsoft.com/office/powerpoint/2010/main" val="1985201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4461" y="412026"/>
            <a:ext cx="1781112" cy="633687"/>
          </a:xfrm>
        </p:spPr>
        <p:txBody>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Cash expense and non-cash expense</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22</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210425" y="68628"/>
            <a:ext cx="4838700" cy="6394358"/>
            <a:chOff x="5868144" y="51470"/>
            <a:chExt cx="2959643" cy="4954282"/>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2946677"/>
              <a:chOff x="827584" y="1419622"/>
              <a:chExt cx="2952328" cy="2946677"/>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8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Other external services</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398922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868144" y="4659982"/>
              <a:ext cx="2952328" cy="34577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300"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14781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Write-down expense</a:t>
              </a:r>
            </a:p>
          </p:txBody>
        </p:sp>
        <p:sp>
          <p:nvSpPr>
            <p:cNvPr id="19" name="TextBox 18">
              <a:extLst>
                <a:ext uri="{FF2B5EF4-FFF2-40B4-BE49-F238E27FC236}">
                  <a16:creationId xmlns:a16="http://schemas.microsoft.com/office/drawing/2014/main" id="{6537D5DD-C87F-428F-941A-82E74413B4CC}"/>
                </a:ext>
              </a:extLst>
            </p:cNvPr>
            <p:cNvSpPr txBox="1"/>
            <p:nvPr/>
          </p:nvSpPr>
          <p:spPr>
            <a:xfrm>
              <a:off x="5868144" y="3651870"/>
              <a:ext cx="2952328"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EBITDA</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D&amp;A expense</a:t>
              </a:r>
            </a:p>
          </p:txBody>
        </p:sp>
      </p:grpSp>
      <p:sp>
        <p:nvSpPr>
          <p:cNvPr id="22" name="TextBox 21">
            <a:extLst>
              <a:ext uri="{FF2B5EF4-FFF2-40B4-BE49-F238E27FC236}">
                <a16:creationId xmlns:a16="http://schemas.microsoft.com/office/drawing/2014/main" id="{2BA0C55A-BEAE-4CD4-BFF2-71BC86296D7C}"/>
              </a:ext>
            </a:extLst>
          </p:cNvPr>
          <p:cNvSpPr txBox="1"/>
          <p:nvPr/>
        </p:nvSpPr>
        <p:spPr>
          <a:xfrm>
            <a:off x="47328" y="2180862"/>
            <a:ext cx="7296811" cy="2965364"/>
          </a:xfrm>
          <a:prstGeom prst="rect">
            <a:avLst/>
          </a:prstGeom>
          <a:noFill/>
        </p:spPr>
        <p:txBody>
          <a:bodyPr wrap="square" rtlCol="0">
            <a:spAutoFit/>
          </a:bodyPr>
          <a:lstStyle/>
          <a:p>
            <a:r>
              <a:rPr lang="en-US" sz="2667" b="1" dirty="0"/>
              <a:t>EBITDA</a:t>
            </a:r>
            <a:r>
              <a:rPr lang="en-US" sz="2667" dirty="0"/>
              <a:t>: Earnings Before Interest (expense and income), (income) Tax, Depreciation and Amortization expense</a:t>
            </a:r>
          </a:p>
          <a:p>
            <a:r>
              <a:rPr lang="en-US" sz="2667" b="1" dirty="0"/>
              <a:t>= Potential operating cash flow (taking into account some future shortfall (loss of earnings) in inventories sold and collection from customers)</a:t>
            </a:r>
          </a:p>
        </p:txBody>
      </p:sp>
    </p:spTree>
    <p:extLst>
      <p:ext uri="{BB962C8B-B14F-4D97-AF65-F5344CB8AC3E}">
        <p14:creationId xmlns:p14="http://schemas.microsoft.com/office/powerpoint/2010/main" val="2715433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4461" y="412026"/>
            <a:ext cx="1781112" cy="633687"/>
          </a:xfrm>
        </p:spPr>
        <p:txBody>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Cash expense and non-cash expense</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23</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496175" y="68628"/>
            <a:ext cx="4648497" cy="6590958"/>
            <a:chOff x="5868144" y="51470"/>
            <a:chExt cx="2959643" cy="4943219"/>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2946677"/>
              <a:chOff x="827584" y="1419622"/>
              <a:chExt cx="2952328" cy="2946677"/>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8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Other external services</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398922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868144" y="4659982"/>
              <a:ext cx="2952328" cy="3347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300"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147814"/>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Write-down expense</a:t>
              </a:r>
            </a:p>
          </p:txBody>
        </p:sp>
        <p:sp>
          <p:nvSpPr>
            <p:cNvPr id="19" name="TextBox 18">
              <a:extLst>
                <a:ext uri="{FF2B5EF4-FFF2-40B4-BE49-F238E27FC236}">
                  <a16:creationId xmlns:a16="http://schemas.microsoft.com/office/drawing/2014/main" id="{6537D5DD-C87F-428F-941A-82E74413B4CC}"/>
                </a:ext>
              </a:extLst>
            </p:cNvPr>
            <p:cNvSpPr txBox="1"/>
            <p:nvPr/>
          </p:nvSpPr>
          <p:spPr>
            <a:xfrm>
              <a:off x="5868144" y="3651870"/>
              <a:ext cx="2952328"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EBITDA</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7" dirty="0"/>
                <a:t>D&amp;A expense</a:t>
              </a:r>
            </a:p>
          </p:txBody>
        </p:sp>
      </p:grpSp>
      <p:sp>
        <p:nvSpPr>
          <p:cNvPr id="22" name="TextBox 21">
            <a:extLst>
              <a:ext uri="{FF2B5EF4-FFF2-40B4-BE49-F238E27FC236}">
                <a16:creationId xmlns:a16="http://schemas.microsoft.com/office/drawing/2014/main" id="{2BA0C55A-BEAE-4CD4-BFF2-71BC86296D7C}"/>
              </a:ext>
            </a:extLst>
          </p:cNvPr>
          <p:cNvSpPr txBox="1"/>
          <p:nvPr/>
        </p:nvSpPr>
        <p:spPr>
          <a:xfrm>
            <a:off x="47328" y="2180861"/>
            <a:ext cx="7296811" cy="1734064"/>
          </a:xfrm>
          <a:prstGeom prst="rect">
            <a:avLst/>
          </a:prstGeom>
          <a:noFill/>
        </p:spPr>
        <p:txBody>
          <a:bodyPr wrap="square" rtlCol="0">
            <a:spAutoFit/>
          </a:bodyPr>
          <a:lstStyle/>
          <a:p>
            <a:r>
              <a:rPr lang="en-US" sz="2667" b="1" dirty="0"/>
              <a:t>EBITDA</a:t>
            </a:r>
            <a:r>
              <a:rPr lang="en-US" sz="2667" dirty="0"/>
              <a:t>: Earnings Before Interest (expense and income), (income) Tax, Depreciation and Amortization expense</a:t>
            </a:r>
          </a:p>
          <a:p>
            <a:r>
              <a:rPr lang="en-US" sz="2667" b="1" dirty="0"/>
              <a:t>= Potential operating cash flow</a:t>
            </a:r>
          </a:p>
        </p:txBody>
      </p:sp>
      <p:sp>
        <p:nvSpPr>
          <p:cNvPr id="2" name="TextBox 1">
            <a:extLst>
              <a:ext uri="{FF2B5EF4-FFF2-40B4-BE49-F238E27FC236}">
                <a16:creationId xmlns:a16="http://schemas.microsoft.com/office/drawing/2014/main" id="{E375D542-85EF-46B5-B32B-C86EEBC00EC4}"/>
              </a:ext>
            </a:extLst>
          </p:cNvPr>
          <p:cNvSpPr txBox="1"/>
          <p:nvPr/>
        </p:nvSpPr>
        <p:spPr>
          <a:xfrm>
            <a:off x="484291" y="4116599"/>
            <a:ext cx="6912768" cy="1734064"/>
          </a:xfrm>
          <a:prstGeom prst="rect">
            <a:avLst/>
          </a:prstGeom>
          <a:solidFill>
            <a:schemeClr val="accent1">
              <a:lumMod val="20000"/>
              <a:lumOff val="80000"/>
            </a:schemeClr>
          </a:solidFill>
        </p:spPr>
        <p:txBody>
          <a:bodyPr wrap="square" rtlCol="0">
            <a:spAutoFit/>
          </a:bodyPr>
          <a:lstStyle/>
          <a:p>
            <a:r>
              <a:rPr lang="en-US" sz="2667" dirty="0">
                <a:latin typeface="Bahnschrift SemiBold SemiConden" panose="020B0502040204020203" pitchFamily="34" charset="0"/>
              </a:rPr>
              <a:t>Why “potential”? Because we are in the P&amp;L, it means we have what is due, consumed, used up by the company and what is due to the company (and not what is paid or received by the company)</a:t>
            </a:r>
          </a:p>
        </p:txBody>
      </p:sp>
    </p:spTree>
    <p:extLst>
      <p:ext uri="{BB962C8B-B14F-4D97-AF65-F5344CB8AC3E}">
        <p14:creationId xmlns:p14="http://schemas.microsoft.com/office/powerpoint/2010/main" val="4286618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90FF-9310-B120-4537-EA776A858413}"/>
              </a:ext>
            </a:extLst>
          </p:cNvPr>
          <p:cNvSpPr>
            <a:spLocks noGrp="1"/>
          </p:cNvSpPr>
          <p:nvPr>
            <p:ph type="ctrTitle"/>
          </p:nvPr>
        </p:nvSpPr>
        <p:spPr/>
        <p:txBody>
          <a:bodyPr/>
          <a:lstStyle/>
          <a:p>
            <a:r>
              <a:rPr lang="en-US" dirty="0"/>
              <a:t>Operating expense by function</a:t>
            </a:r>
          </a:p>
        </p:txBody>
      </p:sp>
      <p:sp>
        <p:nvSpPr>
          <p:cNvPr id="3" name="Subtitle 2">
            <a:extLst>
              <a:ext uri="{FF2B5EF4-FFF2-40B4-BE49-F238E27FC236}">
                <a16:creationId xmlns:a16="http://schemas.microsoft.com/office/drawing/2014/main" id="{5624008B-4341-C156-9AF8-C22C7A849D0B}"/>
              </a:ext>
            </a:extLst>
          </p:cNvPr>
          <p:cNvSpPr>
            <a:spLocks noGrp="1"/>
          </p:cNvSpPr>
          <p:nvPr>
            <p:ph type="subTitle" idx="1"/>
          </p:nvPr>
        </p:nvSpPr>
        <p:spPr/>
        <p:txBody>
          <a:bodyPr/>
          <a:lstStyle/>
          <a:p>
            <a:r>
              <a:rPr lang="fr-FR" sz="2400" dirty="0"/>
              <a:t>P&amp;L or </a:t>
            </a:r>
            <a:r>
              <a:rPr lang="fr-FR" sz="2400" dirty="0" err="1"/>
              <a:t>income</a:t>
            </a:r>
            <a:r>
              <a:rPr lang="fr-FR" sz="2400" dirty="0"/>
              <a:t> </a:t>
            </a:r>
            <a:r>
              <a:rPr lang="fr-FR" sz="2400" dirty="0" err="1"/>
              <a:t>statement</a:t>
            </a:r>
            <a:r>
              <a:rPr lang="fr-FR" sz="2400" dirty="0"/>
              <a:t> </a:t>
            </a:r>
            <a:r>
              <a:rPr lang="fr-FR" sz="2400" dirty="0" err="1"/>
              <a:t>categories</a:t>
            </a:r>
            <a:endParaRPr lang="en-US" sz="2400" dirty="0"/>
          </a:p>
          <a:p>
            <a:endParaRPr lang="en-US" dirty="0"/>
          </a:p>
        </p:txBody>
      </p:sp>
    </p:spTree>
    <p:extLst>
      <p:ext uri="{BB962C8B-B14F-4D97-AF65-F5344CB8AC3E}">
        <p14:creationId xmlns:p14="http://schemas.microsoft.com/office/powerpoint/2010/main" val="3720504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7205" y="413500"/>
            <a:ext cx="1780243" cy="633377"/>
          </a:xfrm>
        </p:spPr>
        <p:txBody>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Cost of sales</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25</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823350" y="70267"/>
            <a:ext cx="3944265" cy="5791410"/>
            <a:chOff x="5868144" y="51470"/>
            <a:chExt cx="2959643" cy="4345679"/>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2946620"/>
              <a:chOff x="827584" y="1419622"/>
              <a:chExt cx="2952328" cy="2946620"/>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75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5"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Other external services</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3989224"/>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Bad debt expense</a:t>
                </a:r>
              </a:p>
            </p:txBody>
          </p:sp>
        </p:grpSp>
        <p:sp>
          <p:nvSpPr>
            <p:cNvPr id="18" name="TextBox 17">
              <a:extLst>
                <a:ext uri="{FF2B5EF4-FFF2-40B4-BE49-F238E27FC236}">
                  <a16:creationId xmlns:a16="http://schemas.microsoft.com/office/drawing/2014/main" id="{DB73E225-673D-4E90-A214-E3C95BAA753E}"/>
                </a:ext>
              </a:extLst>
            </p:cNvPr>
            <p:cNvSpPr txBox="1"/>
            <p:nvPr/>
          </p:nvSpPr>
          <p:spPr>
            <a:xfrm>
              <a:off x="5868144" y="3147814"/>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Write-down expense</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020131"/>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D&amp;A expense</a:t>
              </a:r>
            </a:p>
          </p:txBody>
        </p:sp>
      </p:grpSp>
      <p:sp>
        <p:nvSpPr>
          <p:cNvPr id="23" name="TextBox 22">
            <a:extLst>
              <a:ext uri="{FF2B5EF4-FFF2-40B4-BE49-F238E27FC236}">
                <a16:creationId xmlns:a16="http://schemas.microsoft.com/office/drawing/2014/main" id="{25884241-3D92-4857-AC0E-69D3109850A3}"/>
              </a:ext>
            </a:extLst>
          </p:cNvPr>
          <p:cNvSpPr txBox="1"/>
          <p:nvPr/>
        </p:nvSpPr>
        <p:spPr>
          <a:xfrm>
            <a:off x="146245" y="2491101"/>
            <a:ext cx="3934516" cy="91255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Operating expenses </a:t>
            </a:r>
            <a:r>
              <a:rPr lang="en-US" sz="2665" b="1" dirty="0"/>
              <a:t>by function</a:t>
            </a:r>
          </a:p>
        </p:txBody>
      </p:sp>
      <p:cxnSp>
        <p:nvCxnSpPr>
          <p:cNvPr id="26" name="Straight Arrow Connector 25">
            <a:extLst>
              <a:ext uri="{FF2B5EF4-FFF2-40B4-BE49-F238E27FC236}">
                <a16:creationId xmlns:a16="http://schemas.microsoft.com/office/drawing/2014/main" id="{248477C8-3A30-4D88-95D9-95C622FE5504}"/>
              </a:ext>
            </a:extLst>
          </p:cNvPr>
          <p:cNvCxnSpPr>
            <a:cxnSpLocks/>
            <a:stCxn id="25" idx="2"/>
            <a:endCxn id="23" idx="3"/>
          </p:cNvCxnSpPr>
          <p:nvPr/>
        </p:nvCxnSpPr>
        <p:spPr>
          <a:xfrm flipH="1">
            <a:off x="4080761" y="2289949"/>
            <a:ext cx="1727348" cy="6574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F0FB865-E94F-48EC-9F6F-E0B9137DCC32}"/>
              </a:ext>
            </a:extLst>
          </p:cNvPr>
          <p:cNvSpPr txBox="1"/>
          <p:nvPr/>
        </p:nvSpPr>
        <p:spPr>
          <a:xfrm>
            <a:off x="4656543" y="1787504"/>
            <a:ext cx="2303132" cy="50244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5" dirty="0"/>
              <a:t>Cost of sales</a:t>
            </a:r>
          </a:p>
        </p:txBody>
      </p:sp>
      <p:sp>
        <p:nvSpPr>
          <p:cNvPr id="2" name="TextBox 1">
            <a:extLst>
              <a:ext uri="{FF2B5EF4-FFF2-40B4-BE49-F238E27FC236}">
                <a16:creationId xmlns:a16="http://schemas.microsoft.com/office/drawing/2014/main" id="{D974BC0F-7816-40C3-B1EC-575C9A156850}"/>
              </a:ext>
            </a:extLst>
          </p:cNvPr>
          <p:cNvSpPr txBox="1"/>
          <p:nvPr/>
        </p:nvSpPr>
        <p:spPr>
          <a:xfrm>
            <a:off x="146245" y="3418584"/>
            <a:ext cx="6982995" cy="3415166"/>
          </a:xfrm>
          <a:prstGeom prst="rect">
            <a:avLst/>
          </a:prstGeom>
          <a:solidFill>
            <a:schemeClr val="bg1"/>
          </a:solidFill>
        </p:spPr>
        <p:txBody>
          <a:bodyPr wrap="square" rtlCol="0">
            <a:spAutoFit/>
          </a:bodyPr>
          <a:lstStyle/>
          <a:p>
            <a:r>
              <a:rPr lang="en-US" sz="2399" b="1" dirty="0"/>
              <a:t>Cost of sales (or cost of revenue): </a:t>
            </a:r>
          </a:p>
          <a:p>
            <a:pPr marL="321312" indent="-321312">
              <a:buFontTx/>
              <a:buChar char="-"/>
            </a:pPr>
            <a:r>
              <a:rPr lang="en-US" sz="2399" b="1" dirty="0"/>
              <a:t>Cost Of Goods Sold (COGS): </a:t>
            </a:r>
            <a:r>
              <a:rPr lang="en-US" sz="2399" dirty="0"/>
              <a:t>in a manufacturing company (i.e. manufacturing cost of products sold)</a:t>
            </a:r>
          </a:p>
          <a:p>
            <a:pPr marL="321312" indent="-321312">
              <a:buFontTx/>
              <a:buChar char="-"/>
            </a:pPr>
            <a:r>
              <a:rPr lang="en-US" sz="2399" b="1" dirty="0"/>
              <a:t>Cost Of Goods Sold (COGS): </a:t>
            </a:r>
            <a:r>
              <a:rPr lang="en-US" sz="2399" dirty="0"/>
              <a:t>in a merchandise company (i.e. purchase cost of merchandise sold)</a:t>
            </a:r>
          </a:p>
          <a:p>
            <a:pPr marL="321312" indent="-321312">
              <a:buFontTx/>
              <a:buChar char="-"/>
            </a:pPr>
            <a:r>
              <a:rPr lang="en-US" sz="2399" b="1" dirty="0"/>
              <a:t>Direct cost of services </a:t>
            </a:r>
            <a:r>
              <a:rPr lang="en-US" sz="2399" b="1" dirty="0" err="1"/>
              <a:t>rended</a:t>
            </a:r>
            <a:r>
              <a:rPr lang="en-US" sz="2399" dirty="0"/>
              <a:t>: in a service company</a:t>
            </a:r>
          </a:p>
        </p:txBody>
      </p:sp>
      <p:cxnSp>
        <p:nvCxnSpPr>
          <p:cNvPr id="27" name="Straight Arrow Connector 26">
            <a:extLst>
              <a:ext uri="{FF2B5EF4-FFF2-40B4-BE49-F238E27FC236}">
                <a16:creationId xmlns:a16="http://schemas.microsoft.com/office/drawing/2014/main" id="{67A580D2-30A7-4FF5-9CA5-04EEC8B5EB83}"/>
              </a:ext>
            </a:extLst>
          </p:cNvPr>
          <p:cNvCxnSpPr>
            <a:cxnSpLocks/>
            <a:stCxn id="10" idx="1"/>
            <a:endCxn id="25" idx="3"/>
          </p:cNvCxnSpPr>
          <p:nvPr/>
        </p:nvCxnSpPr>
        <p:spPr>
          <a:xfrm flipH="1">
            <a:off x="6959675" y="1035800"/>
            <a:ext cx="873424" cy="10029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7A08D3E-6446-4B72-9509-E8099F80BE10}"/>
              </a:ext>
            </a:extLst>
          </p:cNvPr>
          <p:cNvCxnSpPr>
            <a:cxnSpLocks/>
            <a:stCxn id="12" idx="1"/>
            <a:endCxn id="25" idx="3"/>
          </p:cNvCxnSpPr>
          <p:nvPr/>
        </p:nvCxnSpPr>
        <p:spPr>
          <a:xfrm flipH="1">
            <a:off x="6959675" y="1707546"/>
            <a:ext cx="873424" cy="3311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8851F36-AFC4-463F-8744-A7EB2BDBFDEA}"/>
              </a:ext>
            </a:extLst>
          </p:cNvPr>
          <p:cNvCxnSpPr>
            <a:cxnSpLocks/>
            <a:stCxn id="13" idx="1"/>
            <a:endCxn id="25" idx="3"/>
          </p:cNvCxnSpPr>
          <p:nvPr/>
        </p:nvCxnSpPr>
        <p:spPr>
          <a:xfrm flipH="1" flipV="1">
            <a:off x="6959675" y="2038727"/>
            <a:ext cx="873424" cy="3405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A8D529A-696F-447C-AEA7-24F7E25FE89A}"/>
              </a:ext>
            </a:extLst>
          </p:cNvPr>
          <p:cNvCxnSpPr>
            <a:cxnSpLocks/>
            <a:stCxn id="14" idx="1"/>
            <a:endCxn id="25" idx="3"/>
          </p:cNvCxnSpPr>
          <p:nvPr/>
        </p:nvCxnSpPr>
        <p:spPr>
          <a:xfrm flipH="1" flipV="1">
            <a:off x="6959675" y="2038727"/>
            <a:ext cx="873424" cy="10123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7E5EFE1-59A8-4756-84A6-72A675645CC7}"/>
              </a:ext>
            </a:extLst>
          </p:cNvPr>
          <p:cNvCxnSpPr>
            <a:cxnSpLocks/>
            <a:stCxn id="20" idx="1"/>
            <a:endCxn id="25" idx="3"/>
          </p:cNvCxnSpPr>
          <p:nvPr/>
        </p:nvCxnSpPr>
        <p:spPr>
          <a:xfrm flipH="1" flipV="1">
            <a:off x="6959675" y="2038727"/>
            <a:ext cx="863675" cy="35717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AE556A3-BD65-4A62-A481-800571F2C5E1}"/>
              </a:ext>
            </a:extLst>
          </p:cNvPr>
          <p:cNvCxnSpPr>
            <a:cxnSpLocks/>
            <a:stCxn id="18" idx="1"/>
            <a:endCxn id="25" idx="3"/>
          </p:cNvCxnSpPr>
          <p:nvPr/>
        </p:nvCxnSpPr>
        <p:spPr>
          <a:xfrm flipH="1" flipV="1">
            <a:off x="6959675" y="2038727"/>
            <a:ext cx="863675" cy="24092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CAE7115-12DC-E0D1-7F5F-2762EA248601}"/>
              </a:ext>
            </a:extLst>
          </p:cNvPr>
          <p:cNvSpPr txBox="1"/>
          <p:nvPr/>
        </p:nvSpPr>
        <p:spPr>
          <a:xfrm>
            <a:off x="7530860" y="5913058"/>
            <a:ext cx="4661139" cy="50244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5" dirty="0"/>
              <a:t>(recurring) Operating income</a:t>
            </a:r>
          </a:p>
        </p:txBody>
      </p:sp>
    </p:spTree>
    <p:extLst>
      <p:ext uri="{BB962C8B-B14F-4D97-AF65-F5344CB8AC3E}">
        <p14:creationId xmlns:p14="http://schemas.microsoft.com/office/powerpoint/2010/main" val="3342558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7205" y="456630"/>
            <a:ext cx="1780243" cy="633377"/>
          </a:xfrm>
        </p:spPr>
        <p:txBody>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S,G&amp;A expense</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26</a:t>
            </a:fld>
            <a:endParaRPr lang="fr-FR" dirty="0"/>
          </a:p>
        </p:txBody>
      </p:sp>
      <p:grpSp>
        <p:nvGrpSpPr>
          <p:cNvPr id="21" name="Group 20">
            <a:extLst>
              <a:ext uri="{FF2B5EF4-FFF2-40B4-BE49-F238E27FC236}">
                <a16:creationId xmlns:a16="http://schemas.microsoft.com/office/drawing/2014/main" id="{FF6E7EC9-1153-4C51-B963-6E088FF993B9}"/>
              </a:ext>
            </a:extLst>
          </p:cNvPr>
          <p:cNvGrpSpPr/>
          <p:nvPr/>
        </p:nvGrpSpPr>
        <p:grpSpPr>
          <a:xfrm>
            <a:off x="7662672" y="70267"/>
            <a:ext cx="4539830" cy="6644130"/>
            <a:chOff x="5761329" y="51470"/>
            <a:chExt cx="3271049" cy="4985530"/>
          </a:xfrm>
        </p:grpSpPr>
        <p:grpSp>
          <p:nvGrpSpPr>
            <p:cNvPr id="17" name="Group 16">
              <a:extLst>
                <a:ext uri="{FF2B5EF4-FFF2-40B4-BE49-F238E27FC236}">
                  <a16:creationId xmlns:a16="http://schemas.microsoft.com/office/drawing/2014/main" id="{73EA884A-7CD5-4471-A28A-1344E936730B}"/>
                </a:ext>
              </a:extLst>
            </p:cNvPr>
            <p:cNvGrpSpPr/>
            <p:nvPr/>
          </p:nvGrpSpPr>
          <p:grpSpPr>
            <a:xfrm>
              <a:off x="5875459" y="51470"/>
              <a:ext cx="2952328" cy="2946620"/>
              <a:chOff x="827584" y="1419622"/>
              <a:chExt cx="2952328" cy="2946620"/>
            </a:xfrm>
          </p:grpSpPr>
          <p:sp>
            <p:nvSpPr>
              <p:cNvPr id="8" name="TextBox 7">
                <a:extLst>
                  <a:ext uri="{FF2B5EF4-FFF2-40B4-BE49-F238E27FC236}">
                    <a16:creationId xmlns:a16="http://schemas.microsoft.com/office/drawing/2014/main" id="{73F09643-F02C-40C5-A6CB-1CF44A1CA87A}"/>
                  </a:ext>
                </a:extLst>
              </p:cNvPr>
              <p:cNvSpPr txBox="1"/>
              <p:nvPr/>
            </p:nvSpPr>
            <p:spPr>
              <a:xfrm>
                <a:off x="827584" y="1419622"/>
                <a:ext cx="2952328" cy="68475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5" dirty="0"/>
                  <a:t>Sales revenue or turnover</a:t>
                </a:r>
              </a:p>
            </p:txBody>
          </p:sp>
          <p:sp>
            <p:nvSpPr>
              <p:cNvPr id="10" name="TextBox 9">
                <a:extLst>
                  <a:ext uri="{FF2B5EF4-FFF2-40B4-BE49-F238E27FC236}">
                    <a16:creationId xmlns:a16="http://schemas.microsoft.com/office/drawing/2014/main" id="{C2995341-7A97-4599-B91E-C972C119B062}"/>
                  </a:ext>
                </a:extLst>
              </p:cNvPr>
              <p:cNvSpPr txBox="1"/>
              <p:nvPr/>
            </p:nvSpPr>
            <p:spPr>
              <a:xfrm>
                <a:off x="827584" y="1955616"/>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Raw Material expense</a:t>
                </a:r>
              </a:p>
            </p:txBody>
          </p:sp>
          <p:sp>
            <p:nvSpPr>
              <p:cNvPr id="12" name="TextBox 11">
                <a:extLst>
                  <a:ext uri="{FF2B5EF4-FFF2-40B4-BE49-F238E27FC236}">
                    <a16:creationId xmlns:a16="http://schemas.microsoft.com/office/drawing/2014/main" id="{DD34F331-404D-4A0E-A4ED-E5E1F752B319}"/>
                  </a:ext>
                </a:extLst>
              </p:cNvPr>
              <p:cNvSpPr txBox="1"/>
              <p:nvPr/>
            </p:nvSpPr>
            <p:spPr>
              <a:xfrm>
                <a:off x="827584" y="2459672"/>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Employee expense</a:t>
                </a:r>
              </a:p>
            </p:txBody>
          </p:sp>
          <p:sp>
            <p:nvSpPr>
              <p:cNvPr id="13" name="TextBox 12">
                <a:extLst>
                  <a:ext uri="{FF2B5EF4-FFF2-40B4-BE49-F238E27FC236}">
                    <a16:creationId xmlns:a16="http://schemas.microsoft.com/office/drawing/2014/main" id="{F174924C-E254-427F-93DB-5AB06E741756}"/>
                  </a:ext>
                </a:extLst>
              </p:cNvPr>
              <p:cNvSpPr txBox="1"/>
              <p:nvPr/>
            </p:nvSpPr>
            <p:spPr>
              <a:xfrm>
                <a:off x="827584" y="2963728"/>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Rent expense</a:t>
                </a:r>
              </a:p>
            </p:txBody>
          </p:sp>
          <p:sp>
            <p:nvSpPr>
              <p:cNvPr id="14" name="TextBox 13">
                <a:extLst>
                  <a:ext uri="{FF2B5EF4-FFF2-40B4-BE49-F238E27FC236}">
                    <a16:creationId xmlns:a16="http://schemas.microsoft.com/office/drawing/2014/main" id="{827DB32C-F0AF-46EB-8633-12C6A8F56CCB}"/>
                  </a:ext>
                </a:extLst>
              </p:cNvPr>
              <p:cNvSpPr txBox="1"/>
              <p:nvPr/>
            </p:nvSpPr>
            <p:spPr>
              <a:xfrm>
                <a:off x="827584" y="3467784"/>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Other external services</a:t>
                </a:r>
              </a:p>
            </p:txBody>
          </p:sp>
          <p:sp>
            <p:nvSpPr>
              <p:cNvPr id="15" name="TextBox 14">
                <a:extLst>
                  <a:ext uri="{FF2B5EF4-FFF2-40B4-BE49-F238E27FC236}">
                    <a16:creationId xmlns:a16="http://schemas.microsoft.com/office/drawing/2014/main" id="{8DD85206-33EB-4773-BBCB-BAB6BD3EAFFE}"/>
                  </a:ext>
                </a:extLst>
              </p:cNvPr>
              <p:cNvSpPr txBox="1"/>
              <p:nvPr/>
            </p:nvSpPr>
            <p:spPr>
              <a:xfrm>
                <a:off x="827584" y="3989224"/>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Bad debt expense</a:t>
                </a:r>
              </a:p>
            </p:txBody>
          </p:sp>
        </p:grpSp>
        <p:sp>
          <p:nvSpPr>
            <p:cNvPr id="16" name="TextBox 15">
              <a:extLst>
                <a:ext uri="{FF2B5EF4-FFF2-40B4-BE49-F238E27FC236}">
                  <a16:creationId xmlns:a16="http://schemas.microsoft.com/office/drawing/2014/main" id="{0C53703C-B4B7-41B3-A397-A0CD320927B5}"/>
                </a:ext>
              </a:extLst>
            </p:cNvPr>
            <p:cNvSpPr txBox="1"/>
            <p:nvPr/>
          </p:nvSpPr>
          <p:spPr>
            <a:xfrm>
              <a:off x="5761329" y="4659982"/>
              <a:ext cx="3271049" cy="3770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5" dirty="0"/>
                <a:t>(recurring) Operating income</a:t>
              </a:r>
            </a:p>
          </p:txBody>
        </p:sp>
        <p:sp>
          <p:nvSpPr>
            <p:cNvPr id="18" name="TextBox 17">
              <a:extLst>
                <a:ext uri="{FF2B5EF4-FFF2-40B4-BE49-F238E27FC236}">
                  <a16:creationId xmlns:a16="http://schemas.microsoft.com/office/drawing/2014/main" id="{DB73E225-673D-4E90-A214-E3C95BAA753E}"/>
                </a:ext>
              </a:extLst>
            </p:cNvPr>
            <p:cNvSpPr txBox="1"/>
            <p:nvPr/>
          </p:nvSpPr>
          <p:spPr>
            <a:xfrm>
              <a:off x="5868144" y="3147814"/>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Write-down expense</a:t>
              </a:r>
            </a:p>
          </p:txBody>
        </p:sp>
        <p:sp>
          <p:nvSpPr>
            <p:cNvPr id="20" name="TextBox 19">
              <a:extLst>
                <a:ext uri="{FF2B5EF4-FFF2-40B4-BE49-F238E27FC236}">
                  <a16:creationId xmlns:a16="http://schemas.microsoft.com/office/drawing/2014/main" id="{EE417485-69E9-4CB8-B496-E285AD35E2E5}"/>
                </a:ext>
              </a:extLst>
            </p:cNvPr>
            <p:cNvSpPr txBox="1"/>
            <p:nvPr/>
          </p:nvSpPr>
          <p:spPr>
            <a:xfrm>
              <a:off x="5868144" y="4155926"/>
              <a:ext cx="2952328" cy="3770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D&amp;A expense</a:t>
              </a:r>
            </a:p>
          </p:txBody>
        </p:sp>
      </p:grpSp>
      <p:sp>
        <p:nvSpPr>
          <p:cNvPr id="23" name="TextBox 22">
            <a:extLst>
              <a:ext uri="{FF2B5EF4-FFF2-40B4-BE49-F238E27FC236}">
                <a16:creationId xmlns:a16="http://schemas.microsoft.com/office/drawing/2014/main" id="{25884241-3D92-4857-AC0E-69D3109850A3}"/>
              </a:ext>
            </a:extLst>
          </p:cNvPr>
          <p:cNvSpPr txBox="1"/>
          <p:nvPr/>
        </p:nvSpPr>
        <p:spPr>
          <a:xfrm>
            <a:off x="146245" y="3675222"/>
            <a:ext cx="3934516" cy="91255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665" dirty="0"/>
              <a:t>Operating expenses </a:t>
            </a:r>
            <a:r>
              <a:rPr lang="en-US" sz="2665" b="1" dirty="0"/>
              <a:t>by function</a:t>
            </a:r>
          </a:p>
        </p:txBody>
      </p:sp>
      <p:sp>
        <p:nvSpPr>
          <p:cNvPr id="28" name="TextBox 27">
            <a:extLst>
              <a:ext uri="{FF2B5EF4-FFF2-40B4-BE49-F238E27FC236}">
                <a16:creationId xmlns:a16="http://schemas.microsoft.com/office/drawing/2014/main" id="{C5AF5EB4-A97C-4D29-A030-B8E107F12662}"/>
              </a:ext>
            </a:extLst>
          </p:cNvPr>
          <p:cNvSpPr txBox="1"/>
          <p:nvPr/>
        </p:nvSpPr>
        <p:spPr>
          <a:xfrm>
            <a:off x="4646534" y="4317955"/>
            <a:ext cx="2303132" cy="91255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5" dirty="0"/>
              <a:t>S,G&amp;A expense</a:t>
            </a:r>
          </a:p>
        </p:txBody>
      </p:sp>
      <p:cxnSp>
        <p:nvCxnSpPr>
          <p:cNvPr id="30" name="Straight Arrow Connector 29">
            <a:extLst>
              <a:ext uri="{FF2B5EF4-FFF2-40B4-BE49-F238E27FC236}">
                <a16:creationId xmlns:a16="http://schemas.microsoft.com/office/drawing/2014/main" id="{9D2B92E6-C5AE-48A8-9B3C-29A290C62B9E}"/>
              </a:ext>
            </a:extLst>
          </p:cNvPr>
          <p:cNvCxnSpPr>
            <a:cxnSpLocks/>
            <a:stCxn id="28" idx="0"/>
            <a:endCxn id="23" idx="3"/>
          </p:cNvCxnSpPr>
          <p:nvPr/>
        </p:nvCxnSpPr>
        <p:spPr>
          <a:xfrm flipH="1" flipV="1">
            <a:off x="4080761" y="4131501"/>
            <a:ext cx="1717339" cy="1864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74BC0F-7816-40C3-B1EC-575C9A156850}"/>
              </a:ext>
            </a:extLst>
          </p:cNvPr>
          <p:cNvSpPr txBox="1"/>
          <p:nvPr/>
        </p:nvSpPr>
        <p:spPr>
          <a:xfrm>
            <a:off x="487030" y="1611391"/>
            <a:ext cx="7005359" cy="1938351"/>
          </a:xfrm>
          <a:prstGeom prst="rect">
            <a:avLst/>
          </a:prstGeom>
          <a:solidFill>
            <a:schemeClr val="bg1"/>
          </a:solidFill>
        </p:spPr>
        <p:txBody>
          <a:bodyPr wrap="square" rtlCol="0">
            <a:spAutoFit/>
          </a:bodyPr>
          <a:lstStyle/>
          <a:p>
            <a:r>
              <a:rPr lang="en-US" sz="2399" b="1" dirty="0"/>
              <a:t>S,G&amp;A</a:t>
            </a:r>
            <a:r>
              <a:rPr lang="en-US" sz="2399" dirty="0"/>
              <a:t>: Selling, General and </a:t>
            </a:r>
            <a:r>
              <a:rPr lang="en-US" sz="2399" dirty="0" err="1"/>
              <a:t>Administrive</a:t>
            </a:r>
            <a:endParaRPr lang="en-US" sz="2399" dirty="0"/>
          </a:p>
          <a:p>
            <a:r>
              <a:rPr lang="en-US" sz="2399" dirty="0"/>
              <a:t>All the other operating expenses than COGS. It means commercial, administrative and R&amp;D expenses (expenses directly in function of sales volume)</a:t>
            </a:r>
          </a:p>
        </p:txBody>
      </p:sp>
      <p:cxnSp>
        <p:nvCxnSpPr>
          <p:cNvPr id="27" name="Straight Arrow Connector 26">
            <a:extLst>
              <a:ext uri="{FF2B5EF4-FFF2-40B4-BE49-F238E27FC236}">
                <a16:creationId xmlns:a16="http://schemas.microsoft.com/office/drawing/2014/main" id="{F560E06A-6BFA-4C5C-AEE7-6CAA6303CC94}"/>
              </a:ext>
            </a:extLst>
          </p:cNvPr>
          <p:cNvCxnSpPr>
            <a:cxnSpLocks/>
            <a:endCxn id="28" idx="3"/>
          </p:cNvCxnSpPr>
          <p:nvPr/>
        </p:nvCxnSpPr>
        <p:spPr>
          <a:xfrm flipH="1">
            <a:off x="6949666" y="1722934"/>
            <a:ext cx="883434" cy="3051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E4885C7-738E-4878-8496-50DEE2E53112}"/>
              </a:ext>
            </a:extLst>
          </p:cNvPr>
          <p:cNvCxnSpPr>
            <a:cxnSpLocks/>
            <a:endCxn id="28" idx="3"/>
          </p:cNvCxnSpPr>
          <p:nvPr/>
        </p:nvCxnSpPr>
        <p:spPr>
          <a:xfrm flipH="1">
            <a:off x="6949666" y="2394681"/>
            <a:ext cx="883434" cy="23795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6ADA90C-8C39-4B78-8788-4394541E2DB0}"/>
              </a:ext>
            </a:extLst>
          </p:cNvPr>
          <p:cNvCxnSpPr>
            <a:cxnSpLocks/>
            <a:endCxn id="28" idx="3"/>
          </p:cNvCxnSpPr>
          <p:nvPr/>
        </p:nvCxnSpPr>
        <p:spPr>
          <a:xfrm flipH="1">
            <a:off x="6949666" y="3066427"/>
            <a:ext cx="883434" cy="17078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8679F7C-4EEA-4185-80D9-7D7F25349289}"/>
              </a:ext>
            </a:extLst>
          </p:cNvPr>
          <p:cNvCxnSpPr>
            <a:cxnSpLocks/>
            <a:endCxn id="28" idx="3"/>
          </p:cNvCxnSpPr>
          <p:nvPr/>
        </p:nvCxnSpPr>
        <p:spPr>
          <a:xfrm flipH="1" flipV="1">
            <a:off x="6949666" y="4774234"/>
            <a:ext cx="873682" cy="1032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46BD321-18AB-4ACF-9DC7-EB0D77CD76AD}"/>
              </a:ext>
            </a:extLst>
          </p:cNvPr>
          <p:cNvCxnSpPr>
            <a:cxnSpLocks/>
            <a:stCxn id="15" idx="1"/>
            <a:endCxn id="28" idx="3"/>
          </p:cNvCxnSpPr>
          <p:nvPr/>
        </p:nvCxnSpPr>
        <p:spPr>
          <a:xfrm flipH="1">
            <a:off x="6949666" y="3745955"/>
            <a:ext cx="871405" cy="10282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265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99DEAD-BA0C-4F49-A218-CC0477D5AAFD}"/>
              </a:ext>
            </a:extLst>
          </p:cNvPr>
          <p:cNvSpPr>
            <a:spLocks noGrp="1"/>
          </p:cNvSpPr>
          <p:nvPr>
            <p:ph type="title"/>
          </p:nvPr>
        </p:nvSpPr>
        <p:spPr>
          <a:xfrm>
            <a:off x="477205" y="413500"/>
            <a:ext cx="1780243" cy="633377"/>
          </a:xfrm>
        </p:spPr>
        <p:txBody>
          <a:bodyPr/>
          <a:lstStyle/>
          <a:p>
            <a:r>
              <a:rPr lang="en-US" dirty="0"/>
              <a:t>P&amp;L</a:t>
            </a:r>
          </a:p>
        </p:txBody>
      </p:sp>
      <p:sp>
        <p:nvSpPr>
          <p:cNvPr id="4" name="Subtitle 3">
            <a:extLst>
              <a:ext uri="{FF2B5EF4-FFF2-40B4-BE49-F238E27FC236}">
                <a16:creationId xmlns:a16="http://schemas.microsoft.com/office/drawing/2014/main" id="{3A87F1D8-FF27-4F4D-AF92-1267032C07F0}"/>
              </a:ext>
            </a:extLst>
          </p:cNvPr>
          <p:cNvSpPr>
            <a:spLocks noGrp="1"/>
          </p:cNvSpPr>
          <p:nvPr>
            <p:ph type="subTitle" idx="13"/>
          </p:nvPr>
        </p:nvSpPr>
        <p:spPr/>
        <p:txBody>
          <a:bodyPr/>
          <a:lstStyle/>
          <a:p>
            <a:r>
              <a:rPr lang="en-US" dirty="0"/>
              <a:t>Cost of sales and inventories</a:t>
            </a:r>
          </a:p>
        </p:txBody>
      </p:sp>
      <p:sp>
        <p:nvSpPr>
          <p:cNvPr id="5" name="Slide Number Placeholder 4">
            <a:extLst>
              <a:ext uri="{FF2B5EF4-FFF2-40B4-BE49-F238E27FC236}">
                <a16:creationId xmlns:a16="http://schemas.microsoft.com/office/drawing/2014/main" id="{5654C81E-6BB5-4C2C-940A-CA4009B24C69}"/>
              </a:ext>
            </a:extLst>
          </p:cNvPr>
          <p:cNvSpPr>
            <a:spLocks noGrp="1"/>
          </p:cNvSpPr>
          <p:nvPr>
            <p:ph type="sldNum" sz="quarter" idx="12"/>
          </p:nvPr>
        </p:nvSpPr>
        <p:spPr/>
        <p:txBody>
          <a:bodyPr/>
          <a:lstStyle/>
          <a:p>
            <a:fld id="{307C7597-8D70-4701-8085-9524B0B5C72B}" type="slidenum">
              <a:rPr lang="fr-FR" smtClean="0"/>
              <a:pPr/>
              <a:t>27</a:t>
            </a:fld>
            <a:endParaRPr lang="fr-FR" dirty="0"/>
          </a:p>
        </p:txBody>
      </p:sp>
      <p:sp>
        <p:nvSpPr>
          <p:cNvPr id="25" name="TextBox 24">
            <a:extLst>
              <a:ext uri="{FF2B5EF4-FFF2-40B4-BE49-F238E27FC236}">
                <a16:creationId xmlns:a16="http://schemas.microsoft.com/office/drawing/2014/main" id="{BF0FB865-E94F-48EC-9F6F-E0B9137DCC32}"/>
              </a:ext>
            </a:extLst>
          </p:cNvPr>
          <p:cNvSpPr txBox="1"/>
          <p:nvPr/>
        </p:nvSpPr>
        <p:spPr>
          <a:xfrm>
            <a:off x="4656543" y="1387454"/>
            <a:ext cx="2303132" cy="50244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5" dirty="0"/>
              <a:t>Cost of sales</a:t>
            </a:r>
          </a:p>
        </p:txBody>
      </p:sp>
      <p:sp>
        <p:nvSpPr>
          <p:cNvPr id="2" name="Arrow: Left 1">
            <a:extLst>
              <a:ext uri="{FF2B5EF4-FFF2-40B4-BE49-F238E27FC236}">
                <a16:creationId xmlns:a16="http://schemas.microsoft.com/office/drawing/2014/main" id="{AAB7C6DC-0EEE-4A15-B2BB-047D400FD91C}"/>
              </a:ext>
            </a:extLst>
          </p:cNvPr>
          <p:cNvSpPr/>
          <p:nvPr/>
        </p:nvSpPr>
        <p:spPr>
          <a:xfrm>
            <a:off x="7247566" y="1432960"/>
            <a:ext cx="767711" cy="3838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4" name="TextBox 23">
            <a:extLst>
              <a:ext uri="{FF2B5EF4-FFF2-40B4-BE49-F238E27FC236}">
                <a16:creationId xmlns:a16="http://schemas.microsoft.com/office/drawing/2014/main" id="{17AE7A0C-FD4C-49F3-80B0-0D0119A1CE30}"/>
              </a:ext>
            </a:extLst>
          </p:cNvPr>
          <p:cNvSpPr txBox="1"/>
          <p:nvPr/>
        </p:nvSpPr>
        <p:spPr>
          <a:xfrm>
            <a:off x="8303168" y="166231"/>
            <a:ext cx="3550661" cy="624401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665" b="1" dirty="0"/>
              <a:t>COGS</a:t>
            </a:r>
            <a:r>
              <a:rPr lang="en-US" sz="2665" dirty="0"/>
              <a:t> = manufacturing cost of what is sold = </a:t>
            </a:r>
            <a:r>
              <a:rPr lang="en-US" sz="2665" b="1" dirty="0"/>
              <a:t>COGM</a:t>
            </a:r>
            <a:r>
              <a:rPr lang="en-US" sz="2665" dirty="0"/>
              <a:t> (manufacturing cost of the period)</a:t>
            </a:r>
            <a:r>
              <a:rPr lang="en-US" sz="2665" b="1" dirty="0"/>
              <a:t> – </a:t>
            </a:r>
            <a:r>
              <a:rPr lang="en-US" sz="2665" dirty="0"/>
              <a:t>What is produced during the period but not sold (</a:t>
            </a:r>
            <a:r>
              <a:rPr lang="en-US" sz="2665" b="1" dirty="0"/>
              <a:t>Ending Finished Goods (FG) inventory</a:t>
            </a:r>
            <a:r>
              <a:rPr lang="en-US" sz="2665" dirty="0"/>
              <a:t>) </a:t>
            </a:r>
            <a:r>
              <a:rPr lang="en-US" sz="2665" b="1" dirty="0"/>
              <a:t>+</a:t>
            </a:r>
            <a:r>
              <a:rPr lang="en-US" sz="2665" dirty="0"/>
              <a:t> What is produced during previous periods and sold during the period (</a:t>
            </a:r>
            <a:r>
              <a:rPr lang="en-US" sz="2665" b="1" dirty="0"/>
              <a:t>Opening FG inventory</a:t>
            </a:r>
            <a:r>
              <a:rPr lang="en-US" sz="2665" dirty="0"/>
              <a:t>)</a:t>
            </a:r>
          </a:p>
        </p:txBody>
      </p:sp>
      <p:sp>
        <p:nvSpPr>
          <p:cNvPr id="6" name="TextBox 5"/>
          <p:cNvSpPr txBox="1"/>
          <p:nvPr/>
        </p:nvSpPr>
        <p:spPr>
          <a:xfrm>
            <a:off x="151731" y="5441652"/>
            <a:ext cx="8052927" cy="1292662"/>
          </a:xfrm>
          <a:prstGeom prst="rect">
            <a:avLst/>
          </a:prstGeom>
          <a:noFill/>
        </p:spPr>
        <p:txBody>
          <a:bodyPr wrap="square" rtlCol="0">
            <a:spAutoFit/>
          </a:bodyPr>
          <a:lstStyle/>
          <a:p>
            <a:r>
              <a:rPr lang="fr-FR" sz="2600" dirty="0" err="1"/>
              <a:t>Cost</a:t>
            </a:r>
            <a:r>
              <a:rPr lang="fr-FR" sz="2600" dirty="0"/>
              <a:t> of sales = </a:t>
            </a:r>
            <a:r>
              <a:rPr lang="fr-FR" sz="2600" dirty="0" err="1"/>
              <a:t>Cost</a:t>
            </a:r>
            <a:r>
              <a:rPr lang="fr-FR" sz="2600" dirty="0"/>
              <a:t> of </a:t>
            </a:r>
            <a:r>
              <a:rPr lang="fr-FR" sz="2600" dirty="0" err="1"/>
              <a:t>goods</a:t>
            </a:r>
            <a:r>
              <a:rPr lang="fr-FR" sz="2600" dirty="0"/>
              <a:t> </a:t>
            </a:r>
            <a:r>
              <a:rPr lang="fr-FR" sz="2600" dirty="0" err="1"/>
              <a:t>sold</a:t>
            </a:r>
            <a:r>
              <a:rPr lang="fr-FR" sz="2600" dirty="0"/>
              <a:t> (i.e. </a:t>
            </a:r>
            <a:r>
              <a:rPr lang="fr-FR" sz="2600" dirty="0" err="1"/>
              <a:t>manufacturing</a:t>
            </a:r>
            <a:r>
              <a:rPr lang="fr-FR" sz="2600" dirty="0"/>
              <a:t> </a:t>
            </a:r>
            <a:r>
              <a:rPr lang="fr-FR" sz="2600" dirty="0" err="1"/>
              <a:t>cost</a:t>
            </a:r>
            <a:r>
              <a:rPr lang="fr-FR" sz="2600" dirty="0"/>
              <a:t> of </a:t>
            </a:r>
            <a:r>
              <a:rPr lang="fr-FR" sz="2600" dirty="0" err="1"/>
              <a:t>products</a:t>
            </a:r>
            <a:r>
              <a:rPr lang="fr-FR" sz="2600" dirty="0"/>
              <a:t> </a:t>
            </a:r>
            <a:r>
              <a:rPr lang="fr-FR" sz="2600" dirty="0" err="1"/>
              <a:t>sold</a:t>
            </a:r>
            <a:r>
              <a:rPr lang="fr-FR" sz="2600" dirty="0"/>
              <a:t> + </a:t>
            </a:r>
            <a:r>
              <a:rPr lang="fr-FR" sz="2600" dirty="0" err="1"/>
              <a:t>cost</a:t>
            </a:r>
            <a:r>
              <a:rPr lang="fr-FR" sz="2600" dirty="0"/>
              <a:t> of </a:t>
            </a:r>
            <a:r>
              <a:rPr lang="fr-FR" sz="2600" dirty="0" err="1"/>
              <a:t>merchandise</a:t>
            </a:r>
            <a:r>
              <a:rPr lang="fr-FR" sz="2600" dirty="0"/>
              <a:t> </a:t>
            </a:r>
            <a:r>
              <a:rPr lang="fr-FR" sz="2600" dirty="0" err="1"/>
              <a:t>sold</a:t>
            </a:r>
            <a:r>
              <a:rPr lang="fr-FR" sz="2600" dirty="0"/>
              <a:t>) + Direct </a:t>
            </a:r>
            <a:r>
              <a:rPr lang="fr-FR" sz="2600" dirty="0" err="1"/>
              <a:t>cost</a:t>
            </a:r>
            <a:r>
              <a:rPr lang="fr-FR" sz="2600" dirty="0"/>
              <a:t> of services </a:t>
            </a:r>
            <a:r>
              <a:rPr lang="fr-FR" sz="2600" dirty="0" err="1"/>
              <a:t>rendered</a:t>
            </a:r>
            <a:endParaRPr lang="fr-FR" sz="2600" dirty="0"/>
          </a:p>
        </p:txBody>
      </p:sp>
      <p:sp>
        <p:nvSpPr>
          <p:cNvPr id="14" name="TextBox 13">
            <a:extLst>
              <a:ext uri="{FF2B5EF4-FFF2-40B4-BE49-F238E27FC236}">
                <a16:creationId xmlns:a16="http://schemas.microsoft.com/office/drawing/2014/main" id="{718BAA2F-F027-4F87-8C87-4EBE5A7A92DC}"/>
              </a:ext>
            </a:extLst>
          </p:cNvPr>
          <p:cNvSpPr txBox="1"/>
          <p:nvPr/>
        </p:nvSpPr>
        <p:spPr>
          <a:xfrm>
            <a:off x="151731" y="2300678"/>
            <a:ext cx="7765036" cy="296311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665" b="1" dirty="0"/>
              <a:t>COGS</a:t>
            </a:r>
            <a:r>
              <a:rPr lang="en-US" sz="2665" dirty="0"/>
              <a:t> = purchase cost of merchandise sold = </a:t>
            </a:r>
            <a:r>
              <a:rPr lang="en-US" sz="2665" b="1" dirty="0"/>
              <a:t>Purchase cost of merchandise purchased</a:t>
            </a:r>
            <a:r>
              <a:rPr lang="en-US" sz="2665" dirty="0"/>
              <a:t> (purchase cost of the period)</a:t>
            </a:r>
            <a:r>
              <a:rPr lang="en-US" sz="2665" b="1" dirty="0"/>
              <a:t> – </a:t>
            </a:r>
            <a:r>
              <a:rPr lang="en-US" sz="2665" dirty="0"/>
              <a:t>What is purchased during the period but not sold (</a:t>
            </a:r>
            <a:r>
              <a:rPr lang="en-US" sz="2665" b="1" dirty="0"/>
              <a:t>Ending Finished merchandise inventory</a:t>
            </a:r>
            <a:r>
              <a:rPr lang="en-US" sz="2665" dirty="0"/>
              <a:t>) </a:t>
            </a:r>
            <a:r>
              <a:rPr lang="en-US" sz="2665" b="1" dirty="0"/>
              <a:t>+</a:t>
            </a:r>
            <a:r>
              <a:rPr lang="en-US" sz="2665" dirty="0"/>
              <a:t> What is purchased during previous periods and sold during the period (</a:t>
            </a:r>
            <a:r>
              <a:rPr lang="en-US" sz="2665" b="1" dirty="0"/>
              <a:t>Opening merchandise inventory</a:t>
            </a:r>
            <a:r>
              <a:rPr lang="en-US" sz="2665" dirty="0"/>
              <a:t>)</a:t>
            </a:r>
          </a:p>
        </p:txBody>
      </p:sp>
      <p:sp>
        <p:nvSpPr>
          <p:cNvPr id="15" name="Arrow: Left 14">
            <a:extLst>
              <a:ext uri="{FF2B5EF4-FFF2-40B4-BE49-F238E27FC236}">
                <a16:creationId xmlns:a16="http://schemas.microsoft.com/office/drawing/2014/main" id="{AECB9DEC-0E31-47AB-92A5-1FAC4651087E}"/>
              </a:ext>
            </a:extLst>
          </p:cNvPr>
          <p:cNvSpPr/>
          <p:nvPr/>
        </p:nvSpPr>
        <p:spPr>
          <a:xfrm rot="9148118">
            <a:off x="3784961" y="1769837"/>
            <a:ext cx="767711" cy="3838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Tree>
    <p:extLst>
      <p:ext uri="{BB962C8B-B14F-4D97-AF65-F5344CB8AC3E}">
        <p14:creationId xmlns:p14="http://schemas.microsoft.com/office/powerpoint/2010/main" val="2791732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4F08D6-A842-B280-48A9-37BE323BF5D7}"/>
              </a:ext>
            </a:extLst>
          </p:cNvPr>
          <p:cNvSpPr>
            <a:spLocks noGrp="1"/>
          </p:cNvSpPr>
          <p:nvPr>
            <p:ph type="sldNum" sz="quarter" idx="10"/>
          </p:nvPr>
        </p:nvSpPr>
        <p:spPr/>
        <p:txBody>
          <a:bodyPr/>
          <a:lstStyle/>
          <a:p>
            <a:fld id="{421B1A79-1F45-8F4F-AED5-0EE30DCF0380}" type="slidenum">
              <a:rPr lang="fr-FR" smtClean="0"/>
              <a:t>28</a:t>
            </a:fld>
            <a:endParaRPr lang="fr-FR"/>
          </a:p>
        </p:txBody>
      </p:sp>
      <p:pic>
        <p:nvPicPr>
          <p:cNvPr id="5" name="Picture 4">
            <a:extLst>
              <a:ext uri="{FF2B5EF4-FFF2-40B4-BE49-F238E27FC236}">
                <a16:creationId xmlns:a16="http://schemas.microsoft.com/office/drawing/2014/main" id="{49B8189B-8403-0F33-3A34-AE3B792FF554}"/>
              </a:ext>
            </a:extLst>
          </p:cNvPr>
          <p:cNvPicPr>
            <a:picLocks noChangeAspect="1"/>
          </p:cNvPicPr>
          <p:nvPr/>
        </p:nvPicPr>
        <p:blipFill>
          <a:blip r:embed="rId2"/>
          <a:stretch>
            <a:fillRect/>
          </a:stretch>
        </p:blipFill>
        <p:spPr>
          <a:xfrm>
            <a:off x="67224" y="268477"/>
            <a:ext cx="4337711" cy="1291847"/>
          </a:xfrm>
          <a:prstGeom prst="rect">
            <a:avLst/>
          </a:prstGeom>
        </p:spPr>
      </p:pic>
      <p:sp>
        <p:nvSpPr>
          <p:cNvPr id="7" name="Left Brace 6">
            <a:extLst>
              <a:ext uri="{FF2B5EF4-FFF2-40B4-BE49-F238E27FC236}">
                <a16:creationId xmlns:a16="http://schemas.microsoft.com/office/drawing/2014/main" id="{3B4D0F11-0001-99D6-CCC3-E2867BD6029F}"/>
              </a:ext>
            </a:extLst>
          </p:cNvPr>
          <p:cNvSpPr/>
          <p:nvPr/>
        </p:nvSpPr>
        <p:spPr>
          <a:xfrm>
            <a:off x="4342381" y="1828800"/>
            <a:ext cx="270714" cy="616018"/>
          </a:xfrm>
          <a:prstGeom prst="leftBrace">
            <a:avLst>
              <a:gd name="adj1" fmla="val 25574"/>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D6E7E7C-D10F-EC25-1147-95890F0FD073}"/>
              </a:ext>
            </a:extLst>
          </p:cNvPr>
          <p:cNvSpPr txBox="1"/>
          <p:nvPr/>
        </p:nvSpPr>
        <p:spPr>
          <a:xfrm>
            <a:off x="921686" y="1984877"/>
            <a:ext cx="3400148" cy="369332"/>
          </a:xfrm>
          <a:prstGeom prst="rect">
            <a:avLst/>
          </a:prstGeom>
          <a:noFill/>
        </p:spPr>
        <p:txBody>
          <a:bodyPr wrap="square" rtlCol="0">
            <a:spAutoFit/>
          </a:bodyPr>
          <a:lstStyle/>
          <a:p>
            <a:r>
              <a:rPr lang="en-US" dirty="0"/>
              <a:t>Operating expense by function</a:t>
            </a:r>
          </a:p>
        </p:txBody>
      </p:sp>
      <p:pic>
        <p:nvPicPr>
          <p:cNvPr id="3" name="Picture 2">
            <a:extLst>
              <a:ext uri="{FF2B5EF4-FFF2-40B4-BE49-F238E27FC236}">
                <a16:creationId xmlns:a16="http://schemas.microsoft.com/office/drawing/2014/main" id="{80D4AB43-1CA0-CD6E-53C9-C9F651374618}"/>
              </a:ext>
            </a:extLst>
          </p:cNvPr>
          <p:cNvPicPr>
            <a:picLocks noChangeAspect="1"/>
          </p:cNvPicPr>
          <p:nvPr/>
        </p:nvPicPr>
        <p:blipFill>
          <a:blip r:embed="rId3"/>
          <a:stretch>
            <a:fillRect/>
          </a:stretch>
        </p:blipFill>
        <p:spPr>
          <a:xfrm>
            <a:off x="4613095" y="42110"/>
            <a:ext cx="7511681" cy="6773779"/>
          </a:xfrm>
          <a:prstGeom prst="rect">
            <a:avLst/>
          </a:prstGeom>
        </p:spPr>
      </p:pic>
    </p:spTree>
    <p:extLst>
      <p:ext uri="{BB962C8B-B14F-4D97-AF65-F5344CB8AC3E}">
        <p14:creationId xmlns:p14="http://schemas.microsoft.com/office/powerpoint/2010/main" val="2271701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71-DF38-581B-475D-CAEDA454B781}"/>
              </a:ext>
            </a:extLst>
          </p:cNvPr>
          <p:cNvSpPr>
            <a:spLocks noGrp="1"/>
          </p:cNvSpPr>
          <p:nvPr>
            <p:ph type="title"/>
          </p:nvPr>
        </p:nvSpPr>
        <p:spPr/>
        <p:txBody>
          <a:bodyPr/>
          <a:lstStyle/>
          <a:p>
            <a:r>
              <a:rPr lang="en-US" dirty="0"/>
              <a:t>Operating expense by function</a:t>
            </a:r>
            <a:br>
              <a:rPr lang="en-US" dirty="0"/>
            </a:br>
            <a:r>
              <a:rPr lang="en-US" dirty="0"/>
              <a:t>Example: Nestle</a:t>
            </a:r>
          </a:p>
        </p:txBody>
      </p:sp>
      <p:pic>
        <p:nvPicPr>
          <p:cNvPr id="6" name="Content Placeholder 5" descr="A white background with black text&#10;&#10;AI-generated content may be incorrect.">
            <a:extLst>
              <a:ext uri="{FF2B5EF4-FFF2-40B4-BE49-F238E27FC236}">
                <a16:creationId xmlns:a16="http://schemas.microsoft.com/office/drawing/2014/main" id="{89804087-E14D-926E-5244-9C2BA0ED170F}"/>
              </a:ext>
            </a:extLst>
          </p:cNvPr>
          <p:cNvPicPr>
            <a:picLocks noGrp="1" noChangeAspect="1"/>
          </p:cNvPicPr>
          <p:nvPr>
            <p:ph idx="1"/>
          </p:nvPr>
        </p:nvPicPr>
        <p:blipFill>
          <a:blip r:embed="rId2"/>
          <a:stretch>
            <a:fillRect/>
          </a:stretch>
        </p:blipFill>
        <p:spPr>
          <a:xfrm>
            <a:off x="705612" y="1661541"/>
            <a:ext cx="10258394" cy="2972603"/>
          </a:xfrm>
        </p:spPr>
      </p:pic>
      <p:sp>
        <p:nvSpPr>
          <p:cNvPr id="4" name="Slide Number Placeholder 3">
            <a:extLst>
              <a:ext uri="{FF2B5EF4-FFF2-40B4-BE49-F238E27FC236}">
                <a16:creationId xmlns:a16="http://schemas.microsoft.com/office/drawing/2014/main" id="{4E1864C7-8C7A-3A13-19C8-1B6427C59E0A}"/>
              </a:ext>
            </a:extLst>
          </p:cNvPr>
          <p:cNvSpPr>
            <a:spLocks noGrp="1"/>
          </p:cNvSpPr>
          <p:nvPr>
            <p:ph type="sldNum" sz="quarter" idx="10"/>
          </p:nvPr>
        </p:nvSpPr>
        <p:spPr/>
        <p:txBody>
          <a:bodyPr/>
          <a:lstStyle/>
          <a:p>
            <a:fld id="{421B1A79-1F45-8F4F-AED5-0EE30DCF0380}" type="slidenum">
              <a:rPr lang="fr-FR" smtClean="0"/>
              <a:t>29</a:t>
            </a:fld>
            <a:endParaRPr lang="fr-FR"/>
          </a:p>
        </p:txBody>
      </p:sp>
    </p:spTree>
    <p:extLst>
      <p:ext uri="{BB962C8B-B14F-4D97-AF65-F5344CB8AC3E}">
        <p14:creationId xmlns:p14="http://schemas.microsoft.com/office/powerpoint/2010/main" val="2019639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C6EEEF-5DF5-474C-ABA8-B9BE5DDE216C}"/>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30</a:t>
            </a:fld>
            <a:endParaRPr lang="fr-FR" dirty="0"/>
          </a:p>
        </p:txBody>
      </p:sp>
      <p:pic>
        <p:nvPicPr>
          <p:cNvPr id="9" name="Picture 8">
            <a:extLst>
              <a:ext uri="{FF2B5EF4-FFF2-40B4-BE49-F238E27FC236}">
                <a16:creationId xmlns:a16="http://schemas.microsoft.com/office/drawing/2014/main" id="{4B1CDB60-9BB8-4D2A-AE30-E1E5D288A50C}"/>
              </a:ext>
            </a:extLst>
          </p:cNvPr>
          <p:cNvPicPr>
            <a:picLocks noChangeAspect="1"/>
          </p:cNvPicPr>
          <p:nvPr/>
        </p:nvPicPr>
        <p:blipFill>
          <a:blip r:embed="rId2"/>
          <a:stretch>
            <a:fillRect/>
          </a:stretch>
        </p:blipFill>
        <p:spPr>
          <a:xfrm>
            <a:off x="98179" y="744802"/>
            <a:ext cx="4337711" cy="1291847"/>
          </a:xfrm>
          <a:prstGeom prst="rect">
            <a:avLst/>
          </a:prstGeom>
        </p:spPr>
      </p:pic>
      <p:pic>
        <p:nvPicPr>
          <p:cNvPr id="2" name="Picture 1">
            <a:extLst>
              <a:ext uri="{FF2B5EF4-FFF2-40B4-BE49-F238E27FC236}">
                <a16:creationId xmlns:a16="http://schemas.microsoft.com/office/drawing/2014/main" id="{E035C908-6F00-5ABD-D272-1388ABD1121B}"/>
              </a:ext>
            </a:extLst>
          </p:cNvPr>
          <p:cNvPicPr>
            <a:picLocks noChangeAspect="1"/>
          </p:cNvPicPr>
          <p:nvPr/>
        </p:nvPicPr>
        <p:blipFill>
          <a:blip r:embed="rId3"/>
          <a:stretch>
            <a:fillRect/>
          </a:stretch>
        </p:blipFill>
        <p:spPr>
          <a:xfrm>
            <a:off x="4613095" y="42110"/>
            <a:ext cx="7511681" cy="6773779"/>
          </a:xfrm>
          <a:prstGeom prst="rect">
            <a:avLst/>
          </a:prstGeom>
        </p:spPr>
      </p:pic>
      <p:sp>
        <p:nvSpPr>
          <p:cNvPr id="3" name="Rectangle: Rounded Corners 2">
            <a:extLst>
              <a:ext uri="{FF2B5EF4-FFF2-40B4-BE49-F238E27FC236}">
                <a16:creationId xmlns:a16="http://schemas.microsoft.com/office/drawing/2014/main" id="{2E784E7A-6F97-22F8-2EF5-CE2AA13119E1}"/>
              </a:ext>
            </a:extLst>
          </p:cNvPr>
          <p:cNvSpPr/>
          <p:nvPr/>
        </p:nvSpPr>
        <p:spPr>
          <a:xfrm>
            <a:off x="4591339" y="1820174"/>
            <a:ext cx="7483109" cy="163901"/>
          </a:xfrm>
          <a:prstGeom prst="roundRect">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text on a white background&#10;&#10;AI-generated content may be incorrect.">
            <a:extLst>
              <a:ext uri="{FF2B5EF4-FFF2-40B4-BE49-F238E27FC236}">
                <a16:creationId xmlns:a16="http://schemas.microsoft.com/office/drawing/2014/main" id="{34E1B50C-6E3C-AC08-20E4-1B4EF13ACB86}"/>
              </a:ext>
            </a:extLst>
          </p:cNvPr>
          <p:cNvPicPr>
            <a:picLocks noChangeAspect="1"/>
          </p:cNvPicPr>
          <p:nvPr/>
        </p:nvPicPr>
        <p:blipFill>
          <a:blip r:embed="rId4"/>
          <a:stretch>
            <a:fillRect/>
          </a:stretch>
        </p:blipFill>
        <p:spPr>
          <a:xfrm>
            <a:off x="634999" y="2428823"/>
            <a:ext cx="7033883" cy="4310648"/>
          </a:xfrm>
          <a:prstGeom prst="rect">
            <a:avLst/>
          </a:prstGeom>
        </p:spPr>
      </p:pic>
    </p:spTree>
    <p:extLst>
      <p:ext uri="{BB962C8B-B14F-4D97-AF65-F5344CB8AC3E}">
        <p14:creationId xmlns:p14="http://schemas.microsoft.com/office/powerpoint/2010/main" val="2227071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E61B4-74E7-C6F1-179E-F8AB008AA5E7}"/>
              </a:ext>
            </a:extLst>
          </p:cNvPr>
          <p:cNvSpPr>
            <a:spLocks noGrp="1"/>
          </p:cNvSpPr>
          <p:nvPr>
            <p:ph type="title"/>
          </p:nvPr>
        </p:nvSpPr>
        <p:spPr>
          <a:xfrm>
            <a:off x="656844" y="487045"/>
            <a:ext cx="10829544" cy="596031"/>
          </a:xfrm>
        </p:spPr>
        <p:txBody>
          <a:bodyPr/>
          <a:lstStyle/>
          <a:p>
            <a:r>
              <a:rPr lang="en-US" dirty="0"/>
              <a:t>Income statement with operating expense by function</a:t>
            </a:r>
          </a:p>
        </p:txBody>
      </p:sp>
      <p:sp>
        <p:nvSpPr>
          <p:cNvPr id="4" name="Slide Number Placeholder 3">
            <a:extLst>
              <a:ext uri="{FF2B5EF4-FFF2-40B4-BE49-F238E27FC236}">
                <a16:creationId xmlns:a16="http://schemas.microsoft.com/office/drawing/2014/main" id="{3A1BD257-12A4-206C-9AF3-46CDEAEB5E1F}"/>
              </a:ext>
            </a:extLst>
          </p:cNvPr>
          <p:cNvSpPr>
            <a:spLocks noGrp="1"/>
          </p:cNvSpPr>
          <p:nvPr>
            <p:ph type="sldNum" sz="quarter" idx="10"/>
          </p:nvPr>
        </p:nvSpPr>
        <p:spPr/>
        <p:txBody>
          <a:bodyPr/>
          <a:lstStyle/>
          <a:p>
            <a:fld id="{421B1A79-1F45-8F4F-AED5-0EE30DCF0380}" type="slidenum">
              <a:rPr lang="fr-FR" smtClean="0"/>
              <a:t>31</a:t>
            </a:fld>
            <a:endParaRPr lang="fr-FR"/>
          </a:p>
        </p:txBody>
      </p:sp>
      <p:grpSp>
        <p:nvGrpSpPr>
          <p:cNvPr id="5" name="Group 4">
            <a:extLst>
              <a:ext uri="{FF2B5EF4-FFF2-40B4-BE49-F238E27FC236}">
                <a16:creationId xmlns:a16="http://schemas.microsoft.com/office/drawing/2014/main" id="{AD3344C4-8014-1AD2-DCFF-2EE3074FFA91}"/>
              </a:ext>
            </a:extLst>
          </p:cNvPr>
          <p:cNvGrpSpPr/>
          <p:nvPr/>
        </p:nvGrpSpPr>
        <p:grpSpPr>
          <a:xfrm>
            <a:off x="484292" y="2084851"/>
            <a:ext cx="4555592" cy="3030013"/>
            <a:chOff x="1835696" y="1563638"/>
            <a:chExt cx="3168352" cy="2272510"/>
          </a:xfrm>
        </p:grpSpPr>
        <p:sp>
          <p:nvSpPr>
            <p:cNvPr id="6" name="TextBox 5">
              <a:extLst>
                <a:ext uri="{FF2B5EF4-FFF2-40B4-BE49-F238E27FC236}">
                  <a16:creationId xmlns:a16="http://schemas.microsoft.com/office/drawing/2014/main" id="{E83C3275-D06C-517D-C8B6-A1023446A7AA}"/>
                </a:ext>
              </a:extLst>
            </p:cNvPr>
            <p:cNvSpPr txBox="1"/>
            <p:nvPr/>
          </p:nvSpPr>
          <p:spPr>
            <a:xfrm>
              <a:off x="1835696" y="2427734"/>
              <a:ext cx="3168352"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7" dirty="0"/>
                <a:t>Cost of sales</a:t>
              </a:r>
            </a:p>
          </p:txBody>
        </p:sp>
        <p:sp>
          <p:nvSpPr>
            <p:cNvPr id="7" name="TextBox 6">
              <a:extLst>
                <a:ext uri="{FF2B5EF4-FFF2-40B4-BE49-F238E27FC236}">
                  <a16:creationId xmlns:a16="http://schemas.microsoft.com/office/drawing/2014/main" id="{6925D663-554A-7B55-6618-12A9BFAA2F78}"/>
                </a:ext>
              </a:extLst>
            </p:cNvPr>
            <p:cNvSpPr txBox="1"/>
            <p:nvPr/>
          </p:nvSpPr>
          <p:spPr>
            <a:xfrm>
              <a:off x="1835696" y="1563638"/>
              <a:ext cx="3168352"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Sales revenue or turnover</a:t>
              </a:r>
            </a:p>
          </p:txBody>
        </p:sp>
        <p:sp>
          <p:nvSpPr>
            <p:cNvPr id="8" name="TextBox 7">
              <a:extLst>
                <a:ext uri="{FF2B5EF4-FFF2-40B4-BE49-F238E27FC236}">
                  <a16:creationId xmlns:a16="http://schemas.microsoft.com/office/drawing/2014/main" id="{BF61847F-365E-722C-F044-3C90E4990B1A}"/>
                </a:ext>
              </a:extLst>
            </p:cNvPr>
            <p:cNvSpPr txBox="1"/>
            <p:nvPr/>
          </p:nvSpPr>
          <p:spPr>
            <a:xfrm>
              <a:off x="2555776" y="1923678"/>
              <a:ext cx="1584176" cy="561741"/>
            </a:xfrm>
            <a:prstGeom prst="rect">
              <a:avLst/>
            </a:prstGeom>
            <a:noFill/>
          </p:spPr>
          <p:txBody>
            <a:bodyPr wrap="square" rtlCol="0">
              <a:spAutoFit/>
            </a:bodyPr>
            <a:lstStyle/>
            <a:p>
              <a:pPr algn="ctr"/>
              <a:r>
                <a:rPr lang="en-US" sz="4267" dirty="0"/>
                <a:t>–</a:t>
              </a:r>
            </a:p>
          </p:txBody>
        </p:sp>
        <p:sp>
          <p:nvSpPr>
            <p:cNvPr id="9" name="TextBox 8">
              <a:extLst>
                <a:ext uri="{FF2B5EF4-FFF2-40B4-BE49-F238E27FC236}">
                  <a16:creationId xmlns:a16="http://schemas.microsoft.com/office/drawing/2014/main" id="{BB67DA66-7DF7-ED41-FF4F-434A4639E245}"/>
                </a:ext>
              </a:extLst>
            </p:cNvPr>
            <p:cNvSpPr txBox="1"/>
            <p:nvPr/>
          </p:nvSpPr>
          <p:spPr>
            <a:xfrm>
              <a:off x="2555776" y="2851071"/>
              <a:ext cx="1584176" cy="561741"/>
            </a:xfrm>
            <a:prstGeom prst="rect">
              <a:avLst/>
            </a:prstGeom>
            <a:noFill/>
          </p:spPr>
          <p:txBody>
            <a:bodyPr wrap="square" rtlCol="0">
              <a:spAutoFit/>
            </a:bodyPr>
            <a:lstStyle/>
            <a:p>
              <a:pPr algn="ctr"/>
              <a:r>
                <a:rPr lang="en-US" sz="4267" dirty="0"/>
                <a:t>=</a:t>
              </a:r>
            </a:p>
          </p:txBody>
        </p:sp>
        <p:sp>
          <p:nvSpPr>
            <p:cNvPr id="10" name="TextBox 9">
              <a:extLst>
                <a:ext uri="{FF2B5EF4-FFF2-40B4-BE49-F238E27FC236}">
                  <a16:creationId xmlns:a16="http://schemas.microsoft.com/office/drawing/2014/main" id="{B3A1085D-9951-8BB7-4359-597B6BC472E4}"/>
                </a:ext>
              </a:extLst>
            </p:cNvPr>
            <p:cNvSpPr txBox="1"/>
            <p:nvPr/>
          </p:nvSpPr>
          <p:spPr>
            <a:xfrm>
              <a:off x="1835696" y="3459073"/>
              <a:ext cx="3168352"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667" dirty="0"/>
                <a:t>Gross profit or gross margin</a:t>
              </a:r>
            </a:p>
          </p:txBody>
        </p:sp>
      </p:grpSp>
      <p:grpSp>
        <p:nvGrpSpPr>
          <p:cNvPr id="11" name="Group 10">
            <a:extLst>
              <a:ext uri="{FF2B5EF4-FFF2-40B4-BE49-F238E27FC236}">
                <a16:creationId xmlns:a16="http://schemas.microsoft.com/office/drawing/2014/main" id="{43D755AE-6681-EB62-FEC6-BAB3CF76EE37}"/>
              </a:ext>
            </a:extLst>
          </p:cNvPr>
          <p:cNvGrpSpPr/>
          <p:nvPr/>
        </p:nvGrpSpPr>
        <p:grpSpPr>
          <a:xfrm>
            <a:off x="6384032" y="2084852"/>
            <a:ext cx="4810710" cy="3030013"/>
            <a:chOff x="1835696" y="1563638"/>
            <a:chExt cx="3168352" cy="2272510"/>
          </a:xfrm>
        </p:grpSpPr>
        <p:sp>
          <p:nvSpPr>
            <p:cNvPr id="12" name="TextBox 11">
              <a:extLst>
                <a:ext uri="{FF2B5EF4-FFF2-40B4-BE49-F238E27FC236}">
                  <a16:creationId xmlns:a16="http://schemas.microsoft.com/office/drawing/2014/main" id="{45FE1971-8A4A-4167-9900-8E50C02CB106}"/>
                </a:ext>
              </a:extLst>
            </p:cNvPr>
            <p:cNvSpPr txBox="1"/>
            <p:nvPr/>
          </p:nvSpPr>
          <p:spPr>
            <a:xfrm>
              <a:off x="1835696" y="2427734"/>
              <a:ext cx="3168352" cy="3770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2667" dirty="0"/>
                <a:t>S,G&amp;A expense</a:t>
              </a:r>
            </a:p>
          </p:txBody>
        </p:sp>
        <p:sp>
          <p:nvSpPr>
            <p:cNvPr id="13" name="TextBox 12">
              <a:extLst>
                <a:ext uri="{FF2B5EF4-FFF2-40B4-BE49-F238E27FC236}">
                  <a16:creationId xmlns:a16="http://schemas.microsoft.com/office/drawing/2014/main" id="{85B38CF1-CD9B-695A-E3B4-92887E1197BA}"/>
                </a:ext>
              </a:extLst>
            </p:cNvPr>
            <p:cNvSpPr txBox="1"/>
            <p:nvPr/>
          </p:nvSpPr>
          <p:spPr>
            <a:xfrm>
              <a:off x="1835696" y="1563638"/>
              <a:ext cx="3168352"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667" dirty="0"/>
                <a:t>Gross profit or gross margin</a:t>
              </a:r>
            </a:p>
          </p:txBody>
        </p:sp>
        <p:sp>
          <p:nvSpPr>
            <p:cNvPr id="14" name="TextBox 13">
              <a:extLst>
                <a:ext uri="{FF2B5EF4-FFF2-40B4-BE49-F238E27FC236}">
                  <a16:creationId xmlns:a16="http://schemas.microsoft.com/office/drawing/2014/main" id="{88DA1457-821B-DDD6-B47F-FE40D4001D31}"/>
                </a:ext>
              </a:extLst>
            </p:cNvPr>
            <p:cNvSpPr txBox="1"/>
            <p:nvPr/>
          </p:nvSpPr>
          <p:spPr>
            <a:xfrm>
              <a:off x="2555776" y="1923678"/>
              <a:ext cx="1584176" cy="561741"/>
            </a:xfrm>
            <a:prstGeom prst="rect">
              <a:avLst/>
            </a:prstGeom>
            <a:noFill/>
          </p:spPr>
          <p:txBody>
            <a:bodyPr wrap="square" rtlCol="0">
              <a:spAutoFit/>
            </a:bodyPr>
            <a:lstStyle/>
            <a:p>
              <a:pPr algn="ctr"/>
              <a:r>
                <a:rPr lang="en-US" sz="4267" dirty="0"/>
                <a:t>–</a:t>
              </a:r>
            </a:p>
          </p:txBody>
        </p:sp>
        <p:sp>
          <p:nvSpPr>
            <p:cNvPr id="15" name="TextBox 14">
              <a:extLst>
                <a:ext uri="{FF2B5EF4-FFF2-40B4-BE49-F238E27FC236}">
                  <a16:creationId xmlns:a16="http://schemas.microsoft.com/office/drawing/2014/main" id="{BB00239D-5CB1-FE8E-62A9-103A96EFBF12}"/>
                </a:ext>
              </a:extLst>
            </p:cNvPr>
            <p:cNvSpPr txBox="1"/>
            <p:nvPr/>
          </p:nvSpPr>
          <p:spPr>
            <a:xfrm>
              <a:off x="2555776" y="2851071"/>
              <a:ext cx="1584176" cy="561741"/>
            </a:xfrm>
            <a:prstGeom prst="rect">
              <a:avLst/>
            </a:prstGeom>
            <a:noFill/>
          </p:spPr>
          <p:txBody>
            <a:bodyPr wrap="square" rtlCol="0">
              <a:spAutoFit/>
            </a:bodyPr>
            <a:lstStyle/>
            <a:p>
              <a:pPr algn="ctr"/>
              <a:r>
                <a:rPr lang="en-US" sz="4267" dirty="0"/>
                <a:t>=</a:t>
              </a:r>
            </a:p>
          </p:txBody>
        </p:sp>
        <p:sp>
          <p:nvSpPr>
            <p:cNvPr id="16" name="TextBox 15">
              <a:extLst>
                <a:ext uri="{FF2B5EF4-FFF2-40B4-BE49-F238E27FC236}">
                  <a16:creationId xmlns:a16="http://schemas.microsoft.com/office/drawing/2014/main" id="{2F18CEC7-E64A-9D8D-1CC7-0F2ABD3BF77C}"/>
                </a:ext>
              </a:extLst>
            </p:cNvPr>
            <p:cNvSpPr txBox="1"/>
            <p:nvPr/>
          </p:nvSpPr>
          <p:spPr>
            <a:xfrm>
              <a:off x="1835696" y="3459073"/>
              <a:ext cx="3168352" cy="3770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667" dirty="0"/>
                <a:t>Operating income</a:t>
              </a:r>
            </a:p>
          </p:txBody>
        </p:sp>
      </p:grpSp>
      <p:sp>
        <p:nvSpPr>
          <p:cNvPr id="17" name="Arrow: Right 16">
            <a:extLst>
              <a:ext uri="{FF2B5EF4-FFF2-40B4-BE49-F238E27FC236}">
                <a16:creationId xmlns:a16="http://schemas.microsoft.com/office/drawing/2014/main" id="{2A3721FC-A3AF-6D59-4D4B-B73240306CA4}"/>
              </a:ext>
            </a:extLst>
          </p:cNvPr>
          <p:cNvSpPr/>
          <p:nvPr/>
        </p:nvSpPr>
        <p:spPr>
          <a:xfrm rot="18068288">
            <a:off x="4668480" y="3466523"/>
            <a:ext cx="1925593" cy="44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7334739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E3944A-FEAE-9C9D-C527-6668A4A6AAA3}"/>
              </a:ext>
            </a:extLst>
          </p:cNvPr>
          <p:cNvSpPr>
            <a:spLocks noGrp="1"/>
          </p:cNvSpPr>
          <p:nvPr>
            <p:ph type="title"/>
          </p:nvPr>
        </p:nvSpPr>
        <p:spPr>
          <a:xfrm>
            <a:off x="608718" y="203402"/>
            <a:ext cx="10829544" cy="489617"/>
          </a:xfrm>
        </p:spPr>
        <p:txBody>
          <a:bodyPr/>
          <a:lstStyle/>
          <a:p>
            <a:r>
              <a:rPr lang="fr-FR" dirty="0"/>
              <a:t>Microsoft (10k 2025)</a:t>
            </a:r>
            <a:endParaRPr lang="en-US" dirty="0"/>
          </a:p>
        </p:txBody>
      </p:sp>
      <p:sp>
        <p:nvSpPr>
          <p:cNvPr id="5" name="Slide Number Placeholder 4">
            <a:extLst>
              <a:ext uri="{FF2B5EF4-FFF2-40B4-BE49-F238E27FC236}">
                <a16:creationId xmlns:a16="http://schemas.microsoft.com/office/drawing/2014/main" id="{C3A057ED-B7E3-8FB9-955F-8779D9147A69}"/>
              </a:ext>
            </a:extLst>
          </p:cNvPr>
          <p:cNvSpPr>
            <a:spLocks noGrp="1"/>
          </p:cNvSpPr>
          <p:nvPr>
            <p:ph type="sldNum" sz="quarter" idx="10"/>
          </p:nvPr>
        </p:nvSpPr>
        <p:spPr/>
        <p:txBody>
          <a:bodyPr/>
          <a:lstStyle/>
          <a:p>
            <a:fld id="{307C7597-8D70-4701-8085-9524B0B5C72B}" type="slidenum">
              <a:rPr lang="fr-FR" smtClean="0"/>
              <a:pPr/>
              <a:t>32</a:t>
            </a:fld>
            <a:endParaRPr lang="fr-FR" dirty="0"/>
          </a:p>
        </p:txBody>
      </p:sp>
      <p:sp>
        <p:nvSpPr>
          <p:cNvPr id="8" name="Left Brace 7">
            <a:extLst>
              <a:ext uri="{FF2B5EF4-FFF2-40B4-BE49-F238E27FC236}">
                <a16:creationId xmlns:a16="http://schemas.microsoft.com/office/drawing/2014/main" id="{40A998D9-B006-7A71-06FE-313BD7F20960}"/>
              </a:ext>
            </a:extLst>
          </p:cNvPr>
          <p:cNvSpPr/>
          <p:nvPr/>
        </p:nvSpPr>
        <p:spPr>
          <a:xfrm>
            <a:off x="2427626" y="2925147"/>
            <a:ext cx="257822" cy="1463973"/>
          </a:xfrm>
          <a:prstGeom prst="leftBrace">
            <a:avLst>
              <a:gd name="adj1" fmla="val 44893"/>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9" name="TextBox 8">
            <a:extLst>
              <a:ext uri="{FF2B5EF4-FFF2-40B4-BE49-F238E27FC236}">
                <a16:creationId xmlns:a16="http://schemas.microsoft.com/office/drawing/2014/main" id="{271C6004-D691-58C9-D274-75DD46CCD6B4}"/>
              </a:ext>
            </a:extLst>
          </p:cNvPr>
          <p:cNvSpPr txBox="1"/>
          <p:nvPr/>
        </p:nvSpPr>
        <p:spPr>
          <a:xfrm>
            <a:off x="493707" y="3140263"/>
            <a:ext cx="1692512" cy="1000851"/>
          </a:xfrm>
          <a:prstGeom prst="rect">
            <a:avLst/>
          </a:prstGeom>
          <a:solidFill>
            <a:schemeClr val="accent5">
              <a:lumMod val="20000"/>
              <a:lumOff val="80000"/>
            </a:schemeClr>
          </a:solidFill>
        </p:spPr>
        <p:txBody>
          <a:bodyPr wrap="square" rtlCol="0">
            <a:spAutoFit/>
          </a:bodyPr>
          <a:lstStyle/>
          <a:p>
            <a:pPr algn="ctr"/>
            <a:r>
              <a:rPr lang="fr-FR" sz="1968" dirty="0"/>
              <a:t>Operating </a:t>
            </a:r>
            <a:r>
              <a:rPr lang="fr-FR" sz="1968" dirty="0" err="1"/>
              <a:t>expense</a:t>
            </a:r>
            <a:r>
              <a:rPr lang="fr-FR" sz="1968" dirty="0"/>
              <a:t> by </a:t>
            </a:r>
            <a:r>
              <a:rPr lang="fr-FR" sz="1968" dirty="0" err="1"/>
              <a:t>function</a:t>
            </a:r>
            <a:endParaRPr lang="en-US" sz="1968" dirty="0"/>
          </a:p>
        </p:txBody>
      </p:sp>
      <p:pic>
        <p:nvPicPr>
          <p:cNvPr id="6" name="Picture 5">
            <a:extLst>
              <a:ext uri="{FF2B5EF4-FFF2-40B4-BE49-F238E27FC236}">
                <a16:creationId xmlns:a16="http://schemas.microsoft.com/office/drawing/2014/main" id="{1A3C2DFE-0509-3801-F2F1-27515B1E553C}"/>
              </a:ext>
            </a:extLst>
          </p:cNvPr>
          <p:cNvPicPr>
            <a:picLocks noChangeAspect="1"/>
          </p:cNvPicPr>
          <p:nvPr/>
        </p:nvPicPr>
        <p:blipFill>
          <a:blip r:embed="rId2"/>
          <a:stretch>
            <a:fillRect/>
          </a:stretch>
        </p:blipFill>
        <p:spPr>
          <a:xfrm>
            <a:off x="2784988" y="933652"/>
            <a:ext cx="9277919" cy="5725174"/>
          </a:xfrm>
          <a:prstGeom prst="rect">
            <a:avLst/>
          </a:prstGeom>
        </p:spPr>
      </p:pic>
    </p:spTree>
    <p:extLst>
      <p:ext uri="{BB962C8B-B14F-4D97-AF65-F5344CB8AC3E}">
        <p14:creationId xmlns:p14="http://schemas.microsoft.com/office/powerpoint/2010/main" val="1689808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37EF3-BAB6-A3E1-3C11-EA1B2B5BC0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431D289-2BD3-6208-307F-AB8CA47451B4}"/>
              </a:ext>
            </a:extLst>
          </p:cNvPr>
          <p:cNvSpPr>
            <a:spLocks noGrp="1"/>
          </p:cNvSpPr>
          <p:nvPr>
            <p:ph type="title"/>
          </p:nvPr>
        </p:nvSpPr>
        <p:spPr/>
        <p:txBody>
          <a:bodyPr/>
          <a:lstStyle/>
          <a:p>
            <a:r>
              <a:rPr lang="fr-FR" dirty="0"/>
              <a:t>Microsoft (10k 2025)</a:t>
            </a:r>
            <a:endParaRPr lang="en-US" dirty="0"/>
          </a:p>
        </p:txBody>
      </p:sp>
      <p:sp>
        <p:nvSpPr>
          <p:cNvPr id="5" name="Slide Number Placeholder 4">
            <a:extLst>
              <a:ext uri="{FF2B5EF4-FFF2-40B4-BE49-F238E27FC236}">
                <a16:creationId xmlns:a16="http://schemas.microsoft.com/office/drawing/2014/main" id="{C0688AF9-68D2-8C32-4917-6B433152D9B6}"/>
              </a:ext>
            </a:extLst>
          </p:cNvPr>
          <p:cNvSpPr>
            <a:spLocks noGrp="1"/>
          </p:cNvSpPr>
          <p:nvPr>
            <p:ph type="sldNum" sz="quarter" idx="10"/>
          </p:nvPr>
        </p:nvSpPr>
        <p:spPr/>
        <p:txBody>
          <a:bodyPr/>
          <a:lstStyle/>
          <a:p>
            <a:fld id="{307C7597-8D70-4701-8085-9524B0B5C72B}" type="slidenum">
              <a:rPr lang="fr-FR" smtClean="0"/>
              <a:pPr/>
              <a:t>33</a:t>
            </a:fld>
            <a:endParaRPr lang="fr-FR" dirty="0"/>
          </a:p>
        </p:txBody>
      </p:sp>
      <p:pic>
        <p:nvPicPr>
          <p:cNvPr id="4" name="Picture 3">
            <a:extLst>
              <a:ext uri="{FF2B5EF4-FFF2-40B4-BE49-F238E27FC236}">
                <a16:creationId xmlns:a16="http://schemas.microsoft.com/office/drawing/2014/main" id="{DDE737B0-A2AE-DB34-867C-02E4A846AA15}"/>
              </a:ext>
            </a:extLst>
          </p:cNvPr>
          <p:cNvPicPr>
            <a:picLocks noChangeAspect="1"/>
          </p:cNvPicPr>
          <p:nvPr/>
        </p:nvPicPr>
        <p:blipFill>
          <a:blip r:embed="rId2"/>
          <a:stretch>
            <a:fillRect/>
          </a:stretch>
        </p:blipFill>
        <p:spPr>
          <a:xfrm>
            <a:off x="359287" y="1394380"/>
            <a:ext cx="11473426" cy="4585581"/>
          </a:xfrm>
          <a:prstGeom prst="rect">
            <a:avLst/>
          </a:prstGeom>
        </p:spPr>
      </p:pic>
    </p:spTree>
    <p:extLst>
      <p:ext uri="{BB962C8B-B14F-4D97-AF65-F5344CB8AC3E}">
        <p14:creationId xmlns:p14="http://schemas.microsoft.com/office/powerpoint/2010/main" val="10059071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682B2-AB4F-9528-6AAE-89ABD58EB0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DFC554-2696-3561-56A9-E2D56D2F9BCA}"/>
              </a:ext>
            </a:extLst>
          </p:cNvPr>
          <p:cNvSpPr>
            <a:spLocks noGrp="1"/>
          </p:cNvSpPr>
          <p:nvPr>
            <p:ph type="title"/>
          </p:nvPr>
        </p:nvSpPr>
        <p:spPr>
          <a:xfrm>
            <a:off x="643380" y="142781"/>
            <a:ext cx="10829544" cy="922539"/>
          </a:xfrm>
        </p:spPr>
        <p:txBody>
          <a:bodyPr/>
          <a:lstStyle/>
          <a:p>
            <a:r>
              <a:rPr lang="fr-FR" dirty="0"/>
              <a:t>Anta Sports (2024 </a:t>
            </a:r>
            <a:r>
              <a:rPr lang="fr-FR" dirty="0" err="1"/>
              <a:t>annual</a:t>
            </a:r>
            <a:r>
              <a:rPr lang="fr-FR" dirty="0"/>
              <a:t> report) </a:t>
            </a:r>
            <a:br>
              <a:rPr lang="fr-FR" dirty="0"/>
            </a:br>
            <a:r>
              <a:rPr lang="fr-FR" dirty="0"/>
              <a:t>Operating </a:t>
            </a:r>
            <a:r>
              <a:rPr lang="fr-FR" dirty="0" err="1"/>
              <a:t>expense</a:t>
            </a:r>
            <a:r>
              <a:rPr lang="fr-FR" dirty="0"/>
              <a:t> by </a:t>
            </a:r>
            <a:r>
              <a:rPr lang="fr-FR" dirty="0" err="1"/>
              <a:t>function</a:t>
            </a:r>
            <a:endParaRPr lang="en-US" dirty="0"/>
          </a:p>
        </p:txBody>
      </p:sp>
      <p:sp>
        <p:nvSpPr>
          <p:cNvPr id="5" name="Slide Number Placeholder 4">
            <a:extLst>
              <a:ext uri="{FF2B5EF4-FFF2-40B4-BE49-F238E27FC236}">
                <a16:creationId xmlns:a16="http://schemas.microsoft.com/office/drawing/2014/main" id="{B471A03E-D32C-B08E-4ED3-A287E4B968C0}"/>
              </a:ext>
            </a:extLst>
          </p:cNvPr>
          <p:cNvSpPr>
            <a:spLocks noGrp="1"/>
          </p:cNvSpPr>
          <p:nvPr>
            <p:ph type="sldNum" sz="quarter" idx="10"/>
          </p:nvPr>
        </p:nvSpPr>
        <p:spPr/>
        <p:txBody>
          <a:bodyPr/>
          <a:lstStyle/>
          <a:p>
            <a:fld id="{307C7597-8D70-4701-8085-9524B0B5C72B}" type="slidenum">
              <a:rPr lang="fr-FR" smtClean="0"/>
              <a:pPr/>
              <a:t>34</a:t>
            </a:fld>
            <a:endParaRPr lang="fr-FR" dirty="0"/>
          </a:p>
        </p:txBody>
      </p:sp>
      <p:sp>
        <p:nvSpPr>
          <p:cNvPr id="9" name="TextBox 8">
            <a:extLst>
              <a:ext uri="{FF2B5EF4-FFF2-40B4-BE49-F238E27FC236}">
                <a16:creationId xmlns:a16="http://schemas.microsoft.com/office/drawing/2014/main" id="{9849710A-42E4-61C2-FDB3-552DA4E5CE32}"/>
              </a:ext>
            </a:extLst>
          </p:cNvPr>
          <p:cNvSpPr txBox="1"/>
          <p:nvPr/>
        </p:nvSpPr>
        <p:spPr>
          <a:xfrm>
            <a:off x="474462" y="6017272"/>
            <a:ext cx="10816080" cy="784574"/>
          </a:xfrm>
          <a:prstGeom prst="rect">
            <a:avLst/>
          </a:prstGeom>
          <a:solidFill>
            <a:schemeClr val="tx1">
              <a:lumMod val="10000"/>
              <a:lumOff val="90000"/>
            </a:schemeClr>
          </a:solidFill>
        </p:spPr>
        <p:txBody>
          <a:bodyPr wrap="square" rtlCol="0">
            <a:spAutoFit/>
          </a:bodyPr>
          <a:lstStyle/>
          <a:p>
            <a:pPr algn="ctr"/>
            <a:r>
              <a:rPr lang="fr-FR" sz="2249" dirty="0"/>
              <a:t>Total operating </a:t>
            </a:r>
            <a:r>
              <a:rPr lang="fr-FR" sz="2249" dirty="0" err="1"/>
              <a:t>expense</a:t>
            </a:r>
            <a:r>
              <a:rPr lang="fr-FR" sz="2249" dirty="0"/>
              <a:t> by </a:t>
            </a:r>
            <a:r>
              <a:rPr lang="fr-FR" sz="2249" dirty="0" err="1"/>
              <a:t>function</a:t>
            </a:r>
            <a:r>
              <a:rPr lang="fr-FR" sz="2249" dirty="0"/>
              <a:t> in 2023 = 23,328 + 21,673 + 3,693 </a:t>
            </a:r>
          </a:p>
          <a:p>
            <a:pPr algn="ctr"/>
            <a:r>
              <a:rPr lang="fr-FR" sz="2249" dirty="0"/>
              <a:t>= RMB 48,694 million  </a:t>
            </a:r>
            <a:endParaRPr lang="en-US" sz="2249" dirty="0"/>
          </a:p>
        </p:txBody>
      </p:sp>
      <p:pic>
        <p:nvPicPr>
          <p:cNvPr id="4" name="Picture 3">
            <a:extLst>
              <a:ext uri="{FF2B5EF4-FFF2-40B4-BE49-F238E27FC236}">
                <a16:creationId xmlns:a16="http://schemas.microsoft.com/office/drawing/2014/main" id="{0DF82384-4D7B-D166-8F86-322050EFFCDF}"/>
              </a:ext>
            </a:extLst>
          </p:cNvPr>
          <p:cNvPicPr>
            <a:picLocks noChangeAspect="1"/>
          </p:cNvPicPr>
          <p:nvPr/>
        </p:nvPicPr>
        <p:blipFill>
          <a:blip r:embed="rId2"/>
          <a:stretch>
            <a:fillRect/>
          </a:stretch>
        </p:blipFill>
        <p:spPr>
          <a:xfrm>
            <a:off x="2220303" y="863125"/>
            <a:ext cx="8336413" cy="4440194"/>
          </a:xfrm>
          <a:prstGeom prst="rect">
            <a:avLst/>
          </a:prstGeom>
        </p:spPr>
      </p:pic>
      <p:sp>
        <p:nvSpPr>
          <p:cNvPr id="6" name="TextBox 5">
            <a:extLst>
              <a:ext uri="{FF2B5EF4-FFF2-40B4-BE49-F238E27FC236}">
                <a16:creationId xmlns:a16="http://schemas.microsoft.com/office/drawing/2014/main" id="{205ECA62-ABFB-19BC-2F69-75F424E47DFC}"/>
              </a:ext>
            </a:extLst>
          </p:cNvPr>
          <p:cNvSpPr txBox="1"/>
          <p:nvPr/>
        </p:nvSpPr>
        <p:spPr>
          <a:xfrm>
            <a:off x="472862" y="5168641"/>
            <a:ext cx="10816080" cy="784574"/>
          </a:xfrm>
          <a:prstGeom prst="rect">
            <a:avLst/>
          </a:prstGeom>
          <a:solidFill>
            <a:schemeClr val="tx1">
              <a:lumMod val="10000"/>
              <a:lumOff val="90000"/>
            </a:schemeClr>
          </a:solidFill>
        </p:spPr>
        <p:txBody>
          <a:bodyPr wrap="square" rtlCol="0">
            <a:spAutoFit/>
          </a:bodyPr>
          <a:lstStyle/>
          <a:p>
            <a:pPr algn="ctr"/>
            <a:r>
              <a:rPr lang="fr-FR" sz="2249" dirty="0"/>
              <a:t>Total operating </a:t>
            </a:r>
            <a:r>
              <a:rPr lang="fr-FR" sz="2249" dirty="0" err="1"/>
              <a:t>expense</a:t>
            </a:r>
            <a:r>
              <a:rPr lang="fr-FR" sz="2249" dirty="0"/>
              <a:t> by </a:t>
            </a:r>
            <a:r>
              <a:rPr lang="fr-FR" sz="2249" dirty="0" err="1"/>
              <a:t>function</a:t>
            </a:r>
            <a:r>
              <a:rPr lang="fr-FR" sz="2249" dirty="0"/>
              <a:t> in 2024 = 26,794 + 25,647 + 4,198 </a:t>
            </a:r>
          </a:p>
          <a:p>
            <a:pPr algn="ctr"/>
            <a:r>
              <a:rPr lang="fr-FR" sz="2249" dirty="0"/>
              <a:t>= RMB 56,639 million  </a:t>
            </a:r>
            <a:endParaRPr lang="en-US" sz="2249" dirty="0"/>
          </a:p>
        </p:txBody>
      </p:sp>
    </p:spTree>
    <p:extLst>
      <p:ext uri="{BB962C8B-B14F-4D97-AF65-F5344CB8AC3E}">
        <p14:creationId xmlns:p14="http://schemas.microsoft.com/office/powerpoint/2010/main" val="1285049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3B77F-4151-95E7-24E2-F8147293C94D}"/>
              </a:ext>
            </a:extLst>
          </p:cNvPr>
          <p:cNvSpPr>
            <a:spLocks noGrp="1"/>
          </p:cNvSpPr>
          <p:nvPr>
            <p:ph type="ctrTitle"/>
          </p:nvPr>
        </p:nvSpPr>
        <p:spPr/>
        <p:txBody>
          <a:bodyPr/>
          <a:lstStyle/>
          <a:p>
            <a:r>
              <a:rPr lang="en-US" dirty="0"/>
              <a:t>Alternative income statement presentations</a:t>
            </a:r>
          </a:p>
        </p:txBody>
      </p:sp>
      <p:sp>
        <p:nvSpPr>
          <p:cNvPr id="3" name="Subtitle 2">
            <a:extLst>
              <a:ext uri="{FF2B5EF4-FFF2-40B4-BE49-F238E27FC236}">
                <a16:creationId xmlns:a16="http://schemas.microsoft.com/office/drawing/2014/main" id="{9F8A4C66-3868-85AB-6160-9EED0D6646C9}"/>
              </a:ext>
            </a:extLst>
          </p:cNvPr>
          <p:cNvSpPr>
            <a:spLocks noGrp="1"/>
          </p:cNvSpPr>
          <p:nvPr>
            <p:ph type="subTitle" idx="1"/>
          </p:nvPr>
        </p:nvSpPr>
        <p:spPr/>
        <p:txBody>
          <a:bodyPr/>
          <a:lstStyle/>
          <a:p>
            <a:r>
              <a:rPr lang="en-US" dirty="0"/>
              <a:t>Operating expense by function or by nature</a:t>
            </a:r>
          </a:p>
        </p:txBody>
      </p:sp>
    </p:spTree>
    <p:extLst>
      <p:ext uri="{BB962C8B-B14F-4D97-AF65-F5344CB8AC3E}">
        <p14:creationId xmlns:p14="http://schemas.microsoft.com/office/powerpoint/2010/main" val="31941096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0562E6-0252-0368-CCF9-6561E5B09576}"/>
              </a:ext>
            </a:extLst>
          </p:cNvPr>
          <p:cNvSpPr>
            <a:spLocks noGrp="1"/>
          </p:cNvSpPr>
          <p:nvPr>
            <p:ph type="title"/>
          </p:nvPr>
        </p:nvSpPr>
        <p:spPr>
          <a:xfrm>
            <a:off x="263684" y="127606"/>
            <a:ext cx="10829544" cy="1460500"/>
          </a:xfrm>
        </p:spPr>
        <p:txBody>
          <a:bodyPr>
            <a:normAutofit/>
          </a:bodyPr>
          <a:lstStyle/>
          <a:p>
            <a:r>
              <a:rPr lang="fr-FR" sz="2530" dirty="0"/>
              <a:t>EBIT </a:t>
            </a:r>
            <a:r>
              <a:rPr lang="fr-FR" sz="2530" dirty="0" err="1"/>
              <a:t>calculation</a:t>
            </a:r>
            <a:r>
              <a:rPr lang="fr-FR" sz="2530" dirty="0"/>
              <a:t> </a:t>
            </a:r>
            <a:r>
              <a:rPr lang="fr-FR" sz="2530" dirty="0" err="1"/>
              <a:t>with</a:t>
            </a:r>
            <a:r>
              <a:rPr lang="fr-FR" sz="2530" dirty="0"/>
              <a:t> operating </a:t>
            </a:r>
            <a:r>
              <a:rPr lang="fr-FR" sz="2530" dirty="0" err="1"/>
              <a:t>expense</a:t>
            </a:r>
            <a:r>
              <a:rPr lang="fr-FR" sz="2530" dirty="0"/>
              <a:t> by </a:t>
            </a:r>
            <a:r>
              <a:rPr lang="fr-FR" sz="2530" dirty="0" err="1"/>
              <a:t>function</a:t>
            </a:r>
            <a:r>
              <a:rPr lang="fr-FR" sz="2530" dirty="0"/>
              <a:t> and by nature</a:t>
            </a:r>
            <a:endParaRPr lang="en-US" sz="2530" dirty="0"/>
          </a:p>
        </p:txBody>
      </p:sp>
      <p:graphicFrame>
        <p:nvGraphicFramePr>
          <p:cNvPr id="6" name="Content Placeholder 5">
            <a:extLst>
              <a:ext uri="{FF2B5EF4-FFF2-40B4-BE49-F238E27FC236}">
                <a16:creationId xmlns:a16="http://schemas.microsoft.com/office/drawing/2014/main" id="{6FCADFD3-7552-5019-8166-34405CE1851D}"/>
              </a:ext>
            </a:extLst>
          </p:cNvPr>
          <p:cNvGraphicFramePr>
            <a:graphicFrameLocks noGrp="1"/>
          </p:cNvGraphicFramePr>
          <p:nvPr>
            <p:ph idx="1"/>
            <p:extLst>
              <p:ext uri="{D42A27DB-BD31-4B8C-83A1-F6EECF244321}">
                <p14:modId xmlns:p14="http://schemas.microsoft.com/office/powerpoint/2010/main" val="2886310893"/>
              </p:ext>
            </p:extLst>
          </p:nvPr>
        </p:nvGraphicFramePr>
        <p:xfrm>
          <a:off x="774202" y="324659"/>
          <a:ext cx="11247278" cy="6533341"/>
        </p:xfrm>
        <a:graphic>
          <a:graphicData uri="http://schemas.openxmlformats.org/drawingml/2006/table">
            <a:tbl>
              <a:tblPr firstRow="1" bandRow="1">
                <a:tableStyleId>{5C22544A-7EE6-4342-B048-85BDC9FD1C3A}</a:tableStyleId>
              </a:tblPr>
              <a:tblGrid>
                <a:gridCol w="5071692">
                  <a:extLst>
                    <a:ext uri="{9D8B030D-6E8A-4147-A177-3AD203B41FA5}">
                      <a16:colId xmlns:a16="http://schemas.microsoft.com/office/drawing/2014/main" val="3493514842"/>
                    </a:ext>
                  </a:extLst>
                </a:gridCol>
                <a:gridCol w="6175586">
                  <a:extLst>
                    <a:ext uri="{9D8B030D-6E8A-4147-A177-3AD203B41FA5}">
                      <a16:colId xmlns:a16="http://schemas.microsoft.com/office/drawing/2014/main" val="2927195572"/>
                    </a:ext>
                  </a:extLst>
                </a:gridCol>
              </a:tblGrid>
              <a:tr h="621203">
                <a:tc>
                  <a:txBody>
                    <a:bodyPr/>
                    <a:lstStyle/>
                    <a:p>
                      <a:r>
                        <a:rPr lang="fr-FR" sz="1800" dirty="0"/>
                        <a:t>EBIT </a:t>
                      </a:r>
                      <a:r>
                        <a:rPr lang="fr-FR" sz="1800" dirty="0" err="1"/>
                        <a:t>calculated</a:t>
                      </a:r>
                      <a:r>
                        <a:rPr lang="fr-FR" sz="1800" dirty="0"/>
                        <a:t> </a:t>
                      </a:r>
                      <a:r>
                        <a:rPr lang="fr-FR" sz="1800" dirty="0" err="1"/>
                        <a:t>with</a:t>
                      </a:r>
                      <a:r>
                        <a:rPr lang="fr-FR" sz="1800" dirty="0"/>
                        <a:t> operating </a:t>
                      </a:r>
                      <a:r>
                        <a:rPr lang="fr-FR" sz="1800" dirty="0" err="1"/>
                        <a:t>expense</a:t>
                      </a:r>
                      <a:r>
                        <a:rPr lang="fr-FR" sz="1800" dirty="0"/>
                        <a:t> by </a:t>
                      </a:r>
                      <a:r>
                        <a:rPr lang="fr-FR" sz="1800" dirty="0" err="1"/>
                        <a:t>function</a:t>
                      </a:r>
                      <a:endParaRPr lang="en-US" sz="1800" dirty="0"/>
                    </a:p>
                  </a:txBody>
                  <a:tcPr marL="64262" marR="64262" marT="32131" marB="32131"/>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1800" dirty="0"/>
                        <a:t>EBIT </a:t>
                      </a:r>
                      <a:r>
                        <a:rPr lang="fr-FR" sz="1800" dirty="0" err="1"/>
                        <a:t>calculated</a:t>
                      </a:r>
                      <a:r>
                        <a:rPr lang="fr-FR" sz="1800" dirty="0"/>
                        <a:t> </a:t>
                      </a:r>
                      <a:r>
                        <a:rPr lang="fr-FR" sz="1800" dirty="0" err="1"/>
                        <a:t>with</a:t>
                      </a:r>
                      <a:r>
                        <a:rPr lang="fr-FR" sz="1800" dirty="0"/>
                        <a:t> operating </a:t>
                      </a:r>
                      <a:r>
                        <a:rPr lang="fr-FR" sz="1800" dirty="0" err="1"/>
                        <a:t>expense</a:t>
                      </a:r>
                      <a:r>
                        <a:rPr lang="fr-FR" sz="1800" dirty="0"/>
                        <a:t> by nature</a:t>
                      </a:r>
                      <a:endParaRPr lang="en-US" sz="1800" dirty="0"/>
                    </a:p>
                  </a:txBody>
                  <a:tcPr marL="64262" marR="64262" marT="32131" marB="32131"/>
                </a:tc>
                <a:extLst>
                  <a:ext uri="{0D108BD9-81ED-4DB2-BD59-A6C34878D82A}">
                    <a16:rowId xmlns:a16="http://schemas.microsoft.com/office/drawing/2014/main" val="651569972"/>
                  </a:ext>
                </a:extLst>
              </a:tr>
              <a:tr h="5912138">
                <a:tc>
                  <a:txBody>
                    <a:bodyPr/>
                    <a:lstStyle/>
                    <a:p>
                      <a:r>
                        <a:rPr lang="fr-FR" sz="1800" dirty="0"/>
                        <a:t>Revenue, net</a:t>
                      </a:r>
                    </a:p>
                    <a:p>
                      <a:r>
                        <a:rPr lang="fr-FR" sz="1800" dirty="0"/>
                        <a:t>- </a:t>
                      </a:r>
                      <a:r>
                        <a:rPr lang="fr-FR" sz="1800" dirty="0" err="1"/>
                        <a:t>Cost</a:t>
                      </a:r>
                      <a:r>
                        <a:rPr lang="fr-FR" sz="1800" dirty="0"/>
                        <a:t> of sales (or </a:t>
                      </a:r>
                      <a:r>
                        <a:rPr lang="fr-FR" sz="1800" dirty="0" err="1"/>
                        <a:t>cost</a:t>
                      </a:r>
                      <a:r>
                        <a:rPr lang="fr-FR" sz="1800" dirty="0"/>
                        <a:t> of revenue)</a:t>
                      </a:r>
                    </a:p>
                    <a:p>
                      <a:r>
                        <a:rPr lang="fr-FR" sz="1800" dirty="0"/>
                        <a:t>= </a:t>
                      </a:r>
                      <a:r>
                        <a:rPr lang="fr-FR" sz="1800" b="1" dirty="0"/>
                        <a:t>Gross profit</a:t>
                      </a:r>
                    </a:p>
                    <a:p>
                      <a:endParaRPr lang="fr-FR" sz="1800" dirty="0"/>
                    </a:p>
                    <a:p>
                      <a:r>
                        <a:rPr lang="fr-FR" sz="1800" dirty="0"/>
                        <a:t>Gross profit</a:t>
                      </a:r>
                    </a:p>
                    <a:p>
                      <a:r>
                        <a:rPr lang="fr-FR" sz="1800" dirty="0"/>
                        <a:t>- Commercial </a:t>
                      </a:r>
                      <a:r>
                        <a:rPr lang="fr-FR" sz="1800" dirty="0" err="1"/>
                        <a:t>expense</a:t>
                      </a:r>
                      <a:endParaRPr lang="fr-FR" sz="1800" dirty="0"/>
                    </a:p>
                    <a:p>
                      <a:r>
                        <a:rPr lang="fr-FR" sz="1800" dirty="0"/>
                        <a:t>- Administrative </a:t>
                      </a:r>
                      <a:r>
                        <a:rPr lang="fr-FR" sz="1800" dirty="0" err="1"/>
                        <a:t>expense</a:t>
                      </a:r>
                      <a:endParaRPr lang="fr-FR" sz="1800" dirty="0"/>
                    </a:p>
                    <a:p>
                      <a:r>
                        <a:rPr lang="fr-FR" sz="1800" dirty="0"/>
                        <a:t>- R&amp;D </a:t>
                      </a:r>
                      <a:r>
                        <a:rPr lang="fr-FR" sz="1800" dirty="0" err="1"/>
                        <a:t>expense</a:t>
                      </a:r>
                      <a:endParaRPr lang="fr-FR" sz="1800" dirty="0"/>
                    </a:p>
                    <a:p>
                      <a:r>
                        <a:rPr lang="fr-FR" sz="1800" dirty="0"/>
                        <a:t>= </a:t>
                      </a:r>
                      <a:r>
                        <a:rPr lang="fr-FR" sz="1800" b="1" dirty="0"/>
                        <a:t>Operating profit</a:t>
                      </a:r>
                    </a:p>
                    <a:p>
                      <a:endParaRPr lang="en-US" sz="1800" dirty="0"/>
                    </a:p>
                    <a:p>
                      <a:r>
                        <a:rPr lang="en-US" sz="1800" dirty="0"/>
                        <a:t>Operating profit</a:t>
                      </a:r>
                    </a:p>
                    <a:p>
                      <a:r>
                        <a:rPr lang="en-US" sz="1800" dirty="0"/>
                        <a:t>- Non-recurring expense</a:t>
                      </a:r>
                    </a:p>
                    <a:p>
                      <a:r>
                        <a:rPr lang="en-US" sz="1800" dirty="0"/>
                        <a:t>+ Non-recurring income</a:t>
                      </a:r>
                    </a:p>
                    <a:p>
                      <a:r>
                        <a:rPr lang="en-US" sz="1800" dirty="0"/>
                        <a:t>= </a:t>
                      </a:r>
                      <a:r>
                        <a:rPr lang="en-US" sz="1800" b="1" dirty="0"/>
                        <a:t>Earnings Before Interest and Taxes (EBIT)</a:t>
                      </a:r>
                    </a:p>
                  </a:txBody>
                  <a:tcPr marL="64262" marR="64262" marT="32131" marB="32131"/>
                </a:tc>
                <a:tc>
                  <a:txBody>
                    <a:bodyPr/>
                    <a:lstStyle/>
                    <a:p>
                      <a:r>
                        <a:rPr lang="fr-FR" sz="1800" dirty="0"/>
                        <a:t>Revenue, net</a:t>
                      </a:r>
                    </a:p>
                    <a:p>
                      <a:r>
                        <a:rPr lang="fr-FR" sz="1800" dirty="0"/>
                        <a:t>- Components or </a:t>
                      </a:r>
                      <a:r>
                        <a:rPr lang="fr-FR" sz="1800" dirty="0" err="1"/>
                        <a:t>raw</a:t>
                      </a:r>
                      <a:r>
                        <a:rPr lang="fr-FR" sz="1800" dirty="0"/>
                        <a:t> </a:t>
                      </a:r>
                      <a:r>
                        <a:rPr lang="fr-FR" sz="1800" dirty="0" err="1"/>
                        <a:t>material</a:t>
                      </a:r>
                      <a:r>
                        <a:rPr lang="fr-FR" sz="1800" dirty="0"/>
                        <a:t> </a:t>
                      </a:r>
                      <a:r>
                        <a:rPr lang="fr-FR" sz="1800" dirty="0" err="1"/>
                        <a:t>expense</a:t>
                      </a:r>
                      <a:endParaRPr lang="fr-FR" sz="1800" dirty="0"/>
                    </a:p>
                    <a:p>
                      <a:r>
                        <a:rPr lang="fr-FR" sz="1800" dirty="0"/>
                        <a:t>- </a:t>
                      </a:r>
                      <a:r>
                        <a:rPr lang="fr-FR" sz="1800" dirty="0" err="1"/>
                        <a:t>Employee</a:t>
                      </a:r>
                      <a:r>
                        <a:rPr lang="fr-FR" sz="1800" dirty="0"/>
                        <a:t> </a:t>
                      </a:r>
                      <a:r>
                        <a:rPr lang="fr-FR" sz="1800" dirty="0" err="1"/>
                        <a:t>expense</a:t>
                      </a:r>
                      <a:endParaRPr lang="fr-FR" sz="1800" dirty="0"/>
                    </a:p>
                    <a:p>
                      <a:r>
                        <a:rPr lang="fr-FR" sz="1800" dirty="0"/>
                        <a:t>- Rent </a:t>
                      </a:r>
                      <a:r>
                        <a:rPr lang="fr-FR" sz="1800" dirty="0" err="1"/>
                        <a:t>expense</a:t>
                      </a:r>
                      <a:endParaRPr lang="fr-FR" sz="1800" dirty="0"/>
                    </a:p>
                    <a:p>
                      <a:r>
                        <a:rPr lang="fr-FR" sz="1800" dirty="0"/>
                        <a:t>- </a:t>
                      </a:r>
                      <a:r>
                        <a:rPr lang="fr-FR" sz="1800" dirty="0" err="1"/>
                        <a:t>Other</a:t>
                      </a:r>
                      <a:r>
                        <a:rPr lang="fr-FR" sz="1800" dirty="0"/>
                        <a:t> </a:t>
                      </a:r>
                      <a:r>
                        <a:rPr lang="fr-FR" sz="1800" dirty="0" err="1"/>
                        <a:t>external</a:t>
                      </a:r>
                      <a:r>
                        <a:rPr lang="fr-FR" sz="1800" dirty="0"/>
                        <a:t> services </a:t>
                      </a:r>
                      <a:r>
                        <a:rPr lang="fr-FR" sz="1800" dirty="0" err="1"/>
                        <a:t>expense</a:t>
                      </a:r>
                      <a:endParaRPr lang="fr-FR" sz="1800" dirty="0"/>
                    </a:p>
                    <a:p>
                      <a:r>
                        <a:rPr lang="fr-FR" sz="1800" dirty="0"/>
                        <a:t>- Operating taxes</a:t>
                      </a:r>
                    </a:p>
                    <a:p>
                      <a:r>
                        <a:rPr lang="fr-FR" sz="1800" dirty="0"/>
                        <a:t>= </a:t>
                      </a:r>
                      <a:r>
                        <a:rPr lang="fr-FR" sz="1800" dirty="0" err="1"/>
                        <a:t>Earnings</a:t>
                      </a:r>
                      <a:r>
                        <a:rPr lang="fr-FR" sz="1800" dirty="0"/>
                        <a:t> </a:t>
                      </a:r>
                      <a:r>
                        <a:rPr lang="fr-FR" sz="1800" dirty="0" err="1"/>
                        <a:t>before</a:t>
                      </a:r>
                      <a:r>
                        <a:rPr lang="fr-FR" sz="1800" dirty="0"/>
                        <a:t> </a:t>
                      </a:r>
                      <a:r>
                        <a:rPr lang="fr-FR" sz="1800" dirty="0" err="1"/>
                        <a:t>Interest</a:t>
                      </a:r>
                      <a:r>
                        <a:rPr lang="fr-FR" sz="1800" dirty="0"/>
                        <a:t>, Taxes, </a:t>
                      </a:r>
                      <a:r>
                        <a:rPr lang="fr-FR" sz="1800" dirty="0" err="1"/>
                        <a:t>Depreciation</a:t>
                      </a:r>
                      <a:r>
                        <a:rPr lang="fr-FR" sz="1800" dirty="0"/>
                        <a:t> and </a:t>
                      </a:r>
                      <a:r>
                        <a:rPr lang="fr-FR" sz="1800" dirty="0" err="1"/>
                        <a:t>Amortization</a:t>
                      </a:r>
                      <a:r>
                        <a:rPr lang="fr-FR" sz="1800" dirty="0"/>
                        <a:t> (</a:t>
                      </a:r>
                      <a:r>
                        <a:rPr lang="fr-FR" sz="1800" b="1" dirty="0"/>
                        <a:t>EBITDA</a:t>
                      </a:r>
                      <a:r>
                        <a:rPr lang="fr-FR" sz="1800" dirty="0"/>
                        <a:t>)</a:t>
                      </a:r>
                    </a:p>
                    <a:p>
                      <a:endParaRPr lang="fr-FR" sz="1800" dirty="0"/>
                    </a:p>
                    <a:p>
                      <a:r>
                        <a:rPr lang="fr-FR" sz="1800" dirty="0"/>
                        <a:t>EBITDA</a:t>
                      </a:r>
                    </a:p>
                    <a:p>
                      <a:r>
                        <a:rPr lang="fr-FR" sz="1800" dirty="0"/>
                        <a:t>- </a:t>
                      </a:r>
                      <a:r>
                        <a:rPr lang="fr-FR" sz="1800" dirty="0" err="1"/>
                        <a:t>Depreciation</a:t>
                      </a:r>
                      <a:r>
                        <a:rPr lang="fr-FR" sz="1800" dirty="0"/>
                        <a:t> </a:t>
                      </a:r>
                      <a:r>
                        <a:rPr lang="fr-FR" sz="1800" dirty="0" err="1"/>
                        <a:t>expense</a:t>
                      </a:r>
                      <a:endParaRPr lang="fr-FR" sz="1800" dirty="0"/>
                    </a:p>
                    <a:p>
                      <a:r>
                        <a:rPr lang="fr-FR" sz="1800" dirty="0"/>
                        <a:t>= </a:t>
                      </a:r>
                      <a:r>
                        <a:rPr lang="fr-FR" sz="1800" b="1" dirty="0"/>
                        <a:t>EBITA</a:t>
                      </a:r>
                    </a:p>
                    <a:p>
                      <a:endParaRPr lang="fr-FR" sz="1800" dirty="0"/>
                    </a:p>
                    <a:p>
                      <a:r>
                        <a:rPr lang="fr-FR" sz="1800" dirty="0"/>
                        <a:t>EBITA</a:t>
                      </a:r>
                    </a:p>
                    <a:p>
                      <a:r>
                        <a:rPr lang="fr-FR" sz="1800" dirty="0"/>
                        <a:t>- </a:t>
                      </a:r>
                      <a:r>
                        <a:rPr lang="fr-FR" sz="1800" dirty="0" err="1"/>
                        <a:t>Amortization</a:t>
                      </a:r>
                      <a:r>
                        <a:rPr lang="fr-FR" sz="1800" dirty="0"/>
                        <a:t> </a:t>
                      </a:r>
                      <a:r>
                        <a:rPr lang="fr-FR" sz="1800" dirty="0" err="1"/>
                        <a:t>expense</a:t>
                      </a:r>
                      <a:endParaRPr lang="fr-FR" sz="1800" dirty="0"/>
                    </a:p>
                    <a:p>
                      <a:r>
                        <a:rPr lang="fr-FR" sz="1800" dirty="0"/>
                        <a:t>= </a:t>
                      </a:r>
                      <a:r>
                        <a:rPr lang="fr-FR" sz="1800" b="1" dirty="0"/>
                        <a:t>Operating profit</a:t>
                      </a:r>
                    </a:p>
                    <a:p>
                      <a:endParaRPr lang="fr-FR" sz="18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t>Operating profit</a:t>
                      </a:r>
                      <a:endParaRPr lang="fr-FR" sz="1800" b="1" dirty="0"/>
                    </a:p>
                    <a:p>
                      <a:r>
                        <a:rPr lang="en-US" sz="1800" dirty="0"/>
                        <a:t>- Non-recurring expense</a:t>
                      </a:r>
                    </a:p>
                    <a:p>
                      <a:r>
                        <a:rPr lang="en-US" sz="1800" dirty="0"/>
                        <a:t>+ Non-recurring income</a:t>
                      </a:r>
                      <a:endParaRPr lang="fr-FR" sz="18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t>= Earnings Before Interest and Taxes (EBIT)</a:t>
                      </a:r>
                    </a:p>
                  </a:txBody>
                  <a:tcPr marL="64262" marR="64262" marT="32131" marB="32131"/>
                </a:tc>
                <a:extLst>
                  <a:ext uri="{0D108BD9-81ED-4DB2-BD59-A6C34878D82A}">
                    <a16:rowId xmlns:a16="http://schemas.microsoft.com/office/drawing/2014/main" val="606491648"/>
                  </a:ext>
                </a:extLst>
              </a:tr>
            </a:tbl>
          </a:graphicData>
        </a:graphic>
      </p:graphicFrame>
      <p:sp>
        <p:nvSpPr>
          <p:cNvPr id="5" name="Slide Number Placeholder 4">
            <a:extLst>
              <a:ext uri="{FF2B5EF4-FFF2-40B4-BE49-F238E27FC236}">
                <a16:creationId xmlns:a16="http://schemas.microsoft.com/office/drawing/2014/main" id="{82AF5639-7CE7-EC54-EADC-7E14BC19565E}"/>
              </a:ext>
            </a:extLst>
          </p:cNvPr>
          <p:cNvSpPr>
            <a:spLocks noGrp="1"/>
          </p:cNvSpPr>
          <p:nvPr>
            <p:ph type="sldNum" sz="quarter" idx="10"/>
          </p:nvPr>
        </p:nvSpPr>
        <p:spPr/>
        <p:txBody>
          <a:bodyPr/>
          <a:lstStyle/>
          <a:p>
            <a:fld id="{307C7597-8D70-4701-8085-9524B0B5C72B}" type="slidenum">
              <a:rPr lang="fr-FR" smtClean="0"/>
              <a:pPr/>
              <a:t>36</a:t>
            </a:fld>
            <a:endParaRPr lang="fr-FR" dirty="0"/>
          </a:p>
        </p:txBody>
      </p:sp>
    </p:spTree>
    <p:extLst>
      <p:ext uri="{BB962C8B-B14F-4D97-AF65-F5344CB8AC3E}">
        <p14:creationId xmlns:p14="http://schemas.microsoft.com/office/powerpoint/2010/main" val="3337906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7F5EF-865B-AB93-CE4C-2F293A70E9F9}"/>
              </a:ext>
            </a:extLst>
          </p:cNvPr>
          <p:cNvSpPr>
            <a:spLocks noGrp="1"/>
          </p:cNvSpPr>
          <p:nvPr>
            <p:ph type="ctrTitle"/>
          </p:nvPr>
        </p:nvSpPr>
        <p:spPr/>
        <p:txBody>
          <a:bodyPr/>
          <a:lstStyle/>
          <a:p>
            <a:r>
              <a:rPr lang="en-US" dirty="0"/>
              <a:t>Common-size income statement</a:t>
            </a:r>
          </a:p>
        </p:txBody>
      </p:sp>
      <p:sp>
        <p:nvSpPr>
          <p:cNvPr id="3" name="Subtitle 2">
            <a:extLst>
              <a:ext uri="{FF2B5EF4-FFF2-40B4-BE49-F238E27FC236}">
                <a16:creationId xmlns:a16="http://schemas.microsoft.com/office/drawing/2014/main" id="{7F590DBE-B0B3-980E-9100-62AF511074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10066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20116-25EE-4974-B117-EBEBD42AF143}"/>
              </a:ext>
            </a:extLst>
          </p:cNvPr>
          <p:cNvSpPr>
            <a:spLocks noGrp="1"/>
          </p:cNvSpPr>
          <p:nvPr>
            <p:ph type="title"/>
          </p:nvPr>
        </p:nvSpPr>
        <p:spPr>
          <a:xfrm>
            <a:off x="656844" y="487045"/>
            <a:ext cx="10829544" cy="871238"/>
          </a:xfrm>
        </p:spPr>
        <p:txBody>
          <a:bodyPr/>
          <a:lstStyle/>
          <a:p>
            <a:r>
              <a:rPr lang="en-US" dirty="0"/>
              <a:t>Common-size income statement</a:t>
            </a:r>
            <a:br>
              <a:rPr lang="en-US" dirty="0"/>
            </a:br>
            <a:r>
              <a:rPr lang="en-US" dirty="0"/>
              <a:t>All amounts are expressed as a percentage of revenue</a:t>
            </a:r>
          </a:p>
        </p:txBody>
      </p:sp>
      <p:graphicFrame>
        <p:nvGraphicFramePr>
          <p:cNvPr id="6" name="Table 6">
            <a:extLst>
              <a:ext uri="{FF2B5EF4-FFF2-40B4-BE49-F238E27FC236}">
                <a16:creationId xmlns:a16="http://schemas.microsoft.com/office/drawing/2014/main" id="{C266D8CB-A7C8-4E47-AF77-7AFB86FB73A6}"/>
              </a:ext>
            </a:extLst>
          </p:cNvPr>
          <p:cNvGraphicFramePr>
            <a:graphicFrameLocks noGrp="1"/>
          </p:cNvGraphicFramePr>
          <p:nvPr>
            <p:ph idx="1"/>
            <p:extLst>
              <p:ext uri="{D42A27DB-BD31-4B8C-83A1-F6EECF244321}">
                <p14:modId xmlns:p14="http://schemas.microsoft.com/office/powerpoint/2010/main" val="4257221627"/>
              </p:ext>
            </p:extLst>
          </p:nvPr>
        </p:nvGraphicFramePr>
        <p:xfrm>
          <a:off x="681038" y="1825625"/>
          <a:ext cx="10829924" cy="3683608"/>
        </p:xfrm>
        <a:graphic>
          <a:graphicData uri="http://schemas.openxmlformats.org/drawingml/2006/table">
            <a:tbl>
              <a:tblPr firstRow="1" bandRow="1">
                <a:tableStyleId>{5C22544A-7EE6-4342-B048-85BDC9FD1C3A}</a:tableStyleId>
              </a:tblPr>
              <a:tblGrid>
                <a:gridCol w="6725060">
                  <a:extLst>
                    <a:ext uri="{9D8B030D-6E8A-4147-A177-3AD203B41FA5}">
                      <a16:colId xmlns:a16="http://schemas.microsoft.com/office/drawing/2014/main" val="2645257150"/>
                    </a:ext>
                  </a:extLst>
                </a:gridCol>
                <a:gridCol w="2052432">
                  <a:extLst>
                    <a:ext uri="{9D8B030D-6E8A-4147-A177-3AD203B41FA5}">
                      <a16:colId xmlns:a16="http://schemas.microsoft.com/office/drawing/2014/main" val="3898556783"/>
                    </a:ext>
                  </a:extLst>
                </a:gridCol>
                <a:gridCol w="2052432">
                  <a:extLst>
                    <a:ext uri="{9D8B030D-6E8A-4147-A177-3AD203B41FA5}">
                      <a16:colId xmlns:a16="http://schemas.microsoft.com/office/drawing/2014/main" val="1118530341"/>
                    </a:ext>
                  </a:extLst>
                </a:gridCol>
              </a:tblGrid>
              <a:tr h="1218605">
                <a:tc>
                  <a:txBody>
                    <a:bodyPr/>
                    <a:lstStyle/>
                    <a:p>
                      <a:pPr algn="ctr"/>
                      <a:r>
                        <a:rPr lang="fr-FR" sz="2400" dirty="0" err="1">
                          <a:solidFill>
                            <a:schemeClr val="tx1"/>
                          </a:solidFill>
                        </a:rPr>
                        <a:t>Manufacturing</a:t>
                      </a:r>
                      <a:r>
                        <a:rPr lang="fr-FR" sz="2400" dirty="0">
                          <a:solidFill>
                            <a:schemeClr val="tx1"/>
                          </a:solidFill>
                        </a:rPr>
                        <a:t> </a:t>
                      </a:r>
                      <a:r>
                        <a:rPr lang="fr-FR" sz="2400" dirty="0" err="1">
                          <a:solidFill>
                            <a:schemeClr val="tx1"/>
                          </a:solidFill>
                        </a:rPr>
                        <a:t>company</a:t>
                      </a:r>
                      <a:endParaRPr lang="en-US" sz="2400" dirty="0">
                        <a:solidFill>
                          <a:schemeClr val="tx1"/>
                        </a:solidFill>
                      </a:endParaRPr>
                    </a:p>
                  </a:txBody>
                  <a:tcPr marL="121860" marR="121860" marT="60930" marB="60930" anchor="ctr">
                    <a:noFill/>
                  </a:tcPr>
                </a:tc>
                <a:tc>
                  <a:txBody>
                    <a:bodyPr/>
                    <a:lstStyle/>
                    <a:p>
                      <a:pPr algn="ctr"/>
                      <a:r>
                        <a:rPr lang="en-US" sz="2400" dirty="0"/>
                        <a:t>In % of revenue</a:t>
                      </a:r>
                    </a:p>
                    <a:p>
                      <a:pPr algn="ctr"/>
                      <a:r>
                        <a:rPr lang="en-US" sz="2400" dirty="0"/>
                        <a:t>In 2024</a:t>
                      </a:r>
                    </a:p>
                  </a:txBody>
                  <a:tcPr marL="121860" marR="121860" marT="60930" marB="60930" anchor="ctr"/>
                </a:tc>
                <a:tc>
                  <a:txBody>
                    <a:bodyPr/>
                    <a:lstStyle/>
                    <a:p>
                      <a:pPr algn="ctr"/>
                      <a:r>
                        <a:rPr lang="en-US" sz="2400" dirty="0"/>
                        <a:t>In % of revenue in 2025</a:t>
                      </a:r>
                    </a:p>
                  </a:txBody>
                  <a:tcPr marL="121860" marR="121860" marT="60930" marB="60930" anchor="ctr"/>
                </a:tc>
                <a:extLst>
                  <a:ext uri="{0D108BD9-81ED-4DB2-BD59-A6C34878D82A}">
                    <a16:rowId xmlns:a16="http://schemas.microsoft.com/office/drawing/2014/main" val="345260173"/>
                  </a:ext>
                </a:extLst>
              </a:tr>
              <a:tr h="494212">
                <a:tc>
                  <a:txBody>
                    <a:bodyPr/>
                    <a:lstStyle/>
                    <a:p>
                      <a:r>
                        <a:rPr lang="en-US" sz="2400" dirty="0"/>
                        <a:t>Sales revenue</a:t>
                      </a:r>
                    </a:p>
                  </a:txBody>
                  <a:tcPr marL="121860" marR="121860" marT="60930" marB="60930"/>
                </a:tc>
                <a:tc>
                  <a:txBody>
                    <a:bodyPr/>
                    <a:lstStyle/>
                    <a:p>
                      <a:pPr algn="ctr"/>
                      <a:r>
                        <a:rPr lang="en-US" sz="2400" dirty="0"/>
                        <a:t>100%</a:t>
                      </a:r>
                    </a:p>
                  </a:txBody>
                  <a:tcPr marL="121860" marR="121860" marT="60930" marB="60930" anchor="ctr"/>
                </a:tc>
                <a:tc>
                  <a:txBody>
                    <a:bodyPr/>
                    <a:lstStyle/>
                    <a:p>
                      <a:pPr algn="ctr"/>
                      <a:r>
                        <a:rPr lang="en-US" sz="2400" dirty="0"/>
                        <a:t>100%</a:t>
                      </a:r>
                    </a:p>
                  </a:txBody>
                  <a:tcPr marL="121860" marR="121860" marT="60930" marB="60930" anchor="ctr"/>
                </a:tc>
                <a:extLst>
                  <a:ext uri="{0D108BD9-81ED-4DB2-BD59-A6C34878D82A}">
                    <a16:rowId xmlns:a16="http://schemas.microsoft.com/office/drawing/2014/main" val="2700149964"/>
                  </a:ext>
                </a:extLst>
              </a:tr>
              <a:tr h="494212">
                <a:tc>
                  <a:txBody>
                    <a:bodyPr/>
                    <a:lstStyle/>
                    <a:p>
                      <a:r>
                        <a:rPr lang="en-US" sz="2400" dirty="0"/>
                        <a:t>Cost of sales</a:t>
                      </a:r>
                    </a:p>
                  </a:txBody>
                  <a:tcPr marL="121860" marR="121860" marT="60930" marB="60930"/>
                </a:tc>
                <a:tc>
                  <a:txBody>
                    <a:bodyPr/>
                    <a:lstStyle/>
                    <a:p>
                      <a:pPr algn="ctr"/>
                      <a:r>
                        <a:rPr lang="en-US" sz="2400" dirty="0"/>
                        <a:t>80%</a:t>
                      </a:r>
                    </a:p>
                  </a:txBody>
                  <a:tcPr marL="121860" marR="121860" marT="60930" marB="60930" anchor="ctr"/>
                </a:tc>
                <a:tc>
                  <a:txBody>
                    <a:bodyPr/>
                    <a:lstStyle/>
                    <a:p>
                      <a:pPr algn="ctr"/>
                      <a:r>
                        <a:rPr lang="en-US" sz="2400" dirty="0"/>
                        <a:t>78%</a:t>
                      </a:r>
                    </a:p>
                  </a:txBody>
                  <a:tcPr marL="121860" marR="121860" marT="60930" marB="60930" anchor="ctr"/>
                </a:tc>
                <a:extLst>
                  <a:ext uri="{0D108BD9-81ED-4DB2-BD59-A6C34878D82A}">
                    <a16:rowId xmlns:a16="http://schemas.microsoft.com/office/drawing/2014/main" val="713870764"/>
                  </a:ext>
                </a:extLst>
              </a:tr>
              <a:tr h="494212">
                <a:tc>
                  <a:txBody>
                    <a:bodyPr/>
                    <a:lstStyle/>
                    <a:p>
                      <a:r>
                        <a:rPr lang="en-US" sz="2400" dirty="0"/>
                        <a:t>Gross profit</a:t>
                      </a:r>
                    </a:p>
                  </a:txBody>
                  <a:tcPr marL="121860" marR="121860" marT="60930" marB="60930"/>
                </a:tc>
                <a:tc>
                  <a:txBody>
                    <a:bodyPr/>
                    <a:lstStyle/>
                    <a:p>
                      <a:pPr algn="ctr"/>
                      <a:r>
                        <a:rPr lang="en-US" sz="2400" dirty="0"/>
                        <a:t>20%</a:t>
                      </a:r>
                    </a:p>
                  </a:txBody>
                  <a:tcPr marL="121860" marR="121860" marT="60930" marB="60930" anchor="ctr"/>
                </a:tc>
                <a:tc>
                  <a:txBody>
                    <a:bodyPr/>
                    <a:lstStyle/>
                    <a:p>
                      <a:pPr algn="ctr"/>
                      <a:r>
                        <a:rPr lang="en-US" sz="2400" dirty="0"/>
                        <a:t>22%</a:t>
                      </a:r>
                    </a:p>
                  </a:txBody>
                  <a:tcPr marL="121860" marR="121860" marT="60930" marB="60930" anchor="ctr"/>
                </a:tc>
                <a:extLst>
                  <a:ext uri="{0D108BD9-81ED-4DB2-BD59-A6C34878D82A}">
                    <a16:rowId xmlns:a16="http://schemas.microsoft.com/office/drawing/2014/main" val="3299061131"/>
                  </a:ext>
                </a:extLst>
              </a:tr>
              <a:tr h="390828">
                <a:tc>
                  <a:txBody>
                    <a:bodyPr/>
                    <a:lstStyle/>
                    <a:p>
                      <a:r>
                        <a:rPr lang="en-US" sz="2400" dirty="0"/>
                        <a:t>Selling, general and administrative expense</a:t>
                      </a:r>
                    </a:p>
                  </a:txBody>
                  <a:tcPr marL="121860" marR="121860" marT="60930" marB="60930"/>
                </a:tc>
                <a:tc>
                  <a:txBody>
                    <a:bodyPr/>
                    <a:lstStyle/>
                    <a:p>
                      <a:pPr algn="ctr"/>
                      <a:r>
                        <a:rPr lang="en-US" sz="2400" dirty="0"/>
                        <a:t>15%</a:t>
                      </a:r>
                    </a:p>
                  </a:txBody>
                  <a:tcPr marL="121860" marR="121860" marT="60930" marB="60930" anchor="ctr"/>
                </a:tc>
                <a:tc>
                  <a:txBody>
                    <a:bodyPr/>
                    <a:lstStyle/>
                    <a:p>
                      <a:pPr algn="ctr"/>
                      <a:r>
                        <a:rPr lang="en-US" sz="2400" dirty="0"/>
                        <a:t>15%</a:t>
                      </a:r>
                    </a:p>
                  </a:txBody>
                  <a:tcPr marL="121860" marR="121860" marT="60930" marB="60930" anchor="ctr"/>
                </a:tc>
                <a:extLst>
                  <a:ext uri="{0D108BD9-81ED-4DB2-BD59-A6C34878D82A}">
                    <a16:rowId xmlns:a16="http://schemas.microsoft.com/office/drawing/2014/main" val="2823215369"/>
                  </a:ext>
                </a:extLst>
              </a:tr>
              <a:tr h="494212">
                <a:tc>
                  <a:txBody>
                    <a:bodyPr/>
                    <a:lstStyle/>
                    <a:p>
                      <a:r>
                        <a:rPr lang="en-US" sz="2400"/>
                        <a:t>(recurring) Operating </a:t>
                      </a:r>
                      <a:r>
                        <a:rPr lang="en-US" sz="2400" dirty="0"/>
                        <a:t>profit</a:t>
                      </a:r>
                    </a:p>
                  </a:txBody>
                  <a:tcPr marL="121860" marR="121860" marT="60930" marB="60930"/>
                </a:tc>
                <a:tc>
                  <a:txBody>
                    <a:bodyPr/>
                    <a:lstStyle/>
                    <a:p>
                      <a:pPr algn="ctr"/>
                      <a:r>
                        <a:rPr lang="en-US" sz="2400" dirty="0"/>
                        <a:t>5%</a:t>
                      </a:r>
                    </a:p>
                  </a:txBody>
                  <a:tcPr marL="121860" marR="121860" marT="60930" marB="60930" anchor="ctr"/>
                </a:tc>
                <a:tc>
                  <a:txBody>
                    <a:bodyPr/>
                    <a:lstStyle/>
                    <a:p>
                      <a:pPr algn="ctr"/>
                      <a:r>
                        <a:rPr lang="en-US" sz="2400" dirty="0"/>
                        <a:t>7%</a:t>
                      </a:r>
                    </a:p>
                  </a:txBody>
                  <a:tcPr marL="121860" marR="121860" marT="60930" marB="60930" anchor="ctr"/>
                </a:tc>
                <a:extLst>
                  <a:ext uri="{0D108BD9-81ED-4DB2-BD59-A6C34878D82A}">
                    <a16:rowId xmlns:a16="http://schemas.microsoft.com/office/drawing/2014/main" val="975937241"/>
                  </a:ext>
                </a:extLst>
              </a:tr>
            </a:tbl>
          </a:graphicData>
        </a:graphic>
      </p:graphicFrame>
      <p:sp>
        <p:nvSpPr>
          <p:cNvPr id="5" name="Slide Number Placeholder 4">
            <a:extLst>
              <a:ext uri="{FF2B5EF4-FFF2-40B4-BE49-F238E27FC236}">
                <a16:creationId xmlns:a16="http://schemas.microsoft.com/office/drawing/2014/main" id="{69AFE2C5-4B85-4222-A920-DB7D43AB48D9}"/>
              </a:ext>
            </a:extLst>
          </p:cNvPr>
          <p:cNvSpPr>
            <a:spLocks noGrp="1"/>
          </p:cNvSpPr>
          <p:nvPr>
            <p:ph type="sldNum" sz="quarter" idx="10"/>
          </p:nvPr>
        </p:nvSpPr>
        <p:spPr/>
        <p:txBody>
          <a:bodyPr/>
          <a:lstStyle/>
          <a:p>
            <a:fld id="{307C7597-8D70-4701-8085-9524B0B5C72B}" type="slidenum">
              <a:rPr lang="fr-FR" smtClean="0"/>
              <a:pPr/>
              <a:t>38</a:t>
            </a:fld>
            <a:endParaRPr lang="fr-FR" dirty="0"/>
          </a:p>
        </p:txBody>
      </p:sp>
      <p:sp>
        <p:nvSpPr>
          <p:cNvPr id="2" name="TextBox 1">
            <a:extLst>
              <a:ext uri="{FF2B5EF4-FFF2-40B4-BE49-F238E27FC236}">
                <a16:creationId xmlns:a16="http://schemas.microsoft.com/office/drawing/2014/main" id="{40D04603-A790-519E-BECD-5B3015DD34D2}"/>
              </a:ext>
            </a:extLst>
          </p:cNvPr>
          <p:cNvSpPr txBox="1"/>
          <p:nvPr/>
        </p:nvSpPr>
        <p:spPr>
          <a:xfrm>
            <a:off x="1961965" y="6021949"/>
            <a:ext cx="10094359" cy="698012"/>
          </a:xfrm>
          <a:prstGeom prst="rect">
            <a:avLst/>
          </a:prstGeom>
          <a:solidFill>
            <a:schemeClr val="accent5">
              <a:lumMod val="20000"/>
              <a:lumOff val="80000"/>
            </a:schemeClr>
          </a:solidFill>
        </p:spPr>
        <p:txBody>
          <a:bodyPr wrap="square" rtlCol="0">
            <a:spAutoFit/>
          </a:bodyPr>
          <a:lstStyle/>
          <a:p>
            <a:r>
              <a:rPr lang="fr-FR" sz="1968" dirty="0" err="1"/>
              <a:t>Manufacturing</a:t>
            </a:r>
            <a:r>
              <a:rPr lang="fr-FR" sz="1968" dirty="0"/>
              <a:t> </a:t>
            </a:r>
            <a:r>
              <a:rPr lang="fr-FR" sz="1968" dirty="0" err="1"/>
              <a:t>company</a:t>
            </a:r>
            <a:r>
              <a:rPr lang="fr-FR" sz="1968" dirty="0"/>
              <a:t>:</a:t>
            </a:r>
          </a:p>
          <a:p>
            <a:r>
              <a:rPr lang="fr-FR" sz="1968" dirty="0" err="1"/>
              <a:t>Cost</a:t>
            </a:r>
            <a:r>
              <a:rPr lang="fr-FR" sz="1968" dirty="0"/>
              <a:t> of sales = </a:t>
            </a:r>
            <a:r>
              <a:rPr lang="fr-FR" sz="1968" dirty="0" err="1"/>
              <a:t>cost</a:t>
            </a:r>
            <a:r>
              <a:rPr lang="fr-FR" sz="1968" dirty="0"/>
              <a:t> of </a:t>
            </a:r>
            <a:r>
              <a:rPr lang="fr-FR" sz="1968" dirty="0" err="1"/>
              <a:t>goods</a:t>
            </a:r>
            <a:r>
              <a:rPr lang="fr-FR" sz="1968" dirty="0"/>
              <a:t> </a:t>
            </a:r>
            <a:r>
              <a:rPr lang="fr-FR" sz="1968" dirty="0" err="1"/>
              <a:t>sold</a:t>
            </a:r>
            <a:r>
              <a:rPr lang="fr-FR" sz="1968" dirty="0"/>
              <a:t> = production </a:t>
            </a:r>
            <a:r>
              <a:rPr lang="fr-FR" sz="1968" dirty="0" err="1"/>
              <a:t>cost</a:t>
            </a:r>
            <a:r>
              <a:rPr lang="fr-FR" sz="1968" dirty="0"/>
              <a:t> of </a:t>
            </a:r>
            <a:r>
              <a:rPr lang="fr-FR" sz="1968" dirty="0" err="1"/>
              <a:t>finished</a:t>
            </a:r>
            <a:r>
              <a:rPr lang="fr-FR" sz="1968" dirty="0"/>
              <a:t> </a:t>
            </a:r>
            <a:r>
              <a:rPr lang="fr-FR" sz="1968" dirty="0" err="1"/>
              <a:t>goods</a:t>
            </a:r>
            <a:r>
              <a:rPr lang="fr-FR" sz="1968" dirty="0"/>
              <a:t> </a:t>
            </a:r>
            <a:r>
              <a:rPr lang="fr-FR" sz="1968" dirty="0" err="1"/>
              <a:t>sold</a:t>
            </a:r>
            <a:endParaRPr lang="en-US" sz="1968" dirty="0"/>
          </a:p>
        </p:txBody>
      </p:sp>
    </p:spTree>
    <p:extLst>
      <p:ext uri="{BB962C8B-B14F-4D97-AF65-F5344CB8AC3E}">
        <p14:creationId xmlns:p14="http://schemas.microsoft.com/office/powerpoint/2010/main" val="3074710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C266D8CB-A7C8-4E47-AF77-7AFB86FB73A6}"/>
              </a:ext>
            </a:extLst>
          </p:cNvPr>
          <p:cNvGraphicFramePr>
            <a:graphicFrameLocks noGrp="1"/>
          </p:cNvGraphicFramePr>
          <p:nvPr>
            <p:ph idx="1"/>
            <p:extLst>
              <p:ext uri="{D42A27DB-BD31-4B8C-83A1-F6EECF244321}">
                <p14:modId xmlns:p14="http://schemas.microsoft.com/office/powerpoint/2010/main" val="864281893"/>
              </p:ext>
            </p:extLst>
          </p:nvPr>
        </p:nvGraphicFramePr>
        <p:xfrm>
          <a:off x="239697" y="1338780"/>
          <a:ext cx="8078681" cy="3808307"/>
        </p:xfrm>
        <a:graphic>
          <a:graphicData uri="http://schemas.openxmlformats.org/drawingml/2006/table">
            <a:tbl>
              <a:tblPr firstRow="1" bandRow="1">
                <a:tableStyleId>{5C22544A-7EE6-4342-B048-85BDC9FD1C3A}</a:tableStyleId>
              </a:tblPr>
              <a:tblGrid>
                <a:gridCol w="5016619">
                  <a:extLst>
                    <a:ext uri="{9D8B030D-6E8A-4147-A177-3AD203B41FA5}">
                      <a16:colId xmlns:a16="http://schemas.microsoft.com/office/drawing/2014/main" val="2645257150"/>
                    </a:ext>
                  </a:extLst>
                </a:gridCol>
                <a:gridCol w="1531031">
                  <a:extLst>
                    <a:ext uri="{9D8B030D-6E8A-4147-A177-3AD203B41FA5}">
                      <a16:colId xmlns:a16="http://schemas.microsoft.com/office/drawing/2014/main" val="3898556783"/>
                    </a:ext>
                  </a:extLst>
                </a:gridCol>
                <a:gridCol w="1531031">
                  <a:extLst>
                    <a:ext uri="{9D8B030D-6E8A-4147-A177-3AD203B41FA5}">
                      <a16:colId xmlns:a16="http://schemas.microsoft.com/office/drawing/2014/main" val="1118530341"/>
                    </a:ext>
                  </a:extLst>
                </a:gridCol>
              </a:tblGrid>
              <a:tr h="1150059">
                <a:tc>
                  <a:txBody>
                    <a:bodyPr/>
                    <a:lstStyle/>
                    <a:p>
                      <a:pPr algn="ctr"/>
                      <a:r>
                        <a:rPr lang="en-US" sz="2800" dirty="0">
                          <a:solidFill>
                            <a:schemeClr val="tx1">
                              <a:lumMod val="60000"/>
                              <a:lumOff val="40000"/>
                            </a:schemeClr>
                          </a:solidFill>
                        </a:rPr>
                        <a:t>Alternative interpretations</a:t>
                      </a:r>
                    </a:p>
                  </a:txBody>
                  <a:tcPr marL="121860" marR="121860" marT="60930" marB="60930" anchor="ctr">
                    <a:noFill/>
                  </a:tcPr>
                </a:tc>
                <a:tc>
                  <a:txBody>
                    <a:bodyPr/>
                    <a:lstStyle/>
                    <a:p>
                      <a:pPr algn="ctr"/>
                      <a:r>
                        <a:rPr lang="en-US" sz="2200" dirty="0"/>
                        <a:t>In % of revenue</a:t>
                      </a:r>
                    </a:p>
                    <a:p>
                      <a:pPr algn="ctr"/>
                      <a:r>
                        <a:rPr lang="en-US" sz="2200" dirty="0"/>
                        <a:t>In 2024</a:t>
                      </a:r>
                    </a:p>
                  </a:txBody>
                  <a:tcPr marL="121860" marR="121860" marT="60930" marB="60930" anchor="ctr"/>
                </a:tc>
                <a:tc>
                  <a:txBody>
                    <a:bodyPr/>
                    <a:lstStyle/>
                    <a:p>
                      <a:pPr algn="ctr"/>
                      <a:r>
                        <a:rPr lang="en-US" sz="2200" dirty="0"/>
                        <a:t>In % of revenue in 2025</a:t>
                      </a:r>
                    </a:p>
                  </a:txBody>
                  <a:tcPr marL="121860" marR="121860" marT="60930" marB="60930" anchor="ctr"/>
                </a:tc>
                <a:extLst>
                  <a:ext uri="{0D108BD9-81ED-4DB2-BD59-A6C34878D82A}">
                    <a16:rowId xmlns:a16="http://schemas.microsoft.com/office/drawing/2014/main" val="345260173"/>
                  </a:ext>
                </a:extLst>
              </a:tr>
              <a:tr h="464594">
                <a:tc>
                  <a:txBody>
                    <a:bodyPr/>
                    <a:lstStyle/>
                    <a:p>
                      <a:r>
                        <a:rPr lang="en-US" sz="2200" dirty="0"/>
                        <a:t>Sales revenue</a:t>
                      </a:r>
                    </a:p>
                  </a:txBody>
                  <a:tcPr marL="121860" marR="121860" marT="60930" marB="60930"/>
                </a:tc>
                <a:tc>
                  <a:txBody>
                    <a:bodyPr/>
                    <a:lstStyle/>
                    <a:p>
                      <a:pPr algn="ctr"/>
                      <a:r>
                        <a:rPr lang="en-US" sz="2200" dirty="0"/>
                        <a:t>100%</a:t>
                      </a:r>
                    </a:p>
                  </a:txBody>
                  <a:tcPr marL="121860" marR="121860" marT="60930" marB="60930" anchor="ctr"/>
                </a:tc>
                <a:tc>
                  <a:txBody>
                    <a:bodyPr/>
                    <a:lstStyle/>
                    <a:p>
                      <a:pPr algn="ctr"/>
                      <a:r>
                        <a:rPr lang="en-US" sz="2200" dirty="0"/>
                        <a:t>100%</a:t>
                      </a:r>
                    </a:p>
                  </a:txBody>
                  <a:tcPr marL="121860" marR="121860" marT="60930" marB="60930" anchor="ctr"/>
                </a:tc>
                <a:extLst>
                  <a:ext uri="{0D108BD9-81ED-4DB2-BD59-A6C34878D82A}">
                    <a16:rowId xmlns:a16="http://schemas.microsoft.com/office/drawing/2014/main" val="2700149964"/>
                  </a:ext>
                </a:extLst>
              </a:tr>
              <a:tr h="807326">
                <a:tc>
                  <a:txBody>
                    <a:bodyPr/>
                    <a:lstStyle/>
                    <a:p>
                      <a:r>
                        <a:rPr lang="en-US" sz="2200" dirty="0"/>
                        <a:t>Cost of sales (here, cost of goods sold: COGS)</a:t>
                      </a:r>
                    </a:p>
                  </a:txBody>
                  <a:tcPr marL="121860" marR="121860" marT="60930" marB="60930"/>
                </a:tc>
                <a:tc>
                  <a:txBody>
                    <a:bodyPr/>
                    <a:lstStyle/>
                    <a:p>
                      <a:pPr algn="ctr"/>
                      <a:r>
                        <a:rPr lang="en-US" sz="2200" dirty="0"/>
                        <a:t>80%</a:t>
                      </a:r>
                    </a:p>
                  </a:txBody>
                  <a:tcPr marL="121860" marR="121860" marT="60930" marB="60930" anchor="ctr"/>
                </a:tc>
                <a:tc>
                  <a:txBody>
                    <a:bodyPr/>
                    <a:lstStyle/>
                    <a:p>
                      <a:pPr algn="ctr"/>
                      <a:r>
                        <a:rPr lang="en-US" sz="2200" dirty="0"/>
                        <a:t>78%</a:t>
                      </a:r>
                    </a:p>
                  </a:txBody>
                  <a:tcPr marL="121860" marR="121860" marT="60930" marB="60930" anchor="ctr"/>
                </a:tc>
                <a:extLst>
                  <a:ext uri="{0D108BD9-81ED-4DB2-BD59-A6C34878D82A}">
                    <a16:rowId xmlns:a16="http://schemas.microsoft.com/office/drawing/2014/main" val="713870764"/>
                  </a:ext>
                </a:extLst>
              </a:tr>
              <a:tr h="464594">
                <a:tc>
                  <a:txBody>
                    <a:bodyPr/>
                    <a:lstStyle/>
                    <a:p>
                      <a:r>
                        <a:rPr lang="en-US" sz="2200" dirty="0"/>
                        <a:t>Gross profit</a:t>
                      </a:r>
                    </a:p>
                  </a:txBody>
                  <a:tcPr marL="121860" marR="121860" marT="60930" marB="60930"/>
                </a:tc>
                <a:tc>
                  <a:txBody>
                    <a:bodyPr/>
                    <a:lstStyle/>
                    <a:p>
                      <a:pPr algn="ctr"/>
                      <a:r>
                        <a:rPr lang="en-US" sz="2200" dirty="0"/>
                        <a:t>20%</a:t>
                      </a:r>
                    </a:p>
                  </a:txBody>
                  <a:tcPr marL="121860" marR="121860" marT="60930" marB="60930" anchor="ctr"/>
                </a:tc>
                <a:tc>
                  <a:txBody>
                    <a:bodyPr/>
                    <a:lstStyle/>
                    <a:p>
                      <a:pPr algn="ctr"/>
                      <a:r>
                        <a:rPr lang="en-US" sz="2200" dirty="0"/>
                        <a:t>22%</a:t>
                      </a:r>
                    </a:p>
                  </a:txBody>
                  <a:tcPr marL="121860" marR="121860" marT="60930" marB="60930" anchor="ctr"/>
                </a:tc>
                <a:extLst>
                  <a:ext uri="{0D108BD9-81ED-4DB2-BD59-A6C34878D82A}">
                    <a16:rowId xmlns:a16="http://schemas.microsoft.com/office/drawing/2014/main" val="3299061131"/>
                  </a:ext>
                </a:extLst>
              </a:tr>
              <a:tr h="0">
                <a:tc>
                  <a:txBody>
                    <a:bodyPr/>
                    <a:lstStyle/>
                    <a:p>
                      <a:r>
                        <a:rPr lang="en-US" sz="2200" dirty="0"/>
                        <a:t>S,G&amp;A expense</a:t>
                      </a:r>
                    </a:p>
                  </a:txBody>
                  <a:tcPr marL="121860" marR="121860" marT="60930" marB="60930"/>
                </a:tc>
                <a:tc>
                  <a:txBody>
                    <a:bodyPr/>
                    <a:lstStyle/>
                    <a:p>
                      <a:pPr algn="ctr"/>
                      <a:r>
                        <a:rPr lang="en-US" sz="2200" dirty="0"/>
                        <a:t>15%</a:t>
                      </a:r>
                    </a:p>
                  </a:txBody>
                  <a:tcPr marL="121860" marR="121860" marT="60930" marB="60930" anchor="ctr"/>
                </a:tc>
                <a:tc>
                  <a:txBody>
                    <a:bodyPr/>
                    <a:lstStyle/>
                    <a:p>
                      <a:pPr algn="ctr"/>
                      <a:r>
                        <a:rPr lang="en-US" sz="2200" dirty="0"/>
                        <a:t>15%</a:t>
                      </a:r>
                    </a:p>
                  </a:txBody>
                  <a:tcPr marL="121860" marR="121860" marT="60930" marB="60930" anchor="ctr"/>
                </a:tc>
                <a:extLst>
                  <a:ext uri="{0D108BD9-81ED-4DB2-BD59-A6C34878D82A}">
                    <a16:rowId xmlns:a16="http://schemas.microsoft.com/office/drawing/2014/main" val="2823215369"/>
                  </a:ext>
                </a:extLst>
              </a:tr>
              <a:tr h="464594">
                <a:tc>
                  <a:txBody>
                    <a:bodyPr/>
                    <a:lstStyle/>
                    <a:p>
                      <a:r>
                        <a:rPr lang="en-US" sz="2200" dirty="0"/>
                        <a:t>(recurring) Operating profit</a:t>
                      </a:r>
                    </a:p>
                  </a:txBody>
                  <a:tcPr marL="121860" marR="121860" marT="60930" marB="60930"/>
                </a:tc>
                <a:tc>
                  <a:txBody>
                    <a:bodyPr/>
                    <a:lstStyle/>
                    <a:p>
                      <a:pPr algn="ctr"/>
                      <a:r>
                        <a:rPr lang="en-US" sz="2200" dirty="0"/>
                        <a:t>5%</a:t>
                      </a:r>
                    </a:p>
                  </a:txBody>
                  <a:tcPr marL="121860" marR="121860" marT="60930" marB="60930" anchor="ctr"/>
                </a:tc>
                <a:tc>
                  <a:txBody>
                    <a:bodyPr/>
                    <a:lstStyle/>
                    <a:p>
                      <a:pPr algn="ctr"/>
                      <a:r>
                        <a:rPr lang="en-US" sz="2200" dirty="0"/>
                        <a:t>7%</a:t>
                      </a:r>
                    </a:p>
                  </a:txBody>
                  <a:tcPr marL="121860" marR="121860" marT="60930" marB="60930" anchor="ctr"/>
                </a:tc>
                <a:extLst>
                  <a:ext uri="{0D108BD9-81ED-4DB2-BD59-A6C34878D82A}">
                    <a16:rowId xmlns:a16="http://schemas.microsoft.com/office/drawing/2014/main" val="975937241"/>
                  </a:ext>
                </a:extLst>
              </a:tr>
            </a:tbl>
          </a:graphicData>
        </a:graphic>
      </p:graphicFrame>
      <p:sp>
        <p:nvSpPr>
          <p:cNvPr id="5" name="Slide Number Placeholder 4">
            <a:extLst>
              <a:ext uri="{FF2B5EF4-FFF2-40B4-BE49-F238E27FC236}">
                <a16:creationId xmlns:a16="http://schemas.microsoft.com/office/drawing/2014/main" id="{69AFE2C5-4B85-4222-A920-DB7D43AB48D9}"/>
              </a:ext>
            </a:extLst>
          </p:cNvPr>
          <p:cNvSpPr>
            <a:spLocks noGrp="1"/>
          </p:cNvSpPr>
          <p:nvPr>
            <p:ph type="sldNum" sz="quarter" idx="10"/>
          </p:nvPr>
        </p:nvSpPr>
        <p:spPr/>
        <p:txBody>
          <a:bodyPr/>
          <a:lstStyle/>
          <a:p>
            <a:fld id="{307C7597-8D70-4701-8085-9524B0B5C72B}" type="slidenum">
              <a:rPr lang="fr-FR" smtClean="0"/>
              <a:pPr/>
              <a:t>39</a:t>
            </a:fld>
            <a:endParaRPr lang="fr-FR" dirty="0"/>
          </a:p>
        </p:txBody>
      </p:sp>
      <p:sp>
        <p:nvSpPr>
          <p:cNvPr id="8" name="Arrow: Right 7">
            <a:extLst>
              <a:ext uri="{FF2B5EF4-FFF2-40B4-BE49-F238E27FC236}">
                <a16:creationId xmlns:a16="http://schemas.microsoft.com/office/drawing/2014/main" id="{6E5CCB5A-1E2C-4865-AE4B-12FED995617E}"/>
              </a:ext>
            </a:extLst>
          </p:cNvPr>
          <p:cNvSpPr/>
          <p:nvPr/>
        </p:nvSpPr>
        <p:spPr>
          <a:xfrm>
            <a:off x="6529740" y="3196470"/>
            <a:ext cx="479819" cy="2878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 name="TextBox 8">
            <a:extLst>
              <a:ext uri="{FF2B5EF4-FFF2-40B4-BE49-F238E27FC236}">
                <a16:creationId xmlns:a16="http://schemas.microsoft.com/office/drawing/2014/main" id="{563FB5D1-047B-4A4E-A265-EA3B279CE3F6}"/>
              </a:ext>
            </a:extLst>
          </p:cNvPr>
          <p:cNvSpPr txBox="1"/>
          <p:nvPr/>
        </p:nvSpPr>
        <p:spPr>
          <a:xfrm>
            <a:off x="6020081" y="3429000"/>
            <a:ext cx="1978956" cy="461537"/>
          </a:xfrm>
          <a:prstGeom prst="rect">
            <a:avLst/>
          </a:prstGeom>
          <a:noFill/>
        </p:spPr>
        <p:txBody>
          <a:bodyPr wrap="square" rtlCol="0">
            <a:spAutoFit/>
          </a:bodyPr>
          <a:lstStyle/>
          <a:p>
            <a:r>
              <a:rPr lang="en-US" sz="2399" dirty="0"/>
              <a:t>- 200 points</a:t>
            </a:r>
          </a:p>
        </p:txBody>
      </p:sp>
      <p:sp>
        <p:nvSpPr>
          <p:cNvPr id="2" name="TextBox 1">
            <a:extLst>
              <a:ext uri="{FF2B5EF4-FFF2-40B4-BE49-F238E27FC236}">
                <a16:creationId xmlns:a16="http://schemas.microsoft.com/office/drawing/2014/main" id="{1EBAC62B-3004-4D56-BC90-BBC92BB7B6BD}"/>
              </a:ext>
            </a:extLst>
          </p:cNvPr>
          <p:cNvSpPr txBox="1"/>
          <p:nvPr/>
        </p:nvSpPr>
        <p:spPr>
          <a:xfrm>
            <a:off x="8398598" y="191367"/>
            <a:ext cx="3767315" cy="4891980"/>
          </a:xfrm>
          <a:prstGeom prst="rect">
            <a:avLst/>
          </a:prstGeom>
          <a:noFill/>
        </p:spPr>
        <p:txBody>
          <a:bodyPr wrap="square" rtlCol="0">
            <a:spAutoFit/>
          </a:bodyPr>
          <a:lstStyle/>
          <a:p>
            <a:r>
              <a:rPr lang="en-US" sz="2399" dirty="0"/>
              <a:t>Alternative explanations of the good performance :</a:t>
            </a:r>
          </a:p>
          <a:p>
            <a:pPr marL="380825" indent="-380825">
              <a:buFontTx/>
              <a:buChar char="-"/>
            </a:pPr>
            <a:r>
              <a:rPr lang="en-US" sz="2399" dirty="0"/>
              <a:t>Decrease in unit COGS,</a:t>
            </a:r>
          </a:p>
          <a:p>
            <a:pPr marL="380825" indent="-380825">
              <a:buFontTx/>
              <a:buChar char="-"/>
            </a:pPr>
            <a:r>
              <a:rPr lang="en-US" sz="2399" dirty="0"/>
              <a:t>Increase in selling price higher than increase in unit COGS,</a:t>
            </a:r>
          </a:p>
          <a:p>
            <a:pPr marL="380825" indent="-380825">
              <a:buFontTx/>
              <a:buChar char="-"/>
            </a:pPr>
            <a:r>
              <a:rPr lang="en-US" sz="2399" dirty="0"/>
              <a:t>Decrease in unit COGS higher than decrease in selling price</a:t>
            </a:r>
          </a:p>
          <a:p>
            <a:pPr marL="380825" indent="-380825">
              <a:buFontTx/>
              <a:buChar char="-"/>
            </a:pPr>
            <a:r>
              <a:rPr lang="en-US" sz="2399" dirty="0"/>
              <a:t>Or increase in selling price without change in unit COGS</a:t>
            </a:r>
          </a:p>
        </p:txBody>
      </p:sp>
      <p:sp>
        <p:nvSpPr>
          <p:cNvPr id="7" name="TextBox 6">
            <a:extLst>
              <a:ext uri="{FF2B5EF4-FFF2-40B4-BE49-F238E27FC236}">
                <a16:creationId xmlns:a16="http://schemas.microsoft.com/office/drawing/2014/main" id="{9745F2B6-B46A-42D1-B4C7-632E660B7519}"/>
              </a:ext>
            </a:extLst>
          </p:cNvPr>
          <p:cNvSpPr txBox="1"/>
          <p:nvPr/>
        </p:nvSpPr>
        <p:spPr>
          <a:xfrm>
            <a:off x="146244" y="5225677"/>
            <a:ext cx="11899512" cy="1569148"/>
          </a:xfrm>
          <a:prstGeom prst="rect">
            <a:avLst/>
          </a:prstGeom>
          <a:solidFill>
            <a:schemeClr val="bg1"/>
          </a:solidFill>
        </p:spPr>
        <p:txBody>
          <a:bodyPr wrap="square" rtlCol="0">
            <a:spAutoFit/>
          </a:bodyPr>
          <a:lstStyle/>
          <a:p>
            <a:r>
              <a:rPr lang="en-US" sz="2399" dirty="0"/>
              <a:t>The sales volume effect is included in the unit COGS through unit manufacturing fixed cost (a decrease in Unit FC = economies of scale) or unit manufacturing variable cost (learning experience or negotiation (for instance, a decrease in purchase price with a better negotiation with suppliers))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967F3BD-13FD-4F0F-AAE8-ACDDC4D1AED6}"/>
                  </a:ext>
                </a:extLst>
              </p:cNvPr>
              <p:cNvSpPr txBox="1"/>
              <p:nvPr/>
            </p:nvSpPr>
            <p:spPr>
              <a:xfrm>
                <a:off x="26087" y="326833"/>
                <a:ext cx="8163645" cy="8424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2666" i="1">
                          <a:latin typeface="Cambria Math" panose="02040503050406030204" pitchFamily="18" charset="0"/>
                        </a:rPr>
                        <m:t>𝐶𝑂𝐺𝑆</m:t>
                      </m:r>
                      <m:r>
                        <a:rPr lang="fr-FR" sz="2666" i="1">
                          <a:latin typeface="Cambria Math" panose="02040503050406030204" pitchFamily="18" charset="0"/>
                        </a:rPr>
                        <m:t> </m:t>
                      </m:r>
                      <m:r>
                        <a:rPr lang="fr-FR" sz="2666" i="1">
                          <a:latin typeface="Cambria Math" panose="02040503050406030204" pitchFamily="18" charset="0"/>
                        </a:rPr>
                        <m:t>𝑖𝑛</m:t>
                      </m:r>
                      <m:r>
                        <a:rPr lang="fr-FR" sz="2666" i="1">
                          <a:latin typeface="Cambria Math" panose="02040503050406030204" pitchFamily="18" charset="0"/>
                        </a:rPr>
                        <m:t> % </m:t>
                      </m:r>
                      <m:r>
                        <a:rPr lang="fr-FR" sz="2666" i="1">
                          <a:latin typeface="Cambria Math" panose="02040503050406030204" pitchFamily="18" charset="0"/>
                        </a:rPr>
                        <m:t>𝑜𝑓</m:t>
                      </m:r>
                      <m:r>
                        <a:rPr lang="fr-FR" sz="2666" i="1">
                          <a:latin typeface="Cambria Math" panose="02040503050406030204" pitchFamily="18" charset="0"/>
                        </a:rPr>
                        <m:t> </m:t>
                      </m:r>
                      <m:r>
                        <a:rPr lang="fr-FR" sz="2666" i="1">
                          <a:latin typeface="Cambria Math" panose="02040503050406030204" pitchFamily="18" charset="0"/>
                        </a:rPr>
                        <m:t>𝑠𝑎𝑙𝑒𝑠</m:t>
                      </m:r>
                      <m:r>
                        <a:rPr lang="fr-FR" sz="2666" i="1">
                          <a:latin typeface="Cambria Math" panose="02040503050406030204" pitchFamily="18" charset="0"/>
                        </a:rPr>
                        <m:t> =</m:t>
                      </m:r>
                      <m:f>
                        <m:fPr>
                          <m:ctrlPr>
                            <a:rPr lang="fr-FR" sz="2666" i="1">
                              <a:latin typeface="Cambria Math" panose="02040503050406030204" pitchFamily="18" charset="0"/>
                            </a:rPr>
                          </m:ctrlPr>
                        </m:fPr>
                        <m:num>
                          <m:r>
                            <a:rPr lang="fr-FR" sz="2666" i="1">
                              <a:latin typeface="Cambria Math" panose="02040503050406030204" pitchFamily="18" charset="0"/>
                            </a:rPr>
                            <m:t>𝐶𝑂𝐺𝑆</m:t>
                          </m:r>
                        </m:num>
                        <m:den>
                          <m:r>
                            <a:rPr lang="fr-FR" sz="2666" i="1">
                              <a:latin typeface="Cambria Math" panose="02040503050406030204" pitchFamily="18" charset="0"/>
                            </a:rPr>
                            <m:t>𝑆𝑎𝑙𝑒𝑠</m:t>
                          </m:r>
                          <m:r>
                            <a:rPr lang="fr-FR" sz="2666" i="1">
                              <a:latin typeface="Cambria Math" panose="02040503050406030204" pitchFamily="18" charset="0"/>
                            </a:rPr>
                            <m:t> </m:t>
                          </m:r>
                          <m:r>
                            <a:rPr lang="fr-FR" sz="2666" i="1">
                              <a:latin typeface="Cambria Math" panose="02040503050406030204" pitchFamily="18" charset="0"/>
                            </a:rPr>
                            <m:t>𝑟𝑒𝑣𝑒𝑛𝑢𝑒</m:t>
                          </m:r>
                        </m:den>
                      </m:f>
                      <m:r>
                        <a:rPr lang="fr-FR" sz="2666" i="1">
                          <a:latin typeface="Cambria Math" panose="02040503050406030204" pitchFamily="18" charset="0"/>
                        </a:rPr>
                        <m:t>=</m:t>
                      </m:r>
                      <m:f>
                        <m:fPr>
                          <m:ctrlPr>
                            <a:rPr lang="fr-FR" sz="2666" i="1">
                              <a:latin typeface="Cambria Math" panose="02040503050406030204" pitchFamily="18" charset="0"/>
                            </a:rPr>
                          </m:ctrlPr>
                        </m:fPr>
                        <m:num>
                          <m:r>
                            <a:rPr lang="fr-FR" sz="2666" i="1">
                              <a:latin typeface="Cambria Math" panose="02040503050406030204" pitchFamily="18" charset="0"/>
                            </a:rPr>
                            <m:t>𝑈𝑛𝑖𝑡</m:t>
                          </m:r>
                          <m:r>
                            <a:rPr lang="fr-FR" sz="2666" i="1">
                              <a:latin typeface="Cambria Math" panose="02040503050406030204" pitchFamily="18" charset="0"/>
                            </a:rPr>
                            <m:t> </m:t>
                          </m:r>
                          <m:r>
                            <a:rPr lang="fr-FR" sz="2666" i="1">
                              <a:latin typeface="Cambria Math" panose="02040503050406030204" pitchFamily="18" charset="0"/>
                            </a:rPr>
                            <m:t>𝐶𝑂𝐺𝑆</m:t>
                          </m:r>
                        </m:num>
                        <m:den>
                          <m:r>
                            <a:rPr lang="fr-FR" sz="2666" i="1">
                              <a:latin typeface="Cambria Math" panose="02040503050406030204" pitchFamily="18" charset="0"/>
                            </a:rPr>
                            <m:t>𝑆𝑒𝑙𝑙𝑖𝑛𝑔</m:t>
                          </m:r>
                          <m:r>
                            <a:rPr lang="fr-FR" sz="2666" i="1">
                              <a:latin typeface="Cambria Math" panose="02040503050406030204" pitchFamily="18" charset="0"/>
                            </a:rPr>
                            <m:t> </m:t>
                          </m:r>
                          <m:r>
                            <a:rPr lang="fr-FR" sz="2666" i="1">
                              <a:latin typeface="Cambria Math" panose="02040503050406030204" pitchFamily="18" charset="0"/>
                            </a:rPr>
                            <m:t>𝑝𝑟𝑖𝑐𝑒</m:t>
                          </m:r>
                        </m:den>
                      </m:f>
                      <m:r>
                        <a:rPr lang="fr-FR" sz="2666" i="1">
                          <a:latin typeface="Cambria Math" panose="02040503050406030204" pitchFamily="18" charset="0"/>
                        </a:rPr>
                        <m:t> </m:t>
                      </m:r>
                    </m:oMath>
                  </m:oMathPara>
                </a14:m>
                <a:endParaRPr lang="en-US" sz="2666" dirty="0"/>
              </a:p>
            </p:txBody>
          </p:sp>
        </mc:Choice>
        <mc:Fallback xmlns="">
          <p:sp>
            <p:nvSpPr>
              <p:cNvPr id="10" name="TextBox 9">
                <a:extLst>
                  <a:ext uri="{FF2B5EF4-FFF2-40B4-BE49-F238E27FC236}">
                    <a16:creationId xmlns:a16="http://schemas.microsoft.com/office/drawing/2014/main" id="{4967F3BD-13FD-4F0F-AAE8-ACDDC4D1AED6}"/>
                  </a:ext>
                </a:extLst>
              </p:cNvPr>
              <p:cNvSpPr txBox="1">
                <a:spLocks noRot="1" noChangeAspect="1" noMove="1" noResize="1" noEditPoints="1" noAdjustHandles="1" noChangeArrowheads="1" noChangeShapeType="1" noTextEdit="1"/>
              </p:cNvSpPr>
              <p:nvPr/>
            </p:nvSpPr>
            <p:spPr>
              <a:xfrm>
                <a:off x="26087" y="326833"/>
                <a:ext cx="8163645" cy="84247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643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E80CC1-39D3-211B-4F91-44C476DD44AE}"/>
              </a:ext>
            </a:extLst>
          </p:cNvPr>
          <p:cNvSpPr>
            <a:spLocks noGrp="1"/>
          </p:cNvSpPr>
          <p:nvPr>
            <p:ph type="title"/>
          </p:nvPr>
        </p:nvSpPr>
        <p:spPr/>
        <p:txBody>
          <a:bodyPr/>
          <a:lstStyle/>
          <a:p>
            <a:r>
              <a:rPr lang="fr-FR" dirty="0" err="1"/>
              <a:t>Traditionnal</a:t>
            </a:r>
            <a:r>
              <a:rPr lang="fr-FR" dirty="0"/>
              <a:t> EBIT </a:t>
            </a:r>
            <a:r>
              <a:rPr lang="fr-FR" dirty="0" err="1"/>
              <a:t>calculation</a:t>
            </a:r>
            <a:endParaRPr lang="en-US" dirty="0"/>
          </a:p>
        </p:txBody>
      </p:sp>
      <p:sp>
        <p:nvSpPr>
          <p:cNvPr id="2" name="Content Placeholder 1">
            <a:extLst>
              <a:ext uri="{FF2B5EF4-FFF2-40B4-BE49-F238E27FC236}">
                <a16:creationId xmlns:a16="http://schemas.microsoft.com/office/drawing/2014/main" id="{A28DD497-0317-E359-422F-BEE783F25154}"/>
              </a:ext>
            </a:extLst>
          </p:cNvPr>
          <p:cNvSpPr>
            <a:spLocks noGrp="1"/>
          </p:cNvSpPr>
          <p:nvPr>
            <p:ph idx="1"/>
          </p:nvPr>
        </p:nvSpPr>
        <p:spPr/>
        <p:txBody>
          <a:bodyPr/>
          <a:lstStyle/>
          <a:p>
            <a:r>
              <a:rPr lang="fr-FR" dirty="0"/>
              <a:t>Net profit (or EAT: </a:t>
            </a:r>
            <a:r>
              <a:rPr lang="fr-FR" dirty="0" err="1"/>
              <a:t>Earnings</a:t>
            </a:r>
            <a:r>
              <a:rPr lang="fr-FR" dirty="0"/>
              <a:t> </a:t>
            </a:r>
            <a:r>
              <a:rPr lang="fr-FR" dirty="0" err="1"/>
              <a:t>After</a:t>
            </a:r>
            <a:r>
              <a:rPr lang="fr-FR" dirty="0"/>
              <a:t> Taxes) + </a:t>
            </a:r>
            <a:r>
              <a:rPr lang="fr-FR" dirty="0" err="1"/>
              <a:t>Income</a:t>
            </a:r>
            <a:r>
              <a:rPr lang="fr-FR" dirty="0"/>
              <a:t> </a:t>
            </a:r>
            <a:r>
              <a:rPr lang="fr-FR" dirty="0" err="1"/>
              <a:t>tax</a:t>
            </a:r>
            <a:r>
              <a:rPr lang="fr-FR" dirty="0"/>
              <a:t> </a:t>
            </a:r>
            <a:r>
              <a:rPr lang="fr-FR" dirty="0" err="1"/>
              <a:t>expense</a:t>
            </a:r>
            <a:r>
              <a:rPr lang="fr-FR" dirty="0"/>
              <a:t> = EBT (</a:t>
            </a:r>
            <a:r>
              <a:rPr lang="fr-FR" dirty="0" err="1"/>
              <a:t>Earnings</a:t>
            </a:r>
            <a:r>
              <a:rPr lang="fr-FR" dirty="0"/>
              <a:t> </a:t>
            </a:r>
            <a:r>
              <a:rPr lang="fr-FR" dirty="0" err="1"/>
              <a:t>before</a:t>
            </a:r>
            <a:r>
              <a:rPr lang="fr-FR" dirty="0"/>
              <a:t> Taxes)</a:t>
            </a:r>
          </a:p>
          <a:p>
            <a:r>
              <a:rPr lang="fr-FR" dirty="0"/>
              <a:t>EBT + </a:t>
            </a:r>
            <a:r>
              <a:rPr lang="fr-FR" dirty="0" err="1"/>
              <a:t>Interest</a:t>
            </a:r>
            <a:r>
              <a:rPr lang="fr-FR" dirty="0"/>
              <a:t> and </a:t>
            </a:r>
            <a:r>
              <a:rPr lang="fr-FR" dirty="0" err="1"/>
              <a:t>other</a:t>
            </a:r>
            <a:r>
              <a:rPr lang="fr-FR" dirty="0"/>
              <a:t> </a:t>
            </a:r>
            <a:r>
              <a:rPr lang="fr-FR" dirty="0" err="1"/>
              <a:t>financial</a:t>
            </a:r>
            <a:r>
              <a:rPr lang="fr-FR" dirty="0"/>
              <a:t> </a:t>
            </a:r>
            <a:r>
              <a:rPr lang="fr-FR" dirty="0" err="1"/>
              <a:t>expense</a:t>
            </a:r>
            <a:r>
              <a:rPr lang="fr-FR" dirty="0"/>
              <a:t> – </a:t>
            </a:r>
            <a:r>
              <a:rPr lang="fr-FR" dirty="0" err="1"/>
              <a:t>Interest</a:t>
            </a:r>
            <a:r>
              <a:rPr lang="fr-FR" dirty="0"/>
              <a:t> and </a:t>
            </a:r>
            <a:r>
              <a:rPr lang="fr-FR" dirty="0" err="1"/>
              <a:t>other</a:t>
            </a:r>
            <a:r>
              <a:rPr lang="fr-FR" dirty="0"/>
              <a:t> </a:t>
            </a:r>
            <a:r>
              <a:rPr lang="fr-FR" dirty="0" err="1"/>
              <a:t>financial</a:t>
            </a:r>
            <a:r>
              <a:rPr lang="fr-FR" dirty="0"/>
              <a:t> </a:t>
            </a:r>
            <a:r>
              <a:rPr lang="fr-FR" dirty="0" err="1"/>
              <a:t>income</a:t>
            </a:r>
            <a:r>
              <a:rPr lang="fr-FR" dirty="0"/>
              <a:t> = </a:t>
            </a:r>
            <a:r>
              <a:rPr lang="fr-FR" b="1" dirty="0"/>
              <a:t>EBIT (</a:t>
            </a:r>
            <a:r>
              <a:rPr lang="fr-FR" b="1" dirty="0" err="1"/>
              <a:t>Earnings</a:t>
            </a:r>
            <a:r>
              <a:rPr lang="fr-FR" b="1" dirty="0"/>
              <a:t> </a:t>
            </a:r>
            <a:r>
              <a:rPr lang="fr-FR" b="1" dirty="0" err="1"/>
              <a:t>Before</a:t>
            </a:r>
            <a:r>
              <a:rPr lang="fr-FR" b="1" dirty="0"/>
              <a:t> </a:t>
            </a:r>
            <a:r>
              <a:rPr lang="fr-FR" b="1" dirty="0" err="1"/>
              <a:t>Interest</a:t>
            </a:r>
            <a:r>
              <a:rPr lang="fr-FR" b="1" dirty="0"/>
              <a:t> and Taxes)</a:t>
            </a:r>
          </a:p>
          <a:p>
            <a:r>
              <a:rPr lang="fr-FR" dirty="0"/>
              <a:t>EBIT + D&amp;A </a:t>
            </a:r>
            <a:r>
              <a:rPr lang="fr-FR" dirty="0" err="1"/>
              <a:t>expense</a:t>
            </a:r>
            <a:r>
              <a:rPr lang="fr-FR" dirty="0"/>
              <a:t> (+ non-</a:t>
            </a:r>
            <a:r>
              <a:rPr lang="fr-FR" dirty="0" err="1"/>
              <a:t>recurring</a:t>
            </a:r>
            <a:r>
              <a:rPr lang="fr-FR" dirty="0"/>
              <a:t> </a:t>
            </a:r>
            <a:r>
              <a:rPr lang="fr-FR" dirty="0" err="1"/>
              <a:t>expense</a:t>
            </a:r>
            <a:r>
              <a:rPr lang="fr-FR" dirty="0"/>
              <a:t> – Non-</a:t>
            </a:r>
            <a:r>
              <a:rPr lang="fr-FR" dirty="0" err="1"/>
              <a:t>recurring</a:t>
            </a:r>
            <a:r>
              <a:rPr lang="fr-FR" dirty="0"/>
              <a:t> </a:t>
            </a:r>
            <a:r>
              <a:rPr lang="fr-FR" dirty="0" err="1"/>
              <a:t>income</a:t>
            </a:r>
            <a:r>
              <a:rPr lang="fr-FR" dirty="0"/>
              <a:t>) = EBITDA</a:t>
            </a:r>
            <a:endParaRPr lang="en-US" dirty="0"/>
          </a:p>
        </p:txBody>
      </p:sp>
      <p:sp>
        <p:nvSpPr>
          <p:cNvPr id="5" name="Slide Number Placeholder 4">
            <a:extLst>
              <a:ext uri="{FF2B5EF4-FFF2-40B4-BE49-F238E27FC236}">
                <a16:creationId xmlns:a16="http://schemas.microsoft.com/office/drawing/2014/main" id="{C02B7C1B-CDE3-EEEA-227D-2C5322A67873}"/>
              </a:ext>
            </a:extLst>
          </p:cNvPr>
          <p:cNvSpPr>
            <a:spLocks noGrp="1"/>
          </p:cNvSpPr>
          <p:nvPr>
            <p:ph type="sldNum" sz="quarter" idx="10"/>
          </p:nvPr>
        </p:nvSpPr>
        <p:spPr/>
        <p:txBody>
          <a:bodyPr/>
          <a:lstStyle/>
          <a:p>
            <a:fld id="{307C7597-8D70-4701-8085-9524B0B5C72B}" type="slidenum">
              <a:rPr lang="fr-FR" smtClean="0"/>
              <a:pPr/>
              <a:t>40</a:t>
            </a:fld>
            <a:endParaRPr lang="fr-FR" dirty="0"/>
          </a:p>
        </p:txBody>
      </p:sp>
      <p:sp>
        <p:nvSpPr>
          <p:cNvPr id="4" name="Subtitle 3">
            <a:extLst>
              <a:ext uri="{FF2B5EF4-FFF2-40B4-BE49-F238E27FC236}">
                <a16:creationId xmlns:a16="http://schemas.microsoft.com/office/drawing/2014/main" id="{F927F40C-BE85-DAAA-071C-5E364F6A8BEF}"/>
              </a:ext>
            </a:extLst>
          </p:cNvPr>
          <p:cNvSpPr>
            <a:spLocks noGrp="1"/>
          </p:cNvSpPr>
          <p:nvPr>
            <p:ph type="subTitle" idx="4294967295"/>
          </p:nvPr>
        </p:nvSpPr>
        <p:spPr>
          <a:xfrm>
            <a:off x="915988" y="976313"/>
            <a:ext cx="11276012" cy="481012"/>
          </a:xfrm>
        </p:spPr>
        <p:txBody>
          <a:bodyPr/>
          <a:lstStyle/>
          <a:p>
            <a:r>
              <a:rPr lang="fr-FR" dirty="0"/>
              <a:t>Calculation </a:t>
            </a:r>
            <a:r>
              <a:rPr lang="fr-FR" dirty="0" err="1"/>
              <a:t>from</a:t>
            </a:r>
            <a:r>
              <a:rPr lang="fr-FR" dirty="0"/>
              <a:t> </a:t>
            </a:r>
            <a:r>
              <a:rPr lang="fr-FR" dirty="0" err="1"/>
              <a:t>bottom</a:t>
            </a:r>
            <a:r>
              <a:rPr lang="fr-FR" dirty="0"/>
              <a:t> line</a:t>
            </a:r>
            <a:endParaRPr lang="en-US" dirty="0"/>
          </a:p>
        </p:txBody>
      </p:sp>
    </p:spTree>
    <p:extLst>
      <p:ext uri="{BB962C8B-B14F-4D97-AF65-F5344CB8AC3E}">
        <p14:creationId xmlns:p14="http://schemas.microsoft.com/office/powerpoint/2010/main" val="3139294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31371" y="2219325"/>
            <a:ext cx="11760629" cy="2343150"/>
          </a:xfrm>
        </p:spPr>
        <p:txBody>
          <a:bodyPr>
            <a:normAutofit fontScale="90000"/>
          </a:bodyPr>
          <a:lstStyle/>
          <a:p>
            <a:r>
              <a:rPr lang="en-US" dirty="0"/>
              <a:t>3 earnings: earnings from recurring operating </a:t>
            </a:r>
            <a:r>
              <a:rPr lang="en-US" dirty="0" err="1"/>
              <a:t>activities,earnings</a:t>
            </a:r>
            <a:r>
              <a:rPr lang="en-US" dirty="0"/>
              <a:t> from non-recurring </a:t>
            </a:r>
            <a:r>
              <a:rPr lang="en-US" dirty="0" err="1"/>
              <a:t>activites</a:t>
            </a:r>
            <a:r>
              <a:rPr lang="en-US" dirty="0"/>
              <a:t> and earnings from financial activities</a:t>
            </a:r>
          </a:p>
        </p:txBody>
      </p:sp>
      <p:sp>
        <p:nvSpPr>
          <p:cNvPr id="5" name="Subtitle 4">
            <a:extLst>
              <a:ext uri="{FF2B5EF4-FFF2-40B4-BE49-F238E27FC236}">
                <a16:creationId xmlns:a16="http://schemas.microsoft.com/office/drawing/2014/main" id="{F18DCD11-A14F-9B08-BD4C-38930AD316A1}"/>
              </a:ext>
            </a:extLst>
          </p:cNvPr>
          <p:cNvSpPr>
            <a:spLocks noGrp="1"/>
          </p:cNvSpPr>
          <p:nvPr>
            <p:ph type="subTitle" idx="1"/>
          </p:nvPr>
        </p:nvSpPr>
        <p:spPr/>
        <p:txBody>
          <a:bodyPr>
            <a:normAutofit/>
          </a:bodyPr>
          <a:lstStyle/>
          <a:p>
            <a:r>
              <a:rPr lang="fr-FR" sz="2800" dirty="0"/>
              <a:t>P&amp;L or </a:t>
            </a:r>
            <a:r>
              <a:rPr lang="fr-FR" sz="2800" dirty="0" err="1"/>
              <a:t>income</a:t>
            </a:r>
            <a:r>
              <a:rPr lang="fr-FR" sz="2800" dirty="0"/>
              <a:t> </a:t>
            </a:r>
            <a:r>
              <a:rPr lang="fr-FR" sz="2800" dirty="0" err="1"/>
              <a:t>statement</a:t>
            </a:r>
            <a:r>
              <a:rPr lang="fr-FR" sz="2800" dirty="0"/>
              <a:t> </a:t>
            </a:r>
            <a:r>
              <a:rPr lang="fr-FR" sz="2800" dirty="0" err="1"/>
              <a:t>categories</a:t>
            </a:r>
            <a:endParaRPr lang="en-US" sz="2800" dirty="0"/>
          </a:p>
        </p:txBody>
      </p:sp>
    </p:spTree>
    <p:extLst>
      <p:ext uri="{BB962C8B-B14F-4D97-AF65-F5344CB8AC3E}">
        <p14:creationId xmlns:p14="http://schemas.microsoft.com/office/powerpoint/2010/main" val="553344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5573814-03FB-4A29-96DA-7C74218EA5E0}"/>
              </a:ext>
            </a:extLst>
          </p:cNvPr>
          <p:cNvSpPr>
            <a:spLocks noGrp="1"/>
          </p:cNvSpPr>
          <p:nvPr>
            <p:ph type="sldNum" sz="quarter" idx="12"/>
          </p:nvPr>
        </p:nvSpPr>
        <p:spPr/>
        <p:txBody>
          <a:bodyPr/>
          <a:lstStyle/>
          <a:p>
            <a:fld id="{307C7597-8D70-4701-8085-9524B0B5C72B}" type="slidenum">
              <a:rPr lang="fr-FR" smtClean="0"/>
              <a:t>42</a:t>
            </a:fld>
            <a:endParaRPr lang="fr-FR"/>
          </a:p>
        </p:txBody>
      </p:sp>
      <p:sp>
        <p:nvSpPr>
          <p:cNvPr id="4" name="Title 3">
            <a:extLst>
              <a:ext uri="{FF2B5EF4-FFF2-40B4-BE49-F238E27FC236}">
                <a16:creationId xmlns:a16="http://schemas.microsoft.com/office/drawing/2014/main" id="{13FFFD4D-98BD-47E2-9245-5CD83CD56AC4}"/>
              </a:ext>
            </a:extLst>
          </p:cNvPr>
          <p:cNvSpPr>
            <a:spLocks noGrp="1"/>
          </p:cNvSpPr>
          <p:nvPr>
            <p:ph type="title"/>
          </p:nvPr>
        </p:nvSpPr>
        <p:spPr>
          <a:xfrm>
            <a:off x="1679509" y="48859"/>
            <a:ext cx="9269952" cy="1363917"/>
          </a:xfrm>
        </p:spPr>
        <p:txBody>
          <a:bodyPr/>
          <a:lstStyle/>
          <a:p>
            <a:r>
              <a:rPr lang="fr-FR" dirty="0"/>
              <a:t>3 main </a:t>
            </a:r>
            <a:r>
              <a:rPr lang="fr-FR" dirty="0" err="1"/>
              <a:t>categories</a:t>
            </a:r>
            <a:r>
              <a:rPr lang="fr-FR" dirty="0"/>
              <a:t> in P&amp;L (for </a:t>
            </a:r>
            <a:r>
              <a:rPr lang="fr-FR" dirty="0" err="1"/>
              <a:t>continuing</a:t>
            </a:r>
            <a:r>
              <a:rPr lang="fr-FR" dirty="0"/>
              <a:t> </a:t>
            </a:r>
            <a:r>
              <a:rPr lang="fr-FR" dirty="0" err="1"/>
              <a:t>operations</a:t>
            </a:r>
            <a:r>
              <a:rPr lang="fr-FR" dirty="0"/>
              <a:t>)</a:t>
            </a:r>
            <a:endParaRPr lang="en-US" dirty="0"/>
          </a:p>
        </p:txBody>
      </p:sp>
      <p:sp>
        <p:nvSpPr>
          <p:cNvPr id="8" name="TextBox 7">
            <a:extLst>
              <a:ext uri="{FF2B5EF4-FFF2-40B4-BE49-F238E27FC236}">
                <a16:creationId xmlns:a16="http://schemas.microsoft.com/office/drawing/2014/main" id="{A13CD911-ADF0-4DA0-A0CB-37FF5E39CD25}"/>
              </a:ext>
            </a:extLst>
          </p:cNvPr>
          <p:cNvSpPr txBox="1"/>
          <p:nvPr/>
        </p:nvSpPr>
        <p:spPr>
          <a:xfrm>
            <a:off x="431371" y="1508787"/>
            <a:ext cx="4320480"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2400" dirty="0"/>
              <a:t>1</a:t>
            </a:r>
            <a:r>
              <a:rPr lang="en-US" sz="2400" baseline="30000" dirty="0"/>
              <a:t>st</a:t>
            </a:r>
            <a:r>
              <a:rPr lang="en-US" sz="2400" dirty="0"/>
              <a:t> category: Operating activity (or recurring activity)</a:t>
            </a:r>
          </a:p>
        </p:txBody>
      </p:sp>
      <p:sp>
        <p:nvSpPr>
          <p:cNvPr id="11" name="TextBox 10">
            <a:extLst>
              <a:ext uri="{FF2B5EF4-FFF2-40B4-BE49-F238E27FC236}">
                <a16:creationId xmlns:a16="http://schemas.microsoft.com/office/drawing/2014/main" id="{E03B01AB-3014-41A9-9244-3DFFA6934208}"/>
              </a:ext>
            </a:extLst>
          </p:cNvPr>
          <p:cNvSpPr txBox="1"/>
          <p:nvPr/>
        </p:nvSpPr>
        <p:spPr>
          <a:xfrm>
            <a:off x="5039883" y="1508787"/>
            <a:ext cx="6912768"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b="1" dirty="0"/>
              <a:t>Operating income </a:t>
            </a:r>
            <a:r>
              <a:rPr lang="en-US" sz="2400" dirty="0"/>
              <a:t>= </a:t>
            </a:r>
            <a:r>
              <a:rPr lang="en-US" sz="2400" dirty="0">
                <a:solidFill>
                  <a:schemeClr val="bg1"/>
                </a:solidFill>
              </a:rPr>
              <a:t>Revenue</a:t>
            </a:r>
          </a:p>
          <a:p>
            <a:r>
              <a:rPr lang="en-US" sz="2400" dirty="0">
                <a:solidFill>
                  <a:schemeClr val="bg1"/>
                </a:solidFill>
              </a:rPr>
              <a:t>– Operating expenses (by nature or by function)</a:t>
            </a:r>
          </a:p>
        </p:txBody>
      </p:sp>
      <p:sp>
        <p:nvSpPr>
          <p:cNvPr id="3" name="TextBox 2">
            <a:extLst>
              <a:ext uri="{FF2B5EF4-FFF2-40B4-BE49-F238E27FC236}">
                <a16:creationId xmlns:a16="http://schemas.microsoft.com/office/drawing/2014/main" id="{29EBB6D9-E907-4C5D-9B09-27B1FA2F38A8}"/>
              </a:ext>
            </a:extLst>
          </p:cNvPr>
          <p:cNvSpPr txBox="1"/>
          <p:nvPr/>
        </p:nvSpPr>
        <p:spPr>
          <a:xfrm>
            <a:off x="623392" y="3044957"/>
            <a:ext cx="10849205" cy="1200329"/>
          </a:xfrm>
          <a:prstGeom prst="rect">
            <a:avLst/>
          </a:prstGeom>
          <a:noFill/>
        </p:spPr>
        <p:txBody>
          <a:bodyPr wrap="square" rtlCol="0">
            <a:spAutoFit/>
          </a:bodyPr>
          <a:lstStyle/>
          <a:p>
            <a:r>
              <a:rPr lang="en-US" sz="2400" dirty="0"/>
              <a:t>Operating expenses </a:t>
            </a:r>
            <a:r>
              <a:rPr lang="en-US" sz="2400" b="1" dirty="0"/>
              <a:t>by nature </a:t>
            </a:r>
            <a:r>
              <a:rPr lang="en-US" sz="2400" dirty="0"/>
              <a:t>= Raw Material cost + Employee cost + Depreciation and amortization (D&amp;A) expense + Purchases not for inventory + Rent expense Other external services + operating taxes …</a:t>
            </a:r>
          </a:p>
        </p:txBody>
      </p:sp>
      <p:sp>
        <p:nvSpPr>
          <p:cNvPr id="14" name="TextBox 13">
            <a:extLst>
              <a:ext uri="{FF2B5EF4-FFF2-40B4-BE49-F238E27FC236}">
                <a16:creationId xmlns:a16="http://schemas.microsoft.com/office/drawing/2014/main" id="{D88C5A74-8D1B-43D8-B9AF-753A690B8F52}"/>
              </a:ext>
            </a:extLst>
          </p:cNvPr>
          <p:cNvSpPr txBox="1"/>
          <p:nvPr/>
        </p:nvSpPr>
        <p:spPr>
          <a:xfrm>
            <a:off x="623392" y="4790182"/>
            <a:ext cx="11137245" cy="830997"/>
          </a:xfrm>
          <a:prstGeom prst="rect">
            <a:avLst/>
          </a:prstGeom>
          <a:noFill/>
        </p:spPr>
        <p:txBody>
          <a:bodyPr wrap="square" rtlCol="0">
            <a:spAutoFit/>
          </a:bodyPr>
          <a:lstStyle/>
          <a:p>
            <a:r>
              <a:rPr lang="en-US" sz="2400" dirty="0"/>
              <a:t>Operating expenses </a:t>
            </a:r>
            <a:r>
              <a:rPr lang="en-US" sz="2400" b="1" dirty="0"/>
              <a:t>by function </a:t>
            </a:r>
            <a:r>
              <a:rPr lang="en-US" sz="2400" dirty="0"/>
              <a:t>= Cost of Goods Sold (COGS or cost of sales) + Selling, General and Administrative (S,G&amp;A) expense</a:t>
            </a:r>
          </a:p>
        </p:txBody>
      </p:sp>
      <p:sp>
        <p:nvSpPr>
          <p:cNvPr id="6" name="TextBox 5">
            <a:extLst>
              <a:ext uri="{FF2B5EF4-FFF2-40B4-BE49-F238E27FC236}">
                <a16:creationId xmlns:a16="http://schemas.microsoft.com/office/drawing/2014/main" id="{5F1C5493-6C95-4006-A94A-B7C6936D2556}"/>
              </a:ext>
            </a:extLst>
          </p:cNvPr>
          <p:cNvSpPr txBox="1"/>
          <p:nvPr/>
        </p:nvSpPr>
        <p:spPr>
          <a:xfrm>
            <a:off x="5135894" y="4005065"/>
            <a:ext cx="480053" cy="830997"/>
          </a:xfrm>
          <a:prstGeom prst="rect">
            <a:avLst/>
          </a:prstGeom>
          <a:noFill/>
        </p:spPr>
        <p:txBody>
          <a:bodyPr wrap="square" rtlCol="0">
            <a:spAutoFit/>
          </a:bodyPr>
          <a:lstStyle/>
          <a:p>
            <a:r>
              <a:rPr lang="en-US" sz="4800" dirty="0"/>
              <a:t>=</a:t>
            </a:r>
          </a:p>
        </p:txBody>
      </p:sp>
    </p:spTree>
    <p:extLst>
      <p:ext uri="{BB962C8B-B14F-4D97-AF65-F5344CB8AC3E}">
        <p14:creationId xmlns:p14="http://schemas.microsoft.com/office/powerpoint/2010/main" val="28827374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5573814-03FB-4A29-96DA-7C74218EA5E0}"/>
              </a:ext>
            </a:extLst>
          </p:cNvPr>
          <p:cNvSpPr>
            <a:spLocks noGrp="1"/>
          </p:cNvSpPr>
          <p:nvPr>
            <p:ph type="sldNum" sz="quarter" idx="12"/>
          </p:nvPr>
        </p:nvSpPr>
        <p:spPr/>
        <p:txBody>
          <a:bodyPr/>
          <a:lstStyle/>
          <a:p>
            <a:fld id="{307C7597-8D70-4701-8085-9524B0B5C72B}" type="slidenum">
              <a:rPr lang="fr-FR" smtClean="0"/>
              <a:t>43</a:t>
            </a:fld>
            <a:endParaRPr lang="fr-FR"/>
          </a:p>
        </p:txBody>
      </p:sp>
      <p:sp>
        <p:nvSpPr>
          <p:cNvPr id="4" name="Title 3">
            <a:extLst>
              <a:ext uri="{FF2B5EF4-FFF2-40B4-BE49-F238E27FC236}">
                <a16:creationId xmlns:a16="http://schemas.microsoft.com/office/drawing/2014/main" id="{13FFFD4D-98BD-47E2-9245-5CD83CD56AC4}"/>
              </a:ext>
            </a:extLst>
          </p:cNvPr>
          <p:cNvSpPr>
            <a:spLocks noGrp="1"/>
          </p:cNvSpPr>
          <p:nvPr>
            <p:ph type="title"/>
          </p:nvPr>
        </p:nvSpPr>
        <p:spPr/>
        <p:txBody>
          <a:bodyPr/>
          <a:lstStyle/>
          <a:p>
            <a:r>
              <a:rPr lang="fr-FR" dirty="0"/>
              <a:t>3 main </a:t>
            </a:r>
            <a:r>
              <a:rPr lang="fr-FR" dirty="0" err="1"/>
              <a:t>categories</a:t>
            </a:r>
            <a:r>
              <a:rPr lang="fr-FR" dirty="0"/>
              <a:t> in P&amp;L</a:t>
            </a:r>
            <a:endParaRPr lang="en-US" dirty="0"/>
          </a:p>
        </p:txBody>
      </p:sp>
      <p:sp>
        <p:nvSpPr>
          <p:cNvPr id="8" name="TextBox 7">
            <a:extLst>
              <a:ext uri="{FF2B5EF4-FFF2-40B4-BE49-F238E27FC236}">
                <a16:creationId xmlns:a16="http://schemas.microsoft.com/office/drawing/2014/main" id="{A13CD911-ADF0-4DA0-A0CB-37FF5E39CD25}"/>
              </a:ext>
            </a:extLst>
          </p:cNvPr>
          <p:cNvSpPr txBox="1"/>
          <p:nvPr/>
        </p:nvSpPr>
        <p:spPr>
          <a:xfrm>
            <a:off x="431371" y="1508787"/>
            <a:ext cx="4320480"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2400" dirty="0"/>
              <a:t>1</a:t>
            </a:r>
            <a:r>
              <a:rPr lang="en-US" sz="2400" baseline="30000" dirty="0"/>
              <a:t>st</a:t>
            </a:r>
            <a:r>
              <a:rPr lang="en-US" sz="2400" dirty="0"/>
              <a:t> category: Operating activity (or recurring activity)</a:t>
            </a:r>
          </a:p>
        </p:txBody>
      </p:sp>
      <p:sp>
        <p:nvSpPr>
          <p:cNvPr id="11" name="TextBox 10">
            <a:extLst>
              <a:ext uri="{FF2B5EF4-FFF2-40B4-BE49-F238E27FC236}">
                <a16:creationId xmlns:a16="http://schemas.microsoft.com/office/drawing/2014/main" id="{E03B01AB-3014-41A9-9244-3DFFA6934208}"/>
              </a:ext>
            </a:extLst>
          </p:cNvPr>
          <p:cNvSpPr txBox="1"/>
          <p:nvPr/>
        </p:nvSpPr>
        <p:spPr>
          <a:xfrm>
            <a:off x="5039883" y="1511109"/>
            <a:ext cx="6528725"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b="1" dirty="0"/>
              <a:t>Operating profit </a:t>
            </a:r>
            <a:r>
              <a:rPr lang="en-US" sz="2400" dirty="0"/>
              <a:t>= </a:t>
            </a:r>
            <a:r>
              <a:rPr lang="en-US" sz="2400" dirty="0">
                <a:solidFill>
                  <a:schemeClr val="bg1"/>
                </a:solidFill>
              </a:rPr>
              <a:t>Sales revenue </a:t>
            </a:r>
          </a:p>
          <a:p>
            <a:r>
              <a:rPr lang="en-US" sz="2400" dirty="0">
                <a:solidFill>
                  <a:schemeClr val="bg1"/>
                </a:solidFill>
              </a:rPr>
              <a:t>– Operating expenses (by nature or by function)</a:t>
            </a:r>
          </a:p>
        </p:txBody>
      </p:sp>
      <p:sp>
        <p:nvSpPr>
          <p:cNvPr id="3" name="TextBox 2">
            <a:extLst>
              <a:ext uri="{FF2B5EF4-FFF2-40B4-BE49-F238E27FC236}">
                <a16:creationId xmlns:a16="http://schemas.microsoft.com/office/drawing/2014/main" id="{29EBB6D9-E907-4C5D-9B09-27B1FA2F38A8}"/>
              </a:ext>
            </a:extLst>
          </p:cNvPr>
          <p:cNvSpPr txBox="1"/>
          <p:nvPr/>
        </p:nvSpPr>
        <p:spPr>
          <a:xfrm>
            <a:off x="623392" y="3044957"/>
            <a:ext cx="10849205" cy="1200329"/>
          </a:xfrm>
          <a:prstGeom prst="rect">
            <a:avLst/>
          </a:prstGeom>
          <a:noFill/>
        </p:spPr>
        <p:txBody>
          <a:bodyPr wrap="square" rtlCol="0">
            <a:spAutoFit/>
          </a:bodyPr>
          <a:lstStyle/>
          <a:p>
            <a:r>
              <a:rPr lang="en-US" sz="2400" dirty="0"/>
              <a:t>Operating expenses by nature = Raw Material cost + Employee cost + </a:t>
            </a:r>
            <a:r>
              <a:rPr lang="en-US" sz="2400" b="1" dirty="0"/>
              <a:t>Depreciation and amortization expense </a:t>
            </a:r>
            <a:r>
              <a:rPr lang="en-US" sz="2400" dirty="0"/>
              <a:t>+ Purchases not for inventory + Rent expense Other external services …</a:t>
            </a:r>
          </a:p>
        </p:txBody>
      </p:sp>
      <p:sp>
        <p:nvSpPr>
          <p:cNvPr id="2" name="Arrow: Up 1">
            <a:extLst>
              <a:ext uri="{FF2B5EF4-FFF2-40B4-BE49-F238E27FC236}">
                <a16:creationId xmlns:a16="http://schemas.microsoft.com/office/drawing/2014/main" id="{9A37FED6-634E-42F9-A976-A1B31D87174F}"/>
              </a:ext>
            </a:extLst>
          </p:cNvPr>
          <p:cNvSpPr/>
          <p:nvPr/>
        </p:nvSpPr>
        <p:spPr>
          <a:xfrm rot="19735994">
            <a:off x="3521501" y="3909053"/>
            <a:ext cx="384043" cy="57606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Box 6">
            <a:extLst>
              <a:ext uri="{FF2B5EF4-FFF2-40B4-BE49-F238E27FC236}">
                <a16:creationId xmlns:a16="http://schemas.microsoft.com/office/drawing/2014/main" id="{0E266C87-BD57-4E3D-8ADA-5B06DDE30EC8}"/>
              </a:ext>
            </a:extLst>
          </p:cNvPr>
          <p:cNvSpPr txBox="1"/>
          <p:nvPr/>
        </p:nvSpPr>
        <p:spPr>
          <a:xfrm>
            <a:off x="4175787" y="4389107"/>
            <a:ext cx="5184576" cy="461665"/>
          </a:xfrm>
          <a:prstGeom prst="rect">
            <a:avLst/>
          </a:prstGeom>
          <a:noFill/>
        </p:spPr>
        <p:txBody>
          <a:bodyPr wrap="square" rtlCol="0">
            <a:spAutoFit/>
          </a:bodyPr>
          <a:lstStyle/>
          <a:p>
            <a:r>
              <a:rPr lang="en-US" sz="2400" dirty="0"/>
              <a:t>Impact of </a:t>
            </a:r>
            <a:r>
              <a:rPr lang="en-US" sz="2400" b="1" dirty="0"/>
              <a:t>investing activity </a:t>
            </a:r>
            <a:r>
              <a:rPr lang="en-US" sz="2400" dirty="0"/>
              <a:t>on P&amp;L</a:t>
            </a:r>
          </a:p>
        </p:txBody>
      </p:sp>
    </p:spTree>
    <p:extLst>
      <p:ext uri="{BB962C8B-B14F-4D97-AF65-F5344CB8AC3E}">
        <p14:creationId xmlns:p14="http://schemas.microsoft.com/office/powerpoint/2010/main" val="832298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6D79-5075-9B8F-8BB8-569E2BF5DE8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E07E338-3D43-86E3-C2CD-0B39371DB331}"/>
              </a:ext>
            </a:extLst>
          </p:cNvPr>
          <p:cNvSpPr>
            <a:spLocks noGrp="1"/>
          </p:cNvSpPr>
          <p:nvPr>
            <p:ph type="sldNum" sz="quarter" idx="12"/>
          </p:nvPr>
        </p:nvSpPr>
        <p:spPr/>
        <p:txBody>
          <a:bodyPr/>
          <a:lstStyle/>
          <a:p>
            <a:fld id="{307C7597-8D70-4701-8085-9524B0B5C72B}" type="slidenum">
              <a:rPr lang="fr-FR" smtClean="0"/>
              <a:t>44</a:t>
            </a:fld>
            <a:endParaRPr lang="fr-FR"/>
          </a:p>
        </p:txBody>
      </p:sp>
      <p:sp>
        <p:nvSpPr>
          <p:cNvPr id="4" name="Title 3">
            <a:extLst>
              <a:ext uri="{FF2B5EF4-FFF2-40B4-BE49-F238E27FC236}">
                <a16:creationId xmlns:a16="http://schemas.microsoft.com/office/drawing/2014/main" id="{C9AA55D7-D49C-5028-907D-1B4B80A4ABF2}"/>
              </a:ext>
            </a:extLst>
          </p:cNvPr>
          <p:cNvSpPr>
            <a:spLocks noGrp="1"/>
          </p:cNvSpPr>
          <p:nvPr>
            <p:ph type="title"/>
          </p:nvPr>
        </p:nvSpPr>
        <p:spPr/>
        <p:txBody>
          <a:bodyPr/>
          <a:lstStyle/>
          <a:p>
            <a:r>
              <a:rPr lang="fr-FR" dirty="0"/>
              <a:t>3 main </a:t>
            </a:r>
            <a:r>
              <a:rPr lang="fr-FR" dirty="0" err="1"/>
              <a:t>categories</a:t>
            </a:r>
            <a:r>
              <a:rPr lang="fr-FR" dirty="0"/>
              <a:t> in P&amp;L</a:t>
            </a:r>
            <a:endParaRPr lang="en-US" dirty="0"/>
          </a:p>
        </p:txBody>
      </p:sp>
      <p:sp>
        <p:nvSpPr>
          <p:cNvPr id="8" name="TextBox 7">
            <a:extLst>
              <a:ext uri="{FF2B5EF4-FFF2-40B4-BE49-F238E27FC236}">
                <a16:creationId xmlns:a16="http://schemas.microsoft.com/office/drawing/2014/main" id="{84FCC4B6-1522-CBB3-D69A-F91FAF6C915F}"/>
              </a:ext>
            </a:extLst>
          </p:cNvPr>
          <p:cNvSpPr txBox="1"/>
          <p:nvPr/>
        </p:nvSpPr>
        <p:spPr>
          <a:xfrm>
            <a:off x="431371" y="1508787"/>
            <a:ext cx="4320480"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2400" dirty="0"/>
              <a:t>1</a:t>
            </a:r>
            <a:r>
              <a:rPr lang="en-US" sz="2400" baseline="30000" dirty="0"/>
              <a:t>st</a:t>
            </a:r>
            <a:r>
              <a:rPr lang="en-US" sz="2400" dirty="0"/>
              <a:t> category: Operating activity (or recurring activity)</a:t>
            </a:r>
          </a:p>
        </p:txBody>
      </p:sp>
      <p:sp>
        <p:nvSpPr>
          <p:cNvPr id="11" name="TextBox 10">
            <a:extLst>
              <a:ext uri="{FF2B5EF4-FFF2-40B4-BE49-F238E27FC236}">
                <a16:creationId xmlns:a16="http://schemas.microsoft.com/office/drawing/2014/main" id="{3444E597-0FF4-77D9-9C27-96E2B4B38B15}"/>
              </a:ext>
            </a:extLst>
          </p:cNvPr>
          <p:cNvSpPr txBox="1"/>
          <p:nvPr/>
        </p:nvSpPr>
        <p:spPr>
          <a:xfrm>
            <a:off x="5039883" y="1511109"/>
            <a:ext cx="6528725"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b="1" dirty="0"/>
              <a:t>Operating profit </a:t>
            </a:r>
            <a:r>
              <a:rPr lang="en-US" sz="2400" dirty="0"/>
              <a:t>= </a:t>
            </a:r>
            <a:r>
              <a:rPr lang="en-US" sz="2400" dirty="0">
                <a:solidFill>
                  <a:schemeClr val="bg1"/>
                </a:solidFill>
              </a:rPr>
              <a:t>Sales revenue </a:t>
            </a:r>
          </a:p>
          <a:p>
            <a:r>
              <a:rPr lang="en-US" sz="2400" dirty="0">
                <a:solidFill>
                  <a:schemeClr val="bg1"/>
                </a:solidFill>
              </a:rPr>
              <a:t>– Operating expenses (by nature or by function)</a:t>
            </a:r>
          </a:p>
        </p:txBody>
      </p:sp>
      <p:sp>
        <p:nvSpPr>
          <p:cNvPr id="33" name="TextBox 32">
            <a:extLst>
              <a:ext uri="{FF2B5EF4-FFF2-40B4-BE49-F238E27FC236}">
                <a16:creationId xmlns:a16="http://schemas.microsoft.com/office/drawing/2014/main" id="{AEC07BCF-860E-B147-E3F7-BA7CBF9E4E0B}"/>
              </a:ext>
            </a:extLst>
          </p:cNvPr>
          <p:cNvSpPr txBox="1"/>
          <p:nvPr/>
        </p:nvSpPr>
        <p:spPr>
          <a:xfrm>
            <a:off x="7728182" y="2276872"/>
            <a:ext cx="480053" cy="748988"/>
          </a:xfrm>
          <a:prstGeom prst="rect">
            <a:avLst/>
          </a:prstGeom>
          <a:noFill/>
        </p:spPr>
        <p:txBody>
          <a:bodyPr wrap="square" rtlCol="0">
            <a:spAutoFit/>
          </a:bodyPr>
          <a:lstStyle/>
          <a:p>
            <a:r>
              <a:rPr lang="en-US" sz="4267" dirty="0"/>
              <a:t>+</a:t>
            </a:r>
          </a:p>
        </p:txBody>
      </p:sp>
      <p:sp>
        <p:nvSpPr>
          <p:cNvPr id="36" name="TextBox 35">
            <a:extLst>
              <a:ext uri="{FF2B5EF4-FFF2-40B4-BE49-F238E27FC236}">
                <a16:creationId xmlns:a16="http://schemas.microsoft.com/office/drawing/2014/main" id="{5DD1806F-8829-FB35-2EC8-424D15AE6B95}"/>
              </a:ext>
            </a:extLst>
          </p:cNvPr>
          <p:cNvSpPr txBox="1"/>
          <p:nvPr/>
        </p:nvSpPr>
        <p:spPr>
          <a:xfrm>
            <a:off x="431371" y="5543557"/>
            <a:ext cx="4320480" cy="830997"/>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dirty="0"/>
              <a:t>3</a:t>
            </a:r>
            <a:r>
              <a:rPr lang="en-US" sz="2400" baseline="30000" dirty="0"/>
              <a:t>rd</a:t>
            </a:r>
            <a:r>
              <a:rPr lang="en-US" sz="2400" dirty="0"/>
              <a:t> category: Financial activity</a:t>
            </a:r>
          </a:p>
          <a:p>
            <a:pPr algn="ctr"/>
            <a:endParaRPr lang="en-US" sz="2400" dirty="0"/>
          </a:p>
        </p:txBody>
      </p:sp>
      <p:sp>
        <p:nvSpPr>
          <p:cNvPr id="37" name="TextBox 36">
            <a:extLst>
              <a:ext uri="{FF2B5EF4-FFF2-40B4-BE49-F238E27FC236}">
                <a16:creationId xmlns:a16="http://schemas.microsoft.com/office/drawing/2014/main" id="{524AF340-3300-8F8F-CB21-725BEC150C39}"/>
              </a:ext>
            </a:extLst>
          </p:cNvPr>
          <p:cNvSpPr txBox="1"/>
          <p:nvPr/>
        </p:nvSpPr>
        <p:spPr>
          <a:xfrm>
            <a:off x="5039882" y="5558267"/>
            <a:ext cx="6534929"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sz="2400" b="1" dirty="0"/>
              <a:t>Financial profit </a:t>
            </a:r>
            <a:r>
              <a:rPr lang="en-US" sz="2400" dirty="0"/>
              <a:t>= </a:t>
            </a:r>
            <a:r>
              <a:rPr lang="en-US" sz="2400" dirty="0">
                <a:solidFill>
                  <a:schemeClr val="bg1"/>
                </a:solidFill>
              </a:rPr>
              <a:t>Interest income and other financial income – interest expense and other financial expense</a:t>
            </a:r>
          </a:p>
        </p:txBody>
      </p:sp>
      <p:cxnSp>
        <p:nvCxnSpPr>
          <p:cNvPr id="3" name="Straight Arrow Connector 2">
            <a:extLst>
              <a:ext uri="{FF2B5EF4-FFF2-40B4-BE49-F238E27FC236}">
                <a16:creationId xmlns:a16="http://schemas.microsoft.com/office/drawing/2014/main" id="{9B4EBBD2-A1B8-ABA4-7F45-4AF701E8DB51}"/>
              </a:ext>
            </a:extLst>
          </p:cNvPr>
          <p:cNvCxnSpPr>
            <a:cxnSpLocks/>
          </p:cNvCxnSpPr>
          <p:nvPr/>
        </p:nvCxnSpPr>
        <p:spPr>
          <a:xfrm>
            <a:off x="5400136" y="3683479"/>
            <a:ext cx="3140015" cy="19668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C0A6A7D-D944-0DC4-80F8-5A881AA46E59}"/>
              </a:ext>
            </a:extLst>
          </p:cNvPr>
          <p:cNvSpPr txBox="1"/>
          <p:nvPr/>
        </p:nvSpPr>
        <p:spPr>
          <a:xfrm>
            <a:off x="77638" y="3140015"/>
            <a:ext cx="5210354" cy="954107"/>
          </a:xfrm>
          <a:prstGeom prst="rect">
            <a:avLst/>
          </a:prstGeom>
          <a:noFill/>
        </p:spPr>
        <p:txBody>
          <a:bodyPr wrap="square" rtlCol="0">
            <a:spAutoFit/>
          </a:bodyPr>
          <a:lstStyle/>
          <a:p>
            <a:r>
              <a:rPr lang="en-US" sz="2800" dirty="0"/>
              <a:t>Impact of accumulated investments in financial assets</a:t>
            </a:r>
          </a:p>
        </p:txBody>
      </p:sp>
      <p:cxnSp>
        <p:nvCxnSpPr>
          <p:cNvPr id="7" name="Straight Arrow Connector 6">
            <a:extLst>
              <a:ext uri="{FF2B5EF4-FFF2-40B4-BE49-F238E27FC236}">
                <a16:creationId xmlns:a16="http://schemas.microsoft.com/office/drawing/2014/main" id="{F2554585-E497-6D3D-8712-3E9A104502F8}"/>
              </a:ext>
            </a:extLst>
          </p:cNvPr>
          <p:cNvCxnSpPr>
            <a:cxnSpLocks/>
          </p:cNvCxnSpPr>
          <p:nvPr/>
        </p:nvCxnSpPr>
        <p:spPr>
          <a:xfrm flipH="1">
            <a:off x="9155653" y="4201004"/>
            <a:ext cx="480053" cy="18806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7BC3EDD-73C0-4B58-A522-870CBC774F52}"/>
              </a:ext>
            </a:extLst>
          </p:cNvPr>
          <p:cNvSpPr txBox="1"/>
          <p:nvPr/>
        </p:nvSpPr>
        <p:spPr>
          <a:xfrm>
            <a:off x="6904011" y="3040346"/>
            <a:ext cx="5043574" cy="954107"/>
          </a:xfrm>
          <a:prstGeom prst="rect">
            <a:avLst/>
          </a:prstGeom>
          <a:noFill/>
        </p:spPr>
        <p:txBody>
          <a:bodyPr wrap="square" rtlCol="0">
            <a:spAutoFit/>
          </a:bodyPr>
          <a:lstStyle/>
          <a:p>
            <a:r>
              <a:rPr lang="en-US" sz="2800" dirty="0"/>
              <a:t>Cost of the financing by debt (i.e. interest-bearing liabilities)</a:t>
            </a:r>
          </a:p>
        </p:txBody>
      </p:sp>
    </p:spTree>
    <p:extLst>
      <p:ext uri="{BB962C8B-B14F-4D97-AF65-F5344CB8AC3E}">
        <p14:creationId xmlns:p14="http://schemas.microsoft.com/office/powerpoint/2010/main" val="26542820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5573814-03FB-4A29-96DA-7C74218EA5E0}"/>
              </a:ext>
            </a:extLst>
          </p:cNvPr>
          <p:cNvSpPr>
            <a:spLocks noGrp="1"/>
          </p:cNvSpPr>
          <p:nvPr>
            <p:ph type="sldNum" sz="quarter" idx="12"/>
          </p:nvPr>
        </p:nvSpPr>
        <p:spPr/>
        <p:txBody>
          <a:bodyPr/>
          <a:lstStyle/>
          <a:p>
            <a:fld id="{307C7597-8D70-4701-8085-9524B0B5C72B}" type="slidenum">
              <a:rPr lang="fr-FR" smtClean="0"/>
              <a:t>45</a:t>
            </a:fld>
            <a:endParaRPr lang="fr-FR"/>
          </a:p>
        </p:txBody>
      </p:sp>
      <p:sp>
        <p:nvSpPr>
          <p:cNvPr id="4" name="Title 3">
            <a:extLst>
              <a:ext uri="{FF2B5EF4-FFF2-40B4-BE49-F238E27FC236}">
                <a16:creationId xmlns:a16="http://schemas.microsoft.com/office/drawing/2014/main" id="{13FFFD4D-98BD-47E2-9245-5CD83CD56AC4}"/>
              </a:ext>
            </a:extLst>
          </p:cNvPr>
          <p:cNvSpPr>
            <a:spLocks noGrp="1"/>
          </p:cNvSpPr>
          <p:nvPr>
            <p:ph type="title"/>
          </p:nvPr>
        </p:nvSpPr>
        <p:spPr/>
        <p:txBody>
          <a:bodyPr/>
          <a:lstStyle/>
          <a:p>
            <a:r>
              <a:rPr lang="fr-FR" dirty="0"/>
              <a:t>3 main </a:t>
            </a:r>
            <a:r>
              <a:rPr lang="fr-FR" dirty="0" err="1"/>
              <a:t>categories</a:t>
            </a:r>
            <a:r>
              <a:rPr lang="fr-FR" dirty="0"/>
              <a:t> in P&amp;L</a:t>
            </a:r>
            <a:endParaRPr lang="en-US" dirty="0"/>
          </a:p>
        </p:txBody>
      </p:sp>
      <p:sp>
        <p:nvSpPr>
          <p:cNvPr id="8" name="TextBox 7">
            <a:extLst>
              <a:ext uri="{FF2B5EF4-FFF2-40B4-BE49-F238E27FC236}">
                <a16:creationId xmlns:a16="http://schemas.microsoft.com/office/drawing/2014/main" id="{A13CD911-ADF0-4DA0-A0CB-37FF5E39CD25}"/>
              </a:ext>
            </a:extLst>
          </p:cNvPr>
          <p:cNvSpPr txBox="1"/>
          <p:nvPr/>
        </p:nvSpPr>
        <p:spPr>
          <a:xfrm>
            <a:off x="431371" y="1508787"/>
            <a:ext cx="4320480"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2400" dirty="0"/>
              <a:t>1</a:t>
            </a:r>
            <a:r>
              <a:rPr lang="en-US" sz="2400" baseline="30000" dirty="0"/>
              <a:t>st</a:t>
            </a:r>
            <a:r>
              <a:rPr lang="en-US" sz="2400" dirty="0"/>
              <a:t> category: Operating activity (or recurring activity)</a:t>
            </a:r>
          </a:p>
        </p:txBody>
      </p:sp>
      <p:sp>
        <p:nvSpPr>
          <p:cNvPr id="11" name="TextBox 10">
            <a:extLst>
              <a:ext uri="{FF2B5EF4-FFF2-40B4-BE49-F238E27FC236}">
                <a16:creationId xmlns:a16="http://schemas.microsoft.com/office/drawing/2014/main" id="{E03B01AB-3014-41A9-9244-3DFFA6934208}"/>
              </a:ext>
            </a:extLst>
          </p:cNvPr>
          <p:cNvSpPr txBox="1"/>
          <p:nvPr/>
        </p:nvSpPr>
        <p:spPr>
          <a:xfrm>
            <a:off x="5039883" y="1511109"/>
            <a:ext cx="6528725"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b="1" dirty="0"/>
              <a:t>Operating profit </a:t>
            </a:r>
            <a:r>
              <a:rPr lang="en-US" sz="2400" dirty="0"/>
              <a:t>= </a:t>
            </a:r>
            <a:r>
              <a:rPr lang="en-US" sz="2400" dirty="0">
                <a:solidFill>
                  <a:schemeClr val="bg1"/>
                </a:solidFill>
              </a:rPr>
              <a:t>Sales revenue </a:t>
            </a:r>
          </a:p>
          <a:p>
            <a:r>
              <a:rPr lang="en-US" sz="2400" dirty="0">
                <a:solidFill>
                  <a:schemeClr val="bg1"/>
                </a:solidFill>
              </a:rPr>
              <a:t>– Operating expenses (by nature or by function)</a:t>
            </a:r>
          </a:p>
        </p:txBody>
      </p:sp>
      <p:sp>
        <p:nvSpPr>
          <p:cNvPr id="33" name="TextBox 32">
            <a:extLst>
              <a:ext uri="{FF2B5EF4-FFF2-40B4-BE49-F238E27FC236}">
                <a16:creationId xmlns:a16="http://schemas.microsoft.com/office/drawing/2014/main" id="{78D8EDB2-395D-48D7-9929-B123CDF42941}"/>
              </a:ext>
            </a:extLst>
          </p:cNvPr>
          <p:cNvSpPr txBox="1"/>
          <p:nvPr/>
        </p:nvSpPr>
        <p:spPr>
          <a:xfrm>
            <a:off x="7728182" y="2276872"/>
            <a:ext cx="480053" cy="748988"/>
          </a:xfrm>
          <a:prstGeom prst="rect">
            <a:avLst/>
          </a:prstGeom>
          <a:noFill/>
        </p:spPr>
        <p:txBody>
          <a:bodyPr wrap="square" rtlCol="0">
            <a:spAutoFit/>
          </a:bodyPr>
          <a:lstStyle/>
          <a:p>
            <a:r>
              <a:rPr lang="en-US" sz="4267" dirty="0"/>
              <a:t>+</a:t>
            </a:r>
          </a:p>
        </p:txBody>
      </p:sp>
      <p:sp>
        <p:nvSpPr>
          <p:cNvPr id="34" name="TextBox 33">
            <a:extLst>
              <a:ext uri="{FF2B5EF4-FFF2-40B4-BE49-F238E27FC236}">
                <a16:creationId xmlns:a16="http://schemas.microsoft.com/office/drawing/2014/main" id="{C6731C8B-FC54-4590-922C-08D764D3857B}"/>
              </a:ext>
            </a:extLst>
          </p:cNvPr>
          <p:cNvSpPr txBox="1"/>
          <p:nvPr/>
        </p:nvSpPr>
        <p:spPr>
          <a:xfrm>
            <a:off x="431371" y="3044957"/>
            <a:ext cx="4320480" cy="2308324"/>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2400" dirty="0"/>
              <a:t>2</a:t>
            </a:r>
            <a:r>
              <a:rPr lang="en-US" sz="2400" baseline="30000" dirty="0"/>
              <a:t>nd</a:t>
            </a:r>
            <a:r>
              <a:rPr lang="en-US" sz="2400" dirty="0"/>
              <a:t>  category: non-recurring activities or non-operating activities (for instance, divestment, reorganization, reduction in value of business activities)</a:t>
            </a:r>
          </a:p>
        </p:txBody>
      </p:sp>
      <p:sp>
        <p:nvSpPr>
          <p:cNvPr id="35" name="TextBox 34">
            <a:extLst>
              <a:ext uri="{FF2B5EF4-FFF2-40B4-BE49-F238E27FC236}">
                <a16:creationId xmlns:a16="http://schemas.microsoft.com/office/drawing/2014/main" id="{82E82123-0556-454F-8BE0-EAD3C71A391A}"/>
              </a:ext>
            </a:extLst>
          </p:cNvPr>
          <p:cNvSpPr txBox="1"/>
          <p:nvPr/>
        </p:nvSpPr>
        <p:spPr>
          <a:xfrm>
            <a:off x="5039883" y="3047279"/>
            <a:ext cx="6528725" cy="156966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sz="2400" dirty="0"/>
              <a:t>+ Gains/- losses on disposal of non-current assets</a:t>
            </a:r>
          </a:p>
          <a:p>
            <a:r>
              <a:rPr lang="en-US" sz="2400" dirty="0"/>
              <a:t>- Restructuring cost</a:t>
            </a:r>
          </a:p>
          <a:p>
            <a:r>
              <a:rPr lang="en-US" sz="2400" dirty="0"/>
              <a:t>- Impairment/+reversal on impairment losses</a:t>
            </a:r>
          </a:p>
        </p:txBody>
      </p:sp>
      <p:sp>
        <p:nvSpPr>
          <p:cNvPr id="36" name="TextBox 35">
            <a:extLst>
              <a:ext uri="{FF2B5EF4-FFF2-40B4-BE49-F238E27FC236}">
                <a16:creationId xmlns:a16="http://schemas.microsoft.com/office/drawing/2014/main" id="{9C819AC8-2FB0-421A-AAC0-01F07BBDB228}"/>
              </a:ext>
            </a:extLst>
          </p:cNvPr>
          <p:cNvSpPr txBox="1"/>
          <p:nvPr/>
        </p:nvSpPr>
        <p:spPr>
          <a:xfrm>
            <a:off x="431371" y="5543557"/>
            <a:ext cx="4320480" cy="830997"/>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dirty="0"/>
              <a:t>3</a:t>
            </a:r>
            <a:r>
              <a:rPr lang="en-US" sz="2400" baseline="30000" dirty="0"/>
              <a:t>rd</a:t>
            </a:r>
            <a:r>
              <a:rPr lang="en-US" sz="2400" dirty="0"/>
              <a:t> category: Financial activity</a:t>
            </a:r>
          </a:p>
          <a:p>
            <a:pPr algn="ctr"/>
            <a:endParaRPr lang="en-US" sz="2400" dirty="0"/>
          </a:p>
        </p:txBody>
      </p:sp>
      <p:sp>
        <p:nvSpPr>
          <p:cNvPr id="37" name="TextBox 36">
            <a:extLst>
              <a:ext uri="{FF2B5EF4-FFF2-40B4-BE49-F238E27FC236}">
                <a16:creationId xmlns:a16="http://schemas.microsoft.com/office/drawing/2014/main" id="{AE9BFB7B-E25D-4ECA-A9EF-1984B7C7471A}"/>
              </a:ext>
            </a:extLst>
          </p:cNvPr>
          <p:cNvSpPr txBox="1"/>
          <p:nvPr/>
        </p:nvSpPr>
        <p:spPr>
          <a:xfrm>
            <a:off x="5039882" y="5558267"/>
            <a:ext cx="6534929"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sz="2400" b="1" dirty="0"/>
              <a:t>Financial profit </a:t>
            </a:r>
            <a:r>
              <a:rPr lang="en-US" sz="2400" dirty="0"/>
              <a:t>= </a:t>
            </a:r>
            <a:r>
              <a:rPr lang="en-US" sz="2400" dirty="0">
                <a:solidFill>
                  <a:schemeClr val="bg1"/>
                </a:solidFill>
              </a:rPr>
              <a:t>Interest income and other financial income – interest expense and other financial expense</a:t>
            </a:r>
          </a:p>
        </p:txBody>
      </p:sp>
      <p:sp>
        <p:nvSpPr>
          <p:cNvPr id="38" name="TextBox 37">
            <a:extLst>
              <a:ext uri="{FF2B5EF4-FFF2-40B4-BE49-F238E27FC236}">
                <a16:creationId xmlns:a16="http://schemas.microsoft.com/office/drawing/2014/main" id="{05ED51D3-306D-429D-B9BA-8E312CC47AA9}"/>
              </a:ext>
            </a:extLst>
          </p:cNvPr>
          <p:cNvSpPr txBox="1"/>
          <p:nvPr/>
        </p:nvSpPr>
        <p:spPr>
          <a:xfrm>
            <a:off x="7728182" y="4569513"/>
            <a:ext cx="480053" cy="748988"/>
          </a:xfrm>
          <a:prstGeom prst="rect">
            <a:avLst/>
          </a:prstGeom>
          <a:noFill/>
        </p:spPr>
        <p:txBody>
          <a:bodyPr wrap="square" rtlCol="0">
            <a:spAutoFit/>
          </a:bodyPr>
          <a:lstStyle/>
          <a:p>
            <a:r>
              <a:rPr lang="en-US" sz="4267" dirty="0"/>
              <a:t>+</a:t>
            </a:r>
          </a:p>
        </p:txBody>
      </p:sp>
    </p:spTree>
    <p:extLst>
      <p:ext uri="{BB962C8B-B14F-4D97-AF65-F5344CB8AC3E}">
        <p14:creationId xmlns:p14="http://schemas.microsoft.com/office/powerpoint/2010/main" val="105947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5573814-03FB-4A29-96DA-7C74218EA5E0}"/>
              </a:ext>
            </a:extLst>
          </p:cNvPr>
          <p:cNvSpPr>
            <a:spLocks noGrp="1"/>
          </p:cNvSpPr>
          <p:nvPr>
            <p:ph type="sldNum" sz="quarter" idx="12"/>
          </p:nvPr>
        </p:nvSpPr>
        <p:spPr/>
        <p:txBody>
          <a:bodyPr/>
          <a:lstStyle/>
          <a:p>
            <a:fld id="{307C7597-8D70-4701-8085-9524B0B5C72B}" type="slidenum">
              <a:rPr lang="fr-FR" smtClean="0"/>
              <a:t>46</a:t>
            </a:fld>
            <a:endParaRPr lang="fr-FR"/>
          </a:p>
        </p:txBody>
      </p:sp>
      <p:sp>
        <p:nvSpPr>
          <p:cNvPr id="4" name="Title 3">
            <a:extLst>
              <a:ext uri="{FF2B5EF4-FFF2-40B4-BE49-F238E27FC236}">
                <a16:creationId xmlns:a16="http://schemas.microsoft.com/office/drawing/2014/main" id="{13FFFD4D-98BD-47E2-9245-5CD83CD56AC4}"/>
              </a:ext>
            </a:extLst>
          </p:cNvPr>
          <p:cNvSpPr>
            <a:spLocks noGrp="1"/>
          </p:cNvSpPr>
          <p:nvPr>
            <p:ph type="title"/>
          </p:nvPr>
        </p:nvSpPr>
        <p:spPr/>
        <p:txBody>
          <a:bodyPr/>
          <a:lstStyle/>
          <a:p>
            <a:r>
              <a:rPr lang="fr-FR" dirty="0"/>
              <a:t>3 main </a:t>
            </a:r>
            <a:r>
              <a:rPr lang="fr-FR" dirty="0" err="1"/>
              <a:t>categories</a:t>
            </a:r>
            <a:r>
              <a:rPr lang="fr-FR" dirty="0"/>
              <a:t> in P&amp;L</a:t>
            </a:r>
            <a:endParaRPr lang="en-US" dirty="0"/>
          </a:p>
        </p:txBody>
      </p:sp>
      <p:sp>
        <p:nvSpPr>
          <p:cNvPr id="11" name="TextBox 10">
            <a:extLst>
              <a:ext uri="{FF2B5EF4-FFF2-40B4-BE49-F238E27FC236}">
                <a16:creationId xmlns:a16="http://schemas.microsoft.com/office/drawing/2014/main" id="{E03B01AB-3014-41A9-9244-3DFFA6934208}"/>
              </a:ext>
            </a:extLst>
          </p:cNvPr>
          <p:cNvSpPr txBox="1"/>
          <p:nvPr/>
        </p:nvSpPr>
        <p:spPr>
          <a:xfrm>
            <a:off x="5039883" y="1511109"/>
            <a:ext cx="6528725"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sz="2400" b="1" dirty="0"/>
              <a:t>Operating profit </a:t>
            </a:r>
            <a:r>
              <a:rPr lang="en-US" sz="2400" dirty="0"/>
              <a:t>= </a:t>
            </a:r>
            <a:r>
              <a:rPr lang="en-US" sz="2400" dirty="0">
                <a:solidFill>
                  <a:schemeClr val="bg1"/>
                </a:solidFill>
              </a:rPr>
              <a:t>Sales revenue </a:t>
            </a:r>
          </a:p>
          <a:p>
            <a:r>
              <a:rPr lang="en-US" sz="2400" dirty="0">
                <a:solidFill>
                  <a:schemeClr val="bg1"/>
                </a:solidFill>
              </a:rPr>
              <a:t>– Operating expenses (by nature or by function)</a:t>
            </a:r>
          </a:p>
        </p:txBody>
      </p:sp>
      <p:sp>
        <p:nvSpPr>
          <p:cNvPr id="33" name="TextBox 32">
            <a:extLst>
              <a:ext uri="{FF2B5EF4-FFF2-40B4-BE49-F238E27FC236}">
                <a16:creationId xmlns:a16="http://schemas.microsoft.com/office/drawing/2014/main" id="{78D8EDB2-395D-48D7-9929-B123CDF42941}"/>
              </a:ext>
            </a:extLst>
          </p:cNvPr>
          <p:cNvSpPr txBox="1"/>
          <p:nvPr/>
        </p:nvSpPr>
        <p:spPr>
          <a:xfrm>
            <a:off x="7728182" y="2488628"/>
            <a:ext cx="480053" cy="748988"/>
          </a:xfrm>
          <a:prstGeom prst="rect">
            <a:avLst/>
          </a:prstGeom>
          <a:noFill/>
        </p:spPr>
        <p:txBody>
          <a:bodyPr wrap="square" rtlCol="0">
            <a:spAutoFit/>
          </a:bodyPr>
          <a:lstStyle/>
          <a:p>
            <a:r>
              <a:rPr lang="en-US" sz="4267" dirty="0"/>
              <a:t>+</a:t>
            </a:r>
          </a:p>
        </p:txBody>
      </p:sp>
      <p:sp>
        <p:nvSpPr>
          <p:cNvPr id="35" name="TextBox 34">
            <a:extLst>
              <a:ext uri="{FF2B5EF4-FFF2-40B4-BE49-F238E27FC236}">
                <a16:creationId xmlns:a16="http://schemas.microsoft.com/office/drawing/2014/main" id="{82E82123-0556-454F-8BE0-EAD3C71A391A}"/>
              </a:ext>
            </a:extLst>
          </p:cNvPr>
          <p:cNvSpPr txBox="1"/>
          <p:nvPr/>
        </p:nvSpPr>
        <p:spPr>
          <a:xfrm>
            <a:off x="5039883" y="3047279"/>
            <a:ext cx="6528725" cy="156966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sz="2400" dirty="0"/>
              <a:t>+ Gains/- losses on disposal of non-current assets</a:t>
            </a:r>
          </a:p>
          <a:p>
            <a:r>
              <a:rPr lang="en-US" sz="2400" dirty="0"/>
              <a:t>- Restructuring cost</a:t>
            </a:r>
          </a:p>
          <a:p>
            <a:r>
              <a:rPr lang="en-US" sz="2400" dirty="0"/>
              <a:t>- Impairment/+reversal on impairment losses</a:t>
            </a:r>
          </a:p>
        </p:txBody>
      </p:sp>
      <p:sp>
        <p:nvSpPr>
          <p:cNvPr id="37" name="TextBox 36">
            <a:extLst>
              <a:ext uri="{FF2B5EF4-FFF2-40B4-BE49-F238E27FC236}">
                <a16:creationId xmlns:a16="http://schemas.microsoft.com/office/drawing/2014/main" id="{AE9BFB7B-E25D-4ECA-A9EF-1984B7C7471A}"/>
              </a:ext>
            </a:extLst>
          </p:cNvPr>
          <p:cNvSpPr txBox="1"/>
          <p:nvPr/>
        </p:nvSpPr>
        <p:spPr>
          <a:xfrm>
            <a:off x="5039882" y="5255524"/>
            <a:ext cx="6534929"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sz="2400" b="1" dirty="0"/>
              <a:t>Financial profit </a:t>
            </a:r>
            <a:r>
              <a:rPr lang="en-US" sz="2400" dirty="0"/>
              <a:t>= </a:t>
            </a:r>
            <a:r>
              <a:rPr lang="en-US" sz="2400" dirty="0">
                <a:solidFill>
                  <a:schemeClr val="bg1"/>
                </a:solidFill>
              </a:rPr>
              <a:t>Interest income and other financial income – interest expense and other financial expense</a:t>
            </a:r>
          </a:p>
        </p:txBody>
      </p:sp>
      <p:sp>
        <p:nvSpPr>
          <p:cNvPr id="38" name="TextBox 37">
            <a:extLst>
              <a:ext uri="{FF2B5EF4-FFF2-40B4-BE49-F238E27FC236}">
                <a16:creationId xmlns:a16="http://schemas.microsoft.com/office/drawing/2014/main" id="{05ED51D3-306D-429D-B9BA-8E312CC47AA9}"/>
              </a:ext>
            </a:extLst>
          </p:cNvPr>
          <p:cNvSpPr txBox="1"/>
          <p:nvPr/>
        </p:nvSpPr>
        <p:spPr>
          <a:xfrm>
            <a:off x="7728182" y="4589248"/>
            <a:ext cx="480053" cy="748988"/>
          </a:xfrm>
          <a:prstGeom prst="rect">
            <a:avLst/>
          </a:prstGeom>
          <a:noFill/>
        </p:spPr>
        <p:txBody>
          <a:bodyPr wrap="square" rtlCol="0">
            <a:spAutoFit/>
          </a:bodyPr>
          <a:lstStyle/>
          <a:p>
            <a:r>
              <a:rPr lang="en-US" sz="4267" dirty="0"/>
              <a:t>+</a:t>
            </a:r>
          </a:p>
        </p:txBody>
      </p:sp>
      <p:sp>
        <p:nvSpPr>
          <p:cNvPr id="2" name="Left Brace 1">
            <a:extLst>
              <a:ext uri="{FF2B5EF4-FFF2-40B4-BE49-F238E27FC236}">
                <a16:creationId xmlns:a16="http://schemas.microsoft.com/office/drawing/2014/main" id="{12BE761C-8F91-4F1B-832E-18585519CEA1}"/>
              </a:ext>
            </a:extLst>
          </p:cNvPr>
          <p:cNvSpPr/>
          <p:nvPr/>
        </p:nvSpPr>
        <p:spPr>
          <a:xfrm>
            <a:off x="4271797" y="1511108"/>
            <a:ext cx="672075" cy="5086243"/>
          </a:xfrm>
          <a:prstGeom prst="leftBrace">
            <a:avLst>
              <a:gd name="adj1" fmla="val 31889"/>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3" name="TextBox 2">
            <a:extLst>
              <a:ext uri="{FF2B5EF4-FFF2-40B4-BE49-F238E27FC236}">
                <a16:creationId xmlns:a16="http://schemas.microsoft.com/office/drawing/2014/main" id="{92010CDF-178E-4059-B555-AD15665E0E57}"/>
              </a:ext>
            </a:extLst>
          </p:cNvPr>
          <p:cNvSpPr txBox="1"/>
          <p:nvPr/>
        </p:nvSpPr>
        <p:spPr>
          <a:xfrm>
            <a:off x="239349" y="3800654"/>
            <a:ext cx="3456384" cy="83099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2400" dirty="0"/>
              <a:t>Income before (income) tax</a:t>
            </a:r>
          </a:p>
        </p:txBody>
      </p:sp>
      <p:sp>
        <p:nvSpPr>
          <p:cNvPr id="14" name="TextBox 13">
            <a:extLst>
              <a:ext uri="{FF2B5EF4-FFF2-40B4-BE49-F238E27FC236}">
                <a16:creationId xmlns:a16="http://schemas.microsoft.com/office/drawing/2014/main" id="{EF015482-B4F5-4206-9324-2605CF5CE7CE}"/>
              </a:ext>
            </a:extLst>
          </p:cNvPr>
          <p:cNvSpPr txBox="1"/>
          <p:nvPr/>
        </p:nvSpPr>
        <p:spPr>
          <a:xfrm>
            <a:off x="3695734" y="3621021"/>
            <a:ext cx="480053" cy="748988"/>
          </a:xfrm>
          <a:prstGeom prst="rect">
            <a:avLst/>
          </a:prstGeom>
          <a:noFill/>
        </p:spPr>
        <p:txBody>
          <a:bodyPr wrap="square" rtlCol="0">
            <a:spAutoFit/>
          </a:bodyPr>
          <a:lstStyle/>
          <a:p>
            <a:r>
              <a:rPr lang="en-US" sz="4267" dirty="0"/>
              <a:t>=</a:t>
            </a:r>
          </a:p>
        </p:txBody>
      </p:sp>
    </p:spTree>
    <p:extLst>
      <p:ext uri="{BB962C8B-B14F-4D97-AF65-F5344CB8AC3E}">
        <p14:creationId xmlns:p14="http://schemas.microsoft.com/office/powerpoint/2010/main" val="635889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249CA-8480-C956-5A61-F523DF4AB36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24546A-21CB-01BC-C302-B03FC67FB520}"/>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47</a:t>
            </a:fld>
            <a:endParaRPr lang="fr-FR" dirty="0"/>
          </a:p>
        </p:txBody>
      </p:sp>
      <p:pic>
        <p:nvPicPr>
          <p:cNvPr id="9" name="Picture 8">
            <a:extLst>
              <a:ext uri="{FF2B5EF4-FFF2-40B4-BE49-F238E27FC236}">
                <a16:creationId xmlns:a16="http://schemas.microsoft.com/office/drawing/2014/main" id="{AB273FCD-4262-E43A-3C22-303485739CD0}"/>
              </a:ext>
            </a:extLst>
          </p:cNvPr>
          <p:cNvPicPr>
            <a:picLocks noChangeAspect="1"/>
          </p:cNvPicPr>
          <p:nvPr/>
        </p:nvPicPr>
        <p:blipFill>
          <a:blip r:embed="rId2"/>
          <a:stretch>
            <a:fillRect/>
          </a:stretch>
        </p:blipFill>
        <p:spPr>
          <a:xfrm>
            <a:off x="67224" y="91403"/>
            <a:ext cx="4337711" cy="1291847"/>
          </a:xfrm>
          <a:prstGeom prst="rect">
            <a:avLst/>
          </a:prstGeom>
        </p:spPr>
      </p:pic>
      <p:sp>
        <p:nvSpPr>
          <p:cNvPr id="2" name="Left Brace 1">
            <a:extLst>
              <a:ext uri="{FF2B5EF4-FFF2-40B4-BE49-F238E27FC236}">
                <a16:creationId xmlns:a16="http://schemas.microsoft.com/office/drawing/2014/main" id="{227C83D4-A159-2F3B-4A46-EB2E97D635B6}"/>
              </a:ext>
            </a:extLst>
          </p:cNvPr>
          <p:cNvSpPr/>
          <p:nvPr/>
        </p:nvSpPr>
        <p:spPr>
          <a:xfrm>
            <a:off x="4414829" y="1390725"/>
            <a:ext cx="163174" cy="1076430"/>
          </a:xfrm>
          <a:prstGeom prst="leftBrace">
            <a:avLst>
              <a:gd name="adj1" fmla="val 52778"/>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6" name="TextBox 5">
            <a:extLst>
              <a:ext uri="{FF2B5EF4-FFF2-40B4-BE49-F238E27FC236}">
                <a16:creationId xmlns:a16="http://schemas.microsoft.com/office/drawing/2014/main" id="{2E9C48D9-EB0C-9F58-21AA-05F61241C862}"/>
              </a:ext>
            </a:extLst>
          </p:cNvPr>
          <p:cNvSpPr txBox="1"/>
          <p:nvPr/>
        </p:nvSpPr>
        <p:spPr>
          <a:xfrm>
            <a:off x="1181820" y="1536653"/>
            <a:ext cx="3058188" cy="784574"/>
          </a:xfrm>
          <a:prstGeom prst="rect">
            <a:avLst/>
          </a:prstGeom>
          <a:solidFill>
            <a:schemeClr val="accent4">
              <a:lumMod val="40000"/>
              <a:lumOff val="60000"/>
            </a:schemeClr>
          </a:solidFill>
        </p:spPr>
        <p:txBody>
          <a:bodyPr wrap="square" rtlCol="0">
            <a:spAutoFit/>
          </a:bodyPr>
          <a:lstStyle/>
          <a:p>
            <a:r>
              <a:rPr lang="en-US" sz="2249" dirty="0"/>
              <a:t>Operating activity</a:t>
            </a:r>
          </a:p>
          <a:p>
            <a:pPr algn="ctr"/>
            <a:r>
              <a:rPr lang="en-US" sz="2249" dirty="0"/>
              <a:t>(daily operations)</a:t>
            </a:r>
          </a:p>
        </p:txBody>
      </p:sp>
      <p:sp>
        <p:nvSpPr>
          <p:cNvPr id="4" name="TextBox 3">
            <a:extLst>
              <a:ext uri="{FF2B5EF4-FFF2-40B4-BE49-F238E27FC236}">
                <a16:creationId xmlns:a16="http://schemas.microsoft.com/office/drawing/2014/main" id="{D484B5C8-761E-A868-AD13-DFDC6F00541F}"/>
              </a:ext>
            </a:extLst>
          </p:cNvPr>
          <p:cNvSpPr txBox="1"/>
          <p:nvPr/>
        </p:nvSpPr>
        <p:spPr>
          <a:xfrm>
            <a:off x="1181819" y="2844993"/>
            <a:ext cx="3058187" cy="438453"/>
          </a:xfrm>
          <a:prstGeom prst="rect">
            <a:avLst/>
          </a:prstGeom>
          <a:solidFill>
            <a:schemeClr val="accent4">
              <a:lumMod val="40000"/>
              <a:lumOff val="60000"/>
            </a:schemeClr>
          </a:solidFill>
        </p:spPr>
        <p:txBody>
          <a:bodyPr wrap="square" rtlCol="0">
            <a:spAutoFit/>
          </a:bodyPr>
          <a:lstStyle/>
          <a:p>
            <a:pPr algn="ctr"/>
            <a:r>
              <a:rPr lang="en-US" sz="2249" dirty="0"/>
              <a:t>Non-recurring activity</a:t>
            </a:r>
          </a:p>
        </p:txBody>
      </p:sp>
      <p:sp>
        <p:nvSpPr>
          <p:cNvPr id="8" name="Left Brace 7">
            <a:extLst>
              <a:ext uri="{FF2B5EF4-FFF2-40B4-BE49-F238E27FC236}">
                <a16:creationId xmlns:a16="http://schemas.microsoft.com/office/drawing/2014/main" id="{AF4C6948-713B-832F-E727-18ED89793FEA}"/>
              </a:ext>
            </a:extLst>
          </p:cNvPr>
          <p:cNvSpPr/>
          <p:nvPr/>
        </p:nvSpPr>
        <p:spPr>
          <a:xfrm>
            <a:off x="4393156" y="2553137"/>
            <a:ext cx="163174" cy="1076430"/>
          </a:xfrm>
          <a:prstGeom prst="leftBrace">
            <a:avLst>
              <a:gd name="adj1" fmla="val 52778"/>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10" name="TextBox 9">
            <a:extLst>
              <a:ext uri="{FF2B5EF4-FFF2-40B4-BE49-F238E27FC236}">
                <a16:creationId xmlns:a16="http://schemas.microsoft.com/office/drawing/2014/main" id="{4DC8A9BD-4B95-F692-6EB9-9A9346B52869}"/>
              </a:ext>
            </a:extLst>
          </p:cNvPr>
          <p:cNvSpPr txBox="1"/>
          <p:nvPr/>
        </p:nvSpPr>
        <p:spPr>
          <a:xfrm>
            <a:off x="1181819" y="3842156"/>
            <a:ext cx="3058187" cy="438453"/>
          </a:xfrm>
          <a:prstGeom prst="rect">
            <a:avLst/>
          </a:prstGeom>
          <a:solidFill>
            <a:schemeClr val="accent4">
              <a:lumMod val="40000"/>
              <a:lumOff val="60000"/>
            </a:schemeClr>
          </a:solidFill>
        </p:spPr>
        <p:txBody>
          <a:bodyPr wrap="square" rtlCol="0">
            <a:spAutoFit/>
          </a:bodyPr>
          <a:lstStyle/>
          <a:p>
            <a:pPr algn="ctr"/>
            <a:r>
              <a:rPr lang="en-US" sz="2249" dirty="0"/>
              <a:t>Financial activity</a:t>
            </a:r>
          </a:p>
        </p:txBody>
      </p:sp>
      <p:sp>
        <p:nvSpPr>
          <p:cNvPr id="11" name="Left Brace 10">
            <a:extLst>
              <a:ext uri="{FF2B5EF4-FFF2-40B4-BE49-F238E27FC236}">
                <a16:creationId xmlns:a16="http://schemas.microsoft.com/office/drawing/2014/main" id="{FF3AC446-A394-8B23-3579-667DE1850CE5}"/>
              </a:ext>
            </a:extLst>
          </p:cNvPr>
          <p:cNvSpPr/>
          <p:nvPr/>
        </p:nvSpPr>
        <p:spPr>
          <a:xfrm>
            <a:off x="4375475" y="3843553"/>
            <a:ext cx="163174" cy="438453"/>
          </a:xfrm>
          <a:prstGeom prst="leftBrace">
            <a:avLst>
              <a:gd name="adj1" fmla="val 52778"/>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12" name="TextBox 11">
            <a:extLst>
              <a:ext uri="{FF2B5EF4-FFF2-40B4-BE49-F238E27FC236}">
                <a16:creationId xmlns:a16="http://schemas.microsoft.com/office/drawing/2014/main" id="{1CF0C9DD-EDAB-FD41-05D1-972F28E8A742}"/>
              </a:ext>
            </a:extLst>
          </p:cNvPr>
          <p:cNvSpPr txBox="1"/>
          <p:nvPr/>
        </p:nvSpPr>
        <p:spPr>
          <a:xfrm>
            <a:off x="1784356" y="4461324"/>
            <a:ext cx="2311879" cy="369332"/>
          </a:xfrm>
          <a:prstGeom prst="rect">
            <a:avLst/>
          </a:prstGeom>
          <a:noFill/>
        </p:spPr>
        <p:txBody>
          <a:bodyPr wrap="square" rtlCol="0">
            <a:spAutoFit/>
          </a:bodyPr>
          <a:lstStyle/>
          <a:p>
            <a:r>
              <a:rPr lang="en-US" dirty="0"/>
              <a:t>Income tax expense</a:t>
            </a:r>
          </a:p>
        </p:txBody>
      </p:sp>
      <p:sp>
        <p:nvSpPr>
          <p:cNvPr id="13" name="Arrow: Right 12">
            <a:extLst>
              <a:ext uri="{FF2B5EF4-FFF2-40B4-BE49-F238E27FC236}">
                <a16:creationId xmlns:a16="http://schemas.microsoft.com/office/drawing/2014/main" id="{BB6FB3E5-D89A-9FC1-D515-8795BB793F0E}"/>
              </a:ext>
            </a:extLst>
          </p:cNvPr>
          <p:cNvSpPr/>
          <p:nvPr/>
        </p:nvSpPr>
        <p:spPr>
          <a:xfrm>
            <a:off x="4123426" y="4570832"/>
            <a:ext cx="415223" cy="150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47D7A363-0866-16FF-08C4-D2DF03EC0627}"/>
              </a:ext>
            </a:extLst>
          </p:cNvPr>
          <p:cNvSpPr/>
          <p:nvPr/>
        </p:nvSpPr>
        <p:spPr>
          <a:xfrm>
            <a:off x="4137810" y="4887131"/>
            <a:ext cx="415223" cy="150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8D4E080-2867-D52D-6DD9-003069F1DF4F}"/>
              </a:ext>
            </a:extLst>
          </p:cNvPr>
          <p:cNvSpPr txBox="1"/>
          <p:nvPr/>
        </p:nvSpPr>
        <p:spPr>
          <a:xfrm>
            <a:off x="1790110" y="4768995"/>
            <a:ext cx="2311879" cy="369332"/>
          </a:xfrm>
          <a:prstGeom prst="rect">
            <a:avLst/>
          </a:prstGeom>
          <a:noFill/>
        </p:spPr>
        <p:txBody>
          <a:bodyPr wrap="square" rtlCol="0">
            <a:spAutoFit/>
          </a:bodyPr>
          <a:lstStyle/>
          <a:p>
            <a:pPr algn="r"/>
            <a:r>
              <a:rPr lang="en-US" dirty="0"/>
              <a:t>Net income</a:t>
            </a:r>
          </a:p>
        </p:txBody>
      </p:sp>
      <p:pic>
        <p:nvPicPr>
          <p:cNvPr id="7" name="Picture 6">
            <a:extLst>
              <a:ext uri="{FF2B5EF4-FFF2-40B4-BE49-F238E27FC236}">
                <a16:creationId xmlns:a16="http://schemas.microsoft.com/office/drawing/2014/main" id="{EF39859A-6966-FBE8-F1DE-086BD36A84F0}"/>
              </a:ext>
            </a:extLst>
          </p:cNvPr>
          <p:cNvPicPr>
            <a:picLocks noChangeAspect="1"/>
          </p:cNvPicPr>
          <p:nvPr/>
        </p:nvPicPr>
        <p:blipFill>
          <a:blip r:embed="rId3"/>
          <a:stretch>
            <a:fillRect/>
          </a:stretch>
        </p:blipFill>
        <p:spPr>
          <a:xfrm>
            <a:off x="4613095" y="42110"/>
            <a:ext cx="7511681" cy="6773779"/>
          </a:xfrm>
          <a:prstGeom prst="rect">
            <a:avLst/>
          </a:prstGeom>
        </p:spPr>
      </p:pic>
    </p:spTree>
    <p:extLst>
      <p:ext uri="{BB962C8B-B14F-4D97-AF65-F5344CB8AC3E}">
        <p14:creationId xmlns:p14="http://schemas.microsoft.com/office/powerpoint/2010/main" val="361253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C6EEEF-5DF5-474C-ABA8-B9BE5DDE216C}"/>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48</a:t>
            </a:fld>
            <a:endParaRPr lang="fr-FR" dirty="0"/>
          </a:p>
        </p:txBody>
      </p:sp>
      <p:pic>
        <p:nvPicPr>
          <p:cNvPr id="9" name="Picture 8">
            <a:extLst>
              <a:ext uri="{FF2B5EF4-FFF2-40B4-BE49-F238E27FC236}">
                <a16:creationId xmlns:a16="http://schemas.microsoft.com/office/drawing/2014/main" id="{4B1CDB60-9BB8-4D2A-AE30-E1E5D288A50C}"/>
              </a:ext>
            </a:extLst>
          </p:cNvPr>
          <p:cNvPicPr>
            <a:picLocks noChangeAspect="1"/>
          </p:cNvPicPr>
          <p:nvPr/>
        </p:nvPicPr>
        <p:blipFill>
          <a:blip r:embed="rId2"/>
          <a:stretch>
            <a:fillRect/>
          </a:stretch>
        </p:blipFill>
        <p:spPr>
          <a:xfrm>
            <a:off x="98179" y="744802"/>
            <a:ext cx="4337711" cy="1291847"/>
          </a:xfrm>
          <a:prstGeom prst="rect">
            <a:avLst/>
          </a:prstGeom>
        </p:spPr>
      </p:pic>
      <p:pic>
        <p:nvPicPr>
          <p:cNvPr id="4" name="Picture 3">
            <a:extLst>
              <a:ext uri="{FF2B5EF4-FFF2-40B4-BE49-F238E27FC236}">
                <a16:creationId xmlns:a16="http://schemas.microsoft.com/office/drawing/2014/main" id="{DC550A72-CC10-73A8-DFBC-93222219A246}"/>
              </a:ext>
            </a:extLst>
          </p:cNvPr>
          <p:cNvPicPr>
            <a:picLocks noChangeAspect="1"/>
          </p:cNvPicPr>
          <p:nvPr/>
        </p:nvPicPr>
        <p:blipFill>
          <a:blip r:embed="rId3"/>
          <a:stretch>
            <a:fillRect/>
          </a:stretch>
        </p:blipFill>
        <p:spPr>
          <a:xfrm>
            <a:off x="4613095" y="42110"/>
            <a:ext cx="7511681" cy="6773779"/>
          </a:xfrm>
          <a:prstGeom prst="rect">
            <a:avLst/>
          </a:prstGeom>
        </p:spPr>
      </p:pic>
      <p:pic>
        <p:nvPicPr>
          <p:cNvPr id="8" name="Picture 7" descr="A white text with black text&#10;&#10;AI-generated content may be incorrect.">
            <a:extLst>
              <a:ext uri="{FF2B5EF4-FFF2-40B4-BE49-F238E27FC236}">
                <a16:creationId xmlns:a16="http://schemas.microsoft.com/office/drawing/2014/main" id="{9CE92D38-48FB-E129-5D24-0576065AA21C}"/>
              </a:ext>
            </a:extLst>
          </p:cNvPr>
          <p:cNvPicPr>
            <a:picLocks noChangeAspect="1"/>
          </p:cNvPicPr>
          <p:nvPr/>
        </p:nvPicPr>
        <p:blipFill>
          <a:blip r:embed="rId4"/>
          <a:stretch>
            <a:fillRect/>
          </a:stretch>
        </p:blipFill>
        <p:spPr>
          <a:xfrm>
            <a:off x="511889" y="3175222"/>
            <a:ext cx="5765266" cy="3686115"/>
          </a:xfrm>
          <a:prstGeom prst="rect">
            <a:avLst/>
          </a:prstGeom>
        </p:spPr>
      </p:pic>
      <p:sp>
        <p:nvSpPr>
          <p:cNvPr id="10" name="Left Brace 9">
            <a:extLst>
              <a:ext uri="{FF2B5EF4-FFF2-40B4-BE49-F238E27FC236}">
                <a16:creationId xmlns:a16="http://schemas.microsoft.com/office/drawing/2014/main" id="{65359F99-2EEB-1A78-6D0E-E24348359DF7}"/>
              </a:ext>
            </a:extLst>
          </p:cNvPr>
          <p:cNvSpPr/>
          <p:nvPr/>
        </p:nvSpPr>
        <p:spPr>
          <a:xfrm>
            <a:off x="4388272" y="2530184"/>
            <a:ext cx="160655" cy="428416"/>
          </a:xfrm>
          <a:prstGeom prst="leftBrace">
            <a:avLst>
              <a:gd name="adj1" fmla="val 52778"/>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11" name="TextBox 10">
            <a:extLst>
              <a:ext uri="{FF2B5EF4-FFF2-40B4-BE49-F238E27FC236}">
                <a16:creationId xmlns:a16="http://schemas.microsoft.com/office/drawing/2014/main" id="{547D5A19-C1A9-3636-2E83-0018A1156DEC}"/>
              </a:ext>
            </a:extLst>
          </p:cNvPr>
          <p:cNvSpPr txBox="1"/>
          <p:nvPr/>
        </p:nvSpPr>
        <p:spPr>
          <a:xfrm>
            <a:off x="73220" y="2352105"/>
            <a:ext cx="4284159" cy="784574"/>
          </a:xfrm>
          <a:prstGeom prst="rect">
            <a:avLst/>
          </a:prstGeom>
          <a:solidFill>
            <a:schemeClr val="accent4">
              <a:lumMod val="40000"/>
              <a:lumOff val="60000"/>
            </a:schemeClr>
          </a:solidFill>
        </p:spPr>
        <p:txBody>
          <a:bodyPr wrap="square" rtlCol="0">
            <a:spAutoFit/>
          </a:bodyPr>
          <a:lstStyle/>
          <a:p>
            <a:r>
              <a:rPr lang="en-US" sz="2249" dirty="0"/>
              <a:t>Non-recurring income and expense</a:t>
            </a:r>
          </a:p>
        </p:txBody>
      </p:sp>
    </p:spTree>
    <p:extLst>
      <p:ext uri="{BB962C8B-B14F-4D97-AF65-F5344CB8AC3E}">
        <p14:creationId xmlns:p14="http://schemas.microsoft.com/office/powerpoint/2010/main" val="885367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050BB-5848-880E-BE79-1B7262F6101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53ABCB-86B5-D96A-FF2D-053096872CF2}"/>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49</a:t>
            </a:fld>
            <a:endParaRPr lang="fr-FR" dirty="0"/>
          </a:p>
        </p:txBody>
      </p:sp>
      <p:pic>
        <p:nvPicPr>
          <p:cNvPr id="9" name="Picture 8">
            <a:extLst>
              <a:ext uri="{FF2B5EF4-FFF2-40B4-BE49-F238E27FC236}">
                <a16:creationId xmlns:a16="http://schemas.microsoft.com/office/drawing/2014/main" id="{DD74D64D-E9F3-CBE5-5B6B-7AC2618A630A}"/>
              </a:ext>
            </a:extLst>
          </p:cNvPr>
          <p:cNvPicPr>
            <a:picLocks noChangeAspect="1"/>
          </p:cNvPicPr>
          <p:nvPr/>
        </p:nvPicPr>
        <p:blipFill>
          <a:blip r:embed="rId2"/>
          <a:stretch>
            <a:fillRect/>
          </a:stretch>
        </p:blipFill>
        <p:spPr>
          <a:xfrm>
            <a:off x="98179" y="744802"/>
            <a:ext cx="4337711" cy="1291847"/>
          </a:xfrm>
          <a:prstGeom prst="rect">
            <a:avLst/>
          </a:prstGeom>
        </p:spPr>
      </p:pic>
      <p:sp>
        <p:nvSpPr>
          <p:cNvPr id="2" name="Left Brace 1">
            <a:extLst>
              <a:ext uri="{FF2B5EF4-FFF2-40B4-BE49-F238E27FC236}">
                <a16:creationId xmlns:a16="http://schemas.microsoft.com/office/drawing/2014/main" id="{286F82B9-E4E3-8674-134F-0CBB1051AE38}"/>
              </a:ext>
            </a:extLst>
          </p:cNvPr>
          <p:cNvSpPr/>
          <p:nvPr/>
        </p:nvSpPr>
        <p:spPr>
          <a:xfrm>
            <a:off x="4388272" y="2530184"/>
            <a:ext cx="160655" cy="428416"/>
          </a:xfrm>
          <a:prstGeom prst="leftBrace">
            <a:avLst>
              <a:gd name="adj1" fmla="val 52778"/>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6" name="TextBox 5">
            <a:extLst>
              <a:ext uri="{FF2B5EF4-FFF2-40B4-BE49-F238E27FC236}">
                <a16:creationId xmlns:a16="http://schemas.microsoft.com/office/drawing/2014/main" id="{6B426D97-1A63-8E27-8DBF-7F18AE2F023C}"/>
              </a:ext>
            </a:extLst>
          </p:cNvPr>
          <p:cNvSpPr txBox="1"/>
          <p:nvPr/>
        </p:nvSpPr>
        <p:spPr>
          <a:xfrm>
            <a:off x="73220" y="2352105"/>
            <a:ext cx="4284159" cy="784574"/>
          </a:xfrm>
          <a:prstGeom prst="rect">
            <a:avLst/>
          </a:prstGeom>
          <a:solidFill>
            <a:schemeClr val="accent4">
              <a:lumMod val="40000"/>
              <a:lumOff val="60000"/>
            </a:schemeClr>
          </a:solidFill>
        </p:spPr>
        <p:txBody>
          <a:bodyPr wrap="square" rtlCol="0">
            <a:spAutoFit/>
          </a:bodyPr>
          <a:lstStyle/>
          <a:p>
            <a:r>
              <a:rPr lang="en-US" sz="2249" dirty="0"/>
              <a:t>Non-recurring income and expense</a:t>
            </a:r>
          </a:p>
        </p:txBody>
      </p:sp>
      <p:pic>
        <p:nvPicPr>
          <p:cNvPr id="4" name="Picture 3">
            <a:extLst>
              <a:ext uri="{FF2B5EF4-FFF2-40B4-BE49-F238E27FC236}">
                <a16:creationId xmlns:a16="http://schemas.microsoft.com/office/drawing/2014/main" id="{B1DE0C20-61A5-E77C-71A9-EEEEE6031A88}"/>
              </a:ext>
            </a:extLst>
          </p:cNvPr>
          <p:cNvPicPr>
            <a:picLocks noChangeAspect="1"/>
          </p:cNvPicPr>
          <p:nvPr/>
        </p:nvPicPr>
        <p:blipFill>
          <a:blip r:embed="rId3"/>
          <a:stretch>
            <a:fillRect/>
          </a:stretch>
        </p:blipFill>
        <p:spPr>
          <a:xfrm>
            <a:off x="4613095" y="42110"/>
            <a:ext cx="7511681" cy="6773779"/>
          </a:xfrm>
          <a:prstGeom prst="rect">
            <a:avLst/>
          </a:prstGeom>
        </p:spPr>
      </p:pic>
      <p:pic>
        <p:nvPicPr>
          <p:cNvPr id="10" name="Picture 9">
            <a:extLst>
              <a:ext uri="{FF2B5EF4-FFF2-40B4-BE49-F238E27FC236}">
                <a16:creationId xmlns:a16="http://schemas.microsoft.com/office/drawing/2014/main" id="{BBE5DA86-3807-1DC8-DE8B-B2998A738D8B}"/>
              </a:ext>
            </a:extLst>
          </p:cNvPr>
          <p:cNvPicPr>
            <a:picLocks noChangeAspect="1"/>
          </p:cNvPicPr>
          <p:nvPr/>
        </p:nvPicPr>
        <p:blipFill>
          <a:blip r:embed="rId4"/>
          <a:stretch>
            <a:fillRect/>
          </a:stretch>
        </p:blipFill>
        <p:spPr>
          <a:xfrm>
            <a:off x="678690" y="3205213"/>
            <a:ext cx="8781114" cy="3480541"/>
          </a:xfrm>
          <a:prstGeom prst="rect">
            <a:avLst/>
          </a:prstGeom>
        </p:spPr>
      </p:pic>
    </p:spTree>
    <p:extLst>
      <p:ext uri="{BB962C8B-B14F-4D97-AF65-F5344CB8AC3E}">
        <p14:creationId xmlns:p14="http://schemas.microsoft.com/office/powerpoint/2010/main" val="1076061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C6EEEF-5DF5-474C-ABA8-B9BE5DDE216C}"/>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50</a:t>
            </a:fld>
            <a:endParaRPr lang="fr-FR" dirty="0"/>
          </a:p>
        </p:txBody>
      </p:sp>
      <p:pic>
        <p:nvPicPr>
          <p:cNvPr id="9" name="Picture 8">
            <a:extLst>
              <a:ext uri="{FF2B5EF4-FFF2-40B4-BE49-F238E27FC236}">
                <a16:creationId xmlns:a16="http://schemas.microsoft.com/office/drawing/2014/main" id="{4B1CDB60-9BB8-4D2A-AE30-E1E5D288A50C}"/>
              </a:ext>
            </a:extLst>
          </p:cNvPr>
          <p:cNvPicPr>
            <a:picLocks noChangeAspect="1"/>
          </p:cNvPicPr>
          <p:nvPr/>
        </p:nvPicPr>
        <p:blipFill>
          <a:blip r:embed="rId2"/>
          <a:stretch>
            <a:fillRect/>
          </a:stretch>
        </p:blipFill>
        <p:spPr>
          <a:xfrm>
            <a:off x="98179" y="744802"/>
            <a:ext cx="4337711" cy="1291847"/>
          </a:xfrm>
          <a:prstGeom prst="rect">
            <a:avLst/>
          </a:prstGeom>
        </p:spPr>
      </p:pic>
      <p:pic>
        <p:nvPicPr>
          <p:cNvPr id="4" name="Picture 3">
            <a:extLst>
              <a:ext uri="{FF2B5EF4-FFF2-40B4-BE49-F238E27FC236}">
                <a16:creationId xmlns:a16="http://schemas.microsoft.com/office/drawing/2014/main" id="{67C867F0-EA0F-94B2-F938-F792C16808DD}"/>
              </a:ext>
            </a:extLst>
          </p:cNvPr>
          <p:cNvPicPr>
            <a:picLocks noChangeAspect="1"/>
          </p:cNvPicPr>
          <p:nvPr/>
        </p:nvPicPr>
        <p:blipFill>
          <a:blip r:embed="rId3"/>
          <a:stretch>
            <a:fillRect/>
          </a:stretch>
        </p:blipFill>
        <p:spPr>
          <a:xfrm>
            <a:off x="4613095" y="42110"/>
            <a:ext cx="7511681" cy="6773779"/>
          </a:xfrm>
          <a:prstGeom prst="rect">
            <a:avLst/>
          </a:prstGeom>
        </p:spPr>
      </p:pic>
      <p:sp>
        <p:nvSpPr>
          <p:cNvPr id="8" name="Left Brace 7">
            <a:extLst>
              <a:ext uri="{FF2B5EF4-FFF2-40B4-BE49-F238E27FC236}">
                <a16:creationId xmlns:a16="http://schemas.microsoft.com/office/drawing/2014/main" id="{A3D6E538-BBFB-0A9B-09D6-C0367F175787}"/>
              </a:ext>
            </a:extLst>
          </p:cNvPr>
          <p:cNvSpPr/>
          <p:nvPr/>
        </p:nvSpPr>
        <p:spPr>
          <a:xfrm>
            <a:off x="4435892" y="3214792"/>
            <a:ext cx="123651" cy="317680"/>
          </a:xfrm>
          <a:prstGeom prst="leftBrace">
            <a:avLst>
              <a:gd name="adj1" fmla="val 52778"/>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10" name="TextBox 9">
            <a:extLst>
              <a:ext uri="{FF2B5EF4-FFF2-40B4-BE49-F238E27FC236}">
                <a16:creationId xmlns:a16="http://schemas.microsoft.com/office/drawing/2014/main" id="{9150DB68-8BAC-BC9E-F580-892D8F038634}"/>
              </a:ext>
            </a:extLst>
          </p:cNvPr>
          <p:cNvSpPr txBox="1"/>
          <p:nvPr/>
        </p:nvSpPr>
        <p:spPr>
          <a:xfrm>
            <a:off x="98179" y="3042267"/>
            <a:ext cx="4284159" cy="784574"/>
          </a:xfrm>
          <a:prstGeom prst="rect">
            <a:avLst/>
          </a:prstGeom>
          <a:solidFill>
            <a:schemeClr val="accent4">
              <a:lumMod val="40000"/>
              <a:lumOff val="60000"/>
            </a:schemeClr>
          </a:solidFill>
        </p:spPr>
        <p:txBody>
          <a:bodyPr wrap="square" rtlCol="0">
            <a:spAutoFit/>
          </a:bodyPr>
          <a:lstStyle/>
          <a:p>
            <a:r>
              <a:rPr lang="en-US" sz="2249" dirty="0"/>
              <a:t>Non-recurring income and expense</a:t>
            </a:r>
          </a:p>
        </p:txBody>
      </p:sp>
      <p:pic>
        <p:nvPicPr>
          <p:cNvPr id="12" name="Picture 11">
            <a:extLst>
              <a:ext uri="{FF2B5EF4-FFF2-40B4-BE49-F238E27FC236}">
                <a16:creationId xmlns:a16="http://schemas.microsoft.com/office/drawing/2014/main" id="{E9D7404A-6EB1-3B7A-EEE8-E3268C24BE9B}"/>
              </a:ext>
            </a:extLst>
          </p:cNvPr>
          <p:cNvPicPr>
            <a:picLocks noChangeAspect="1"/>
          </p:cNvPicPr>
          <p:nvPr/>
        </p:nvPicPr>
        <p:blipFill>
          <a:blip r:embed="rId4"/>
          <a:stretch>
            <a:fillRect/>
          </a:stretch>
        </p:blipFill>
        <p:spPr>
          <a:xfrm>
            <a:off x="1021719" y="3817216"/>
            <a:ext cx="7626742" cy="3048157"/>
          </a:xfrm>
          <a:prstGeom prst="rect">
            <a:avLst/>
          </a:prstGeom>
        </p:spPr>
      </p:pic>
    </p:spTree>
    <p:extLst>
      <p:ext uri="{BB962C8B-B14F-4D97-AF65-F5344CB8AC3E}">
        <p14:creationId xmlns:p14="http://schemas.microsoft.com/office/powerpoint/2010/main" val="35151330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C6EEEF-5DF5-474C-ABA8-B9BE5DDE216C}"/>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51</a:t>
            </a:fld>
            <a:endParaRPr lang="fr-FR" dirty="0"/>
          </a:p>
        </p:txBody>
      </p:sp>
      <p:pic>
        <p:nvPicPr>
          <p:cNvPr id="9" name="Picture 8">
            <a:extLst>
              <a:ext uri="{FF2B5EF4-FFF2-40B4-BE49-F238E27FC236}">
                <a16:creationId xmlns:a16="http://schemas.microsoft.com/office/drawing/2014/main" id="{4B1CDB60-9BB8-4D2A-AE30-E1E5D288A50C}"/>
              </a:ext>
            </a:extLst>
          </p:cNvPr>
          <p:cNvPicPr>
            <a:picLocks noChangeAspect="1"/>
          </p:cNvPicPr>
          <p:nvPr/>
        </p:nvPicPr>
        <p:blipFill>
          <a:blip r:embed="rId2"/>
          <a:stretch>
            <a:fillRect/>
          </a:stretch>
        </p:blipFill>
        <p:spPr>
          <a:xfrm>
            <a:off x="312387" y="162330"/>
            <a:ext cx="3213117" cy="956924"/>
          </a:xfrm>
          <a:prstGeom prst="rect">
            <a:avLst/>
          </a:prstGeom>
        </p:spPr>
      </p:pic>
      <p:pic>
        <p:nvPicPr>
          <p:cNvPr id="13" name="Picture 12">
            <a:extLst>
              <a:ext uri="{FF2B5EF4-FFF2-40B4-BE49-F238E27FC236}">
                <a16:creationId xmlns:a16="http://schemas.microsoft.com/office/drawing/2014/main" id="{ABBAA8CB-08E3-A206-DB58-05D422EE5B67}"/>
              </a:ext>
            </a:extLst>
          </p:cNvPr>
          <p:cNvPicPr>
            <a:picLocks noChangeAspect="1"/>
          </p:cNvPicPr>
          <p:nvPr/>
        </p:nvPicPr>
        <p:blipFill>
          <a:blip r:embed="rId3"/>
          <a:stretch>
            <a:fillRect/>
          </a:stretch>
        </p:blipFill>
        <p:spPr>
          <a:xfrm>
            <a:off x="4613095" y="42110"/>
            <a:ext cx="7511681" cy="6773779"/>
          </a:xfrm>
          <a:prstGeom prst="rect">
            <a:avLst/>
          </a:prstGeom>
        </p:spPr>
      </p:pic>
      <p:cxnSp>
        <p:nvCxnSpPr>
          <p:cNvPr id="14" name="Straight Connector 13">
            <a:extLst>
              <a:ext uri="{FF2B5EF4-FFF2-40B4-BE49-F238E27FC236}">
                <a16:creationId xmlns:a16="http://schemas.microsoft.com/office/drawing/2014/main" id="{2DBA28D8-2A38-D5B2-D72B-D196971C064A}"/>
              </a:ext>
            </a:extLst>
          </p:cNvPr>
          <p:cNvCxnSpPr>
            <a:cxnSpLocks/>
          </p:cNvCxnSpPr>
          <p:nvPr/>
        </p:nvCxnSpPr>
        <p:spPr>
          <a:xfrm>
            <a:off x="2743200" y="2506522"/>
            <a:ext cx="9246988" cy="798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5" name="Left Brace 14">
            <a:extLst>
              <a:ext uri="{FF2B5EF4-FFF2-40B4-BE49-F238E27FC236}">
                <a16:creationId xmlns:a16="http://schemas.microsoft.com/office/drawing/2014/main" id="{C28DC60A-4D30-C402-4BAD-41DA93479A4A}"/>
              </a:ext>
            </a:extLst>
          </p:cNvPr>
          <p:cNvSpPr/>
          <p:nvPr/>
        </p:nvSpPr>
        <p:spPr>
          <a:xfrm>
            <a:off x="4328785" y="1340472"/>
            <a:ext cx="321312" cy="1178144"/>
          </a:xfrm>
          <a:prstGeom prst="leftBrace">
            <a:avLst>
              <a:gd name="adj1" fmla="val 30555"/>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16" name="Left Brace 15">
            <a:extLst>
              <a:ext uri="{FF2B5EF4-FFF2-40B4-BE49-F238E27FC236}">
                <a16:creationId xmlns:a16="http://schemas.microsoft.com/office/drawing/2014/main" id="{678E3130-23AF-1D0E-59ED-D0E9F6C5F82F}"/>
              </a:ext>
            </a:extLst>
          </p:cNvPr>
          <p:cNvSpPr/>
          <p:nvPr/>
        </p:nvSpPr>
        <p:spPr>
          <a:xfrm>
            <a:off x="4328785" y="2572168"/>
            <a:ext cx="321312" cy="963936"/>
          </a:xfrm>
          <a:prstGeom prst="leftBrace">
            <a:avLst>
              <a:gd name="adj1" fmla="val 30555"/>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17" name="TextBox 16">
            <a:extLst>
              <a:ext uri="{FF2B5EF4-FFF2-40B4-BE49-F238E27FC236}">
                <a16:creationId xmlns:a16="http://schemas.microsoft.com/office/drawing/2014/main" id="{8A1E6DC9-9AD8-C9CA-8799-4620FFA5E864}"/>
              </a:ext>
            </a:extLst>
          </p:cNvPr>
          <p:cNvSpPr txBox="1"/>
          <p:nvPr/>
        </p:nvSpPr>
        <p:spPr>
          <a:xfrm>
            <a:off x="1811843" y="1554680"/>
            <a:ext cx="2409839" cy="698012"/>
          </a:xfrm>
          <a:prstGeom prst="rect">
            <a:avLst/>
          </a:prstGeom>
          <a:noFill/>
        </p:spPr>
        <p:txBody>
          <a:bodyPr wrap="square" rtlCol="0">
            <a:spAutoFit/>
          </a:bodyPr>
          <a:lstStyle/>
          <a:p>
            <a:r>
              <a:rPr lang="en-US" sz="1968" dirty="0"/>
              <a:t>Operating activity (or daily operations)</a:t>
            </a:r>
          </a:p>
        </p:txBody>
      </p:sp>
      <p:sp>
        <p:nvSpPr>
          <p:cNvPr id="18" name="TextBox 17">
            <a:extLst>
              <a:ext uri="{FF2B5EF4-FFF2-40B4-BE49-F238E27FC236}">
                <a16:creationId xmlns:a16="http://schemas.microsoft.com/office/drawing/2014/main" id="{5EA51CCE-D659-1441-1887-E0AB37252FAE}"/>
              </a:ext>
            </a:extLst>
          </p:cNvPr>
          <p:cNvSpPr txBox="1"/>
          <p:nvPr/>
        </p:nvSpPr>
        <p:spPr>
          <a:xfrm>
            <a:off x="1295467" y="2900635"/>
            <a:ext cx="2926215" cy="395173"/>
          </a:xfrm>
          <a:prstGeom prst="rect">
            <a:avLst/>
          </a:prstGeom>
          <a:noFill/>
        </p:spPr>
        <p:txBody>
          <a:bodyPr wrap="square" rtlCol="0">
            <a:spAutoFit/>
          </a:bodyPr>
          <a:lstStyle/>
          <a:p>
            <a:r>
              <a:rPr lang="en-US" sz="1968" dirty="0"/>
              <a:t>Non-recurring activity</a:t>
            </a:r>
          </a:p>
        </p:txBody>
      </p:sp>
      <p:sp>
        <p:nvSpPr>
          <p:cNvPr id="19" name="TextBox 18">
            <a:extLst>
              <a:ext uri="{FF2B5EF4-FFF2-40B4-BE49-F238E27FC236}">
                <a16:creationId xmlns:a16="http://schemas.microsoft.com/office/drawing/2014/main" id="{0280EEC7-E509-D9E1-1C86-6CA679A34A5F}"/>
              </a:ext>
            </a:extLst>
          </p:cNvPr>
          <p:cNvSpPr txBox="1"/>
          <p:nvPr/>
        </p:nvSpPr>
        <p:spPr>
          <a:xfrm>
            <a:off x="242507" y="2226611"/>
            <a:ext cx="2500693" cy="611578"/>
          </a:xfrm>
          <a:prstGeom prst="rect">
            <a:avLst/>
          </a:prstGeom>
          <a:solidFill>
            <a:schemeClr val="bg2">
              <a:lumMod val="90000"/>
            </a:schemeClr>
          </a:solidFill>
        </p:spPr>
        <p:txBody>
          <a:bodyPr wrap="square" rtlCol="0">
            <a:spAutoFit/>
          </a:bodyPr>
          <a:lstStyle/>
          <a:p>
            <a:r>
              <a:rPr lang="en-US" sz="1687" dirty="0"/>
              <a:t>Recurring operating profit or adjusted EBIT</a:t>
            </a:r>
          </a:p>
        </p:txBody>
      </p:sp>
      <p:sp>
        <p:nvSpPr>
          <p:cNvPr id="21" name="Arrow: Right 20">
            <a:extLst>
              <a:ext uri="{FF2B5EF4-FFF2-40B4-BE49-F238E27FC236}">
                <a16:creationId xmlns:a16="http://schemas.microsoft.com/office/drawing/2014/main" id="{85ABE84C-956F-CC81-89AF-6CE7A6B4EE05}"/>
              </a:ext>
            </a:extLst>
          </p:cNvPr>
          <p:cNvSpPr/>
          <p:nvPr/>
        </p:nvSpPr>
        <p:spPr>
          <a:xfrm>
            <a:off x="3953047" y="3590531"/>
            <a:ext cx="586520" cy="149959"/>
          </a:xfrm>
          <a:prstGeom prst="rightArrow">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5"/>
          </a:p>
        </p:txBody>
      </p:sp>
      <p:sp>
        <p:nvSpPr>
          <p:cNvPr id="22" name="TextBox 21">
            <a:extLst>
              <a:ext uri="{FF2B5EF4-FFF2-40B4-BE49-F238E27FC236}">
                <a16:creationId xmlns:a16="http://schemas.microsoft.com/office/drawing/2014/main" id="{6E361C93-7686-7895-AB80-EE02EEACB903}"/>
              </a:ext>
            </a:extLst>
          </p:cNvPr>
          <p:cNvSpPr txBox="1"/>
          <p:nvPr/>
        </p:nvSpPr>
        <p:spPr>
          <a:xfrm>
            <a:off x="258835" y="3363502"/>
            <a:ext cx="3962847" cy="1000851"/>
          </a:xfrm>
          <a:prstGeom prst="rect">
            <a:avLst/>
          </a:prstGeom>
          <a:noFill/>
        </p:spPr>
        <p:txBody>
          <a:bodyPr wrap="square" rtlCol="0">
            <a:spAutoFit/>
          </a:bodyPr>
          <a:lstStyle/>
          <a:p>
            <a:r>
              <a:rPr lang="en-US" sz="1968" dirty="0">
                <a:solidFill>
                  <a:srgbClr val="00B050"/>
                </a:solidFill>
              </a:rPr>
              <a:t>EBIT (Earnings Before Interest (income and expense) and income Tax)</a:t>
            </a:r>
          </a:p>
        </p:txBody>
      </p:sp>
      <p:sp>
        <p:nvSpPr>
          <p:cNvPr id="23" name="TextBox 22">
            <a:extLst>
              <a:ext uri="{FF2B5EF4-FFF2-40B4-BE49-F238E27FC236}">
                <a16:creationId xmlns:a16="http://schemas.microsoft.com/office/drawing/2014/main" id="{99D29403-24E9-F55E-2F6E-D4081744BB85}"/>
              </a:ext>
            </a:extLst>
          </p:cNvPr>
          <p:cNvSpPr txBox="1"/>
          <p:nvPr/>
        </p:nvSpPr>
        <p:spPr>
          <a:xfrm>
            <a:off x="258835" y="4469126"/>
            <a:ext cx="4280732" cy="2169312"/>
          </a:xfrm>
          <a:prstGeom prst="rect">
            <a:avLst/>
          </a:prstGeom>
          <a:solidFill>
            <a:schemeClr val="accent4">
              <a:lumMod val="20000"/>
              <a:lumOff val="80000"/>
            </a:schemeClr>
          </a:solidFill>
        </p:spPr>
        <p:txBody>
          <a:bodyPr wrap="square" rtlCol="0">
            <a:spAutoFit/>
          </a:bodyPr>
          <a:lstStyle/>
          <a:p>
            <a:r>
              <a:rPr lang="en-US" sz="1687" dirty="0"/>
              <a:t>Comment:</a:t>
            </a:r>
          </a:p>
          <a:p>
            <a:r>
              <a:rPr lang="en-US" sz="1687" dirty="0"/>
              <a:t>Recurring operating profit, operating profit and EBIT are non-GAAP indicators.</a:t>
            </a:r>
          </a:p>
          <a:p>
            <a:r>
              <a:rPr lang="en-US" sz="1687" dirty="0"/>
              <a:t>Companies can include or exclude the income and expense they want into these indicators.</a:t>
            </a:r>
          </a:p>
          <a:p>
            <a:r>
              <a:rPr lang="en-US" sz="1687" dirty="0"/>
              <a:t>With the IFRS 18 it will be different (starting date of application in EU: 2028).</a:t>
            </a:r>
          </a:p>
        </p:txBody>
      </p:sp>
    </p:spTree>
    <p:extLst>
      <p:ext uri="{BB962C8B-B14F-4D97-AF65-F5344CB8AC3E}">
        <p14:creationId xmlns:p14="http://schemas.microsoft.com/office/powerpoint/2010/main" val="3828099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C6EEEF-5DF5-474C-ABA8-B9BE5DDE216C}"/>
              </a:ext>
            </a:extLst>
          </p:cNvPr>
          <p:cNvSpPr>
            <a:spLocks noGrp="1"/>
          </p:cNvSpPr>
          <p:nvPr>
            <p:ph type="sldNum" sz="quarter" idx="12"/>
          </p:nvPr>
        </p:nvSpPr>
        <p:spPr>
          <a:xfrm>
            <a:off x="3686162" y="6320807"/>
            <a:ext cx="718773" cy="364947"/>
          </a:xfrm>
        </p:spPr>
        <p:txBody>
          <a:bodyPr/>
          <a:lstStyle/>
          <a:p>
            <a:fld id="{307C7597-8D70-4701-8085-9524B0B5C72B}" type="slidenum">
              <a:rPr lang="fr-FR" smtClean="0"/>
              <a:pPr/>
              <a:t>52</a:t>
            </a:fld>
            <a:endParaRPr lang="fr-FR" dirty="0"/>
          </a:p>
        </p:txBody>
      </p:sp>
      <p:pic>
        <p:nvPicPr>
          <p:cNvPr id="9" name="Picture 8">
            <a:extLst>
              <a:ext uri="{FF2B5EF4-FFF2-40B4-BE49-F238E27FC236}">
                <a16:creationId xmlns:a16="http://schemas.microsoft.com/office/drawing/2014/main" id="{4B1CDB60-9BB8-4D2A-AE30-E1E5D288A50C}"/>
              </a:ext>
            </a:extLst>
          </p:cNvPr>
          <p:cNvPicPr>
            <a:picLocks noChangeAspect="1"/>
          </p:cNvPicPr>
          <p:nvPr/>
        </p:nvPicPr>
        <p:blipFill>
          <a:blip r:embed="rId2"/>
          <a:stretch>
            <a:fillRect/>
          </a:stretch>
        </p:blipFill>
        <p:spPr>
          <a:xfrm>
            <a:off x="312387" y="162330"/>
            <a:ext cx="3213117" cy="956924"/>
          </a:xfrm>
          <a:prstGeom prst="rect">
            <a:avLst/>
          </a:prstGeom>
        </p:spPr>
      </p:pic>
      <p:sp>
        <p:nvSpPr>
          <p:cNvPr id="3" name="Left Brace 2">
            <a:extLst>
              <a:ext uri="{FF2B5EF4-FFF2-40B4-BE49-F238E27FC236}">
                <a16:creationId xmlns:a16="http://schemas.microsoft.com/office/drawing/2014/main" id="{043DE722-2499-D5DC-550F-A17CC7A1E9B4}"/>
              </a:ext>
            </a:extLst>
          </p:cNvPr>
          <p:cNvSpPr/>
          <p:nvPr/>
        </p:nvSpPr>
        <p:spPr>
          <a:xfrm>
            <a:off x="4328785" y="1340472"/>
            <a:ext cx="321312" cy="1178144"/>
          </a:xfrm>
          <a:prstGeom prst="leftBrace">
            <a:avLst>
              <a:gd name="adj1" fmla="val 30555"/>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4" name="TextBox 3">
            <a:extLst>
              <a:ext uri="{FF2B5EF4-FFF2-40B4-BE49-F238E27FC236}">
                <a16:creationId xmlns:a16="http://schemas.microsoft.com/office/drawing/2014/main" id="{AB278C13-D6F5-09CC-AAE6-859F6B50B18A}"/>
              </a:ext>
            </a:extLst>
          </p:cNvPr>
          <p:cNvSpPr txBox="1"/>
          <p:nvPr/>
        </p:nvSpPr>
        <p:spPr>
          <a:xfrm>
            <a:off x="1811843" y="1554680"/>
            <a:ext cx="2409839" cy="698012"/>
          </a:xfrm>
          <a:prstGeom prst="rect">
            <a:avLst/>
          </a:prstGeom>
          <a:noFill/>
        </p:spPr>
        <p:txBody>
          <a:bodyPr wrap="square" rtlCol="0">
            <a:spAutoFit/>
          </a:bodyPr>
          <a:lstStyle/>
          <a:p>
            <a:r>
              <a:rPr lang="en-US" sz="1968" dirty="0"/>
              <a:t>Operating activity (or daily operations)</a:t>
            </a:r>
          </a:p>
        </p:txBody>
      </p:sp>
      <p:sp>
        <p:nvSpPr>
          <p:cNvPr id="6" name="Left Brace 5">
            <a:extLst>
              <a:ext uri="{FF2B5EF4-FFF2-40B4-BE49-F238E27FC236}">
                <a16:creationId xmlns:a16="http://schemas.microsoft.com/office/drawing/2014/main" id="{3836AEDE-0AA7-0493-643D-681DD13AB511}"/>
              </a:ext>
            </a:extLst>
          </p:cNvPr>
          <p:cNvSpPr/>
          <p:nvPr/>
        </p:nvSpPr>
        <p:spPr>
          <a:xfrm>
            <a:off x="4328785" y="2572168"/>
            <a:ext cx="321312" cy="963936"/>
          </a:xfrm>
          <a:prstGeom prst="leftBrace">
            <a:avLst>
              <a:gd name="adj1" fmla="val 30555"/>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65"/>
          </a:p>
        </p:txBody>
      </p:sp>
      <p:sp>
        <p:nvSpPr>
          <p:cNvPr id="8" name="TextBox 7">
            <a:extLst>
              <a:ext uri="{FF2B5EF4-FFF2-40B4-BE49-F238E27FC236}">
                <a16:creationId xmlns:a16="http://schemas.microsoft.com/office/drawing/2014/main" id="{EDB43331-3757-3AD7-6ACD-375BCB3EDDD8}"/>
              </a:ext>
            </a:extLst>
          </p:cNvPr>
          <p:cNvSpPr txBox="1"/>
          <p:nvPr/>
        </p:nvSpPr>
        <p:spPr>
          <a:xfrm>
            <a:off x="1481292" y="2816498"/>
            <a:ext cx="2989648" cy="395173"/>
          </a:xfrm>
          <a:prstGeom prst="rect">
            <a:avLst/>
          </a:prstGeom>
          <a:noFill/>
        </p:spPr>
        <p:txBody>
          <a:bodyPr wrap="square" rtlCol="0">
            <a:spAutoFit/>
          </a:bodyPr>
          <a:lstStyle/>
          <a:p>
            <a:r>
              <a:rPr lang="en-US" sz="1968" dirty="0"/>
              <a:t>Non-recurring activity</a:t>
            </a:r>
          </a:p>
        </p:txBody>
      </p:sp>
      <p:sp>
        <p:nvSpPr>
          <p:cNvPr id="12" name="Arrow: Right 11">
            <a:extLst>
              <a:ext uri="{FF2B5EF4-FFF2-40B4-BE49-F238E27FC236}">
                <a16:creationId xmlns:a16="http://schemas.microsoft.com/office/drawing/2014/main" id="{1655A499-4D12-7FF6-CDEA-42BBA0A5E451}"/>
              </a:ext>
            </a:extLst>
          </p:cNvPr>
          <p:cNvSpPr/>
          <p:nvPr/>
        </p:nvSpPr>
        <p:spPr>
          <a:xfrm>
            <a:off x="3846422" y="3846393"/>
            <a:ext cx="718697" cy="1678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5"/>
          </a:p>
        </p:txBody>
      </p:sp>
      <p:sp>
        <p:nvSpPr>
          <p:cNvPr id="13" name="TextBox 12">
            <a:extLst>
              <a:ext uri="{FF2B5EF4-FFF2-40B4-BE49-F238E27FC236}">
                <a16:creationId xmlns:a16="http://schemas.microsoft.com/office/drawing/2014/main" id="{EDAB5CE1-B6C4-8C95-FC44-1AACF88755E1}"/>
              </a:ext>
            </a:extLst>
          </p:cNvPr>
          <p:cNvSpPr txBox="1"/>
          <p:nvPr/>
        </p:nvSpPr>
        <p:spPr>
          <a:xfrm>
            <a:off x="95576" y="3366816"/>
            <a:ext cx="4281607" cy="1303690"/>
          </a:xfrm>
          <a:prstGeom prst="rect">
            <a:avLst/>
          </a:prstGeom>
          <a:noFill/>
        </p:spPr>
        <p:txBody>
          <a:bodyPr wrap="square" rtlCol="0">
            <a:spAutoFit/>
          </a:bodyPr>
          <a:lstStyle/>
          <a:p>
            <a:r>
              <a:rPr lang="en-US" sz="1968" dirty="0"/>
              <a:t>Income from non-operating assets (investments &lt; 20% stake in a company or other financial instruments)</a:t>
            </a:r>
          </a:p>
        </p:txBody>
      </p:sp>
      <p:sp>
        <p:nvSpPr>
          <p:cNvPr id="14" name="Arrow: Right 13">
            <a:extLst>
              <a:ext uri="{FF2B5EF4-FFF2-40B4-BE49-F238E27FC236}">
                <a16:creationId xmlns:a16="http://schemas.microsoft.com/office/drawing/2014/main" id="{6ADBE80B-621D-DC7E-A1BD-A4B115EDAC7E}"/>
              </a:ext>
            </a:extLst>
          </p:cNvPr>
          <p:cNvSpPr/>
          <p:nvPr/>
        </p:nvSpPr>
        <p:spPr>
          <a:xfrm rot="18974360">
            <a:off x="3898620" y="4373354"/>
            <a:ext cx="839123" cy="1628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5"/>
          </a:p>
        </p:txBody>
      </p:sp>
      <p:sp>
        <p:nvSpPr>
          <p:cNvPr id="15" name="TextBox 14">
            <a:extLst>
              <a:ext uri="{FF2B5EF4-FFF2-40B4-BE49-F238E27FC236}">
                <a16:creationId xmlns:a16="http://schemas.microsoft.com/office/drawing/2014/main" id="{891F8F43-097B-DAEC-16A4-06A000795491}"/>
              </a:ext>
            </a:extLst>
          </p:cNvPr>
          <p:cNvSpPr txBox="1"/>
          <p:nvPr/>
        </p:nvSpPr>
        <p:spPr>
          <a:xfrm>
            <a:off x="41879" y="4673038"/>
            <a:ext cx="4177055" cy="698012"/>
          </a:xfrm>
          <a:prstGeom prst="rect">
            <a:avLst/>
          </a:prstGeom>
          <a:noFill/>
        </p:spPr>
        <p:txBody>
          <a:bodyPr wrap="square" rtlCol="0">
            <a:spAutoFit/>
          </a:bodyPr>
          <a:lstStyle/>
          <a:p>
            <a:r>
              <a:rPr lang="en-US" sz="1968" dirty="0"/>
              <a:t>Expense from financing activity by debt</a:t>
            </a:r>
          </a:p>
        </p:txBody>
      </p:sp>
      <p:sp>
        <p:nvSpPr>
          <p:cNvPr id="17" name="TextBox 16">
            <a:extLst>
              <a:ext uri="{FF2B5EF4-FFF2-40B4-BE49-F238E27FC236}">
                <a16:creationId xmlns:a16="http://schemas.microsoft.com/office/drawing/2014/main" id="{1FE1BACF-451A-F224-F00F-C1F4B8D40E08}"/>
              </a:ext>
            </a:extLst>
          </p:cNvPr>
          <p:cNvSpPr txBox="1"/>
          <p:nvPr/>
        </p:nvSpPr>
        <p:spPr>
          <a:xfrm>
            <a:off x="312387" y="5433671"/>
            <a:ext cx="3962847" cy="1000851"/>
          </a:xfrm>
          <a:prstGeom prst="rect">
            <a:avLst/>
          </a:prstGeom>
          <a:noFill/>
        </p:spPr>
        <p:txBody>
          <a:bodyPr wrap="square" rtlCol="0">
            <a:spAutoFit/>
          </a:bodyPr>
          <a:lstStyle/>
          <a:p>
            <a:r>
              <a:rPr lang="en-US" sz="1968" dirty="0"/>
              <a:t>Income from non-operating assets (More than 20% stake in </a:t>
            </a:r>
            <a:r>
              <a:rPr lang="en-US" sz="1968" dirty="0" err="1"/>
              <a:t>L’Oreal</a:t>
            </a:r>
            <a:r>
              <a:rPr lang="en-US" sz="1968" dirty="0"/>
              <a:t>)</a:t>
            </a:r>
          </a:p>
        </p:txBody>
      </p:sp>
      <p:pic>
        <p:nvPicPr>
          <p:cNvPr id="2" name="Picture 1">
            <a:extLst>
              <a:ext uri="{FF2B5EF4-FFF2-40B4-BE49-F238E27FC236}">
                <a16:creationId xmlns:a16="http://schemas.microsoft.com/office/drawing/2014/main" id="{4684A552-4D2E-6F81-3A96-3AA416696BCD}"/>
              </a:ext>
            </a:extLst>
          </p:cNvPr>
          <p:cNvPicPr>
            <a:picLocks noChangeAspect="1"/>
          </p:cNvPicPr>
          <p:nvPr/>
        </p:nvPicPr>
        <p:blipFill>
          <a:blip r:embed="rId3"/>
          <a:stretch>
            <a:fillRect/>
          </a:stretch>
        </p:blipFill>
        <p:spPr>
          <a:xfrm>
            <a:off x="4613095" y="42110"/>
            <a:ext cx="7511681" cy="6773779"/>
          </a:xfrm>
          <a:prstGeom prst="rect">
            <a:avLst/>
          </a:prstGeom>
        </p:spPr>
      </p:pic>
      <p:sp>
        <p:nvSpPr>
          <p:cNvPr id="7" name="Arrow: Right 6">
            <a:extLst>
              <a:ext uri="{FF2B5EF4-FFF2-40B4-BE49-F238E27FC236}">
                <a16:creationId xmlns:a16="http://schemas.microsoft.com/office/drawing/2014/main" id="{8924F584-49E6-53F8-2BA1-8D3F71958896}"/>
              </a:ext>
            </a:extLst>
          </p:cNvPr>
          <p:cNvSpPr/>
          <p:nvPr/>
        </p:nvSpPr>
        <p:spPr>
          <a:xfrm rot="18974360">
            <a:off x="3682040" y="5099003"/>
            <a:ext cx="1079279" cy="2078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65"/>
          </a:p>
        </p:txBody>
      </p:sp>
    </p:spTree>
    <p:extLst>
      <p:ext uri="{BB962C8B-B14F-4D97-AF65-F5344CB8AC3E}">
        <p14:creationId xmlns:p14="http://schemas.microsoft.com/office/powerpoint/2010/main" val="41241752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5573814-03FB-4A29-96DA-7C74218EA5E0}"/>
              </a:ext>
            </a:extLst>
          </p:cNvPr>
          <p:cNvSpPr>
            <a:spLocks noGrp="1"/>
          </p:cNvSpPr>
          <p:nvPr>
            <p:ph type="sldNum" sz="quarter" idx="12"/>
          </p:nvPr>
        </p:nvSpPr>
        <p:spPr/>
        <p:txBody>
          <a:bodyPr/>
          <a:lstStyle/>
          <a:p>
            <a:fld id="{307C7597-8D70-4701-8085-9524B0B5C72B}" type="slidenum">
              <a:rPr lang="fr-FR" smtClean="0"/>
              <a:t>53</a:t>
            </a:fld>
            <a:endParaRPr lang="fr-FR"/>
          </a:p>
        </p:txBody>
      </p:sp>
      <p:sp>
        <p:nvSpPr>
          <p:cNvPr id="4" name="Title 3">
            <a:extLst>
              <a:ext uri="{FF2B5EF4-FFF2-40B4-BE49-F238E27FC236}">
                <a16:creationId xmlns:a16="http://schemas.microsoft.com/office/drawing/2014/main" id="{13FFFD4D-98BD-47E2-9245-5CD83CD56AC4}"/>
              </a:ext>
            </a:extLst>
          </p:cNvPr>
          <p:cNvSpPr>
            <a:spLocks noGrp="1"/>
          </p:cNvSpPr>
          <p:nvPr>
            <p:ph type="title"/>
          </p:nvPr>
        </p:nvSpPr>
        <p:spPr>
          <a:xfrm>
            <a:off x="462527" y="517585"/>
            <a:ext cx="11286176" cy="674402"/>
          </a:xfrm>
        </p:spPr>
        <p:txBody>
          <a:bodyPr/>
          <a:lstStyle/>
          <a:p>
            <a:r>
              <a:rPr lang="fr-FR" dirty="0"/>
              <a:t>From profit before tax to net profit</a:t>
            </a:r>
            <a:endParaRPr lang="en-US" dirty="0"/>
          </a:p>
        </p:txBody>
      </p:sp>
      <p:sp>
        <p:nvSpPr>
          <p:cNvPr id="3" name="TextBox 2">
            <a:extLst>
              <a:ext uri="{FF2B5EF4-FFF2-40B4-BE49-F238E27FC236}">
                <a16:creationId xmlns:a16="http://schemas.microsoft.com/office/drawing/2014/main" id="{92010CDF-178E-4059-B555-AD15665E0E57}"/>
              </a:ext>
            </a:extLst>
          </p:cNvPr>
          <p:cNvSpPr txBox="1"/>
          <p:nvPr/>
        </p:nvSpPr>
        <p:spPr>
          <a:xfrm>
            <a:off x="239349" y="3800654"/>
            <a:ext cx="3456384" cy="83099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2400" dirty="0"/>
              <a:t>Income before (income) tax</a:t>
            </a:r>
          </a:p>
        </p:txBody>
      </p:sp>
      <p:sp>
        <p:nvSpPr>
          <p:cNvPr id="6" name="TextBox 5">
            <a:extLst>
              <a:ext uri="{FF2B5EF4-FFF2-40B4-BE49-F238E27FC236}">
                <a16:creationId xmlns:a16="http://schemas.microsoft.com/office/drawing/2014/main" id="{E0F444BC-B735-461F-BD62-18C5586549AE}"/>
              </a:ext>
            </a:extLst>
          </p:cNvPr>
          <p:cNvSpPr txBox="1"/>
          <p:nvPr/>
        </p:nvSpPr>
        <p:spPr>
          <a:xfrm>
            <a:off x="239349" y="4675618"/>
            <a:ext cx="3456384" cy="4616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2400" dirty="0"/>
              <a:t>- Income tax expense</a:t>
            </a:r>
          </a:p>
        </p:txBody>
      </p:sp>
      <p:sp>
        <p:nvSpPr>
          <p:cNvPr id="12" name="TextBox 11">
            <a:extLst>
              <a:ext uri="{FF2B5EF4-FFF2-40B4-BE49-F238E27FC236}">
                <a16:creationId xmlns:a16="http://schemas.microsoft.com/office/drawing/2014/main" id="{952CEF34-F609-4703-8B1B-A3627E9A6A79}"/>
              </a:ext>
            </a:extLst>
          </p:cNvPr>
          <p:cNvSpPr txBox="1"/>
          <p:nvPr/>
        </p:nvSpPr>
        <p:spPr>
          <a:xfrm>
            <a:off x="239349" y="5166718"/>
            <a:ext cx="3456384"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2400" dirty="0"/>
              <a:t>= Net income</a:t>
            </a:r>
          </a:p>
        </p:txBody>
      </p:sp>
      <p:sp>
        <p:nvSpPr>
          <p:cNvPr id="7" name="Arrow: Right 6">
            <a:extLst>
              <a:ext uri="{FF2B5EF4-FFF2-40B4-BE49-F238E27FC236}">
                <a16:creationId xmlns:a16="http://schemas.microsoft.com/office/drawing/2014/main" id="{1C6CFBB7-5519-4B2B-83C2-D060152043E3}"/>
              </a:ext>
            </a:extLst>
          </p:cNvPr>
          <p:cNvSpPr/>
          <p:nvPr/>
        </p:nvSpPr>
        <p:spPr>
          <a:xfrm rot="10800000">
            <a:off x="4079776" y="5292692"/>
            <a:ext cx="57606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TextBox 7">
            <a:extLst>
              <a:ext uri="{FF2B5EF4-FFF2-40B4-BE49-F238E27FC236}">
                <a16:creationId xmlns:a16="http://schemas.microsoft.com/office/drawing/2014/main" id="{385C6B3F-3432-40EB-AB32-A030A33032B0}"/>
              </a:ext>
            </a:extLst>
          </p:cNvPr>
          <p:cNvSpPr txBox="1"/>
          <p:nvPr/>
        </p:nvSpPr>
        <p:spPr>
          <a:xfrm>
            <a:off x="4751851" y="5061181"/>
            <a:ext cx="3648408" cy="584775"/>
          </a:xfrm>
          <a:prstGeom prst="rect">
            <a:avLst/>
          </a:prstGeom>
          <a:noFill/>
        </p:spPr>
        <p:txBody>
          <a:bodyPr wrap="square" rtlCol="0">
            <a:spAutoFit/>
          </a:bodyPr>
          <a:lstStyle/>
          <a:p>
            <a:pPr algn="ctr"/>
            <a:r>
              <a:rPr lang="en-US" sz="3200" dirty="0"/>
              <a:t>The “bottom line”</a:t>
            </a:r>
          </a:p>
        </p:txBody>
      </p:sp>
      <p:sp>
        <p:nvSpPr>
          <p:cNvPr id="10" name="TextBox 9">
            <a:extLst>
              <a:ext uri="{FF2B5EF4-FFF2-40B4-BE49-F238E27FC236}">
                <a16:creationId xmlns:a16="http://schemas.microsoft.com/office/drawing/2014/main" id="{BB086E30-BD9B-49F3-9E9F-80AE8F4AF4B0}"/>
              </a:ext>
            </a:extLst>
          </p:cNvPr>
          <p:cNvSpPr txBox="1"/>
          <p:nvPr/>
        </p:nvSpPr>
        <p:spPr>
          <a:xfrm>
            <a:off x="5746229" y="1700808"/>
            <a:ext cx="3518124" cy="584775"/>
          </a:xfrm>
          <a:prstGeom prst="rect">
            <a:avLst/>
          </a:prstGeom>
          <a:noFill/>
        </p:spPr>
        <p:txBody>
          <a:bodyPr wrap="square" rtlCol="0">
            <a:spAutoFit/>
          </a:bodyPr>
          <a:lstStyle/>
          <a:p>
            <a:pPr algn="ctr"/>
            <a:r>
              <a:rPr lang="en-US" sz="3200" dirty="0"/>
              <a:t>Profit before tax</a:t>
            </a:r>
          </a:p>
        </p:txBody>
      </p:sp>
      <p:sp>
        <p:nvSpPr>
          <p:cNvPr id="19" name="TextBox 18">
            <a:extLst>
              <a:ext uri="{FF2B5EF4-FFF2-40B4-BE49-F238E27FC236}">
                <a16:creationId xmlns:a16="http://schemas.microsoft.com/office/drawing/2014/main" id="{10B0F035-76BE-4F25-9066-CC523BE43208}"/>
              </a:ext>
            </a:extLst>
          </p:cNvPr>
          <p:cNvSpPr txBox="1"/>
          <p:nvPr/>
        </p:nvSpPr>
        <p:spPr>
          <a:xfrm>
            <a:off x="6288021" y="2237383"/>
            <a:ext cx="2976331" cy="584775"/>
          </a:xfrm>
          <a:prstGeom prst="rect">
            <a:avLst/>
          </a:prstGeom>
          <a:noFill/>
        </p:spPr>
        <p:txBody>
          <a:bodyPr wrap="square" rtlCol="0">
            <a:spAutoFit/>
          </a:bodyPr>
          <a:lstStyle/>
          <a:p>
            <a:pPr algn="ctr"/>
            <a:r>
              <a:rPr lang="en-US" sz="3200" dirty="0"/>
              <a:t>X</a:t>
            </a:r>
          </a:p>
        </p:txBody>
      </p:sp>
      <p:sp>
        <p:nvSpPr>
          <p:cNvPr id="20" name="TextBox 19">
            <a:extLst>
              <a:ext uri="{FF2B5EF4-FFF2-40B4-BE49-F238E27FC236}">
                <a16:creationId xmlns:a16="http://schemas.microsoft.com/office/drawing/2014/main" id="{54EFC29E-93DA-42F1-96B4-C8187B062103}"/>
              </a:ext>
            </a:extLst>
          </p:cNvPr>
          <p:cNvSpPr txBox="1"/>
          <p:nvPr/>
        </p:nvSpPr>
        <p:spPr>
          <a:xfrm>
            <a:off x="5623393" y="2821963"/>
            <a:ext cx="3970734" cy="584775"/>
          </a:xfrm>
          <a:prstGeom prst="rect">
            <a:avLst/>
          </a:prstGeom>
          <a:noFill/>
        </p:spPr>
        <p:txBody>
          <a:bodyPr wrap="square" rtlCol="0">
            <a:spAutoFit/>
          </a:bodyPr>
          <a:lstStyle/>
          <a:p>
            <a:pPr algn="ctr"/>
            <a:r>
              <a:rPr lang="en-US" sz="3200" dirty="0"/>
              <a:t>Effective tax rate</a:t>
            </a:r>
          </a:p>
        </p:txBody>
      </p:sp>
      <p:sp>
        <p:nvSpPr>
          <p:cNvPr id="21" name="TextBox 20">
            <a:extLst>
              <a:ext uri="{FF2B5EF4-FFF2-40B4-BE49-F238E27FC236}">
                <a16:creationId xmlns:a16="http://schemas.microsoft.com/office/drawing/2014/main" id="{5B5C954D-FE86-40A2-ABDE-78DB909B6672}"/>
              </a:ext>
            </a:extLst>
          </p:cNvPr>
          <p:cNvSpPr txBox="1"/>
          <p:nvPr/>
        </p:nvSpPr>
        <p:spPr>
          <a:xfrm>
            <a:off x="6288021" y="3206115"/>
            <a:ext cx="2976331" cy="666786"/>
          </a:xfrm>
          <a:prstGeom prst="rect">
            <a:avLst/>
          </a:prstGeom>
          <a:noFill/>
        </p:spPr>
        <p:txBody>
          <a:bodyPr wrap="square" rtlCol="0">
            <a:spAutoFit/>
          </a:bodyPr>
          <a:lstStyle/>
          <a:p>
            <a:pPr algn="ctr"/>
            <a:r>
              <a:rPr lang="en-US" sz="3733" dirty="0"/>
              <a:t>=</a:t>
            </a:r>
          </a:p>
        </p:txBody>
      </p:sp>
      <p:sp>
        <p:nvSpPr>
          <p:cNvPr id="22" name="TextBox 21">
            <a:extLst>
              <a:ext uri="{FF2B5EF4-FFF2-40B4-BE49-F238E27FC236}">
                <a16:creationId xmlns:a16="http://schemas.microsoft.com/office/drawing/2014/main" id="{45EC4B34-1533-4895-9E1F-74A6FB583721}"/>
              </a:ext>
            </a:extLst>
          </p:cNvPr>
          <p:cNvSpPr txBox="1"/>
          <p:nvPr/>
        </p:nvSpPr>
        <p:spPr>
          <a:xfrm>
            <a:off x="5581651" y="3677543"/>
            <a:ext cx="3970734" cy="584775"/>
          </a:xfrm>
          <a:prstGeom prst="rect">
            <a:avLst/>
          </a:prstGeom>
          <a:noFill/>
        </p:spPr>
        <p:txBody>
          <a:bodyPr wrap="square" rtlCol="0">
            <a:spAutoFit/>
          </a:bodyPr>
          <a:lstStyle/>
          <a:p>
            <a:pPr algn="ctr"/>
            <a:r>
              <a:rPr lang="en-US" sz="3200" dirty="0"/>
              <a:t>Income tax expense</a:t>
            </a:r>
          </a:p>
        </p:txBody>
      </p:sp>
      <p:sp>
        <p:nvSpPr>
          <p:cNvPr id="15" name="Arrow: Left 14">
            <a:extLst>
              <a:ext uri="{FF2B5EF4-FFF2-40B4-BE49-F238E27FC236}">
                <a16:creationId xmlns:a16="http://schemas.microsoft.com/office/drawing/2014/main" id="{E938CF2F-FE64-40A0-9348-52831D539664}"/>
              </a:ext>
            </a:extLst>
          </p:cNvPr>
          <p:cNvSpPr/>
          <p:nvPr/>
        </p:nvSpPr>
        <p:spPr>
          <a:xfrm>
            <a:off x="9264352" y="1933195"/>
            <a:ext cx="485112" cy="232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TextBox 15">
            <a:extLst>
              <a:ext uri="{FF2B5EF4-FFF2-40B4-BE49-F238E27FC236}">
                <a16:creationId xmlns:a16="http://schemas.microsoft.com/office/drawing/2014/main" id="{25059CB3-8313-4C6E-B489-5269928FC2E9}"/>
              </a:ext>
            </a:extLst>
          </p:cNvPr>
          <p:cNvSpPr txBox="1"/>
          <p:nvPr/>
        </p:nvSpPr>
        <p:spPr>
          <a:xfrm>
            <a:off x="9840416" y="1124744"/>
            <a:ext cx="2351584" cy="2308324"/>
          </a:xfrm>
          <a:prstGeom prst="rect">
            <a:avLst/>
          </a:prstGeom>
          <a:noFill/>
        </p:spPr>
        <p:txBody>
          <a:bodyPr wrap="square" rtlCol="0">
            <a:spAutoFit/>
          </a:bodyPr>
          <a:lstStyle/>
          <a:p>
            <a:r>
              <a:rPr lang="en-US" sz="2400" dirty="0"/>
              <a:t>Accounting profit (means calculated according to accounting rules/principles</a:t>
            </a:r>
          </a:p>
        </p:txBody>
      </p:sp>
    </p:spTree>
    <p:extLst>
      <p:ext uri="{BB962C8B-B14F-4D97-AF65-F5344CB8AC3E}">
        <p14:creationId xmlns:p14="http://schemas.microsoft.com/office/powerpoint/2010/main" val="37069736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5573814-03FB-4A29-96DA-7C74218EA5E0}"/>
              </a:ext>
            </a:extLst>
          </p:cNvPr>
          <p:cNvSpPr>
            <a:spLocks noGrp="1"/>
          </p:cNvSpPr>
          <p:nvPr>
            <p:ph type="sldNum" sz="quarter" idx="12"/>
          </p:nvPr>
        </p:nvSpPr>
        <p:spPr/>
        <p:txBody>
          <a:bodyPr/>
          <a:lstStyle/>
          <a:p>
            <a:fld id="{307C7597-8D70-4701-8085-9524B0B5C72B}" type="slidenum">
              <a:rPr lang="fr-FR" smtClean="0"/>
              <a:t>54</a:t>
            </a:fld>
            <a:endParaRPr lang="fr-FR"/>
          </a:p>
        </p:txBody>
      </p:sp>
      <p:sp>
        <p:nvSpPr>
          <p:cNvPr id="4" name="Title 3">
            <a:extLst>
              <a:ext uri="{FF2B5EF4-FFF2-40B4-BE49-F238E27FC236}">
                <a16:creationId xmlns:a16="http://schemas.microsoft.com/office/drawing/2014/main" id="{13FFFD4D-98BD-47E2-9245-5CD83CD56AC4}"/>
              </a:ext>
            </a:extLst>
          </p:cNvPr>
          <p:cNvSpPr>
            <a:spLocks noGrp="1"/>
          </p:cNvSpPr>
          <p:nvPr>
            <p:ph type="title"/>
          </p:nvPr>
        </p:nvSpPr>
        <p:spPr/>
        <p:txBody>
          <a:bodyPr/>
          <a:lstStyle/>
          <a:p>
            <a:r>
              <a:rPr lang="fr-FR" dirty="0"/>
              <a:t>Income tax expense</a:t>
            </a:r>
            <a:endParaRPr lang="en-US" dirty="0"/>
          </a:p>
        </p:txBody>
      </p:sp>
      <p:sp>
        <p:nvSpPr>
          <p:cNvPr id="10" name="TextBox 9">
            <a:extLst>
              <a:ext uri="{FF2B5EF4-FFF2-40B4-BE49-F238E27FC236}">
                <a16:creationId xmlns:a16="http://schemas.microsoft.com/office/drawing/2014/main" id="{BB086E30-BD9B-49F3-9E9F-80AE8F4AF4B0}"/>
              </a:ext>
            </a:extLst>
          </p:cNvPr>
          <p:cNvSpPr txBox="1"/>
          <p:nvPr/>
        </p:nvSpPr>
        <p:spPr>
          <a:xfrm>
            <a:off x="5903981" y="1700808"/>
            <a:ext cx="3360372" cy="584775"/>
          </a:xfrm>
          <a:prstGeom prst="rect">
            <a:avLst/>
          </a:prstGeom>
          <a:noFill/>
        </p:spPr>
        <p:txBody>
          <a:bodyPr wrap="square" rtlCol="0">
            <a:spAutoFit/>
          </a:bodyPr>
          <a:lstStyle/>
          <a:p>
            <a:pPr algn="ctr"/>
            <a:r>
              <a:rPr lang="en-US" sz="3200" dirty="0"/>
              <a:t>Profit before tax</a:t>
            </a:r>
          </a:p>
        </p:txBody>
      </p:sp>
      <p:sp>
        <p:nvSpPr>
          <p:cNvPr id="19" name="TextBox 18">
            <a:extLst>
              <a:ext uri="{FF2B5EF4-FFF2-40B4-BE49-F238E27FC236}">
                <a16:creationId xmlns:a16="http://schemas.microsoft.com/office/drawing/2014/main" id="{10B0F035-76BE-4F25-9066-CC523BE43208}"/>
              </a:ext>
            </a:extLst>
          </p:cNvPr>
          <p:cNvSpPr txBox="1"/>
          <p:nvPr/>
        </p:nvSpPr>
        <p:spPr>
          <a:xfrm>
            <a:off x="6288021" y="2237383"/>
            <a:ext cx="2976331" cy="584775"/>
          </a:xfrm>
          <a:prstGeom prst="rect">
            <a:avLst/>
          </a:prstGeom>
          <a:noFill/>
        </p:spPr>
        <p:txBody>
          <a:bodyPr wrap="square" rtlCol="0">
            <a:spAutoFit/>
          </a:bodyPr>
          <a:lstStyle/>
          <a:p>
            <a:pPr algn="ctr"/>
            <a:r>
              <a:rPr lang="en-US" sz="3200" dirty="0"/>
              <a:t>X</a:t>
            </a:r>
          </a:p>
        </p:txBody>
      </p:sp>
      <p:sp>
        <p:nvSpPr>
          <p:cNvPr id="20" name="TextBox 19">
            <a:extLst>
              <a:ext uri="{FF2B5EF4-FFF2-40B4-BE49-F238E27FC236}">
                <a16:creationId xmlns:a16="http://schemas.microsoft.com/office/drawing/2014/main" id="{54EFC29E-93DA-42F1-96B4-C8187B062103}"/>
              </a:ext>
            </a:extLst>
          </p:cNvPr>
          <p:cNvSpPr txBox="1"/>
          <p:nvPr/>
        </p:nvSpPr>
        <p:spPr>
          <a:xfrm>
            <a:off x="5999989" y="2717436"/>
            <a:ext cx="3264363" cy="584775"/>
          </a:xfrm>
          <a:prstGeom prst="rect">
            <a:avLst/>
          </a:prstGeom>
          <a:noFill/>
        </p:spPr>
        <p:txBody>
          <a:bodyPr wrap="square" rtlCol="0">
            <a:spAutoFit/>
          </a:bodyPr>
          <a:lstStyle/>
          <a:p>
            <a:pPr algn="ctr"/>
            <a:r>
              <a:rPr lang="en-US" sz="3200" dirty="0"/>
              <a:t>Effective tax rate</a:t>
            </a:r>
          </a:p>
        </p:txBody>
      </p:sp>
      <p:sp>
        <p:nvSpPr>
          <p:cNvPr id="21" name="TextBox 20">
            <a:extLst>
              <a:ext uri="{FF2B5EF4-FFF2-40B4-BE49-F238E27FC236}">
                <a16:creationId xmlns:a16="http://schemas.microsoft.com/office/drawing/2014/main" id="{5B5C954D-FE86-40A2-ABDE-78DB909B6672}"/>
              </a:ext>
            </a:extLst>
          </p:cNvPr>
          <p:cNvSpPr txBox="1"/>
          <p:nvPr/>
        </p:nvSpPr>
        <p:spPr>
          <a:xfrm>
            <a:off x="6288021" y="3197489"/>
            <a:ext cx="2976331" cy="666786"/>
          </a:xfrm>
          <a:prstGeom prst="rect">
            <a:avLst/>
          </a:prstGeom>
          <a:noFill/>
        </p:spPr>
        <p:txBody>
          <a:bodyPr wrap="square" rtlCol="0">
            <a:spAutoFit/>
          </a:bodyPr>
          <a:lstStyle/>
          <a:p>
            <a:pPr algn="ctr"/>
            <a:r>
              <a:rPr lang="en-US" sz="3733" dirty="0"/>
              <a:t>=</a:t>
            </a:r>
          </a:p>
        </p:txBody>
      </p:sp>
      <p:sp>
        <p:nvSpPr>
          <p:cNvPr id="22" name="TextBox 21">
            <a:extLst>
              <a:ext uri="{FF2B5EF4-FFF2-40B4-BE49-F238E27FC236}">
                <a16:creationId xmlns:a16="http://schemas.microsoft.com/office/drawing/2014/main" id="{45EC4B34-1533-4895-9E1F-74A6FB583721}"/>
              </a:ext>
            </a:extLst>
          </p:cNvPr>
          <p:cNvSpPr txBox="1"/>
          <p:nvPr/>
        </p:nvSpPr>
        <p:spPr>
          <a:xfrm>
            <a:off x="5999989" y="3677543"/>
            <a:ext cx="3963161" cy="584775"/>
          </a:xfrm>
          <a:prstGeom prst="rect">
            <a:avLst/>
          </a:prstGeom>
          <a:noFill/>
        </p:spPr>
        <p:txBody>
          <a:bodyPr wrap="square" rtlCol="0">
            <a:spAutoFit/>
          </a:bodyPr>
          <a:lstStyle/>
          <a:p>
            <a:pPr algn="ctr"/>
            <a:r>
              <a:rPr lang="en-US" sz="3200" dirty="0"/>
              <a:t>Income tax expense</a:t>
            </a:r>
          </a:p>
        </p:txBody>
      </p:sp>
      <p:sp>
        <p:nvSpPr>
          <p:cNvPr id="15" name="Arrow: Left 14">
            <a:extLst>
              <a:ext uri="{FF2B5EF4-FFF2-40B4-BE49-F238E27FC236}">
                <a16:creationId xmlns:a16="http://schemas.microsoft.com/office/drawing/2014/main" id="{E938CF2F-FE64-40A0-9348-52831D539664}"/>
              </a:ext>
            </a:extLst>
          </p:cNvPr>
          <p:cNvSpPr/>
          <p:nvPr/>
        </p:nvSpPr>
        <p:spPr>
          <a:xfrm>
            <a:off x="9264352" y="1933195"/>
            <a:ext cx="485112" cy="232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TextBox 15">
            <a:extLst>
              <a:ext uri="{FF2B5EF4-FFF2-40B4-BE49-F238E27FC236}">
                <a16:creationId xmlns:a16="http://schemas.microsoft.com/office/drawing/2014/main" id="{25059CB3-8313-4C6E-B489-5269928FC2E9}"/>
              </a:ext>
            </a:extLst>
          </p:cNvPr>
          <p:cNvSpPr txBox="1"/>
          <p:nvPr/>
        </p:nvSpPr>
        <p:spPr>
          <a:xfrm>
            <a:off x="9840416" y="1124744"/>
            <a:ext cx="2351584" cy="2308324"/>
          </a:xfrm>
          <a:prstGeom prst="rect">
            <a:avLst/>
          </a:prstGeom>
          <a:noFill/>
        </p:spPr>
        <p:txBody>
          <a:bodyPr wrap="square" rtlCol="0">
            <a:spAutoFit/>
          </a:bodyPr>
          <a:lstStyle/>
          <a:p>
            <a:r>
              <a:rPr lang="en-US" sz="2400" dirty="0"/>
              <a:t>Accounting profit (means calculated according to accounting rules/principles</a:t>
            </a:r>
          </a:p>
        </p:txBody>
      </p:sp>
      <p:sp>
        <p:nvSpPr>
          <p:cNvPr id="17" name="TextBox 16">
            <a:extLst>
              <a:ext uri="{FF2B5EF4-FFF2-40B4-BE49-F238E27FC236}">
                <a16:creationId xmlns:a16="http://schemas.microsoft.com/office/drawing/2014/main" id="{DF7D96E9-D3BE-4719-B1D9-7B925233B198}"/>
              </a:ext>
            </a:extLst>
          </p:cNvPr>
          <p:cNvSpPr txBox="1"/>
          <p:nvPr/>
        </p:nvSpPr>
        <p:spPr>
          <a:xfrm>
            <a:off x="2447595" y="2909458"/>
            <a:ext cx="2976331" cy="584775"/>
          </a:xfrm>
          <a:prstGeom prst="rect">
            <a:avLst/>
          </a:prstGeom>
          <a:noFill/>
        </p:spPr>
        <p:txBody>
          <a:bodyPr wrap="square" rtlCol="0">
            <a:spAutoFit/>
          </a:bodyPr>
          <a:lstStyle/>
          <a:p>
            <a:pPr algn="ctr"/>
            <a:r>
              <a:rPr lang="en-US" sz="3200" dirty="0"/>
              <a:t>Current tax</a:t>
            </a:r>
          </a:p>
        </p:txBody>
      </p:sp>
      <p:sp>
        <p:nvSpPr>
          <p:cNvPr id="18" name="TextBox 17">
            <a:extLst>
              <a:ext uri="{FF2B5EF4-FFF2-40B4-BE49-F238E27FC236}">
                <a16:creationId xmlns:a16="http://schemas.microsoft.com/office/drawing/2014/main" id="{12EE1D98-291B-4F6B-AE3F-F02316436B8E}"/>
              </a:ext>
            </a:extLst>
          </p:cNvPr>
          <p:cNvSpPr txBox="1"/>
          <p:nvPr/>
        </p:nvSpPr>
        <p:spPr>
          <a:xfrm>
            <a:off x="2952750" y="3667317"/>
            <a:ext cx="1624043" cy="748988"/>
          </a:xfrm>
          <a:prstGeom prst="rect">
            <a:avLst/>
          </a:prstGeom>
          <a:noFill/>
        </p:spPr>
        <p:txBody>
          <a:bodyPr wrap="square" rtlCol="0">
            <a:spAutoFit/>
          </a:bodyPr>
          <a:lstStyle/>
          <a:p>
            <a:pPr algn="ctr"/>
            <a:r>
              <a:rPr lang="en-US" sz="4267" dirty="0"/>
              <a:t>+</a:t>
            </a:r>
          </a:p>
        </p:txBody>
      </p:sp>
      <p:sp>
        <p:nvSpPr>
          <p:cNvPr id="23" name="TextBox 22">
            <a:extLst>
              <a:ext uri="{FF2B5EF4-FFF2-40B4-BE49-F238E27FC236}">
                <a16:creationId xmlns:a16="http://schemas.microsoft.com/office/drawing/2014/main" id="{A0F2265B-8088-49D3-A9F4-A7849229F04A}"/>
              </a:ext>
            </a:extLst>
          </p:cNvPr>
          <p:cNvSpPr txBox="1"/>
          <p:nvPr/>
        </p:nvSpPr>
        <p:spPr>
          <a:xfrm>
            <a:off x="2457712" y="4445628"/>
            <a:ext cx="2976331" cy="584775"/>
          </a:xfrm>
          <a:prstGeom prst="rect">
            <a:avLst/>
          </a:prstGeom>
          <a:noFill/>
        </p:spPr>
        <p:txBody>
          <a:bodyPr wrap="square" rtlCol="0">
            <a:spAutoFit/>
          </a:bodyPr>
          <a:lstStyle/>
          <a:p>
            <a:pPr algn="ctr"/>
            <a:r>
              <a:rPr lang="en-US" sz="3200" dirty="0"/>
              <a:t>Deferred tax</a:t>
            </a:r>
          </a:p>
        </p:txBody>
      </p:sp>
      <p:sp>
        <p:nvSpPr>
          <p:cNvPr id="2" name="Right Brace 1">
            <a:extLst>
              <a:ext uri="{FF2B5EF4-FFF2-40B4-BE49-F238E27FC236}">
                <a16:creationId xmlns:a16="http://schemas.microsoft.com/office/drawing/2014/main" id="{1453BD1F-40A6-4701-90ED-09559948BFFA}"/>
              </a:ext>
            </a:extLst>
          </p:cNvPr>
          <p:cNvSpPr/>
          <p:nvPr/>
        </p:nvSpPr>
        <p:spPr>
          <a:xfrm>
            <a:off x="5050001" y="3018501"/>
            <a:ext cx="586184" cy="2042680"/>
          </a:xfrm>
          <a:prstGeom prst="rightBrace">
            <a:avLst>
              <a:gd name="adj1" fmla="val 244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24" name="TextBox 23">
            <a:extLst>
              <a:ext uri="{FF2B5EF4-FFF2-40B4-BE49-F238E27FC236}">
                <a16:creationId xmlns:a16="http://schemas.microsoft.com/office/drawing/2014/main" id="{4E2D609C-6764-4B35-8356-DF22C49A4EAC}"/>
              </a:ext>
            </a:extLst>
          </p:cNvPr>
          <p:cNvSpPr txBox="1"/>
          <p:nvPr/>
        </p:nvSpPr>
        <p:spPr>
          <a:xfrm>
            <a:off x="5519937" y="3636505"/>
            <a:ext cx="720081" cy="666786"/>
          </a:xfrm>
          <a:prstGeom prst="rect">
            <a:avLst/>
          </a:prstGeom>
          <a:noFill/>
        </p:spPr>
        <p:txBody>
          <a:bodyPr wrap="square" rtlCol="0">
            <a:spAutoFit/>
          </a:bodyPr>
          <a:lstStyle/>
          <a:p>
            <a:pPr algn="ctr"/>
            <a:r>
              <a:rPr lang="en-US" sz="3733" dirty="0"/>
              <a:t>=</a:t>
            </a:r>
          </a:p>
        </p:txBody>
      </p:sp>
      <p:sp>
        <p:nvSpPr>
          <p:cNvPr id="25" name="Arrow: Left 24">
            <a:extLst>
              <a:ext uri="{FF2B5EF4-FFF2-40B4-BE49-F238E27FC236}">
                <a16:creationId xmlns:a16="http://schemas.microsoft.com/office/drawing/2014/main" id="{AFC9B7D0-FBEE-4829-AAE2-827659F672C3}"/>
              </a:ext>
            </a:extLst>
          </p:cNvPr>
          <p:cNvSpPr/>
          <p:nvPr/>
        </p:nvSpPr>
        <p:spPr>
          <a:xfrm rot="10800000">
            <a:off x="2271452" y="3100988"/>
            <a:ext cx="485112" cy="232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TextBox 25">
            <a:extLst>
              <a:ext uri="{FF2B5EF4-FFF2-40B4-BE49-F238E27FC236}">
                <a16:creationId xmlns:a16="http://schemas.microsoft.com/office/drawing/2014/main" id="{CA5AA465-2936-4D15-A155-6834B7A84EF0}"/>
              </a:ext>
            </a:extLst>
          </p:cNvPr>
          <p:cNvSpPr txBox="1"/>
          <p:nvPr/>
        </p:nvSpPr>
        <p:spPr>
          <a:xfrm>
            <a:off x="143339" y="2756925"/>
            <a:ext cx="2048860" cy="1200329"/>
          </a:xfrm>
          <a:prstGeom prst="rect">
            <a:avLst/>
          </a:prstGeom>
          <a:noFill/>
        </p:spPr>
        <p:txBody>
          <a:bodyPr wrap="square" rtlCol="0">
            <a:spAutoFit/>
          </a:bodyPr>
          <a:lstStyle/>
          <a:p>
            <a:r>
              <a:rPr lang="en-US" sz="2400" dirty="0"/>
              <a:t>Calculated from taxable profit</a:t>
            </a:r>
          </a:p>
        </p:txBody>
      </p:sp>
    </p:spTree>
    <p:extLst>
      <p:ext uri="{BB962C8B-B14F-4D97-AF65-F5344CB8AC3E}">
        <p14:creationId xmlns:p14="http://schemas.microsoft.com/office/powerpoint/2010/main" val="32796700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3C308F-9199-4D8D-AE83-E9A116533041}"/>
              </a:ext>
            </a:extLst>
          </p:cNvPr>
          <p:cNvSpPr>
            <a:spLocks noGrp="1"/>
          </p:cNvSpPr>
          <p:nvPr>
            <p:ph idx="1"/>
          </p:nvPr>
        </p:nvSpPr>
        <p:spPr>
          <a:xfrm>
            <a:off x="475470" y="1028733"/>
            <a:ext cx="11285159" cy="5184576"/>
          </a:xfrm>
        </p:spPr>
        <p:txBody>
          <a:bodyPr>
            <a:normAutofit/>
          </a:bodyPr>
          <a:lstStyle/>
          <a:p>
            <a:pPr marL="0" indent="0">
              <a:buNone/>
            </a:pPr>
            <a:r>
              <a:rPr lang="en-US" dirty="0"/>
              <a:t>Because of the purchasing, manufacturing and selling activities, a company has €2 million of expense during the first semester of 2024. During this same period, the company delivers products to customers for a value of €3.2 million.</a:t>
            </a:r>
          </a:p>
          <a:p>
            <a:pPr marL="0" indent="0">
              <a:buNone/>
            </a:pPr>
            <a:r>
              <a:rPr lang="en-US" dirty="0"/>
              <a:t>The company borrows a €5 million loan at the beginning of 2024 with an annual interest rate of 8%.</a:t>
            </a:r>
          </a:p>
          <a:p>
            <a:pPr marL="0" indent="0">
              <a:buNone/>
            </a:pPr>
            <a:r>
              <a:rPr lang="en-US" dirty="0"/>
              <a:t>At the beginning of the semester, the company keeps €0.5 million in cash for operating activity and €1 million in bonds with 5% annual coupon rate.</a:t>
            </a:r>
          </a:p>
          <a:p>
            <a:pPr marL="0" indent="0">
              <a:buNone/>
            </a:pPr>
            <a:r>
              <a:rPr lang="en-US" dirty="0"/>
              <a:t>The company sells during this first semester a machine at €1 million and the net book (or carrying) value at the moment to sell it is €1.2 million.</a:t>
            </a:r>
          </a:p>
        </p:txBody>
      </p:sp>
      <p:sp>
        <p:nvSpPr>
          <p:cNvPr id="3" name="Title 2">
            <a:extLst>
              <a:ext uri="{FF2B5EF4-FFF2-40B4-BE49-F238E27FC236}">
                <a16:creationId xmlns:a16="http://schemas.microsoft.com/office/drawing/2014/main" id="{CE4AA3D6-D183-4AB4-9D7F-BF7F00896A6D}"/>
              </a:ext>
            </a:extLst>
          </p:cNvPr>
          <p:cNvSpPr>
            <a:spLocks noGrp="1"/>
          </p:cNvSpPr>
          <p:nvPr>
            <p:ph type="title"/>
          </p:nvPr>
        </p:nvSpPr>
        <p:spPr>
          <a:xfrm>
            <a:off x="474461" y="514350"/>
            <a:ext cx="11286176" cy="531363"/>
          </a:xfrm>
        </p:spPr>
        <p:txBody>
          <a:bodyPr>
            <a:normAutofit fontScale="90000"/>
          </a:bodyPr>
          <a:lstStyle/>
          <a:p>
            <a:r>
              <a:rPr lang="en-US" dirty="0"/>
              <a:t>MCQ n°7</a:t>
            </a:r>
          </a:p>
        </p:txBody>
      </p:sp>
      <p:sp>
        <p:nvSpPr>
          <p:cNvPr id="5" name="Slide Number Placeholder 4">
            <a:extLst>
              <a:ext uri="{FF2B5EF4-FFF2-40B4-BE49-F238E27FC236}">
                <a16:creationId xmlns:a16="http://schemas.microsoft.com/office/drawing/2014/main" id="{962155C1-E28F-4E72-8F66-09E5F0F69AB7}"/>
              </a:ext>
            </a:extLst>
          </p:cNvPr>
          <p:cNvSpPr>
            <a:spLocks noGrp="1"/>
          </p:cNvSpPr>
          <p:nvPr>
            <p:ph type="sldNum" sz="quarter" idx="12"/>
          </p:nvPr>
        </p:nvSpPr>
        <p:spPr/>
        <p:txBody>
          <a:bodyPr/>
          <a:lstStyle/>
          <a:p>
            <a:fld id="{307C7597-8D70-4701-8085-9524B0B5C72B}" type="slidenum">
              <a:rPr lang="fr-FR" smtClean="0"/>
              <a:pPr/>
              <a:t>55</a:t>
            </a:fld>
            <a:endParaRPr lang="fr-FR" dirty="0"/>
          </a:p>
        </p:txBody>
      </p:sp>
    </p:spTree>
    <p:extLst>
      <p:ext uri="{BB962C8B-B14F-4D97-AF65-F5344CB8AC3E}">
        <p14:creationId xmlns:p14="http://schemas.microsoft.com/office/powerpoint/2010/main" val="31542442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3C308F-9199-4D8D-AE83-E9A116533041}"/>
              </a:ext>
            </a:extLst>
          </p:cNvPr>
          <p:cNvSpPr>
            <a:spLocks noGrp="1"/>
          </p:cNvSpPr>
          <p:nvPr>
            <p:ph idx="1"/>
          </p:nvPr>
        </p:nvSpPr>
        <p:spPr>
          <a:xfrm>
            <a:off x="475470" y="1063401"/>
            <a:ext cx="11285159" cy="938552"/>
          </a:xfrm>
        </p:spPr>
        <p:txBody>
          <a:bodyPr>
            <a:normAutofit fontScale="92500" lnSpcReduction="20000"/>
          </a:bodyPr>
          <a:lstStyle/>
          <a:p>
            <a:pPr marL="0" indent="0">
              <a:buNone/>
            </a:pPr>
            <a:r>
              <a:rPr lang="en-US" dirty="0"/>
              <a:t>What are the operating profit, the gain or loss on sale of the machine, the financial profit and the profit before tax for the first semester of 2024 (in € million)?</a:t>
            </a:r>
          </a:p>
        </p:txBody>
      </p:sp>
      <p:sp>
        <p:nvSpPr>
          <p:cNvPr id="3" name="Title 2">
            <a:extLst>
              <a:ext uri="{FF2B5EF4-FFF2-40B4-BE49-F238E27FC236}">
                <a16:creationId xmlns:a16="http://schemas.microsoft.com/office/drawing/2014/main" id="{CE4AA3D6-D183-4AB4-9D7F-BF7F00896A6D}"/>
              </a:ext>
            </a:extLst>
          </p:cNvPr>
          <p:cNvSpPr>
            <a:spLocks noGrp="1"/>
          </p:cNvSpPr>
          <p:nvPr>
            <p:ph type="title"/>
          </p:nvPr>
        </p:nvSpPr>
        <p:spPr>
          <a:xfrm>
            <a:off x="474461" y="545977"/>
            <a:ext cx="11286176" cy="499736"/>
          </a:xfrm>
        </p:spPr>
        <p:txBody>
          <a:bodyPr>
            <a:normAutofit fontScale="90000"/>
          </a:bodyPr>
          <a:lstStyle/>
          <a:p>
            <a:r>
              <a:rPr lang="en-US" dirty="0"/>
              <a:t>MCQ n°7</a:t>
            </a:r>
          </a:p>
        </p:txBody>
      </p:sp>
      <p:sp>
        <p:nvSpPr>
          <p:cNvPr id="5" name="Slide Number Placeholder 4">
            <a:extLst>
              <a:ext uri="{FF2B5EF4-FFF2-40B4-BE49-F238E27FC236}">
                <a16:creationId xmlns:a16="http://schemas.microsoft.com/office/drawing/2014/main" id="{962155C1-E28F-4E72-8F66-09E5F0F69AB7}"/>
              </a:ext>
            </a:extLst>
          </p:cNvPr>
          <p:cNvSpPr>
            <a:spLocks noGrp="1"/>
          </p:cNvSpPr>
          <p:nvPr>
            <p:ph type="sldNum" sz="quarter" idx="12"/>
          </p:nvPr>
        </p:nvSpPr>
        <p:spPr/>
        <p:txBody>
          <a:bodyPr/>
          <a:lstStyle/>
          <a:p>
            <a:fld id="{307C7597-8D70-4701-8085-9524B0B5C72B}" type="slidenum">
              <a:rPr lang="fr-FR" smtClean="0"/>
              <a:pPr/>
              <a:t>56</a:t>
            </a:fld>
            <a:endParaRPr lang="fr-FR" dirty="0"/>
          </a:p>
        </p:txBody>
      </p:sp>
      <p:graphicFrame>
        <p:nvGraphicFramePr>
          <p:cNvPr id="4" name="Table 5">
            <a:extLst>
              <a:ext uri="{FF2B5EF4-FFF2-40B4-BE49-F238E27FC236}">
                <a16:creationId xmlns:a16="http://schemas.microsoft.com/office/drawing/2014/main" id="{363B342B-B80C-430E-82A0-9D8D44555A1D}"/>
              </a:ext>
            </a:extLst>
          </p:cNvPr>
          <p:cNvGraphicFramePr>
            <a:graphicFrameLocks noGrp="1"/>
          </p:cNvGraphicFramePr>
          <p:nvPr/>
        </p:nvGraphicFramePr>
        <p:xfrm>
          <a:off x="474453" y="1988840"/>
          <a:ext cx="11286176" cy="2831252"/>
        </p:xfrm>
        <a:graphic>
          <a:graphicData uri="http://schemas.openxmlformats.org/drawingml/2006/table">
            <a:tbl>
              <a:tblPr firstRow="1" bandRow="1">
                <a:tableStyleId>{5C22544A-7EE6-4342-B048-85BDC9FD1C3A}</a:tableStyleId>
              </a:tblPr>
              <a:tblGrid>
                <a:gridCol w="628992">
                  <a:extLst>
                    <a:ext uri="{9D8B030D-6E8A-4147-A177-3AD203B41FA5}">
                      <a16:colId xmlns:a16="http://schemas.microsoft.com/office/drawing/2014/main" val="1769551284"/>
                    </a:ext>
                  </a:extLst>
                </a:gridCol>
                <a:gridCol w="2496277">
                  <a:extLst>
                    <a:ext uri="{9D8B030D-6E8A-4147-A177-3AD203B41FA5}">
                      <a16:colId xmlns:a16="http://schemas.microsoft.com/office/drawing/2014/main" val="1904748670"/>
                    </a:ext>
                  </a:extLst>
                </a:gridCol>
                <a:gridCol w="2688299">
                  <a:extLst>
                    <a:ext uri="{9D8B030D-6E8A-4147-A177-3AD203B41FA5}">
                      <a16:colId xmlns:a16="http://schemas.microsoft.com/office/drawing/2014/main" val="107571246"/>
                    </a:ext>
                  </a:extLst>
                </a:gridCol>
                <a:gridCol w="2976331">
                  <a:extLst>
                    <a:ext uri="{9D8B030D-6E8A-4147-A177-3AD203B41FA5}">
                      <a16:colId xmlns:a16="http://schemas.microsoft.com/office/drawing/2014/main" val="221299585"/>
                    </a:ext>
                  </a:extLst>
                </a:gridCol>
                <a:gridCol w="2496277">
                  <a:extLst>
                    <a:ext uri="{9D8B030D-6E8A-4147-A177-3AD203B41FA5}">
                      <a16:colId xmlns:a16="http://schemas.microsoft.com/office/drawing/2014/main" val="1601171424"/>
                    </a:ext>
                  </a:extLst>
                </a:gridCol>
              </a:tblGrid>
              <a:tr h="853440">
                <a:tc>
                  <a:txBody>
                    <a:bodyPr/>
                    <a:lstStyle/>
                    <a:p>
                      <a:endParaRPr lang="en-US" sz="2400" dirty="0"/>
                    </a:p>
                  </a:txBody>
                  <a:tcPr marL="121920" marR="121920" marT="60960" marB="60960">
                    <a:noFill/>
                  </a:tcPr>
                </a:tc>
                <a:tc>
                  <a:txBody>
                    <a:bodyPr/>
                    <a:lstStyle/>
                    <a:p>
                      <a:pPr algn="ctr"/>
                      <a:r>
                        <a:rPr lang="en-US" sz="2400" dirty="0"/>
                        <a:t>Profit before tax</a:t>
                      </a:r>
                    </a:p>
                  </a:txBody>
                  <a:tcPr marL="121920" marR="121920" marT="60960" marB="60960" anchor="ctr"/>
                </a:tc>
                <a:tc>
                  <a:txBody>
                    <a:bodyPr/>
                    <a:lstStyle/>
                    <a:p>
                      <a:pPr algn="ctr"/>
                      <a:r>
                        <a:rPr lang="en-US" sz="2400" dirty="0"/>
                        <a:t>Operating profit</a:t>
                      </a:r>
                    </a:p>
                  </a:txBody>
                  <a:tcPr marL="121920" marR="121920" marT="60960" marB="60960" anchor="ctr"/>
                </a:tc>
                <a:tc>
                  <a:txBody>
                    <a:bodyPr/>
                    <a:lstStyle/>
                    <a:p>
                      <a:pPr algn="ctr"/>
                      <a:r>
                        <a:rPr lang="en-US" sz="2400" dirty="0"/>
                        <a:t>Gain/(loss) on sale of the machine</a:t>
                      </a:r>
                    </a:p>
                  </a:txBody>
                  <a:tcPr marL="121920" marR="121920" marT="60960" marB="60960" anchor="ctr"/>
                </a:tc>
                <a:tc>
                  <a:txBody>
                    <a:bodyPr/>
                    <a:lstStyle/>
                    <a:p>
                      <a:pPr algn="ctr"/>
                      <a:r>
                        <a:rPr lang="en-US" sz="2400" dirty="0"/>
                        <a:t>Financial profit</a:t>
                      </a:r>
                    </a:p>
                  </a:txBody>
                  <a:tcPr marL="121920" marR="121920" marT="60960" marB="60960" anchor="ctr"/>
                </a:tc>
                <a:extLst>
                  <a:ext uri="{0D108BD9-81ED-4DB2-BD59-A6C34878D82A}">
                    <a16:rowId xmlns:a16="http://schemas.microsoft.com/office/drawing/2014/main" val="1197937021"/>
                  </a:ext>
                </a:extLst>
              </a:tr>
              <a:tr h="494453">
                <a:tc>
                  <a:txBody>
                    <a:bodyPr/>
                    <a:lstStyle/>
                    <a:p>
                      <a:r>
                        <a:rPr lang="en-US" sz="2400" dirty="0"/>
                        <a:t>(a)</a:t>
                      </a:r>
                    </a:p>
                  </a:txBody>
                  <a:tcPr marL="121920" marR="121920" marT="60960" marB="60960"/>
                </a:tc>
                <a:tc>
                  <a:txBody>
                    <a:bodyPr/>
                    <a:lstStyle/>
                    <a:p>
                      <a:pPr algn="ctr"/>
                      <a:r>
                        <a:rPr lang="en-US" sz="2400" dirty="0"/>
                        <a:t>1.325</a:t>
                      </a:r>
                    </a:p>
                  </a:txBody>
                  <a:tcPr marL="121920" marR="121920" marT="60960" marB="60960"/>
                </a:tc>
                <a:tc>
                  <a:txBody>
                    <a:bodyPr/>
                    <a:lstStyle/>
                    <a:p>
                      <a:pPr algn="ctr"/>
                      <a:r>
                        <a:rPr lang="en-US" sz="2400" dirty="0"/>
                        <a:t>3.2 – 2 + 0.5</a:t>
                      </a:r>
                    </a:p>
                  </a:txBody>
                  <a:tcPr marL="121920" marR="121920" marT="60960" marB="60960"/>
                </a:tc>
                <a:tc>
                  <a:txBody>
                    <a:bodyPr/>
                    <a:lstStyle/>
                    <a:p>
                      <a:pPr algn="ctr"/>
                      <a:r>
                        <a:rPr lang="en-US" sz="2400" dirty="0"/>
                        <a:t>1 – 1.2</a:t>
                      </a:r>
                    </a:p>
                  </a:txBody>
                  <a:tcPr marL="121920" marR="121920" marT="60960" marB="60960"/>
                </a:tc>
                <a:tc>
                  <a:txBody>
                    <a:bodyPr/>
                    <a:lstStyle/>
                    <a:p>
                      <a:pPr algn="ctr"/>
                      <a:r>
                        <a:rPr lang="en-US" sz="2400" dirty="0"/>
                        <a:t>0.025 – 0.2</a:t>
                      </a:r>
                    </a:p>
                  </a:txBody>
                  <a:tcPr marL="121920" marR="121920" marT="60960" marB="60960"/>
                </a:tc>
                <a:extLst>
                  <a:ext uri="{0D108BD9-81ED-4DB2-BD59-A6C34878D82A}">
                    <a16:rowId xmlns:a16="http://schemas.microsoft.com/office/drawing/2014/main" val="4146814004"/>
                  </a:ext>
                </a:extLst>
              </a:tr>
              <a:tr h="494453">
                <a:tc>
                  <a:txBody>
                    <a:bodyPr/>
                    <a:lstStyle/>
                    <a:p>
                      <a:r>
                        <a:rPr lang="en-US" sz="2400" dirty="0"/>
                        <a:t>(b)</a:t>
                      </a:r>
                    </a:p>
                  </a:txBody>
                  <a:tcPr marL="121920" marR="121920" marT="60960" marB="60960"/>
                </a:tc>
                <a:tc>
                  <a:txBody>
                    <a:bodyPr/>
                    <a:lstStyle/>
                    <a:p>
                      <a:pPr algn="ctr"/>
                      <a:r>
                        <a:rPr lang="en-US" sz="2400" dirty="0"/>
                        <a:t>1.225</a:t>
                      </a:r>
                    </a:p>
                  </a:txBody>
                  <a:tcPr marL="121920" marR="121920" marT="60960" marB="60960"/>
                </a:tc>
                <a:tc>
                  <a:txBody>
                    <a:bodyPr/>
                    <a:lstStyle/>
                    <a:p>
                      <a:pPr algn="ctr"/>
                      <a:r>
                        <a:rPr lang="en-US" sz="2400" dirty="0"/>
                        <a:t>3.2 - 2</a:t>
                      </a:r>
                    </a:p>
                  </a:txBody>
                  <a:tcPr marL="121920" marR="121920" marT="60960" marB="60960"/>
                </a:tc>
                <a:tc>
                  <a:txBody>
                    <a:bodyPr/>
                    <a:lstStyle/>
                    <a:p>
                      <a:pPr algn="ctr"/>
                      <a:r>
                        <a:rPr lang="en-US" sz="2400" dirty="0"/>
                        <a:t>1.2 - 1</a:t>
                      </a:r>
                    </a:p>
                  </a:txBody>
                  <a:tcPr marL="121920" marR="121920" marT="60960" marB="60960"/>
                </a:tc>
                <a:tc>
                  <a:txBody>
                    <a:bodyPr/>
                    <a:lstStyle/>
                    <a:p>
                      <a:pPr algn="ctr"/>
                      <a:r>
                        <a:rPr lang="en-US" sz="2400" dirty="0"/>
                        <a:t>0.025 – 0.2</a:t>
                      </a:r>
                    </a:p>
                  </a:txBody>
                  <a:tcPr marL="121920" marR="121920" marT="60960" marB="60960"/>
                </a:tc>
                <a:extLst>
                  <a:ext uri="{0D108BD9-81ED-4DB2-BD59-A6C34878D82A}">
                    <a16:rowId xmlns:a16="http://schemas.microsoft.com/office/drawing/2014/main" val="2999574305"/>
                  </a:ext>
                </a:extLst>
              </a:tr>
              <a:tr h="494453">
                <a:tc>
                  <a:txBody>
                    <a:bodyPr/>
                    <a:lstStyle/>
                    <a:p>
                      <a:r>
                        <a:rPr lang="en-US" sz="2400" dirty="0"/>
                        <a:t>(c)</a:t>
                      </a:r>
                    </a:p>
                  </a:txBody>
                  <a:tcPr marL="121920" marR="121920" marT="60960" marB="60960"/>
                </a:tc>
                <a:tc>
                  <a:txBody>
                    <a:bodyPr/>
                    <a:lstStyle/>
                    <a:p>
                      <a:pPr algn="ctr"/>
                      <a:r>
                        <a:rPr lang="en-US" sz="2400" dirty="0"/>
                        <a:t>1.175</a:t>
                      </a:r>
                    </a:p>
                  </a:txBody>
                  <a:tcPr marL="121920" marR="121920" marT="60960" marB="60960"/>
                </a:tc>
                <a:tc>
                  <a:txBody>
                    <a:bodyPr/>
                    <a:lstStyle/>
                    <a:p>
                      <a:pPr algn="ctr"/>
                      <a:r>
                        <a:rPr lang="en-US" sz="2400" dirty="0"/>
                        <a:t>3.2 – 2</a:t>
                      </a:r>
                    </a:p>
                  </a:txBody>
                  <a:tcPr marL="121920" marR="121920" marT="60960" marB="60960"/>
                </a:tc>
                <a:tc>
                  <a:txBody>
                    <a:bodyPr/>
                    <a:lstStyle/>
                    <a:p>
                      <a:pPr algn="ctr"/>
                      <a:r>
                        <a:rPr lang="en-US" sz="2400" dirty="0"/>
                        <a:t>1 – 1.2</a:t>
                      </a:r>
                    </a:p>
                  </a:txBody>
                  <a:tcPr marL="121920" marR="121920" marT="60960" marB="60960"/>
                </a:tc>
                <a:tc>
                  <a:txBody>
                    <a:bodyPr/>
                    <a:lstStyle/>
                    <a:p>
                      <a:pPr algn="ctr"/>
                      <a:r>
                        <a:rPr lang="en-US" sz="2400" dirty="0"/>
                        <a:t>0.2 – 0.025</a:t>
                      </a:r>
                    </a:p>
                  </a:txBody>
                  <a:tcPr marL="121920" marR="121920" marT="60960" marB="60960"/>
                </a:tc>
                <a:extLst>
                  <a:ext uri="{0D108BD9-81ED-4DB2-BD59-A6C34878D82A}">
                    <a16:rowId xmlns:a16="http://schemas.microsoft.com/office/drawing/2014/main" val="3500227641"/>
                  </a:ext>
                </a:extLst>
              </a:tr>
              <a:tr h="494453">
                <a:tc>
                  <a:txBody>
                    <a:bodyPr/>
                    <a:lstStyle/>
                    <a:p>
                      <a:r>
                        <a:rPr lang="en-US" sz="2400" dirty="0"/>
                        <a:t>(d)</a:t>
                      </a:r>
                    </a:p>
                  </a:txBody>
                  <a:tcPr marL="121920" marR="121920" marT="60960" marB="60960"/>
                </a:tc>
                <a:tc>
                  <a:txBody>
                    <a:bodyPr/>
                    <a:lstStyle/>
                    <a:p>
                      <a:pPr algn="ctr"/>
                      <a:r>
                        <a:rPr lang="en-US" sz="2400" dirty="0"/>
                        <a:t>0.825</a:t>
                      </a:r>
                    </a:p>
                  </a:txBody>
                  <a:tcPr marL="121920" marR="121920" marT="60960" marB="60960"/>
                </a:tc>
                <a:tc>
                  <a:txBody>
                    <a:bodyPr/>
                    <a:lstStyle/>
                    <a:p>
                      <a:pPr algn="ctr"/>
                      <a:r>
                        <a:rPr lang="en-US" sz="2400" dirty="0"/>
                        <a:t>3.2 - 2</a:t>
                      </a:r>
                    </a:p>
                  </a:txBody>
                  <a:tcPr marL="121920" marR="121920" marT="60960" marB="60960"/>
                </a:tc>
                <a:tc>
                  <a:txBody>
                    <a:bodyPr/>
                    <a:lstStyle/>
                    <a:p>
                      <a:pPr algn="ctr"/>
                      <a:r>
                        <a:rPr lang="en-US" sz="2400" dirty="0"/>
                        <a:t>1 – 1.2</a:t>
                      </a:r>
                    </a:p>
                  </a:txBody>
                  <a:tcPr marL="121920" marR="121920" marT="60960" marB="60960"/>
                </a:tc>
                <a:tc>
                  <a:txBody>
                    <a:bodyPr/>
                    <a:lstStyle/>
                    <a:p>
                      <a:pPr algn="ctr"/>
                      <a:r>
                        <a:rPr lang="en-US" sz="2400" dirty="0"/>
                        <a:t>0.025 – 0.2</a:t>
                      </a:r>
                    </a:p>
                  </a:txBody>
                  <a:tcPr marL="121920" marR="121920" marT="60960" marB="60960"/>
                </a:tc>
                <a:extLst>
                  <a:ext uri="{0D108BD9-81ED-4DB2-BD59-A6C34878D82A}">
                    <a16:rowId xmlns:a16="http://schemas.microsoft.com/office/drawing/2014/main" val="3261873764"/>
                  </a:ext>
                </a:extLst>
              </a:tr>
            </a:tbl>
          </a:graphicData>
        </a:graphic>
      </p:graphicFrame>
      <p:sp>
        <p:nvSpPr>
          <p:cNvPr id="10" name="TextBox 9">
            <a:extLst>
              <a:ext uri="{FF2B5EF4-FFF2-40B4-BE49-F238E27FC236}">
                <a16:creationId xmlns:a16="http://schemas.microsoft.com/office/drawing/2014/main" id="{3EAB4C78-0E9B-47C0-ADFD-764346002000}"/>
              </a:ext>
            </a:extLst>
          </p:cNvPr>
          <p:cNvSpPr txBox="1"/>
          <p:nvPr/>
        </p:nvSpPr>
        <p:spPr>
          <a:xfrm>
            <a:off x="6020224" y="3188456"/>
            <a:ext cx="576064" cy="748988"/>
          </a:xfrm>
          <a:prstGeom prst="rect">
            <a:avLst/>
          </a:prstGeom>
          <a:noFill/>
        </p:spPr>
        <p:txBody>
          <a:bodyPr wrap="square" rtlCol="0">
            <a:spAutoFit/>
          </a:bodyPr>
          <a:lstStyle/>
          <a:p>
            <a:r>
              <a:rPr lang="en-US" sz="4267" dirty="0"/>
              <a:t>+</a:t>
            </a:r>
          </a:p>
        </p:txBody>
      </p:sp>
      <p:sp>
        <p:nvSpPr>
          <p:cNvPr id="11" name="TextBox 10">
            <a:extLst>
              <a:ext uri="{FF2B5EF4-FFF2-40B4-BE49-F238E27FC236}">
                <a16:creationId xmlns:a16="http://schemas.microsoft.com/office/drawing/2014/main" id="{0A97AD04-2A09-479F-96F2-523410CE96BC}"/>
              </a:ext>
            </a:extLst>
          </p:cNvPr>
          <p:cNvSpPr txBox="1"/>
          <p:nvPr/>
        </p:nvSpPr>
        <p:spPr>
          <a:xfrm>
            <a:off x="8996555" y="3189953"/>
            <a:ext cx="576064" cy="748988"/>
          </a:xfrm>
          <a:prstGeom prst="rect">
            <a:avLst/>
          </a:prstGeom>
          <a:noFill/>
        </p:spPr>
        <p:txBody>
          <a:bodyPr wrap="square" rtlCol="0">
            <a:spAutoFit/>
          </a:bodyPr>
          <a:lstStyle/>
          <a:p>
            <a:r>
              <a:rPr lang="en-US" sz="4267" dirty="0"/>
              <a:t>+</a:t>
            </a:r>
          </a:p>
        </p:txBody>
      </p:sp>
      <p:sp>
        <p:nvSpPr>
          <p:cNvPr id="12" name="TextBox 11">
            <a:extLst>
              <a:ext uri="{FF2B5EF4-FFF2-40B4-BE49-F238E27FC236}">
                <a16:creationId xmlns:a16="http://schemas.microsoft.com/office/drawing/2014/main" id="{2144810A-2C33-4BA4-94A3-F2ABB81E41CA}"/>
              </a:ext>
            </a:extLst>
          </p:cNvPr>
          <p:cNvSpPr txBox="1"/>
          <p:nvPr/>
        </p:nvSpPr>
        <p:spPr>
          <a:xfrm>
            <a:off x="3372291" y="3178339"/>
            <a:ext cx="576064" cy="748988"/>
          </a:xfrm>
          <a:prstGeom prst="rect">
            <a:avLst/>
          </a:prstGeom>
          <a:noFill/>
        </p:spPr>
        <p:txBody>
          <a:bodyPr wrap="square" rtlCol="0">
            <a:spAutoFit/>
          </a:bodyPr>
          <a:lstStyle/>
          <a:p>
            <a:r>
              <a:rPr lang="en-US" sz="4267" dirty="0"/>
              <a:t>=</a:t>
            </a:r>
          </a:p>
        </p:txBody>
      </p:sp>
      <p:sp>
        <p:nvSpPr>
          <p:cNvPr id="13" name="TextBox 12">
            <a:extLst>
              <a:ext uri="{FF2B5EF4-FFF2-40B4-BE49-F238E27FC236}">
                <a16:creationId xmlns:a16="http://schemas.microsoft.com/office/drawing/2014/main" id="{DDB11EE3-00EF-4135-87F0-81C31E637FAB}"/>
              </a:ext>
            </a:extLst>
          </p:cNvPr>
          <p:cNvSpPr txBox="1"/>
          <p:nvPr/>
        </p:nvSpPr>
        <p:spPr>
          <a:xfrm>
            <a:off x="6020328" y="3703920"/>
            <a:ext cx="576064" cy="748988"/>
          </a:xfrm>
          <a:prstGeom prst="rect">
            <a:avLst/>
          </a:prstGeom>
          <a:noFill/>
        </p:spPr>
        <p:txBody>
          <a:bodyPr wrap="square" rtlCol="0">
            <a:spAutoFit/>
          </a:bodyPr>
          <a:lstStyle/>
          <a:p>
            <a:r>
              <a:rPr lang="en-US" sz="4267" dirty="0"/>
              <a:t>+</a:t>
            </a:r>
          </a:p>
        </p:txBody>
      </p:sp>
      <p:sp>
        <p:nvSpPr>
          <p:cNvPr id="14" name="TextBox 13">
            <a:extLst>
              <a:ext uri="{FF2B5EF4-FFF2-40B4-BE49-F238E27FC236}">
                <a16:creationId xmlns:a16="http://schemas.microsoft.com/office/drawing/2014/main" id="{A24B46DA-2A95-41F7-A17C-E5EBDF18C268}"/>
              </a:ext>
            </a:extLst>
          </p:cNvPr>
          <p:cNvSpPr txBox="1"/>
          <p:nvPr/>
        </p:nvSpPr>
        <p:spPr>
          <a:xfrm>
            <a:off x="8996659" y="3705417"/>
            <a:ext cx="576064" cy="748988"/>
          </a:xfrm>
          <a:prstGeom prst="rect">
            <a:avLst/>
          </a:prstGeom>
          <a:noFill/>
        </p:spPr>
        <p:txBody>
          <a:bodyPr wrap="square" rtlCol="0">
            <a:spAutoFit/>
          </a:bodyPr>
          <a:lstStyle/>
          <a:p>
            <a:r>
              <a:rPr lang="en-US" sz="4267" dirty="0"/>
              <a:t>+</a:t>
            </a:r>
          </a:p>
        </p:txBody>
      </p:sp>
      <p:sp>
        <p:nvSpPr>
          <p:cNvPr id="15" name="TextBox 14">
            <a:extLst>
              <a:ext uri="{FF2B5EF4-FFF2-40B4-BE49-F238E27FC236}">
                <a16:creationId xmlns:a16="http://schemas.microsoft.com/office/drawing/2014/main" id="{369167F1-EE3E-4173-9777-E7F41A948F11}"/>
              </a:ext>
            </a:extLst>
          </p:cNvPr>
          <p:cNvSpPr txBox="1"/>
          <p:nvPr/>
        </p:nvSpPr>
        <p:spPr>
          <a:xfrm>
            <a:off x="3372395" y="3693803"/>
            <a:ext cx="576064" cy="748988"/>
          </a:xfrm>
          <a:prstGeom prst="rect">
            <a:avLst/>
          </a:prstGeom>
          <a:noFill/>
        </p:spPr>
        <p:txBody>
          <a:bodyPr wrap="square" rtlCol="0">
            <a:spAutoFit/>
          </a:bodyPr>
          <a:lstStyle/>
          <a:p>
            <a:r>
              <a:rPr lang="en-US" sz="4267" dirty="0"/>
              <a:t>=</a:t>
            </a:r>
          </a:p>
        </p:txBody>
      </p:sp>
      <p:sp>
        <p:nvSpPr>
          <p:cNvPr id="16" name="TextBox 15">
            <a:extLst>
              <a:ext uri="{FF2B5EF4-FFF2-40B4-BE49-F238E27FC236}">
                <a16:creationId xmlns:a16="http://schemas.microsoft.com/office/drawing/2014/main" id="{F23CF298-37D4-4E3C-B82D-D0124881B3BF}"/>
              </a:ext>
            </a:extLst>
          </p:cNvPr>
          <p:cNvSpPr txBox="1"/>
          <p:nvPr/>
        </p:nvSpPr>
        <p:spPr>
          <a:xfrm>
            <a:off x="6025387" y="4183973"/>
            <a:ext cx="576064" cy="748988"/>
          </a:xfrm>
          <a:prstGeom prst="rect">
            <a:avLst/>
          </a:prstGeom>
          <a:noFill/>
        </p:spPr>
        <p:txBody>
          <a:bodyPr wrap="square" rtlCol="0">
            <a:spAutoFit/>
          </a:bodyPr>
          <a:lstStyle/>
          <a:p>
            <a:r>
              <a:rPr lang="en-US" sz="4267" dirty="0"/>
              <a:t>+</a:t>
            </a:r>
          </a:p>
        </p:txBody>
      </p:sp>
      <p:sp>
        <p:nvSpPr>
          <p:cNvPr id="17" name="TextBox 16">
            <a:extLst>
              <a:ext uri="{FF2B5EF4-FFF2-40B4-BE49-F238E27FC236}">
                <a16:creationId xmlns:a16="http://schemas.microsoft.com/office/drawing/2014/main" id="{B021E046-E2F3-4B40-91B0-A5849BDA9543}"/>
              </a:ext>
            </a:extLst>
          </p:cNvPr>
          <p:cNvSpPr txBox="1"/>
          <p:nvPr/>
        </p:nvSpPr>
        <p:spPr>
          <a:xfrm>
            <a:off x="9001717" y="4185471"/>
            <a:ext cx="576064" cy="748988"/>
          </a:xfrm>
          <a:prstGeom prst="rect">
            <a:avLst/>
          </a:prstGeom>
          <a:noFill/>
        </p:spPr>
        <p:txBody>
          <a:bodyPr wrap="square" rtlCol="0">
            <a:spAutoFit/>
          </a:bodyPr>
          <a:lstStyle/>
          <a:p>
            <a:r>
              <a:rPr lang="en-US" sz="4267" dirty="0"/>
              <a:t>+</a:t>
            </a:r>
          </a:p>
        </p:txBody>
      </p:sp>
      <p:sp>
        <p:nvSpPr>
          <p:cNvPr id="18" name="TextBox 17">
            <a:extLst>
              <a:ext uri="{FF2B5EF4-FFF2-40B4-BE49-F238E27FC236}">
                <a16:creationId xmlns:a16="http://schemas.microsoft.com/office/drawing/2014/main" id="{1E3DA815-442D-4F51-9106-E6E61FADB840}"/>
              </a:ext>
            </a:extLst>
          </p:cNvPr>
          <p:cNvSpPr txBox="1"/>
          <p:nvPr/>
        </p:nvSpPr>
        <p:spPr>
          <a:xfrm>
            <a:off x="3377453" y="4173856"/>
            <a:ext cx="576064" cy="748988"/>
          </a:xfrm>
          <a:prstGeom prst="rect">
            <a:avLst/>
          </a:prstGeom>
          <a:noFill/>
        </p:spPr>
        <p:txBody>
          <a:bodyPr wrap="square" rtlCol="0">
            <a:spAutoFit/>
          </a:bodyPr>
          <a:lstStyle/>
          <a:p>
            <a:r>
              <a:rPr lang="en-US" sz="4267" dirty="0"/>
              <a:t>=</a:t>
            </a:r>
          </a:p>
        </p:txBody>
      </p:sp>
      <p:sp>
        <p:nvSpPr>
          <p:cNvPr id="31" name="TextBox 30">
            <a:extLst>
              <a:ext uri="{FF2B5EF4-FFF2-40B4-BE49-F238E27FC236}">
                <a16:creationId xmlns:a16="http://schemas.microsoft.com/office/drawing/2014/main" id="{B51FE801-E7C0-4616-8005-DC88E8860BCD}"/>
              </a:ext>
            </a:extLst>
          </p:cNvPr>
          <p:cNvSpPr txBox="1"/>
          <p:nvPr/>
        </p:nvSpPr>
        <p:spPr>
          <a:xfrm>
            <a:off x="6030341" y="2671032"/>
            <a:ext cx="576064" cy="748988"/>
          </a:xfrm>
          <a:prstGeom prst="rect">
            <a:avLst/>
          </a:prstGeom>
          <a:noFill/>
        </p:spPr>
        <p:txBody>
          <a:bodyPr wrap="square" rtlCol="0">
            <a:spAutoFit/>
          </a:bodyPr>
          <a:lstStyle/>
          <a:p>
            <a:r>
              <a:rPr lang="en-US" sz="4267" dirty="0"/>
              <a:t>+</a:t>
            </a:r>
          </a:p>
        </p:txBody>
      </p:sp>
      <p:sp>
        <p:nvSpPr>
          <p:cNvPr id="32" name="TextBox 31">
            <a:extLst>
              <a:ext uri="{FF2B5EF4-FFF2-40B4-BE49-F238E27FC236}">
                <a16:creationId xmlns:a16="http://schemas.microsoft.com/office/drawing/2014/main" id="{DDD51853-0351-4A0A-A7CA-E15C8AF9D18D}"/>
              </a:ext>
            </a:extLst>
          </p:cNvPr>
          <p:cNvSpPr txBox="1"/>
          <p:nvPr/>
        </p:nvSpPr>
        <p:spPr>
          <a:xfrm>
            <a:off x="9006672" y="2672529"/>
            <a:ext cx="576064" cy="748988"/>
          </a:xfrm>
          <a:prstGeom prst="rect">
            <a:avLst/>
          </a:prstGeom>
          <a:noFill/>
        </p:spPr>
        <p:txBody>
          <a:bodyPr wrap="square" rtlCol="0">
            <a:spAutoFit/>
          </a:bodyPr>
          <a:lstStyle/>
          <a:p>
            <a:r>
              <a:rPr lang="en-US" sz="4267" dirty="0"/>
              <a:t>+</a:t>
            </a:r>
          </a:p>
        </p:txBody>
      </p:sp>
      <p:sp>
        <p:nvSpPr>
          <p:cNvPr id="33" name="TextBox 32">
            <a:extLst>
              <a:ext uri="{FF2B5EF4-FFF2-40B4-BE49-F238E27FC236}">
                <a16:creationId xmlns:a16="http://schemas.microsoft.com/office/drawing/2014/main" id="{ADDC26E0-43FB-469B-AAD6-12D4C2D39551}"/>
              </a:ext>
            </a:extLst>
          </p:cNvPr>
          <p:cNvSpPr txBox="1"/>
          <p:nvPr/>
        </p:nvSpPr>
        <p:spPr>
          <a:xfrm>
            <a:off x="3382408" y="2660915"/>
            <a:ext cx="576064" cy="748988"/>
          </a:xfrm>
          <a:prstGeom prst="rect">
            <a:avLst/>
          </a:prstGeom>
          <a:noFill/>
        </p:spPr>
        <p:txBody>
          <a:bodyPr wrap="square" rtlCol="0">
            <a:spAutoFit/>
          </a:bodyPr>
          <a:lstStyle/>
          <a:p>
            <a:r>
              <a:rPr lang="en-US" sz="4267" dirty="0"/>
              <a:t>=</a:t>
            </a:r>
          </a:p>
        </p:txBody>
      </p:sp>
    </p:spTree>
    <p:extLst>
      <p:ext uri="{BB962C8B-B14F-4D97-AF65-F5344CB8AC3E}">
        <p14:creationId xmlns:p14="http://schemas.microsoft.com/office/powerpoint/2010/main" val="3190624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31371" y="3248025"/>
            <a:ext cx="11760629" cy="1019175"/>
          </a:xfrm>
        </p:spPr>
        <p:txBody>
          <a:bodyPr>
            <a:normAutofit/>
          </a:bodyPr>
          <a:lstStyle/>
          <a:p>
            <a:r>
              <a:rPr lang="en-US" dirty="0"/>
              <a:t>MCQ</a:t>
            </a:r>
          </a:p>
        </p:txBody>
      </p:sp>
      <p:sp>
        <p:nvSpPr>
          <p:cNvPr id="5" name="Subtitle 4">
            <a:extLst>
              <a:ext uri="{FF2B5EF4-FFF2-40B4-BE49-F238E27FC236}">
                <a16:creationId xmlns:a16="http://schemas.microsoft.com/office/drawing/2014/main" id="{F18DCD11-A14F-9B08-BD4C-38930AD316A1}"/>
              </a:ext>
            </a:extLst>
          </p:cNvPr>
          <p:cNvSpPr>
            <a:spLocks noGrp="1"/>
          </p:cNvSpPr>
          <p:nvPr>
            <p:ph type="subTitle" idx="1"/>
          </p:nvPr>
        </p:nvSpPr>
        <p:spPr/>
        <p:txBody>
          <a:bodyPr>
            <a:normAutofit/>
          </a:bodyPr>
          <a:lstStyle/>
          <a:p>
            <a:r>
              <a:rPr lang="fr-FR" sz="2800" dirty="0"/>
              <a:t>P&amp;L or </a:t>
            </a:r>
            <a:r>
              <a:rPr lang="fr-FR" sz="2800" dirty="0" err="1"/>
              <a:t>income</a:t>
            </a:r>
            <a:r>
              <a:rPr lang="fr-FR" sz="2800" dirty="0"/>
              <a:t> </a:t>
            </a:r>
            <a:r>
              <a:rPr lang="fr-FR" sz="2800" dirty="0" err="1"/>
              <a:t>statement</a:t>
            </a:r>
            <a:r>
              <a:rPr lang="fr-FR" sz="2800" dirty="0"/>
              <a:t> </a:t>
            </a:r>
            <a:r>
              <a:rPr lang="fr-FR" sz="2800" dirty="0" err="1"/>
              <a:t>categories</a:t>
            </a:r>
            <a:endParaRPr lang="en-US" sz="2800" dirty="0"/>
          </a:p>
        </p:txBody>
      </p:sp>
    </p:spTree>
    <p:extLst>
      <p:ext uri="{BB962C8B-B14F-4D97-AF65-F5344CB8AC3E}">
        <p14:creationId xmlns:p14="http://schemas.microsoft.com/office/powerpoint/2010/main" val="5213654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pPr algn="ctr"/>
            <a:r>
              <a:rPr lang="en-US" sz="2800" dirty="0"/>
              <a:t>Calculation of the operating profit or EBIT</a:t>
            </a:r>
          </a:p>
        </p:txBody>
      </p:sp>
      <p:sp>
        <p:nvSpPr>
          <p:cNvPr id="3" name="Espace réservé du numéro de diapositive 2"/>
          <p:cNvSpPr>
            <a:spLocks noGrp="1"/>
          </p:cNvSpPr>
          <p:nvPr>
            <p:ph type="sldNum" sz="quarter" idx="12"/>
          </p:nvPr>
        </p:nvSpPr>
        <p:spPr/>
        <p:txBody>
          <a:bodyPr/>
          <a:lstStyle/>
          <a:p>
            <a:fld id="{307C7597-8D70-4701-8085-9524B0B5C72B}" type="slidenum">
              <a:rPr lang="fr-FR" smtClean="0"/>
              <a:t>58</a:t>
            </a:fld>
            <a:endParaRPr lang="fr-FR"/>
          </a:p>
        </p:txBody>
      </p:sp>
      <p:graphicFrame>
        <p:nvGraphicFramePr>
          <p:cNvPr id="6" name="Content Placeholder 8"/>
          <p:cNvGraphicFramePr>
            <a:graphicFrameLocks/>
          </p:cNvGraphicFramePr>
          <p:nvPr>
            <p:extLst>
              <p:ext uri="{D42A27DB-BD31-4B8C-83A1-F6EECF244321}">
                <p14:modId xmlns:p14="http://schemas.microsoft.com/office/powerpoint/2010/main" val="3722059869"/>
              </p:ext>
            </p:extLst>
          </p:nvPr>
        </p:nvGraphicFramePr>
        <p:xfrm>
          <a:off x="1617856" y="247001"/>
          <a:ext cx="8712968" cy="5707392"/>
        </p:xfrm>
        <a:graphic>
          <a:graphicData uri="http://schemas.openxmlformats.org/drawingml/2006/table">
            <a:tbl>
              <a:tblPr firstRow="1" firstCol="1" bandRow="1">
                <a:tableStyleId>{5C22544A-7EE6-4342-B048-85BDC9FD1C3A}</a:tableStyleId>
              </a:tblPr>
              <a:tblGrid>
                <a:gridCol w="7056784">
                  <a:extLst>
                    <a:ext uri="{9D8B030D-6E8A-4147-A177-3AD203B41FA5}">
                      <a16:colId xmlns:a16="http://schemas.microsoft.com/office/drawing/2014/main" val="433812676"/>
                    </a:ext>
                  </a:extLst>
                </a:gridCol>
                <a:gridCol w="1656184">
                  <a:extLst>
                    <a:ext uri="{9D8B030D-6E8A-4147-A177-3AD203B41FA5}">
                      <a16:colId xmlns:a16="http://schemas.microsoft.com/office/drawing/2014/main" val="197506859"/>
                    </a:ext>
                  </a:extLst>
                </a:gridCol>
              </a:tblGrid>
              <a:tr h="407671">
                <a:tc gridSpan="2">
                  <a:txBody>
                    <a:bodyPr/>
                    <a:lstStyle/>
                    <a:p>
                      <a:pPr algn="ctr">
                        <a:lnSpc>
                          <a:spcPct val="107000"/>
                        </a:lnSpc>
                        <a:spcAft>
                          <a:spcPts val="0"/>
                        </a:spcAft>
                      </a:pPr>
                      <a:r>
                        <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Financial</a:t>
                      </a:r>
                      <a:r>
                        <a:rPr lang="en-US" sz="2500" b="0"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data for February 2026</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hMerge="1">
                  <a:txBody>
                    <a:bodyPr/>
                    <a:lstStyle/>
                    <a:p>
                      <a:pPr algn="r">
                        <a:lnSpc>
                          <a:spcPct val="107000"/>
                        </a:lnSpc>
                        <a:spcAft>
                          <a:spcPts val="0"/>
                        </a:spcAft>
                      </a:pP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77193508"/>
                  </a:ext>
                </a:extLst>
              </a:tr>
              <a:tr h="407671">
                <a:tc>
                  <a:txBody>
                    <a:bodyPr/>
                    <a:lstStyle/>
                    <a:p>
                      <a:pPr>
                        <a:lnSpc>
                          <a:spcPct val="107000"/>
                        </a:lnSpc>
                        <a:spcAft>
                          <a:spcPts val="0"/>
                        </a:spcAft>
                      </a:pPr>
                      <a:r>
                        <a:rPr lang="en-US" sz="2500" b="0" dirty="0">
                          <a:solidFill>
                            <a:schemeClr val="tx1"/>
                          </a:solidFill>
                          <a:effectLst/>
                          <a:latin typeface="+mn-lt"/>
                          <a:ea typeface="+mn-ea"/>
                          <a:cs typeface="+mn-cs"/>
                        </a:rPr>
                        <a:t>Components</a:t>
                      </a:r>
                      <a:r>
                        <a:rPr lang="en-US" sz="2500" b="0" baseline="0" dirty="0">
                          <a:solidFill>
                            <a:schemeClr val="tx1"/>
                          </a:solidFill>
                          <a:effectLst/>
                          <a:latin typeface="+mn-lt"/>
                          <a:ea typeface="+mn-ea"/>
                          <a:cs typeface="+mn-cs"/>
                        </a:rPr>
                        <a:t> purchase</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€200,000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20202009"/>
                  </a:ext>
                </a:extLst>
              </a:tr>
              <a:tr h="407671">
                <a:tc>
                  <a:txBody>
                    <a:bodyPr/>
                    <a:lstStyle/>
                    <a:p>
                      <a:pPr>
                        <a:lnSpc>
                          <a:spcPct val="107000"/>
                        </a:lnSpc>
                        <a:spcAft>
                          <a:spcPts val="0"/>
                        </a:spcAft>
                      </a:pPr>
                      <a:r>
                        <a:rPr lang="en-US" sz="2500" b="0" dirty="0">
                          <a:solidFill>
                            <a:schemeClr val="tx1"/>
                          </a:solidFill>
                          <a:effectLst/>
                        </a:rPr>
                        <a:t>Opening components inventory</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€30,000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44747953"/>
                  </a:ext>
                </a:extLst>
              </a:tr>
              <a:tr h="407671">
                <a:tc>
                  <a:txBody>
                    <a:bodyPr/>
                    <a:lstStyle/>
                    <a:p>
                      <a:pPr>
                        <a:lnSpc>
                          <a:spcPct val="107000"/>
                        </a:lnSpc>
                        <a:spcAft>
                          <a:spcPts val="0"/>
                        </a:spcAft>
                      </a:pPr>
                      <a:r>
                        <a:rPr lang="en-US" sz="2500" b="0" dirty="0">
                          <a:solidFill>
                            <a:schemeClr val="tx1"/>
                          </a:solidFill>
                          <a:effectLst/>
                        </a:rPr>
                        <a:t>Ending components inventory</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€70,000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54931786"/>
                  </a:ext>
                </a:extLst>
              </a:tr>
              <a:tr h="407671">
                <a:tc>
                  <a:txBody>
                    <a:bodyPr/>
                    <a:lstStyle/>
                    <a:p>
                      <a:pPr>
                        <a:lnSpc>
                          <a:spcPct val="107000"/>
                        </a:lnSpc>
                        <a:spcAft>
                          <a:spcPts val="0"/>
                        </a:spcAft>
                      </a:pPr>
                      <a:r>
                        <a:rPr lang="en-US" sz="2500" b="0" dirty="0">
                          <a:solidFill>
                            <a:schemeClr val="tx1"/>
                          </a:solidFill>
                          <a:effectLst/>
                        </a:rPr>
                        <a:t>Employee cost</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€120,000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85741600"/>
                  </a:ext>
                </a:extLst>
              </a:tr>
              <a:tr h="407671">
                <a:tc>
                  <a:txBody>
                    <a:bodyPr/>
                    <a:lstStyle/>
                    <a:p>
                      <a:pPr>
                        <a:lnSpc>
                          <a:spcPct val="107000"/>
                        </a:lnSpc>
                        <a:spcAft>
                          <a:spcPts val="0"/>
                        </a:spcAft>
                      </a:pPr>
                      <a:r>
                        <a:rPr lang="en-US" sz="2500" b="0" dirty="0">
                          <a:solidFill>
                            <a:schemeClr val="tx1"/>
                          </a:solidFill>
                          <a:effectLst/>
                        </a:rPr>
                        <a:t>Depreciation and amortization expense</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€70,000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30777386"/>
                  </a:ext>
                </a:extLst>
              </a:tr>
              <a:tr h="815340">
                <a:tc>
                  <a:txBody>
                    <a:bodyPr/>
                    <a:lstStyle/>
                    <a:p>
                      <a:pPr>
                        <a:lnSpc>
                          <a:spcPct val="107000"/>
                        </a:lnSpc>
                        <a:spcAft>
                          <a:spcPts val="0"/>
                        </a:spcAft>
                      </a:pPr>
                      <a:r>
                        <a:rPr lang="en-US" sz="2500" b="0" dirty="0">
                          <a:solidFill>
                            <a:schemeClr val="tx1"/>
                          </a:solidFill>
                        </a:rPr>
                        <a:t>Purchases of material and supplies not for inventory</a:t>
                      </a:r>
                      <a:r>
                        <a:rPr lang="en-US" sz="2500" b="0" baseline="0" dirty="0">
                          <a:solidFill>
                            <a:schemeClr val="tx1"/>
                          </a:solidFill>
                        </a:rPr>
                        <a:t> (electricity, water)</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€60,000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79001742"/>
                  </a:ext>
                </a:extLst>
              </a:tr>
              <a:tr h="407671">
                <a:tc>
                  <a:txBody>
                    <a:bodyPr/>
                    <a:lstStyle/>
                    <a:p>
                      <a:pPr>
                        <a:lnSpc>
                          <a:spcPct val="107000"/>
                        </a:lnSpc>
                        <a:spcAft>
                          <a:spcPts val="0"/>
                        </a:spcAft>
                      </a:pPr>
                      <a:r>
                        <a:rPr lang="en-US" sz="2500" b="0" dirty="0">
                          <a:solidFill>
                            <a:schemeClr val="tx1"/>
                          </a:solidFill>
                          <a:effectLst/>
                        </a:rPr>
                        <a:t>Interest expense</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€25,000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8958886"/>
                  </a:ext>
                </a:extLst>
              </a:tr>
              <a:tr h="407671">
                <a:tc>
                  <a:txBody>
                    <a:bodyPr/>
                    <a:lstStyle/>
                    <a:p>
                      <a:pPr>
                        <a:lnSpc>
                          <a:spcPct val="107000"/>
                        </a:lnSpc>
                        <a:spcAft>
                          <a:spcPts val="0"/>
                        </a:spcAft>
                      </a:pPr>
                      <a:r>
                        <a:rPr lang="en-US" sz="2500" b="0" dirty="0">
                          <a:solidFill>
                            <a:schemeClr val="tx1"/>
                          </a:solidFill>
                          <a:effectLst/>
                        </a:rPr>
                        <a:t>Increase in finished goods inventory</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€100,000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23311672"/>
                  </a:ext>
                </a:extLst>
              </a:tr>
              <a:tr h="407671">
                <a:tc>
                  <a:txBody>
                    <a:bodyPr/>
                    <a:lstStyle/>
                    <a:p>
                      <a:pPr>
                        <a:lnSpc>
                          <a:spcPct val="107000"/>
                        </a:lnSpc>
                        <a:spcAft>
                          <a:spcPts val="0"/>
                        </a:spcAft>
                      </a:pPr>
                      <a:r>
                        <a:rPr lang="en-US" sz="2500" b="0" dirty="0">
                          <a:solidFill>
                            <a:schemeClr val="tx1"/>
                          </a:solidFill>
                          <a:effectLst/>
                        </a:rPr>
                        <a:t>Sales revenue</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€360,000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97237842"/>
                  </a:ext>
                </a:extLst>
              </a:tr>
              <a:tr h="407671">
                <a:tc>
                  <a:txBody>
                    <a:bodyPr/>
                    <a:lstStyle/>
                    <a:p>
                      <a:pPr>
                        <a:lnSpc>
                          <a:spcPct val="107000"/>
                        </a:lnSpc>
                        <a:spcAft>
                          <a:spcPts val="0"/>
                        </a:spcAft>
                      </a:pPr>
                      <a:r>
                        <a:rPr lang="en-US" sz="2500" b="0" dirty="0">
                          <a:solidFill>
                            <a:schemeClr val="tx1"/>
                          </a:solidFill>
                          <a:effectLst/>
                          <a:latin typeface="+mn-lt"/>
                          <a:ea typeface="+mn-ea"/>
                          <a:cs typeface="+mn-cs"/>
                        </a:rPr>
                        <a:t>Interest</a:t>
                      </a:r>
                      <a:r>
                        <a:rPr lang="en-US" sz="2500" b="0" baseline="0" dirty="0">
                          <a:solidFill>
                            <a:schemeClr val="tx1"/>
                          </a:solidFill>
                          <a:effectLst/>
                          <a:latin typeface="+mn-lt"/>
                          <a:ea typeface="+mn-ea"/>
                          <a:cs typeface="+mn-cs"/>
                        </a:rPr>
                        <a:t> income</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rPr>
                        <a:t>€8,000 </a:t>
                      </a:r>
                      <a:endPar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71530501"/>
                  </a:ext>
                </a:extLst>
              </a:tr>
              <a:tr h="407671">
                <a:tc>
                  <a:txBody>
                    <a:bodyPr/>
                    <a:lstStyle/>
                    <a:p>
                      <a:pPr>
                        <a:lnSpc>
                          <a:spcPct val="107000"/>
                        </a:lnSpc>
                        <a:spcAft>
                          <a:spcPts val="0"/>
                        </a:spcAft>
                      </a:pPr>
                      <a:r>
                        <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Non-recurring expense</a:t>
                      </a: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nchor="b"/>
                </a:tc>
                <a:extLst>
                  <a:ext uri="{0D108BD9-81ED-4DB2-BD59-A6C34878D82A}">
                    <a16:rowId xmlns:a16="http://schemas.microsoft.com/office/drawing/2014/main" val="1374960799"/>
                  </a:ext>
                </a:extLst>
              </a:tr>
              <a:tr h="407671">
                <a:tc>
                  <a:txBody>
                    <a:bodyPr/>
                    <a:lstStyle/>
                    <a:p>
                      <a:pPr>
                        <a:lnSpc>
                          <a:spcPct val="107000"/>
                        </a:lnSpc>
                        <a:spcAft>
                          <a:spcPts val="0"/>
                        </a:spcAft>
                      </a:pPr>
                      <a:r>
                        <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Non-recurring income</a:t>
                      </a:r>
                    </a:p>
                  </a:txBody>
                  <a:tcPr marL="68580" marR="68580" marT="0" marB="0" anchor="b">
                    <a:solidFill>
                      <a:schemeClr val="accent1">
                        <a:lumMod val="20000"/>
                        <a:lumOff val="80000"/>
                      </a:schemeClr>
                    </a:solidFill>
                  </a:tcPr>
                </a:tc>
                <a:tc>
                  <a:txBody>
                    <a:bodyPr/>
                    <a:lstStyle/>
                    <a:p>
                      <a:pPr algn="r">
                        <a:lnSpc>
                          <a:spcPct val="107000"/>
                        </a:lnSpc>
                        <a:spcAft>
                          <a:spcPts val="0"/>
                        </a:spcAft>
                      </a:pPr>
                      <a:r>
                        <a:rPr lang="en-US" sz="2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p>
                  </a:txBody>
                  <a:tcPr marL="68580" marR="68580" marT="0" marB="0" anchor="b"/>
                </a:tc>
                <a:extLst>
                  <a:ext uri="{0D108BD9-81ED-4DB2-BD59-A6C34878D82A}">
                    <a16:rowId xmlns:a16="http://schemas.microsoft.com/office/drawing/2014/main" val="2868272890"/>
                  </a:ext>
                </a:extLst>
              </a:tr>
            </a:tbl>
          </a:graphicData>
        </a:graphic>
      </p:graphicFrame>
      <p:sp>
        <p:nvSpPr>
          <p:cNvPr id="7" name="TextBox 9"/>
          <p:cNvSpPr txBox="1"/>
          <p:nvPr/>
        </p:nvSpPr>
        <p:spPr>
          <a:xfrm>
            <a:off x="1055045" y="5920278"/>
            <a:ext cx="9638473" cy="830997"/>
          </a:xfrm>
          <a:prstGeom prst="rect">
            <a:avLst/>
          </a:prstGeom>
          <a:solidFill>
            <a:schemeClr val="tx2">
              <a:lumMod val="20000"/>
              <a:lumOff val="80000"/>
            </a:schemeClr>
          </a:solidFill>
        </p:spPr>
        <p:txBody>
          <a:bodyPr wrap="square" rtlCol="0">
            <a:spAutoFit/>
          </a:bodyPr>
          <a:lstStyle/>
          <a:p>
            <a:r>
              <a:rPr lang="en-US" sz="2400" dirty="0"/>
              <a:t>What is EBIT in February 2026?</a:t>
            </a:r>
          </a:p>
          <a:p>
            <a:pPr marL="457189" indent="-457189">
              <a:buAutoNum type="alphaLcParenBoth"/>
            </a:pPr>
            <a:r>
              <a:rPr lang="en-US" sz="2400" dirty="0"/>
              <a:t>€(</a:t>
            </a:r>
            <a:r>
              <a:rPr lang="fr-FR" sz="2400" dirty="0"/>
              <a:t>50,000)</a:t>
            </a:r>
            <a:r>
              <a:rPr lang="en-US" sz="2400" dirty="0"/>
              <a:t>        (b)  €(</a:t>
            </a:r>
            <a:r>
              <a:rPr lang="fr-FR" sz="2400" dirty="0"/>
              <a:t>47,000)</a:t>
            </a:r>
            <a:r>
              <a:rPr lang="en-US" sz="2400" dirty="0"/>
              <a:t>       (c) €33,000	(d)  </a:t>
            </a:r>
            <a:r>
              <a:rPr lang="fr-FR" sz="2400" dirty="0"/>
              <a:t>€50,000</a:t>
            </a:r>
            <a:endParaRPr lang="en-US" sz="2400" dirty="0"/>
          </a:p>
        </p:txBody>
      </p:sp>
    </p:spTree>
    <p:extLst>
      <p:ext uri="{BB962C8B-B14F-4D97-AF65-F5344CB8AC3E}">
        <p14:creationId xmlns:p14="http://schemas.microsoft.com/office/powerpoint/2010/main" val="2827460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382" y="451288"/>
            <a:ext cx="11713301" cy="673456"/>
          </a:xfrm>
        </p:spPr>
        <p:txBody>
          <a:bodyPr/>
          <a:lstStyle/>
          <a:p>
            <a:r>
              <a:rPr lang="en-US" sz="3733" dirty="0"/>
              <a:t>From purchases to the cost of sales in P&amp;L </a:t>
            </a:r>
          </a:p>
        </p:txBody>
      </p:sp>
      <p:sp>
        <p:nvSpPr>
          <p:cNvPr id="4" name="Slide Number Placeholder 3"/>
          <p:cNvSpPr>
            <a:spLocks noGrp="1"/>
          </p:cNvSpPr>
          <p:nvPr>
            <p:ph type="sldNum" sz="quarter" idx="12"/>
          </p:nvPr>
        </p:nvSpPr>
        <p:spPr/>
        <p:txBody>
          <a:bodyPr/>
          <a:lstStyle/>
          <a:p>
            <a:pPr>
              <a:defRPr/>
            </a:pPr>
            <a:fld id="{A947D635-9654-4A76-8214-753D05010126}" type="slidenum">
              <a:rPr lang="fr-FR" smtClean="0"/>
              <a:pPr>
                <a:defRPr/>
              </a:pPr>
              <a:t>59</a:t>
            </a:fld>
            <a:endParaRPr lang="fr-FR" dirty="0"/>
          </a:p>
        </p:txBody>
      </p:sp>
      <p:sp>
        <p:nvSpPr>
          <p:cNvPr id="7" name="TextBox 6"/>
          <p:cNvSpPr txBox="1"/>
          <p:nvPr/>
        </p:nvSpPr>
        <p:spPr>
          <a:xfrm>
            <a:off x="1559496" y="6444045"/>
            <a:ext cx="5760640" cy="369332"/>
          </a:xfrm>
          <a:prstGeom prst="rect">
            <a:avLst/>
          </a:prstGeom>
          <a:noFill/>
        </p:spPr>
        <p:txBody>
          <a:bodyPr wrap="square" rtlCol="0">
            <a:spAutoFit/>
          </a:bodyPr>
          <a:lstStyle/>
          <a:p>
            <a:r>
              <a:rPr lang="en-US" dirty="0"/>
              <a:t>Op. inv.: opening inventory, End. Inv.: ending inventory</a:t>
            </a:r>
          </a:p>
        </p:txBody>
      </p:sp>
      <p:grpSp>
        <p:nvGrpSpPr>
          <p:cNvPr id="3" name="Group 2">
            <a:extLst>
              <a:ext uri="{FF2B5EF4-FFF2-40B4-BE49-F238E27FC236}">
                <a16:creationId xmlns:a16="http://schemas.microsoft.com/office/drawing/2014/main" id="{C3A363A6-23CE-40C0-9DD5-4546502273C1}"/>
              </a:ext>
            </a:extLst>
          </p:cNvPr>
          <p:cNvGrpSpPr/>
          <p:nvPr/>
        </p:nvGrpSpPr>
        <p:grpSpPr>
          <a:xfrm>
            <a:off x="3431704" y="1772816"/>
            <a:ext cx="1584176" cy="1676844"/>
            <a:chOff x="2573778" y="1329612"/>
            <a:chExt cx="1188132" cy="1257633"/>
          </a:xfrm>
        </p:grpSpPr>
        <p:sp>
          <p:nvSpPr>
            <p:cNvPr id="5" name="TextBox 4"/>
            <p:cNvSpPr txBox="1"/>
            <p:nvPr/>
          </p:nvSpPr>
          <p:spPr>
            <a:xfrm>
              <a:off x="2573778" y="1329612"/>
              <a:ext cx="594066" cy="715580"/>
            </a:xfrm>
            <a:prstGeom prst="rect">
              <a:avLst/>
            </a:prstGeom>
            <a:solidFill>
              <a:schemeClr val="accent1">
                <a:lumMod val="20000"/>
                <a:lumOff val="80000"/>
              </a:schemeClr>
            </a:solidFill>
          </p:spPr>
          <p:txBody>
            <a:bodyPr wrap="square" rtlCol="0">
              <a:spAutoFit/>
            </a:bodyPr>
            <a:lstStyle/>
            <a:p>
              <a:endParaRPr lang="en-US" sz="3200" dirty="0"/>
            </a:p>
            <a:p>
              <a:endParaRPr lang="en-US" sz="2400" dirty="0"/>
            </a:p>
          </p:txBody>
        </p:sp>
        <p:sp>
          <p:nvSpPr>
            <p:cNvPr id="6" name="TextBox 5"/>
            <p:cNvSpPr txBox="1"/>
            <p:nvPr/>
          </p:nvSpPr>
          <p:spPr>
            <a:xfrm>
              <a:off x="2573778" y="2056331"/>
              <a:ext cx="594066" cy="530914"/>
            </a:xfrm>
            <a:prstGeom prst="rect">
              <a:avLst/>
            </a:prstGeom>
            <a:solidFill>
              <a:schemeClr val="bg1">
                <a:lumMod val="50000"/>
              </a:schemeClr>
            </a:solidFill>
          </p:spPr>
          <p:txBody>
            <a:bodyPr wrap="square" rtlCol="0">
              <a:spAutoFit/>
            </a:bodyPr>
            <a:lstStyle/>
            <a:p>
              <a:r>
                <a:rPr lang="en-US" sz="2000" dirty="0"/>
                <a:t>Op.</a:t>
              </a:r>
            </a:p>
            <a:p>
              <a:r>
                <a:rPr lang="en-US" sz="2000" dirty="0"/>
                <a:t>Inv.</a:t>
              </a:r>
            </a:p>
          </p:txBody>
        </p:sp>
        <p:sp>
          <p:nvSpPr>
            <p:cNvPr id="8" name="TextBox 7"/>
            <p:cNvSpPr txBox="1"/>
            <p:nvPr/>
          </p:nvSpPr>
          <p:spPr>
            <a:xfrm>
              <a:off x="3167844" y="1329612"/>
              <a:ext cx="594066" cy="738664"/>
            </a:xfrm>
            <a:prstGeom prst="rect">
              <a:avLst/>
            </a:prstGeom>
            <a:solidFill>
              <a:schemeClr val="bg1">
                <a:lumMod val="50000"/>
              </a:schemeClr>
            </a:solidFill>
          </p:spPr>
          <p:txBody>
            <a:bodyPr wrap="square" rtlCol="0">
              <a:spAutoFit/>
            </a:bodyPr>
            <a:lstStyle/>
            <a:p>
              <a:r>
                <a:rPr lang="en-US" sz="2000" dirty="0"/>
                <a:t>End.</a:t>
              </a:r>
            </a:p>
            <a:p>
              <a:r>
                <a:rPr lang="en-US" sz="2000" dirty="0"/>
                <a:t>Inv.</a:t>
              </a:r>
            </a:p>
            <a:p>
              <a:endParaRPr lang="en-US" dirty="0"/>
            </a:p>
          </p:txBody>
        </p:sp>
        <p:sp>
          <p:nvSpPr>
            <p:cNvPr id="9" name="TextBox 8"/>
            <p:cNvSpPr txBox="1"/>
            <p:nvPr/>
          </p:nvSpPr>
          <p:spPr>
            <a:xfrm>
              <a:off x="3167844" y="2022109"/>
              <a:ext cx="594066" cy="561596"/>
            </a:xfrm>
            <a:prstGeom prst="rect">
              <a:avLst/>
            </a:prstGeom>
            <a:solidFill>
              <a:srgbClr val="92D050"/>
            </a:solidFill>
          </p:spPr>
          <p:txBody>
            <a:bodyPr wrap="square" rtlCol="0">
              <a:spAutoFit/>
            </a:bodyPr>
            <a:lstStyle/>
            <a:p>
              <a:endParaRPr lang="en-US" sz="2133" dirty="0"/>
            </a:p>
            <a:p>
              <a:endParaRPr lang="en-US" sz="2133" dirty="0"/>
            </a:p>
          </p:txBody>
        </p:sp>
      </p:grpSp>
      <p:sp>
        <p:nvSpPr>
          <p:cNvPr id="10" name="Right Arrow 9"/>
          <p:cNvSpPr/>
          <p:nvPr/>
        </p:nvSpPr>
        <p:spPr>
          <a:xfrm>
            <a:off x="1847528" y="2060848"/>
            <a:ext cx="1944216" cy="432048"/>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0" y="1268760"/>
            <a:ext cx="3503712" cy="1938992"/>
          </a:xfrm>
          <a:prstGeom prst="rect">
            <a:avLst/>
          </a:prstGeom>
          <a:noFill/>
        </p:spPr>
        <p:txBody>
          <a:bodyPr wrap="square" rtlCol="0">
            <a:spAutoFit/>
          </a:bodyPr>
          <a:lstStyle/>
          <a:p>
            <a:pPr algn="ctr"/>
            <a:r>
              <a:rPr lang="en-US" sz="2400" dirty="0"/>
              <a:t>Components purchases including all expenses needed to have components available in inventory</a:t>
            </a:r>
          </a:p>
        </p:txBody>
      </p:sp>
      <p:sp>
        <p:nvSpPr>
          <p:cNvPr id="12" name="TextBox 11"/>
          <p:cNvSpPr txBox="1"/>
          <p:nvPr/>
        </p:nvSpPr>
        <p:spPr>
          <a:xfrm>
            <a:off x="3119669" y="1028734"/>
            <a:ext cx="2108064" cy="830997"/>
          </a:xfrm>
          <a:prstGeom prst="rect">
            <a:avLst/>
          </a:prstGeom>
          <a:noFill/>
        </p:spPr>
        <p:txBody>
          <a:bodyPr wrap="square" rtlCol="0">
            <a:spAutoFit/>
          </a:bodyPr>
          <a:lstStyle/>
          <a:p>
            <a:pPr algn="ctr"/>
            <a:r>
              <a:rPr lang="en-US" sz="2400" dirty="0"/>
              <a:t>Components inventory</a:t>
            </a:r>
          </a:p>
        </p:txBody>
      </p:sp>
      <p:grpSp>
        <p:nvGrpSpPr>
          <p:cNvPr id="20" name="Group 19">
            <a:extLst>
              <a:ext uri="{FF2B5EF4-FFF2-40B4-BE49-F238E27FC236}">
                <a16:creationId xmlns:a16="http://schemas.microsoft.com/office/drawing/2014/main" id="{5EA400C2-E803-437D-8C07-5B7A3DEA9ABE}"/>
              </a:ext>
            </a:extLst>
          </p:cNvPr>
          <p:cNvGrpSpPr/>
          <p:nvPr/>
        </p:nvGrpSpPr>
        <p:grpSpPr>
          <a:xfrm>
            <a:off x="3476819" y="4366847"/>
            <a:ext cx="1584176" cy="1884548"/>
            <a:chOff x="2607614" y="3275134"/>
            <a:chExt cx="1188132" cy="1413411"/>
          </a:xfrm>
        </p:grpSpPr>
        <p:sp>
          <p:nvSpPr>
            <p:cNvPr id="13" name="TextBox 12"/>
            <p:cNvSpPr txBox="1"/>
            <p:nvPr/>
          </p:nvSpPr>
          <p:spPr>
            <a:xfrm>
              <a:off x="2607614" y="3275134"/>
              <a:ext cx="594066" cy="692498"/>
            </a:xfrm>
            <a:prstGeom prst="rect">
              <a:avLst/>
            </a:prstGeom>
            <a:solidFill>
              <a:schemeClr val="accent1">
                <a:lumMod val="20000"/>
                <a:lumOff val="80000"/>
              </a:schemeClr>
            </a:solidFill>
          </p:spPr>
          <p:txBody>
            <a:bodyPr wrap="square" rtlCol="0">
              <a:spAutoFit/>
            </a:bodyPr>
            <a:lstStyle/>
            <a:p>
              <a:endParaRPr lang="en-US" dirty="0"/>
            </a:p>
            <a:p>
              <a:endParaRPr lang="en-US" dirty="0"/>
            </a:p>
            <a:p>
              <a:endParaRPr lang="en-US" dirty="0"/>
            </a:p>
          </p:txBody>
        </p:sp>
        <p:sp>
          <p:nvSpPr>
            <p:cNvPr id="14" name="TextBox 13"/>
            <p:cNvSpPr txBox="1"/>
            <p:nvPr/>
          </p:nvSpPr>
          <p:spPr>
            <a:xfrm>
              <a:off x="2607614" y="3996734"/>
              <a:ext cx="594066" cy="669414"/>
            </a:xfrm>
            <a:prstGeom prst="rect">
              <a:avLst/>
            </a:prstGeom>
            <a:solidFill>
              <a:schemeClr val="bg1">
                <a:lumMod val="50000"/>
              </a:schemeClr>
            </a:solidFill>
          </p:spPr>
          <p:txBody>
            <a:bodyPr wrap="square" rtlCol="0">
              <a:spAutoFit/>
            </a:bodyPr>
            <a:lstStyle/>
            <a:p>
              <a:r>
                <a:rPr lang="en-US" sz="2000" dirty="0"/>
                <a:t>Op.</a:t>
              </a:r>
            </a:p>
            <a:p>
              <a:r>
                <a:rPr lang="en-US" sz="2000" dirty="0"/>
                <a:t>Inv.</a:t>
              </a:r>
            </a:p>
            <a:p>
              <a:endParaRPr lang="en-US" sz="1200" dirty="0"/>
            </a:p>
          </p:txBody>
        </p:sp>
        <p:sp>
          <p:nvSpPr>
            <p:cNvPr id="15" name="TextBox 14"/>
            <p:cNvSpPr txBox="1"/>
            <p:nvPr/>
          </p:nvSpPr>
          <p:spPr>
            <a:xfrm>
              <a:off x="3201680" y="3275134"/>
              <a:ext cx="594066" cy="530915"/>
            </a:xfrm>
            <a:prstGeom prst="rect">
              <a:avLst/>
            </a:prstGeom>
            <a:solidFill>
              <a:schemeClr val="bg1">
                <a:lumMod val="50000"/>
              </a:schemeClr>
            </a:solidFill>
          </p:spPr>
          <p:txBody>
            <a:bodyPr wrap="square" rtlCol="0">
              <a:spAutoFit/>
            </a:bodyPr>
            <a:lstStyle/>
            <a:p>
              <a:r>
                <a:rPr lang="en-US" sz="2000" dirty="0"/>
                <a:t>End.</a:t>
              </a:r>
            </a:p>
            <a:p>
              <a:r>
                <a:rPr lang="en-US" sz="2000" dirty="0"/>
                <a:t>Inv.</a:t>
              </a:r>
            </a:p>
          </p:txBody>
        </p:sp>
        <p:sp>
          <p:nvSpPr>
            <p:cNvPr id="16" name="TextBox 15"/>
            <p:cNvSpPr txBox="1"/>
            <p:nvPr/>
          </p:nvSpPr>
          <p:spPr>
            <a:xfrm>
              <a:off x="3201680" y="3788298"/>
              <a:ext cx="594066" cy="900247"/>
            </a:xfrm>
            <a:prstGeom prst="rect">
              <a:avLst/>
            </a:prstGeom>
            <a:solidFill>
              <a:srgbClr val="92D050"/>
            </a:solidFill>
          </p:spPr>
          <p:txBody>
            <a:bodyPr wrap="square" rtlCol="0">
              <a:spAutoFit/>
            </a:bodyPr>
            <a:lstStyle/>
            <a:p>
              <a:endParaRPr lang="en-US" dirty="0"/>
            </a:p>
            <a:p>
              <a:endParaRPr lang="en-US" dirty="0"/>
            </a:p>
            <a:p>
              <a:endParaRPr lang="en-US" dirty="0"/>
            </a:p>
            <a:p>
              <a:endParaRPr lang="en-US" dirty="0"/>
            </a:p>
          </p:txBody>
        </p:sp>
      </p:grpSp>
      <p:sp>
        <p:nvSpPr>
          <p:cNvPr id="17" name="Right Arrow 16"/>
          <p:cNvSpPr/>
          <p:nvPr/>
        </p:nvSpPr>
        <p:spPr>
          <a:xfrm>
            <a:off x="1892643" y="4654877"/>
            <a:ext cx="1944216" cy="432048"/>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43339" y="4036807"/>
            <a:ext cx="3189464" cy="1569660"/>
          </a:xfrm>
          <a:prstGeom prst="rect">
            <a:avLst/>
          </a:prstGeom>
          <a:noFill/>
        </p:spPr>
        <p:txBody>
          <a:bodyPr wrap="square" rtlCol="0">
            <a:spAutoFit/>
          </a:bodyPr>
          <a:lstStyle/>
          <a:p>
            <a:pPr algn="ctr"/>
            <a:r>
              <a:rPr lang="en-US" sz="2400" dirty="0"/>
              <a:t>bikes purchases including all expenses needed to have bikes available in inventory</a:t>
            </a:r>
          </a:p>
        </p:txBody>
      </p:sp>
      <p:sp>
        <p:nvSpPr>
          <p:cNvPr id="19" name="TextBox 18"/>
          <p:cNvSpPr txBox="1"/>
          <p:nvPr/>
        </p:nvSpPr>
        <p:spPr>
          <a:xfrm>
            <a:off x="3263686" y="3525011"/>
            <a:ext cx="2064229" cy="830997"/>
          </a:xfrm>
          <a:prstGeom prst="rect">
            <a:avLst/>
          </a:prstGeom>
          <a:noFill/>
        </p:spPr>
        <p:txBody>
          <a:bodyPr wrap="square" rtlCol="0">
            <a:spAutoFit/>
          </a:bodyPr>
          <a:lstStyle/>
          <a:p>
            <a:pPr algn="ctr"/>
            <a:r>
              <a:rPr lang="en-US" sz="2400" dirty="0"/>
              <a:t>bikes inventory</a:t>
            </a:r>
          </a:p>
        </p:txBody>
      </p:sp>
      <p:sp>
        <p:nvSpPr>
          <p:cNvPr id="25" name="TextBox 24"/>
          <p:cNvSpPr txBox="1"/>
          <p:nvPr/>
        </p:nvSpPr>
        <p:spPr>
          <a:xfrm>
            <a:off x="5015880" y="3857175"/>
            <a:ext cx="2232248" cy="1077026"/>
          </a:xfrm>
          <a:prstGeom prst="rect">
            <a:avLst/>
          </a:prstGeom>
          <a:noFill/>
        </p:spPr>
        <p:txBody>
          <a:bodyPr wrap="square" rtlCol="0">
            <a:spAutoFit/>
          </a:bodyPr>
          <a:lstStyle/>
          <a:p>
            <a:pPr algn="ctr"/>
            <a:r>
              <a:rPr lang="en-US" sz="2133" dirty="0"/>
              <a:t>Other manufacturing cost</a:t>
            </a:r>
          </a:p>
        </p:txBody>
      </p:sp>
      <p:grpSp>
        <p:nvGrpSpPr>
          <p:cNvPr id="21" name="Group 20">
            <a:extLst>
              <a:ext uri="{FF2B5EF4-FFF2-40B4-BE49-F238E27FC236}">
                <a16:creationId xmlns:a16="http://schemas.microsoft.com/office/drawing/2014/main" id="{4653ABC9-54F3-4D9A-9B44-3FD5E72A366E}"/>
              </a:ext>
            </a:extLst>
          </p:cNvPr>
          <p:cNvGrpSpPr/>
          <p:nvPr/>
        </p:nvGrpSpPr>
        <p:grpSpPr>
          <a:xfrm>
            <a:off x="7248128" y="4221089"/>
            <a:ext cx="3446067" cy="2506680"/>
            <a:chOff x="5436096" y="3165816"/>
            <a:chExt cx="2584550" cy="1880010"/>
          </a:xfrm>
        </p:grpSpPr>
        <p:sp>
          <p:nvSpPr>
            <p:cNvPr id="26" name="TextBox 25"/>
            <p:cNvSpPr txBox="1"/>
            <p:nvPr/>
          </p:nvSpPr>
          <p:spPr>
            <a:xfrm>
              <a:off x="5436096" y="3177814"/>
              <a:ext cx="1288407" cy="1615827"/>
            </a:xfrm>
            <a:prstGeom prst="rect">
              <a:avLst/>
            </a:prstGeom>
            <a:solidFill>
              <a:schemeClr val="accent1">
                <a:lumMod val="20000"/>
                <a:lumOff val="80000"/>
              </a:schemeClr>
            </a:solidFill>
          </p:spPr>
          <p:txBody>
            <a:bodyPr wrap="square" rtlCol="0">
              <a:spAutoFit/>
            </a:bodyPr>
            <a:lstStyle/>
            <a:p>
              <a:endParaRPr lang="en-US" dirty="0"/>
            </a:p>
            <a:p>
              <a:r>
                <a:rPr lang="en-US" sz="2000" dirty="0"/>
                <a:t>Cost of goods manufactured (COGM)</a:t>
              </a:r>
            </a:p>
            <a:p>
              <a:endParaRPr lang="en-US" dirty="0"/>
            </a:p>
            <a:p>
              <a:endParaRPr lang="en-US" dirty="0"/>
            </a:p>
          </p:txBody>
        </p:sp>
        <p:sp>
          <p:nvSpPr>
            <p:cNvPr id="27" name="TextBox 26"/>
            <p:cNvSpPr txBox="1"/>
            <p:nvPr/>
          </p:nvSpPr>
          <p:spPr>
            <a:xfrm>
              <a:off x="5436096" y="4479276"/>
              <a:ext cx="1296144" cy="530915"/>
            </a:xfrm>
            <a:prstGeom prst="rect">
              <a:avLst/>
            </a:prstGeom>
            <a:solidFill>
              <a:schemeClr val="bg1">
                <a:lumMod val="50000"/>
              </a:schemeClr>
            </a:solidFill>
          </p:spPr>
          <p:txBody>
            <a:bodyPr wrap="square" rtlCol="0">
              <a:spAutoFit/>
            </a:bodyPr>
            <a:lstStyle/>
            <a:p>
              <a:r>
                <a:rPr lang="en-US" sz="2000" dirty="0"/>
                <a:t>Opening</a:t>
              </a:r>
            </a:p>
            <a:p>
              <a:r>
                <a:rPr lang="en-US" sz="2000" dirty="0"/>
                <a:t>Inventory</a:t>
              </a:r>
            </a:p>
          </p:txBody>
        </p:sp>
        <p:sp>
          <p:nvSpPr>
            <p:cNvPr id="28" name="TextBox 27"/>
            <p:cNvSpPr txBox="1"/>
            <p:nvPr/>
          </p:nvSpPr>
          <p:spPr>
            <a:xfrm>
              <a:off x="6732240" y="3165816"/>
              <a:ext cx="1288406" cy="969497"/>
            </a:xfrm>
            <a:prstGeom prst="rect">
              <a:avLst/>
            </a:prstGeom>
            <a:solidFill>
              <a:schemeClr val="bg1">
                <a:lumMod val="50000"/>
              </a:schemeClr>
            </a:solidFill>
          </p:spPr>
          <p:txBody>
            <a:bodyPr wrap="square" rtlCol="0">
              <a:spAutoFit/>
            </a:bodyPr>
            <a:lstStyle/>
            <a:p>
              <a:r>
                <a:rPr lang="en-US" sz="2000" dirty="0"/>
                <a:t>Ending</a:t>
              </a:r>
            </a:p>
            <a:p>
              <a:r>
                <a:rPr lang="en-US" sz="2000" dirty="0"/>
                <a:t>Inventory</a:t>
              </a:r>
            </a:p>
            <a:p>
              <a:endParaRPr lang="en-US" sz="2000" dirty="0"/>
            </a:p>
            <a:p>
              <a:endParaRPr lang="en-US" dirty="0"/>
            </a:p>
          </p:txBody>
        </p:sp>
        <p:sp>
          <p:nvSpPr>
            <p:cNvPr id="29" name="TextBox 28"/>
            <p:cNvSpPr txBox="1"/>
            <p:nvPr/>
          </p:nvSpPr>
          <p:spPr>
            <a:xfrm>
              <a:off x="6732239" y="4076330"/>
              <a:ext cx="1288407" cy="969496"/>
            </a:xfrm>
            <a:prstGeom prst="rect">
              <a:avLst/>
            </a:prstGeom>
            <a:solidFill>
              <a:srgbClr val="92D050"/>
            </a:solidFill>
          </p:spPr>
          <p:txBody>
            <a:bodyPr wrap="square" rtlCol="0">
              <a:spAutoFit/>
            </a:bodyPr>
            <a:lstStyle/>
            <a:p>
              <a:endParaRPr lang="en-US" dirty="0"/>
            </a:p>
            <a:p>
              <a:r>
                <a:rPr lang="en-US" sz="2000" dirty="0"/>
                <a:t>Cost of goods sold (COGS)</a:t>
              </a:r>
            </a:p>
          </p:txBody>
        </p:sp>
      </p:grpSp>
      <p:sp>
        <p:nvSpPr>
          <p:cNvPr id="30" name="TextBox 29"/>
          <p:cNvSpPr txBox="1"/>
          <p:nvPr/>
        </p:nvSpPr>
        <p:spPr>
          <a:xfrm>
            <a:off x="7603634" y="3700966"/>
            <a:ext cx="2452807" cy="461665"/>
          </a:xfrm>
          <a:prstGeom prst="rect">
            <a:avLst/>
          </a:prstGeom>
          <a:noFill/>
        </p:spPr>
        <p:txBody>
          <a:bodyPr wrap="square" rtlCol="0">
            <a:spAutoFit/>
          </a:bodyPr>
          <a:lstStyle/>
          <a:p>
            <a:pPr algn="ctr"/>
            <a:r>
              <a:rPr lang="en-US" sz="2400" dirty="0" err="1"/>
              <a:t>ebikes</a:t>
            </a:r>
            <a:r>
              <a:rPr lang="en-US" sz="2400" dirty="0"/>
              <a:t> inventory</a:t>
            </a:r>
          </a:p>
        </p:txBody>
      </p:sp>
      <p:sp>
        <p:nvSpPr>
          <p:cNvPr id="32" name="TextBox 31"/>
          <p:cNvSpPr txBox="1"/>
          <p:nvPr/>
        </p:nvSpPr>
        <p:spPr>
          <a:xfrm>
            <a:off x="7728181" y="1220755"/>
            <a:ext cx="2760307" cy="2308324"/>
          </a:xfrm>
          <a:prstGeom prst="rect">
            <a:avLst/>
          </a:prstGeom>
          <a:solidFill>
            <a:schemeClr val="accent1">
              <a:lumMod val="20000"/>
              <a:lumOff val="80000"/>
            </a:schemeClr>
          </a:solidFill>
        </p:spPr>
        <p:txBody>
          <a:bodyPr wrap="square" rtlCol="0">
            <a:spAutoFit/>
          </a:bodyPr>
          <a:lstStyle/>
          <a:p>
            <a:pPr algn="ctr"/>
            <a:r>
              <a:rPr lang="en-US" sz="2400" b="1" dirty="0"/>
              <a:t>P&amp;L</a:t>
            </a:r>
          </a:p>
          <a:p>
            <a:r>
              <a:rPr lang="en-US" sz="2400" dirty="0"/>
              <a:t>Sales revenue</a:t>
            </a:r>
          </a:p>
          <a:p>
            <a:r>
              <a:rPr lang="en-US" sz="2400" dirty="0"/>
              <a:t>Cost of sales</a:t>
            </a:r>
          </a:p>
          <a:p>
            <a:r>
              <a:rPr lang="en-US" sz="2400" dirty="0"/>
              <a:t>Gross profit</a:t>
            </a:r>
          </a:p>
          <a:p>
            <a:r>
              <a:rPr lang="en-US" sz="2400" dirty="0"/>
              <a:t>S,G&amp;A expenses</a:t>
            </a:r>
          </a:p>
          <a:p>
            <a:r>
              <a:rPr lang="en-US" sz="2400" dirty="0"/>
              <a:t>Operating profit</a:t>
            </a:r>
            <a:endParaRPr lang="en-US" dirty="0"/>
          </a:p>
        </p:txBody>
      </p:sp>
      <p:sp>
        <p:nvSpPr>
          <p:cNvPr id="33" name="Curved Up Arrow 32"/>
          <p:cNvSpPr/>
          <p:nvPr/>
        </p:nvSpPr>
        <p:spPr>
          <a:xfrm rot="15632470">
            <a:off x="8488840" y="3487490"/>
            <a:ext cx="3773727" cy="692477"/>
          </a:xfrm>
          <a:prstGeom prst="curvedUpArrow">
            <a:avLst>
              <a:gd name="adj1" fmla="val 0"/>
              <a:gd name="adj2" fmla="val 50000"/>
              <a:gd name="adj3" fmla="val 25000"/>
            </a:avLst>
          </a:prstGeom>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Right Arrow 33"/>
          <p:cNvSpPr/>
          <p:nvPr/>
        </p:nvSpPr>
        <p:spPr>
          <a:xfrm>
            <a:off x="5445869" y="4808186"/>
            <a:ext cx="1988103" cy="421015"/>
          </a:xfrm>
          <a:prstGeom prst="rightArrow">
            <a:avLst/>
          </a:prstGeom>
          <a:solidFill>
            <a:schemeClr val="accent1">
              <a:lumMod val="20000"/>
              <a:lumOff val="80000"/>
            </a:schemeClr>
          </a:solidFill>
          <a:ln>
            <a:solidFill>
              <a:srgbClr val="0B7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ight Arrow 34"/>
          <p:cNvSpPr/>
          <p:nvPr/>
        </p:nvSpPr>
        <p:spPr>
          <a:xfrm>
            <a:off x="4619837" y="5468887"/>
            <a:ext cx="2814135" cy="469360"/>
          </a:xfrm>
          <a:prstGeom prst="rightArrow">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ight Arrow 35"/>
          <p:cNvSpPr/>
          <p:nvPr/>
        </p:nvSpPr>
        <p:spPr>
          <a:xfrm rot="1903914">
            <a:off x="4645093" y="3450515"/>
            <a:ext cx="3102811" cy="432048"/>
          </a:xfrm>
          <a:prstGeom prst="rightArrow">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22"/>
          <p:cNvSpPr txBox="1"/>
          <p:nvPr/>
        </p:nvSpPr>
        <p:spPr>
          <a:xfrm>
            <a:off x="5087888" y="5241588"/>
            <a:ext cx="1893320" cy="748795"/>
          </a:xfrm>
          <a:prstGeom prst="rect">
            <a:avLst/>
          </a:prstGeom>
          <a:noFill/>
        </p:spPr>
        <p:txBody>
          <a:bodyPr wrap="square" rtlCol="0">
            <a:spAutoFit/>
          </a:bodyPr>
          <a:lstStyle/>
          <a:p>
            <a:pPr algn="ctr"/>
            <a:r>
              <a:rPr lang="en-US" sz="2133" dirty="0"/>
              <a:t>bikes used for production</a:t>
            </a:r>
          </a:p>
        </p:txBody>
      </p:sp>
      <p:sp>
        <p:nvSpPr>
          <p:cNvPr id="38" name="TextBox 37">
            <a:extLst>
              <a:ext uri="{FF2B5EF4-FFF2-40B4-BE49-F238E27FC236}">
                <a16:creationId xmlns:a16="http://schemas.microsoft.com/office/drawing/2014/main" id="{20390779-A244-4EA2-A3D2-740247BA217E}"/>
              </a:ext>
            </a:extLst>
          </p:cNvPr>
          <p:cNvSpPr txBox="1"/>
          <p:nvPr/>
        </p:nvSpPr>
        <p:spPr>
          <a:xfrm>
            <a:off x="4943872" y="3129353"/>
            <a:ext cx="2572455" cy="748795"/>
          </a:xfrm>
          <a:prstGeom prst="rect">
            <a:avLst/>
          </a:prstGeom>
          <a:noFill/>
        </p:spPr>
        <p:txBody>
          <a:bodyPr wrap="square" rtlCol="0">
            <a:spAutoFit/>
          </a:bodyPr>
          <a:lstStyle/>
          <a:p>
            <a:pPr algn="ctr"/>
            <a:r>
              <a:rPr lang="en-US" sz="2133" dirty="0"/>
              <a:t>Components used for production</a:t>
            </a:r>
          </a:p>
        </p:txBody>
      </p:sp>
    </p:spTree>
    <p:extLst>
      <p:ext uri="{BB962C8B-B14F-4D97-AF65-F5344CB8AC3E}">
        <p14:creationId xmlns:p14="http://schemas.microsoft.com/office/powerpoint/2010/main" val="201576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fill="hold"/>
                                        <p:tgtEl>
                                          <p:spTgt spid="30"/>
                                        </p:tgtEl>
                                        <p:attrNameLst>
                                          <p:attrName>ppt_x</p:attrName>
                                        </p:attrNameLst>
                                      </p:cBhvr>
                                      <p:tavLst>
                                        <p:tav tm="0">
                                          <p:val>
                                            <p:strVal val="#ppt_x"/>
                                          </p:val>
                                        </p:tav>
                                        <p:tav tm="100000">
                                          <p:val>
                                            <p:strVal val="#ppt_x"/>
                                          </p:val>
                                        </p:tav>
                                      </p:tavLst>
                                    </p:anim>
                                    <p:anim calcmode="lin" valueType="num">
                                      <p:cBhvr additive="base">
                                        <p:cTn id="3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1000"/>
                                        <p:tgtEl>
                                          <p:spTgt spid="32"/>
                                        </p:tgtEl>
                                      </p:cBhvr>
                                    </p:animEffect>
                                    <p:anim calcmode="lin" valueType="num">
                                      <p:cBhvr>
                                        <p:cTn id="36" dur="1000" fill="hold"/>
                                        <p:tgtEl>
                                          <p:spTgt spid="32"/>
                                        </p:tgtEl>
                                        <p:attrNameLst>
                                          <p:attrName>ppt_x</p:attrName>
                                        </p:attrNameLst>
                                      </p:cBhvr>
                                      <p:tavLst>
                                        <p:tav tm="0">
                                          <p:val>
                                            <p:strVal val="#ppt_x"/>
                                          </p:val>
                                        </p:tav>
                                        <p:tav tm="100000">
                                          <p:val>
                                            <p:strVal val="#ppt_x"/>
                                          </p:val>
                                        </p:tav>
                                      </p:tavLst>
                                    </p:anim>
                                    <p:anim calcmode="lin" valueType="num">
                                      <p:cBhvr>
                                        <p:cTn id="37" dur="1000" fill="hold"/>
                                        <p:tgtEl>
                                          <p:spTgt spid="32"/>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1000"/>
                                        <p:tgtEl>
                                          <p:spTgt spid="33"/>
                                        </p:tgtEl>
                                      </p:cBhvr>
                                    </p:animEffect>
                                    <p:anim calcmode="lin" valueType="num">
                                      <p:cBhvr>
                                        <p:cTn id="41" dur="1000" fill="hold"/>
                                        <p:tgtEl>
                                          <p:spTgt spid="33"/>
                                        </p:tgtEl>
                                        <p:attrNameLst>
                                          <p:attrName>ppt_x</p:attrName>
                                        </p:attrNameLst>
                                      </p:cBhvr>
                                      <p:tavLst>
                                        <p:tav tm="0">
                                          <p:val>
                                            <p:strVal val="#ppt_x"/>
                                          </p:val>
                                        </p:tav>
                                        <p:tav tm="100000">
                                          <p:val>
                                            <p:strVal val="#ppt_x"/>
                                          </p:val>
                                        </p:tav>
                                      </p:tavLst>
                                    </p:anim>
                                    <p:anim calcmode="lin" valueType="num">
                                      <p:cBhvr>
                                        <p:cTn id="4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500" fill="hold"/>
                                        <p:tgtEl>
                                          <p:spTgt spid="38"/>
                                        </p:tgtEl>
                                        <p:attrNameLst>
                                          <p:attrName>ppt_x</p:attrName>
                                        </p:attrNameLst>
                                      </p:cBhvr>
                                      <p:tavLst>
                                        <p:tav tm="0">
                                          <p:val>
                                            <p:strVal val="#ppt_x"/>
                                          </p:val>
                                        </p:tav>
                                        <p:tav tm="100000">
                                          <p:val>
                                            <p:strVal val="#ppt_x"/>
                                          </p:val>
                                        </p:tav>
                                      </p:tavLst>
                                    </p:anim>
                                    <p:anim calcmode="lin" valueType="num">
                                      <p:cBhvr additive="base">
                                        <p:cTn id="4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0" grpId="0"/>
      <p:bldP spid="32" grpId="0" animBg="1"/>
      <p:bldP spid="33" grpId="0" animBg="1"/>
      <p:bldP spid="34" grpId="0" animBg="1"/>
      <p:bldP spid="35" grpId="0" animBg="1"/>
      <p:bldP spid="36" grpId="0" animBg="1"/>
      <p:bldP spid="37" grpId="0"/>
      <p:bldP spid="3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a:xfrm>
            <a:off x="8260439" y="6428847"/>
            <a:ext cx="2133600" cy="365125"/>
          </a:xfrm>
        </p:spPr>
        <p:txBody>
          <a:bodyPr/>
          <a:lstStyle/>
          <a:p>
            <a:pPr algn="r"/>
            <a:fld id="{307C7597-8D70-4701-8085-9524B0B5C72B}" type="slidenum">
              <a:rPr lang="fr-FR" smtClean="0"/>
              <a:pPr algn="r"/>
              <a:t>60</a:t>
            </a:fld>
            <a:endParaRPr lang="fr-FR" dirty="0"/>
          </a:p>
        </p:txBody>
      </p:sp>
      <p:sp>
        <p:nvSpPr>
          <p:cNvPr id="4" name="Titre 3"/>
          <p:cNvSpPr>
            <a:spLocks noGrp="1"/>
          </p:cNvSpPr>
          <p:nvPr>
            <p:ph type="title"/>
          </p:nvPr>
        </p:nvSpPr>
        <p:spPr/>
        <p:txBody>
          <a:bodyPr/>
          <a:lstStyle/>
          <a:p>
            <a:r>
              <a:rPr lang="en-US" dirty="0"/>
              <a:t>P&amp;L with operating expense by nature</a:t>
            </a:r>
          </a:p>
        </p:txBody>
      </p:sp>
    </p:spTree>
    <p:extLst>
      <p:ext uri="{BB962C8B-B14F-4D97-AF65-F5344CB8AC3E}">
        <p14:creationId xmlns:p14="http://schemas.microsoft.com/office/powerpoint/2010/main" val="3591360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pPr algn="r"/>
            <a:fld id="{307C7597-8D70-4701-8085-9524B0B5C72B}" type="slidenum">
              <a:rPr lang="fr-FR" smtClean="0"/>
              <a:pPr algn="r"/>
              <a:t>61</a:t>
            </a:fld>
            <a:endParaRPr lang="fr-FR"/>
          </a:p>
        </p:txBody>
      </p:sp>
      <p:sp>
        <p:nvSpPr>
          <p:cNvPr id="4" name="Titre 3"/>
          <p:cNvSpPr>
            <a:spLocks noGrp="1"/>
          </p:cNvSpPr>
          <p:nvPr>
            <p:ph type="title"/>
          </p:nvPr>
        </p:nvSpPr>
        <p:spPr/>
        <p:txBody>
          <a:bodyPr/>
          <a:lstStyle/>
          <a:p>
            <a:r>
              <a:rPr lang="en-US" dirty="0"/>
              <a:t>Additional information</a:t>
            </a:r>
          </a:p>
        </p:txBody>
      </p:sp>
      <p:sp>
        <p:nvSpPr>
          <p:cNvPr id="7" name="Subtitle 6">
            <a:extLst>
              <a:ext uri="{FF2B5EF4-FFF2-40B4-BE49-F238E27FC236}">
                <a16:creationId xmlns:a16="http://schemas.microsoft.com/office/drawing/2014/main" id="{2726E826-7ACC-4BFF-9789-152956A147B9}"/>
              </a:ext>
            </a:extLst>
          </p:cNvPr>
          <p:cNvSpPr>
            <a:spLocks noGrp="1"/>
          </p:cNvSpPr>
          <p:nvPr>
            <p:ph type="subTitle" idx="13"/>
          </p:nvPr>
        </p:nvSpPr>
        <p:spPr/>
        <p:txBody>
          <a:bodyPr/>
          <a:lstStyle/>
          <a:p>
            <a:r>
              <a:rPr lang="en-US" dirty="0"/>
              <a:t>Create the P&amp;L with expenses by function</a:t>
            </a:r>
          </a:p>
        </p:txBody>
      </p:sp>
      <p:graphicFrame>
        <p:nvGraphicFramePr>
          <p:cNvPr id="10" name="Espace réservé du contenu 5">
            <a:extLst>
              <a:ext uri="{FF2B5EF4-FFF2-40B4-BE49-F238E27FC236}">
                <a16:creationId xmlns:a16="http://schemas.microsoft.com/office/drawing/2014/main" id="{EA22016C-782F-44F8-B43E-B3F7B6C50CAD}"/>
              </a:ext>
            </a:extLst>
          </p:cNvPr>
          <p:cNvGraphicFramePr>
            <a:graphicFrameLocks/>
          </p:cNvGraphicFramePr>
          <p:nvPr/>
        </p:nvGraphicFramePr>
        <p:xfrm>
          <a:off x="623392" y="1623633"/>
          <a:ext cx="11137161" cy="3242437"/>
        </p:xfrm>
        <a:graphic>
          <a:graphicData uri="http://schemas.openxmlformats.org/drawingml/2006/table">
            <a:tbl>
              <a:tblPr firstRow="1" bandRow="1">
                <a:tableStyleId>{5C22544A-7EE6-4342-B048-85BDC9FD1C3A}</a:tableStyleId>
              </a:tblPr>
              <a:tblGrid>
                <a:gridCol w="6624737">
                  <a:extLst>
                    <a:ext uri="{9D8B030D-6E8A-4147-A177-3AD203B41FA5}">
                      <a16:colId xmlns:a16="http://schemas.microsoft.com/office/drawing/2014/main" val="1791084069"/>
                    </a:ext>
                  </a:extLst>
                </a:gridCol>
                <a:gridCol w="2545811">
                  <a:extLst>
                    <a:ext uri="{9D8B030D-6E8A-4147-A177-3AD203B41FA5}">
                      <a16:colId xmlns:a16="http://schemas.microsoft.com/office/drawing/2014/main" val="4228817509"/>
                    </a:ext>
                  </a:extLst>
                </a:gridCol>
                <a:gridCol w="1966613">
                  <a:extLst>
                    <a:ext uri="{9D8B030D-6E8A-4147-A177-3AD203B41FA5}">
                      <a16:colId xmlns:a16="http://schemas.microsoft.com/office/drawing/2014/main" val="471407024"/>
                    </a:ext>
                  </a:extLst>
                </a:gridCol>
              </a:tblGrid>
              <a:tr h="1066800">
                <a:tc>
                  <a:txBody>
                    <a:bodyPr/>
                    <a:lstStyle/>
                    <a:p>
                      <a:endParaRPr lang="en-US" sz="2400" dirty="0"/>
                    </a:p>
                  </a:txBody>
                  <a:tcPr>
                    <a:noFill/>
                  </a:tcPr>
                </a:tc>
                <a:tc>
                  <a:txBody>
                    <a:bodyPr/>
                    <a:lstStyle/>
                    <a:p>
                      <a:pPr algn="ctr"/>
                      <a:r>
                        <a:rPr lang="en-US" sz="3200" b="0" dirty="0" err="1">
                          <a:solidFill>
                            <a:schemeClr val="tx1"/>
                          </a:solidFill>
                        </a:rPr>
                        <a:t>Manufactu</a:t>
                      </a:r>
                      <a:r>
                        <a:rPr lang="en-US" sz="3200" b="0" dirty="0">
                          <a:solidFill>
                            <a:schemeClr val="tx1"/>
                          </a:solidFill>
                        </a:rPr>
                        <a:t>-ring</a:t>
                      </a:r>
                      <a:r>
                        <a:rPr lang="en-US" sz="3200" b="0" baseline="0" dirty="0">
                          <a:solidFill>
                            <a:schemeClr val="tx1"/>
                          </a:solidFill>
                        </a:rPr>
                        <a:t> part</a:t>
                      </a:r>
                      <a:endParaRPr lang="en-US" sz="3200" b="0" dirty="0">
                        <a:solidFill>
                          <a:schemeClr val="tx1"/>
                        </a:solidFill>
                      </a:endParaRPr>
                    </a:p>
                  </a:txBody>
                  <a:tcPr>
                    <a:solidFill>
                      <a:schemeClr val="accent1">
                        <a:lumMod val="20000"/>
                        <a:lumOff val="80000"/>
                      </a:schemeClr>
                    </a:solidFill>
                  </a:tcPr>
                </a:tc>
                <a:tc>
                  <a:txBody>
                    <a:bodyPr/>
                    <a:lstStyle/>
                    <a:p>
                      <a:pPr algn="ctr"/>
                      <a:r>
                        <a:rPr lang="en-US" sz="3200" b="0" dirty="0">
                          <a:solidFill>
                            <a:schemeClr val="tx1"/>
                          </a:solidFill>
                        </a:rPr>
                        <a:t>S,G&amp;A part</a:t>
                      </a:r>
                    </a:p>
                  </a:txBody>
                  <a:tcPr>
                    <a:solidFill>
                      <a:schemeClr val="accent1">
                        <a:lumMod val="20000"/>
                        <a:lumOff val="80000"/>
                      </a:schemeClr>
                    </a:solidFill>
                  </a:tcPr>
                </a:tc>
                <a:extLst>
                  <a:ext uri="{0D108BD9-81ED-4DB2-BD59-A6C34878D82A}">
                    <a16:rowId xmlns:a16="http://schemas.microsoft.com/office/drawing/2014/main" val="4261604918"/>
                  </a:ext>
                </a:extLst>
              </a:tr>
              <a:tr h="579120">
                <a:tc>
                  <a:txBody>
                    <a:bodyPr/>
                    <a:lstStyle/>
                    <a:p>
                      <a:pPr>
                        <a:lnSpc>
                          <a:spcPct val="107000"/>
                        </a:lnSpc>
                        <a:spcAft>
                          <a:spcPts val="0"/>
                        </a:spcAft>
                      </a:pPr>
                      <a:r>
                        <a:rPr lang="en-US" sz="3200" b="0" dirty="0">
                          <a:solidFill>
                            <a:schemeClr val="tx1"/>
                          </a:solidFill>
                          <a:effectLst/>
                        </a:rPr>
                        <a:t>Employee cost</a:t>
                      </a:r>
                      <a:endParaRPr lang="en-US"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US" sz="3200" dirty="0"/>
                        <a:t>€60,000</a:t>
                      </a:r>
                    </a:p>
                  </a:txBody>
                  <a:tcPr/>
                </a:tc>
                <a:tc>
                  <a:txBody>
                    <a:bodyPr/>
                    <a:lstStyle/>
                    <a:p>
                      <a:pPr algn="r"/>
                      <a:r>
                        <a:rPr lang="en-US" sz="3200" dirty="0"/>
                        <a:t>€60,000</a:t>
                      </a:r>
                    </a:p>
                  </a:txBody>
                  <a:tcPr/>
                </a:tc>
                <a:extLst>
                  <a:ext uri="{0D108BD9-81ED-4DB2-BD59-A6C34878D82A}">
                    <a16:rowId xmlns:a16="http://schemas.microsoft.com/office/drawing/2014/main" val="737896005"/>
                  </a:ext>
                </a:extLst>
              </a:tr>
              <a:tr h="579120">
                <a:tc>
                  <a:txBody>
                    <a:bodyPr/>
                    <a:lstStyle/>
                    <a:p>
                      <a:pPr>
                        <a:lnSpc>
                          <a:spcPct val="107000"/>
                        </a:lnSpc>
                        <a:spcAft>
                          <a:spcPts val="0"/>
                        </a:spcAft>
                      </a:pPr>
                      <a:r>
                        <a:rPr lang="en-US" sz="3200" b="0" dirty="0">
                          <a:solidFill>
                            <a:schemeClr val="tx1"/>
                          </a:solidFill>
                          <a:effectLst/>
                        </a:rPr>
                        <a:t>Depreciation and amortization</a:t>
                      </a:r>
                      <a:endParaRPr lang="en-US"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US" sz="3200" dirty="0"/>
                        <a:t>€30,000</a:t>
                      </a:r>
                    </a:p>
                  </a:txBody>
                  <a:tcPr anchor="ctr"/>
                </a:tc>
                <a:tc>
                  <a:txBody>
                    <a:bodyPr/>
                    <a:lstStyle/>
                    <a:p>
                      <a:pPr algn="r"/>
                      <a:r>
                        <a:rPr lang="en-US" sz="3200" dirty="0"/>
                        <a:t>€40,000</a:t>
                      </a:r>
                    </a:p>
                  </a:txBody>
                  <a:tcPr anchor="ctr"/>
                </a:tc>
                <a:extLst>
                  <a:ext uri="{0D108BD9-81ED-4DB2-BD59-A6C34878D82A}">
                    <a16:rowId xmlns:a16="http://schemas.microsoft.com/office/drawing/2014/main" val="3520492022"/>
                  </a:ext>
                </a:extLst>
              </a:tr>
              <a:tr h="1017355">
                <a:tc>
                  <a:txBody>
                    <a:bodyPr/>
                    <a:lstStyle/>
                    <a:p>
                      <a:pPr>
                        <a:lnSpc>
                          <a:spcPct val="107000"/>
                        </a:lnSpc>
                        <a:spcAft>
                          <a:spcPts val="0"/>
                        </a:spcAft>
                      </a:pPr>
                      <a:r>
                        <a:rPr lang="en-US" sz="3200" b="0" dirty="0">
                          <a:solidFill>
                            <a:schemeClr val="tx1"/>
                          </a:solidFill>
                        </a:rPr>
                        <a:t>Purchases of material and supplies not for inventory</a:t>
                      </a:r>
                      <a:r>
                        <a:rPr lang="en-US" sz="3200" b="0" baseline="0" dirty="0">
                          <a:solidFill>
                            <a:schemeClr val="tx1"/>
                          </a:solidFill>
                        </a:rPr>
                        <a:t> (electricity, water)</a:t>
                      </a:r>
                      <a:endParaRPr lang="en-US"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US" sz="3200" dirty="0"/>
                        <a:t>€40,000</a:t>
                      </a:r>
                    </a:p>
                  </a:txBody>
                  <a:tcPr anchor="ctr"/>
                </a:tc>
                <a:tc>
                  <a:txBody>
                    <a:bodyPr/>
                    <a:lstStyle/>
                    <a:p>
                      <a:pPr algn="r"/>
                      <a:r>
                        <a:rPr lang="en-US" sz="3200" dirty="0"/>
                        <a:t>€20,000</a:t>
                      </a:r>
                    </a:p>
                  </a:txBody>
                  <a:tcPr anchor="ctr"/>
                </a:tc>
                <a:extLst>
                  <a:ext uri="{0D108BD9-81ED-4DB2-BD59-A6C34878D82A}">
                    <a16:rowId xmlns:a16="http://schemas.microsoft.com/office/drawing/2014/main" val="2599650469"/>
                  </a:ext>
                </a:extLst>
              </a:tr>
            </a:tbl>
          </a:graphicData>
        </a:graphic>
      </p:graphicFrame>
    </p:spTree>
    <p:extLst>
      <p:ext uri="{BB962C8B-B14F-4D97-AF65-F5344CB8AC3E}">
        <p14:creationId xmlns:p14="http://schemas.microsoft.com/office/powerpoint/2010/main" val="24471496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pPr algn="r"/>
            <a:fld id="{307C7597-8D70-4701-8085-9524B0B5C72B}" type="slidenum">
              <a:rPr lang="fr-FR" smtClean="0"/>
              <a:pPr algn="r"/>
              <a:t>62</a:t>
            </a:fld>
            <a:endParaRPr lang="fr-FR" dirty="0"/>
          </a:p>
        </p:txBody>
      </p:sp>
      <p:sp>
        <p:nvSpPr>
          <p:cNvPr id="5" name="Title 4">
            <a:extLst>
              <a:ext uri="{FF2B5EF4-FFF2-40B4-BE49-F238E27FC236}">
                <a16:creationId xmlns:a16="http://schemas.microsoft.com/office/drawing/2014/main" id="{200685D1-7EBF-44FF-A329-E9281ECF4B1A}"/>
              </a:ext>
            </a:extLst>
          </p:cNvPr>
          <p:cNvSpPr>
            <a:spLocks noGrp="1"/>
          </p:cNvSpPr>
          <p:nvPr>
            <p:ph type="title"/>
          </p:nvPr>
        </p:nvSpPr>
        <p:spPr>
          <a:xfrm>
            <a:off x="474461" y="412026"/>
            <a:ext cx="11286176" cy="1288783"/>
          </a:xfrm>
        </p:spPr>
        <p:txBody>
          <a:bodyPr/>
          <a:lstStyle/>
          <a:p>
            <a:r>
              <a:rPr lang="en-US" dirty="0"/>
              <a:t>P&amp;L with operating expenses by function</a:t>
            </a:r>
          </a:p>
        </p:txBody>
      </p:sp>
    </p:spTree>
    <p:extLst>
      <p:ext uri="{BB962C8B-B14F-4D97-AF65-F5344CB8AC3E}">
        <p14:creationId xmlns:p14="http://schemas.microsoft.com/office/powerpoint/2010/main" val="5791121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623392" y="836712"/>
            <a:ext cx="11233248" cy="5952661"/>
          </a:xfrm>
          <a:solidFill>
            <a:schemeClr val="bg1"/>
          </a:solidFill>
        </p:spPr>
        <p:txBody>
          <a:bodyPr/>
          <a:lstStyle/>
          <a:p>
            <a:pPr marL="0" indent="0">
              <a:buNone/>
            </a:pPr>
            <a:r>
              <a:rPr lang="en-US" dirty="0"/>
              <a:t>According to these values what is the most likely sales (revenue) (or turnover):</a:t>
            </a:r>
          </a:p>
          <a:p>
            <a:pPr marL="0" indent="0">
              <a:buNone/>
            </a:pPr>
            <a:endParaRPr lang="en-US" dirty="0"/>
          </a:p>
          <a:p>
            <a:pPr marL="0" indent="0">
              <a:buNone/>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marL="0" indent="0">
              <a:buNone/>
            </a:pPr>
            <a:r>
              <a:rPr lang="en-US" b="0" dirty="0"/>
              <a:t>(a) €54,726,667</a:t>
            </a:r>
          </a:p>
          <a:p>
            <a:pPr marL="0" indent="0">
              <a:buNone/>
            </a:pPr>
            <a:r>
              <a:rPr lang="en-US" b="0" dirty="0"/>
              <a:t>(b) €54,860,000</a:t>
            </a:r>
          </a:p>
          <a:p>
            <a:pPr marL="0" indent="0">
              <a:buNone/>
            </a:pPr>
            <a:r>
              <a:rPr lang="en-US" b="0" dirty="0"/>
              <a:t>(c) €55,760,000</a:t>
            </a:r>
          </a:p>
          <a:p>
            <a:pPr marL="0" indent="0">
              <a:buNone/>
            </a:pPr>
            <a:r>
              <a:rPr lang="en-US" b="0" dirty="0"/>
              <a:t>(d) €55,860,000</a:t>
            </a:r>
          </a:p>
        </p:txBody>
      </p:sp>
      <p:sp>
        <p:nvSpPr>
          <p:cNvPr id="3" name="Titre 2"/>
          <p:cNvSpPr>
            <a:spLocks noGrp="1"/>
          </p:cNvSpPr>
          <p:nvPr>
            <p:ph type="title"/>
          </p:nvPr>
        </p:nvSpPr>
        <p:spPr>
          <a:xfrm>
            <a:off x="2351586" y="116634"/>
            <a:ext cx="1632181" cy="633687"/>
          </a:xfrm>
        </p:spPr>
        <p:txBody>
          <a:bodyPr/>
          <a:lstStyle/>
          <a:p>
            <a:r>
              <a:rPr lang="en-US" dirty="0"/>
              <a:t>MCQ</a:t>
            </a:r>
          </a:p>
        </p:txBody>
      </p:sp>
      <p:sp>
        <p:nvSpPr>
          <p:cNvPr id="4" name="Sous-titre 3"/>
          <p:cNvSpPr>
            <a:spLocks noGrp="1"/>
          </p:cNvSpPr>
          <p:nvPr>
            <p:ph type="subTitle" idx="13"/>
          </p:nvPr>
        </p:nvSpPr>
        <p:spPr>
          <a:xfrm>
            <a:off x="3990326" y="193141"/>
            <a:ext cx="8366765" cy="480671"/>
          </a:xfrm>
        </p:spPr>
        <p:txBody>
          <a:bodyPr/>
          <a:lstStyle/>
          <a:p>
            <a:r>
              <a:rPr lang="en-US" dirty="0"/>
              <a:t>Question 1</a:t>
            </a:r>
          </a:p>
        </p:txBody>
      </p:sp>
      <p:sp>
        <p:nvSpPr>
          <p:cNvPr id="5" name="Espace réservé du numéro de diapositive 4"/>
          <p:cNvSpPr>
            <a:spLocks noGrp="1"/>
          </p:cNvSpPr>
          <p:nvPr>
            <p:ph type="sldNum" sz="quarter" idx="12"/>
          </p:nvPr>
        </p:nvSpPr>
        <p:spPr/>
        <p:txBody>
          <a:bodyPr/>
          <a:lstStyle/>
          <a:p>
            <a:fld id="{307C7597-8D70-4701-8085-9524B0B5C72B}" type="slidenum">
              <a:rPr lang="fr-FR" smtClean="0"/>
              <a:t>63</a:t>
            </a:fld>
            <a:endParaRPr lang="fr-FR"/>
          </a:p>
        </p:txBody>
      </p:sp>
      <p:graphicFrame>
        <p:nvGraphicFramePr>
          <p:cNvPr id="10" name="Tableau 9"/>
          <p:cNvGraphicFramePr>
            <a:graphicFrameLocks noGrp="1"/>
          </p:cNvGraphicFramePr>
          <p:nvPr>
            <p:extLst>
              <p:ext uri="{D42A27DB-BD31-4B8C-83A1-F6EECF244321}">
                <p14:modId xmlns:p14="http://schemas.microsoft.com/office/powerpoint/2010/main" val="3340518446"/>
              </p:ext>
            </p:extLst>
          </p:nvPr>
        </p:nvGraphicFramePr>
        <p:xfrm>
          <a:off x="3695734" y="1832286"/>
          <a:ext cx="7392821" cy="2477775"/>
        </p:xfrm>
        <a:graphic>
          <a:graphicData uri="http://schemas.openxmlformats.org/drawingml/2006/table">
            <a:tbl>
              <a:tblPr firstRow="1" firstCol="1" bandRow="1">
                <a:tableStyleId>{5C22544A-7EE6-4342-B048-85BDC9FD1C3A}</a:tableStyleId>
              </a:tblPr>
              <a:tblGrid>
                <a:gridCol w="4608512">
                  <a:extLst>
                    <a:ext uri="{9D8B030D-6E8A-4147-A177-3AD203B41FA5}">
                      <a16:colId xmlns:a16="http://schemas.microsoft.com/office/drawing/2014/main" val="20000"/>
                    </a:ext>
                  </a:extLst>
                </a:gridCol>
                <a:gridCol w="2784309">
                  <a:extLst>
                    <a:ext uri="{9D8B030D-6E8A-4147-A177-3AD203B41FA5}">
                      <a16:colId xmlns:a16="http://schemas.microsoft.com/office/drawing/2014/main" val="20001"/>
                    </a:ext>
                  </a:extLst>
                </a:gridCol>
              </a:tblGrid>
              <a:tr h="495555">
                <a:tc>
                  <a:txBody>
                    <a:bodyPr/>
                    <a:lstStyle/>
                    <a:p>
                      <a:pPr algn="just">
                        <a:lnSpc>
                          <a:spcPct val="107000"/>
                        </a:lnSpc>
                        <a:spcAft>
                          <a:spcPts val="0"/>
                        </a:spcAft>
                      </a:pPr>
                      <a:r>
                        <a:rPr lang="en-US" sz="3200" b="0" dirty="0">
                          <a:solidFill>
                            <a:schemeClr val="tx1"/>
                          </a:solidFill>
                          <a:effectLst/>
                        </a:rPr>
                        <a:t>Net profit</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€ 10,200,000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0"/>
                  </a:ext>
                </a:extLst>
              </a:tr>
              <a:tr h="495555">
                <a:tc>
                  <a:txBody>
                    <a:bodyPr/>
                    <a:lstStyle/>
                    <a:p>
                      <a:pPr algn="just">
                        <a:lnSpc>
                          <a:spcPct val="107000"/>
                        </a:lnSpc>
                        <a:spcAft>
                          <a:spcPts val="0"/>
                        </a:spcAft>
                      </a:pPr>
                      <a:r>
                        <a:rPr lang="en-US" sz="3200" b="0" dirty="0">
                          <a:solidFill>
                            <a:schemeClr val="tx1"/>
                          </a:solidFill>
                          <a:effectLst/>
                        </a:rPr>
                        <a:t>Effective tax rate</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1/3</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1"/>
                  </a:ext>
                </a:extLst>
              </a:tr>
              <a:tr h="495555">
                <a:tc>
                  <a:txBody>
                    <a:bodyPr/>
                    <a:lstStyle/>
                    <a:p>
                      <a:pPr algn="just">
                        <a:lnSpc>
                          <a:spcPct val="107000"/>
                        </a:lnSpc>
                        <a:spcAft>
                          <a:spcPts val="0"/>
                        </a:spcAft>
                      </a:pPr>
                      <a:r>
                        <a:rPr lang="en-US" sz="3200" b="0" dirty="0">
                          <a:solidFill>
                            <a:schemeClr val="tx1"/>
                          </a:solidFill>
                          <a:effectLst/>
                        </a:rPr>
                        <a:t>Interest income</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€ 120,000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2"/>
                  </a:ext>
                </a:extLst>
              </a:tr>
              <a:tr h="495555">
                <a:tc>
                  <a:txBody>
                    <a:bodyPr/>
                    <a:lstStyle/>
                    <a:p>
                      <a:pPr algn="just">
                        <a:lnSpc>
                          <a:spcPct val="107000"/>
                        </a:lnSpc>
                        <a:spcAft>
                          <a:spcPts val="0"/>
                        </a:spcAft>
                      </a:pPr>
                      <a:r>
                        <a:rPr lang="en-US" sz="3200" b="0" dirty="0">
                          <a:solidFill>
                            <a:schemeClr val="tx1"/>
                          </a:solidFill>
                          <a:effectLst/>
                        </a:rPr>
                        <a:t>Interest expense</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€ 320,000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3"/>
                  </a:ext>
                </a:extLst>
              </a:tr>
              <a:tr h="495555">
                <a:tc>
                  <a:txBody>
                    <a:bodyPr/>
                    <a:lstStyle/>
                    <a:p>
                      <a:pPr algn="just">
                        <a:lnSpc>
                          <a:spcPct val="107000"/>
                        </a:lnSpc>
                        <a:spcAft>
                          <a:spcPts val="0"/>
                        </a:spcAft>
                      </a:pPr>
                      <a:r>
                        <a:rPr lang="en-US" sz="3200" b="0" dirty="0">
                          <a:solidFill>
                            <a:schemeClr val="tx1"/>
                          </a:solidFill>
                          <a:effectLst/>
                        </a:rPr>
                        <a:t>Operating expenses</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€ 40,260,000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666843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623392" y="1434649"/>
            <a:ext cx="10753195" cy="639073"/>
          </a:xfrm>
        </p:spPr>
        <p:txBody>
          <a:bodyPr>
            <a:normAutofit fontScale="92500"/>
          </a:bodyPr>
          <a:lstStyle/>
          <a:p>
            <a:pPr marL="0" indent="0">
              <a:buNone/>
            </a:pPr>
            <a:r>
              <a:rPr lang="en-US" dirty="0"/>
              <a:t>According to these values what is the most likely S,G&amp;A expense?</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ous-titre 3"/>
          <p:cNvSpPr>
            <a:spLocks noGrp="1"/>
          </p:cNvSpPr>
          <p:nvPr>
            <p:ph type="subTitle" idx="13"/>
          </p:nvPr>
        </p:nvSpPr>
        <p:spPr>
          <a:xfrm>
            <a:off x="566834" y="894842"/>
            <a:ext cx="8366765" cy="480671"/>
          </a:xfrm>
        </p:spPr>
        <p:txBody>
          <a:bodyPr/>
          <a:lstStyle/>
          <a:p>
            <a:r>
              <a:rPr lang="en-US" dirty="0"/>
              <a:t>Question 2</a:t>
            </a:r>
          </a:p>
        </p:txBody>
      </p:sp>
      <p:sp>
        <p:nvSpPr>
          <p:cNvPr id="5" name="Espace réservé du numéro de diapositive 4"/>
          <p:cNvSpPr>
            <a:spLocks noGrp="1"/>
          </p:cNvSpPr>
          <p:nvPr>
            <p:ph type="sldNum" sz="quarter" idx="12"/>
          </p:nvPr>
        </p:nvSpPr>
        <p:spPr/>
        <p:txBody>
          <a:bodyPr/>
          <a:lstStyle/>
          <a:p>
            <a:fld id="{307C7597-8D70-4701-8085-9524B0B5C72B}" type="slidenum">
              <a:rPr lang="fr-FR" smtClean="0"/>
              <a:t>64</a:t>
            </a:fld>
            <a:endParaRPr lang="fr-FR"/>
          </a:p>
        </p:txBody>
      </p:sp>
      <p:graphicFrame>
        <p:nvGraphicFramePr>
          <p:cNvPr id="10" name="Tableau 9"/>
          <p:cNvGraphicFramePr>
            <a:graphicFrameLocks noGrp="1"/>
          </p:cNvGraphicFramePr>
          <p:nvPr/>
        </p:nvGraphicFramePr>
        <p:xfrm>
          <a:off x="4943872" y="2124157"/>
          <a:ext cx="5915968" cy="2979678"/>
        </p:xfrm>
        <a:graphic>
          <a:graphicData uri="http://schemas.openxmlformats.org/drawingml/2006/table">
            <a:tbl>
              <a:tblPr firstRow="1" firstCol="1" bandRow="1">
                <a:tableStyleId>{5C22544A-7EE6-4342-B048-85BDC9FD1C3A}</a:tableStyleId>
              </a:tblPr>
              <a:tblGrid>
                <a:gridCol w="3663199">
                  <a:extLst>
                    <a:ext uri="{9D8B030D-6E8A-4147-A177-3AD203B41FA5}">
                      <a16:colId xmlns:a16="http://schemas.microsoft.com/office/drawing/2014/main" val="20000"/>
                    </a:ext>
                  </a:extLst>
                </a:gridCol>
                <a:gridCol w="2252769">
                  <a:extLst>
                    <a:ext uri="{9D8B030D-6E8A-4147-A177-3AD203B41FA5}">
                      <a16:colId xmlns:a16="http://schemas.microsoft.com/office/drawing/2014/main" val="20001"/>
                    </a:ext>
                  </a:extLst>
                </a:gridCol>
              </a:tblGrid>
              <a:tr h="495555">
                <a:tc>
                  <a:txBody>
                    <a:bodyPr/>
                    <a:lstStyle/>
                    <a:p>
                      <a:pPr algn="just">
                        <a:lnSpc>
                          <a:spcPct val="107000"/>
                        </a:lnSpc>
                        <a:spcAft>
                          <a:spcPts val="0"/>
                        </a:spcAft>
                      </a:pPr>
                      <a:r>
                        <a:rPr lang="en-US" sz="3200" b="0" dirty="0">
                          <a:solidFill>
                            <a:schemeClr val="tx1"/>
                          </a:solidFill>
                          <a:effectLst/>
                        </a:rPr>
                        <a:t>Profit before</a:t>
                      </a:r>
                      <a:r>
                        <a:rPr lang="en-US" sz="3200" b="0" baseline="0" dirty="0">
                          <a:solidFill>
                            <a:schemeClr val="tx1"/>
                          </a:solidFill>
                          <a:effectLst/>
                        </a:rPr>
                        <a:t> tax</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€ 4,500,000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0"/>
                  </a:ext>
                </a:extLst>
              </a:tr>
              <a:tr h="495555">
                <a:tc>
                  <a:txBody>
                    <a:bodyPr/>
                    <a:lstStyle/>
                    <a:p>
                      <a:pPr algn="just">
                        <a:lnSpc>
                          <a:spcPct val="107000"/>
                        </a:lnSpc>
                        <a:spcAft>
                          <a:spcPts val="0"/>
                        </a:spcAft>
                      </a:pPr>
                      <a:r>
                        <a:rPr lang="en-US" sz="3200" b="0" dirty="0">
                          <a:solidFill>
                            <a:schemeClr val="tx1"/>
                          </a:solidFill>
                          <a:effectLst/>
                        </a:rPr>
                        <a:t>Income tax rate</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40%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1"/>
                  </a:ext>
                </a:extLst>
              </a:tr>
              <a:tr h="495555">
                <a:tc>
                  <a:txBody>
                    <a:bodyPr/>
                    <a:lstStyle/>
                    <a:p>
                      <a:pPr algn="just">
                        <a:lnSpc>
                          <a:spcPct val="107000"/>
                        </a:lnSpc>
                        <a:spcAft>
                          <a:spcPts val="0"/>
                        </a:spcAft>
                      </a:pPr>
                      <a:r>
                        <a:rPr lang="en-US" sz="3200" b="0" dirty="0">
                          <a:solidFill>
                            <a:schemeClr val="tx1"/>
                          </a:solidFill>
                          <a:effectLst/>
                        </a:rPr>
                        <a:t>Interest income</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€ 320,000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2"/>
                  </a:ext>
                </a:extLst>
              </a:tr>
              <a:tr h="495555">
                <a:tc>
                  <a:txBody>
                    <a:bodyPr/>
                    <a:lstStyle/>
                    <a:p>
                      <a:pPr algn="just">
                        <a:lnSpc>
                          <a:spcPct val="107000"/>
                        </a:lnSpc>
                        <a:spcAft>
                          <a:spcPts val="0"/>
                        </a:spcAft>
                      </a:pPr>
                      <a:r>
                        <a:rPr lang="en-US" sz="3200" b="0" dirty="0">
                          <a:solidFill>
                            <a:schemeClr val="tx1"/>
                          </a:solidFill>
                          <a:effectLst/>
                        </a:rPr>
                        <a:t>Interest expense</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rPr>
                        <a:t>€ 120,000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3"/>
                  </a:ext>
                </a:extLst>
              </a:tr>
              <a:tr h="498687">
                <a:tc>
                  <a:txBody>
                    <a:bodyPr/>
                    <a:lstStyle/>
                    <a:p>
                      <a:pPr algn="just">
                        <a:lnSpc>
                          <a:spcPct val="107000"/>
                        </a:lnSpc>
                        <a:spcAft>
                          <a:spcPts val="0"/>
                        </a:spcAft>
                      </a:pPr>
                      <a:r>
                        <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Gross profit</a:t>
                      </a: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€6,500,000</a:t>
                      </a:r>
                    </a:p>
                  </a:txBody>
                  <a:tcPr marL="44451" marR="44451" marT="0" marB="0" anchor="b">
                    <a:solidFill>
                      <a:schemeClr val="accent1">
                        <a:lumMod val="20000"/>
                        <a:lumOff val="80000"/>
                      </a:schemeClr>
                    </a:solidFill>
                  </a:tcPr>
                </a:tc>
                <a:extLst>
                  <a:ext uri="{0D108BD9-81ED-4DB2-BD59-A6C34878D82A}">
                    <a16:rowId xmlns:a16="http://schemas.microsoft.com/office/drawing/2014/main" val="10004"/>
                  </a:ext>
                </a:extLst>
              </a:tr>
              <a:tr h="498687">
                <a:tc>
                  <a:txBody>
                    <a:bodyPr/>
                    <a:lstStyle/>
                    <a:p>
                      <a:pPr algn="just">
                        <a:lnSpc>
                          <a:spcPct val="107000"/>
                        </a:lnSpc>
                        <a:spcAft>
                          <a:spcPts val="0"/>
                        </a:spcAft>
                      </a:pPr>
                      <a:r>
                        <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Revenue</a:t>
                      </a:r>
                    </a:p>
                  </a:txBody>
                  <a:tcPr marL="44451" marR="44451" marT="0" marB="0" anchor="ctr">
                    <a:solidFill>
                      <a:schemeClr val="accent1">
                        <a:lumMod val="20000"/>
                        <a:lumOff val="80000"/>
                      </a:schemeClr>
                    </a:solidFill>
                  </a:tcPr>
                </a:tc>
                <a:tc>
                  <a:txBody>
                    <a:bodyPr/>
                    <a:lstStyle/>
                    <a:p>
                      <a:pPr algn="r">
                        <a:lnSpc>
                          <a:spcPct val="107000"/>
                        </a:lnSpc>
                        <a:spcAft>
                          <a:spcPts val="0"/>
                        </a:spcAft>
                      </a:pPr>
                      <a:r>
                        <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€8,600,000</a:t>
                      </a:r>
                    </a:p>
                  </a:txBody>
                  <a:tcPr marL="44451" marR="44451" marT="0" marB="0" anchor="b">
                    <a:solidFill>
                      <a:schemeClr val="accent1">
                        <a:lumMod val="20000"/>
                        <a:lumOff val="80000"/>
                      </a:schemeClr>
                    </a:solidFill>
                  </a:tcPr>
                </a:tc>
                <a:extLst>
                  <a:ext uri="{0D108BD9-81ED-4DB2-BD59-A6C34878D82A}">
                    <a16:rowId xmlns:a16="http://schemas.microsoft.com/office/drawing/2014/main" val="754278873"/>
                  </a:ext>
                </a:extLst>
              </a:tr>
            </a:tbl>
          </a:graphicData>
        </a:graphic>
      </p:graphicFrame>
      <p:sp>
        <p:nvSpPr>
          <p:cNvPr id="6" name="Rectangle 5"/>
          <p:cNvSpPr/>
          <p:nvPr/>
        </p:nvSpPr>
        <p:spPr>
          <a:xfrm>
            <a:off x="623392" y="4485117"/>
            <a:ext cx="4572000" cy="2062103"/>
          </a:xfrm>
          <a:prstGeom prst="rect">
            <a:avLst/>
          </a:prstGeom>
        </p:spPr>
        <p:txBody>
          <a:bodyPr>
            <a:spAutoFit/>
          </a:bodyPr>
          <a:lstStyle/>
          <a:p>
            <a:r>
              <a:rPr lang="en-US" sz="3200" dirty="0"/>
              <a:t>(a) €1,800,000</a:t>
            </a:r>
          </a:p>
          <a:p>
            <a:r>
              <a:rPr lang="en-US" sz="3200" dirty="0"/>
              <a:t>(b) €2,000,000</a:t>
            </a:r>
          </a:p>
          <a:p>
            <a:r>
              <a:rPr lang="en-US" sz="3200" dirty="0"/>
              <a:t>(c) €2,100,000</a:t>
            </a:r>
          </a:p>
          <a:p>
            <a:r>
              <a:rPr lang="en-US" sz="3200" dirty="0"/>
              <a:t>(d) €2,200,000</a:t>
            </a:r>
          </a:p>
        </p:txBody>
      </p:sp>
      <p:sp>
        <p:nvSpPr>
          <p:cNvPr id="8" name="Title 7">
            <a:extLst>
              <a:ext uri="{FF2B5EF4-FFF2-40B4-BE49-F238E27FC236}">
                <a16:creationId xmlns:a16="http://schemas.microsoft.com/office/drawing/2014/main" id="{0819EEE7-D67B-4A94-9C81-BF65D59FF4E4}"/>
              </a:ext>
            </a:extLst>
          </p:cNvPr>
          <p:cNvSpPr>
            <a:spLocks noGrp="1"/>
          </p:cNvSpPr>
          <p:nvPr>
            <p:ph type="title"/>
          </p:nvPr>
        </p:nvSpPr>
        <p:spPr/>
        <p:txBody>
          <a:bodyPr/>
          <a:lstStyle/>
          <a:p>
            <a:r>
              <a:rPr lang="en-US" dirty="0"/>
              <a:t>MCQ</a:t>
            </a:r>
          </a:p>
        </p:txBody>
      </p:sp>
    </p:spTree>
    <p:extLst>
      <p:ext uri="{BB962C8B-B14F-4D97-AF65-F5344CB8AC3E}">
        <p14:creationId xmlns:p14="http://schemas.microsoft.com/office/powerpoint/2010/main" val="4503528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623392" y="1508787"/>
            <a:ext cx="11137237" cy="5349213"/>
          </a:xfrm>
          <a:solidFill>
            <a:schemeClr val="bg1"/>
          </a:solidFill>
        </p:spPr>
        <p:txBody>
          <a:bodyPr/>
          <a:lstStyle/>
          <a:p>
            <a:pPr marL="0" indent="0">
              <a:buNone/>
            </a:pPr>
            <a:r>
              <a:rPr lang="en-US" dirty="0"/>
              <a:t>What is the interest expense in year 3?</a:t>
            </a:r>
          </a:p>
          <a:p>
            <a:pPr marL="0" indent="0">
              <a:buNone/>
            </a:pPr>
            <a:r>
              <a:rPr lang="en-US" b="0" dirty="0"/>
              <a:t>New loan (i.e. borrowing: financial liability): €6,000,000 at the beginning of the first year</a:t>
            </a:r>
          </a:p>
          <a:p>
            <a:pPr marL="0" indent="0">
              <a:buNone/>
            </a:pPr>
            <a:r>
              <a:rPr lang="en-US" b="0" dirty="0"/>
              <a:t>Annual repayment of one fifth at the anniversary date</a:t>
            </a:r>
          </a:p>
          <a:p>
            <a:pPr marL="0" indent="0">
              <a:buNone/>
            </a:pPr>
            <a:r>
              <a:rPr lang="en-US" b="0" dirty="0"/>
              <a:t>Interest paid annually at the same date (and due for the finished year)</a:t>
            </a:r>
          </a:p>
          <a:p>
            <a:pPr marL="0" indent="0">
              <a:buNone/>
            </a:pPr>
            <a:r>
              <a:rPr lang="en-US" b="0" dirty="0"/>
              <a:t>Annual interest rate = 5%</a:t>
            </a:r>
          </a:p>
          <a:p>
            <a:pPr marL="0" indent="0">
              <a:buNone/>
            </a:pPr>
            <a:r>
              <a:rPr lang="en-US" b="0" dirty="0"/>
              <a:t>Duration of the loan = 5 years</a:t>
            </a:r>
          </a:p>
          <a:p>
            <a:pPr marL="0" indent="0">
              <a:buNone/>
            </a:pPr>
            <a:r>
              <a:rPr lang="en-US" b="0" dirty="0"/>
              <a:t>(a) €120,000</a:t>
            </a:r>
          </a:p>
          <a:p>
            <a:pPr marL="0" indent="0">
              <a:buNone/>
            </a:pPr>
            <a:r>
              <a:rPr lang="en-US" b="0" dirty="0"/>
              <a:t>(b) €180,000</a:t>
            </a:r>
          </a:p>
          <a:p>
            <a:pPr marL="0" indent="0">
              <a:buNone/>
            </a:pPr>
            <a:r>
              <a:rPr lang="en-US" b="0" dirty="0"/>
              <a:t>(c) €240,000</a:t>
            </a:r>
          </a:p>
          <a:p>
            <a:pPr marL="0" indent="0">
              <a:buNone/>
            </a:pPr>
            <a:r>
              <a:rPr lang="en-US" b="0" dirty="0"/>
              <a:t>(d) € 1,440,000</a:t>
            </a:r>
          </a:p>
          <a:p>
            <a:pPr marL="0" indent="0">
              <a:buNone/>
            </a:pPr>
            <a:endParaRPr lang="en-US" sz="3733" dirty="0"/>
          </a:p>
          <a:p>
            <a:pPr marL="0" indent="0">
              <a:buNone/>
            </a:pPr>
            <a:endParaRPr lang="en-US" sz="3733" dirty="0"/>
          </a:p>
          <a:p>
            <a:pPr marL="0" indent="0">
              <a:buNone/>
            </a:pPr>
            <a:endParaRPr lang="en-US" sz="3733" dirty="0"/>
          </a:p>
          <a:p>
            <a:pPr marL="0" indent="0">
              <a:buNone/>
            </a:pPr>
            <a:endParaRPr lang="en-US" dirty="0"/>
          </a:p>
        </p:txBody>
      </p:sp>
      <p:sp>
        <p:nvSpPr>
          <p:cNvPr id="5" name="Espace réservé du numéro de diapositive 4"/>
          <p:cNvSpPr>
            <a:spLocks noGrp="1"/>
          </p:cNvSpPr>
          <p:nvPr>
            <p:ph type="sldNum" sz="quarter" idx="12"/>
          </p:nvPr>
        </p:nvSpPr>
        <p:spPr/>
        <p:txBody>
          <a:bodyPr/>
          <a:lstStyle/>
          <a:p>
            <a:fld id="{307C7597-8D70-4701-8085-9524B0B5C72B}" type="slidenum">
              <a:rPr lang="fr-FR" smtClean="0"/>
              <a:t>65</a:t>
            </a:fld>
            <a:endParaRPr lang="fr-FR"/>
          </a:p>
        </p:txBody>
      </p:sp>
      <p:sp>
        <p:nvSpPr>
          <p:cNvPr id="7" name="Title 6">
            <a:extLst>
              <a:ext uri="{FF2B5EF4-FFF2-40B4-BE49-F238E27FC236}">
                <a16:creationId xmlns:a16="http://schemas.microsoft.com/office/drawing/2014/main" id="{6A4D8465-179E-4596-BE0F-B8BD6B440B55}"/>
              </a:ext>
            </a:extLst>
          </p:cNvPr>
          <p:cNvSpPr>
            <a:spLocks noGrp="1"/>
          </p:cNvSpPr>
          <p:nvPr>
            <p:ph type="title"/>
          </p:nvPr>
        </p:nvSpPr>
        <p:spPr>
          <a:xfrm>
            <a:off x="474378" y="502874"/>
            <a:ext cx="11286176" cy="633687"/>
          </a:xfrm>
        </p:spPr>
        <p:txBody>
          <a:bodyPr/>
          <a:lstStyle/>
          <a:p>
            <a:r>
              <a:rPr lang="en-US" dirty="0"/>
              <a:t>MCQ</a:t>
            </a:r>
          </a:p>
        </p:txBody>
      </p:sp>
      <p:sp>
        <p:nvSpPr>
          <p:cNvPr id="9" name="Subtitle 8">
            <a:extLst>
              <a:ext uri="{FF2B5EF4-FFF2-40B4-BE49-F238E27FC236}">
                <a16:creationId xmlns:a16="http://schemas.microsoft.com/office/drawing/2014/main" id="{1283F2E2-E5CB-4E54-B4FF-0814ED514F35}"/>
              </a:ext>
            </a:extLst>
          </p:cNvPr>
          <p:cNvSpPr>
            <a:spLocks noGrp="1"/>
          </p:cNvSpPr>
          <p:nvPr>
            <p:ph type="subTitle" idx="13"/>
          </p:nvPr>
        </p:nvSpPr>
        <p:spPr/>
        <p:txBody>
          <a:bodyPr/>
          <a:lstStyle/>
          <a:p>
            <a:r>
              <a:rPr lang="en-US" dirty="0"/>
              <a:t>Question 3</a:t>
            </a:r>
          </a:p>
        </p:txBody>
      </p:sp>
    </p:spTree>
    <p:extLst>
      <p:ext uri="{BB962C8B-B14F-4D97-AF65-F5344CB8AC3E}">
        <p14:creationId xmlns:p14="http://schemas.microsoft.com/office/powerpoint/2010/main" val="4572818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719403" y="1556792"/>
            <a:ext cx="11041151" cy="5301208"/>
          </a:xfrm>
          <a:solidFill>
            <a:schemeClr val="bg1"/>
          </a:solidFill>
        </p:spPr>
        <p:txBody>
          <a:bodyPr/>
          <a:lstStyle/>
          <a:p>
            <a:pPr marL="0" indent="0">
              <a:buNone/>
            </a:pPr>
            <a:r>
              <a:rPr lang="en-US" b="0" dirty="0"/>
              <a:t>3 companies have supposed these assumptions for the same kind of tangible asset:</a:t>
            </a:r>
          </a:p>
          <a:p>
            <a:pPr marL="0" indent="0">
              <a:buNone/>
            </a:pPr>
            <a:endParaRPr lang="en-US" b="0" dirty="0"/>
          </a:p>
          <a:p>
            <a:pPr marL="0" indent="0">
              <a:buNone/>
            </a:pPr>
            <a:endParaRPr lang="en-US" b="0" dirty="0"/>
          </a:p>
          <a:p>
            <a:endParaRPr lang="en-US" b="0" dirty="0"/>
          </a:p>
          <a:p>
            <a:endParaRPr lang="en-US" b="0" dirty="0"/>
          </a:p>
          <a:p>
            <a:endParaRPr lang="en-US" b="0" dirty="0"/>
          </a:p>
          <a:p>
            <a:pPr marL="0" indent="0">
              <a:buNone/>
            </a:pPr>
            <a:endParaRPr lang="en-US" b="0" dirty="0"/>
          </a:p>
          <a:p>
            <a:pPr marL="0" indent="0">
              <a:buNone/>
            </a:pPr>
            <a:r>
              <a:rPr lang="en-US" b="0" dirty="0"/>
              <a:t>Which company can maximize more than the others its gain at the end of the year 5 (with the same sale price after 5 years)? </a:t>
            </a:r>
          </a:p>
          <a:p>
            <a:pPr marL="0" indent="0">
              <a:buNone/>
            </a:pPr>
            <a:r>
              <a:rPr lang="en-US" b="0" dirty="0"/>
              <a:t>    	      Company A	      Company B	         Company C</a:t>
            </a:r>
            <a:endParaRPr lang="fr-FR" b="0" dirty="0"/>
          </a:p>
          <a:p>
            <a:pPr marL="0" indent="0">
              <a:buNone/>
            </a:pPr>
            <a:endParaRPr lang="en-US" dirty="0"/>
          </a:p>
        </p:txBody>
      </p:sp>
      <p:sp>
        <p:nvSpPr>
          <p:cNvPr id="5" name="Espace réservé du numéro de diapositive 4"/>
          <p:cNvSpPr>
            <a:spLocks noGrp="1"/>
          </p:cNvSpPr>
          <p:nvPr>
            <p:ph type="sldNum" sz="quarter" idx="12"/>
          </p:nvPr>
        </p:nvSpPr>
        <p:spPr>
          <a:xfrm>
            <a:off x="9264352" y="6467752"/>
            <a:ext cx="1269504" cy="365125"/>
          </a:xfrm>
        </p:spPr>
        <p:txBody>
          <a:bodyPr/>
          <a:lstStyle/>
          <a:p>
            <a:pPr algn="r"/>
            <a:fld id="{307C7597-8D70-4701-8085-9524B0B5C72B}" type="slidenum">
              <a:rPr lang="fr-FR" smtClean="0"/>
              <a:pPr algn="r"/>
              <a:t>66</a:t>
            </a:fld>
            <a:endParaRPr lang="fr-FR" dirty="0"/>
          </a:p>
        </p:txBody>
      </p:sp>
      <p:graphicFrame>
        <p:nvGraphicFramePr>
          <p:cNvPr id="7" name="Espace réservé du contenu 5"/>
          <p:cNvGraphicFramePr>
            <a:graphicFrameLocks/>
          </p:cNvGraphicFramePr>
          <p:nvPr/>
        </p:nvGraphicFramePr>
        <p:xfrm>
          <a:off x="638175" y="2401797"/>
          <a:ext cx="10639424" cy="3041476"/>
        </p:xfrm>
        <a:graphic>
          <a:graphicData uri="http://schemas.openxmlformats.org/drawingml/2006/table">
            <a:tbl>
              <a:tblPr firstRow="1" firstCol="1" bandRow="1">
                <a:tableStyleId>{5C22544A-7EE6-4342-B048-85BDC9FD1C3A}</a:tableStyleId>
              </a:tblPr>
              <a:tblGrid>
                <a:gridCol w="3692713">
                  <a:extLst>
                    <a:ext uri="{9D8B030D-6E8A-4147-A177-3AD203B41FA5}">
                      <a16:colId xmlns:a16="http://schemas.microsoft.com/office/drawing/2014/main" val="20000"/>
                    </a:ext>
                  </a:extLst>
                </a:gridCol>
                <a:gridCol w="2286157">
                  <a:extLst>
                    <a:ext uri="{9D8B030D-6E8A-4147-A177-3AD203B41FA5}">
                      <a16:colId xmlns:a16="http://schemas.microsoft.com/office/drawing/2014/main" val="20001"/>
                    </a:ext>
                  </a:extLst>
                </a:gridCol>
                <a:gridCol w="2549944">
                  <a:extLst>
                    <a:ext uri="{9D8B030D-6E8A-4147-A177-3AD203B41FA5}">
                      <a16:colId xmlns:a16="http://schemas.microsoft.com/office/drawing/2014/main" val="20002"/>
                    </a:ext>
                  </a:extLst>
                </a:gridCol>
                <a:gridCol w="2110610">
                  <a:extLst>
                    <a:ext uri="{9D8B030D-6E8A-4147-A177-3AD203B41FA5}">
                      <a16:colId xmlns:a16="http://schemas.microsoft.com/office/drawing/2014/main" val="20003"/>
                    </a:ext>
                  </a:extLst>
                </a:gridCol>
              </a:tblGrid>
              <a:tr h="453303">
                <a:tc>
                  <a:txBody>
                    <a:bodyPr/>
                    <a:lstStyle/>
                    <a:p>
                      <a:pPr>
                        <a:lnSpc>
                          <a:spcPct val="107000"/>
                        </a:lnSpc>
                        <a:spcAft>
                          <a:spcPts val="0"/>
                        </a:spcAft>
                      </a:pPr>
                      <a:r>
                        <a:rPr lang="en-US" sz="2700" dirty="0">
                          <a:effectLst/>
                        </a:rPr>
                        <a:t> </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2700" dirty="0">
                          <a:effectLst/>
                        </a:rPr>
                        <a:t>Company A</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2700" dirty="0">
                          <a:effectLst/>
                        </a:rPr>
                        <a:t>Company B</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2700">
                          <a:effectLst/>
                        </a:rPr>
                        <a:t>Company C</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48186">
                <a:tc>
                  <a:txBody>
                    <a:bodyPr/>
                    <a:lstStyle/>
                    <a:p>
                      <a:pPr>
                        <a:lnSpc>
                          <a:spcPct val="107000"/>
                        </a:lnSpc>
                        <a:spcAft>
                          <a:spcPts val="0"/>
                        </a:spcAft>
                      </a:pPr>
                      <a:r>
                        <a:rPr lang="en-US" sz="2700">
                          <a:effectLst/>
                        </a:rPr>
                        <a:t>Cost of purchase</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dirty="0">
                          <a:effectLst/>
                        </a:rPr>
                        <a:t>€100,000</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dirty="0">
                          <a:effectLst/>
                        </a:rPr>
                        <a:t>€100,000</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a:effectLst/>
                        </a:rPr>
                        <a:t>€100,000</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14880">
                <a:tc>
                  <a:txBody>
                    <a:bodyPr/>
                    <a:lstStyle/>
                    <a:p>
                      <a:pPr>
                        <a:lnSpc>
                          <a:spcPct val="107000"/>
                        </a:lnSpc>
                        <a:spcAft>
                          <a:spcPts val="0"/>
                        </a:spcAft>
                      </a:pPr>
                      <a:r>
                        <a:rPr lang="en-US" sz="2700">
                          <a:effectLst/>
                        </a:rPr>
                        <a:t>Method of depreciation</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3">
                  <a:txBody>
                    <a:bodyPr/>
                    <a:lstStyle/>
                    <a:p>
                      <a:pPr algn="ctr">
                        <a:lnSpc>
                          <a:spcPct val="107000"/>
                        </a:lnSpc>
                        <a:spcAft>
                          <a:spcPts val="0"/>
                        </a:spcAft>
                      </a:pPr>
                      <a:r>
                        <a:rPr lang="en-US" sz="2700" dirty="0">
                          <a:effectLst/>
                        </a:rPr>
                        <a:t>Straight-line method</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714880">
                <a:tc>
                  <a:txBody>
                    <a:bodyPr/>
                    <a:lstStyle/>
                    <a:p>
                      <a:pPr>
                        <a:lnSpc>
                          <a:spcPct val="107000"/>
                        </a:lnSpc>
                        <a:spcAft>
                          <a:spcPts val="0"/>
                        </a:spcAft>
                      </a:pPr>
                      <a:r>
                        <a:rPr lang="en-US" sz="2700">
                          <a:effectLst/>
                        </a:rPr>
                        <a:t>Residual/salvage value</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a:effectLst/>
                        </a:rPr>
                        <a:t>€30,000</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7000"/>
                        </a:lnSpc>
                        <a:spcAft>
                          <a:spcPts val="0"/>
                        </a:spcAft>
                      </a:pPr>
                      <a:r>
                        <a:rPr lang="en-US" sz="2700" dirty="0">
                          <a:effectLst/>
                        </a:rPr>
                        <a:t>€40,000</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r">
                        <a:lnSpc>
                          <a:spcPct val="107000"/>
                        </a:lnSpc>
                        <a:spcAft>
                          <a:spcPts val="0"/>
                        </a:spcAft>
                      </a:pPr>
                      <a:r>
                        <a:rPr lang="en-US" sz="2700" dirty="0">
                          <a:effectLst/>
                        </a:rPr>
                        <a:t>€50,000</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53303">
                <a:tc>
                  <a:txBody>
                    <a:bodyPr/>
                    <a:lstStyle/>
                    <a:p>
                      <a:pPr>
                        <a:lnSpc>
                          <a:spcPct val="107000"/>
                        </a:lnSpc>
                        <a:spcAft>
                          <a:spcPts val="0"/>
                        </a:spcAft>
                      </a:pPr>
                      <a:r>
                        <a:rPr lang="en-US" sz="2700" dirty="0">
                          <a:effectLst/>
                        </a:rPr>
                        <a:t>Useful life (in years)</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dirty="0">
                          <a:effectLst/>
                        </a:rPr>
                        <a:t>9</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a:effectLst/>
                        </a:rPr>
                        <a:t>8</a:t>
                      </a:r>
                      <a:endParaRPr lang="fr-FR" sz="2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0"/>
                        </a:spcAft>
                      </a:pPr>
                      <a:r>
                        <a:rPr lang="en-US" sz="2700" dirty="0">
                          <a:effectLst/>
                        </a:rPr>
                        <a:t>6</a:t>
                      </a:r>
                      <a:endParaRPr lang="fr-FR" sz="27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6" name="Rectangle 5"/>
          <p:cNvSpPr/>
          <p:nvPr/>
        </p:nvSpPr>
        <p:spPr>
          <a:xfrm>
            <a:off x="1884673" y="6337962"/>
            <a:ext cx="216024" cy="216024"/>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680435" y="6359740"/>
            <a:ext cx="216024" cy="216024"/>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649319" y="6337962"/>
            <a:ext cx="216024" cy="216024"/>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BB16B1C5-0316-4450-9ED2-373070E5D1A8}"/>
              </a:ext>
            </a:extLst>
          </p:cNvPr>
          <p:cNvSpPr>
            <a:spLocks noGrp="1"/>
          </p:cNvSpPr>
          <p:nvPr>
            <p:ph type="title"/>
          </p:nvPr>
        </p:nvSpPr>
        <p:spPr/>
        <p:txBody>
          <a:bodyPr/>
          <a:lstStyle/>
          <a:p>
            <a:r>
              <a:rPr lang="en-US" dirty="0"/>
              <a:t>MCQ</a:t>
            </a:r>
          </a:p>
        </p:txBody>
      </p:sp>
      <p:sp>
        <p:nvSpPr>
          <p:cNvPr id="13" name="Subtitle 12">
            <a:extLst>
              <a:ext uri="{FF2B5EF4-FFF2-40B4-BE49-F238E27FC236}">
                <a16:creationId xmlns:a16="http://schemas.microsoft.com/office/drawing/2014/main" id="{161DE1A7-FB51-4D7D-8C77-51E155C79C20}"/>
              </a:ext>
            </a:extLst>
          </p:cNvPr>
          <p:cNvSpPr>
            <a:spLocks noGrp="1"/>
          </p:cNvSpPr>
          <p:nvPr>
            <p:ph type="subTitle" idx="13"/>
          </p:nvPr>
        </p:nvSpPr>
        <p:spPr/>
        <p:txBody>
          <a:bodyPr/>
          <a:lstStyle/>
          <a:p>
            <a:r>
              <a:rPr lang="en-US" dirty="0"/>
              <a:t>Question 4</a:t>
            </a:r>
          </a:p>
        </p:txBody>
      </p:sp>
    </p:spTree>
    <p:extLst>
      <p:ext uri="{BB962C8B-B14F-4D97-AF65-F5344CB8AC3E}">
        <p14:creationId xmlns:p14="http://schemas.microsoft.com/office/powerpoint/2010/main" val="35382720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1311981" y="1700808"/>
            <a:ext cx="9872585" cy="4668183"/>
          </a:xfrm>
        </p:spPr>
        <p:txBody>
          <a:bodyPr>
            <a:normAutofit fontScale="92500" lnSpcReduction="10000"/>
          </a:bodyPr>
          <a:lstStyle/>
          <a:p>
            <a:pPr marL="0" indent="0">
              <a:buNone/>
            </a:pPr>
            <a:r>
              <a:rPr lang="en-US" sz="3200" b="0" dirty="0"/>
              <a:t>In function of the data below what is EBITDA?</a:t>
            </a:r>
          </a:p>
          <a:p>
            <a:pPr marL="0" indent="0">
              <a:buNone/>
            </a:pPr>
            <a:endParaRPr lang="en-US" sz="3200" b="0" dirty="0"/>
          </a:p>
          <a:p>
            <a:pPr marL="0" indent="0">
              <a:buNone/>
            </a:pPr>
            <a:endParaRPr lang="en-US" sz="3200" b="0" dirty="0"/>
          </a:p>
          <a:p>
            <a:pPr marL="0" indent="0">
              <a:buNone/>
            </a:pPr>
            <a:endParaRPr lang="en-US" sz="3200" b="0" dirty="0"/>
          </a:p>
          <a:p>
            <a:endParaRPr lang="en-US" sz="3200" b="0" dirty="0"/>
          </a:p>
          <a:p>
            <a:endParaRPr lang="en-US" sz="3200" b="0" dirty="0"/>
          </a:p>
          <a:p>
            <a:endParaRPr lang="en-US" sz="3200" b="0" dirty="0"/>
          </a:p>
          <a:p>
            <a:pPr marL="0" indent="0">
              <a:buNone/>
            </a:pPr>
            <a:endParaRPr lang="en-US" sz="3200" b="0" dirty="0"/>
          </a:p>
          <a:p>
            <a:pPr marL="0" indent="0">
              <a:buNone/>
            </a:pPr>
            <a:r>
              <a:rPr lang="en-US" sz="3200" b="0" dirty="0"/>
              <a:t>(a) €135,000   (b) €125,000  (c) €90,000 (d) €80,000</a:t>
            </a:r>
          </a:p>
        </p:txBody>
      </p:sp>
      <p:sp>
        <p:nvSpPr>
          <p:cNvPr id="3" name="Titre 2"/>
          <p:cNvSpPr>
            <a:spLocks noGrp="1"/>
          </p:cNvSpPr>
          <p:nvPr>
            <p:ph type="title"/>
          </p:nvPr>
        </p:nvSpPr>
        <p:spPr>
          <a:xfrm>
            <a:off x="474378" y="489009"/>
            <a:ext cx="11286176" cy="633687"/>
          </a:xfrm>
        </p:spPr>
        <p:txBody>
          <a:bodyPr/>
          <a:lstStyle/>
          <a:p>
            <a:r>
              <a:rPr lang="en-US" dirty="0"/>
              <a:t>MCQ</a:t>
            </a:r>
          </a:p>
        </p:txBody>
      </p:sp>
      <p:sp>
        <p:nvSpPr>
          <p:cNvPr id="4" name="Sous-titre 3"/>
          <p:cNvSpPr>
            <a:spLocks noGrp="1"/>
          </p:cNvSpPr>
          <p:nvPr>
            <p:ph type="subTitle" idx="13"/>
          </p:nvPr>
        </p:nvSpPr>
        <p:spPr/>
        <p:txBody>
          <a:bodyPr/>
          <a:lstStyle/>
          <a:p>
            <a:r>
              <a:rPr lang="en-US" dirty="0"/>
              <a:t>Question n°5</a:t>
            </a:r>
          </a:p>
        </p:txBody>
      </p:sp>
      <p:sp>
        <p:nvSpPr>
          <p:cNvPr id="5" name="Espace réservé du numéro de diapositive 4"/>
          <p:cNvSpPr>
            <a:spLocks noGrp="1"/>
          </p:cNvSpPr>
          <p:nvPr>
            <p:ph type="sldNum" sz="quarter" idx="12"/>
          </p:nvPr>
        </p:nvSpPr>
        <p:spPr>
          <a:xfrm>
            <a:off x="8387839" y="6381328"/>
            <a:ext cx="2133600" cy="365125"/>
          </a:xfrm>
        </p:spPr>
        <p:txBody>
          <a:bodyPr/>
          <a:lstStyle/>
          <a:p>
            <a:pPr algn="r"/>
            <a:fld id="{307C7597-8D70-4701-8085-9524B0B5C72B}" type="slidenum">
              <a:rPr lang="fr-FR" smtClean="0"/>
              <a:pPr algn="r"/>
              <a:t>67</a:t>
            </a:fld>
            <a:endParaRPr lang="fr-FR" dirty="0"/>
          </a:p>
        </p:txBody>
      </p:sp>
      <p:graphicFrame>
        <p:nvGraphicFramePr>
          <p:cNvPr id="6" name="Tableau 5"/>
          <p:cNvGraphicFramePr>
            <a:graphicFrameLocks noGrp="1"/>
          </p:cNvGraphicFramePr>
          <p:nvPr>
            <p:extLst>
              <p:ext uri="{D42A27DB-BD31-4B8C-83A1-F6EECF244321}">
                <p14:modId xmlns:p14="http://schemas.microsoft.com/office/powerpoint/2010/main" val="2908866251"/>
              </p:ext>
            </p:extLst>
          </p:nvPr>
        </p:nvGraphicFramePr>
        <p:xfrm>
          <a:off x="781051" y="2240294"/>
          <a:ext cx="10108496" cy="2979674"/>
        </p:xfrm>
        <a:graphic>
          <a:graphicData uri="http://schemas.openxmlformats.org/drawingml/2006/table">
            <a:tbl>
              <a:tblPr firstRow="1" firstCol="1" bandRow="1">
                <a:tableStyleId>{5C22544A-7EE6-4342-B048-85BDC9FD1C3A}</a:tableStyleId>
              </a:tblPr>
              <a:tblGrid>
                <a:gridCol w="7811112">
                  <a:extLst>
                    <a:ext uri="{9D8B030D-6E8A-4147-A177-3AD203B41FA5}">
                      <a16:colId xmlns:a16="http://schemas.microsoft.com/office/drawing/2014/main" val="20000"/>
                    </a:ext>
                  </a:extLst>
                </a:gridCol>
                <a:gridCol w="2297384">
                  <a:extLst>
                    <a:ext uri="{9D8B030D-6E8A-4147-A177-3AD203B41FA5}">
                      <a16:colId xmlns:a16="http://schemas.microsoft.com/office/drawing/2014/main" val="20001"/>
                    </a:ext>
                  </a:extLst>
                </a:gridCol>
              </a:tblGrid>
              <a:tr h="352121">
                <a:tc>
                  <a:txBody>
                    <a:bodyPr/>
                    <a:lstStyle/>
                    <a:p>
                      <a:pPr>
                        <a:lnSpc>
                          <a:spcPct val="107000"/>
                        </a:lnSpc>
                        <a:spcAft>
                          <a:spcPts val="0"/>
                        </a:spcAft>
                      </a:pPr>
                      <a:r>
                        <a:rPr lang="en-US" sz="3200" dirty="0">
                          <a:effectLst/>
                        </a:rPr>
                        <a:t>Sales revenue</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tc>
                  <a:txBody>
                    <a:bodyPr/>
                    <a:lstStyle/>
                    <a:p>
                      <a:pPr algn="r">
                        <a:lnSpc>
                          <a:spcPct val="107000"/>
                        </a:lnSpc>
                        <a:spcAft>
                          <a:spcPts val="0"/>
                        </a:spcAft>
                      </a:pPr>
                      <a:r>
                        <a:rPr lang="en-US" sz="3200" b="0" dirty="0">
                          <a:solidFill>
                            <a:schemeClr val="tx1"/>
                          </a:solidFill>
                          <a:effectLst/>
                        </a:rPr>
                        <a:t>€ 200,000</a:t>
                      </a:r>
                      <a:endParaRPr lang="fr-FR" sz="3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solidFill>
                      <a:schemeClr val="accent1">
                        <a:lumMod val="20000"/>
                        <a:lumOff val="80000"/>
                      </a:schemeClr>
                    </a:solidFill>
                  </a:tcPr>
                </a:tc>
                <a:extLst>
                  <a:ext uri="{0D108BD9-81ED-4DB2-BD59-A6C34878D82A}">
                    <a16:rowId xmlns:a16="http://schemas.microsoft.com/office/drawing/2014/main" val="10000"/>
                  </a:ext>
                </a:extLst>
              </a:tr>
              <a:tr h="352121">
                <a:tc>
                  <a:txBody>
                    <a:bodyPr/>
                    <a:lstStyle/>
                    <a:p>
                      <a:pPr>
                        <a:lnSpc>
                          <a:spcPct val="107000"/>
                        </a:lnSpc>
                        <a:spcAft>
                          <a:spcPts val="0"/>
                        </a:spcAft>
                      </a:pPr>
                      <a:r>
                        <a:rPr lang="en-US" sz="3200" dirty="0">
                          <a:effectLst/>
                        </a:rPr>
                        <a:t>Gross profit</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tc>
                  <a:txBody>
                    <a:bodyPr/>
                    <a:lstStyle/>
                    <a:p>
                      <a:pPr algn="r">
                        <a:lnSpc>
                          <a:spcPct val="107000"/>
                        </a:lnSpc>
                        <a:spcAft>
                          <a:spcPts val="0"/>
                        </a:spcAft>
                      </a:pPr>
                      <a:r>
                        <a:rPr lang="en-US" sz="3200">
                          <a:effectLst/>
                        </a:rPr>
                        <a:t>€ 120,000</a:t>
                      </a:r>
                      <a:endParaRPr lang="fr-FR" sz="320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extLst>
                  <a:ext uri="{0D108BD9-81ED-4DB2-BD59-A6C34878D82A}">
                    <a16:rowId xmlns:a16="http://schemas.microsoft.com/office/drawing/2014/main" val="10001"/>
                  </a:ext>
                </a:extLst>
              </a:tr>
              <a:tr h="352121">
                <a:tc>
                  <a:txBody>
                    <a:bodyPr/>
                    <a:lstStyle/>
                    <a:p>
                      <a:pPr>
                        <a:lnSpc>
                          <a:spcPct val="107000"/>
                        </a:lnSpc>
                        <a:spcAft>
                          <a:spcPts val="0"/>
                        </a:spcAft>
                      </a:pPr>
                      <a:r>
                        <a:rPr lang="en-US" sz="3200" dirty="0">
                          <a:effectLst/>
                        </a:rPr>
                        <a:t>Total operating expenses</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tc>
                  <a:txBody>
                    <a:bodyPr/>
                    <a:lstStyle/>
                    <a:p>
                      <a:pPr algn="r">
                        <a:lnSpc>
                          <a:spcPct val="107000"/>
                        </a:lnSpc>
                        <a:spcAft>
                          <a:spcPts val="0"/>
                        </a:spcAft>
                      </a:pPr>
                      <a:r>
                        <a:rPr lang="en-US" sz="3200" dirty="0">
                          <a:effectLst/>
                        </a:rPr>
                        <a:t>€ 110,000</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extLst>
                  <a:ext uri="{0D108BD9-81ED-4DB2-BD59-A6C34878D82A}">
                    <a16:rowId xmlns:a16="http://schemas.microsoft.com/office/drawing/2014/main" val="10002"/>
                  </a:ext>
                </a:extLst>
              </a:tr>
              <a:tr h="206869">
                <a:tc>
                  <a:txBody>
                    <a:bodyPr/>
                    <a:lstStyle/>
                    <a:p>
                      <a:pPr>
                        <a:lnSpc>
                          <a:spcPct val="107000"/>
                        </a:lnSpc>
                        <a:spcAft>
                          <a:spcPts val="0"/>
                        </a:spcAft>
                      </a:pPr>
                      <a:r>
                        <a:rPr lang="en-US" sz="3200" dirty="0">
                          <a:effectLst/>
                        </a:rPr>
                        <a:t>Depreciation and amortization expense</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tc>
                  <a:txBody>
                    <a:bodyPr/>
                    <a:lstStyle/>
                    <a:p>
                      <a:pPr algn="r">
                        <a:lnSpc>
                          <a:spcPct val="107000"/>
                        </a:lnSpc>
                        <a:spcAft>
                          <a:spcPts val="0"/>
                        </a:spcAft>
                      </a:pPr>
                      <a:r>
                        <a:rPr lang="en-US" sz="3200" dirty="0">
                          <a:effectLst/>
                        </a:rPr>
                        <a:t>€ 45,000</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extLst>
                  <a:ext uri="{0D108BD9-81ED-4DB2-BD59-A6C34878D82A}">
                    <a16:rowId xmlns:a16="http://schemas.microsoft.com/office/drawing/2014/main" val="10003"/>
                  </a:ext>
                </a:extLst>
              </a:tr>
              <a:tr h="206869">
                <a:tc>
                  <a:txBody>
                    <a:bodyPr/>
                    <a:lstStyle/>
                    <a:p>
                      <a:pPr>
                        <a:lnSpc>
                          <a:spcPct val="107000"/>
                        </a:lnSpc>
                        <a:spcAft>
                          <a:spcPts val="0"/>
                        </a:spcAft>
                      </a:pPr>
                      <a:r>
                        <a:rPr lang="fr-FR" sz="3200" dirty="0">
                          <a:effectLst/>
                          <a:latin typeface="Calibri" panose="020F0502020204030204" pitchFamily="34" charset="0"/>
                          <a:ea typeface="Calibri" panose="020F0502020204030204" pitchFamily="34" charset="0"/>
                          <a:cs typeface="Times New Roman" panose="02020603050405020304" pitchFamily="18" charset="0"/>
                        </a:rPr>
                        <a:t>Non-</a:t>
                      </a:r>
                      <a:r>
                        <a:rPr lang="fr-FR" sz="3200" dirty="0" err="1">
                          <a:effectLst/>
                          <a:latin typeface="Calibri" panose="020F0502020204030204" pitchFamily="34" charset="0"/>
                          <a:ea typeface="Calibri" panose="020F0502020204030204" pitchFamily="34" charset="0"/>
                          <a:cs typeface="Times New Roman" panose="02020603050405020304" pitchFamily="18" charset="0"/>
                        </a:rPr>
                        <a:t>recurring</a:t>
                      </a:r>
                      <a:r>
                        <a:rPr lang="fr-FR" sz="3200" dirty="0">
                          <a:effectLst/>
                          <a:latin typeface="Calibri" panose="020F0502020204030204" pitchFamily="34" charset="0"/>
                          <a:ea typeface="Calibri" panose="020F0502020204030204" pitchFamily="34" charset="0"/>
                          <a:cs typeface="Times New Roman" panose="02020603050405020304" pitchFamily="18" charset="0"/>
                        </a:rPr>
                        <a:t> </a:t>
                      </a:r>
                      <a:r>
                        <a:rPr lang="fr-FR" sz="3200" dirty="0" err="1">
                          <a:effectLst/>
                          <a:latin typeface="Calibri" panose="020F0502020204030204" pitchFamily="34" charset="0"/>
                          <a:ea typeface="Calibri" panose="020F0502020204030204" pitchFamily="34" charset="0"/>
                          <a:cs typeface="Times New Roman" panose="02020603050405020304" pitchFamily="18" charset="0"/>
                        </a:rPr>
                        <a:t>expense</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tc>
                  <a:txBody>
                    <a:bodyPr/>
                    <a:lstStyle/>
                    <a:p>
                      <a:pPr algn="r">
                        <a:lnSpc>
                          <a:spcPct val="107000"/>
                        </a:lnSpc>
                        <a:spcAft>
                          <a:spcPts val="0"/>
                        </a:spcAft>
                      </a:pPr>
                      <a:r>
                        <a:rPr lang="fr-FR" sz="3200" dirty="0">
                          <a:effectLst/>
                          <a:latin typeface="Calibri" panose="020F0502020204030204" pitchFamily="34" charset="0"/>
                          <a:ea typeface="Calibri" panose="020F0502020204030204" pitchFamily="34" charset="0"/>
                          <a:cs typeface="Times New Roman" panose="02020603050405020304" pitchFamily="18" charset="0"/>
                        </a:rPr>
                        <a:t>€0</a:t>
                      </a:r>
                    </a:p>
                  </a:txBody>
                  <a:tcPr marL="44451" marR="44451" marT="0" marB="0" anchor="b"/>
                </a:tc>
                <a:extLst>
                  <a:ext uri="{0D108BD9-81ED-4DB2-BD59-A6C34878D82A}">
                    <a16:rowId xmlns:a16="http://schemas.microsoft.com/office/drawing/2014/main" val="1924570490"/>
                  </a:ext>
                </a:extLst>
              </a:tr>
              <a:tr h="206869">
                <a:tc>
                  <a:txBody>
                    <a:bodyPr/>
                    <a:lstStyle/>
                    <a:p>
                      <a:pPr>
                        <a:lnSpc>
                          <a:spcPct val="107000"/>
                        </a:lnSpc>
                        <a:spcAft>
                          <a:spcPts val="0"/>
                        </a:spcAft>
                      </a:pPr>
                      <a:r>
                        <a:rPr lang="fr-FR" sz="3200" dirty="0">
                          <a:effectLst/>
                          <a:latin typeface="Calibri" panose="020F0502020204030204" pitchFamily="34" charset="0"/>
                          <a:ea typeface="Calibri" panose="020F0502020204030204" pitchFamily="34" charset="0"/>
                          <a:cs typeface="Times New Roman" panose="02020603050405020304" pitchFamily="18" charset="0"/>
                        </a:rPr>
                        <a:t>Non-</a:t>
                      </a:r>
                      <a:r>
                        <a:rPr lang="fr-FR" sz="3200" dirty="0" err="1">
                          <a:effectLst/>
                          <a:latin typeface="Calibri" panose="020F0502020204030204" pitchFamily="34" charset="0"/>
                          <a:ea typeface="Calibri" panose="020F0502020204030204" pitchFamily="34" charset="0"/>
                          <a:cs typeface="Times New Roman" panose="02020603050405020304" pitchFamily="18" charset="0"/>
                        </a:rPr>
                        <a:t>recurring</a:t>
                      </a:r>
                      <a:r>
                        <a:rPr lang="fr-FR" sz="3200" dirty="0">
                          <a:effectLst/>
                          <a:latin typeface="Calibri" panose="020F0502020204030204" pitchFamily="34" charset="0"/>
                          <a:ea typeface="Calibri" panose="020F0502020204030204" pitchFamily="34" charset="0"/>
                          <a:cs typeface="Times New Roman" panose="02020603050405020304" pitchFamily="18" charset="0"/>
                        </a:rPr>
                        <a:t> </a:t>
                      </a:r>
                      <a:r>
                        <a:rPr lang="fr-FR" sz="3200" dirty="0" err="1">
                          <a:effectLst/>
                          <a:latin typeface="Calibri" panose="020F0502020204030204" pitchFamily="34" charset="0"/>
                          <a:ea typeface="Calibri" panose="020F0502020204030204" pitchFamily="34" charset="0"/>
                          <a:cs typeface="Times New Roman" panose="02020603050405020304" pitchFamily="18" charset="0"/>
                        </a:rPr>
                        <a:t>income</a:t>
                      </a:r>
                      <a:endParaRPr lang="fr-FR"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1" marR="44451" marT="0" marB="0" anchor="b"/>
                </a:tc>
                <a:tc>
                  <a:txBody>
                    <a:bodyPr/>
                    <a:lstStyle/>
                    <a:p>
                      <a:pPr algn="r">
                        <a:lnSpc>
                          <a:spcPct val="107000"/>
                        </a:lnSpc>
                        <a:spcAft>
                          <a:spcPts val="0"/>
                        </a:spcAft>
                      </a:pPr>
                      <a:r>
                        <a:rPr lang="fr-FR" sz="3200" dirty="0">
                          <a:effectLst/>
                          <a:latin typeface="Calibri" panose="020F0502020204030204" pitchFamily="34" charset="0"/>
                          <a:ea typeface="Calibri" panose="020F0502020204030204" pitchFamily="34" charset="0"/>
                          <a:cs typeface="Times New Roman" panose="02020603050405020304" pitchFamily="18" charset="0"/>
                        </a:rPr>
                        <a:t>€0</a:t>
                      </a:r>
                    </a:p>
                  </a:txBody>
                  <a:tcPr marL="44451" marR="44451" marT="0" marB="0" anchor="b"/>
                </a:tc>
                <a:extLst>
                  <a:ext uri="{0D108BD9-81ED-4DB2-BD59-A6C34878D82A}">
                    <a16:rowId xmlns:a16="http://schemas.microsoft.com/office/drawing/2014/main" val="3825433055"/>
                  </a:ext>
                </a:extLst>
              </a:tr>
            </a:tbl>
          </a:graphicData>
        </a:graphic>
      </p:graphicFrame>
    </p:spTree>
    <p:extLst>
      <p:ext uri="{BB962C8B-B14F-4D97-AF65-F5344CB8AC3E}">
        <p14:creationId xmlns:p14="http://schemas.microsoft.com/office/powerpoint/2010/main" val="39048440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527382" y="836712"/>
            <a:ext cx="11425268" cy="5512832"/>
          </a:xfrm>
        </p:spPr>
        <p:txBody>
          <a:bodyPr>
            <a:normAutofit/>
          </a:bodyPr>
          <a:lstStyle/>
          <a:p>
            <a:pPr marL="0" indent="0">
              <a:buNone/>
            </a:pPr>
            <a:r>
              <a:rPr lang="en-US" dirty="0"/>
              <a:t>     A company has these amounts during the year 2024:</a:t>
            </a:r>
            <a:endParaRPr lang="fr-FR" dirty="0"/>
          </a:p>
          <a:p>
            <a:pPr marL="0" indent="0">
              <a:buNone/>
            </a:pPr>
            <a:r>
              <a:rPr lang="en-US" dirty="0"/>
              <a:t>	</a:t>
            </a:r>
            <a:r>
              <a:rPr lang="en-US" b="0" dirty="0"/>
              <a:t>Raw material purchases					€400,000</a:t>
            </a:r>
            <a:endParaRPr lang="fr-FR" b="0" dirty="0"/>
          </a:p>
          <a:p>
            <a:pPr marL="0" indent="0">
              <a:buNone/>
            </a:pPr>
            <a:r>
              <a:rPr lang="en-US" b="0" dirty="0"/>
              <a:t>	Opening raw material inventory			€120,000</a:t>
            </a:r>
            <a:endParaRPr lang="fr-FR" b="0" dirty="0"/>
          </a:p>
          <a:p>
            <a:pPr marL="0" indent="0">
              <a:buNone/>
            </a:pPr>
            <a:r>
              <a:rPr lang="en-US" b="0" dirty="0"/>
              <a:t>	Ending raw material inventory	  		            €80,000</a:t>
            </a:r>
            <a:endParaRPr lang="fr-FR" b="0" dirty="0"/>
          </a:p>
          <a:p>
            <a:pPr marL="0" indent="0">
              <a:buNone/>
            </a:pPr>
            <a:r>
              <a:rPr lang="en-US" b="0" dirty="0"/>
              <a:t>	Direct labor cost					          €200,000</a:t>
            </a:r>
            <a:endParaRPr lang="fr-FR" b="0" dirty="0"/>
          </a:p>
          <a:p>
            <a:pPr marL="0" indent="0">
              <a:buNone/>
            </a:pPr>
            <a:r>
              <a:rPr lang="en-US" b="0" dirty="0"/>
              <a:t>	Manufacturing overhead				€100,000</a:t>
            </a:r>
            <a:endParaRPr lang="fr-FR" b="0" dirty="0"/>
          </a:p>
          <a:p>
            <a:pPr marL="0" indent="0">
              <a:buNone/>
            </a:pPr>
            <a:r>
              <a:rPr lang="en-US" b="0" dirty="0"/>
              <a:t>	Selling, general and administrative expense	€300,000</a:t>
            </a:r>
            <a:endParaRPr lang="fr-FR" b="0" dirty="0"/>
          </a:p>
          <a:p>
            <a:pPr marL="0" indent="0">
              <a:buNone/>
            </a:pPr>
            <a:r>
              <a:rPr lang="en-US" b="0" dirty="0"/>
              <a:t>	Opening Finished goods inventory			€100,000</a:t>
            </a:r>
            <a:endParaRPr lang="fr-FR" b="0" dirty="0"/>
          </a:p>
          <a:p>
            <a:pPr marL="0" indent="0">
              <a:buNone/>
            </a:pPr>
            <a:r>
              <a:rPr lang="en-US" b="0" dirty="0"/>
              <a:t>	Ending Finished goods inventory			€150,000</a:t>
            </a:r>
            <a:endParaRPr lang="fr-FR" b="0" dirty="0"/>
          </a:p>
          <a:p>
            <a:pPr marL="0" indent="0">
              <a:buNone/>
            </a:pPr>
            <a:r>
              <a:rPr lang="en-US" dirty="0"/>
              <a:t>What is cost of goods sold or cost of sales in 2024?</a:t>
            </a:r>
          </a:p>
          <a:p>
            <a:pPr marL="0" indent="0">
              <a:buNone/>
            </a:pPr>
            <a:r>
              <a:rPr lang="en-US" b="0" dirty="0"/>
              <a:t>(a) €650,000  (b) €690,000  (c) €710,000  (d) €1,010,000</a:t>
            </a:r>
            <a:endParaRPr lang="fr-FR" b="0" dirty="0"/>
          </a:p>
          <a:p>
            <a:endParaRPr lang="en-US" dirty="0"/>
          </a:p>
        </p:txBody>
      </p:sp>
      <p:sp>
        <p:nvSpPr>
          <p:cNvPr id="3" name="Titre 2"/>
          <p:cNvSpPr>
            <a:spLocks noGrp="1"/>
          </p:cNvSpPr>
          <p:nvPr>
            <p:ph type="title"/>
          </p:nvPr>
        </p:nvSpPr>
        <p:spPr>
          <a:xfrm>
            <a:off x="2135561" y="188642"/>
            <a:ext cx="7886700" cy="633687"/>
          </a:xfrm>
        </p:spPr>
        <p:txBody>
          <a:bodyPr/>
          <a:lstStyle/>
          <a:p>
            <a:r>
              <a:rPr lang="en-US" dirty="0"/>
              <a:t>MCQ</a:t>
            </a:r>
          </a:p>
        </p:txBody>
      </p:sp>
      <p:sp>
        <p:nvSpPr>
          <p:cNvPr id="4" name="Sous-titre 3"/>
          <p:cNvSpPr>
            <a:spLocks noGrp="1"/>
          </p:cNvSpPr>
          <p:nvPr>
            <p:ph type="subTitle" idx="13"/>
          </p:nvPr>
        </p:nvSpPr>
        <p:spPr>
          <a:xfrm>
            <a:off x="3695734" y="265149"/>
            <a:ext cx="8366765" cy="480671"/>
          </a:xfrm>
        </p:spPr>
        <p:txBody>
          <a:bodyPr/>
          <a:lstStyle/>
          <a:p>
            <a:r>
              <a:rPr lang="en-US" dirty="0"/>
              <a:t>Question n°6</a:t>
            </a:r>
          </a:p>
        </p:txBody>
      </p:sp>
      <p:sp>
        <p:nvSpPr>
          <p:cNvPr id="5" name="Espace réservé du numéro de diapositive 4"/>
          <p:cNvSpPr>
            <a:spLocks noGrp="1"/>
          </p:cNvSpPr>
          <p:nvPr>
            <p:ph type="sldNum" sz="quarter" idx="12"/>
          </p:nvPr>
        </p:nvSpPr>
        <p:spPr>
          <a:xfrm>
            <a:off x="8387839" y="6381328"/>
            <a:ext cx="2133600" cy="365125"/>
          </a:xfrm>
        </p:spPr>
        <p:txBody>
          <a:bodyPr/>
          <a:lstStyle/>
          <a:p>
            <a:pPr algn="r"/>
            <a:fld id="{307C7597-8D70-4701-8085-9524B0B5C72B}" type="slidenum">
              <a:rPr lang="fr-FR" smtClean="0"/>
              <a:pPr algn="r"/>
              <a:t>68</a:t>
            </a:fld>
            <a:endParaRPr lang="fr-FR" dirty="0"/>
          </a:p>
        </p:txBody>
      </p:sp>
    </p:spTree>
    <p:extLst>
      <p:ext uri="{BB962C8B-B14F-4D97-AF65-F5344CB8AC3E}">
        <p14:creationId xmlns:p14="http://schemas.microsoft.com/office/powerpoint/2010/main" val="4284458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31371" y="3248025"/>
            <a:ext cx="11760629" cy="1019175"/>
          </a:xfrm>
        </p:spPr>
        <p:txBody>
          <a:bodyPr>
            <a:normAutofit fontScale="90000"/>
          </a:bodyPr>
          <a:lstStyle/>
          <a:p>
            <a:r>
              <a:rPr lang="en-US" dirty="0"/>
              <a:t>Inventory valuation: FIFO, LIFO and WAC</a:t>
            </a:r>
          </a:p>
        </p:txBody>
      </p:sp>
      <p:sp>
        <p:nvSpPr>
          <p:cNvPr id="5" name="Subtitle 4">
            <a:extLst>
              <a:ext uri="{FF2B5EF4-FFF2-40B4-BE49-F238E27FC236}">
                <a16:creationId xmlns:a16="http://schemas.microsoft.com/office/drawing/2014/main" id="{F18DCD11-A14F-9B08-BD4C-38930AD316A1}"/>
              </a:ext>
            </a:extLst>
          </p:cNvPr>
          <p:cNvSpPr>
            <a:spLocks noGrp="1"/>
          </p:cNvSpPr>
          <p:nvPr>
            <p:ph type="subTitle" idx="1"/>
          </p:nvPr>
        </p:nvSpPr>
        <p:spPr/>
        <p:txBody>
          <a:bodyPr>
            <a:normAutofit/>
          </a:bodyPr>
          <a:lstStyle/>
          <a:p>
            <a:r>
              <a:rPr lang="fr-FR" sz="2800" dirty="0"/>
              <a:t>P&amp;L or </a:t>
            </a:r>
            <a:r>
              <a:rPr lang="fr-FR" sz="2800" dirty="0" err="1"/>
              <a:t>income</a:t>
            </a:r>
            <a:r>
              <a:rPr lang="fr-FR" sz="2800" dirty="0"/>
              <a:t> </a:t>
            </a:r>
            <a:r>
              <a:rPr lang="fr-FR" sz="2800" dirty="0" err="1"/>
              <a:t>statement</a:t>
            </a:r>
            <a:r>
              <a:rPr lang="fr-FR" sz="2800" dirty="0"/>
              <a:t> </a:t>
            </a:r>
            <a:r>
              <a:rPr lang="fr-FR" sz="2800" dirty="0" err="1"/>
              <a:t>categories</a:t>
            </a:r>
            <a:endParaRPr lang="en-US" sz="2800" dirty="0"/>
          </a:p>
        </p:txBody>
      </p:sp>
    </p:spTree>
    <p:extLst>
      <p:ext uri="{BB962C8B-B14F-4D97-AF65-F5344CB8AC3E}">
        <p14:creationId xmlns:p14="http://schemas.microsoft.com/office/powerpoint/2010/main" val="24346916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51585" y="188642"/>
            <a:ext cx="7886700" cy="633687"/>
          </a:xfrm>
        </p:spPr>
        <p:txBody>
          <a:bodyPr/>
          <a:lstStyle/>
          <a:p>
            <a:r>
              <a:rPr lang="en-US" dirty="0"/>
              <a:t>MCQ n°7</a:t>
            </a:r>
          </a:p>
        </p:txBody>
      </p:sp>
      <p:sp>
        <p:nvSpPr>
          <p:cNvPr id="4" name="Subtitle 3"/>
          <p:cNvSpPr>
            <a:spLocks noGrp="1"/>
          </p:cNvSpPr>
          <p:nvPr>
            <p:ph type="subTitle" idx="13"/>
          </p:nvPr>
        </p:nvSpPr>
        <p:spPr>
          <a:xfrm>
            <a:off x="2377527" y="822328"/>
            <a:ext cx="8290475" cy="862227"/>
          </a:xfrm>
        </p:spPr>
        <p:txBody>
          <a:bodyPr/>
          <a:lstStyle/>
          <a:p>
            <a:r>
              <a:rPr lang="en-US" dirty="0"/>
              <a:t>What is the total cost of the merchandise sold under FIFO method?</a:t>
            </a:r>
          </a:p>
        </p:txBody>
      </p:sp>
      <p:sp>
        <p:nvSpPr>
          <p:cNvPr id="5" name="Slide Number Placeholder 4"/>
          <p:cNvSpPr>
            <a:spLocks noGrp="1"/>
          </p:cNvSpPr>
          <p:nvPr>
            <p:ph type="sldNum" sz="quarter" idx="12"/>
          </p:nvPr>
        </p:nvSpPr>
        <p:spPr>
          <a:xfrm>
            <a:off x="8328248" y="6507008"/>
            <a:ext cx="2133600" cy="365125"/>
          </a:xfrm>
        </p:spPr>
        <p:txBody>
          <a:bodyPr/>
          <a:lstStyle/>
          <a:p>
            <a:pPr algn="r"/>
            <a:fld id="{307C7597-8D70-4701-8085-9524B0B5C72B}" type="slidenum">
              <a:rPr lang="fr-FR" smtClean="0"/>
              <a:pPr algn="r"/>
              <a:t>70</a:t>
            </a:fld>
            <a:endParaRPr lang="fr-FR"/>
          </a:p>
        </p:txBody>
      </p:sp>
      <p:graphicFrame>
        <p:nvGraphicFramePr>
          <p:cNvPr id="6" name="Espace réservé du contenu 5"/>
          <p:cNvGraphicFramePr>
            <a:graphicFrameLocks noGrp="1"/>
          </p:cNvGraphicFramePr>
          <p:nvPr>
            <p:ph idx="1"/>
          </p:nvPr>
        </p:nvGraphicFramePr>
        <p:xfrm>
          <a:off x="1631506" y="1628801"/>
          <a:ext cx="8924434" cy="4365090"/>
        </p:xfrm>
        <a:graphic>
          <a:graphicData uri="http://schemas.openxmlformats.org/drawingml/2006/table">
            <a:tbl>
              <a:tblPr firstRow="1" bandRow="1">
                <a:tableStyleId>{5C22544A-7EE6-4342-B048-85BDC9FD1C3A}</a:tableStyleId>
              </a:tblPr>
              <a:tblGrid>
                <a:gridCol w="3312367">
                  <a:extLst>
                    <a:ext uri="{9D8B030D-6E8A-4147-A177-3AD203B41FA5}">
                      <a16:colId xmlns:a16="http://schemas.microsoft.com/office/drawing/2014/main" val="20000"/>
                    </a:ext>
                  </a:extLst>
                </a:gridCol>
                <a:gridCol w="1553383">
                  <a:extLst>
                    <a:ext uri="{9D8B030D-6E8A-4147-A177-3AD203B41FA5}">
                      <a16:colId xmlns:a16="http://schemas.microsoft.com/office/drawing/2014/main" val="20001"/>
                    </a:ext>
                  </a:extLst>
                </a:gridCol>
                <a:gridCol w="2213828">
                  <a:extLst>
                    <a:ext uri="{9D8B030D-6E8A-4147-A177-3AD203B41FA5}">
                      <a16:colId xmlns:a16="http://schemas.microsoft.com/office/drawing/2014/main" val="20002"/>
                    </a:ext>
                  </a:extLst>
                </a:gridCol>
                <a:gridCol w="1844856">
                  <a:extLst>
                    <a:ext uri="{9D8B030D-6E8A-4147-A177-3AD203B41FA5}">
                      <a16:colId xmlns:a16="http://schemas.microsoft.com/office/drawing/2014/main" val="20003"/>
                    </a:ext>
                  </a:extLst>
                </a:gridCol>
              </a:tblGrid>
              <a:tr h="564063">
                <a:tc>
                  <a:txBody>
                    <a:bodyPr/>
                    <a:lstStyle/>
                    <a:p>
                      <a:pPr algn="ctr"/>
                      <a:endParaRPr lang="fr-FR" sz="2400" dirty="0">
                        <a:solidFill>
                          <a:schemeClr val="tx1"/>
                        </a:solidFill>
                      </a:endParaRPr>
                    </a:p>
                  </a:txBody>
                  <a:tcPr>
                    <a:lnB w="12700" cap="flat" cmpd="sng" algn="ctr">
                      <a:solidFill>
                        <a:schemeClr val="tx1"/>
                      </a:solidFill>
                      <a:prstDash val="solid"/>
                      <a:round/>
                      <a:headEnd type="none" w="med" len="med"/>
                      <a:tailEnd type="none" w="med" len="med"/>
                    </a:lnB>
                    <a:noFill/>
                  </a:tcPr>
                </a:tc>
                <a:tc>
                  <a:txBody>
                    <a:bodyPr/>
                    <a:lstStyle/>
                    <a:p>
                      <a:pPr algn="ctr"/>
                      <a:r>
                        <a:rPr lang="fr-FR" sz="2400" dirty="0" err="1">
                          <a:solidFill>
                            <a:schemeClr val="tx1"/>
                          </a:solidFill>
                        </a:rPr>
                        <a:t>Quantity</a:t>
                      </a:r>
                      <a:endParaRPr lang="fr-FR" sz="2400" dirty="0">
                        <a:solidFill>
                          <a:schemeClr val="tx1"/>
                        </a:solidFill>
                      </a:endParaRPr>
                    </a:p>
                  </a:txBody>
                  <a:tcP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fr-FR" sz="2400" dirty="0">
                          <a:solidFill>
                            <a:schemeClr val="tx1"/>
                          </a:solidFill>
                        </a:rPr>
                        <a:t>Unit </a:t>
                      </a:r>
                      <a:r>
                        <a:rPr lang="fr-FR" sz="2400" dirty="0" err="1">
                          <a:solidFill>
                            <a:schemeClr val="tx1"/>
                          </a:solidFill>
                        </a:rPr>
                        <a:t>Cost</a:t>
                      </a:r>
                      <a:r>
                        <a:rPr lang="fr-FR" sz="2400" dirty="0">
                          <a:solidFill>
                            <a:schemeClr val="tx1"/>
                          </a:solidFill>
                        </a:rPr>
                        <a:t> (€)</a:t>
                      </a:r>
                    </a:p>
                  </a:txBody>
                  <a:tcP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fr-FR" sz="2400" dirty="0">
                          <a:solidFill>
                            <a:schemeClr val="tx1"/>
                          </a:solidFill>
                        </a:rPr>
                        <a:t>Total </a:t>
                      </a:r>
                      <a:r>
                        <a:rPr lang="fr-FR" sz="2400" dirty="0" err="1">
                          <a:solidFill>
                            <a:schemeClr val="tx1"/>
                          </a:solidFill>
                        </a:rPr>
                        <a:t>cost</a:t>
                      </a:r>
                      <a:endParaRPr lang="fr-FR" sz="2400" dirty="0">
                        <a:solidFill>
                          <a:schemeClr val="tx1"/>
                        </a:solidFill>
                      </a:endParaRPr>
                    </a:p>
                  </a:txBody>
                  <a:tcPr>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822960">
                <a:tc>
                  <a:txBody>
                    <a:bodyPr/>
                    <a:lstStyle/>
                    <a:p>
                      <a:r>
                        <a:rPr lang="fr-FR" sz="2400" dirty="0" err="1"/>
                        <a:t>Opening</a:t>
                      </a:r>
                      <a:r>
                        <a:rPr lang="fr-FR" sz="2400" dirty="0"/>
                        <a:t> </a:t>
                      </a:r>
                      <a:r>
                        <a:rPr lang="fr-FR" sz="2400" dirty="0" err="1"/>
                        <a:t>merchandise</a:t>
                      </a:r>
                      <a:r>
                        <a:rPr lang="fr-FR" sz="2400" dirty="0"/>
                        <a:t> </a:t>
                      </a:r>
                      <a:r>
                        <a:rPr lang="fr-FR" sz="2400" dirty="0" err="1"/>
                        <a:t>inventory</a:t>
                      </a:r>
                      <a:endParaRPr lang="fr-FR"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fr-FR" sz="2400" dirty="0"/>
                        <a:t>100</a:t>
                      </a:r>
                    </a:p>
                  </a:txBody>
                  <a:tcPr anchor="ctr">
                    <a:lnT w="12700" cap="flat" cmpd="sng" algn="ctr">
                      <a:solidFill>
                        <a:schemeClr val="tx1"/>
                      </a:solidFill>
                      <a:prstDash val="solid"/>
                      <a:round/>
                      <a:headEnd type="none" w="med" len="med"/>
                      <a:tailEnd type="none" w="med" len="med"/>
                    </a:lnT>
                  </a:tcPr>
                </a:tc>
                <a:tc>
                  <a:txBody>
                    <a:bodyPr/>
                    <a:lstStyle/>
                    <a:p>
                      <a:pPr algn="r"/>
                      <a:r>
                        <a:rPr lang="fr-FR" sz="2400" dirty="0"/>
                        <a:t>100</a:t>
                      </a:r>
                    </a:p>
                  </a:txBody>
                  <a:tcPr anchor="ctr">
                    <a:lnT w="12700" cap="flat" cmpd="sng" algn="ctr">
                      <a:solidFill>
                        <a:schemeClr val="tx1"/>
                      </a:solidFill>
                      <a:prstDash val="solid"/>
                      <a:round/>
                      <a:headEnd type="none" w="med" len="med"/>
                      <a:tailEnd type="none" w="med" len="med"/>
                    </a:lnT>
                  </a:tcPr>
                </a:tc>
                <a:tc>
                  <a:txBody>
                    <a:bodyPr/>
                    <a:lstStyle/>
                    <a:p>
                      <a:pPr algn="r"/>
                      <a:endParaRPr lang="fr-FR" sz="24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822960">
                <a:tc>
                  <a:txBody>
                    <a:bodyPr/>
                    <a:lstStyle/>
                    <a:p>
                      <a:r>
                        <a:rPr lang="fr-FR" sz="2400" baseline="0" dirty="0" err="1"/>
                        <a:t>Merchandise</a:t>
                      </a:r>
                      <a:r>
                        <a:rPr lang="fr-FR" sz="2400" baseline="0" dirty="0"/>
                        <a:t> </a:t>
                      </a:r>
                      <a:r>
                        <a:rPr lang="fr-FR" sz="2400" baseline="0" dirty="0" err="1"/>
                        <a:t>purchased</a:t>
                      </a:r>
                      <a:endParaRPr lang="fr-FR" sz="24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fr-FR" sz="2400" dirty="0"/>
                        <a:t>60</a:t>
                      </a:r>
                    </a:p>
                  </a:txBody>
                  <a:tcPr anchor="ctr">
                    <a:lnB w="12700" cap="flat" cmpd="sng" algn="ctr">
                      <a:solidFill>
                        <a:schemeClr val="tx1"/>
                      </a:solidFill>
                      <a:prstDash val="solid"/>
                      <a:round/>
                      <a:headEnd type="none" w="med" len="med"/>
                      <a:tailEnd type="none" w="med" len="med"/>
                    </a:lnB>
                  </a:tcPr>
                </a:tc>
                <a:tc>
                  <a:txBody>
                    <a:bodyPr/>
                    <a:lstStyle/>
                    <a:p>
                      <a:pPr algn="r"/>
                      <a:r>
                        <a:rPr lang="fr-FR" sz="2400" dirty="0"/>
                        <a:t>80</a:t>
                      </a:r>
                    </a:p>
                  </a:txBody>
                  <a:tcPr anchor="ctr">
                    <a:lnB w="12700" cap="flat" cmpd="sng" algn="ctr">
                      <a:solidFill>
                        <a:schemeClr val="tx1"/>
                      </a:solidFill>
                      <a:prstDash val="solid"/>
                      <a:round/>
                      <a:headEnd type="none" w="med" len="med"/>
                      <a:tailEnd type="none" w="med" len="med"/>
                    </a:lnB>
                  </a:tcPr>
                </a:tc>
                <a:tc>
                  <a:txBody>
                    <a:bodyPr/>
                    <a:lstStyle/>
                    <a:p>
                      <a:pPr algn="r"/>
                      <a:endParaRPr lang="fr-FR" sz="24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6071">
                <a:tc>
                  <a:txBody>
                    <a:bodyPr/>
                    <a:lstStyle/>
                    <a:p>
                      <a:r>
                        <a:rPr lang="fr-FR" sz="2400" baseline="0" dirty="0" err="1"/>
                        <a:t>Available</a:t>
                      </a:r>
                      <a:r>
                        <a:rPr lang="fr-FR" sz="2400" baseline="0" dirty="0"/>
                        <a:t> </a:t>
                      </a:r>
                      <a:r>
                        <a:rPr lang="fr-FR" sz="2400" baseline="0" dirty="0" err="1"/>
                        <a:t>inventory</a:t>
                      </a:r>
                      <a:r>
                        <a:rPr lang="fr-FR" sz="2400" baseline="0" dirty="0"/>
                        <a:t>*</a:t>
                      </a:r>
                      <a:endParaRPr lang="fr-FR"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4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6076">
                <a:tc>
                  <a:txBody>
                    <a:bodyPr/>
                    <a:lstStyle/>
                    <a:p>
                      <a:r>
                        <a:rPr lang="fr-FR" sz="2400" dirty="0" err="1"/>
                        <a:t>Merchandise</a:t>
                      </a:r>
                      <a:r>
                        <a:rPr lang="fr-FR" sz="2400" baseline="0" dirty="0"/>
                        <a:t> </a:t>
                      </a:r>
                      <a:r>
                        <a:rPr lang="fr-FR" sz="2400" baseline="0" dirty="0" err="1"/>
                        <a:t>sold</a:t>
                      </a:r>
                      <a:endParaRPr lang="fr-FR" sz="2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endParaRPr lang="fr-FR" sz="2400" dirty="0"/>
                    </a:p>
                  </a:txBody>
                  <a:tcPr anchor="ctr">
                    <a:lnT w="12700" cap="flat" cmpd="sng" algn="ctr">
                      <a:solidFill>
                        <a:schemeClr val="tx1"/>
                      </a:solidFill>
                      <a:prstDash val="solid"/>
                      <a:round/>
                      <a:headEnd type="none" w="med" len="med"/>
                      <a:tailEnd type="none" w="med" len="med"/>
                    </a:lnT>
                  </a:tcPr>
                </a:tc>
                <a:tc>
                  <a:txBody>
                    <a:bodyPr/>
                    <a:lstStyle/>
                    <a:p>
                      <a:endParaRPr lang="en-US" sz="2400" dirty="0"/>
                    </a:p>
                  </a:txBody>
                  <a:tcPr anchor="ctr">
                    <a:lnT w="12700" cap="flat" cmpd="sng" algn="ctr">
                      <a:solidFill>
                        <a:schemeClr val="tx1"/>
                      </a:solidFill>
                      <a:prstDash val="solid"/>
                      <a:round/>
                      <a:headEnd type="none" w="med" len="med"/>
                      <a:tailEnd type="none" w="med" len="med"/>
                    </a:lnT>
                  </a:tcPr>
                </a:tc>
                <a:tc>
                  <a:txBody>
                    <a:bodyPr/>
                    <a:lstStyle/>
                    <a:p>
                      <a:pPr algn="r"/>
                      <a:endParaRPr lang="en-US" sz="24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822960">
                <a:tc>
                  <a:txBody>
                    <a:bodyPr/>
                    <a:lstStyle/>
                    <a:p>
                      <a:r>
                        <a:rPr lang="fr-FR" sz="2400" dirty="0"/>
                        <a:t>Ending </a:t>
                      </a:r>
                      <a:r>
                        <a:rPr lang="fr-FR" sz="2400" dirty="0" err="1"/>
                        <a:t>merchandise</a:t>
                      </a:r>
                      <a:r>
                        <a:rPr lang="fr-FR" sz="2400" dirty="0"/>
                        <a:t> </a:t>
                      </a:r>
                      <a:r>
                        <a:rPr lang="fr-FR" sz="2400" dirty="0" err="1"/>
                        <a:t>inventory</a:t>
                      </a:r>
                      <a:endParaRPr lang="fr-FR" sz="24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en-US" sz="2400" dirty="0"/>
                        <a:t>40</a:t>
                      </a:r>
                    </a:p>
                  </a:txBody>
                  <a:tcPr anchor="ctr">
                    <a:lnB w="12700" cap="flat" cmpd="sng" algn="ctr">
                      <a:solidFill>
                        <a:schemeClr val="tx1"/>
                      </a:solidFill>
                      <a:prstDash val="solid"/>
                      <a:round/>
                      <a:headEnd type="none" w="med" len="med"/>
                      <a:tailEnd type="none" w="med" len="med"/>
                    </a:lnB>
                  </a:tcPr>
                </a:tc>
                <a:tc>
                  <a:txBody>
                    <a:bodyPr/>
                    <a:lstStyle/>
                    <a:p>
                      <a:endParaRPr lang="en-US" sz="2400" dirty="0"/>
                    </a:p>
                  </a:txBody>
                  <a:tcPr anchor="ctr">
                    <a:lnB w="12700" cap="flat" cmpd="sng" algn="ctr">
                      <a:solidFill>
                        <a:schemeClr val="tx1"/>
                      </a:solidFill>
                      <a:prstDash val="solid"/>
                      <a:round/>
                      <a:headEnd type="none" w="med" len="med"/>
                      <a:tailEnd type="none" w="med" len="med"/>
                    </a:lnB>
                  </a:tcPr>
                </a:tc>
                <a:tc>
                  <a:txBody>
                    <a:bodyPr/>
                    <a:lstStyle/>
                    <a:p>
                      <a:pPr algn="ctr"/>
                      <a:endParaRPr lang="en-US" sz="24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extBox 1"/>
          <p:cNvSpPr txBox="1"/>
          <p:nvPr/>
        </p:nvSpPr>
        <p:spPr>
          <a:xfrm>
            <a:off x="1878799" y="6093297"/>
            <a:ext cx="8352928" cy="461665"/>
          </a:xfrm>
          <a:prstGeom prst="rect">
            <a:avLst/>
          </a:prstGeom>
          <a:solidFill>
            <a:schemeClr val="bg1"/>
          </a:solidFill>
        </p:spPr>
        <p:txBody>
          <a:bodyPr wrap="square" rtlCol="0">
            <a:spAutoFit/>
          </a:bodyPr>
          <a:lstStyle/>
          <a:p>
            <a:r>
              <a:rPr lang="en-US" sz="2400" dirty="0"/>
              <a:t> €10,800		€11,100		€11,600</a:t>
            </a:r>
          </a:p>
        </p:txBody>
      </p:sp>
      <p:sp>
        <p:nvSpPr>
          <p:cNvPr id="7" name="Rectangle 6"/>
          <p:cNvSpPr/>
          <p:nvPr/>
        </p:nvSpPr>
        <p:spPr>
          <a:xfrm>
            <a:off x="1703512" y="6210808"/>
            <a:ext cx="216024" cy="216024"/>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79776" y="6210808"/>
            <a:ext cx="216024" cy="216024"/>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76053" y="6210808"/>
            <a:ext cx="216024" cy="216024"/>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34645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EE742AF9-4AC1-ECE8-9348-B48FD57619DF}"/>
              </a:ext>
            </a:extLst>
          </p:cNvPr>
          <p:cNvSpPr>
            <a:spLocks noGrp="1"/>
          </p:cNvSpPr>
          <p:nvPr>
            <p:ph type="ctrTitle"/>
          </p:nvPr>
        </p:nvSpPr>
        <p:spPr/>
        <p:txBody>
          <a:bodyPr/>
          <a:lstStyle/>
          <a:p>
            <a:endParaRPr lang="fr-FR"/>
          </a:p>
        </p:txBody>
      </p:sp>
      <p:sp>
        <p:nvSpPr>
          <p:cNvPr id="6" name="Sous-titre 5">
            <a:extLst>
              <a:ext uri="{FF2B5EF4-FFF2-40B4-BE49-F238E27FC236}">
                <a16:creationId xmlns:a16="http://schemas.microsoft.com/office/drawing/2014/main" id="{E1FA1BC4-7F30-B462-3978-BF4AC4518BA1}"/>
              </a:ext>
            </a:extLst>
          </p:cNvPr>
          <p:cNvSpPr>
            <a:spLocks noGrp="1"/>
          </p:cNvSpPr>
          <p:nvPr>
            <p:ph type="subTitle" idx="1"/>
          </p:nvPr>
        </p:nvSpPr>
        <p:spPr/>
        <p:txBody>
          <a:bodyPr/>
          <a:lstStyle/>
          <a:p>
            <a:endParaRPr lang="fr-FR"/>
          </a:p>
        </p:txBody>
      </p:sp>
      <p:sp>
        <p:nvSpPr>
          <p:cNvPr id="7" name="Espace réservé du contenu 6">
            <a:extLst>
              <a:ext uri="{FF2B5EF4-FFF2-40B4-BE49-F238E27FC236}">
                <a16:creationId xmlns:a16="http://schemas.microsoft.com/office/drawing/2014/main" id="{5ECCA09F-E832-B6D8-919C-24DC1E87456C}"/>
              </a:ext>
            </a:extLst>
          </p:cNvPr>
          <p:cNvSpPr>
            <a:spLocks noGrp="1"/>
          </p:cNvSpPr>
          <p:nvPr>
            <p:ph sz="quarter" idx="10"/>
          </p:nvPr>
        </p:nvSpPr>
        <p:spPr/>
        <p:txBody>
          <a:bodyPr/>
          <a:lstStyle/>
          <a:p>
            <a:endParaRPr lang="fr-FR"/>
          </a:p>
        </p:txBody>
      </p:sp>
    </p:spTree>
    <p:extLst>
      <p:ext uri="{BB962C8B-B14F-4D97-AF65-F5344CB8AC3E}">
        <p14:creationId xmlns:p14="http://schemas.microsoft.com/office/powerpoint/2010/main" val="3406603404"/>
      </p:ext>
    </p:extLst>
  </p:cSld>
  <p:clrMapOvr>
    <a:masterClrMapping/>
  </p:clrMapOvr>
</p:sld>
</file>

<file path=ppt/theme/theme1.xml><?xml version="1.0" encoding="utf-8"?>
<a:theme xmlns:a="http://schemas.openxmlformats.org/drawingml/2006/main" name="Thème Office">
  <a:themeElements>
    <a:clrScheme name="Audencia BS 2023">
      <a:dk1>
        <a:srgbClr val="1F398F"/>
      </a:dk1>
      <a:lt1>
        <a:srgbClr val="FFFFFF"/>
      </a:lt1>
      <a:dk2>
        <a:srgbClr val="1F398F"/>
      </a:dk2>
      <a:lt2>
        <a:srgbClr val="FFFFFF"/>
      </a:lt2>
      <a:accent1>
        <a:srgbClr val="9378B5"/>
      </a:accent1>
      <a:accent2>
        <a:srgbClr val="758BC5"/>
      </a:accent2>
      <a:accent3>
        <a:srgbClr val="BCDCF1"/>
      </a:accent3>
      <a:accent4>
        <a:srgbClr val="85D2FB"/>
      </a:accent4>
      <a:accent5>
        <a:srgbClr val="758BC5"/>
      </a:accent5>
      <a:accent6>
        <a:srgbClr val="9378B5"/>
      </a:accent6>
      <a:hlink>
        <a:srgbClr val="9378B5"/>
      </a:hlink>
      <a:folHlink>
        <a:srgbClr val="758BC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73C6D82-6008-499B-8041-636859BA9274}" vid="{BBF4AF0D-C3C4-4976-8421-706A0A40D4A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 1 Value creation</Template>
  <TotalTime>2460</TotalTime>
  <Words>4486</Words>
  <Application>Microsoft Office PowerPoint</Application>
  <PresentationFormat>Widescreen</PresentationFormat>
  <Paragraphs>810</Paragraphs>
  <Slides>71</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HelveticaNeueLT Std Med</vt:lpstr>
      <vt:lpstr>Arial</vt:lpstr>
      <vt:lpstr>Arial Black</vt:lpstr>
      <vt:lpstr>Arial Nova</vt:lpstr>
      <vt:lpstr>Arial Nova Cond</vt:lpstr>
      <vt:lpstr>Bahnschrift SemiBold SemiConden</vt:lpstr>
      <vt:lpstr>Calibri</vt:lpstr>
      <vt:lpstr>Cambria Math</vt:lpstr>
      <vt:lpstr>Wingdings</vt:lpstr>
      <vt:lpstr>Thème Office</vt:lpstr>
      <vt:lpstr>Sessions 3 and 4: Income statement</vt:lpstr>
      <vt:lpstr>PowerPoint Presentation</vt:lpstr>
      <vt:lpstr>PowerPoint Presentation</vt:lpstr>
      <vt:lpstr>Grade</vt:lpstr>
      <vt:lpstr>Income statement: matching principle and full costing method</vt:lpstr>
      <vt:lpstr>P&amp;L or income statement</vt:lpstr>
      <vt:lpstr>From purchases to the cost of sales in P&amp;L </vt:lpstr>
      <vt:lpstr>MCQ n°1: Full costing method</vt:lpstr>
      <vt:lpstr>P&amp;L or income statement</vt:lpstr>
      <vt:lpstr>Revenue and expense: categories (operating, non-recurring and financial)</vt:lpstr>
      <vt:lpstr>Income (IFRS) or revenue (US GAAP)</vt:lpstr>
      <vt:lpstr>Expense</vt:lpstr>
      <vt:lpstr>Prepaid expense and unearned revenue: when should expense and revenue be recorded?</vt:lpstr>
      <vt:lpstr>MCQ n°2: prepaid expense</vt:lpstr>
      <vt:lpstr>MCQ n°3: Unearned or deferred revenue</vt:lpstr>
      <vt:lpstr>Revenue or expense = change in equity</vt:lpstr>
      <vt:lpstr>Operating expense by nature</vt:lpstr>
      <vt:lpstr>P&amp;L</vt:lpstr>
      <vt:lpstr>P&amp;L</vt:lpstr>
      <vt:lpstr>P&amp;L</vt:lpstr>
      <vt:lpstr>P&amp;L</vt:lpstr>
      <vt:lpstr>P&amp;L</vt:lpstr>
      <vt:lpstr>P&amp;L</vt:lpstr>
      <vt:lpstr>Operating expense by function</vt:lpstr>
      <vt:lpstr>P&amp;L</vt:lpstr>
      <vt:lpstr>P&amp;L</vt:lpstr>
      <vt:lpstr>P&amp;L</vt:lpstr>
      <vt:lpstr>PowerPoint Presentation</vt:lpstr>
      <vt:lpstr>Operating expense by function Example: Nestle</vt:lpstr>
      <vt:lpstr>PowerPoint Presentation</vt:lpstr>
      <vt:lpstr>Income statement with operating expense by function</vt:lpstr>
      <vt:lpstr>Microsoft (10k 2025)</vt:lpstr>
      <vt:lpstr>Microsoft (10k 2025)</vt:lpstr>
      <vt:lpstr>Anta Sports (2024 annual report)  Operating expense by function</vt:lpstr>
      <vt:lpstr>Alternative income statement presentations</vt:lpstr>
      <vt:lpstr>EBIT calculation with operating expense by function and by nature</vt:lpstr>
      <vt:lpstr>Common-size income statement</vt:lpstr>
      <vt:lpstr>Common-size income statement All amounts are expressed as a percentage of revenue</vt:lpstr>
      <vt:lpstr>PowerPoint Presentation</vt:lpstr>
      <vt:lpstr>Traditionnal EBIT calculation</vt:lpstr>
      <vt:lpstr>3 earnings: earnings from recurring operating activities,earnings from non-recurring activites and earnings from financial activities</vt:lpstr>
      <vt:lpstr>3 main categories in P&amp;L (for continuing operations)</vt:lpstr>
      <vt:lpstr>3 main categories in P&amp;L</vt:lpstr>
      <vt:lpstr>3 main categories in P&amp;L</vt:lpstr>
      <vt:lpstr>3 main categories in P&amp;L</vt:lpstr>
      <vt:lpstr>3 main categories in P&amp;L</vt:lpstr>
      <vt:lpstr>PowerPoint Presentation</vt:lpstr>
      <vt:lpstr>PowerPoint Presentation</vt:lpstr>
      <vt:lpstr>PowerPoint Presentation</vt:lpstr>
      <vt:lpstr>PowerPoint Presentation</vt:lpstr>
      <vt:lpstr>PowerPoint Presentation</vt:lpstr>
      <vt:lpstr>PowerPoint Presentation</vt:lpstr>
      <vt:lpstr>From profit before tax to net profit</vt:lpstr>
      <vt:lpstr>Income tax expense</vt:lpstr>
      <vt:lpstr>MCQ n°7</vt:lpstr>
      <vt:lpstr>MCQ n°7</vt:lpstr>
      <vt:lpstr>MCQ</vt:lpstr>
      <vt:lpstr>Calculation of the operating profit or EBIT</vt:lpstr>
      <vt:lpstr>From purchases to the cost of sales in P&amp;L </vt:lpstr>
      <vt:lpstr>P&amp;L with operating expense by nature</vt:lpstr>
      <vt:lpstr>Additional information</vt:lpstr>
      <vt:lpstr>P&amp;L with operating expenses by function</vt:lpstr>
      <vt:lpstr>MCQ</vt:lpstr>
      <vt:lpstr>MCQ</vt:lpstr>
      <vt:lpstr>MCQ</vt:lpstr>
      <vt:lpstr>MCQ</vt:lpstr>
      <vt:lpstr>MCQ</vt:lpstr>
      <vt:lpstr>MCQ</vt:lpstr>
      <vt:lpstr>Inventory valuation: FIFO, LIFO and WAC</vt:lpstr>
      <vt:lpstr>MCQ n°7</vt:lpstr>
      <vt:lpstr>PowerPoint Presentation</vt:lpstr>
    </vt:vector>
  </TitlesOfParts>
  <Company>AUDENCIA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MATON Eric</dc:creator>
  <cp:lastModifiedBy>MATON Eric</cp:lastModifiedBy>
  <cp:revision>53</cp:revision>
  <dcterms:created xsi:type="dcterms:W3CDTF">2024-07-31T13:55:45Z</dcterms:created>
  <dcterms:modified xsi:type="dcterms:W3CDTF">2026-03-18T06:03:10Z</dcterms:modified>
</cp:coreProperties>
</file>